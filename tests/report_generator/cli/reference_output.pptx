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2.svg" ContentType="image/svg+xml"/>
  <Override PartName="/ppt/media/image14.svg" ContentType="image/svg+xml"/>
  <Override PartName="/ppt/media/image16.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 id="111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5"/>
    <p:restoredTop sz="96327"/>
  </p:normalViewPr>
  <p:slideViewPr>
    <p:cSldViewPr snapToGrid="0" snapToObjects="1" showGuides="1">
      <p:cViewPr varScale="1">
        <p:scale>
          <a:sx n="128" d="100"/>
          <a:sy n="128" d="100"/>
        </p:scale>
        <p:origin x="360" y="184"/>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0.030990466421789493</c:v>
                </c:pt>
                <c:pt idx="3">
                  <c:v>0.028508116214593864</c:v>
                </c:pt>
                <c:pt idx="4">
                  <c:v>0.013843515502198148</c:v>
                </c:pt>
              </c:numCache>
            </c:numRef>
          </c:val>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0%"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xmlns:w="http://schemas.openxmlformats.org/wordprocessingml/2006/main" xmlns:w15="http://schemas.microsoft.com/office/word/2012/wordml" xmlns:w14="http://schemas.microsoft.com/office/word/2010/wordml" xmlns:m="http://schemas.openxmlformats.org/officeDocument/2006/math" xmlns:wp="http://schemas.openxmlformats.org/drawingml/2006/wordprocessingDrawing" xmlns:wp14="http://schemas.microsoft.com/office/word/2010/wordprocessingDrawing" xmlns:mc="http://schemas.openxmlformats.org/markup-compatibility/2006" xmlns:sl="http://schemas.openxmlformats.org/schemaLibrary/2006/main" xmlns:wne="http://schemas.microsoft.com/office/word/2006/wordml" xmlns:cdr="http://schemas.openxmlformats.org/drawingml/2006/chartDrawing" xmlns:c14="http://schemas.microsoft.com/office/drawing/2007/8/2/chart" xmlns:dgm="http://schemas.openxmlformats.org/drawingml/2006/diagram" xmlns:pic="http://schemas.openxmlformats.org/drawingml/2006/picture" xmlns:xdr="http://schemas.openxmlformats.org/drawingml/2006/spreadsheetDrawing" xmlns:dsp="http://schemas.microsoft.com/office/drawing/2008/diagram" xmlns:xvml="urn:schemas-microsoft-com:office:excel" xmlns:o="urn:schemas-microsoft-com:office:office" xmlns:v="urn:schemas-microsoft-com:vml" xmlns:w10="urn:schemas-microsoft-com:office:word" xmlns:pvml="urn:schemas-microsoft-com:office:powerpoint" xmlns:cppr="http://schemas.microsoft.com/office/2006/coverPageProps" xmlns:odx="http://opendope.org/xpaths" xmlns:odc="http://opendope.org/conditions" xmlns:odq="http://opendope.org/questions" xmlns:oda="http://opendope.org/answers" xmlns:odi="http://opendope.org/components" xmlns:odgm="http://opendope.org/SmartArt/DataHierarchy" xmlns:b="http://schemas.openxmlformats.org/officeDocument/2006/bibliography" xmlns:wps="http://schemas.microsoft.com/office/word/2010/wordprocessingShape" xmlns:w16se="http://schemas.microsoft.com/office/word/2015/wordml/symex" xmlns:w16cid="http://schemas.microsoft.com/office/word/2016/wordml/cid" xmlns:wetp="http://schemas.microsoft.com/office/webextensions/taskpanes/2010/11" xmlns:we="http://schemas.microsoft.com/office/webextensions/webextension/2010/11" xmlns:comp="http://schemas.openxmlformats.org/drawingml/2006/compatibility" xmlns:lc="http://schemas.openxmlformats.org/drawingml/2006/lockedCanvas">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spPr>
              <a:solidFill>
                <a:srgbClr val="E06C4F"/>
              </a:solidFill>
            </c:spPr>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0.6900740417205723</c:v>
                </c:pt>
                <c:pt idx="1">
                  <c:v>0.23658386014084629</c:v>
                </c:pt>
                <c:pt idx="2">
                  <c:v>0.030990466421789493</c:v>
                </c:pt>
                <c:pt idx="3">
                  <c:v>0.028508116214593864</c:v>
                </c:pt>
                <c:pt idx="4">
                  <c:v>0.013843515502198148</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c:v>
                </c:pt>
              </c:numCache>
            </c:numRef>
          </c:xVal>
          <c:yVal>
            <c:numRef>
              <c:f>Sheet1!$B$2:$B$2</c:f>
              <c:numCache>
                <c:formatCode>General</c:formatCode>
                <c:ptCount val="1"/>
                <c:pt idx="0">
                  <c:v>3.1085510232189746</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Freshness risk</c:v>
                </c:pt>
              </c:strCache>
            </c:strRef>
          </c:cat>
          <c:val>
            <c:numRef>
              <c:f>Sheet1!$B$2:$B$3</c:f>
              <c:numCache>
                <c:formatCode>General</c:formatCode>
                <c:ptCount val="2"/>
                <c:pt idx="0">
                  <c:v>10</c:v>
                </c:pt>
                <c:pt idx="1">
                  <c:v>92</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Freshness risk</c:v>
                </c:pt>
              </c:strCache>
            </c:strRef>
          </c:cat>
          <c:val>
            <c:numRef>
              <c:f>Sheet1!$C$2:$C$3</c:f>
              <c:numCache>
                <c:formatCode>General</c:formatCode>
                <c:ptCount val="2"/>
                <c:pt idx="0">
                  <c:v>6</c:v>
                </c:pt>
                <c:pt idx="1">
                  <c:v>21</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Freshness risk</c:v>
                </c:pt>
              </c:strCache>
            </c:strRef>
          </c:cat>
          <c:val>
            <c:numRef>
              <c:f>Sheet1!$D$2:$D$3</c:f>
              <c:numCache>
                <c:formatCode>General</c:formatCode>
                <c:ptCount val="2"/>
                <c:pt idx="0">
                  <c:v>5</c:v>
                </c:pt>
                <c:pt idx="1">
                  <c:v>25</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Freshness risk</c:v>
                </c:pt>
              </c:strCache>
            </c:strRef>
          </c:cat>
          <c:val>
            <c:numRef>
              <c:f>Sheet1!$E$2:$E$3</c:f>
              <c:numCache>
                <c:formatCode>General</c:formatCode>
                <c:ptCount val="2"/>
                <c:pt idx="0">
                  <c:v>5</c:v>
                </c:pt>
                <c:pt idx="1">
                  <c:v>2</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1</c:v>
                </c:pt>
                <c:pt idx="1">
                  <c:v>2</c:v>
                </c:pt>
                <c:pt idx="2">
                  <c:v>3</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40</c:v>
                </c:pt>
                <c:pt idx="1">
                  <c:v>79</c:v>
                </c:pt>
                <c:pt idx="2">
                  <c:v>6</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18</c:v>
                </c:pt>
                <c:pt idx="1">
                  <c:v>0</c:v>
                </c:pt>
                <c:pt idx="2">
                  <c:v>0</c:v>
                </c:pt>
                <c:pt idx="3">
                  <c:v>21</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1</c:v>
                </c:pt>
                <c:pt idx="1">
                  <c:v>2</c:v>
                </c:pt>
                <c:pt idx="2">
                  <c:v>3</c:v>
                </c:pt>
                <c:pt idx="3">
                  <c:v>4</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15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3/20/26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5.png"/><Relationship Id="rId13" Type="http://schemas.openxmlformats.org/officeDocument/2006/relationships/image" Target="../media/image1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image" Target="../media/image7.png"/><Relationship Id="rId5" Type="http://schemas.openxmlformats.org/officeDocument/2006/relationships/image" Target="../media/image8.svg"/><Relationship Id="rId6" Type="http://schemas.openxmlformats.org/officeDocument/2006/relationships/image" Target="../media/image9.png"/><Relationship Id="rId7" Type="http://schemas.openxmlformats.org/officeDocument/2006/relationships/image" Target="../media/image10.svg"/><Relationship Id="rId8" Type="http://schemas.openxmlformats.org/officeDocument/2006/relationships/image" Target="../media/image11.png"/><Relationship Id="rId9" Type="http://schemas.openxmlformats.org/officeDocument/2006/relationships/image" Target="../media/image12.svg"/><Relationship Id="rId10" Type="http://schemas.openxmlformats.org/officeDocument/2006/relationships/image" Target="../media/image13.png"/><Relationship Id="rId11" Type="http://schemas.openxmlformats.org/officeDocument/2006/relationships/image" Target="../media/image14.svg"/><Relationship Id="rId12" Type="http://schemas.openxmlformats.org/officeDocument/2006/relationships/image" Target="../media/image15.png"/><Relationship Id="rId13" Type="http://schemas.openxmlformats.org/officeDocument/2006/relationships/image" Target="../media/image16.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hyperlink" Target="https://wiki.sig.eu/confluence/x/JoDbC"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8.png"/><Relationship Id="rId4" Type="http://schemas.openxmlformats.org/officeDocument/2006/relationships/image" Target="../media/image19.tiff"/><Relationship Id="rId5" Type="http://schemas.openxmlformats.org/officeDocument/2006/relationships/chart" Target="../charts/chart3.xml"/><Relationship Id="rId6" Type="http://schemas.openxmlformats.org/officeDocument/2006/relationships/image" Target="../media/image2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chart" Target="../charts/chart4.xml"/><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endParaRPr lang="en-US" dirty="0"/>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at_COST maintenance costs and time to market for functional changes. The system shows high risk in units with large interfaces</a:t>
            </a:r>
            <a:endParaRPr lang="en-US" sz="1800" dirty="0"/>
          </a:p>
          <a:p>
            <a:pPr marL="0" indent="0">
              <a:lnSpc>
                <a:spcPct val="100000"/>
              </a:lnSpc>
              <a:buNone/>
            </a:pPr>
            <a:r>
              <a:rPr lang="en-US" sz="1800" b="1" dirty="0">
                <a:solidFill>
                  <a:schemeClr val="accent3"/>
                </a:solidFill>
              </a:rPr>
              <a:t>[Technology choice]</a:t>
            </a:r>
            <a:r>
              <a:rPr lang="en-US" sz="1800" dirty="0"/>
              <a:t> The system is 39.7 PY (292,692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endParaRPr lang="en-US" sz="1800" dirty="0"/>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endParaRPr lang="en-US" sz="1800" dirty="0"/>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681163907"/>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0.5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292,692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a:t>Twitter Algorithm scores at market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115488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2376346694"/>
              </p:ext>
            </p:extLst>
          </p:nvPr>
        </p:nvGraphicFramePr>
        <p:xfrm>
          <a:off x="8124539" y="3092432"/>
          <a:ext cx="3589609" cy="24220080"/>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8504466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r>
              <a:rPr lang="en-US" sz="1600" dirty="0" err="1">
                <a:solidFill>
                  <a:schemeClr val="accent1"/>
                </a:solidFill>
                <a:latin typeface="Calibri" panose="020F0502020204030204"/>
              </a:rPr>
              <a:t/>
            </a:r>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39% of dependencies (16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037678" y="863629"/>
            <a:ext cx="1269963" cy="539250"/>
          </a:xfrm>
          <a:prstGeom prst="rect">
            <a:avLst/>
          </a:prstGeom>
          <a:noFill/>
        </p:spPr>
        <p:txBody>
          <a:bodyPr wrap="none" lIns="0" rIns="0" rtlCol="0">
            <a:spAutoFit/>
          </a:bodyPr>
          <a:lstStyle/>
          <a:p>
            <a:pPr algn="ctr">
              <a:lnSpc>
                <a:spcPct val="80000"/>
              </a:lnSpc>
            </a:pPr>
            <a:r>
              <a:rPr lang="en-US" sz="1200" b="1" dirty="0" err="1">
                <a:solidFill>
                  <a:schemeClr val="tx2">
                    <a:alpha val="70000"/>
                  </a:schemeClr>
                </a:solidFill>
              </a:rPr>
              <a:t>11</a:t>
            </a:r>
            <a:endParaRPr lang="en-US" sz="1200" b="1" dirty="0">
              <a:solidFill>
                <a:schemeClr val="tx2">
                  <a:alpha val="70000"/>
                </a:schemeClr>
              </a:solidFill>
            </a:endParaRPr>
          </a:p>
          <a:p>
            <a:pPr algn="ctr">
              <a:lnSpc>
                <a:spcPct val="80000"/>
              </a:lnSpc>
            </a:pPr>
            <a:r>
              <a:rPr lang="en-US" sz="1200" b="1" dirty="0" err="1">
                <a:solidFill>
                  <a:schemeClr val="tx2">
                    <a:alpha val="70000"/>
                  </a:schemeClr>
                </a:solidFill>
              </a:rPr>
              <a:t>FEB</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2026</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39% of dependencies (16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11</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2026</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FEB</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2068767665"/>
              </p:ext>
            </p:extLst>
          </p:nvPr>
        </p:nvGraphicFramePr>
        <p:xfrm>
          <a:off x="7984631" y="3243717"/>
          <a:ext cx="3755424" cy="552636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b="1" i="0" sz="140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b="1" sz="1400">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b="0" i="0" sz="120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b="0" i="0" sz="120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b="0" i="0" sz="120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b="0" i="0" sz="120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b="0" i="0" sz="120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b="0" i="0" sz="120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b="0" i="0" sz="120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b="0" i="0" sz="120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b="0" i="0" sz="120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b="0" i="0" sz="120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b="0" i="0" sz="120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b="0" i="0" sz="120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sz="1400">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i="0" sz="140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b="0" i="0" sz="120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b="1" i="0" sz="140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b="0" i="0" sz="120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b="0" i="0" sz="120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b="0" i="0" sz="120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b="0" i="0" sz="120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b="0" i="0" sz="120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b="0" i="0" sz="120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b="1" sz="1400">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b="1" sz="1400">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b="1" i="0" sz="140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b="1" i="0" sz="140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b="0" i="0" sz="120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b="0" i="0" sz="120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b="0" i="0" sz="120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b="0" i="0" sz="120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b="0" i="0" sz="120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b="0" i="0" sz="120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b="0" i="0" sz="120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b="0" i="0" sz="120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b="0" i="0" sz="120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b="0" i="0" sz="120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b="0" i="0" sz="120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b="0" i="0" sz="120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b="0" i="0" sz="120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b="0" i="0" sz="120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b="0" i="0" sz="120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0D80B1-1DD7-236F-9B91-B3FA651A2395}"/>
              </a:ext>
            </a:extLst>
          </p:cNvPr>
          <p:cNvSpPr>
            <a:spLocks noGrp="1"/>
          </p:cNvSpPr>
          <p:nvPr>
            <p:ph type="sldNum" sz="quarter" idx="4"/>
          </p:nvPr>
        </p:nvSpPr>
        <p:spPr/>
        <p:txBody>
          <a:bodyPr/>
          <a:lstStyle/>
          <a:p>
            <a:fld id="{E242BD21-9B61-2246-BCB1-4BE5E1BEBE1C}" type="slidenum">
              <a:rPr lang="en-US" smtClean="0"/>
              <a:pPr/>
              <a:t>17</a:t>
            </a:fld>
            <a:endParaRPr lang="en-US"/>
          </a:p>
        </p:txBody>
      </p:sp>
      <p:sp>
        <p:nvSpPr>
          <p:cNvPr id="3" name="Text Placeholder 2">
            <a:extLst>
              <a:ext uri="{FF2B5EF4-FFF2-40B4-BE49-F238E27FC236}">
                <a16:creationId xmlns:a16="http://schemas.microsoft.com/office/drawing/2014/main" id="{E32392A5-169E-CF65-0C41-C1C81B8D0A2A}"/>
              </a:ext>
            </a:extLst>
          </p:cNvPr>
          <p:cNvSpPr>
            <a:spLocks noGrp="1"/>
          </p:cNvSpPr>
          <p:nvPr>
            <p:ph type="body" sz="quarter" idx="12"/>
          </p:nvPr>
        </p:nvSpPr>
        <p:spPr/>
        <p:txBody>
          <a:bodyPr/>
          <a:lstStyle/>
          <a:p>
            <a:endParaRPr lang="nl-NL"/>
          </a:p>
        </p:txBody>
      </p:sp>
      <p:sp>
        <p:nvSpPr>
          <p:cNvPr id="4" name="Title 3">
            <a:extLst>
              <a:ext uri="{FF2B5EF4-FFF2-40B4-BE49-F238E27FC236}">
                <a16:creationId xmlns:a16="http://schemas.microsoft.com/office/drawing/2014/main" id="{5CF5C235-EE43-F072-CFE2-8B3B48BA1604}"/>
              </a:ext>
            </a:extLst>
          </p:cNvPr>
          <p:cNvSpPr>
            <a:spLocks noGrp="1"/>
          </p:cNvSpPr>
          <p:nvPr>
            <p:ph type="title"/>
          </p:nvPr>
        </p:nvSpPr>
        <p:spPr/>
        <p:txBody>
          <a:bodyPr/>
          <a:lstStyle/>
          <a:p>
            <a:r>
              <a:rPr lang="nl-NL" dirty="0" err="1"/>
              <a:t>Other</a:t>
            </a:r>
            <a:r>
              <a:rPr lang="nl-NL" dirty="0"/>
              <a:t> </a:t>
            </a:r>
            <a:r>
              <a:rPr lang="nl-NL" dirty="0" err="1"/>
              <a:t>placeholders</a:t>
            </a:r>
            <a:endParaRPr lang="nl-NL" dirty="0"/>
          </a:p>
        </p:txBody>
      </p:sp>
      <p:sp>
        <p:nvSpPr>
          <p:cNvPr id="5" name="Content Placeholder 4">
            <a:extLst>
              <a:ext uri="{FF2B5EF4-FFF2-40B4-BE49-F238E27FC236}">
                <a16:creationId xmlns:a16="http://schemas.microsoft.com/office/drawing/2014/main" id="{D7FCCB3C-AEF5-844E-6965-1CDA93673B93}"/>
              </a:ext>
            </a:extLst>
          </p:cNvPr>
          <p:cNvSpPr>
            <a:spLocks noGrp="1"/>
          </p:cNvSpPr>
          <p:nvPr>
            <p:ph sz="quarter" idx="13"/>
          </p:nvPr>
        </p:nvSpPr>
        <p:spPr/>
        <p:txBody>
          <a:bodyPr/>
          <a:lstStyle/>
          <a:p>
            <a:pPr marL="0" indent="0">
              <a:buNone/>
            </a:pPr>
            <a:r>
              <a:rPr lang="nl-NL" dirty="0" err="1"/>
              <a:t>April</a:t>
            </a:r>
            <a:endParaRPr lang="nl-NL" dirty="0"/>
          </a:p>
          <a:p>
            <a:pPr marL="0" indent="0">
              <a:buNone/>
            </a:pPr>
            <a:r>
              <a:rPr lang="nl-NL"/>
              <a:t>April</a:t>
            </a:r>
            <a:endParaRPr lang="nl-NL" dirty="0"/>
          </a:p>
        </p:txBody>
      </p:sp>
    </p:spTree>
    <p:extLst>
      <p:ext uri="{BB962C8B-B14F-4D97-AF65-F5344CB8AC3E}">
        <p14:creationId xmlns:p14="http://schemas.microsoft.com/office/powerpoint/2010/main" val="1382071632"/>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customXml/itemProps3.xml><?xml version="1.0" encoding="utf-8"?>
<ds:datastoreItem xmlns:ds="http://schemas.openxmlformats.org/officeDocument/2006/customXml" ds:itemID="{570928F0-D7CA-4732-B7F3-1F945720D0A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22532</TotalTime>
  <Words>1393</Words>
  <Application>Microsoft Macintosh PowerPoint</Application>
  <PresentationFormat>Widescreen</PresentationFormat>
  <Paragraphs>351</Paragraphs>
  <Slides>17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Arial</vt:lpstr>
      <vt:lpstr>Calibri</vt:lpstr>
      <vt:lpstr>Calibri Bold</vt:lpstr>
      <vt:lpstr>Calibri Light</vt:lpstr>
      <vt:lpstr>Calibri Regular</vt:lpstr>
      <vt:lpstr>TheSans B5 Plain</vt:lpstr>
      <vt:lpstr>TheSansMono M5</vt:lpstr>
      <vt:lpstr>Wingdings</vt:lpstr>
      <vt:lpstr>Office Theme</vt:lpstr>
      <vt:lpstr>PowerPoint Presentation</vt:lpstr>
      <vt:lpstr>SYSTEM_NAME technical quality: management summary</vt:lpstr>
      <vt:lpstr>The system is VOLUME_RELATIVE in size and is built primarily in TECH_1_NAME</vt:lpstr>
      <vt:lpstr>SYSTEM_NAME has an TEST_CODE_RELATIVE test/code ratio</vt:lpstr>
      <vt:lpstr>SYSTEM_NAME is a MAINT_SIZE system of SYSTEM_PY PY which scores MAINT_RATING for maintainability </vt:lpstr>
      <vt:lpstr>SYSTEM_NAME scores MAINT_RELATIVE market average for maintainability</vt:lpstr>
      <vt:lpstr>SYSTEM_NAME scores ARCH_AT_BELOW average (ARCH_RATING ★) for Architecture Quality</vt:lpstr>
      <vt:lpstr>OSH_TOTAL_VULN vulnerable 3rd party open-source dependencies were identified</vt:lpstr>
      <vt:lpstr>SYSTEM_NAME rates OSH_RELATIVE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lpstr>Other placeholders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Maxim Janssen</cp:lastModifiedBy>
  <cp:revision>128</cp:revision>
  <cp:lastPrinted>2020-07-02T15:41:27Z</cp:lastPrinted>
  <dcterms:created xsi:type="dcterms:W3CDTF">2024-01-03T15:04:34Z</dcterms:created>
  <dcterms:modified xsi:type="dcterms:W3CDTF">2026-03-20T08:49:35Z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