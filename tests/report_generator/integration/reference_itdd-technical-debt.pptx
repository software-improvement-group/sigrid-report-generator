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561" r:id="rId5"/>
    <p:sldId id="1507" r:id="rId6"/>
    <p:sldId id="1762" r:id="rId7"/>
    <p:sldId id="59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07"/>
            <p14:sldId id="1762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0"/>
    <p:restoredTop sz="96327"/>
  </p:normalViewPr>
  <p:slideViewPr>
    <p:cSldViewPr snapToGrid="0" snapToObjects="1" showGuides="1">
      <p:cViewPr varScale="1">
        <p:scale>
          <a:sx n="128" d="100"/>
          <a:sy n="128" d="100"/>
        </p:scale>
        <p:origin x="96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emf"/><Relationship Id="rId3" Type="http://schemas.openxmlformats.org/officeDocument/2006/relationships/image" Target="../media/image18.emf"/><Relationship Id="rId4" Type="http://schemas.openxmlformats.org/officeDocument/2006/relationships/image" Target="../media/image19.tiff"/><Relationship Id="rId5" Type="http://schemas.openxmlformats.org/officeDocument/2006/relationships/image" Target="../media/image20.emf"/><Relationship Id="rId6" Type="http://schemas.openxmlformats.org/officeDocument/2006/relationships/image" Target="../media/image2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Twitter Algorithm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Technical Debt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E893F2-CA5B-B942-A22D-39CA1F039D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5F19B-C80F-4C4A-A0B5-6609A35FEB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33DD5B-84A1-9242-9A75-9ECC1786C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 Algorithm technical debt is 39.7 person years (100% of its volume)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8E996-F7E6-BC4B-9602-AF4F50581A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F63A9DF6-04C3-5F4C-9DBE-9F44ECD078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799" y="1368000"/>
            <a:ext cx="7825332" cy="268771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Twitter Algorithm’s code volume totals 39.7 person years of theoretical rebuild volume</a:t>
            </a:r>
          </a:p>
          <a:p>
            <a:r>
              <a:rPr lang="en-US" dirty="0"/>
              <a:t>Maintainability is </a:t>
            </a:r>
            <a:r>
              <a:rPr lang="en-US" sz="1600" dirty="0" err="1"/>
              <a:t>at  </a:t>
            </a:r>
            <a:r>
              <a:rPr lang="en-US" dirty="0"/>
              <a:t>market average at </a:t>
            </a:r>
            <a:r>
              <a:rPr lang="en-US" sz="1600" dirty="0" err="1"/>
              <a:t>3.1 stars (★★★☆☆)</a:t>
            </a:r>
            <a:endParaRPr lang="en-US" dirty="0"/>
          </a:p>
          <a:p>
            <a:r>
              <a:rPr lang="en-US" dirty="0"/>
              <a:t>For modern systems built in common technologies, at minimum a 4-star rating is recommended to avoid unnecessary maintenance costs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6.0 FTE of development effort is recommended for maintenance alone</a:t>
            </a:r>
          </a:p>
          <a:p>
            <a:r>
              <a:rPr lang="en-US" dirty="0"/>
              <a:t>Approximately 39.7 person years is required to renovate the system towards the recommended 4-star level</a:t>
            </a:r>
          </a:p>
        </p:txBody>
      </p:sp>
      <p:graphicFrame>
        <p:nvGraphicFramePr>
          <p:cNvPr id="14" name="Table 10">
            <a:extLst>
              <a:ext uri="{FF2B5EF4-FFF2-40B4-BE49-F238E27FC236}">
                <a16:creationId xmlns:a16="http://schemas.microsoft.com/office/drawing/2014/main" id="{FC47E74D-88F5-294E-846C-4D3E796F6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082069"/>
              </p:ext>
            </p:extLst>
          </p:nvPr>
        </p:nvGraphicFramePr>
        <p:xfrm>
          <a:off x="514374" y="4679176"/>
          <a:ext cx="7567186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1907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3876865189"/>
                    </a:ext>
                  </a:extLst>
                </a:gridCol>
                <a:gridCol w="1237121">
                  <a:extLst>
                    <a:ext uri="{9D8B030D-6E8A-4147-A177-3AD203B41FA5}">
                      <a16:colId xmlns:a16="http://schemas.microsoft.com/office/drawing/2014/main" val="705789028"/>
                    </a:ext>
                  </a:extLst>
                </a:gridCol>
                <a:gridCol w="1074543">
                  <a:extLst>
                    <a:ext uri="{9D8B030D-6E8A-4147-A177-3AD203B41FA5}">
                      <a16:colId xmlns:a16="http://schemas.microsoft.com/office/drawing/2014/main" val="1497910350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Cost estimation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Code volume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Technical debt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lt"/>
                          <a:cs typeface="TheSans B4 SemiLight"/>
                        </a:rPr>
                        <a:t>Projected maintenance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Available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Innovation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Twitter Algorithm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2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39.7 PY</a:t>
                      </a:r>
                      <a:endParaRPr lang="en-US" sz="1400" b="0" i="0" u="none" strike="noStrike" noProof="0" dirty="0">
                        <a:solidFill>
                          <a:schemeClr val="accent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 Regular"/>
                        </a:rPr>
                        <a:t>RENOVATION_EFFORT PY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6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6.0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@@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rgbClr val="00B050"/>
                          </a:solidFill>
                          <a:effectLst/>
                          <a:latin typeface="Calibri Regular"/>
                        </a:rPr>
                        <a:t>@@ FTE (@@%)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68337941-C14C-4B4A-AA66-0226BE210508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568557-E759-D54B-A1F3-092F643F4045}"/>
              </a:ext>
            </a:extLst>
          </p:cNvPr>
          <p:cNvCxnSpPr>
            <a:cxnSpLocks/>
          </p:cNvCxnSpPr>
          <p:nvPr/>
        </p:nvCxnSpPr>
        <p:spPr>
          <a:xfrm>
            <a:off x="8460712" y="1488580"/>
            <a:ext cx="0" cy="4711252"/>
          </a:xfrm>
          <a:prstGeom prst="line">
            <a:avLst/>
          </a:prstGeom>
          <a:ln w="1905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1">
            <a:extLst>
              <a:ext uri="{FF2B5EF4-FFF2-40B4-BE49-F238E27FC236}">
                <a16:creationId xmlns:a16="http://schemas.microsoft.com/office/drawing/2014/main" id="{2778901A-00D8-3847-B807-BCCB71A2C123}"/>
              </a:ext>
            </a:extLst>
          </p:cNvPr>
          <p:cNvSpPr/>
          <p:nvPr/>
        </p:nvSpPr>
        <p:spPr>
          <a:xfrm>
            <a:off x="8581292" y="1754372"/>
            <a:ext cx="3041878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28600" indent="-219075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tx1"/>
                </a:solidFill>
              </a:rPr>
              <a:t>Code volume </a:t>
            </a:r>
            <a:r>
              <a:rPr lang="en-US" sz="1200" dirty="0">
                <a:solidFill>
                  <a:schemeClr val="accent1"/>
                </a:solidFill>
              </a:rPr>
              <a:t>is the estimated amount of development effort to produce the current amount of lines of code.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3"/>
                </a:solidFill>
              </a:rPr>
              <a:t>Technical debt</a:t>
            </a:r>
            <a:r>
              <a:rPr lang="en-US" sz="1200" dirty="0">
                <a:solidFill>
                  <a:schemeClr val="accent3"/>
                </a:solidFill>
              </a:rPr>
              <a:t> </a:t>
            </a:r>
            <a:r>
              <a:rPr lang="en-US" sz="1200" dirty="0">
                <a:solidFill>
                  <a:schemeClr val="accent1"/>
                </a:solidFill>
              </a:rPr>
              <a:t>is the estimated amount of development effort to improve the quality of the system to ★★★★☆ (3.5) maintainability rating.</a:t>
            </a:r>
            <a:endParaRPr lang="en-US" sz="1200" b="1" dirty="0">
              <a:solidFill>
                <a:schemeClr val="accent1"/>
              </a:solidFill>
            </a:endParaRP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chemeClr val="accent1"/>
                </a:solidFill>
              </a:rPr>
              <a:t>The yearly </a:t>
            </a:r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Projected maintenance </a:t>
            </a:r>
            <a:r>
              <a:rPr lang="en-US" sz="1200" dirty="0">
                <a:solidFill>
                  <a:schemeClr val="accent1"/>
                </a:solidFill>
              </a:rPr>
              <a:t>is calculated using the code volume and quality. It assumes an annual 15% required change rate in the code base. This change is meant for reactive (bug fixes) and proactive (quality improvement) maintenance. </a:t>
            </a:r>
            <a:r>
              <a:rPr lang="en-US" sz="1200" b="1" dirty="0">
                <a:solidFill>
                  <a:schemeClr val="accent1"/>
                </a:solidFill>
              </a:rPr>
              <a:t>Spending less effort is likely to deteriorate the maintainability.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Available capacity </a:t>
            </a:r>
            <a:r>
              <a:rPr lang="en-US" sz="1200" dirty="0">
                <a:solidFill>
                  <a:schemeClr val="accent1"/>
                </a:solidFill>
              </a:rPr>
              <a:t>is the currently available full-time equivalent number of developers.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Innovation capacity </a:t>
            </a:r>
            <a:r>
              <a:rPr lang="en-US" sz="1200" dirty="0">
                <a:solidFill>
                  <a:schemeClr val="accent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12DED-1DF5-044A-9D08-E204549758DB}"/>
              </a:ext>
            </a:extLst>
          </p:cNvPr>
          <p:cNvSpPr txBox="1"/>
          <p:nvPr/>
        </p:nvSpPr>
        <p:spPr>
          <a:xfrm>
            <a:off x="8581292" y="1360835"/>
            <a:ext cx="123625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Terminology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5DB2B5-CA8D-7243-9A07-B90864A731BE}"/>
              </a:ext>
            </a:extLst>
          </p:cNvPr>
          <p:cNvCxnSpPr>
            <a:cxnSpLocks/>
          </p:cNvCxnSpPr>
          <p:nvPr/>
        </p:nvCxnSpPr>
        <p:spPr>
          <a:xfrm>
            <a:off x="8709628" y="1865347"/>
            <a:ext cx="0" cy="414914"/>
          </a:xfrm>
          <a:prstGeom prst="line">
            <a:avLst/>
          </a:prstGeom>
          <a:ln w="63500" cap="rnd">
            <a:solidFill>
              <a:srgbClr val="B3BECD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465529-16D8-3647-9041-AED520AE52E9}"/>
              </a:ext>
            </a:extLst>
          </p:cNvPr>
          <p:cNvCxnSpPr>
            <a:cxnSpLocks/>
          </p:cNvCxnSpPr>
          <p:nvPr/>
        </p:nvCxnSpPr>
        <p:spPr>
          <a:xfrm>
            <a:off x="8709628" y="2569320"/>
            <a:ext cx="0" cy="608059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893527-B474-6049-85A0-60869B0EDBC1}"/>
              </a:ext>
            </a:extLst>
          </p:cNvPr>
          <p:cNvCxnSpPr>
            <a:cxnSpLocks/>
          </p:cNvCxnSpPr>
          <p:nvPr/>
        </p:nvCxnSpPr>
        <p:spPr>
          <a:xfrm>
            <a:off x="8709628" y="3453112"/>
            <a:ext cx="0" cy="1347488"/>
          </a:xfrm>
          <a:prstGeom prst="line">
            <a:avLst/>
          </a:prstGeom>
          <a:ln w="63500" cap="rnd">
            <a:solidFill>
              <a:srgbClr val="F8C74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51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22591</TotalTime>
  <Words>383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.AppleSystemUIFont</vt:lpstr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The Cost Estimation model combines Sigrid analysis results with SIG benchmarks</vt:lpstr>
      <vt:lpstr>SYSTEM_NAME technical debt is RENOVATION_EFFORT_PY person years (RENOVATION_EFFORT_PERCENTAGE% of its volume)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145</cp:revision>
  <cp:lastPrinted>2020-07-02T15:41:27Z</cp:lastPrinted>
  <dcterms:created xsi:type="dcterms:W3CDTF">2024-01-03T15:04:34Z</dcterms:created>
  <dcterms:modified xsi:type="dcterms:W3CDTF">2026-02-23T15:50:45Z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