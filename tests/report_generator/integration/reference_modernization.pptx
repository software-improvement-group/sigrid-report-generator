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561" r:id="rId5"/>
    <p:sldId id="1547" r:id="rId6"/>
    <p:sldId id="1507" r:id="rId7"/>
    <p:sldId id="1766" r:id="rId8"/>
    <p:sldId id="1763" r:id="rId9"/>
    <p:sldId id="1764" r:id="rId10"/>
    <p:sldId id="1765" r:id="rId11"/>
    <p:sldId id="59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47"/>
            <p14:sldId id="1507"/>
            <p14:sldId id="1766"/>
            <p14:sldId id="1763"/>
            <p14:sldId id="1764"/>
            <p14:sldId id="176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7526"/>
    <a:srgbClr val="67E77F"/>
    <a:srgbClr val="0066FF"/>
    <a:srgbClr val="8A98A8"/>
    <a:srgbClr val="DF6837"/>
    <a:srgbClr val="DBE1FF"/>
    <a:srgbClr val="8DA8FF"/>
    <a:srgbClr val="2E6BFF"/>
    <a:srgbClr val="003DAB"/>
    <a:srgbClr val="C0CE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27"/>
    <p:restoredTop sz="96327"/>
  </p:normalViewPr>
  <p:slideViewPr>
    <p:cSldViewPr snapToGrid="0" snapToObjects="1" showGuides="1">
      <p:cViewPr varScale="1">
        <p:scale>
          <a:sx n="128" d="100"/>
          <a:sy n="128" d="100"/>
        </p:scale>
        <p:origin x="120" y="4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E17526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E17526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8D46-3D4B-996A-4B880DC4E095}"/>
              </c:ext>
            </c:extLst>
          </c:dPt>
          <c:cat>
            <c:strRef>
              <c:f>Sheet1!$A$2:$A$21</c:f>
              <c:strCache>
                <c:ptCount val="20"/>
                <c:pt idx="0">
                  <c:v>Blender</c:v>
                </c:pt>
                <c:pt idx="1">
                  <c:v>Elasticsearch</c:v>
                </c:pt>
                <c:pt idx="2">
                  <c:v>Tensorflow</c:v>
                </c:pt>
                <c:pt idx="3">
                  <c:v>MongoDB</c:v>
                </c:pt>
                <c:pt idx="4">
                  <c:v>Oracle GraalVM</c:v>
                </c:pt>
                <c:pt idx="5">
                  <c:v>Google V8</c:v>
                </c:pt>
                <c:pt idx="6">
                  <c:v>Clickhouse</c:v>
                </c:pt>
                <c:pt idx="7">
                  <c:v>PostgreSQL</c:v>
                </c:pt>
                <c:pt idx="8">
                  <c:v>Systemd</c:v>
                </c:pt>
                <c:pt idx="9">
                  <c:v>Hadoop</c:v>
                </c:pt>
                <c:pt idx="10">
                  <c:v>Artemis</c:v>
                </c:pt>
                <c:pt idx="11">
                  <c:v>Hibernate</c:v>
                </c:pt>
                <c:pt idx="12">
                  <c:v>Brave-core</c:v>
                </c:pt>
                <c:pt idx="13">
                  <c:v>Airflow</c:v>
                </c:pt>
                <c:pt idx="14">
                  <c:v>Mediawiki</c:v>
                </c:pt>
                <c:pt idx="15">
                  <c:v>Visual Studio Code</c:v>
                </c:pt>
                <c:pt idx="16">
                  <c:v>Solana</c:v>
                </c:pt>
                <c:pt idx="17">
                  <c:v>Kafka</c:v>
                </c:pt>
                <c:pt idx="18">
                  <c:v>Outsystems-demo</c:v>
                </c:pt>
                <c:pt idx="19">
                  <c:v>GIT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339.18996951217986</c:v>
                </c:pt>
                <c:pt idx="1">
                  <c:v>262.70099258506576</c:v>
                </c:pt>
                <c:pt idx="2">
                  <c:v>260.16236712396966</c:v>
                </c:pt>
                <c:pt idx="3">
                  <c:v>224.03359387292423</c:v>
                </c:pt>
                <c:pt idx="4">
                  <c:v>175.17548215807747</c:v>
                </c:pt>
                <c:pt idx="5">
                  <c:v>159.19123441612817</c:v>
                </c:pt>
                <c:pt idx="6">
                  <c:v>135.60304060338413</c:v>
                </c:pt>
                <c:pt idx="7">
                  <c:v>100.97631859769871</c:v>
                </c:pt>
                <c:pt idx="8">
                  <c:v>81.621589176828522</c:v>
                </c:pt>
                <c:pt idx="9">
                  <c:v>81.239489760905499</c:v>
                </c:pt>
                <c:pt idx="10">
                  <c:v>76.564472451700468</c:v>
                </c:pt>
                <c:pt idx="11">
                  <c:v>72.859333333333197</c:v>
                </c:pt>
                <c:pt idx="12">
                  <c:v>71.231350000000006</c:v>
                </c:pt>
                <c:pt idx="13">
                  <c:v>55.505182824691026</c:v>
                </c:pt>
                <c:pt idx="14">
                  <c:v>51.842449999999999</c:v>
                </c:pt>
                <c:pt idx="15">
                  <c:v>50.020130000000002</c:v>
                </c:pt>
                <c:pt idx="16">
                  <c:v>45.13899999999996</c:v>
                </c:pt>
                <c:pt idx="17">
                  <c:v>42.604163194444503</c:v>
                </c:pt>
                <c:pt idx="18">
                  <c:v>39.85284</c:v>
                </c:pt>
                <c:pt idx="19">
                  <c:v>36.830844725281899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4-8D46-3D4B-996A-4B880DC4E0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C0CEDA"/>
            </a:solidFill>
            <a:ln w="19050">
              <a:noFill/>
            </a:ln>
            <a:effectLst/>
          </c:spPr>
          <c:invertIfNegative val="0"/>
          <c:cat>
            <c:strRef>
              <c:f>Sheet1!$A$2:$A$21</c:f>
              <c:strCache>
                <c:ptCount val="20"/>
                <c:pt idx="0">
                  <c:v>Blender</c:v>
                </c:pt>
                <c:pt idx="1">
                  <c:v>Elasticsearch</c:v>
                </c:pt>
                <c:pt idx="2">
                  <c:v>Tensorflow</c:v>
                </c:pt>
                <c:pt idx="3">
                  <c:v>MongoDB</c:v>
                </c:pt>
                <c:pt idx="4">
                  <c:v>Oracle GraalVM</c:v>
                </c:pt>
                <c:pt idx="5">
                  <c:v>Google V8</c:v>
                </c:pt>
                <c:pt idx="6">
                  <c:v>Clickhouse</c:v>
                </c:pt>
                <c:pt idx="7">
                  <c:v>PostgreSQL</c:v>
                </c:pt>
                <c:pt idx="8">
                  <c:v>Systemd</c:v>
                </c:pt>
                <c:pt idx="9">
                  <c:v>Hadoop</c:v>
                </c:pt>
                <c:pt idx="10">
                  <c:v>Artemis</c:v>
                </c:pt>
                <c:pt idx="11">
                  <c:v>Hibernate</c:v>
                </c:pt>
                <c:pt idx="12">
                  <c:v>Brave-core</c:v>
                </c:pt>
                <c:pt idx="13">
                  <c:v>Airflow</c:v>
                </c:pt>
                <c:pt idx="14">
                  <c:v>Mediawiki</c:v>
                </c:pt>
                <c:pt idx="15">
                  <c:v>Visual Studio Code</c:v>
                </c:pt>
                <c:pt idx="16">
                  <c:v>Solana</c:v>
                </c:pt>
                <c:pt idx="17">
                  <c:v>Kafka</c:v>
                </c:pt>
                <c:pt idx="18">
                  <c:v>Outsystems-demo</c:v>
                </c:pt>
                <c:pt idx="19">
                  <c:v>GIT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45.700819913123013</c:v>
                </c:pt>
                <c:pt idx="13">
                  <c:v>0</c:v>
                </c:pt>
                <c:pt idx="14">
                  <c:v>7.5751780492471497</c:v>
                </c:pt>
                <c:pt idx="15">
                  <c:v>27.31285297129444</c:v>
                </c:pt>
                <c:pt idx="16">
                  <c:v>0</c:v>
                </c:pt>
                <c:pt idx="17">
                  <c:v>0</c:v>
                </c:pt>
                <c:pt idx="18">
                  <c:v>31.111753343205621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46-3D4B-996A-4B880DC4E0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1882-E149-B35D-882C64F5247D}"/>
              </c:ext>
            </c:extLst>
          </c:dPt>
          <c:dPt>
            <c:idx val="1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1882-E149-B35D-882C64F5247D}"/>
              </c:ext>
            </c:extLst>
          </c:dPt>
          <c:dPt>
            <c:idx val="2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1882-E149-B35D-882C64F5247D}"/>
              </c:ext>
            </c:extLst>
          </c:dPt>
          <c:dPt>
            <c:idx val="3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1882-E149-B35D-882C64F5247D}"/>
              </c:ext>
            </c:extLst>
          </c:dPt>
          <c:dPt>
            <c:idx val="4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1882-E149-B35D-882C64F5247D}"/>
              </c:ext>
            </c:extLst>
          </c:dPt>
          <c:dPt>
            <c:idx val="5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1882-E149-B35D-882C64F5247D}"/>
              </c:ext>
            </c:extLst>
          </c:dPt>
          <c:dPt>
            <c:idx val="6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1882-E149-B35D-882C64F5247D}"/>
              </c:ext>
            </c:extLst>
          </c:dPt>
          <c:dPt>
            <c:idx val="7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1882-E149-B35D-882C64F5247D}"/>
              </c:ext>
            </c:extLst>
          </c:dPt>
          <c:dPt>
            <c:idx val="8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1882-E149-B35D-882C64F5247D}"/>
              </c:ext>
            </c:extLst>
          </c:dPt>
          <c:dPt>
            <c:idx val="9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1882-E149-B35D-882C64F5247D}"/>
              </c:ext>
            </c:extLst>
          </c:dPt>
          <c:dPt>
            <c:idx val="10"/>
            <c:invertIfNegative val="1"/>
            <c:bubble3D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5-1882-E149-B35D-882C64F5247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1882-E149-B35D-882C64F5247D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1882-E149-B35D-882C64F5247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1882-E149-B35D-882C64F5247D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Airflow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1882-E149-B35D-882C64F5247D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1882-E149-B35D-882C64F5247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1882-E149-B35D-882C64F5247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1882-E149-B35D-882C64F5247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1882-E149-B35D-882C64F5247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1882-E149-B35D-882C64F5247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1882-E149-B35D-882C64F5247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1882-E149-B35D-882C64F5247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Sheet1!$A$2:$A$12</c:f>
              <c:numCache>
                <c:formatCode>General</c:formatCode>
                <c:ptCount val="11"/>
                <c:pt idx="0">
                  <c:v>118.73782</c:v>
                </c:pt>
                <c:pt idx="1">
                  <c:v>33.210549999999998</c:v>
                </c:pt>
                <c:pt idx="2">
                  <c:v>30.577310000000001</c:v>
                </c:pt>
                <c:pt idx="3">
                  <c:v>34.274880000000003</c:v>
                </c:pt>
                <c:pt idx="4">
                  <c:v>23.164843414368718</c:v>
                </c:pt>
                <c:pt idx="5">
                  <c:v>5.1598499999999996</c:v>
                </c:pt>
                <c:pt idx="6">
                  <c:v>3.2078700000000002</c:v>
                </c:pt>
                <c:pt idx="7">
                  <c:v>0.70401000000000002</c:v>
                </c:pt>
                <c:pt idx="8">
                  <c:v>0.97714000000000001</c:v>
                </c:pt>
                <c:pt idx="9">
                  <c:v>0.52347999999999995</c:v>
                </c:pt>
                <c:pt idx="10">
                  <c:v>0.30558999999999997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86.181610000000006</c:v>
                </c:pt>
                <c:pt idx="1">
                  <c:v>78.226209999999995</c:v>
                </c:pt>
                <c:pt idx="2">
                  <c:v>82.155069999999995</c:v>
                </c:pt>
                <c:pt idx="3">
                  <c:v>82.468159999999997</c:v>
                </c:pt>
                <c:pt idx="4">
                  <c:v>60.298609999999996</c:v>
                </c:pt>
                <c:pt idx="5">
                  <c:v>53.696919999999999</c:v>
                </c:pt>
                <c:pt idx="6">
                  <c:v>84.021050000000002</c:v>
                </c:pt>
                <c:pt idx="7">
                  <c:v>55.911029999999997</c:v>
                </c:pt>
                <c:pt idx="8">
                  <c:v>37.822049999999997</c:v>
                </c:pt>
                <c:pt idx="9">
                  <c:v>46.848619999999997</c:v>
                </c:pt>
                <c:pt idx="10">
                  <c:v>15.117100000000001</c:v>
                </c:pt>
              </c:numCache>
            </c:numRef>
          </c:yVal>
          <c:bubbleSize>
            <c:numRef>
              <c:f>Sheet1!$C$2:$C$12</c:f>
              <c:numCache>
                <c:formatCode>General</c:formatCode>
                <c:ptCount val="11"/>
                <c:pt idx="0">
                  <c:v>224.03359387292423</c:v>
                </c:pt>
                <c:pt idx="1">
                  <c:v>81.239489760905499</c:v>
                </c:pt>
                <c:pt idx="2">
                  <c:v>72.859333333333197</c:v>
                </c:pt>
                <c:pt idx="3">
                  <c:v>55.505182824691026</c:v>
                </c:pt>
                <c:pt idx="4">
                  <c:v>16.765350000000002</c:v>
                </c:pt>
                <c:pt idx="5">
                  <c:v>14.935280000000001</c:v>
                </c:pt>
                <c:pt idx="6">
                  <c:v>5.8078124999999998</c:v>
                </c:pt>
                <c:pt idx="7">
                  <c:v>2.1421800000000002</c:v>
                </c:pt>
                <c:pt idx="8">
                  <c:v>2.0748899999999999</c:v>
                </c:pt>
                <c:pt idx="9">
                  <c:v>1.2634700000000001</c:v>
                </c:pt>
                <c:pt idx="10">
                  <c:v>0.45139000000000001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1"/>
          <c:order val="1"/>
          <c:tx>
            <c:strRef>
              <c:f>Sheet1!$B$14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7-1882-E149-B35D-882C64F5247D}"/>
              </c:ext>
            </c:extLst>
          </c:dPt>
          <c:dPt>
            <c:idx val="1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9-1882-E149-B35D-882C64F5247D}"/>
              </c:ext>
            </c:extLst>
          </c:dPt>
          <c:dPt>
            <c:idx val="2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B-1882-E149-B35D-882C64F5247D}"/>
              </c:ext>
            </c:extLst>
          </c:dPt>
          <c:dPt>
            <c:idx val="3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D-1882-E149-B35D-882C64F5247D}"/>
              </c:ext>
            </c:extLst>
          </c:dPt>
          <c:dPt>
            <c:idx val="4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F-1882-E149-B35D-882C64F5247D}"/>
              </c:ext>
            </c:extLst>
          </c:dPt>
          <c:dPt>
            <c:idx val="5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21-1882-E149-B35D-882C64F5247D}"/>
              </c:ext>
            </c:extLst>
          </c:dPt>
          <c:dPt>
            <c:idx val="6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23-1882-E149-B35D-882C64F5247D}"/>
              </c:ext>
            </c:extLst>
          </c:dPt>
          <c:dPt>
            <c:idx val="7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25-1882-E149-B35D-882C64F5247D}"/>
              </c:ext>
            </c:extLst>
          </c:dPt>
          <c:dPt>
            <c:idx val="8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27-1882-E149-B35D-882C64F5247D}"/>
              </c:ext>
            </c:extLst>
          </c:dPt>
          <c:dPt>
            <c:idx val="9"/>
            <c:invertIfNegative val="1"/>
            <c:bubble3D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29-1882-E149-B35D-882C64F5247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1882-E149-B35D-882C64F5247D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1882-E149-B35D-882C64F5247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1882-E149-B35D-882C64F5247D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1882-E149-B35D-882C64F5247D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1882-E149-B35D-882C64F5247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Druid-local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1882-E149-B35D-882C64F5247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1882-E149-B35D-882C64F5247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1882-E149-B35D-882C64F5247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1882-E149-B35D-882C64F5247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1882-E149-B35D-882C64F5247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Sheet1!$A$15:$A$24</c:f>
              <c:numCache>
                <c:formatCode>General</c:formatCode>
                <c:ptCount val="10"/>
                <c:pt idx="0">
                  <c:v>175.68071</c:v>
                </c:pt>
                <c:pt idx="1">
                  <c:v>137.00198</c:v>
                </c:pt>
                <c:pt idx="2">
                  <c:v>175.17548215807747</c:v>
                </c:pt>
                <c:pt idx="3">
                  <c:v>31.269179999999999</c:v>
                </c:pt>
                <c:pt idx="4">
                  <c:v>18.183119999999999</c:v>
                </c:pt>
                <c:pt idx="5">
                  <c:v>12.994009999999999</c:v>
                </c:pt>
                <c:pt idx="6">
                  <c:v>12.30279</c:v>
                </c:pt>
                <c:pt idx="7">
                  <c:v>8.1952300000000005</c:v>
                </c:pt>
                <c:pt idx="8">
                  <c:v>5.2690099999999997</c:v>
                </c:pt>
                <c:pt idx="9">
                  <c:v>2.7743099999999998</c:v>
                </c:pt>
              </c:numCache>
            </c:numRef>
          </c:xVal>
          <c:yVal>
            <c:numRef>
              <c:f>Sheet1!$B$15:$B$24</c:f>
              <c:numCache>
                <c:formatCode>General</c:formatCode>
                <c:ptCount val="10"/>
                <c:pt idx="0">
                  <c:v>76.075580000000002</c:v>
                </c:pt>
                <c:pt idx="1">
                  <c:v>90.117090000000005</c:v>
                </c:pt>
                <c:pt idx="2">
                  <c:v>84.757040000000003</c:v>
                </c:pt>
                <c:pt idx="3">
                  <c:v>78.549400000000006</c:v>
                </c:pt>
                <c:pt idx="4">
                  <c:v>60.788350000000001</c:v>
                </c:pt>
                <c:pt idx="5">
                  <c:v>77.926460000000006</c:v>
                </c:pt>
                <c:pt idx="6">
                  <c:v>83.297899999999998</c:v>
                </c:pt>
                <c:pt idx="7">
                  <c:v>78.253309999999999</c:v>
                </c:pt>
                <c:pt idx="8">
                  <c:v>36.311410000000002</c:v>
                </c:pt>
                <c:pt idx="9">
                  <c:v>57.55254</c:v>
                </c:pt>
              </c:numCache>
            </c:numRef>
          </c:yVal>
          <c:bubbleSize>
            <c:numRef>
              <c:f>Sheet1!$C$15:$C$24</c:f>
              <c:numCache>
                <c:formatCode>General</c:formatCode>
                <c:ptCount val="10"/>
                <c:pt idx="0">
                  <c:v>339.18996951217986</c:v>
                </c:pt>
                <c:pt idx="1">
                  <c:v>262.70099258506576</c:v>
                </c:pt>
                <c:pt idx="2">
                  <c:v>175.17548215807747</c:v>
                </c:pt>
                <c:pt idx="3">
                  <c:v>76.564472451700468</c:v>
                </c:pt>
                <c:pt idx="4">
                  <c:v>51.842449999999999</c:v>
                </c:pt>
                <c:pt idx="5">
                  <c:v>28.693159713391491</c:v>
                </c:pt>
                <c:pt idx="6">
                  <c:v>26.774372759856671</c:v>
                </c:pt>
                <c:pt idx="7">
                  <c:v>21.30444444444446</c:v>
                </c:pt>
                <c:pt idx="8">
                  <c:v>11.03511</c:v>
                </c:pt>
                <c:pt idx="9">
                  <c:v>8.32348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2"/>
          <c:order val="2"/>
          <c:tx>
            <c:strRef>
              <c:f>Sheet1!$B$26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2B-1882-E149-B35D-882C64F5247D}"/>
              </c:ext>
            </c:extLst>
          </c:dPt>
          <c:dPt>
            <c:idx val="1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2D-1882-E149-B35D-882C64F5247D}"/>
              </c:ext>
            </c:extLst>
          </c:dPt>
          <c:dPt>
            <c:idx val="2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2F-1882-E149-B35D-882C64F5247D}"/>
              </c:ext>
            </c:extLst>
          </c:dPt>
          <c:dPt>
            <c:idx val="3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31-1882-E149-B35D-882C64F5247D}"/>
              </c:ext>
            </c:extLst>
          </c:dPt>
          <c:dPt>
            <c:idx val="4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33-1882-E149-B35D-882C64F5247D}"/>
              </c:ext>
            </c:extLst>
          </c:dPt>
          <c:dPt>
            <c:idx val="5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35-1882-E149-B35D-882C64F5247D}"/>
              </c:ext>
            </c:extLst>
          </c:dPt>
          <c:dPt>
            <c:idx val="6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37-1882-E149-B35D-882C64F5247D}"/>
              </c:ext>
            </c:extLst>
          </c:dPt>
          <c:dPt>
            <c:idx val="7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39-1882-E149-B35D-882C64F5247D}"/>
              </c:ext>
            </c:extLst>
          </c:dPt>
          <c:dPt>
            <c:idx val="8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3B-1882-E149-B35D-882C64F5247D}"/>
              </c:ext>
            </c:extLst>
          </c:dPt>
          <c:dPt>
            <c:idx val="9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3D-1882-E149-B35D-882C64F5247D}"/>
              </c:ext>
            </c:extLst>
          </c:dPt>
          <c:dPt>
            <c:idx val="10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3F-1882-E149-B35D-882C64F5247D}"/>
              </c:ext>
            </c:extLst>
          </c:dPt>
          <c:dPt>
            <c:idx val="11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41-1882-E149-B35D-882C64F5247D}"/>
              </c:ext>
            </c:extLst>
          </c:dPt>
          <c:dPt>
            <c:idx val="12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43-1882-E149-B35D-882C64F5247D}"/>
              </c:ext>
            </c:extLst>
          </c:dPt>
          <c:dPt>
            <c:idx val="13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45-1882-E149-B35D-882C64F5247D}"/>
              </c:ext>
            </c:extLst>
          </c:dPt>
          <c:dPt>
            <c:idx val="14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47-1882-E149-B35D-882C64F5247D}"/>
              </c:ext>
            </c:extLst>
          </c:dPt>
          <c:dPt>
            <c:idx val="15"/>
            <c:invertIfNegative val="1"/>
            <c:bubble3D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49-1882-E149-B35D-882C64F5247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1882-E149-B35D-882C64F5247D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1882-E149-B35D-882C64F5247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1882-E149-B35D-882C64F5247D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1882-E149-B35D-882C64F5247D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1882-E149-B35D-882C64F5247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1882-E149-B35D-882C64F5247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Visual Studio 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1882-E149-B35D-882C64F5247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1882-E149-B35D-882C64F5247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1882-E149-B35D-882C64F5247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1882-E149-B35D-882C64F5247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1882-E149-B35D-882C64F5247D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1882-E149-B35D-882C64F5247D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1882-E149-B35D-882C64F5247D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1882-E149-B35D-882C64F5247D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1882-E149-B35D-882C64F5247D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1882-E149-B35D-882C64F5247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Sheet1!$A$27:$A$42</c:f>
              <c:numCache>
                <c:formatCode>General</c:formatCode>
                <c:ptCount val="16"/>
                <c:pt idx="0">
                  <c:v>260.16236712396966</c:v>
                </c:pt>
                <c:pt idx="1">
                  <c:v>79.725849999999994</c:v>
                </c:pt>
                <c:pt idx="2">
                  <c:v>90.589789999999994</c:v>
                </c:pt>
                <c:pt idx="3">
                  <c:v>69.703230000000005</c:v>
                </c:pt>
                <c:pt idx="4">
                  <c:v>24.45168</c:v>
                </c:pt>
                <c:pt idx="5">
                  <c:v>17.911339999999999</c:v>
                </c:pt>
                <c:pt idx="6">
                  <c:v>18.813199999999998</c:v>
                </c:pt>
                <c:pt idx="7">
                  <c:v>18.753419999999998</c:v>
                </c:pt>
                <c:pt idx="8">
                  <c:v>14.598269999999999</c:v>
                </c:pt>
                <c:pt idx="9">
                  <c:v>10.1496</c:v>
                </c:pt>
                <c:pt idx="10">
                  <c:v>8.2955900000000007</c:v>
                </c:pt>
                <c:pt idx="11">
                  <c:v>11.911899999999999</c:v>
                </c:pt>
                <c:pt idx="12">
                  <c:v>4.8777600000000003</c:v>
                </c:pt>
                <c:pt idx="13">
                  <c:v>3.1641900000000001</c:v>
                </c:pt>
                <c:pt idx="14">
                  <c:v>1.5314000000000001</c:v>
                </c:pt>
                <c:pt idx="15">
                  <c:v>0.63175000000000003</c:v>
                </c:pt>
              </c:numCache>
            </c:numRef>
          </c:xVal>
          <c:yVal>
            <c:numRef>
              <c:f>Sheet1!$B$27:$B$42</c:f>
              <c:numCache>
                <c:formatCode>General</c:formatCode>
                <c:ptCount val="16"/>
                <c:pt idx="0">
                  <c:v>75.587059999999994</c:v>
                </c:pt>
                <c:pt idx="1">
                  <c:v>82.44632</c:v>
                </c:pt>
                <c:pt idx="2">
                  <c:v>103.80727</c:v>
                </c:pt>
                <c:pt idx="3">
                  <c:v>104.71228000000001</c:v>
                </c:pt>
                <c:pt idx="4">
                  <c:v>96.964950000000002</c:v>
                </c:pt>
                <c:pt idx="5">
                  <c:v>78.412790000000001</c:v>
                </c:pt>
                <c:pt idx="6">
                  <c:v>41.75224</c:v>
                </c:pt>
                <c:pt idx="7">
                  <c:v>86.790279999999996</c:v>
                </c:pt>
                <c:pt idx="8">
                  <c:v>87.693460000000002</c:v>
                </c:pt>
                <c:pt idx="9">
                  <c:v>58.078220000000002</c:v>
                </c:pt>
                <c:pt idx="10">
                  <c:v>49.655810000000002</c:v>
                </c:pt>
                <c:pt idx="11">
                  <c:v>38.44903</c:v>
                </c:pt>
                <c:pt idx="12">
                  <c:v>55.28725</c:v>
                </c:pt>
                <c:pt idx="13">
                  <c:v>27.19237</c:v>
                </c:pt>
                <c:pt idx="14">
                  <c:v>35.195169999999997</c:v>
                </c:pt>
                <c:pt idx="15">
                  <c:v>73.814800000000005</c:v>
                </c:pt>
              </c:numCache>
            </c:numRef>
          </c:yVal>
          <c:bubbleSize>
            <c:numRef>
              <c:f>Sheet1!$C$27:$C$42</c:f>
              <c:numCache>
                <c:formatCode>General</c:formatCode>
                <c:ptCount val="16"/>
                <c:pt idx="0">
                  <c:v>260.16236712396966</c:v>
                </c:pt>
                <c:pt idx="1">
                  <c:v>159.19123441612817</c:v>
                </c:pt>
                <c:pt idx="2">
                  <c:v>100.97631859769871</c:v>
                </c:pt>
                <c:pt idx="3">
                  <c:v>81.621589176828522</c:v>
                </c:pt>
                <c:pt idx="4">
                  <c:v>36.830844725281899</c:v>
                </c:pt>
                <c:pt idx="5">
                  <c:v>42.604163194444503</c:v>
                </c:pt>
                <c:pt idx="6">
                  <c:v>50.020130000000002</c:v>
                </c:pt>
                <c:pt idx="7">
                  <c:v>36.359647309330278</c:v>
                </c:pt>
                <c:pt idx="8">
                  <c:v>25.287808219178057</c:v>
                </c:pt>
                <c:pt idx="9">
                  <c:v>27.624770000000002</c:v>
                </c:pt>
                <c:pt idx="10">
                  <c:v>23.888359999999999</c:v>
                </c:pt>
                <c:pt idx="11">
                  <c:v>26.935390000000002</c:v>
                </c:pt>
                <c:pt idx="12">
                  <c:v>13.653460000000001</c:v>
                </c:pt>
                <c:pt idx="13">
                  <c:v>5.8852799999999998</c:v>
                </c:pt>
                <c:pt idx="14">
                  <c:v>3.3751199999999999</c:v>
                </c:pt>
                <c:pt idx="15">
                  <c:v>1.7355555555555553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3"/>
          <c:order val="3"/>
          <c:tx>
            <c:strRef>
              <c:f>Sheet1!$B$44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4B-1882-E149-B35D-882C64F5247D}"/>
              </c:ext>
            </c:extLst>
          </c:dPt>
          <c:dPt>
            <c:idx val="1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4D-1882-E149-B35D-882C64F5247D}"/>
              </c:ext>
            </c:extLst>
          </c:dPt>
          <c:dPt>
            <c:idx val="2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4F-1882-E149-B35D-882C64F5247D}"/>
              </c:ext>
            </c:extLst>
          </c:dPt>
          <c:dPt>
            <c:idx val="3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51-1882-E149-B35D-882C64F5247D}"/>
              </c:ext>
            </c:extLst>
          </c:dPt>
          <c:dPt>
            <c:idx val="4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53-1882-E149-B35D-882C64F5247D}"/>
              </c:ext>
            </c:extLst>
          </c:dPt>
          <c:dPt>
            <c:idx val="5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55-1882-E149-B35D-882C64F5247D}"/>
              </c:ext>
            </c:extLst>
          </c:dPt>
          <c:dPt>
            <c:idx val="6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57-1882-E149-B35D-882C64F5247D}"/>
              </c:ext>
            </c:extLst>
          </c:dPt>
          <c:dPt>
            <c:idx val="7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59-1882-E149-B35D-882C64F5247D}"/>
              </c:ext>
            </c:extLst>
          </c:dPt>
          <c:dPt>
            <c:idx val="8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5B-1882-E149-B35D-882C64F5247D}"/>
              </c:ext>
            </c:extLst>
          </c:dPt>
          <c:dPt>
            <c:idx val="9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5D-1882-E149-B35D-882C64F5247D}"/>
              </c:ext>
            </c:extLst>
          </c:dPt>
          <c:dPt>
            <c:idx val="10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5F-1882-E149-B35D-882C64F5247D}"/>
              </c:ext>
            </c:extLst>
          </c:dPt>
          <c:dPt>
            <c:idx val="11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61-1882-E149-B35D-882C64F5247D}"/>
              </c:ext>
            </c:extLst>
          </c:dPt>
          <c:dPt>
            <c:idx val="12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63-1882-E149-B35D-882C64F5247D}"/>
              </c:ext>
            </c:extLst>
          </c:dPt>
          <c:dPt>
            <c:idx val="13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65-1882-E149-B35D-882C64F5247D}"/>
              </c:ext>
            </c:extLst>
          </c:dPt>
          <c:dPt>
            <c:idx val="14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67-1882-E149-B35D-882C64F5247D}"/>
              </c:ext>
            </c:extLst>
          </c:dPt>
          <c:dPt>
            <c:idx val="15"/>
            <c:invertIfNegative val="1"/>
            <c:bubble3D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69-1882-E149-B35D-882C64F5247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1882-E149-B35D-882C64F5247D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1882-E149-B35D-882C64F5247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1882-E149-B35D-882C64F5247D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1882-E149-B35D-882C64F5247D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1882-E149-B35D-882C64F5247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1882-E149-B35D-882C64F5247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1882-E149-B35D-882C64F5247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Bitcoin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1882-E149-B35D-882C64F5247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1882-E149-B35D-882C64F5247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D-1882-E149-B35D-882C64F5247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F-1882-E149-B35D-882C64F5247D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61-1882-E149-B35D-882C64F5247D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63-1882-E149-B35D-882C64F5247D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65-1882-E149-B35D-882C64F5247D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67-1882-E149-B35D-882C64F5247D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69-1882-E149-B35D-882C64F5247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Sheet1!$A$45:$A$60</c:f>
              <c:numCache>
                <c:formatCode>General</c:formatCode>
                <c:ptCount val="16"/>
                <c:pt idx="0">
                  <c:v>56.01164</c:v>
                </c:pt>
                <c:pt idx="1">
                  <c:v>28.55415</c:v>
                </c:pt>
                <c:pt idx="2">
                  <c:v>70.964593343205621</c:v>
                </c:pt>
                <c:pt idx="3">
                  <c:v>11.14414</c:v>
                </c:pt>
                <c:pt idx="4">
                  <c:v>34.844909999999999</c:v>
                </c:pt>
                <c:pt idx="5">
                  <c:v>39.714834660721138</c:v>
                </c:pt>
                <c:pt idx="6">
                  <c:v>5.2308300000000001</c:v>
                </c:pt>
                <c:pt idx="7">
                  <c:v>13.05913</c:v>
                </c:pt>
                <c:pt idx="8">
                  <c:v>4.1805399999999997</c:v>
                </c:pt>
                <c:pt idx="9">
                  <c:v>14.616503703365735</c:v>
                </c:pt>
                <c:pt idx="10">
                  <c:v>8.6707800000000006</c:v>
                </c:pt>
                <c:pt idx="11">
                  <c:v>2.6841499999999998</c:v>
                </c:pt>
                <c:pt idx="12">
                  <c:v>3.52922</c:v>
                </c:pt>
                <c:pt idx="13">
                  <c:v>1.3142499999999999</c:v>
                </c:pt>
                <c:pt idx="14">
                  <c:v>1.03302</c:v>
                </c:pt>
                <c:pt idx="15">
                  <c:v>0.91724000000000006</c:v>
                </c:pt>
              </c:numCache>
            </c:numRef>
          </c:xVal>
          <c:yVal>
            <c:numRef>
              <c:f>Sheet1!$B$45:$B$60</c:f>
              <c:numCache>
                <c:formatCode>General</c:formatCode>
                <c:ptCount val="16"/>
                <c:pt idx="0">
                  <c:v>79.382829999999998</c:v>
                </c:pt>
                <c:pt idx="1">
                  <c:v>42.094340000000003</c:v>
                </c:pt>
                <c:pt idx="2">
                  <c:v>32.729419999999998</c:v>
                </c:pt>
                <c:pt idx="3">
                  <c:v>37.412080000000003</c:v>
                </c:pt>
                <c:pt idx="4">
                  <c:v>96.685969999999998</c:v>
                </c:pt>
                <c:pt idx="5">
                  <c:v>43.727780000000003</c:v>
                </c:pt>
                <c:pt idx="6">
                  <c:v>27.041730000000001</c:v>
                </c:pt>
                <c:pt idx="7">
                  <c:v>76.528710000000004</c:v>
                </c:pt>
                <c:pt idx="8">
                  <c:v>66.259770000000003</c:v>
                </c:pt>
                <c:pt idx="9">
                  <c:v>71.133139999999997</c:v>
                </c:pt>
                <c:pt idx="10">
                  <c:v>82.559150000000002</c:v>
                </c:pt>
                <c:pt idx="11">
                  <c:v>59.374459999999999</c:v>
                </c:pt>
                <c:pt idx="12">
                  <c:v>83.750280000000004</c:v>
                </c:pt>
                <c:pt idx="13">
                  <c:v>39.934199999999997</c:v>
                </c:pt>
                <c:pt idx="14">
                  <c:v>37.986139999999999</c:v>
                </c:pt>
                <c:pt idx="15">
                  <c:v>37.092080000000003</c:v>
                </c:pt>
              </c:numCache>
            </c:numRef>
          </c:yVal>
          <c:bubbleSize>
            <c:numRef>
              <c:f>Sheet1!$C$45:$C$60</c:f>
              <c:numCache>
                <c:formatCode>General</c:formatCode>
                <c:ptCount val="16"/>
                <c:pt idx="0">
                  <c:v>135.60304060338413</c:v>
                </c:pt>
                <c:pt idx="1">
                  <c:v>71.231350000000006</c:v>
                </c:pt>
                <c:pt idx="2">
                  <c:v>39.85284</c:v>
                </c:pt>
                <c:pt idx="3">
                  <c:v>25.162690000000001</c:v>
                </c:pt>
                <c:pt idx="4">
                  <c:v>45.13899999999996</c:v>
                </c:pt>
                <c:pt idx="5">
                  <c:v>25.588730000000002</c:v>
                </c:pt>
                <c:pt idx="6">
                  <c:v>10.47964</c:v>
                </c:pt>
                <c:pt idx="7">
                  <c:v>26.10661204268288</c:v>
                </c:pt>
                <c:pt idx="8">
                  <c:v>12.925190000000001</c:v>
                </c:pt>
                <c:pt idx="9">
                  <c:v>14.616503703365735</c:v>
                </c:pt>
                <c:pt idx="10">
                  <c:v>14.519878048780463</c:v>
                </c:pt>
                <c:pt idx="11">
                  <c:v>8.2278699999999994</c:v>
                </c:pt>
                <c:pt idx="12">
                  <c:v>7.93359375</c:v>
                </c:pt>
                <c:pt idx="13">
                  <c:v>2.8579300000000001</c:v>
                </c:pt>
                <c:pt idx="14">
                  <c:v>2.4762200000000001</c:v>
                </c:pt>
                <c:pt idx="15">
                  <c:v>2.0707300000000002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4"/>
          <c:order val="4"/>
          <c:tx>
            <c:strRef>
              <c:f>Sheet1!$B$62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6B-1882-E149-B35D-882C64F5247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6B-1882-E149-B35D-882C64F5247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Sheet1!$A$63:$A$63</c:f>
              <c:numCache>
                <c:formatCode>General</c:formatCode>
                <c:ptCount val="1"/>
                <c:pt idx="0">
                  <c:v>0.66186999999999996</c:v>
                </c:pt>
              </c:numCache>
            </c:numRef>
          </c:xVal>
          <c:yVal>
            <c:numRef>
              <c:f>Sheet1!$B$63:$B$63</c:f>
              <c:numCache>
                <c:formatCode>General</c:formatCode>
                <c:ptCount val="1"/>
                <c:pt idx="0">
                  <c:v>10.22878</c:v>
                </c:pt>
              </c:numCache>
            </c:numRef>
          </c:yVal>
          <c:bubbleSize>
            <c:numRef>
              <c:f>Sheet1!$C$63:$C$63</c:f>
              <c:numCache>
                <c:formatCode>General</c:formatCode>
                <c:ptCount val="1"/>
                <c:pt idx="0">
                  <c:v>0.85577000000000003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392045280"/>
        <c:axId val="392046992"/>
      </c:bubbleChart>
      <c:valAx>
        <c:axId val="392045280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6992"/>
        <c:crosses val="autoZero"/>
        <c:crossBetween val="midCat"/>
      </c:valAx>
      <c:valAx>
        <c:axId val="392046992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5280"/>
        <c:crosses val="autoZero"/>
        <c:crossBetween val="midCat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emf"/><Relationship Id="rId5" Type="http://schemas.openxmlformats.org/officeDocument/2006/relationships/image" Target="../media/image18.emf"/><Relationship Id="rId4" Type="http://schemas.openxmlformats.org/officeDocument/2006/relationships/image" Target="../media/image17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Opendemo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Modernization Assessment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12,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37F4E57E-2315-9749-9586-B32F24FF9B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4" b="16332"/>
          <a:stretch/>
        </p:blipFill>
        <p:spPr>
          <a:xfrm>
            <a:off x="-1" y="844663"/>
            <a:ext cx="12171003" cy="6021288"/>
          </a:xfrm>
          <a:prstGeom prst="rect">
            <a:avLst/>
          </a:prstGeom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7DC72909-4B1B-F74A-BF43-2DB5FC1DCB1B}"/>
              </a:ext>
            </a:extLst>
          </p:cNvPr>
          <p:cNvSpPr/>
          <p:nvPr/>
        </p:nvSpPr>
        <p:spPr>
          <a:xfrm>
            <a:off x="1" y="836712"/>
            <a:ext cx="12191999" cy="6021288"/>
          </a:xfrm>
          <a:prstGeom prst="rect">
            <a:avLst/>
          </a:prstGeom>
          <a:gradFill flip="none" rotWithShape="1">
            <a:gsLst>
              <a:gs pos="0">
                <a:schemeClr val="accent6">
                  <a:satMod val="110000"/>
                  <a:lumMod val="100000"/>
                  <a:shade val="100000"/>
                </a:schemeClr>
              </a:gs>
              <a:gs pos="0">
                <a:schemeClr val="accent1">
                  <a:lumMod val="60000"/>
                  <a:lumOff val="40000"/>
                  <a:alpha val="52000"/>
                </a:schemeClr>
              </a:gs>
              <a:gs pos="99000">
                <a:schemeClr val="accent1">
                  <a:lumMod val="75000"/>
                  <a:alpha val="78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F4A3C8-2D2A-ED4B-8A5A-8B5FA1C765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" cmpd="sng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A0C7D-ED79-1C41-B9E8-05543C0C9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Legacy modernization assurance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40D92-28CE-014C-9D3A-F89D5201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9810000" cy="282819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t"/>
          <a:lstStyle/>
          <a:p>
            <a:r>
              <a:rPr lang="en-US" dirty="0"/>
              <a:t>A 3-phase approach to support modernization; focus for this report is </a:t>
            </a:r>
            <a:r>
              <a:rPr lang="en-US" dirty="0">
                <a:solidFill>
                  <a:schemeClr val="accent2"/>
                </a:solidFill>
              </a:rPr>
              <a:t>Phase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3223B75-9701-1C4D-92DE-AF89A656DE22}"/>
              </a:ext>
            </a:extLst>
          </p:cNvPr>
          <p:cNvGrpSpPr/>
          <p:nvPr/>
        </p:nvGrpSpPr>
        <p:grpSpPr>
          <a:xfrm>
            <a:off x="5006801" y="1071914"/>
            <a:ext cx="2209800" cy="1989458"/>
            <a:chOff x="3145912" y="4308725"/>
            <a:chExt cx="2209800" cy="1989458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C03BF3-586D-3547-A7C6-E1CF136DA3AC}"/>
                </a:ext>
              </a:extLst>
            </p:cNvPr>
            <p:cNvSpPr/>
            <p:nvPr/>
          </p:nvSpPr>
          <p:spPr>
            <a:xfrm>
              <a:off x="3145912" y="5470254"/>
              <a:ext cx="2209800" cy="8279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b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Phase 2</a:t>
              </a:r>
            </a:p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Modernization Assessment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5F786E5-A81C-4549-AAD0-3C3177E4782D}"/>
                </a:ext>
              </a:extLst>
            </p:cNvPr>
            <p:cNvSpPr/>
            <p:nvPr/>
          </p:nvSpPr>
          <p:spPr>
            <a:xfrm>
              <a:off x="3709113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E5BCB1F-62B3-D842-98FD-3689A9755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3833429" y="4482668"/>
              <a:ext cx="792773" cy="673857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B8BE51C-20C0-A14C-A4A2-9EAB80BAB487}"/>
              </a:ext>
            </a:extLst>
          </p:cNvPr>
          <p:cNvGrpSpPr/>
          <p:nvPr/>
        </p:nvGrpSpPr>
        <p:grpSpPr>
          <a:xfrm>
            <a:off x="9662555" y="2456932"/>
            <a:ext cx="2337989" cy="1732444"/>
            <a:chOff x="7914209" y="4283074"/>
            <a:chExt cx="2337989" cy="173244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16BE29-6B13-7E44-8403-0C579A2D8740}"/>
                </a:ext>
              </a:extLst>
            </p:cNvPr>
            <p:cNvSpPr/>
            <p:nvPr/>
          </p:nvSpPr>
          <p:spPr>
            <a:xfrm>
              <a:off x="7914209" y="5607871"/>
              <a:ext cx="2337989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3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Sigrid Continuous Assurance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791965E-97DA-ED4B-95A4-2C1E50262FBF}"/>
                </a:ext>
              </a:extLst>
            </p:cNvPr>
            <p:cNvSpPr/>
            <p:nvPr/>
          </p:nvSpPr>
          <p:spPr>
            <a:xfrm>
              <a:off x="8490111" y="4283074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8B2A39E-4056-5846-8346-8BC6A184F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100000"/>
            </a:blip>
            <a:stretch>
              <a:fillRect/>
            </a:stretch>
          </p:blipFill>
          <p:spPr>
            <a:xfrm>
              <a:off x="8691596" y="4482668"/>
              <a:ext cx="694134" cy="590014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6097FB3-105A-3146-9C83-F353F350F638}"/>
              </a:ext>
            </a:extLst>
          </p:cNvPr>
          <p:cNvGrpSpPr/>
          <p:nvPr/>
        </p:nvGrpSpPr>
        <p:grpSpPr>
          <a:xfrm>
            <a:off x="171654" y="2456932"/>
            <a:ext cx="2209800" cy="1774529"/>
            <a:chOff x="189717" y="4308725"/>
            <a:chExt cx="2209800" cy="17745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F567B5-009C-8A45-B4A1-E01785A0F227}"/>
                </a:ext>
              </a:extLst>
            </p:cNvPr>
            <p:cNvSpPr/>
            <p:nvPr/>
          </p:nvSpPr>
          <p:spPr>
            <a:xfrm>
              <a:off x="189717" y="5675607"/>
              <a:ext cx="2209800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1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Priority 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Portfolio Scan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C34D03-95D0-EC42-905B-E5564FE54565}"/>
                </a:ext>
              </a:extLst>
            </p:cNvPr>
            <p:cNvSpPr/>
            <p:nvPr/>
          </p:nvSpPr>
          <p:spPr>
            <a:xfrm>
              <a:off x="765618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B6D5A84-B1EE-C849-A50F-4723EC633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917322" y="4547122"/>
              <a:ext cx="749510" cy="637084"/>
            </a:xfrm>
            <a:prstGeom prst="rect">
              <a:avLst/>
            </a:prstGeom>
          </p:spPr>
        </p:pic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425303F-80E3-8640-940B-98030EAEE2EB}"/>
              </a:ext>
            </a:extLst>
          </p:cNvPr>
          <p:cNvCxnSpPr>
            <a:cxnSpLocks/>
            <a:stCxn id="69" idx="2"/>
            <a:endCxn id="70" idx="1"/>
          </p:cNvCxnSpPr>
          <p:nvPr/>
        </p:nvCxnSpPr>
        <p:spPr>
          <a:xfrm rot="16200000" flipH="1">
            <a:off x="5931043" y="5073913"/>
            <a:ext cx="361316" cy="1225371"/>
          </a:xfrm>
          <a:prstGeom prst="bentConnector2">
            <a:avLst/>
          </a:prstGeom>
          <a:ln w="38100" cap="rnd" cmpd="sng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FFA6D62-785B-1B41-A941-B7F0C1610920}"/>
              </a:ext>
            </a:extLst>
          </p:cNvPr>
          <p:cNvSpPr/>
          <p:nvPr/>
        </p:nvSpPr>
        <p:spPr>
          <a:xfrm>
            <a:off x="2905352" y="3216440"/>
            <a:ext cx="6381295" cy="3236896"/>
          </a:xfrm>
          <a:prstGeom prst="rect">
            <a:avLst/>
          </a:prstGeom>
          <a:solidFill>
            <a:schemeClr val="tx2">
              <a:lumMod val="7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840F6F-3AC0-8E49-8994-24398DB9A99F}"/>
              </a:ext>
            </a:extLst>
          </p:cNvPr>
          <p:cNvGrpSpPr/>
          <p:nvPr/>
        </p:nvGrpSpPr>
        <p:grpSpPr>
          <a:xfrm>
            <a:off x="3316358" y="3713108"/>
            <a:ext cx="5517292" cy="386563"/>
            <a:chOff x="2959100" y="2742577"/>
            <a:chExt cx="6436451" cy="51167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5C033B-C32C-BB43-BB54-2C71421DB84C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99E8E97-2D39-E749-8228-DEBC4A9B8FF7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01DA10C-949F-5645-A257-226241BF7045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FCC6E8-5D67-2840-BCB1-5DBA89F6DD26}"/>
                </a:ext>
              </a:extLst>
            </p:cNvPr>
            <p:cNvSpPr/>
            <p:nvPr/>
          </p:nvSpPr>
          <p:spPr>
            <a:xfrm>
              <a:off x="7043489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4A76D03-2893-5B47-BAA4-CC26C80F7254}"/>
                </a:ext>
              </a:extLst>
            </p:cNvPr>
            <p:cNvSpPr/>
            <p:nvPr/>
          </p:nvSpPr>
          <p:spPr>
            <a:xfrm>
              <a:off x="8404951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94EF0DD-1759-7F4E-8ECA-47867518434C}"/>
              </a:ext>
            </a:extLst>
          </p:cNvPr>
          <p:cNvGrpSpPr/>
          <p:nvPr/>
        </p:nvGrpSpPr>
        <p:grpSpPr>
          <a:xfrm>
            <a:off x="3316358" y="4354253"/>
            <a:ext cx="5517290" cy="392116"/>
            <a:chOff x="2959100" y="2735226"/>
            <a:chExt cx="6436449" cy="519028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92D9B0F-EB09-7F4F-9AEB-55FC58EA1EA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63C4D7-BA68-2B4A-BED3-6E00AE6434AE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853EF2-B80D-284A-BA23-A4B3A5B77A07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F18C55D-FF8C-CA44-9AE5-CBEF13C56FE5}"/>
                </a:ext>
              </a:extLst>
            </p:cNvPr>
            <p:cNvSpPr/>
            <p:nvPr/>
          </p:nvSpPr>
          <p:spPr>
            <a:xfrm>
              <a:off x="7040074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EC374D-2E3D-ED44-AA4B-BED8ECA23EF2}"/>
                </a:ext>
              </a:extLst>
            </p:cNvPr>
            <p:cNvSpPr/>
            <p:nvPr/>
          </p:nvSpPr>
          <p:spPr>
            <a:xfrm>
              <a:off x="8404949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D77E088-2608-9041-B249-AD61D1F17F82}"/>
              </a:ext>
            </a:extLst>
          </p:cNvPr>
          <p:cNvGrpSpPr/>
          <p:nvPr/>
        </p:nvGrpSpPr>
        <p:grpSpPr>
          <a:xfrm>
            <a:off x="3316357" y="5012677"/>
            <a:ext cx="5517290" cy="390631"/>
            <a:chOff x="2959100" y="2742577"/>
            <a:chExt cx="6436449" cy="51706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86137B-1F19-3C48-9B71-C1D7DE30C3ED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BBBDAB-C959-B345-87C8-C19ECFBBADB1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68E6811-E68E-A14F-98E9-ED955FA0EF2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DE56583-052F-0544-AEAD-2FAE6E54C5D4}"/>
                </a:ext>
              </a:extLst>
            </p:cNvPr>
            <p:cNvSpPr/>
            <p:nvPr/>
          </p:nvSpPr>
          <p:spPr>
            <a:xfrm>
              <a:off x="7040394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835D1-444D-A04A-84F0-F2F26CCC4A3E}"/>
                </a:ext>
              </a:extLst>
            </p:cNvPr>
            <p:cNvSpPr/>
            <p:nvPr/>
          </p:nvSpPr>
          <p:spPr>
            <a:xfrm>
              <a:off x="8404949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252448-50FE-9B44-B193-631FF237A454}"/>
              </a:ext>
            </a:extLst>
          </p:cNvPr>
          <p:cNvGrpSpPr/>
          <p:nvPr/>
        </p:nvGrpSpPr>
        <p:grpSpPr>
          <a:xfrm>
            <a:off x="3316357" y="5659374"/>
            <a:ext cx="5517290" cy="424658"/>
            <a:chOff x="2959100" y="2742577"/>
            <a:chExt cx="6436449" cy="562102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01C41E7-8EE7-BE4D-87D8-4A07E3A51D6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34C73B9-3881-3C49-888A-D04941F1FC16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C97176F-CFC7-5F43-A30F-D8E2F2FD1F3F}"/>
                </a:ext>
              </a:extLst>
            </p:cNvPr>
            <p:cNvSpPr/>
            <p:nvPr/>
          </p:nvSpPr>
          <p:spPr>
            <a:xfrm>
              <a:off x="7040074" y="2768874"/>
              <a:ext cx="990600" cy="511675"/>
            </a:xfrm>
            <a:prstGeom prst="rect">
              <a:avLst/>
            </a:prstGeom>
            <a:solidFill>
              <a:srgbClr val="863500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B63F2B-BA2E-6F4A-9EAD-1E639CA624E7}"/>
                </a:ext>
              </a:extLst>
            </p:cNvPr>
            <p:cNvSpPr/>
            <p:nvPr/>
          </p:nvSpPr>
          <p:spPr>
            <a:xfrm>
              <a:off x="8404949" y="2793004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B17A318-92AC-9C4D-8331-5C362DA941A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1BC2EC-1C22-0D47-B700-C6EC5A8B61CE}"/>
              </a:ext>
            </a:extLst>
          </p:cNvPr>
          <p:cNvCxnSpPr>
            <a:cxnSpLocks/>
            <a:stCxn id="29" idx="2"/>
            <a:endCxn id="69" idx="0"/>
          </p:cNvCxnSpPr>
          <p:nvPr/>
        </p:nvCxnSpPr>
        <p:spPr>
          <a:xfrm rot="5400000">
            <a:off x="5213427" y="3346962"/>
            <a:ext cx="1183864" cy="612685"/>
          </a:xfrm>
          <a:prstGeom prst="bentConnector3">
            <a:avLst>
              <a:gd name="adj1" fmla="val 50000"/>
            </a:avLst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A59E-AE25-3D41-94A9-55882E709106}"/>
              </a:ext>
            </a:extLst>
          </p:cNvPr>
          <p:cNvSpPr/>
          <p:nvPr/>
        </p:nvSpPr>
        <p:spPr>
          <a:xfrm>
            <a:off x="3165067" y="3512124"/>
            <a:ext cx="5786849" cy="2718793"/>
          </a:xfrm>
          <a:prstGeom prst="rect">
            <a:avLst/>
          </a:prstGeom>
          <a:noFill/>
          <a:ln w="22225" cap="rnd" cmpd="sng">
            <a:solidFill>
              <a:schemeClr val="accent2"/>
            </a:solidFill>
            <a:prstDash val="sysDot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D573F2E-BDD6-FC4C-86EE-67C33F9AB989}"/>
              </a:ext>
            </a:extLst>
          </p:cNvPr>
          <p:cNvSpPr/>
          <p:nvPr/>
        </p:nvSpPr>
        <p:spPr>
          <a:xfrm>
            <a:off x="4377266" y="4245236"/>
            <a:ext cx="2243500" cy="1260705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107F4D-8296-0B49-A19B-696EDD676A71}"/>
              </a:ext>
            </a:extLst>
          </p:cNvPr>
          <p:cNvSpPr/>
          <p:nvPr/>
        </p:nvSpPr>
        <p:spPr>
          <a:xfrm>
            <a:off x="6724387" y="5601111"/>
            <a:ext cx="1022210" cy="532292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9808078-E9C7-6E40-BAB1-EDF2F7E898FA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5908512" y="5096445"/>
            <a:ext cx="381198" cy="1200190"/>
          </a:xfrm>
          <a:prstGeom prst="bentConnector2">
            <a:avLst/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99D84C3-F56B-6C41-9FAC-E8D1BA8FC920}"/>
              </a:ext>
            </a:extLst>
          </p:cNvPr>
          <p:cNvCxnSpPr>
            <a:cxnSpLocks/>
            <a:stCxn id="23" idx="6"/>
            <a:endCxn id="13" idx="1"/>
          </p:cNvCxnSpPr>
          <p:nvPr/>
        </p:nvCxnSpPr>
        <p:spPr>
          <a:xfrm>
            <a:off x="1830954" y="2998632"/>
            <a:ext cx="1334113" cy="1872889"/>
          </a:xfrm>
          <a:prstGeom prst="bentConnector3">
            <a:avLst>
              <a:gd name="adj1" fmla="val 44923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E796A30-D8CD-324F-99B3-4D8BD6703804}"/>
              </a:ext>
            </a:extLst>
          </p:cNvPr>
          <p:cNvSpPr/>
          <p:nvPr/>
        </p:nvSpPr>
        <p:spPr>
          <a:xfrm>
            <a:off x="5650435" y="5659373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4BCA459-E3A3-284E-AB5C-ECA4DA4A6D57}"/>
              </a:ext>
            </a:extLst>
          </p:cNvPr>
          <p:cNvSpPr/>
          <p:nvPr/>
        </p:nvSpPr>
        <p:spPr>
          <a:xfrm>
            <a:off x="342015" y="4608206"/>
            <a:ext cx="1873641" cy="1751355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Insight in Modernization Candidates Within weeks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Based on Technology Risk, Size and  Benchmark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Provides Fact-Based Initial Input for Modernization Assignments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AD2E50B-DC57-014C-9A32-081F2ED80996}"/>
              </a:ext>
            </a:extLst>
          </p:cNvPr>
          <p:cNvSpPr/>
          <p:nvPr/>
        </p:nvSpPr>
        <p:spPr>
          <a:xfrm>
            <a:off x="9894728" y="4604274"/>
            <a:ext cx="1873641" cy="1755287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Continuous Multi-Year Governance using the Modernization Road Map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Guidance with the Sigrid Platform and Expert Consultancy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continuous overview of your progress in your modernization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3" name="Straight Connector 14">
            <a:extLst>
              <a:ext uri="{FF2B5EF4-FFF2-40B4-BE49-F238E27FC236}">
                <a16:creationId xmlns:a16="http://schemas.microsoft.com/office/drawing/2014/main" id="{20E62444-4006-724F-A913-FB3F9472A068}"/>
              </a:ext>
            </a:extLst>
          </p:cNvPr>
          <p:cNvCxnSpPr>
            <a:cxnSpLocks/>
            <a:stCxn id="38" idx="2"/>
            <a:endCxn id="70" idx="3"/>
          </p:cNvCxnSpPr>
          <p:nvPr/>
        </p:nvCxnSpPr>
        <p:spPr>
          <a:xfrm rot="10800000" flipV="1">
            <a:off x="7746597" y="2998631"/>
            <a:ext cx="2491860" cy="2868625"/>
          </a:xfrm>
          <a:prstGeom prst="bentConnector3">
            <a:avLst>
              <a:gd name="adj1" fmla="val 25919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5443DFE-0D05-1940-BD5D-83F5CAB76E3C}"/>
              </a:ext>
            </a:extLst>
          </p:cNvPr>
          <p:cNvSpPr/>
          <p:nvPr/>
        </p:nvSpPr>
        <p:spPr>
          <a:xfrm>
            <a:off x="7033095" y="1075206"/>
            <a:ext cx="1873641" cy="1855824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A fact-based Modernization Roadmap within two months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Based on SIG’s Unique Architecture Quality Model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Provides detailed per-system modernization scenarios, ready to be used in the transformation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84BD81F7-BDCF-A144-BCD2-F3D2ABC2A112}"/>
              </a:ext>
            </a:extLst>
          </p:cNvPr>
          <p:cNvSpPr/>
          <p:nvPr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0C06A79-34BE-5947-B21B-C9DE300C0105}"/>
              </a:ext>
            </a:extLst>
          </p:cNvPr>
          <p:cNvSpPr/>
          <p:nvPr/>
        </p:nvSpPr>
        <p:spPr>
          <a:xfrm>
            <a:off x="7988358" y="5679240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4" name="Footer Placeholder 3">
            <a:extLst>
              <a:ext uri="{FF2B5EF4-FFF2-40B4-BE49-F238E27FC236}">
                <a16:creationId xmlns:a16="http://schemas.microsoft.com/office/drawing/2014/main" id="{A155D93F-407B-CD43-B610-142636DA4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387607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18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121" grpId="0" animBg="1"/>
      <p:bldP spid="122" grpId="0" animBg="1"/>
      <p:bldP spid="1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248EB1-A754-5A0F-8F3A-4D8167E84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CFEE5-8B4D-BCC2-0FE2-5BF793497C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143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3A967A-0A83-C495-346F-AEBDF6AB7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Modernization plan: Management summary 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44233C7-740C-C72D-4C88-FB362A263B7B}"/>
              </a:ext>
            </a:extLst>
          </p:cNvPr>
          <p:cNvSpPr/>
          <p:nvPr/>
        </p:nvSpPr>
        <p:spPr>
          <a:xfrm>
            <a:off x="3193634" y="2443642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6E004EC-5DD7-630E-DD97-73BB105447D9}"/>
              </a:ext>
            </a:extLst>
          </p:cNvPr>
          <p:cNvSpPr/>
          <p:nvPr/>
        </p:nvSpPr>
        <p:spPr>
          <a:xfrm flipH="1">
            <a:off x="4585215" y="5358563"/>
            <a:ext cx="4083908" cy="14538"/>
          </a:xfrm>
          <a:custGeom>
            <a:avLst/>
            <a:gdLst>
              <a:gd name="connsiteX0" fmla="*/ 4076642 w 4083908"/>
              <a:gd name="connsiteY0" fmla="*/ 14538 h 14538"/>
              <a:gd name="connsiteX1" fmla="*/ 4083909 w 4083908"/>
              <a:gd name="connsiteY1" fmla="*/ 7269 h 14538"/>
              <a:gd name="connsiteX2" fmla="*/ 4076642 w 4083908"/>
              <a:gd name="connsiteY2" fmla="*/ 0 h 14538"/>
              <a:gd name="connsiteX3" fmla="*/ 4076642 w 4083908"/>
              <a:gd name="connsiteY3" fmla="*/ 14538 h 14538"/>
              <a:gd name="connsiteX4" fmla="*/ 0 w 4083908"/>
              <a:gd name="connsiteY4" fmla="*/ 14538 h 14538"/>
              <a:gd name="connsiteX5" fmla="*/ 4076642 w 4083908"/>
              <a:gd name="connsiteY5" fmla="*/ 14538 h 14538"/>
              <a:gd name="connsiteX6" fmla="*/ 4076642 w 4083908"/>
              <a:gd name="connsiteY6" fmla="*/ 0 h 14538"/>
              <a:gd name="connsiteX7" fmla="*/ 0 w 4083908"/>
              <a:gd name="connsiteY7" fmla="*/ 0 h 14538"/>
              <a:gd name="connsiteX8" fmla="*/ 0 w 4083908"/>
              <a:gd name="connsiteY8" fmla="*/ 14538 h 14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083908" h="14538">
                <a:moveTo>
                  <a:pt x="4076642" y="14538"/>
                </a:moveTo>
                <a:cubicBezTo>
                  <a:pt x="4080653" y="14538"/>
                  <a:pt x="4083909" y="11282"/>
                  <a:pt x="4083909" y="7269"/>
                </a:cubicBezTo>
                <a:cubicBezTo>
                  <a:pt x="4083909" y="3257"/>
                  <a:pt x="4080653" y="0"/>
                  <a:pt x="4076642" y="0"/>
                </a:cubicBezTo>
                <a:lnTo>
                  <a:pt x="4076642" y="14538"/>
                </a:lnTo>
                <a:close/>
                <a:moveTo>
                  <a:pt x="0" y="14538"/>
                </a:moveTo>
                <a:lnTo>
                  <a:pt x="4076642" y="14538"/>
                </a:lnTo>
                <a:lnTo>
                  <a:pt x="4076642" y="0"/>
                </a:lnTo>
                <a:lnTo>
                  <a:pt x="0" y="0"/>
                </a:lnTo>
                <a:lnTo>
                  <a:pt x="0" y="14538"/>
                </a:lnTo>
                <a:close/>
              </a:path>
            </a:pathLst>
          </a:custGeom>
          <a:gradFill>
            <a:gsLst>
              <a:gs pos="0">
                <a:srgbClr val="DF6838"/>
              </a:gs>
              <a:gs pos="50000">
                <a:srgbClr val="A3A75B"/>
              </a:gs>
              <a:gs pos="100000">
                <a:srgbClr val="67E77F"/>
              </a:gs>
            </a:gsLst>
            <a:lin ang="0" scaled="1"/>
          </a:gradFill>
          <a:ln w="72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5C56305-2895-3D6B-452A-B162BC9AAEB7}"/>
              </a:ext>
            </a:extLst>
          </p:cNvPr>
          <p:cNvSpPr/>
          <p:nvPr/>
        </p:nvSpPr>
        <p:spPr>
          <a:xfrm>
            <a:off x="3193634" y="3621241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24529C-DAE6-8596-14D8-55515B1524D4}"/>
              </a:ext>
            </a:extLst>
          </p:cNvPr>
          <p:cNvSpPr/>
          <p:nvPr/>
        </p:nvSpPr>
        <p:spPr>
          <a:xfrm>
            <a:off x="3193634" y="4791571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B2E99E9-6FC9-F31E-927C-6F26B225088A}"/>
              </a:ext>
            </a:extLst>
          </p:cNvPr>
          <p:cNvSpPr/>
          <p:nvPr/>
        </p:nvSpPr>
        <p:spPr>
          <a:xfrm>
            <a:off x="3175467" y="1375080"/>
            <a:ext cx="1090011" cy="988601"/>
          </a:xfrm>
          <a:custGeom>
            <a:avLst/>
            <a:gdLst>
              <a:gd name="connsiteX0" fmla="*/ 1053678 w 1090011"/>
              <a:gd name="connsiteY0" fmla="*/ 0 h 988601"/>
              <a:gd name="connsiteX1" fmla="*/ 1090011 w 1090011"/>
              <a:gd name="connsiteY1" fmla="*/ 0 h 988601"/>
              <a:gd name="connsiteX2" fmla="*/ 1090011 w 1090011"/>
              <a:gd name="connsiteY2" fmla="*/ 988602 h 988601"/>
              <a:gd name="connsiteX3" fmla="*/ 1053678 w 1090011"/>
              <a:gd name="connsiteY3" fmla="*/ 988602 h 988601"/>
              <a:gd name="connsiteX4" fmla="*/ 36334 w 1090011"/>
              <a:gd name="connsiteY4" fmla="*/ 988602 h 988601"/>
              <a:gd name="connsiteX5" fmla="*/ 0 w 1090011"/>
              <a:gd name="connsiteY5" fmla="*/ 988602 h 988601"/>
              <a:gd name="connsiteX6" fmla="*/ 0 w 1090011"/>
              <a:gd name="connsiteY6" fmla="*/ 0 h 988601"/>
              <a:gd name="connsiteX7" fmla="*/ 36334 w 1090011"/>
              <a:gd name="connsiteY7" fmla="*/ 0 h 988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90011" h="988601">
                <a:moveTo>
                  <a:pt x="1053678" y="0"/>
                </a:moveTo>
                <a:cubicBezTo>
                  <a:pt x="1073744" y="0"/>
                  <a:pt x="1090011" y="0"/>
                  <a:pt x="1090011" y="0"/>
                </a:cubicBezTo>
                <a:lnTo>
                  <a:pt x="1090011" y="988602"/>
                </a:lnTo>
                <a:cubicBezTo>
                  <a:pt x="1090011" y="988602"/>
                  <a:pt x="1073744" y="988602"/>
                  <a:pt x="1053678" y="988602"/>
                </a:cubicBezTo>
                <a:lnTo>
                  <a:pt x="36334" y="988602"/>
                </a:lnTo>
                <a:cubicBezTo>
                  <a:pt x="16267" y="988602"/>
                  <a:pt x="0" y="988602"/>
                  <a:pt x="0" y="988602"/>
                </a:cubicBezTo>
                <a:lnTo>
                  <a:pt x="0" y="0"/>
                </a:lnTo>
                <a:cubicBezTo>
                  <a:pt x="0" y="0"/>
                  <a:pt x="16267" y="0"/>
                  <a:pt x="36334" y="0"/>
                </a:cubicBezTo>
                <a:close/>
              </a:path>
            </a:pathLst>
          </a:custGeom>
          <a:gradFill>
            <a:gsLst>
              <a:gs pos="0">
                <a:srgbClr val="1B66FF"/>
              </a:gs>
              <a:gs pos="50000">
                <a:srgbClr val="183E98"/>
              </a:gs>
              <a:gs pos="100000">
                <a:srgbClr val="151632"/>
              </a:gs>
            </a:gsLst>
            <a:lin ang="5400000" scaled="1"/>
          </a:gradFill>
          <a:ln w="72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5F55748-003C-F3CA-BDD3-09DCDC24C4FF}"/>
              </a:ext>
            </a:extLst>
          </p:cNvPr>
          <p:cNvSpPr/>
          <p:nvPr/>
        </p:nvSpPr>
        <p:spPr>
          <a:xfrm>
            <a:off x="3175467" y="2538141"/>
            <a:ext cx="1090011" cy="995870"/>
          </a:xfrm>
          <a:custGeom>
            <a:avLst/>
            <a:gdLst>
              <a:gd name="connsiteX0" fmla="*/ 1053678 w 1090011"/>
              <a:gd name="connsiteY0" fmla="*/ 0 h 995870"/>
              <a:gd name="connsiteX1" fmla="*/ 1090011 w 1090011"/>
              <a:gd name="connsiteY1" fmla="*/ 0 h 995870"/>
              <a:gd name="connsiteX2" fmla="*/ 1090011 w 1090011"/>
              <a:gd name="connsiteY2" fmla="*/ 995871 h 995870"/>
              <a:gd name="connsiteX3" fmla="*/ 1053678 w 1090011"/>
              <a:gd name="connsiteY3" fmla="*/ 995871 h 995870"/>
              <a:gd name="connsiteX4" fmla="*/ 36334 w 1090011"/>
              <a:gd name="connsiteY4" fmla="*/ 995871 h 995870"/>
              <a:gd name="connsiteX5" fmla="*/ 0 w 1090011"/>
              <a:gd name="connsiteY5" fmla="*/ 995871 h 995870"/>
              <a:gd name="connsiteX6" fmla="*/ 0 w 1090011"/>
              <a:gd name="connsiteY6" fmla="*/ 0 h 995870"/>
              <a:gd name="connsiteX7" fmla="*/ 36334 w 1090011"/>
              <a:gd name="connsiteY7" fmla="*/ 0 h 9958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90011" h="995870">
                <a:moveTo>
                  <a:pt x="1053678" y="0"/>
                </a:moveTo>
                <a:cubicBezTo>
                  <a:pt x="1073744" y="0"/>
                  <a:pt x="1090011" y="0"/>
                  <a:pt x="1090011" y="0"/>
                </a:cubicBezTo>
                <a:lnTo>
                  <a:pt x="1090011" y="995871"/>
                </a:lnTo>
                <a:cubicBezTo>
                  <a:pt x="1090011" y="995871"/>
                  <a:pt x="1073744" y="995871"/>
                  <a:pt x="1053678" y="995871"/>
                </a:cubicBezTo>
                <a:lnTo>
                  <a:pt x="36334" y="995871"/>
                </a:lnTo>
                <a:cubicBezTo>
                  <a:pt x="16267" y="995871"/>
                  <a:pt x="0" y="995871"/>
                  <a:pt x="0" y="995871"/>
                </a:cubicBezTo>
                <a:lnTo>
                  <a:pt x="0" y="0"/>
                </a:lnTo>
                <a:cubicBezTo>
                  <a:pt x="0" y="0"/>
                  <a:pt x="16267" y="0"/>
                  <a:pt x="36334" y="0"/>
                </a:cubicBezTo>
                <a:close/>
              </a:path>
            </a:pathLst>
          </a:custGeom>
          <a:gradFill>
            <a:gsLst>
              <a:gs pos="0">
                <a:srgbClr val="151632"/>
              </a:gs>
              <a:gs pos="50000">
                <a:srgbClr val="183E98"/>
              </a:gs>
              <a:gs pos="100000">
                <a:srgbClr val="1B66FF"/>
              </a:gs>
            </a:gsLst>
            <a:lin ang="10800000" scaled="1"/>
          </a:gradFill>
          <a:ln w="72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FC136603-2216-7601-C5DF-D85D8F43160F}"/>
              </a:ext>
            </a:extLst>
          </p:cNvPr>
          <p:cNvSpPr/>
          <p:nvPr/>
        </p:nvSpPr>
        <p:spPr>
          <a:xfrm>
            <a:off x="3175467" y="3708471"/>
            <a:ext cx="1090011" cy="988601"/>
          </a:xfrm>
          <a:custGeom>
            <a:avLst/>
            <a:gdLst>
              <a:gd name="connsiteX0" fmla="*/ 1053678 w 1090011"/>
              <a:gd name="connsiteY0" fmla="*/ 0 h 988601"/>
              <a:gd name="connsiteX1" fmla="*/ 1090011 w 1090011"/>
              <a:gd name="connsiteY1" fmla="*/ 0 h 988601"/>
              <a:gd name="connsiteX2" fmla="*/ 1090011 w 1090011"/>
              <a:gd name="connsiteY2" fmla="*/ 988602 h 988601"/>
              <a:gd name="connsiteX3" fmla="*/ 1053678 w 1090011"/>
              <a:gd name="connsiteY3" fmla="*/ 988602 h 988601"/>
              <a:gd name="connsiteX4" fmla="*/ 36334 w 1090011"/>
              <a:gd name="connsiteY4" fmla="*/ 988602 h 988601"/>
              <a:gd name="connsiteX5" fmla="*/ 0 w 1090011"/>
              <a:gd name="connsiteY5" fmla="*/ 988602 h 988601"/>
              <a:gd name="connsiteX6" fmla="*/ 0 w 1090011"/>
              <a:gd name="connsiteY6" fmla="*/ 0 h 988601"/>
              <a:gd name="connsiteX7" fmla="*/ 36334 w 1090011"/>
              <a:gd name="connsiteY7" fmla="*/ 0 h 988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90011" h="988601">
                <a:moveTo>
                  <a:pt x="1053678" y="0"/>
                </a:moveTo>
                <a:cubicBezTo>
                  <a:pt x="1073744" y="0"/>
                  <a:pt x="1090011" y="0"/>
                  <a:pt x="1090011" y="0"/>
                </a:cubicBezTo>
                <a:lnTo>
                  <a:pt x="1090011" y="988602"/>
                </a:lnTo>
                <a:cubicBezTo>
                  <a:pt x="1090011" y="988602"/>
                  <a:pt x="1073744" y="988602"/>
                  <a:pt x="1053678" y="988602"/>
                </a:cubicBezTo>
                <a:lnTo>
                  <a:pt x="36334" y="988602"/>
                </a:lnTo>
                <a:cubicBezTo>
                  <a:pt x="16267" y="988602"/>
                  <a:pt x="0" y="988602"/>
                  <a:pt x="0" y="988602"/>
                </a:cubicBezTo>
                <a:lnTo>
                  <a:pt x="0" y="0"/>
                </a:lnTo>
                <a:cubicBezTo>
                  <a:pt x="0" y="0"/>
                  <a:pt x="16267" y="0"/>
                  <a:pt x="36334" y="0"/>
                </a:cubicBezTo>
                <a:close/>
              </a:path>
            </a:pathLst>
          </a:custGeom>
          <a:gradFill>
            <a:gsLst>
              <a:gs pos="0">
                <a:srgbClr val="151632"/>
              </a:gs>
              <a:gs pos="50000">
                <a:srgbClr val="183E98"/>
              </a:gs>
              <a:gs pos="100000">
                <a:srgbClr val="1B66FF"/>
              </a:gs>
            </a:gsLst>
            <a:lin ang="3971604" scaled="1"/>
          </a:gradFill>
          <a:ln w="72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2D8219B0-F329-793E-CC73-F3C72202561E}"/>
              </a:ext>
            </a:extLst>
          </p:cNvPr>
          <p:cNvSpPr/>
          <p:nvPr/>
        </p:nvSpPr>
        <p:spPr>
          <a:xfrm>
            <a:off x="3175467" y="4871531"/>
            <a:ext cx="1090011" cy="988601"/>
          </a:xfrm>
          <a:custGeom>
            <a:avLst/>
            <a:gdLst>
              <a:gd name="connsiteX0" fmla="*/ 1053678 w 1090011"/>
              <a:gd name="connsiteY0" fmla="*/ 0 h 988601"/>
              <a:gd name="connsiteX1" fmla="*/ 1090011 w 1090011"/>
              <a:gd name="connsiteY1" fmla="*/ 0 h 988601"/>
              <a:gd name="connsiteX2" fmla="*/ 1090011 w 1090011"/>
              <a:gd name="connsiteY2" fmla="*/ 988602 h 988601"/>
              <a:gd name="connsiteX3" fmla="*/ 1053678 w 1090011"/>
              <a:gd name="connsiteY3" fmla="*/ 988602 h 988601"/>
              <a:gd name="connsiteX4" fmla="*/ 36334 w 1090011"/>
              <a:gd name="connsiteY4" fmla="*/ 988602 h 988601"/>
              <a:gd name="connsiteX5" fmla="*/ 0 w 1090011"/>
              <a:gd name="connsiteY5" fmla="*/ 988602 h 988601"/>
              <a:gd name="connsiteX6" fmla="*/ 0 w 1090011"/>
              <a:gd name="connsiteY6" fmla="*/ 0 h 988601"/>
              <a:gd name="connsiteX7" fmla="*/ 36334 w 1090011"/>
              <a:gd name="connsiteY7" fmla="*/ 0 h 988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90011" h="988601">
                <a:moveTo>
                  <a:pt x="1053678" y="0"/>
                </a:moveTo>
                <a:cubicBezTo>
                  <a:pt x="1073744" y="0"/>
                  <a:pt x="1090011" y="0"/>
                  <a:pt x="1090011" y="0"/>
                </a:cubicBezTo>
                <a:lnTo>
                  <a:pt x="1090011" y="988602"/>
                </a:lnTo>
                <a:cubicBezTo>
                  <a:pt x="1090011" y="988602"/>
                  <a:pt x="1073744" y="988602"/>
                  <a:pt x="1053678" y="988602"/>
                </a:cubicBezTo>
                <a:lnTo>
                  <a:pt x="36334" y="988602"/>
                </a:lnTo>
                <a:cubicBezTo>
                  <a:pt x="16267" y="988602"/>
                  <a:pt x="0" y="988602"/>
                  <a:pt x="0" y="988602"/>
                </a:cubicBezTo>
                <a:lnTo>
                  <a:pt x="0" y="0"/>
                </a:lnTo>
                <a:cubicBezTo>
                  <a:pt x="0" y="0"/>
                  <a:pt x="16267" y="0"/>
                  <a:pt x="36334" y="0"/>
                </a:cubicBezTo>
                <a:close/>
              </a:path>
            </a:pathLst>
          </a:custGeom>
          <a:gradFill>
            <a:gsLst>
              <a:gs pos="0">
                <a:srgbClr val="151632"/>
              </a:gs>
              <a:gs pos="50000">
                <a:srgbClr val="183E98"/>
              </a:gs>
              <a:gs pos="100000">
                <a:srgbClr val="1B66FF"/>
              </a:gs>
            </a:gsLst>
            <a:lin ang="5400000" scaled="1"/>
          </a:gradFill>
          <a:ln w="72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B9E9D148-4862-69E9-BA53-F8B9D84E3E99}"/>
              </a:ext>
            </a:extLst>
          </p:cNvPr>
          <p:cNvSpPr/>
          <p:nvPr/>
        </p:nvSpPr>
        <p:spPr>
          <a:xfrm flipH="1">
            <a:off x="4541614" y="3046980"/>
            <a:ext cx="4083908" cy="14538"/>
          </a:xfrm>
          <a:custGeom>
            <a:avLst/>
            <a:gdLst>
              <a:gd name="connsiteX0" fmla="*/ 4076642 w 4083908"/>
              <a:gd name="connsiteY0" fmla="*/ 14538 h 14538"/>
              <a:gd name="connsiteX1" fmla="*/ 4083909 w 4083908"/>
              <a:gd name="connsiteY1" fmla="*/ 7269 h 14538"/>
              <a:gd name="connsiteX2" fmla="*/ 4076642 w 4083908"/>
              <a:gd name="connsiteY2" fmla="*/ 0 h 14538"/>
              <a:gd name="connsiteX3" fmla="*/ 4076642 w 4083908"/>
              <a:gd name="connsiteY3" fmla="*/ 14538 h 14538"/>
              <a:gd name="connsiteX4" fmla="*/ 0 w 4083908"/>
              <a:gd name="connsiteY4" fmla="*/ 14538 h 14538"/>
              <a:gd name="connsiteX5" fmla="*/ 4076642 w 4083908"/>
              <a:gd name="connsiteY5" fmla="*/ 14538 h 14538"/>
              <a:gd name="connsiteX6" fmla="*/ 4076642 w 4083908"/>
              <a:gd name="connsiteY6" fmla="*/ 0 h 14538"/>
              <a:gd name="connsiteX7" fmla="*/ 0 w 4083908"/>
              <a:gd name="connsiteY7" fmla="*/ 0 h 14538"/>
              <a:gd name="connsiteX8" fmla="*/ 0 w 4083908"/>
              <a:gd name="connsiteY8" fmla="*/ 14538 h 14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083908" h="14538">
                <a:moveTo>
                  <a:pt x="4076642" y="14538"/>
                </a:moveTo>
                <a:cubicBezTo>
                  <a:pt x="4080653" y="14538"/>
                  <a:pt x="4083909" y="11282"/>
                  <a:pt x="4083909" y="7269"/>
                </a:cubicBezTo>
                <a:cubicBezTo>
                  <a:pt x="4083909" y="3257"/>
                  <a:pt x="4080653" y="0"/>
                  <a:pt x="4076642" y="0"/>
                </a:cubicBezTo>
                <a:lnTo>
                  <a:pt x="4076642" y="14538"/>
                </a:lnTo>
                <a:close/>
                <a:moveTo>
                  <a:pt x="0" y="14538"/>
                </a:moveTo>
                <a:lnTo>
                  <a:pt x="4076642" y="14538"/>
                </a:lnTo>
                <a:lnTo>
                  <a:pt x="4076642" y="0"/>
                </a:lnTo>
                <a:lnTo>
                  <a:pt x="0" y="0"/>
                </a:lnTo>
                <a:lnTo>
                  <a:pt x="0" y="14538"/>
                </a:lnTo>
                <a:close/>
              </a:path>
            </a:pathLst>
          </a:custGeom>
          <a:gradFill>
            <a:gsLst>
              <a:gs pos="0">
                <a:srgbClr val="DF6838"/>
              </a:gs>
              <a:gs pos="50000">
                <a:srgbClr val="A3A75B"/>
              </a:gs>
              <a:gs pos="100000">
                <a:srgbClr val="67E77F"/>
              </a:gs>
            </a:gsLst>
            <a:lin ang="0" scaled="1"/>
          </a:gradFill>
          <a:ln w="72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46575717-713F-D704-3EC6-F5580B9C6370}"/>
              </a:ext>
            </a:extLst>
          </p:cNvPr>
          <p:cNvSpPr/>
          <p:nvPr/>
        </p:nvSpPr>
        <p:spPr>
          <a:xfrm>
            <a:off x="7803256" y="2832540"/>
            <a:ext cx="378145" cy="301667"/>
          </a:xfrm>
          <a:custGeom>
            <a:avLst/>
            <a:gdLst>
              <a:gd name="connsiteX0" fmla="*/ 184470 w 343768"/>
              <a:gd name="connsiteY0" fmla="*/ 294400 h 301667"/>
              <a:gd name="connsiteX1" fmla="*/ 159298 w 343768"/>
              <a:gd name="connsiteY1" fmla="*/ 294400 h 301667"/>
              <a:gd name="connsiteX2" fmla="*/ 1966 w 343768"/>
              <a:gd name="connsiteY2" fmla="*/ 21807 h 301667"/>
              <a:gd name="connsiteX3" fmla="*/ 14552 w 343768"/>
              <a:gd name="connsiteY3" fmla="*/ 0 h 301667"/>
              <a:gd name="connsiteX4" fmla="*/ 329216 w 343768"/>
              <a:gd name="connsiteY4" fmla="*/ 0 h 301667"/>
              <a:gd name="connsiteX5" fmla="*/ 341802 w 343768"/>
              <a:gd name="connsiteY5" fmla="*/ 21807 h 301667"/>
              <a:gd name="connsiteX6" fmla="*/ 184470 w 343768"/>
              <a:gd name="connsiteY6" fmla="*/ 294400 h 30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3768" h="301667">
                <a:moveTo>
                  <a:pt x="184470" y="294400"/>
                </a:moveTo>
                <a:cubicBezTo>
                  <a:pt x="178875" y="304090"/>
                  <a:pt x="164893" y="304090"/>
                  <a:pt x="159298" y="294400"/>
                </a:cubicBezTo>
                <a:lnTo>
                  <a:pt x="1966" y="21807"/>
                </a:lnTo>
                <a:cubicBezTo>
                  <a:pt x="-3622" y="12118"/>
                  <a:pt x="3368" y="0"/>
                  <a:pt x="14552" y="0"/>
                </a:cubicBezTo>
                <a:lnTo>
                  <a:pt x="329216" y="0"/>
                </a:lnTo>
                <a:cubicBezTo>
                  <a:pt x="340400" y="0"/>
                  <a:pt x="347390" y="12118"/>
                  <a:pt x="341802" y="21807"/>
                </a:cubicBezTo>
                <a:lnTo>
                  <a:pt x="184470" y="294400"/>
                </a:lnTo>
                <a:close/>
              </a:path>
            </a:pathLst>
          </a:custGeom>
          <a:solidFill>
            <a:srgbClr val="0066FF"/>
          </a:solidFill>
          <a:ln w="7263" cap="flat">
            <a:noFill/>
            <a:prstDash val="solid"/>
            <a:miter/>
          </a:ln>
        </p:spPr>
        <p:txBody>
          <a:bodyPr lIns="0" rIns="0" rtlCol="0" anchor="ctr"/>
          <a:lstStyle/>
          <a:p>
            <a:pPr algn="ctr"/>
            <a:r>
              <a:rPr lang="en-US" sz="1000" b="1">
                <a:solidFill>
                  <a:srgbClr val="0066FF"/>
                </a:solidFill>
              </a:rPr>
              <a:t>2820 PY
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2AF553E-630F-A3D7-EEE7-C3302EE3FBAC}"/>
              </a:ext>
            </a:extLst>
          </p:cNvPr>
          <p:cNvSpPr/>
          <p:nvPr/>
        </p:nvSpPr>
        <p:spPr>
          <a:xfrm>
            <a:off x="4585215" y="4195502"/>
            <a:ext cx="4083908" cy="14538"/>
          </a:xfrm>
          <a:custGeom>
            <a:avLst/>
            <a:gdLst>
              <a:gd name="connsiteX0" fmla="*/ 4076642 w 4083908"/>
              <a:gd name="connsiteY0" fmla="*/ 14538 h 14538"/>
              <a:gd name="connsiteX1" fmla="*/ 4083909 w 4083908"/>
              <a:gd name="connsiteY1" fmla="*/ 7269 h 14538"/>
              <a:gd name="connsiteX2" fmla="*/ 4076642 w 4083908"/>
              <a:gd name="connsiteY2" fmla="*/ 0 h 14538"/>
              <a:gd name="connsiteX3" fmla="*/ 4076642 w 4083908"/>
              <a:gd name="connsiteY3" fmla="*/ 14538 h 14538"/>
              <a:gd name="connsiteX4" fmla="*/ 0 w 4083908"/>
              <a:gd name="connsiteY4" fmla="*/ 14538 h 14538"/>
              <a:gd name="connsiteX5" fmla="*/ 4076642 w 4083908"/>
              <a:gd name="connsiteY5" fmla="*/ 14538 h 14538"/>
              <a:gd name="connsiteX6" fmla="*/ 4076642 w 4083908"/>
              <a:gd name="connsiteY6" fmla="*/ 0 h 14538"/>
              <a:gd name="connsiteX7" fmla="*/ 0 w 4083908"/>
              <a:gd name="connsiteY7" fmla="*/ 0 h 14538"/>
              <a:gd name="connsiteX8" fmla="*/ 0 w 4083908"/>
              <a:gd name="connsiteY8" fmla="*/ 14538 h 14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083908" h="14538">
                <a:moveTo>
                  <a:pt x="4076642" y="14538"/>
                </a:moveTo>
                <a:cubicBezTo>
                  <a:pt x="4080653" y="14538"/>
                  <a:pt x="4083909" y="11282"/>
                  <a:pt x="4083909" y="7269"/>
                </a:cubicBezTo>
                <a:cubicBezTo>
                  <a:pt x="4083909" y="3257"/>
                  <a:pt x="4080653" y="0"/>
                  <a:pt x="4076642" y="0"/>
                </a:cubicBezTo>
                <a:lnTo>
                  <a:pt x="4076642" y="14538"/>
                </a:lnTo>
                <a:close/>
                <a:moveTo>
                  <a:pt x="0" y="14538"/>
                </a:moveTo>
                <a:lnTo>
                  <a:pt x="4076642" y="14538"/>
                </a:lnTo>
                <a:lnTo>
                  <a:pt x="4076642" y="0"/>
                </a:lnTo>
                <a:lnTo>
                  <a:pt x="0" y="0"/>
                </a:lnTo>
                <a:lnTo>
                  <a:pt x="0" y="14538"/>
                </a:lnTo>
                <a:close/>
              </a:path>
            </a:pathLst>
          </a:custGeom>
          <a:gradFill>
            <a:gsLst>
              <a:gs pos="0">
                <a:srgbClr val="DF6838"/>
              </a:gs>
              <a:gs pos="50000">
                <a:srgbClr val="A3A75B"/>
              </a:gs>
              <a:gs pos="100000">
                <a:srgbClr val="67E77F"/>
              </a:gs>
            </a:gsLst>
            <a:lin ang="0" scaled="1"/>
          </a:gradFill>
          <a:ln w="72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5AFD0732-87D6-6F51-90E0-5730B444D262}"/>
              </a:ext>
            </a:extLst>
          </p:cNvPr>
          <p:cNvSpPr/>
          <p:nvPr/>
        </p:nvSpPr>
        <p:spPr>
          <a:xfrm>
            <a:off x="7384572" y="3959256"/>
            <a:ext cx="378145" cy="301667"/>
          </a:xfrm>
          <a:custGeom>
            <a:avLst/>
            <a:gdLst>
              <a:gd name="connsiteX0" fmla="*/ 184470 w 343768"/>
              <a:gd name="connsiteY0" fmla="*/ 294400 h 301667"/>
              <a:gd name="connsiteX1" fmla="*/ 159298 w 343768"/>
              <a:gd name="connsiteY1" fmla="*/ 294400 h 301667"/>
              <a:gd name="connsiteX2" fmla="*/ 1966 w 343768"/>
              <a:gd name="connsiteY2" fmla="*/ 21807 h 301667"/>
              <a:gd name="connsiteX3" fmla="*/ 14552 w 343768"/>
              <a:gd name="connsiteY3" fmla="*/ 0 h 301667"/>
              <a:gd name="connsiteX4" fmla="*/ 329216 w 343768"/>
              <a:gd name="connsiteY4" fmla="*/ 0 h 301667"/>
              <a:gd name="connsiteX5" fmla="*/ 341802 w 343768"/>
              <a:gd name="connsiteY5" fmla="*/ 21807 h 301667"/>
              <a:gd name="connsiteX6" fmla="*/ 184470 w 343768"/>
              <a:gd name="connsiteY6" fmla="*/ 294400 h 30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3768" h="301667">
                <a:moveTo>
                  <a:pt x="184470" y="294400"/>
                </a:moveTo>
                <a:cubicBezTo>
                  <a:pt x="178875" y="304090"/>
                  <a:pt x="164893" y="304090"/>
                  <a:pt x="159298" y="294400"/>
                </a:cubicBezTo>
                <a:lnTo>
                  <a:pt x="1966" y="21807"/>
                </a:lnTo>
                <a:cubicBezTo>
                  <a:pt x="-3622" y="12118"/>
                  <a:pt x="3368" y="0"/>
                  <a:pt x="14552" y="0"/>
                </a:cubicBezTo>
                <a:lnTo>
                  <a:pt x="329216" y="0"/>
                </a:lnTo>
                <a:cubicBezTo>
                  <a:pt x="340400" y="0"/>
                  <a:pt x="347390" y="12118"/>
                  <a:pt x="341802" y="21807"/>
                </a:cubicBezTo>
                <a:lnTo>
                  <a:pt x="184470" y="294400"/>
                </a:lnTo>
                <a:close/>
              </a:path>
            </a:pathLst>
          </a:custGeom>
          <a:solidFill>
            <a:srgbClr val="0066FF"/>
          </a:solidFill>
          <a:ln w="7263" cap="flat">
            <a:noFill/>
            <a:prstDash val="solid"/>
            <a:miter/>
          </a:ln>
        </p:spPr>
        <p:txBody>
          <a:bodyPr lIns="0" rIns="0" rtlCol="0" anchor="ctr"/>
          <a:lstStyle/>
          <a:p>
            <a:pPr algn="ctr"/>
            <a:r>
              <a:rPr lang="en-US" sz="1000" b="1">
                <a:solidFill>
                  <a:srgbClr val="0066FF"/>
                </a:solidFill>
              </a:rPr>
              <a:t>+ 75%
</a:t>
            </a:r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E09308EB-33D2-D378-2B71-06F03D8AC3BF}"/>
              </a:ext>
            </a:extLst>
          </p:cNvPr>
          <p:cNvSpPr/>
          <p:nvPr/>
        </p:nvSpPr>
        <p:spPr>
          <a:xfrm>
            <a:off x="6526029" y="5144124"/>
            <a:ext cx="378144" cy="301667"/>
          </a:xfrm>
          <a:custGeom>
            <a:avLst/>
            <a:gdLst>
              <a:gd name="connsiteX0" fmla="*/ 184470 w 343767"/>
              <a:gd name="connsiteY0" fmla="*/ 294400 h 301667"/>
              <a:gd name="connsiteX1" fmla="*/ 159298 w 343767"/>
              <a:gd name="connsiteY1" fmla="*/ 294400 h 301667"/>
              <a:gd name="connsiteX2" fmla="*/ 1966 w 343767"/>
              <a:gd name="connsiteY2" fmla="*/ 21807 h 301667"/>
              <a:gd name="connsiteX3" fmla="*/ 14552 w 343767"/>
              <a:gd name="connsiteY3" fmla="*/ 0 h 301667"/>
              <a:gd name="connsiteX4" fmla="*/ 329216 w 343767"/>
              <a:gd name="connsiteY4" fmla="*/ 0 h 301667"/>
              <a:gd name="connsiteX5" fmla="*/ 341802 w 343767"/>
              <a:gd name="connsiteY5" fmla="*/ 21807 h 301667"/>
              <a:gd name="connsiteX6" fmla="*/ 184470 w 343767"/>
              <a:gd name="connsiteY6" fmla="*/ 294400 h 30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3767" h="301667">
                <a:moveTo>
                  <a:pt x="184470" y="294400"/>
                </a:moveTo>
                <a:cubicBezTo>
                  <a:pt x="178874" y="304090"/>
                  <a:pt x="164894" y="304090"/>
                  <a:pt x="159298" y="294400"/>
                </a:cubicBezTo>
                <a:lnTo>
                  <a:pt x="1966" y="21807"/>
                </a:lnTo>
                <a:cubicBezTo>
                  <a:pt x="-3622" y="12118"/>
                  <a:pt x="3368" y="0"/>
                  <a:pt x="14552" y="0"/>
                </a:cubicBezTo>
                <a:lnTo>
                  <a:pt x="329216" y="0"/>
                </a:lnTo>
                <a:cubicBezTo>
                  <a:pt x="340400" y="0"/>
                  <a:pt x="347390" y="12118"/>
                  <a:pt x="341802" y="21807"/>
                </a:cubicBezTo>
                <a:lnTo>
                  <a:pt x="184470" y="294400"/>
                </a:lnTo>
                <a:close/>
              </a:path>
            </a:pathLst>
          </a:custGeom>
          <a:solidFill>
            <a:srgbClr val="0066FF"/>
          </a:solidFill>
          <a:ln w="7263" cap="flat">
            <a:noFill/>
            <a:prstDash val="solid"/>
            <a:miter/>
          </a:ln>
        </p:spPr>
        <p:txBody>
          <a:bodyPr lIns="0" rIns="0" rtlCol="0" anchor="ctr"/>
          <a:lstStyle/>
          <a:p>
            <a:pPr algn="ctr"/>
            <a:r>
              <a:rPr lang="en-US" sz="1000" b="1">
                <a:solidFill>
                  <a:srgbClr val="0066FF"/>
                </a:solidFill>
              </a:rPr>
              <a:t>1762 PY
</a:t>
            </a:r>
          </a:p>
        </p:txBody>
      </p:sp>
      <p:sp>
        <p:nvSpPr>
          <p:cNvPr id="64" name="Freeform 63">
            <a:extLst>
              <a:ext uri="{FF2B5EF4-FFF2-40B4-BE49-F238E27FC236}">
                <a16:creationId xmlns:a16="http://schemas.microsoft.com/office/drawing/2014/main" id="{AD7217BB-9C0A-9421-773D-16A8A688C1E1}"/>
              </a:ext>
            </a:extLst>
          </p:cNvPr>
          <p:cNvSpPr/>
          <p:nvPr/>
        </p:nvSpPr>
        <p:spPr>
          <a:xfrm>
            <a:off x="3502470" y="2727138"/>
            <a:ext cx="436006" cy="436147"/>
          </a:xfrm>
          <a:custGeom>
            <a:avLst/>
            <a:gdLst>
              <a:gd name="connsiteX0" fmla="*/ 430293 w 436006"/>
              <a:gd name="connsiteY0" fmla="*/ 356485 h 436147"/>
              <a:gd name="connsiteX1" fmla="*/ 250216 w 436006"/>
              <a:gd name="connsiteY1" fmla="*/ 175259 h 436147"/>
              <a:gd name="connsiteX2" fmla="*/ 220531 w 436006"/>
              <a:gd name="connsiteY2" fmla="*/ 37843 h 436147"/>
              <a:gd name="connsiteX3" fmla="*/ 74097 w 436006"/>
              <a:gd name="connsiteY3" fmla="*/ 11950 h 436147"/>
              <a:gd name="connsiteX4" fmla="*/ 159185 w 436006"/>
              <a:gd name="connsiteY4" fmla="*/ 97588 h 436147"/>
              <a:gd name="connsiteX5" fmla="*/ 99822 w 436006"/>
              <a:gd name="connsiteY5" fmla="*/ 157333 h 436147"/>
              <a:gd name="connsiteX6" fmla="*/ 12752 w 436006"/>
              <a:gd name="connsiteY6" fmla="*/ 71695 h 436147"/>
              <a:gd name="connsiteX7" fmla="*/ 38477 w 436006"/>
              <a:gd name="connsiteY7" fmla="*/ 219070 h 436147"/>
              <a:gd name="connsiteX8" fmla="*/ 175019 w 436006"/>
              <a:gd name="connsiteY8" fmla="*/ 248946 h 436147"/>
              <a:gd name="connsiteX9" fmla="*/ 355097 w 436006"/>
              <a:gd name="connsiteY9" fmla="*/ 430173 h 436147"/>
              <a:gd name="connsiteX10" fmla="*/ 382805 w 436006"/>
              <a:gd name="connsiteY10" fmla="*/ 430173 h 436147"/>
              <a:gd name="connsiteX11" fmla="*/ 428316 w 436006"/>
              <a:gd name="connsiteY11" fmla="*/ 384370 h 436147"/>
              <a:gd name="connsiteX12" fmla="*/ 430293 w 436006"/>
              <a:gd name="connsiteY12" fmla="*/ 356485 h 436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6006" h="436147">
                <a:moveTo>
                  <a:pt x="430293" y="356485"/>
                </a:moveTo>
                <a:lnTo>
                  <a:pt x="250216" y="175259"/>
                </a:lnTo>
                <a:cubicBezTo>
                  <a:pt x="268027" y="129456"/>
                  <a:pt x="258129" y="75679"/>
                  <a:pt x="220531" y="37843"/>
                </a:cubicBezTo>
                <a:cubicBezTo>
                  <a:pt x="180956" y="-1992"/>
                  <a:pt x="121589" y="-9951"/>
                  <a:pt x="74097" y="11950"/>
                </a:cubicBezTo>
                <a:lnTo>
                  <a:pt x="159185" y="97588"/>
                </a:lnTo>
                <a:lnTo>
                  <a:pt x="99822" y="157333"/>
                </a:lnTo>
                <a:lnTo>
                  <a:pt x="12752" y="71695"/>
                </a:lnTo>
                <a:cubicBezTo>
                  <a:pt x="-10995" y="119497"/>
                  <a:pt x="-1101" y="179242"/>
                  <a:pt x="38477" y="219070"/>
                </a:cubicBezTo>
                <a:cubicBezTo>
                  <a:pt x="76076" y="256913"/>
                  <a:pt x="129505" y="266872"/>
                  <a:pt x="175019" y="248946"/>
                </a:cubicBezTo>
                <a:lnTo>
                  <a:pt x="355097" y="430173"/>
                </a:lnTo>
                <a:cubicBezTo>
                  <a:pt x="363010" y="438139"/>
                  <a:pt x="374884" y="438139"/>
                  <a:pt x="382805" y="430173"/>
                </a:cubicBezTo>
                <a:lnTo>
                  <a:pt x="428316" y="384370"/>
                </a:lnTo>
                <a:cubicBezTo>
                  <a:pt x="438214" y="376403"/>
                  <a:pt x="438214" y="362461"/>
                  <a:pt x="430293" y="356485"/>
                </a:cubicBezTo>
                <a:close/>
              </a:path>
            </a:pathLst>
          </a:custGeom>
          <a:noFill/>
          <a:ln w="7263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8" name="Graphic 67">
            <a:extLst>
              <a:ext uri="{FF2B5EF4-FFF2-40B4-BE49-F238E27FC236}">
                <a16:creationId xmlns:a16="http://schemas.microsoft.com/office/drawing/2014/main" id="{5B8B6CE0-96F1-FE31-6A30-9D720FFCF6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2441" y="3835021"/>
            <a:ext cx="582058" cy="49848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418F06E-C20B-037A-E6C6-026F0159DA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58380" y="1520447"/>
            <a:ext cx="515100" cy="436659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830E433-EC1A-9E7D-C276-49B7EEF215C7}"/>
              </a:ext>
            </a:extLst>
          </p:cNvPr>
          <p:cNvSpPr txBox="1"/>
          <p:nvPr/>
        </p:nvSpPr>
        <p:spPr>
          <a:xfrm>
            <a:off x="3175467" y="2067739"/>
            <a:ext cx="1090012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chemeClr val="bg1"/>
                </a:solidFill>
              </a:rPr>
              <a:t>Portfolio size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12F752-0CE5-8B8B-AF34-A1B61ECF1CEA}"/>
              </a:ext>
            </a:extLst>
          </p:cNvPr>
          <p:cNvSpPr txBox="1"/>
          <p:nvPr/>
        </p:nvSpPr>
        <p:spPr>
          <a:xfrm>
            <a:off x="3175467" y="3240468"/>
            <a:ext cx="1090012" cy="273023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chemeClr val="bg1"/>
                </a:solidFill>
              </a:rPr>
              <a:t>Technical debt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89C0F40-A36E-1F14-8EA9-2B436B82C6AD}"/>
              </a:ext>
            </a:extLst>
          </p:cNvPr>
          <p:cNvSpPr txBox="1"/>
          <p:nvPr/>
        </p:nvSpPr>
        <p:spPr>
          <a:xfrm>
            <a:off x="3175467" y="4409095"/>
            <a:ext cx="1090012" cy="273023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chemeClr val="bg1"/>
                </a:solidFill>
              </a:rPr>
              <a:t>Potential return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F88E4A-3FC6-78C6-09AF-810DBCFED102}"/>
              </a:ext>
            </a:extLst>
          </p:cNvPr>
          <p:cNvSpPr txBox="1"/>
          <p:nvPr/>
        </p:nvSpPr>
        <p:spPr>
          <a:xfrm>
            <a:off x="3175467" y="5569522"/>
            <a:ext cx="1090012" cy="273023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chemeClr val="bg1"/>
                </a:solidFill>
              </a:rPr>
              <a:t>Renovation effort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D4C63B-3DE4-5CA5-C815-046602139C1B}"/>
              </a:ext>
            </a:extLst>
          </p:cNvPr>
          <p:cNvSpPr/>
          <p:nvPr/>
        </p:nvSpPr>
        <p:spPr>
          <a:xfrm>
            <a:off x="3582405" y="5030147"/>
            <a:ext cx="277167" cy="436147"/>
          </a:xfrm>
          <a:custGeom>
            <a:avLst/>
            <a:gdLst>
              <a:gd name="connsiteX0" fmla="*/ 266486 w 277167"/>
              <a:gd name="connsiteY0" fmla="*/ 327097 h 436147"/>
              <a:gd name="connsiteX1" fmla="*/ 237092 w 277167"/>
              <a:gd name="connsiteY1" fmla="*/ 360840 h 436147"/>
              <a:gd name="connsiteX2" fmla="*/ 192336 w 277167"/>
              <a:gd name="connsiteY2" fmla="*/ 381259 h 436147"/>
              <a:gd name="connsiteX3" fmla="*/ 168741 w 277167"/>
              <a:gd name="connsiteY3" fmla="*/ 385598 h 436147"/>
              <a:gd name="connsiteX4" fmla="*/ 168741 w 277167"/>
              <a:gd name="connsiteY4" fmla="*/ 436148 h 436147"/>
              <a:gd name="connsiteX5" fmla="*/ 108427 w 277167"/>
              <a:gd name="connsiteY5" fmla="*/ 436148 h 436147"/>
              <a:gd name="connsiteX6" fmla="*/ 108427 w 277167"/>
              <a:gd name="connsiteY6" fmla="*/ 386609 h 436147"/>
              <a:gd name="connsiteX7" fmla="*/ 59369 w 277167"/>
              <a:gd name="connsiteY7" fmla="*/ 378220 h 436147"/>
              <a:gd name="connsiteX8" fmla="*/ 4856 w 277167"/>
              <a:gd name="connsiteY8" fmla="*/ 345638 h 436147"/>
              <a:gd name="connsiteX9" fmla="*/ 79 w 277167"/>
              <a:gd name="connsiteY9" fmla="*/ 338372 h 436147"/>
              <a:gd name="connsiteX10" fmla="*/ 2900 w 277167"/>
              <a:gd name="connsiteY10" fmla="*/ 330119 h 436147"/>
              <a:gd name="connsiteX11" fmla="*/ 33117 w 277167"/>
              <a:gd name="connsiteY11" fmla="*/ 299878 h 436147"/>
              <a:gd name="connsiteX12" fmla="*/ 45345 w 277167"/>
              <a:gd name="connsiteY12" fmla="*/ 298440 h 436147"/>
              <a:gd name="connsiteX13" fmla="*/ 85101 w 277167"/>
              <a:gd name="connsiteY13" fmla="*/ 322771 h 436147"/>
              <a:gd name="connsiteX14" fmla="*/ 136208 w 277167"/>
              <a:gd name="connsiteY14" fmla="*/ 329773 h 436147"/>
              <a:gd name="connsiteX15" fmla="*/ 189313 w 277167"/>
              <a:gd name="connsiteY15" fmla="*/ 318432 h 436147"/>
              <a:gd name="connsiteX16" fmla="*/ 210365 w 277167"/>
              <a:gd name="connsiteY16" fmla="*/ 282974 h 436147"/>
              <a:gd name="connsiteX17" fmla="*/ 200002 w 277167"/>
              <a:gd name="connsiteY17" fmla="*/ 255554 h 436147"/>
              <a:gd name="connsiteX18" fmla="*/ 164926 w 277167"/>
              <a:gd name="connsiteY18" fmla="*/ 242870 h 436147"/>
              <a:gd name="connsiteX19" fmla="*/ 110796 w 277167"/>
              <a:gd name="connsiteY19" fmla="*/ 238211 h 436147"/>
              <a:gd name="connsiteX20" fmla="*/ 36656 w 277167"/>
              <a:gd name="connsiteY20" fmla="*/ 211484 h 436147"/>
              <a:gd name="connsiteX21" fmla="*/ 10590 w 277167"/>
              <a:gd name="connsiteY21" fmla="*/ 144653 h 436147"/>
              <a:gd name="connsiteX22" fmla="*/ 20610 w 277167"/>
              <a:gd name="connsiteY22" fmla="*/ 100531 h 436147"/>
              <a:gd name="connsiteX23" fmla="*/ 48006 w 277167"/>
              <a:gd name="connsiteY23" fmla="*/ 67801 h 436147"/>
              <a:gd name="connsiteX24" fmla="*/ 88429 w 277167"/>
              <a:gd name="connsiteY24" fmla="*/ 47755 h 436147"/>
              <a:gd name="connsiteX25" fmla="*/ 108427 w 277167"/>
              <a:gd name="connsiteY25" fmla="*/ 43549 h 436147"/>
              <a:gd name="connsiteX26" fmla="*/ 108427 w 277167"/>
              <a:gd name="connsiteY26" fmla="*/ 0 h 436147"/>
              <a:gd name="connsiteX27" fmla="*/ 168741 w 277167"/>
              <a:gd name="connsiteY27" fmla="*/ 0 h 436147"/>
              <a:gd name="connsiteX28" fmla="*/ 168741 w 277167"/>
              <a:gd name="connsiteY28" fmla="*/ 42673 h 436147"/>
              <a:gd name="connsiteX29" fmla="*/ 208686 w 277167"/>
              <a:gd name="connsiteY29" fmla="*/ 49754 h 436147"/>
              <a:gd name="connsiteX30" fmla="*/ 252061 w 277167"/>
              <a:gd name="connsiteY30" fmla="*/ 72914 h 436147"/>
              <a:gd name="connsiteX31" fmla="*/ 257213 w 277167"/>
              <a:gd name="connsiteY31" fmla="*/ 80155 h 436147"/>
              <a:gd name="connsiteX32" fmla="*/ 254474 w 277167"/>
              <a:gd name="connsiteY32" fmla="*/ 88647 h 436147"/>
              <a:gd name="connsiteX33" fmla="*/ 226134 w 277167"/>
              <a:gd name="connsiteY33" fmla="*/ 117423 h 436147"/>
              <a:gd name="connsiteX34" fmla="*/ 214580 w 277167"/>
              <a:gd name="connsiteY34" fmla="*/ 119287 h 436147"/>
              <a:gd name="connsiteX35" fmla="*/ 183296 w 277167"/>
              <a:gd name="connsiteY35" fmla="*/ 103555 h 436147"/>
              <a:gd name="connsiteX36" fmla="*/ 137552 w 277167"/>
              <a:gd name="connsiteY36" fmla="*/ 97857 h 436147"/>
              <a:gd name="connsiteX37" fmla="*/ 91118 w 277167"/>
              <a:gd name="connsiteY37" fmla="*/ 109876 h 436147"/>
              <a:gd name="connsiteX38" fmla="*/ 76112 w 277167"/>
              <a:gd name="connsiteY38" fmla="*/ 141288 h 436147"/>
              <a:gd name="connsiteX39" fmla="*/ 86779 w 277167"/>
              <a:gd name="connsiteY39" fmla="*/ 168001 h 436147"/>
              <a:gd name="connsiteX40" fmla="*/ 122851 w 277167"/>
              <a:gd name="connsiteY40" fmla="*/ 180034 h 436147"/>
              <a:gd name="connsiteX41" fmla="*/ 170289 w 277167"/>
              <a:gd name="connsiteY41" fmla="*/ 184080 h 436147"/>
              <a:gd name="connsiteX42" fmla="*/ 250107 w 277167"/>
              <a:gd name="connsiteY42" fmla="*/ 212125 h 436147"/>
              <a:gd name="connsiteX43" fmla="*/ 277168 w 277167"/>
              <a:gd name="connsiteY43" fmla="*/ 280286 h 436147"/>
              <a:gd name="connsiteX44" fmla="*/ 266486 w 277167"/>
              <a:gd name="connsiteY44" fmla="*/ 327097 h 436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77167" h="436147">
                <a:moveTo>
                  <a:pt x="266486" y="327097"/>
                </a:moveTo>
                <a:cubicBezTo>
                  <a:pt x="259343" y="340501"/>
                  <a:pt x="249525" y="351681"/>
                  <a:pt x="237092" y="360840"/>
                </a:cubicBezTo>
                <a:cubicBezTo>
                  <a:pt x="224615" y="369970"/>
                  <a:pt x="209682" y="376774"/>
                  <a:pt x="192336" y="381259"/>
                </a:cubicBezTo>
                <a:cubicBezTo>
                  <a:pt x="184750" y="383170"/>
                  <a:pt x="176807" y="384508"/>
                  <a:pt x="168741" y="385598"/>
                </a:cubicBezTo>
                <a:lnTo>
                  <a:pt x="168741" y="436148"/>
                </a:lnTo>
                <a:lnTo>
                  <a:pt x="108427" y="436148"/>
                </a:lnTo>
                <a:lnTo>
                  <a:pt x="108427" y="386609"/>
                </a:lnTo>
                <a:cubicBezTo>
                  <a:pt x="91248" y="385155"/>
                  <a:pt x="74833" y="382480"/>
                  <a:pt x="59369" y="378220"/>
                </a:cubicBezTo>
                <a:cubicBezTo>
                  <a:pt x="35765" y="371751"/>
                  <a:pt x="4856" y="345638"/>
                  <a:pt x="4856" y="345638"/>
                </a:cubicBezTo>
                <a:cubicBezTo>
                  <a:pt x="2208" y="344094"/>
                  <a:pt x="451" y="341379"/>
                  <a:pt x="79" y="338372"/>
                </a:cubicBezTo>
                <a:cubicBezTo>
                  <a:pt x="-307" y="335337"/>
                  <a:pt x="732" y="332276"/>
                  <a:pt x="2900" y="330119"/>
                </a:cubicBezTo>
                <a:lnTo>
                  <a:pt x="33117" y="299878"/>
                </a:lnTo>
                <a:cubicBezTo>
                  <a:pt x="36377" y="296657"/>
                  <a:pt x="41434" y="296045"/>
                  <a:pt x="45345" y="298440"/>
                </a:cubicBezTo>
                <a:cubicBezTo>
                  <a:pt x="45345" y="298440"/>
                  <a:pt x="67966" y="318086"/>
                  <a:pt x="85101" y="322771"/>
                </a:cubicBezTo>
                <a:cubicBezTo>
                  <a:pt x="102243" y="327430"/>
                  <a:pt x="119247" y="329773"/>
                  <a:pt x="136208" y="329773"/>
                </a:cubicBezTo>
                <a:cubicBezTo>
                  <a:pt x="157608" y="329773"/>
                  <a:pt x="175288" y="325992"/>
                  <a:pt x="189313" y="318432"/>
                </a:cubicBezTo>
                <a:cubicBezTo>
                  <a:pt x="203367" y="310819"/>
                  <a:pt x="210365" y="299053"/>
                  <a:pt x="210365" y="282974"/>
                </a:cubicBezTo>
                <a:cubicBezTo>
                  <a:pt x="210365" y="271394"/>
                  <a:pt x="206935" y="262263"/>
                  <a:pt x="200002" y="255554"/>
                </a:cubicBezTo>
                <a:cubicBezTo>
                  <a:pt x="193092" y="248899"/>
                  <a:pt x="181414" y="244707"/>
                  <a:pt x="164926" y="242870"/>
                </a:cubicBezTo>
                <a:lnTo>
                  <a:pt x="110796" y="238211"/>
                </a:lnTo>
                <a:cubicBezTo>
                  <a:pt x="78742" y="235083"/>
                  <a:pt x="54021" y="226138"/>
                  <a:pt x="36656" y="211484"/>
                </a:cubicBezTo>
                <a:cubicBezTo>
                  <a:pt x="19239" y="196776"/>
                  <a:pt x="10590" y="174469"/>
                  <a:pt x="10590" y="144653"/>
                </a:cubicBezTo>
                <a:cubicBezTo>
                  <a:pt x="10590" y="128149"/>
                  <a:pt x="13916" y="113454"/>
                  <a:pt x="20610" y="100531"/>
                </a:cubicBezTo>
                <a:cubicBezTo>
                  <a:pt x="27316" y="87606"/>
                  <a:pt x="36417" y="76692"/>
                  <a:pt x="48006" y="67801"/>
                </a:cubicBezTo>
                <a:cubicBezTo>
                  <a:pt x="59580" y="58883"/>
                  <a:pt x="73074" y="52200"/>
                  <a:pt x="88429" y="47755"/>
                </a:cubicBezTo>
                <a:cubicBezTo>
                  <a:pt x="94860" y="45891"/>
                  <a:pt x="101589" y="44667"/>
                  <a:pt x="108427" y="43549"/>
                </a:cubicBezTo>
                <a:lnTo>
                  <a:pt x="108427" y="0"/>
                </a:lnTo>
                <a:lnTo>
                  <a:pt x="168741" y="0"/>
                </a:lnTo>
                <a:lnTo>
                  <a:pt x="168741" y="42673"/>
                </a:lnTo>
                <a:cubicBezTo>
                  <a:pt x="182824" y="44057"/>
                  <a:pt x="196216" y="46320"/>
                  <a:pt x="208686" y="49754"/>
                </a:cubicBezTo>
                <a:cubicBezTo>
                  <a:pt x="229840" y="55530"/>
                  <a:pt x="252061" y="72914"/>
                  <a:pt x="252061" y="72914"/>
                </a:cubicBezTo>
                <a:cubicBezTo>
                  <a:pt x="254845" y="74352"/>
                  <a:pt x="256734" y="77067"/>
                  <a:pt x="257213" y="80155"/>
                </a:cubicBezTo>
                <a:cubicBezTo>
                  <a:pt x="257693" y="83296"/>
                  <a:pt x="256669" y="86385"/>
                  <a:pt x="254474" y="88647"/>
                </a:cubicBezTo>
                <a:lnTo>
                  <a:pt x="226134" y="117423"/>
                </a:lnTo>
                <a:cubicBezTo>
                  <a:pt x="223111" y="120485"/>
                  <a:pt x="218438" y="121283"/>
                  <a:pt x="214580" y="119287"/>
                </a:cubicBezTo>
                <a:cubicBezTo>
                  <a:pt x="214580" y="119287"/>
                  <a:pt x="197801" y="107335"/>
                  <a:pt x="183296" y="103555"/>
                </a:cubicBezTo>
                <a:cubicBezTo>
                  <a:pt x="168806" y="99774"/>
                  <a:pt x="153590" y="97857"/>
                  <a:pt x="137552" y="97857"/>
                </a:cubicBezTo>
                <a:cubicBezTo>
                  <a:pt x="116595" y="97857"/>
                  <a:pt x="101109" y="101877"/>
                  <a:pt x="91118" y="109876"/>
                </a:cubicBezTo>
                <a:cubicBezTo>
                  <a:pt x="81082" y="117929"/>
                  <a:pt x="76112" y="128390"/>
                  <a:pt x="76112" y="141288"/>
                </a:cubicBezTo>
                <a:cubicBezTo>
                  <a:pt x="76112" y="152908"/>
                  <a:pt x="79607" y="161799"/>
                  <a:pt x="86779" y="168001"/>
                </a:cubicBezTo>
                <a:cubicBezTo>
                  <a:pt x="93901" y="174257"/>
                  <a:pt x="105913" y="178316"/>
                  <a:pt x="122851" y="180034"/>
                </a:cubicBezTo>
                <a:lnTo>
                  <a:pt x="170289" y="184080"/>
                </a:lnTo>
                <a:cubicBezTo>
                  <a:pt x="205453" y="187195"/>
                  <a:pt x="232078" y="196538"/>
                  <a:pt x="250107" y="212125"/>
                </a:cubicBezTo>
                <a:cubicBezTo>
                  <a:pt x="268165" y="227737"/>
                  <a:pt x="277168" y="250472"/>
                  <a:pt x="277168" y="280286"/>
                </a:cubicBezTo>
                <a:cubicBezTo>
                  <a:pt x="277175" y="298162"/>
                  <a:pt x="273607" y="313720"/>
                  <a:pt x="266486" y="327097"/>
                </a:cubicBezTo>
                <a:close/>
              </a:path>
            </a:pathLst>
          </a:custGeom>
          <a:noFill/>
          <a:ln w="7263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E0714D8-2BA9-352D-6DFA-C4C0D883E977}"/>
              </a:ext>
            </a:extLst>
          </p:cNvPr>
          <p:cNvSpPr txBox="1"/>
          <p:nvPr/>
        </p:nvSpPr>
        <p:spPr>
          <a:xfrm>
            <a:off x="4481963" y="3056186"/>
            <a:ext cx="447387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rgbClr val="67E77F"/>
                </a:solidFill>
              </a:rPr>
              <a:t>Low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2AD63B6-A060-37AC-AE10-A89553C98806}"/>
              </a:ext>
            </a:extLst>
          </p:cNvPr>
          <p:cNvSpPr txBox="1"/>
          <p:nvPr/>
        </p:nvSpPr>
        <p:spPr>
          <a:xfrm>
            <a:off x="4481963" y="4204311"/>
            <a:ext cx="1428296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rgbClr val="DF6837"/>
                </a:solidFill>
              </a:rPr>
              <a:t>Low speed increase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F66163-B57E-3B36-7B32-0E916195F142}"/>
              </a:ext>
            </a:extLst>
          </p:cNvPr>
          <p:cNvSpPr txBox="1"/>
          <p:nvPr/>
        </p:nvSpPr>
        <p:spPr>
          <a:xfrm>
            <a:off x="4481963" y="5364737"/>
            <a:ext cx="447387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rgbClr val="67E77F"/>
                </a:solidFill>
              </a:rPr>
              <a:t>Low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A09521-B886-B7CE-C3F8-4A6CE0EC12AC}"/>
              </a:ext>
            </a:extLst>
          </p:cNvPr>
          <p:cNvSpPr txBox="1"/>
          <p:nvPr/>
        </p:nvSpPr>
        <p:spPr>
          <a:xfrm>
            <a:off x="8212338" y="3056186"/>
            <a:ext cx="47656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b="1" dirty="0" err="1">
                <a:solidFill>
                  <a:srgbClr val="E17526"/>
                </a:solidFill>
              </a:rPr>
              <a:t>High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E171B44-7D55-3C69-AF53-2A643B381D0B}"/>
              </a:ext>
            </a:extLst>
          </p:cNvPr>
          <p:cNvSpPr txBox="1"/>
          <p:nvPr/>
        </p:nvSpPr>
        <p:spPr>
          <a:xfrm>
            <a:off x="7231430" y="4204311"/>
            <a:ext cx="1457470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b="1" dirty="0" err="1">
                <a:solidFill>
                  <a:srgbClr val="67E77F"/>
                </a:solidFill>
              </a:rPr>
              <a:t>High speed increase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0FF2A0-2A6E-3FEB-983A-AF96E9799909}"/>
              </a:ext>
            </a:extLst>
          </p:cNvPr>
          <p:cNvSpPr txBox="1"/>
          <p:nvPr/>
        </p:nvSpPr>
        <p:spPr>
          <a:xfrm>
            <a:off x="8212338" y="5364737"/>
            <a:ext cx="47656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b="1" dirty="0" err="1">
                <a:solidFill>
                  <a:srgbClr val="E17526"/>
                </a:solidFill>
              </a:rPr>
              <a:t>High</a:t>
            </a:r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659BC7AE-1850-9CF5-C1C7-5F5104F1B756}"/>
              </a:ext>
            </a:extLst>
          </p:cNvPr>
          <p:cNvSpPr/>
          <p:nvPr/>
        </p:nvSpPr>
        <p:spPr>
          <a:xfrm flipH="1">
            <a:off x="4541614" y="1809446"/>
            <a:ext cx="4083908" cy="14538"/>
          </a:xfrm>
          <a:custGeom>
            <a:avLst/>
            <a:gdLst>
              <a:gd name="connsiteX0" fmla="*/ 4076642 w 4083908"/>
              <a:gd name="connsiteY0" fmla="*/ 14538 h 14538"/>
              <a:gd name="connsiteX1" fmla="*/ 4083909 w 4083908"/>
              <a:gd name="connsiteY1" fmla="*/ 7269 h 14538"/>
              <a:gd name="connsiteX2" fmla="*/ 4076642 w 4083908"/>
              <a:gd name="connsiteY2" fmla="*/ 0 h 14538"/>
              <a:gd name="connsiteX3" fmla="*/ 4076642 w 4083908"/>
              <a:gd name="connsiteY3" fmla="*/ 14538 h 14538"/>
              <a:gd name="connsiteX4" fmla="*/ 0 w 4083908"/>
              <a:gd name="connsiteY4" fmla="*/ 14538 h 14538"/>
              <a:gd name="connsiteX5" fmla="*/ 4076642 w 4083908"/>
              <a:gd name="connsiteY5" fmla="*/ 14538 h 14538"/>
              <a:gd name="connsiteX6" fmla="*/ 4076642 w 4083908"/>
              <a:gd name="connsiteY6" fmla="*/ 0 h 14538"/>
              <a:gd name="connsiteX7" fmla="*/ 0 w 4083908"/>
              <a:gd name="connsiteY7" fmla="*/ 0 h 14538"/>
              <a:gd name="connsiteX8" fmla="*/ 0 w 4083908"/>
              <a:gd name="connsiteY8" fmla="*/ 14538 h 14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083908" h="14538">
                <a:moveTo>
                  <a:pt x="4076642" y="14538"/>
                </a:moveTo>
                <a:cubicBezTo>
                  <a:pt x="4080653" y="14538"/>
                  <a:pt x="4083909" y="11282"/>
                  <a:pt x="4083909" y="7269"/>
                </a:cubicBezTo>
                <a:cubicBezTo>
                  <a:pt x="4083909" y="3257"/>
                  <a:pt x="4080653" y="0"/>
                  <a:pt x="4076642" y="0"/>
                </a:cubicBezTo>
                <a:lnTo>
                  <a:pt x="4076642" y="14538"/>
                </a:lnTo>
                <a:close/>
                <a:moveTo>
                  <a:pt x="0" y="14538"/>
                </a:moveTo>
                <a:lnTo>
                  <a:pt x="4076642" y="14538"/>
                </a:lnTo>
                <a:lnTo>
                  <a:pt x="4076642" y="0"/>
                </a:lnTo>
                <a:lnTo>
                  <a:pt x="0" y="0"/>
                </a:lnTo>
                <a:lnTo>
                  <a:pt x="0" y="14538"/>
                </a:lnTo>
                <a:close/>
              </a:path>
            </a:pathLst>
          </a:custGeom>
          <a:gradFill>
            <a:gsLst>
              <a:gs pos="0">
                <a:srgbClr val="DF6838"/>
              </a:gs>
              <a:gs pos="50000">
                <a:srgbClr val="A3A75B"/>
              </a:gs>
              <a:gs pos="100000">
                <a:srgbClr val="67E77F"/>
              </a:gs>
            </a:gsLst>
            <a:lin ang="0" scaled="1"/>
          </a:gradFill>
          <a:ln w="72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2" name="Freeform 81">
            <a:extLst>
              <a:ext uri="{FF2B5EF4-FFF2-40B4-BE49-F238E27FC236}">
                <a16:creationId xmlns:a16="http://schemas.microsoft.com/office/drawing/2014/main" id="{A1436FEF-2734-3E85-C550-879300A56BB7}"/>
              </a:ext>
            </a:extLst>
          </p:cNvPr>
          <p:cNvSpPr/>
          <p:nvPr/>
        </p:nvSpPr>
        <p:spPr>
          <a:xfrm>
            <a:off x="7051315" y="1595006"/>
            <a:ext cx="378145" cy="301667"/>
          </a:xfrm>
          <a:custGeom>
            <a:avLst/>
            <a:gdLst>
              <a:gd name="connsiteX0" fmla="*/ 184470 w 343768"/>
              <a:gd name="connsiteY0" fmla="*/ 294400 h 301667"/>
              <a:gd name="connsiteX1" fmla="*/ 159298 w 343768"/>
              <a:gd name="connsiteY1" fmla="*/ 294400 h 301667"/>
              <a:gd name="connsiteX2" fmla="*/ 1966 w 343768"/>
              <a:gd name="connsiteY2" fmla="*/ 21807 h 301667"/>
              <a:gd name="connsiteX3" fmla="*/ 14552 w 343768"/>
              <a:gd name="connsiteY3" fmla="*/ 0 h 301667"/>
              <a:gd name="connsiteX4" fmla="*/ 329216 w 343768"/>
              <a:gd name="connsiteY4" fmla="*/ 0 h 301667"/>
              <a:gd name="connsiteX5" fmla="*/ 341802 w 343768"/>
              <a:gd name="connsiteY5" fmla="*/ 21807 h 301667"/>
              <a:gd name="connsiteX6" fmla="*/ 184470 w 343768"/>
              <a:gd name="connsiteY6" fmla="*/ 294400 h 30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3768" h="301667">
                <a:moveTo>
                  <a:pt x="184470" y="294400"/>
                </a:moveTo>
                <a:cubicBezTo>
                  <a:pt x="178875" y="304090"/>
                  <a:pt x="164893" y="304090"/>
                  <a:pt x="159298" y="294400"/>
                </a:cubicBezTo>
                <a:lnTo>
                  <a:pt x="1966" y="21807"/>
                </a:lnTo>
                <a:cubicBezTo>
                  <a:pt x="-3622" y="12118"/>
                  <a:pt x="3368" y="0"/>
                  <a:pt x="14552" y="0"/>
                </a:cubicBezTo>
                <a:lnTo>
                  <a:pt x="329216" y="0"/>
                </a:lnTo>
                <a:cubicBezTo>
                  <a:pt x="340400" y="0"/>
                  <a:pt x="347390" y="12118"/>
                  <a:pt x="341802" y="21807"/>
                </a:cubicBezTo>
                <a:lnTo>
                  <a:pt x="184470" y="294400"/>
                </a:lnTo>
                <a:close/>
              </a:path>
            </a:pathLst>
          </a:custGeom>
          <a:solidFill>
            <a:srgbClr val="0066FF"/>
          </a:solidFill>
          <a:ln w="7263" cap="flat">
            <a:noFill/>
            <a:prstDash val="solid"/>
            <a:miter/>
          </a:ln>
        </p:spPr>
        <p:txBody>
          <a:bodyPr lIns="0" rIns="0" rtlCol="0" anchor="ctr"/>
          <a:lstStyle/>
          <a:p>
            <a:pPr algn="ctr"/>
            <a:r>
              <a:rPr lang="en-US" sz="1000" b="1">
                <a:solidFill>
                  <a:srgbClr val="0066FF"/>
                </a:solidFill>
              </a:rPr>
              <a:t>3315 PY
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B64E5A-9179-448E-090A-5864C363F480}"/>
              </a:ext>
            </a:extLst>
          </p:cNvPr>
          <p:cNvSpPr txBox="1"/>
          <p:nvPr/>
        </p:nvSpPr>
        <p:spPr>
          <a:xfrm>
            <a:off x="4481963" y="1818652"/>
            <a:ext cx="591978" cy="32226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 err="1">
                <a:solidFill>
                  <a:srgbClr val="67E77F"/>
                </a:solidFill>
              </a:rPr>
              <a:t>Small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2B9148E-E5DB-E38E-63D0-559E35AAA3C9}"/>
              </a:ext>
            </a:extLst>
          </p:cNvPr>
          <p:cNvSpPr txBox="1"/>
          <p:nvPr/>
        </p:nvSpPr>
        <p:spPr>
          <a:xfrm>
            <a:off x="8107374" y="1818652"/>
            <a:ext cx="581526" cy="32226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400" b="1" dirty="0" err="1">
                <a:solidFill>
                  <a:srgbClr val="E17526"/>
                </a:solidFill>
              </a:rPr>
              <a:t>Large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1EC11-E004-CBAD-A155-7723F3CBB0E7}"/>
              </a:ext>
            </a:extLst>
          </p:cNvPr>
          <p:cNvCxnSpPr/>
          <p:nvPr/>
        </p:nvCxnSpPr>
        <p:spPr>
          <a:xfrm>
            <a:off x="4578340" y="6141022"/>
            <a:ext cx="4103685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0E78637-2D76-EC46-D7A6-73BC4FE90B2F}"/>
              </a:ext>
            </a:extLst>
          </p:cNvPr>
          <p:cNvSpPr txBox="1"/>
          <p:nvPr/>
        </p:nvSpPr>
        <p:spPr>
          <a:xfrm>
            <a:off x="4585214" y="6148250"/>
            <a:ext cx="4076641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rgbClr val="8A98A8"/>
                </a:solidFill>
              </a:rPr>
              <a:t>Relative to SIG benchmark</a:t>
            </a:r>
          </a:p>
        </p:txBody>
      </p:sp>
    </p:spTree>
    <p:extLst>
      <p:ext uri="{BB962C8B-B14F-4D97-AF65-F5344CB8AC3E}">
        <p14:creationId xmlns:p14="http://schemas.microsoft.com/office/powerpoint/2010/main" val="287906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F466E-D479-3CDB-520B-7A4B78107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FD1C6-C494-FC62-82C3-C6328C2AC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7CD9AF-ACFE-6D22-FD02-CD29B7ED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candidates, prioritized based on estimated technical benefits and effort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712C4A9F-525C-FF71-4862-143F8CB59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7610961"/>
              </p:ext>
            </p:extLst>
          </p:nvPr>
        </p:nvGraphicFramePr>
        <p:xfrm>
          <a:off x="514800" y="1466791"/>
          <a:ext cx="11230868" cy="454032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524291">
                  <a:extLst>
                    <a:ext uri="{9D8B030D-6E8A-4147-A177-3AD203B41FA5}">
                      <a16:colId xmlns:a16="http://schemas.microsoft.com/office/drawing/2014/main" val="1413959097"/>
                    </a:ext>
                  </a:extLst>
                </a:gridCol>
                <a:gridCol w="3002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2475028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47956662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9696306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96317199"/>
                    </a:ext>
                  </a:extLst>
                </a:gridCol>
                <a:gridCol w="1188504">
                  <a:extLst>
                    <a:ext uri="{9D8B030D-6E8A-4147-A177-3AD203B41FA5}">
                      <a16:colId xmlns:a16="http://schemas.microsoft.com/office/drawing/2014/main" val="144622969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#</a:t>
                      </a: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System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Business criticality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Activity</a:t>
                      </a:r>
                      <a:b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</a:b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last year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Technical debt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Scenario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change speed increase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effort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MongoDB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224.0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224.0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118.7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2.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Elasticsearch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262.7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262.7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+ 90%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137.0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3.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Oracle GraalVM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REBUILD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+ 85%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4.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Tensorflow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REBUILD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5.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Google V8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159.2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159.2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79.7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6.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Hadoop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81.2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81.2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33.2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65032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7.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Hibernate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72.9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72.9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75208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8.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PostgreSQL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101.0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101.0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+ 104%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90.6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1094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9.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Airflow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55.5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55.5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34.3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333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10.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Artemis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76.6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76.6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+ 79%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31.3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8195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707320-1A54-86A3-7DF0-F901F78775F8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EED6C-657E-7099-71C4-FD0C6139E50E}"/>
              </a:ext>
            </a:extLst>
          </p:cNvPr>
          <p:cNvSpPr txBox="1"/>
          <p:nvPr/>
        </p:nvSpPr>
        <p:spPr>
          <a:xfrm>
            <a:off x="3958841" y="1138248"/>
            <a:ext cx="1196310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tx2"/>
                </a:solidFill>
              </a:rPr>
              <a:t>CURRENT STATE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0DB798-FA76-9B14-5FDF-A59E36050CC7}"/>
              </a:ext>
            </a:extLst>
          </p:cNvPr>
          <p:cNvCxnSpPr>
            <a:cxnSpLocks/>
          </p:cNvCxnSpPr>
          <p:nvPr/>
        </p:nvCxnSpPr>
        <p:spPr>
          <a:xfrm>
            <a:off x="4052807" y="1406672"/>
            <a:ext cx="3566700" cy="0"/>
          </a:xfrm>
          <a:prstGeom prst="line">
            <a:avLst/>
          </a:prstGeom>
          <a:ln w="25400"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09977C-9B37-B465-BD89-5F57AD3E3CB9}"/>
              </a:ext>
            </a:extLst>
          </p:cNvPr>
          <p:cNvCxnSpPr>
            <a:cxnSpLocks/>
          </p:cNvCxnSpPr>
          <p:nvPr/>
        </p:nvCxnSpPr>
        <p:spPr>
          <a:xfrm>
            <a:off x="7710407" y="1406672"/>
            <a:ext cx="4035259" cy="0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9F55D8-8B2C-4187-3FF2-F344D659CEDF}"/>
              </a:ext>
            </a:extLst>
          </p:cNvPr>
          <p:cNvSpPr txBox="1"/>
          <p:nvPr/>
        </p:nvSpPr>
        <p:spPr>
          <a:xfrm>
            <a:off x="7619507" y="1138248"/>
            <a:ext cx="1992746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accent3"/>
                </a:solidFill>
              </a:rPr>
              <a:t>MODERNIZATION SCENARIO</a:t>
            </a:r>
          </a:p>
        </p:txBody>
      </p:sp>
    </p:spTree>
    <p:extLst>
      <p:ext uri="{BB962C8B-B14F-4D97-AF65-F5344CB8AC3E}">
        <p14:creationId xmlns:p14="http://schemas.microsoft.com/office/powerpoint/2010/main" val="146098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78F9F4-ED89-F956-1891-100EADA18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2B7C7-F4EF-4C86-EE64-B11C541DC5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56A6D8-09CB-7545-730D-D92AAEE7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Systems with the most technical debt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FAD63-FD9D-D60C-90D1-A55EE503E9B1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20D7F51-72F0-DC6F-B733-E9F269FA92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7979476"/>
              </p:ext>
            </p:extLst>
          </p:nvPr>
        </p:nvGraphicFramePr>
        <p:xfrm>
          <a:off x="478224" y="1483096"/>
          <a:ext cx="11267443" cy="419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BA8D1-8150-E6E3-849C-0B4B4196A999}"/>
              </a:ext>
            </a:extLst>
          </p:cNvPr>
          <p:cNvSpPr txBox="1"/>
          <p:nvPr/>
        </p:nvSpPr>
        <p:spPr>
          <a:xfrm>
            <a:off x="9880522" y="1193593"/>
            <a:ext cx="198447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Code volume in person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A5188-42F3-957B-3D03-356F5A986459}"/>
              </a:ext>
            </a:extLst>
          </p:cNvPr>
          <p:cNvSpPr txBox="1"/>
          <p:nvPr/>
        </p:nvSpPr>
        <p:spPr>
          <a:xfrm>
            <a:off x="7807069" y="5618547"/>
            <a:ext cx="3768681" cy="32092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E17526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Technical debt        </a:t>
            </a:r>
            <a:r>
              <a:rPr lang="en-US" sz="1400" dirty="0" err="1">
                <a:solidFill>
                  <a:srgbClr val="C0CEDA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Remaining code volume</a:t>
            </a:r>
          </a:p>
        </p:txBody>
      </p:sp>
    </p:spTree>
    <p:extLst>
      <p:ext uri="{BB962C8B-B14F-4D97-AF65-F5344CB8AC3E}">
        <p14:creationId xmlns:p14="http://schemas.microsoft.com/office/powerpoint/2010/main" val="61007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DF886-A81C-4A0E-6FCD-3BE49FCA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41744-6095-9476-FF65-F52E3A93C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57BF-8092-E114-5769-D4C82E742F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00AE25-DFA8-CE88-5B65-AEFB7817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candidates: Estimated technical benefits versus effort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E3CDC-A5AE-B588-AF02-77F4F7158C1C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D329B-7B5E-5594-AA10-E59357E3F4A1}"/>
              </a:ext>
            </a:extLst>
          </p:cNvPr>
          <p:cNvSpPr txBox="1"/>
          <p:nvPr/>
        </p:nvSpPr>
        <p:spPr>
          <a:xfrm>
            <a:off x="1915875" y="1454041"/>
            <a:ext cx="1289605" cy="49815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change</a:t>
            </a:r>
            <a:br>
              <a:rPr lang="en-US" sz="1200" dirty="0" err="1">
                <a:solidFill>
                  <a:schemeClr val="tx2"/>
                </a:solidFill>
              </a:rPr>
            </a:br>
            <a:r>
              <a:rPr lang="en-US" sz="1200" dirty="0" err="1">
                <a:solidFill>
                  <a:schemeClr val="tx2"/>
                </a:solidFill>
              </a:rPr>
              <a:t>speed increase 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D4FAD-46DE-E90D-A6F1-58C401FBAA15}"/>
              </a:ext>
            </a:extLst>
          </p:cNvPr>
          <p:cNvSpPr txBox="1"/>
          <p:nvPr/>
        </p:nvSpPr>
        <p:spPr>
          <a:xfrm>
            <a:off x="8986520" y="5830039"/>
            <a:ext cx="2172218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effort in person years</a:t>
            </a: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FA04012A-8076-57D9-16E6-FD4DB5AABD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1336464"/>
              </p:ext>
            </p:extLst>
          </p:nvPr>
        </p:nvGraphicFramePr>
        <p:xfrm>
          <a:off x="3205480" y="1258969"/>
          <a:ext cx="5781040" cy="4884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AC59350-5BAE-C14A-E256-A8547FC717B5}"/>
              </a:ext>
            </a:extLst>
          </p:cNvPr>
          <p:cNvSpPr txBox="1"/>
          <p:nvPr/>
        </p:nvSpPr>
        <p:spPr>
          <a:xfrm>
            <a:off x="8989693" y="2764630"/>
            <a:ext cx="1559166" cy="153824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b="1" dirty="0" err="1">
                <a:solidFill>
                  <a:schemeClr val="tx2"/>
                </a:solidFill>
              </a:rPr>
              <a:t>Business criticality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003DAB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Critical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2E6B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High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DA8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Medium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DBE1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Low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A98A8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Unknown</a:t>
            </a:r>
          </a:p>
        </p:txBody>
      </p:sp>
    </p:spTree>
    <p:extLst>
      <p:ext uri="{BB962C8B-B14F-4D97-AF65-F5344CB8AC3E}">
        <p14:creationId xmlns:p14="http://schemas.microsoft.com/office/powerpoint/2010/main" val="2061729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29834</TotalTime>
  <Words>615</Words>
  <Application>Microsoft Macintosh PowerPoint</Application>
  <PresentationFormat>Widescreen</PresentationFormat>
  <Paragraphs>238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A 3-phase approach to support modernization; focus for this report is Phase 2</vt:lpstr>
      <vt:lpstr>The Cost Estimation model combines Sigrid analysis results with SIG benchmarks</vt:lpstr>
      <vt:lpstr>Modernization plan: Management summary </vt:lpstr>
      <vt:lpstr>Top modernization candidates, prioritized based on estimated technical benefits and effort</vt:lpstr>
      <vt:lpstr>Systems with the most technical debt</vt:lpstr>
      <vt:lpstr>Top modernization candidates: Estimated technical benefits versus effort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253</cp:revision>
  <cp:lastPrinted>2020-07-02T15:41:27Z</cp:lastPrinted>
  <dcterms:created xsi:type="dcterms:W3CDTF">2024-01-03T15:04:34Z</dcterms:created>
  <dcterms:modified xsi:type="dcterms:W3CDTF">2026-03-12T17:19:40Z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