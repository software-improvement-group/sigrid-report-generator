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561" r:id="rId5"/>
    <p:sldId id="1547" r:id="rId6"/>
    <p:sldId id="1507" r:id="rId7"/>
    <p:sldId id="1766" r:id="rId8"/>
    <p:sldId id="1763" r:id="rId9"/>
    <p:sldId id="1764" r:id="rId10"/>
    <p:sldId id="1765" r:id="rId11"/>
    <p:sldId id="5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47"/>
            <p14:sldId id="1507"/>
            <p14:sldId id="1766"/>
            <p14:sldId id="1763"/>
            <p14:sldId id="1764"/>
            <p14:sldId id="1765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526"/>
    <a:srgbClr val="67E77F"/>
    <a:srgbClr val="0066FF"/>
    <a:srgbClr val="8A98A8"/>
    <a:srgbClr val="DF6837"/>
    <a:srgbClr val="DBE1FF"/>
    <a:srgbClr val="8DA8FF"/>
    <a:srgbClr val="2E6BFF"/>
    <a:srgbClr val="003DAB"/>
    <a:srgbClr val="C0C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32"/>
    <p:restoredTop sz="96327"/>
  </p:normalViewPr>
  <p:slideViewPr>
    <p:cSldViewPr snapToGrid="0" snapToObjects="1" showGuides="1">
      <p:cViewPr>
        <p:scale>
          <a:sx n="118" d="100"/>
          <a:sy n="118" d="100"/>
        </p:scale>
        <p:origin x="5232" y="2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043513688066"/>
          <c:y val="7.1697246744931845E-2"/>
          <c:w val="0.81894294916779253"/>
          <c:h val="0.879903086336240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volume in person years</c:v>
                </c:pt>
              </c:strCache>
            </c:strRef>
          </c:tx>
          <c:spPr>
            <a:solidFill>
              <a:srgbClr val="E17526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E17526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8D46-3D4B-996A-4B880DC4E095}"/>
              </c:ext>
            </c:extLst>
          </c:dPt>
          <c:cat>
            <c:strRef>
              <c:f>Sheet1!$A$2:$A$21</c:f>
              <c:strCache>
                <c:ptCount val="20"/>
                <c:pt idx="0">
                  <c:v>Tensorflow</c:v>
                </c:pt>
                <c:pt idx="1">
                  <c:v>Blender</c:v>
                </c:pt>
                <c:pt idx="2">
                  <c:v>Oracle GraalVM</c:v>
                </c:pt>
                <c:pt idx="3">
                  <c:v>Elasticsearch</c:v>
                </c:pt>
                <c:pt idx="4">
                  <c:v>MongoDB</c:v>
                </c:pt>
                <c:pt idx="5">
                  <c:v>PostgreSQL</c:v>
                </c:pt>
                <c:pt idx="6">
                  <c:v>Google V8</c:v>
                </c:pt>
                <c:pt idx="7">
                  <c:v>Outsystems-demo</c:v>
                </c:pt>
                <c:pt idx="8">
                  <c:v>Systemd</c:v>
                </c:pt>
                <c:pt idx="9">
                  <c:v>Clickhouse</c:v>
                </c:pt>
                <c:pt idx="10">
                  <c:v>Twitter Algorithm</c:v>
                </c:pt>
                <c:pt idx="11">
                  <c:v>Solana</c:v>
                </c:pt>
                <c:pt idx="12">
                  <c:v>Airflow</c:v>
                </c:pt>
                <c:pt idx="13">
                  <c:v>Hadoop</c:v>
                </c:pt>
                <c:pt idx="14">
                  <c:v>Artemis</c:v>
                </c:pt>
                <c:pt idx="15">
                  <c:v>Hibernate</c:v>
                </c:pt>
                <c:pt idx="16">
                  <c:v>Brave-core</c:v>
                </c:pt>
                <c:pt idx="17">
                  <c:v>GIT</c:v>
                </c:pt>
                <c:pt idx="18">
                  <c:v>Redis</c:v>
                </c:pt>
                <c:pt idx="19">
                  <c:v>Visual Studio Code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260.16236712396966</c:v>
                </c:pt>
                <c:pt idx="1">
                  <c:v>175.68071</c:v>
                </c:pt>
                <c:pt idx="2">
                  <c:v>175.17548215807747</c:v>
                </c:pt>
                <c:pt idx="3">
                  <c:v>137.00198</c:v>
                </c:pt>
                <c:pt idx="4">
                  <c:v>118.73782</c:v>
                </c:pt>
                <c:pt idx="5">
                  <c:v>90.589789999999994</c:v>
                </c:pt>
                <c:pt idx="6">
                  <c:v>79.725849999999994</c:v>
                </c:pt>
                <c:pt idx="7">
                  <c:v>70.964593343205621</c:v>
                </c:pt>
                <c:pt idx="8">
                  <c:v>69.703230000000005</c:v>
                </c:pt>
                <c:pt idx="9">
                  <c:v>56.01164</c:v>
                </c:pt>
                <c:pt idx="10">
                  <c:v>39.714834660721138</c:v>
                </c:pt>
                <c:pt idx="11">
                  <c:v>34.844909999999999</c:v>
                </c:pt>
                <c:pt idx="12">
                  <c:v>34.274880000000003</c:v>
                </c:pt>
                <c:pt idx="13">
                  <c:v>33.210549999999998</c:v>
                </c:pt>
                <c:pt idx="14">
                  <c:v>31.269179999999999</c:v>
                </c:pt>
                <c:pt idx="15">
                  <c:v>30.577310000000001</c:v>
                </c:pt>
                <c:pt idx="16">
                  <c:v>28.55415</c:v>
                </c:pt>
                <c:pt idx="17">
                  <c:v>24.45168</c:v>
                </c:pt>
                <c:pt idx="18">
                  <c:v>23.164843414368718</c:v>
                </c:pt>
                <c:pt idx="19">
                  <c:v>18.813199999999998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4-8D46-3D4B-996A-4B880DC4E0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Code volume in person years</c:v>
                </c:pt>
              </c:strCache>
            </c:strRef>
          </c:tx>
          <c:spPr>
            <a:solidFill>
              <a:srgbClr val="C0CEDA"/>
            </a:solidFill>
            <a:ln w="19050"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Tensorflow</c:v>
                </c:pt>
                <c:pt idx="1">
                  <c:v>Blender</c:v>
                </c:pt>
                <c:pt idx="2">
                  <c:v>Oracle GraalVM</c:v>
                </c:pt>
                <c:pt idx="3">
                  <c:v>Elasticsearch</c:v>
                </c:pt>
                <c:pt idx="4">
                  <c:v>MongoDB</c:v>
                </c:pt>
                <c:pt idx="5">
                  <c:v>PostgreSQL</c:v>
                </c:pt>
                <c:pt idx="6">
                  <c:v>Google V8</c:v>
                </c:pt>
                <c:pt idx="7">
                  <c:v>Outsystems-demo</c:v>
                </c:pt>
                <c:pt idx="8">
                  <c:v>Systemd</c:v>
                </c:pt>
                <c:pt idx="9">
                  <c:v>Clickhouse</c:v>
                </c:pt>
                <c:pt idx="10">
                  <c:v>Twitter Algorithm</c:v>
                </c:pt>
                <c:pt idx="11">
                  <c:v>Solana</c:v>
                </c:pt>
                <c:pt idx="12">
                  <c:v>Airflow</c:v>
                </c:pt>
                <c:pt idx="13">
                  <c:v>Hadoop</c:v>
                </c:pt>
                <c:pt idx="14">
                  <c:v>Artemis</c:v>
                </c:pt>
                <c:pt idx="15">
                  <c:v>Hibernate</c:v>
                </c:pt>
                <c:pt idx="16">
                  <c:v>Brave-core</c:v>
                </c:pt>
                <c:pt idx="17">
                  <c:v>GIT</c:v>
                </c:pt>
                <c:pt idx="18">
                  <c:v>Redis</c:v>
                </c:pt>
                <c:pt idx="19">
                  <c:v>Visual Studio Code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163.50925951217985</c:v>
                </c:pt>
                <c:pt idx="2">
                  <c:v>0</c:v>
                </c:pt>
                <c:pt idx="3">
                  <c:v>125.69901258506576</c:v>
                </c:pt>
                <c:pt idx="4">
                  <c:v>105.29577387292423</c:v>
                </c:pt>
                <c:pt idx="5">
                  <c:v>10.386528597698714</c:v>
                </c:pt>
                <c:pt idx="6">
                  <c:v>79.465384416128174</c:v>
                </c:pt>
                <c:pt idx="7">
                  <c:v>0</c:v>
                </c:pt>
                <c:pt idx="8">
                  <c:v>11.918359176828517</c:v>
                </c:pt>
                <c:pt idx="9">
                  <c:v>79.59140060338413</c:v>
                </c:pt>
                <c:pt idx="10">
                  <c:v>0</c:v>
                </c:pt>
                <c:pt idx="11">
                  <c:v>10.294089999999962</c:v>
                </c:pt>
                <c:pt idx="12">
                  <c:v>21.230302824691023</c:v>
                </c:pt>
                <c:pt idx="13">
                  <c:v>48.028939760905502</c:v>
                </c:pt>
                <c:pt idx="14">
                  <c:v>45.295292451700469</c:v>
                </c:pt>
                <c:pt idx="15">
                  <c:v>42.2820233333332</c:v>
                </c:pt>
                <c:pt idx="16">
                  <c:v>88.378019913123012</c:v>
                </c:pt>
                <c:pt idx="17">
                  <c:v>12.3791647252819</c:v>
                </c:pt>
                <c:pt idx="18">
                  <c:v>0</c:v>
                </c:pt>
                <c:pt idx="19">
                  <c:v>58.519782971294447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D46-3D4B-996A-4B880DC4E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change speed increase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0%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Lit>
              <c:formatCode>General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392045280"/>
        <c:axId val="392046992"/>
      </c:bubbleChart>
      <c:valAx>
        <c:axId val="392045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6992"/>
        <c:crosses val="autoZero"/>
        <c:crossBetween val="midCat"/>
      </c:valAx>
      <c:valAx>
        <c:axId val="39204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5280"/>
        <c:crosses val="autoZero"/>
        <c:crossBetween val="midCat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Opendemo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Modernization Assessment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12,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7F4E57E-2315-9749-9586-B32F24FF9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4" b="16332"/>
          <a:stretch/>
        </p:blipFill>
        <p:spPr>
          <a:xfrm>
            <a:off x="-1" y="844663"/>
            <a:ext cx="12171003" cy="6021288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7DC72909-4B1B-F74A-BF43-2DB5FC1DCB1B}"/>
              </a:ext>
            </a:extLst>
          </p:cNvPr>
          <p:cNvSpPr/>
          <p:nvPr/>
        </p:nvSpPr>
        <p:spPr>
          <a:xfrm>
            <a:off x="1" y="836712"/>
            <a:ext cx="12191999" cy="6021288"/>
          </a:xfrm>
          <a:prstGeom prst="rect">
            <a:avLst/>
          </a:prstGeom>
          <a:gradFill flip="none" rotWithShape="1">
            <a:gsLst>
              <a:gs pos="0">
                <a:schemeClr val="accent6">
                  <a:satMod val="110000"/>
                  <a:lumMod val="100000"/>
                  <a:shade val="100000"/>
                </a:schemeClr>
              </a:gs>
              <a:gs pos="0">
                <a:schemeClr val="accent1">
                  <a:lumMod val="60000"/>
                  <a:lumOff val="40000"/>
                  <a:alpha val="52000"/>
                </a:schemeClr>
              </a:gs>
              <a:gs pos="99000">
                <a:schemeClr val="accent1">
                  <a:lumMod val="75000"/>
                  <a:alpha val="7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F4A3C8-2D2A-ED4B-8A5A-8B5FA1C765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0800" cmpd="sng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0C7D-ED79-1C41-B9E8-05543C0C95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Legacy modernization assurance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40D92-28CE-014C-9D3A-F89D5201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9810000" cy="2828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t"/>
          <a:lstStyle/>
          <a:p>
            <a:r>
              <a:rPr lang="en-US" dirty="0"/>
              <a:t>A 3-phase approach to support modernization; focus for this report is </a:t>
            </a:r>
            <a:r>
              <a:rPr lang="en-US" dirty="0">
                <a:solidFill>
                  <a:schemeClr val="accent2"/>
                </a:solidFill>
              </a:rPr>
              <a:t>Phase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223B75-9701-1C4D-92DE-AF89A656DE22}"/>
              </a:ext>
            </a:extLst>
          </p:cNvPr>
          <p:cNvGrpSpPr/>
          <p:nvPr/>
        </p:nvGrpSpPr>
        <p:grpSpPr>
          <a:xfrm>
            <a:off x="5006801" y="1071914"/>
            <a:ext cx="2209800" cy="1989458"/>
            <a:chOff x="3145912" y="4308725"/>
            <a:chExt cx="2209800" cy="198945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C03BF3-586D-3547-A7C6-E1CF136DA3AC}"/>
                </a:ext>
              </a:extLst>
            </p:cNvPr>
            <p:cNvSpPr/>
            <p:nvPr/>
          </p:nvSpPr>
          <p:spPr>
            <a:xfrm>
              <a:off x="3145912" y="5470254"/>
              <a:ext cx="2209800" cy="8279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b"/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Phase 2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Modernization Assessment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5F786E5-A81C-4549-AAD0-3C3177E4782D}"/>
                </a:ext>
              </a:extLst>
            </p:cNvPr>
            <p:cNvSpPr/>
            <p:nvPr/>
          </p:nvSpPr>
          <p:spPr>
            <a:xfrm>
              <a:off x="3709113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E5BCB1F-62B3-D842-98FD-3689A975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</a:blip>
            <a:stretch>
              <a:fillRect/>
            </a:stretch>
          </p:blipFill>
          <p:spPr>
            <a:xfrm>
              <a:off x="3833429" y="4482668"/>
              <a:ext cx="792773" cy="673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B8BE51C-20C0-A14C-A4A2-9EAB80BAB487}"/>
              </a:ext>
            </a:extLst>
          </p:cNvPr>
          <p:cNvGrpSpPr/>
          <p:nvPr/>
        </p:nvGrpSpPr>
        <p:grpSpPr>
          <a:xfrm>
            <a:off x="9662555" y="2456932"/>
            <a:ext cx="2337989" cy="1732444"/>
            <a:chOff x="7914209" y="4283074"/>
            <a:chExt cx="2337989" cy="173244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16BE29-6B13-7E44-8403-0C579A2D8740}"/>
                </a:ext>
              </a:extLst>
            </p:cNvPr>
            <p:cNvSpPr/>
            <p:nvPr/>
          </p:nvSpPr>
          <p:spPr>
            <a:xfrm>
              <a:off x="7914209" y="5607871"/>
              <a:ext cx="2337989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3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Sigrid Continuous Assurance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91965E-97DA-ED4B-95A4-2C1E50262FBF}"/>
                </a:ext>
              </a:extLst>
            </p:cNvPr>
            <p:cNvSpPr/>
            <p:nvPr/>
          </p:nvSpPr>
          <p:spPr>
            <a:xfrm>
              <a:off x="8490111" y="4283074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8B2A39E-4056-5846-8346-8BC6A184F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tretch>
              <a:fillRect/>
            </a:stretch>
          </p:blipFill>
          <p:spPr>
            <a:xfrm>
              <a:off x="8691596" y="4482668"/>
              <a:ext cx="694134" cy="59001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097FB3-105A-3146-9C83-F353F350F638}"/>
              </a:ext>
            </a:extLst>
          </p:cNvPr>
          <p:cNvGrpSpPr/>
          <p:nvPr/>
        </p:nvGrpSpPr>
        <p:grpSpPr>
          <a:xfrm>
            <a:off x="171654" y="2456932"/>
            <a:ext cx="2209800" cy="1774529"/>
            <a:chOff x="189717" y="4308725"/>
            <a:chExt cx="2209800" cy="17745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F567B5-009C-8A45-B4A1-E01785A0F227}"/>
                </a:ext>
              </a:extLst>
            </p:cNvPr>
            <p:cNvSpPr/>
            <p:nvPr/>
          </p:nvSpPr>
          <p:spPr>
            <a:xfrm>
              <a:off x="189717" y="5675607"/>
              <a:ext cx="2209800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1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Priority 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Portfolio Scan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C34D03-95D0-EC42-905B-E5564FE54565}"/>
                </a:ext>
              </a:extLst>
            </p:cNvPr>
            <p:cNvSpPr/>
            <p:nvPr/>
          </p:nvSpPr>
          <p:spPr>
            <a:xfrm>
              <a:off x="765618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B6D5A84-B1EE-C849-A50F-4723EC633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917322" y="4547122"/>
              <a:ext cx="749510" cy="637084"/>
            </a:xfrm>
            <a:prstGeom prst="rect">
              <a:avLst/>
            </a:prstGeom>
          </p:spPr>
        </p:pic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425303F-80E3-8640-940B-98030EAEE2EB}"/>
              </a:ext>
            </a:extLst>
          </p:cNvPr>
          <p:cNvCxnSpPr>
            <a:cxnSpLocks/>
            <a:stCxn id="69" idx="2"/>
            <a:endCxn id="70" idx="1"/>
          </p:cNvCxnSpPr>
          <p:nvPr/>
        </p:nvCxnSpPr>
        <p:spPr>
          <a:xfrm rot="16200000" flipH="1">
            <a:off x="5931043" y="5073913"/>
            <a:ext cx="361316" cy="1225371"/>
          </a:xfrm>
          <a:prstGeom prst="bentConnector2">
            <a:avLst/>
          </a:prstGeom>
          <a:ln w="38100" cap="rnd" cmpd="sng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FA6D62-785B-1B41-A941-B7F0C1610920}"/>
              </a:ext>
            </a:extLst>
          </p:cNvPr>
          <p:cNvSpPr/>
          <p:nvPr/>
        </p:nvSpPr>
        <p:spPr>
          <a:xfrm>
            <a:off x="2905352" y="3216440"/>
            <a:ext cx="6381295" cy="3236896"/>
          </a:xfrm>
          <a:prstGeom prst="rect">
            <a:avLst/>
          </a:prstGeom>
          <a:solidFill>
            <a:schemeClr val="tx2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840F6F-3AC0-8E49-8994-24398DB9A99F}"/>
              </a:ext>
            </a:extLst>
          </p:cNvPr>
          <p:cNvGrpSpPr/>
          <p:nvPr/>
        </p:nvGrpSpPr>
        <p:grpSpPr>
          <a:xfrm>
            <a:off x="3316358" y="3713108"/>
            <a:ext cx="5517292" cy="386563"/>
            <a:chOff x="2959100" y="2742577"/>
            <a:chExt cx="6436451" cy="5116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5C033B-C32C-BB43-BB54-2C71421DB84C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9E8E97-2D39-E749-8228-DEBC4A9B8FF7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1DA10C-949F-5645-A257-226241BF7045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FCC6E8-5D67-2840-BCB1-5DBA89F6DD26}"/>
                </a:ext>
              </a:extLst>
            </p:cNvPr>
            <p:cNvSpPr/>
            <p:nvPr/>
          </p:nvSpPr>
          <p:spPr>
            <a:xfrm>
              <a:off x="7043489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A76D03-2893-5B47-BAA4-CC26C80F7254}"/>
                </a:ext>
              </a:extLst>
            </p:cNvPr>
            <p:cNvSpPr/>
            <p:nvPr/>
          </p:nvSpPr>
          <p:spPr>
            <a:xfrm>
              <a:off x="8404951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4EF0DD-1759-7F4E-8ECA-47867518434C}"/>
              </a:ext>
            </a:extLst>
          </p:cNvPr>
          <p:cNvGrpSpPr/>
          <p:nvPr/>
        </p:nvGrpSpPr>
        <p:grpSpPr>
          <a:xfrm>
            <a:off x="3316358" y="4354253"/>
            <a:ext cx="5517290" cy="392116"/>
            <a:chOff x="2959100" y="2735226"/>
            <a:chExt cx="6436449" cy="51902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92D9B0F-EB09-7F4F-9AEB-55FC58EA1EA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763C4D7-BA68-2B4A-BED3-6E00AE6434AE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853EF2-B80D-284A-BA23-A4B3A5B77A07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F18C55D-FF8C-CA44-9AE5-CBEF13C56FE5}"/>
                </a:ext>
              </a:extLst>
            </p:cNvPr>
            <p:cNvSpPr/>
            <p:nvPr/>
          </p:nvSpPr>
          <p:spPr>
            <a:xfrm>
              <a:off x="7040074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EC374D-2E3D-ED44-AA4B-BED8ECA23EF2}"/>
                </a:ext>
              </a:extLst>
            </p:cNvPr>
            <p:cNvSpPr/>
            <p:nvPr/>
          </p:nvSpPr>
          <p:spPr>
            <a:xfrm>
              <a:off x="8404949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D77E088-2608-9041-B249-AD61D1F17F82}"/>
              </a:ext>
            </a:extLst>
          </p:cNvPr>
          <p:cNvGrpSpPr/>
          <p:nvPr/>
        </p:nvGrpSpPr>
        <p:grpSpPr>
          <a:xfrm>
            <a:off x="3316357" y="5012677"/>
            <a:ext cx="5517290" cy="390631"/>
            <a:chOff x="2959100" y="2742577"/>
            <a:chExt cx="6436449" cy="51706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A86137B-1F19-3C48-9B71-C1D7DE30C3ED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BBBDAB-C959-B345-87C8-C19ECFBBADB1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68E6811-E68E-A14F-98E9-ED955FA0EF2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DE56583-052F-0544-AEAD-2FAE6E54C5D4}"/>
                </a:ext>
              </a:extLst>
            </p:cNvPr>
            <p:cNvSpPr/>
            <p:nvPr/>
          </p:nvSpPr>
          <p:spPr>
            <a:xfrm>
              <a:off x="7040394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7835D1-444D-A04A-84F0-F2F26CCC4A3E}"/>
                </a:ext>
              </a:extLst>
            </p:cNvPr>
            <p:cNvSpPr/>
            <p:nvPr/>
          </p:nvSpPr>
          <p:spPr>
            <a:xfrm>
              <a:off x="8404949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7252448-50FE-9B44-B193-631FF237A454}"/>
              </a:ext>
            </a:extLst>
          </p:cNvPr>
          <p:cNvGrpSpPr/>
          <p:nvPr/>
        </p:nvGrpSpPr>
        <p:grpSpPr>
          <a:xfrm>
            <a:off x="3316357" y="5659374"/>
            <a:ext cx="5517290" cy="424658"/>
            <a:chOff x="2959100" y="2742577"/>
            <a:chExt cx="6436449" cy="5621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01C41E7-8EE7-BE4D-87D8-4A07E3A51D6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34C73B9-3881-3C49-888A-D04941F1FC16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C97176F-CFC7-5F43-A30F-D8E2F2FD1F3F}"/>
                </a:ext>
              </a:extLst>
            </p:cNvPr>
            <p:cNvSpPr/>
            <p:nvPr/>
          </p:nvSpPr>
          <p:spPr>
            <a:xfrm>
              <a:off x="7040074" y="2768874"/>
              <a:ext cx="990600" cy="511675"/>
            </a:xfrm>
            <a:prstGeom prst="rect">
              <a:avLst/>
            </a:prstGeom>
            <a:solidFill>
              <a:srgbClr val="8635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BB63F2B-BA2E-6F4A-9EAD-1E639CA624E7}"/>
                </a:ext>
              </a:extLst>
            </p:cNvPr>
            <p:cNvSpPr/>
            <p:nvPr/>
          </p:nvSpPr>
          <p:spPr>
            <a:xfrm>
              <a:off x="8404949" y="2793004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B17A318-92AC-9C4D-8331-5C362DA941A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21BC2EC-1C22-0D47-B700-C6EC5A8B61CE}"/>
              </a:ext>
            </a:extLst>
          </p:cNvPr>
          <p:cNvCxnSpPr>
            <a:cxnSpLocks/>
            <a:stCxn id="29" idx="2"/>
            <a:endCxn id="69" idx="0"/>
          </p:cNvCxnSpPr>
          <p:nvPr/>
        </p:nvCxnSpPr>
        <p:spPr>
          <a:xfrm rot="5400000">
            <a:off x="5213427" y="3346962"/>
            <a:ext cx="1183864" cy="612685"/>
          </a:xfrm>
          <a:prstGeom prst="bentConnector3">
            <a:avLst>
              <a:gd name="adj1" fmla="val 50000"/>
            </a:avLst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BA59E-AE25-3D41-94A9-55882E709106}"/>
              </a:ext>
            </a:extLst>
          </p:cNvPr>
          <p:cNvSpPr/>
          <p:nvPr/>
        </p:nvSpPr>
        <p:spPr>
          <a:xfrm>
            <a:off x="3165067" y="3512124"/>
            <a:ext cx="5786849" cy="2718793"/>
          </a:xfrm>
          <a:prstGeom prst="rect">
            <a:avLst/>
          </a:prstGeom>
          <a:noFill/>
          <a:ln w="22225" cap="rnd" cmpd="sng">
            <a:solidFill>
              <a:schemeClr val="accent2"/>
            </a:solidFill>
            <a:prstDash val="sysDot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D573F2E-BDD6-FC4C-86EE-67C33F9AB989}"/>
              </a:ext>
            </a:extLst>
          </p:cNvPr>
          <p:cNvSpPr/>
          <p:nvPr/>
        </p:nvSpPr>
        <p:spPr>
          <a:xfrm>
            <a:off x="4377266" y="4245236"/>
            <a:ext cx="2243500" cy="1260705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107F4D-8296-0B49-A19B-696EDD676A71}"/>
              </a:ext>
            </a:extLst>
          </p:cNvPr>
          <p:cNvSpPr/>
          <p:nvPr/>
        </p:nvSpPr>
        <p:spPr>
          <a:xfrm>
            <a:off x="6724387" y="5601111"/>
            <a:ext cx="1022210" cy="532292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9808078-E9C7-6E40-BAB1-EDF2F7E898FA}"/>
              </a:ext>
            </a:extLst>
          </p:cNvPr>
          <p:cNvCxnSpPr>
            <a:cxnSpLocks/>
            <a:stCxn id="69" idx="2"/>
          </p:cNvCxnSpPr>
          <p:nvPr/>
        </p:nvCxnSpPr>
        <p:spPr>
          <a:xfrm rot="16200000" flipH="1">
            <a:off x="5908512" y="5096445"/>
            <a:ext cx="381198" cy="1200190"/>
          </a:xfrm>
          <a:prstGeom prst="bentConnector2">
            <a:avLst/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9D84C3-F56B-6C41-9FAC-E8D1BA8FC920}"/>
              </a:ext>
            </a:extLst>
          </p:cNvPr>
          <p:cNvCxnSpPr>
            <a:cxnSpLocks/>
            <a:stCxn id="23" idx="6"/>
            <a:endCxn id="13" idx="1"/>
          </p:cNvCxnSpPr>
          <p:nvPr/>
        </p:nvCxnSpPr>
        <p:spPr>
          <a:xfrm>
            <a:off x="1830954" y="2998632"/>
            <a:ext cx="1334113" cy="1872889"/>
          </a:xfrm>
          <a:prstGeom prst="bentConnector3">
            <a:avLst>
              <a:gd name="adj1" fmla="val 44923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E796A30-D8CD-324F-99B3-4D8BD6703804}"/>
              </a:ext>
            </a:extLst>
          </p:cNvPr>
          <p:cNvSpPr/>
          <p:nvPr/>
        </p:nvSpPr>
        <p:spPr>
          <a:xfrm>
            <a:off x="5650435" y="5659373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4BCA459-E3A3-284E-AB5C-ECA4DA4A6D57}"/>
              </a:ext>
            </a:extLst>
          </p:cNvPr>
          <p:cNvSpPr/>
          <p:nvPr/>
        </p:nvSpPr>
        <p:spPr>
          <a:xfrm>
            <a:off x="342015" y="4608206"/>
            <a:ext cx="1873641" cy="175135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Insight in Modernization Candidates Within weeks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Based on Technology Risk, Size and  Benchmark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Provides Fact-Based Initial Input for Modernization Assignments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AD2E50B-DC57-014C-9A32-081F2ED80996}"/>
              </a:ext>
            </a:extLst>
          </p:cNvPr>
          <p:cNvSpPr/>
          <p:nvPr/>
        </p:nvSpPr>
        <p:spPr>
          <a:xfrm>
            <a:off x="9894728" y="4604274"/>
            <a:ext cx="1873641" cy="175528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Continuous Multi-Year Governance using the Modernization Road Map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Guidance with the Sigrid Platform and Expert Consultancy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 continuous overview of your progress in your modernization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3" name="Straight Connector 14">
            <a:extLst>
              <a:ext uri="{FF2B5EF4-FFF2-40B4-BE49-F238E27FC236}">
                <a16:creationId xmlns:a16="http://schemas.microsoft.com/office/drawing/2014/main" id="{20E62444-4006-724F-A913-FB3F9472A068}"/>
              </a:ext>
            </a:extLst>
          </p:cNvPr>
          <p:cNvCxnSpPr>
            <a:cxnSpLocks/>
            <a:stCxn id="38" idx="2"/>
            <a:endCxn id="70" idx="3"/>
          </p:cNvCxnSpPr>
          <p:nvPr/>
        </p:nvCxnSpPr>
        <p:spPr>
          <a:xfrm rot="10800000" flipV="1">
            <a:off x="7746597" y="2998631"/>
            <a:ext cx="2491860" cy="2868625"/>
          </a:xfrm>
          <a:prstGeom prst="bentConnector3">
            <a:avLst>
              <a:gd name="adj1" fmla="val 25919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443DFE-0D05-1940-BD5D-83F5CAB76E3C}"/>
              </a:ext>
            </a:extLst>
          </p:cNvPr>
          <p:cNvSpPr/>
          <p:nvPr/>
        </p:nvSpPr>
        <p:spPr>
          <a:xfrm>
            <a:off x="7033095" y="1075206"/>
            <a:ext cx="1873641" cy="185582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A fact-based Modernization Roadmap within two months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Based on SIG’s Unique Architecture Quality Model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Provides detailed per-system modernization scenarios, ready to be used in the transformation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4BD81F7-BDCF-A144-BCD2-F3D2ABC2A112}"/>
              </a:ext>
            </a:extLst>
          </p:cNvPr>
          <p:cNvSpPr/>
          <p:nvPr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C06A79-34BE-5947-B21B-C9DE300C0105}"/>
              </a:ext>
            </a:extLst>
          </p:cNvPr>
          <p:cNvSpPr/>
          <p:nvPr/>
        </p:nvSpPr>
        <p:spPr>
          <a:xfrm>
            <a:off x="7988358" y="5679240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4" name="Footer Placeholder 3">
            <a:extLst>
              <a:ext uri="{FF2B5EF4-FFF2-40B4-BE49-F238E27FC236}">
                <a16:creationId xmlns:a16="http://schemas.microsoft.com/office/drawing/2014/main" id="{A155D93F-407B-CD43-B610-142636DA4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387607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18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121" grpId="0" animBg="1"/>
      <p:bldP spid="122" grpId="0" animBg="1"/>
      <p:bldP spid="1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48EB1-A754-5A0F-8F3A-4D8167E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CFEE5-8B4D-BCC2-0FE2-5BF793497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143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3A967A-0A83-C495-346F-AEBDF6AB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Modernization plan: Management summary 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44233C7-740C-C72D-4C88-FB362A263B7B}"/>
              </a:ext>
            </a:extLst>
          </p:cNvPr>
          <p:cNvSpPr/>
          <p:nvPr/>
        </p:nvSpPr>
        <p:spPr>
          <a:xfrm>
            <a:off x="3193634" y="2893888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D24529C-DAE6-8596-14D8-55515B1524D4}"/>
              </a:ext>
            </a:extLst>
          </p:cNvPr>
          <p:cNvSpPr/>
          <p:nvPr/>
        </p:nvSpPr>
        <p:spPr>
          <a:xfrm>
            <a:off x="3193634" y="4065644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191D14-9172-C235-983B-F2675F67A7B2}"/>
              </a:ext>
            </a:extLst>
          </p:cNvPr>
          <p:cNvGrpSpPr/>
          <p:nvPr/>
        </p:nvGrpSpPr>
        <p:grpSpPr>
          <a:xfrm>
            <a:off x="3175467" y="4160857"/>
            <a:ext cx="5513433" cy="988601"/>
            <a:chOff x="3175467" y="3718593"/>
            <a:chExt cx="5513433" cy="98860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6E004EC-5DD7-630E-DD97-73BB105447D9}"/>
                </a:ext>
              </a:extLst>
            </p:cNvPr>
            <p:cNvSpPr/>
            <p:nvPr/>
          </p:nvSpPr>
          <p:spPr>
            <a:xfrm flipH="1">
              <a:off x="4585215" y="4205625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09308EB-33D2-D378-2B71-06F03D8AC3BF}"/>
                </a:ext>
              </a:extLst>
            </p:cNvPr>
            <p:cNvSpPr/>
            <p:nvPr/>
          </p:nvSpPr>
          <p:spPr>
            <a:xfrm>
              <a:off x="6526029" y="3991186"/>
              <a:ext cx="378144" cy="301667"/>
            </a:xfrm>
            <a:custGeom>
              <a:avLst/>
              <a:gdLst>
                <a:gd name="connsiteX0" fmla="*/ 184470 w 343767"/>
                <a:gd name="connsiteY0" fmla="*/ 294400 h 301667"/>
                <a:gd name="connsiteX1" fmla="*/ 159298 w 343767"/>
                <a:gd name="connsiteY1" fmla="*/ 294400 h 301667"/>
                <a:gd name="connsiteX2" fmla="*/ 1966 w 343767"/>
                <a:gd name="connsiteY2" fmla="*/ 21807 h 301667"/>
                <a:gd name="connsiteX3" fmla="*/ 14552 w 343767"/>
                <a:gd name="connsiteY3" fmla="*/ 0 h 301667"/>
                <a:gd name="connsiteX4" fmla="*/ 329216 w 343767"/>
                <a:gd name="connsiteY4" fmla="*/ 0 h 301667"/>
                <a:gd name="connsiteX5" fmla="*/ 341802 w 343767"/>
                <a:gd name="connsiteY5" fmla="*/ 21807 h 301667"/>
                <a:gd name="connsiteX6" fmla="*/ 184470 w 343767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7" h="301667">
                  <a:moveTo>
                    <a:pt x="184470" y="294400"/>
                  </a:moveTo>
                  <a:cubicBezTo>
                    <a:pt x="178874" y="304090"/>
                    <a:pt x="164894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1762 PY
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80FF2A0-2A6E-3FEB-983A-AF96E9799909}"/>
                </a:ext>
              </a:extLst>
            </p:cNvPr>
            <p:cNvSpPr txBox="1"/>
            <p:nvPr/>
          </p:nvSpPr>
          <p:spPr>
            <a:xfrm>
              <a:off x="8212338" y="4211799"/>
              <a:ext cx="476562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E17526"/>
                  </a:solidFill>
                </a:rPr>
                <a:t>High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723BDF-6B35-4615-25B1-A780E66F8EDE}"/>
                </a:ext>
              </a:extLst>
            </p:cNvPr>
            <p:cNvGrpSpPr/>
            <p:nvPr/>
          </p:nvGrpSpPr>
          <p:grpSpPr>
            <a:xfrm>
              <a:off x="3175467" y="3718593"/>
              <a:ext cx="1090012" cy="988601"/>
              <a:chOff x="3175467" y="3718593"/>
              <a:chExt cx="1090012" cy="988601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D8219B0-F329-793E-CC73-F3C72202561E}"/>
                  </a:ext>
                </a:extLst>
              </p:cNvPr>
              <p:cNvSpPr/>
              <p:nvPr/>
            </p:nvSpPr>
            <p:spPr>
              <a:xfrm>
                <a:off x="3175467" y="371859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AF88E4A-3FC6-78C6-09AF-810DBCFED102}"/>
                  </a:ext>
                </a:extLst>
              </p:cNvPr>
              <p:cNvSpPr txBox="1"/>
              <p:nvPr/>
            </p:nvSpPr>
            <p:spPr>
              <a:xfrm>
                <a:off x="3175467" y="4416584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Renovation effort</a:t>
                </a: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ED4C63B-3DE4-5CA5-C815-046602139C1B}"/>
                  </a:ext>
                </a:extLst>
              </p:cNvPr>
              <p:cNvSpPr/>
              <p:nvPr/>
            </p:nvSpPr>
            <p:spPr>
              <a:xfrm>
                <a:off x="3582405" y="3877209"/>
                <a:ext cx="277167" cy="436147"/>
              </a:xfrm>
              <a:custGeom>
                <a:avLst/>
                <a:gdLst>
                  <a:gd name="connsiteX0" fmla="*/ 266486 w 277167"/>
                  <a:gd name="connsiteY0" fmla="*/ 327097 h 436147"/>
                  <a:gd name="connsiteX1" fmla="*/ 237092 w 277167"/>
                  <a:gd name="connsiteY1" fmla="*/ 360840 h 436147"/>
                  <a:gd name="connsiteX2" fmla="*/ 192336 w 277167"/>
                  <a:gd name="connsiteY2" fmla="*/ 381259 h 436147"/>
                  <a:gd name="connsiteX3" fmla="*/ 168741 w 277167"/>
                  <a:gd name="connsiteY3" fmla="*/ 385598 h 436147"/>
                  <a:gd name="connsiteX4" fmla="*/ 168741 w 277167"/>
                  <a:gd name="connsiteY4" fmla="*/ 436148 h 436147"/>
                  <a:gd name="connsiteX5" fmla="*/ 108427 w 277167"/>
                  <a:gd name="connsiteY5" fmla="*/ 436148 h 436147"/>
                  <a:gd name="connsiteX6" fmla="*/ 108427 w 277167"/>
                  <a:gd name="connsiteY6" fmla="*/ 386609 h 436147"/>
                  <a:gd name="connsiteX7" fmla="*/ 59369 w 277167"/>
                  <a:gd name="connsiteY7" fmla="*/ 378220 h 436147"/>
                  <a:gd name="connsiteX8" fmla="*/ 4856 w 277167"/>
                  <a:gd name="connsiteY8" fmla="*/ 345638 h 436147"/>
                  <a:gd name="connsiteX9" fmla="*/ 79 w 277167"/>
                  <a:gd name="connsiteY9" fmla="*/ 338372 h 436147"/>
                  <a:gd name="connsiteX10" fmla="*/ 2900 w 277167"/>
                  <a:gd name="connsiteY10" fmla="*/ 330119 h 436147"/>
                  <a:gd name="connsiteX11" fmla="*/ 33117 w 277167"/>
                  <a:gd name="connsiteY11" fmla="*/ 299878 h 436147"/>
                  <a:gd name="connsiteX12" fmla="*/ 45345 w 277167"/>
                  <a:gd name="connsiteY12" fmla="*/ 298440 h 436147"/>
                  <a:gd name="connsiteX13" fmla="*/ 85101 w 277167"/>
                  <a:gd name="connsiteY13" fmla="*/ 322771 h 436147"/>
                  <a:gd name="connsiteX14" fmla="*/ 136208 w 277167"/>
                  <a:gd name="connsiteY14" fmla="*/ 329773 h 436147"/>
                  <a:gd name="connsiteX15" fmla="*/ 189313 w 277167"/>
                  <a:gd name="connsiteY15" fmla="*/ 318432 h 436147"/>
                  <a:gd name="connsiteX16" fmla="*/ 210365 w 277167"/>
                  <a:gd name="connsiteY16" fmla="*/ 282974 h 436147"/>
                  <a:gd name="connsiteX17" fmla="*/ 200002 w 277167"/>
                  <a:gd name="connsiteY17" fmla="*/ 255554 h 436147"/>
                  <a:gd name="connsiteX18" fmla="*/ 164926 w 277167"/>
                  <a:gd name="connsiteY18" fmla="*/ 242870 h 436147"/>
                  <a:gd name="connsiteX19" fmla="*/ 110796 w 277167"/>
                  <a:gd name="connsiteY19" fmla="*/ 238211 h 436147"/>
                  <a:gd name="connsiteX20" fmla="*/ 36656 w 277167"/>
                  <a:gd name="connsiteY20" fmla="*/ 211484 h 436147"/>
                  <a:gd name="connsiteX21" fmla="*/ 10590 w 277167"/>
                  <a:gd name="connsiteY21" fmla="*/ 144653 h 436147"/>
                  <a:gd name="connsiteX22" fmla="*/ 20610 w 277167"/>
                  <a:gd name="connsiteY22" fmla="*/ 100531 h 436147"/>
                  <a:gd name="connsiteX23" fmla="*/ 48006 w 277167"/>
                  <a:gd name="connsiteY23" fmla="*/ 67801 h 436147"/>
                  <a:gd name="connsiteX24" fmla="*/ 88429 w 277167"/>
                  <a:gd name="connsiteY24" fmla="*/ 47755 h 436147"/>
                  <a:gd name="connsiteX25" fmla="*/ 108427 w 277167"/>
                  <a:gd name="connsiteY25" fmla="*/ 43549 h 436147"/>
                  <a:gd name="connsiteX26" fmla="*/ 108427 w 277167"/>
                  <a:gd name="connsiteY26" fmla="*/ 0 h 436147"/>
                  <a:gd name="connsiteX27" fmla="*/ 168741 w 277167"/>
                  <a:gd name="connsiteY27" fmla="*/ 0 h 436147"/>
                  <a:gd name="connsiteX28" fmla="*/ 168741 w 277167"/>
                  <a:gd name="connsiteY28" fmla="*/ 42673 h 436147"/>
                  <a:gd name="connsiteX29" fmla="*/ 208686 w 277167"/>
                  <a:gd name="connsiteY29" fmla="*/ 49754 h 436147"/>
                  <a:gd name="connsiteX30" fmla="*/ 252061 w 277167"/>
                  <a:gd name="connsiteY30" fmla="*/ 72914 h 436147"/>
                  <a:gd name="connsiteX31" fmla="*/ 257213 w 277167"/>
                  <a:gd name="connsiteY31" fmla="*/ 80155 h 436147"/>
                  <a:gd name="connsiteX32" fmla="*/ 254474 w 277167"/>
                  <a:gd name="connsiteY32" fmla="*/ 88647 h 436147"/>
                  <a:gd name="connsiteX33" fmla="*/ 226134 w 277167"/>
                  <a:gd name="connsiteY33" fmla="*/ 117423 h 436147"/>
                  <a:gd name="connsiteX34" fmla="*/ 214580 w 277167"/>
                  <a:gd name="connsiteY34" fmla="*/ 119287 h 436147"/>
                  <a:gd name="connsiteX35" fmla="*/ 183296 w 277167"/>
                  <a:gd name="connsiteY35" fmla="*/ 103555 h 436147"/>
                  <a:gd name="connsiteX36" fmla="*/ 137552 w 277167"/>
                  <a:gd name="connsiteY36" fmla="*/ 97857 h 436147"/>
                  <a:gd name="connsiteX37" fmla="*/ 91118 w 277167"/>
                  <a:gd name="connsiteY37" fmla="*/ 109876 h 436147"/>
                  <a:gd name="connsiteX38" fmla="*/ 76112 w 277167"/>
                  <a:gd name="connsiteY38" fmla="*/ 141288 h 436147"/>
                  <a:gd name="connsiteX39" fmla="*/ 86779 w 277167"/>
                  <a:gd name="connsiteY39" fmla="*/ 168001 h 436147"/>
                  <a:gd name="connsiteX40" fmla="*/ 122851 w 277167"/>
                  <a:gd name="connsiteY40" fmla="*/ 180034 h 436147"/>
                  <a:gd name="connsiteX41" fmla="*/ 170289 w 277167"/>
                  <a:gd name="connsiteY41" fmla="*/ 184080 h 436147"/>
                  <a:gd name="connsiteX42" fmla="*/ 250107 w 277167"/>
                  <a:gd name="connsiteY42" fmla="*/ 212125 h 436147"/>
                  <a:gd name="connsiteX43" fmla="*/ 277168 w 277167"/>
                  <a:gd name="connsiteY43" fmla="*/ 280286 h 436147"/>
                  <a:gd name="connsiteX44" fmla="*/ 266486 w 277167"/>
                  <a:gd name="connsiteY44" fmla="*/ 327097 h 436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77167" h="436147">
                    <a:moveTo>
                      <a:pt x="266486" y="327097"/>
                    </a:moveTo>
                    <a:cubicBezTo>
                      <a:pt x="259343" y="340501"/>
                      <a:pt x="249525" y="351681"/>
                      <a:pt x="237092" y="360840"/>
                    </a:cubicBezTo>
                    <a:cubicBezTo>
                      <a:pt x="224615" y="369970"/>
                      <a:pt x="209682" y="376774"/>
                      <a:pt x="192336" y="381259"/>
                    </a:cubicBezTo>
                    <a:cubicBezTo>
                      <a:pt x="184750" y="383170"/>
                      <a:pt x="176807" y="384508"/>
                      <a:pt x="168741" y="385598"/>
                    </a:cubicBezTo>
                    <a:lnTo>
                      <a:pt x="168741" y="436148"/>
                    </a:lnTo>
                    <a:lnTo>
                      <a:pt x="108427" y="436148"/>
                    </a:lnTo>
                    <a:lnTo>
                      <a:pt x="108427" y="386609"/>
                    </a:lnTo>
                    <a:cubicBezTo>
                      <a:pt x="91248" y="385155"/>
                      <a:pt x="74833" y="382480"/>
                      <a:pt x="59369" y="378220"/>
                    </a:cubicBezTo>
                    <a:cubicBezTo>
                      <a:pt x="35765" y="371751"/>
                      <a:pt x="4856" y="345638"/>
                      <a:pt x="4856" y="345638"/>
                    </a:cubicBezTo>
                    <a:cubicBezTo>
                      <a:pt x="2208" y="344094"/>
                      <a:pt x="451" y="341379"/>
                      <a:pt x="79" y="338372"/>
                    </a:cubicBezTo>
                    <a:cubicBezTo>
                      <a:pt x="-307" y="335337"/>
                      <a:pt x="732" y="332276"/>
                      <a:pt x="2900" y="330119"/>
                    </a:cubicBezTo>
                    <a:lnTo>
                      <a:pt x="33117" y="299878"/>
                    </a:lnTo>
                    <a:cubicBezTo>
                      <a:pt x="36377" y="296657"/>
                      <a:pt x="41434" y="296045"/>
                      <a:pt x="45345" y="298440"/>
                    </a:cubicBezTo>
                    <a:cubicBezTo>
                      <a:pt x="45345" y="298440"/>
                      <a:pt x="67966" y="318086"/>
                      <a:pt x="85101" y="322771"/>
                    </a:cubicBezTo>
                    <a:cubicBezTo>
                      <a:pt x="102243" y="327430"/>
                      <a:pt x="119247" y="329773"/>
                      <a:pt x="136208" y="329773"/>
                    </a:cubicBezTo>
                    <a:cubicBezTo>
                      <a:pt x="157608" y="329773"/>
                      <a:pt x="175288" y="325992"/>
                      <a:pt x="189313" y="318432"/>
                    </a:cubicBezTo>
                    <a:cubicBezTo>
                      <a:pt x="203367" y="310819"/>
                      <a:pt x="210365" y="299053"/>
                      <a:pt x="210365" y="282974"/>
                    </a:cubicBezTo>
                    <a:cubicBezTo>
                      <a:pt x="210365" y="271394"/>
                      <a:pt x="206935" y="262263"/>
                      <a:pt x="200002" y="255554"/>
                    </a:cubicBezTo>
                    <a:cubicBezTo>
                      <a:pt x="193092" y="248899"/>
                      <a:pt x="181414" y="244707"/>
                      <a:pt x="164926" y="242870"/>
                    </a:cubicBezTo>
                    <a:lnTo>
                      <a:pt x="110796" y="238211"/>
                    </a:lnTo>
                    <a:cubicBezTo>
                      <a:pt x="78742" y="235083"/>
                      <a:pt x="54021" y="226138"/>
                      <a:pt x="36656" y="211484"/>
                    </a:cubicBezTo>
                    <a:cubicBezTo>
                      <a:pt x="19239" y="196776"/>
                      <a:pt x="10590" y="174469"/>
                      <a:pt x="10590" y="144653"/>
                    </a:cubicBezTo>
                    <a:cubicBezTo>
                      <a:pt x="10590" y="128149"/>
                      <a:pt x="13916" y="113454"/>
                      <a:pt x="20610" y="100531"/>
                    </a:cubicBezTo>
                    <a:cubicBezTo>
                      <a:pt x="27316" y="87606"/>
                      <a:pt x="36417" y="76692"/>
                      <a:pt x="48006" y="67801"/>
                    </a:cubicBezTo>
                    <a:cubicBezTo>
                      <a:pt x="59580" y="58883"/>
                      <a:pt x="73074" y="52200"/>
                      <a:pt x="88429" y="47755"/>
                    </a:cubicBezTo>
                    <a:cubicBezTo>
                      <a:pt x="94860" y="45891"/>
                      <a:pt x="101589" y="44667"/>
                      <a:pt x="108427" y="43549"/>
                    </a:cubicBezTo>
                    <a:lnTo>
                      <a:pt x="108427" y="0"/>
                    </a:lnTo>
                    <a:lnTo>
                      <a:pt x="168741" y="0"/>
                    </a:lnTo>
                    <a:lnTo>
                      <a:pt x="168741" y="42673"/>
                    </a:lnTo>
                    <a:cubicBezTo>
                      <a:pt x="182824" y="44057"/>
                      <a:pt x="196216" y="46320"/>
                      <a:pt x="208686" y="49754"/>
                    </a:cubicBezTo>
                    <a:cubicBezTo>
                      <a:pt x="229840" y="55530"/>
                      <a:pt x="252061" y="72914"/>
                      <a:pt x="252061" y="72914"/>
                    </a:cubicBezTo>
                    <a:cubicBezTo>
                      <a:pt x="254845" y="74352"/>
                      <a:pt x="256734" y="77067"/>
                      <a:pt x="257213" y="80155"/>
                    </a:cubicBezTo>
                    <a:cubicBezTo>
                      <a:pt x="257693" y="83296"/>
                      <a:pt x="256669" y="86385"/>
                      <a:pt x="254474" y="88647"/>
                    </a:cubicBezTo>
                    <a:lnTo>
                      <a:pt x="226134" y="117423"/>
                    </a:lnTo>
                    <a:cubicBezTo>
                      <a:pt x="223111" y="120485"/>
                      <a:pt x="218438" y="121283"/>
                      <a:pt x="214580" y="119287"/>
                    </a:cubicBezTo>
                    <a:cubicBezTo>
                      <a:pt x="214580" y="119287"/>
                      <a:pt x="197801" y="107335"/>
                      <a:pt x="183296" y="103555"/>
                    </a:cubicBezTo>
                    <a:cubicBezTo>
                      <a:pt x="168806" y="99774"/>
                      <a:pt x="153590" y="97857"/>
                      <a:pt x="137552" y="97857"/>
                    </a:cubicBezTo>
                    <a:cubicBezTo>
                      <a:pt x="116595" y="97857"/>
                      <a:pt x="101109" y="101877"/>
                      <a:pt x="91118" y="109876"/>
                    </a:cubicBezTo>
                    <a:cubicBezTo>
                      <a:pt x="81082" y="117929"/>
                      <a:pt x="76112" y="128390"/>
                      <a:pt x="76112" y="141288"/>
                    </a:cubicBezTo>
                    <a:cubicBezTo>
                      <a:pt x="76112" y="152908"/>
                      <a:pt x="79607" y="161799"/>
                      <a:pt x="86779" y="168001"/>
                    </a:cubicBezTo>
                    <a:cubicBezTo>
                      <a:pt x="93901" y="174257"/>
                      <a:pt x="105913" y="178316"/>
                      <a:pt x="122851" y="180034"/>
                    </a:cubicBezTo>
                    <a:lnTo>
                      <a:pt x="170289" y="184080"/>
                    </a:lnTo>
                    <a:cubicBezTo>
                      <a:pt x="205453" y="187195"/>
                      <a:pt x="232078" y="196538"/>
                      <a:pt x="250107" y="212125"/>
                    </a:cubicBezTo>
                    <a:cubicBezTo>
                      <a:pt x="268165" y="227737"/>
                      <a:pt x="277168" y="250472"/>
                      <a:pt x="277168" y="280286"/>
                    </a:cubicBezTo>
                    <a:cubicBezTo>
                      <a:pt x="277175" y="298162"/>
                      <a:pt x="273607" y="313720"/>
                      <a:pt x="266486" y="327097"/>
                    </a:cubicBezTo>
                    <a:close/>
                  </a:path>
                </a:pathLst>
              </a:custGeom>
              <a:noFill/>
              <a:ln w="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F66163-B57E-3B36-7B32-0E916195F142}"/>
                </a:ext>
              </a:extLst>
            </p:cNvPr>
            <p:cNvSpPr txBox="1"/>
            <p:nvPr/>
          </p:nvSpPr>
          <p:spPr>
            <a:xfrm>
              <a:off x="4481963" y="4211799"/>
              <a:ext cx="447387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Low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1AA58A-1827-0E81-71E9-3143BF0EBE18}"/>
              </a:ext>
            </a:extLst>
          </p:cNvPr>
          <p:cNvGrpSpPr/>
          <p:nvPr/>
        </p:nvGrpSpPr>
        <p:grpSpPr>
          <a:xfrm>
            <a:off x="3175467" y="2989100"/>
            <a:ext cx="5513433" cy="988601"/>
            <a:chOff x="3175467" y="2555533"/>
            <a:chExt cx="5513433" cy="988601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2AF553E-630F-A3D7-EEE7-C3302EE3FBAC}"/>
                </a:ext>
              </a:extLst>
            </p:cNvPr>
            <p:cNvSpPr/>
            <p:nvPr/>
          </p:nvSpPr>
          <p:spPr>
            <a:xfrm>
              <a:off x="4585215" y="3042564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AFD0732-87D6-6F51-90E0-5730B444D262}"/>
                </a:ext>
              </a:extLst>
            </p:cNvPr>
            <p:cNvSpPr/>
            <p:nvPr/>
          </p:nvSpPr>
          <p:spPr>
            <a:xfrm>
              <a:off x="7384572" y="2806318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+ 75%
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D70E39-AF26-E925-204C-B75F716B4191}"/>
                </a:ext>
              </a:extLst>
            </p:cNvPr>
            <p:cNvGrpSpPr/>
            <p:nvPr/>
          </p:nvGrpSpPr>
          <p:grpSpPr>
            <a:xfrm>
              <a:off x="3175467" y="2555533"/>
              <a:ext cx="1090012" cy="988601"/>
              <a:chOff x="3175467" y="2555533"/>
              <a:chExt cx="1090012" cy="988601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C136603-2216-7601-C5DF-D85D8F43160F}"/>
                  </a:ext>
                </a:extLst>
              </p:cNvPr>
              <p:cNvSpPr/>
              <p:nvPr/>
            </p:nvSpPr>
            <p:spPr>
              <a:xfrm>
                <a:off x="3175467" y="255553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3971604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8" name="Graphic 67">
                <a:extLst>
                  <a:ext uri="{FF2B5EF4-FFF2-40B4-BE49-F238E27FC236}">
                    <a16:creationId xmlns:a16="http://schemas.microsoft.com/office/drawing/2014/main" id="{5B8B6CE0-96F1-FE31-6A30-9D720FFCF6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22441" y="2682083"/>
                <a:ext cx="582058" cy="498480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89C0F40-A36E-1F14-8EA9-2B436B82C6AD}"/>
                  </a:ext>
                </a:extLst>
              </p:cNvPr>
              <p:cNvSpPr txBox="1"/>
              <p:nvPr/>
            </p:nvSpPr>
            <p:spPr>
              <a:xfrm>
                <a:off x="3175467" y="3256157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Potential return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2AD63B6-A060-37AC-AE10-A89553C98806}"/>
                </a:ext>
              </a:extLst>
            </p:cNvPr>
            <p:cNvSpPr txBox="1"/>
            <p:nvPr/>
          </p:nvSpPr>
          <p:spPr>
            <a:xfrm>
              <a:off x="4481963" y="3051373"/>
              <a:ext cx="1428296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DF6837"/>
                  </a:solidFill>
                </a:rPr>
                <a:t>Low speed increase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E171B44-7D55-3C69-AF53-2A643B381D0B}"/>
                </a:ext>
              </a:extLst>
            </p:cNvPr>
            <p:cNvSpPr txBox="1"/>
            <p:nvPr/>
          </p:nvSpPr>
          <p:spPr>
            <a:xfrm>
              <a:off x="7231430" y="3051373"/>
              <a:ext cx="145747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High speed increase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83F57-1D7F-B025-D7A5-EA55FD7B6A9D}"/>
              </a:ext>
            </a:extLst>
          </p:cNvPr>
          <p:cNvGrpSpPr/>
          <p:nvPr/>
        </p:nvGrpSpPr>
        <p:grpSpPr>
          <a:xfrm>
            <a:off x="3175467" y="1817344"/>
            <a:ext cx="5513433" cy="988601"/>
            <a:chOff x="3175467" y="1375080"/>
            <a:chExt cx="5513433" cy="9886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D716B20-B5AF-DC6F-3740-306AD6C65D67}"/>
                </a:ext>
              </a:extLst>
            </p:cNvPr>
            <p:cNvGrpSpPr/>
            <p:nvPr/>
          </p:nvGrpSpPr>
          <p:grpSpPr>
            <a:xfrm>
              <a:off x="3175467" y="1375080"/>
              <a:ext cx="1090012" cy="988601"/>
              <a:chOff x="3175467" y="1375080"/>
              <a:chExt cx="1090012" cy="988601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B2E99E9-6FC9-F31E-927C-6F26B225088A}"/>
                  </a:ext>
                </a:extLst>
              </p:cNvPr>
              <p:cNvSpPr/>
              <p:nvPr/>
            </p:nvSpPr>
            <p:spPr>
              <a:xfrm>
                <a:off x="3175467" y="1375080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B66FF"/>
                  </a:gs>
                  <a:gs pos="50000">
                    <a:srgbClr val="183E98"/>
                  </a:gs>
                  <a:gs pos="100000">
                    <a:srgbClr val="151632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9" name="Graphic 68">
                <a:extLst>
                  <a:ext uri="{FF2B5EF4-FFF2-40B4-BE49-F238E27FC236}">
                    <a16:creationId xmlns:a16="http://schemas.microsoft.com/office/drawing/2014/main" id="{E418F06E-C20B-037A-E6C6-026F0159DA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58380" y="1520447"/>
                <a:ext cx="515100" cy="436659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30E433-EC1A-9E7D-C276-49B7EEF215C7}"/>
                  </a:ext>
                </a:extLst>
              </p:cNvPr>
              <p:cNvSpPr txBox="1"/>
              <p:nvPr/>
            </p:nvSpPr>
            <p:spPr>
              <a:xfrm>
                <a:off x="3175467" y="2067739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9000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Portfolio size</a:t>
                </a:r>
              </a:p>
            </p:txBody>
          </p:sp>
        </p:grp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59BC7AE-1850-9CF5-C1C7-5F5104F1B756}"/>
                </a:ext>
              </a:extLst>
            </p:cNvPr>
            <p:cNvSpPr/>
            <p:nvPr/>
          </p:nvSpPr>
          <p:spPr>
            <a:xfrm flipH="1">
              <a:off x="4541614" y="1809446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1436FEF-2734-3E85-C550-879300A56BB7}"/>
                </a:ext>
              </a:extLst>
            </p:cNvPr>
            <p:cNvSpPr/>
            <p:nvPr/>
          </p:nvSpPr>
          <p:spPr>
            <a:xfrm>
              <a:off x="7051315" y="1595006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3315 PY
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4B64E5A-9179-448E-090A-5864C363F480}"/>
                </a:ext>
              </a:extLst>
            </p:cNvPr>
            <p:cNvSpPr txBox="1"/>
            <p:nvPr/>
          </p:nvSpPr>
          <p:spPr>
            <a:xfrm>
              <a:off x="4481963" y="1818652"/>
              <a:ext cx="591978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67E77F"/>
                  </a:solidFill>
                </a:rPr>
                <a:t>Small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2B9148E-E5DB-E38E-63D0-559E35AAA3C9}"/>
                </a:ext>
              </a:extLst>
            </p:cNvPr>
            <p:cNvSpPr txBox="1"/>
            <p:nvPr/>
          </p:nvSpPr>
          <p:spPr>
            <a:xfrm>
              <a:off x="8107374" y="1818652"/>
              <a:ext cx="581526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E17526"/>
                  </a:solidFill>
                </a:rPr>
                <a:t>Large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1EC11-E004-CBAD-A155-7723F3CBB0E7}"/>
              </a:ext>
            </a:extLst>
          </p:cNvPr>
          <p:cNvCxnSpPr/>
          <p:nvPr/>
        </p:nvCxnSpPr>
        <p:spPr>
          <a:xfrm>
            <a:off x="4578340" y="5430348"/>
            <a:ext cx="4103685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0E78637-2D76-EC46-D7A6-73BC4FE90B2F}"/>
              </a:ext>
            </a:extLst>
          </p:cNvPr>
          <p:cNvSpPr txBox="1"/>
          <p:nvPr/>
        </p:nvSpPr>
        <p:spPr>
          <a:xfrm>
            <a:off x="4585214" y="5437576"/>
            <a:ext cx="4076641" cy="273023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b="1" dirty="0" err="1">
                <a:solidFill>
                  <a:srgbClr val="8A98A8"/>
                </a:solidFill>
              </a:rPr>
              <a:t>Relative to SIG benchmark</a:t>
            </a:r>
          </a:p>
        </p:txBody>
      </p:sp>
    </p:spTree>
    <p:extLst>
      <p:ext uri="{BB962C8B-B14F-4D97-AF65-F5344CB8AC3E}">
        <p14:creationId xmlns:p14="http://schemas.microsoft.com/office/powerpoint/2010/main" val="287906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F466E-D479-3CDB-520B-7A4B78107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FD1C6-C494-FC62-82C3-C6328C2AC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CD9AF-ACFE-6D22-FD02-CD29B7ED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candidates, prioritized based on estimated technical benefits and effort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712C4A9F-525C-FF71-4862-143F8CB59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22899"/>
              </p:ext>
            </p:extLst>
          </p:nvPr>
        </p:nvGraphicFramePr>
        <p:xfrm>
          <a:off x="937766" y="1466791"/>
          <a:ext cx="10316468" cy="454032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524291">
                  <a:extLst>
                    <a:ext uri="{9D8B030D-6E8A-4147-A177-3AD203B41FA5}">
                      <a16:colId xmlns:a16="http://schemas.microsoft.com/office/drawing/2014/main" val="1413959097"/>
                    </a:ext>
                  </a:extLst>
                </a:gridCol>
                <a:gridCol w="3002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475028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9696306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996317199"/>
                    </a:ext>
                  </a:extLst>
                </a:gridCol>
                <a:gridCol w="1188504">
                  <a:extLst>
                    <a:ext uri="{9D8B030D-6E8A-4147-A177-3AD203B41FA5}">
                      <a16:colId xmlns:a16="http://schemas.microsoft.com/office/drawing/2014/main" val="144622969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#</a:t>
                      </a: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System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Business criticality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Volume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Activity</a:t>
                      </a:r>
                      <a:b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</a:b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last year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Scenario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change speed increase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effort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1.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MongoDB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Critical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224.0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+ 86%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118.7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2.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Elasticsearch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High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262.7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+ 90%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137.0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3.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Oracle GraalVM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High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175.2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REBUILD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+ 85%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175.2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4.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Tensorflow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Medium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260.2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REBUILD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+ 76%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260.2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5.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Google V8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Medium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159.2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+ 82%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79.7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6.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Hadoop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Critical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81.2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+ 78%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33.2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650327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7.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Hibernate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Critical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72.9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+ 82%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30.6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75208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8.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PostgreSQL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Medium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101.0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20.2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+ 104%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90.6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61094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9.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Airflow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Critical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55.5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+ 82%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34.3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333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10.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Artemis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High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76.6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+ 79%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31.3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8195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707320-1A54-86A3-7DF0-F901F78775F8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92 systems.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EED6C-657E-7099-71C4-FD0C6139E50E}"/>
              </a:ext>
            </a:extLst>
          </p:cNvPr>
          <p:cNvSpPr txBox="1"/>
          <p:nvPr/>
        </p:nvSpPr>
        <p:spPr>
          <a:xfrm>
            <a:off x="3958841" y="1138248"/>
            <a:ext cx="119631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tx2"/>
                </a:solidFill>
              </a:rPr>
              <a:t>CURRENT STATE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0DB798-FA76-9B14-5FDF-A59E36050CC7}"/>
              </a:ext>
            </a:extLst>
          </p:cNvPr>
          <p:cNvCxnSpPr>
            <a:cxnSpLocks/>
          </p:cNvCxnSpPr>
          <p:nvPr/>
        </p:nvCxnSpPr>
        <p:spPr>
          <a:xfrm>
            <a:off x="4052807" y="1406672"/>
            <a:ext cx="3566700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09977C-9B37-B465-BD89-5F57AD3E3CB9}"/>
              </a:ext>
            </a:extLst>
          </p:cNvPr>
          <p:cNvCxnSpPr>
            <a:cxnSpLocks/>
          </p:cNvCxnSpPr>
          <p:nvPr/>
        </p:nvCxnSpPr>
        <p:spPr>
          <a:xfrm>
            <a:off x="7710407" y="1406672"/>
            <a:ext cx="4035259" cy="0"/>
          </a:xfrm>
          <a:prstGeom prst="line">
            <a:avLst/>
          </a:prstGeom>
          <a:ln w="254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9F55D8-8B2C-4187-3FF2-F344D659CEDF}"/>
              </a:ext>
            </a:extLst>
          </p:cNvPr>
          <p:cNvSpPr txBox="1"/>
          <p:nvPr/>
        </p:nvSpPr>
        <p:spPr>
          <a:xfrm>
            <a:off x="7619507" y="1138248"/>
            <a:ext cx="1992746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accent3"/>
                </a:solidFill>
              </a:rPr>
              <a:t>MODERNIZATION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46098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8F9F4-ED89-F956-1891-100EADA18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2B7C7-F4EF-4C86-EE64-B11C541DC5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56A6D8-09CB-7545-730D-D92AAEE7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Systems with the most technical debt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AD63-FD9D-D60C-90D1-A55EE503E9B1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92 systems.</a:t>
            </a:r>
          </a:p>
        </p:txBody>
      </p:sp>
      <p:graphicFrame>
        <p:nvGraphicFramePr>
          <p:cNvPr id="8" name="TECHNICAL_DEBT_SYSTEMS_CHART&#13;&#10;">
            <a:extLst>
              <a:ext uri="{FF2B5EF4-FFF2-40B4-BE49-F238E27FC236}">
                <a16:creationId xmlns:a16="http://schemas.microsoft.com/office/drawing/2014/main" id="{220D7F51-72F0-DC6F-B733-E9F269FA9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91413"/>
              </p:ext>
            </p:extLst>
          </p:nvPr>
        </p:nvGraphicFramePr>
        <p:xfrm>
          <a:off x="478224" y="1483096"/>
          <a:ext cx="11267443" cy="419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BA8D1-8150-E6E3-849C-0B4B4196A999}"/>
              </a:ext>
            </a:extLst>
          </p:cNvPr>
          <p:cNvSpPr txBox="1"/>
          <p:nvPr/>
        </p:nvSpPr>
        <p:spPr>
          <a:xfrm>
            <a:off x="9880522" y="1193593"/>
            <a:ext cx="198447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Code volume in person years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A5188-42F3-957B-3D03-356F5A986459}"/>
              </a:ext>
            </a:extLst>
          </p:cNvPr>
          <p:cNvSpPr txBox="1"/>
          <p:nvPr/>
        </p:nvSpPr>
        <p:spPr>
          <a:xfrm>
            <a:off x="7807069" y="5618547"/>
            <a:ext cx="3768681" cy="32092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E17526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Technical debt        </a:t>
            </a:r>
            <a:r>
              <a:rPr lang="en-US" sz="1400" dirty="0" err="1">
                <a:solidFill>
                  <a:srgbClr val="C0CEDA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Remaining code volume</a:t>
            </a:r>
          </a:p>
        </p:txBody>
      </p:sp>
    </p:spTree>
    <p:extLst>
      <p:ext uri="{BB962C8B-B14F-4D97-AF65-F5344CB8AC3E}">
        <p14:creationId xmlns:p14="http://schemas.microsoft.com/office/powerpoint/2010/main" val="61007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F886-A81C-4A0E-6FCD-3BE49FCA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41744-6095-9476-FF65-F52E3A93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F57BF-8092-E114-5769-D4C82E742F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00AE25-DFA8-CE88-5B65-AEFB781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candidates: Estimated technical benefits versus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E3CDC-A5AE-B588-AF02-77F4F7158C1C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92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D329B-7B5E-5594-AA10-E59357E3F4A1}"/>
              </a:ext>
            </a:extLst>
          </p:cNvPr>
          <p:cNvSpPr txBox="1"/>
          <p:nvPr/>
        </p:nvSpPr>
        <p:spPr>
          <a:xfrm>
            <a:off x="1915875" y="1454041"/>
            <a:ext cx="1289605" cy="49815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change</a:t>
            </a:r>
            <a:br>
              <a:rPr lang="en-US" sz="1200" dirty="0" err="1">
                <a:solidFill>
                  <a:schemeClr val="tx2"/>
                </a:solidFill>
              </a:rPr>
            </a:br>
            <a:r>
              <a:rPr lang="en-US" sz="1200" dirty="0" err="1">
                <a:solidFill>
                  <a:schemeClr val="tx2"/>
                </a:solidFill>
              </a:rPr>
              <a:t>speed increase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D4FAD-46DE-E90D-A6F1-58C401FBAA15}"/>
              </a:ext>
            </a:extLst>
          </p:cNvPr>
          <p:cNvSpPr txBox="1"/>
          <p:nvPr/>
        </p:nvSpPr>
        <p:spPr>
          <a:xfrm>
            <a:off x="8986520" y="5830039"/>
            <a:ext cx="2172218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effort in person years</a:t>
            </a:r>
          </a:p>
        </p:txBody>
      </p:sp>
      <p:graphicFrame>
        <p:nvGraphicFramePr>
          <p:cNvPr id="10" name="MODERNIZATION_SCATTER_PLOT_CHART&#13;&#10;">
            <a:extLst>
              <a:ext uri="{FF2B5EF4-FFF2-40B4-BE49-F238E27FC236}">
                <a16:creationId xmlns:a16="http://schemas.microsoft.com/office/drawing/2014/main" id="{FA04012A-8076-57D9-16E6-FD4DB5AAB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179552"/>
              </p:ext>
            </p:extLst>
          </p:nvPr>
        </p:nvGraphicFramePr>
        <p:xfrm>
          <a:off x="3205480" y="1258969"/>
          <a:ext cx="5781040" cy="488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C59350-5BAE-C14A-E256-A8547FC717B5}"/>
              </a:ext>
            </a:extLst>
          </p:cNvPr>
          <p:cNvSpPr txBox="1"/>
          <p:nvPr/>
        </p:nvSpPr>
        <p:spPr>
          <a:xfrm>
            <a:off x="8989693" y="2764630"/>
            <a:ext cx="1559166" cy="153824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b="1" dirty="0" err="1">
                <a:solidFill>
                  <a:schemeClr val="tx2"/>
                </a:solidFill>
              </a:rPr>
              <a:t>Business criticality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003DAB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Critical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2E6B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High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DA8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Medium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DBE1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Low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A98A8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Unknown</a:t>
            </a:r>
          </a:p>
        </p:txBody>
      </p:sp>
    </p:spTree>
    <p:extLst>
      <p:ext uri="{BB962C8B-B14F-4D97-AF65-F5344CB8AC3E}">
        <p14:creationId xmlns:p14="http://schemas.microsoft.com/office/powerpoint/2010/main" val="206172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31145</TotalTime>
  <Words>519</Words>
  <Application>Microsoft Macintosh PowerPoint</Application>
  <PresentationFormat>Widescreen</PresentationFormat>
  <Paragraphs>169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A 3-phase approach to support modernization; focus for this report is Phase 2</vt:lpstr>
      <vt:lpstr>The Cost Estimation model combines Sigrid analysis results with SIG benchmarks</vt:lpstr>
      <vt:lpstr>Modernization plan: Management summary </vt:lpstr>
      <vt:lpstr>Top modernization candidates, prioritized based on estimated technical benefits and effort</vt:lpstr>
      <vt:lpstr>Systems with the most technical debt</vt:lpstr>
      <vt:lpstr>Top modernization candidates: Estimated technical benefits versus effort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257</cp:revision>
  <cp:lastPrinted>2020-07-02T15:41:27Z</cp:lastPrinted>
  <dcterms:created xsi:type="dcterms:W3CDTF">2024-01-03T15:04:34Z</dcterms:created>
  <dcterms:modified xsi:type="dcterms:W3CDTF">2026-03-13T10:19:36Z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