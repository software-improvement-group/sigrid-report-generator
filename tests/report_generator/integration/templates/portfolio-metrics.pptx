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94" r:id="rId5"/>
  </p:sldMasterIdLst>
  <p:notesMasterIdLst>
    <p:notesMasterId r:id="rId49"/>
  </p:notesMasterIdLst>
  <p:handoutMasterIdLst>
    <p:handoutMasterId r:id="rId50"/>
  </p:handoutMasterIdLst>
  <p:sldIdLst>
    <p:sldId id="1973" r:id="rId6"/>
    <p:sldId id="2022" r:id="rId7"/>
    <p:sldId id="11601" r:id="rId8"/>
    <p:sldId id="11602" r:id="rId9"/>
    <p:sldId id="11603" r:id="rId10"/>
    <p:sldId id="11604" r:id="rId11"/>
    <p:sldId id="11605" r:id="rId12"/>
    <p:sldId id="11606" r:id="rId13"/>
    <p:sldId id="11607" r:id="rId14"/>
    <p:sldId id="11608" r:id="rId15"/>
    <p:sldId id="11609" r:id="rId16"/>
    <p:sldId id="11610" r:id="rId17"/>
    <p:sldId id="11611" r:id="rId18"/>
    <p:sldId id="11612" r:id="rId19"/>
    <p:sldId id="11613" r:id="rId20"/>
    <p:sldId id="11614" r:id="rId21"/>
    <p:sldId id="2023" r:id="rId22"/>
    <p:sldId id="11615" r:id="rId23"/>
    <p:sldId id="11570" r:id="rId24"/>
    <p:sldId id="11616" r:id="rId25"/>
    <p:sldId id="11572" r:id="rId26"/>
    <p:sldId id="11617" r:id="rId27"/>
    <p:sldId id="11574" r:id="rId28"/>
    <p:sldId id="11618" r:id="rId29"/>
    <p:sldId id="11576" r:id="rId30"/>
    <p:sldId id="11619" r:id="rId31"/>
    <p:sldId id="11620" r:id="rId32"/>
    <p:sldId id="11621" r:id="rId33"/>
    <p:sldId id="11622" r:id="rId34"/>
    <p:sldId id="11625" r:id="rId35"/>
    <p:sldId id="11626" r:id="rId36"/>
    <p:sldId id="11629" r:id="rId37"/>
    <p:sldId id="11630" r:id="rId38"/>
    <p:sldId id="11631" r:id="rId39"/>
    <p:sldId id="11632" r:id="rId40"/>
    <p:sldId id="11633" r:id="rId41"/>
    <p:sldId id="11634" r:id="rId42"/>
    <p:sldId id="2024" r:id="rId43"/>
    <p:sldId id="11635" r:id="rId44"/>
    <p:sldId id="11636" r:id="rId45"/>
    <p:sldId id="11637" r:id="rId46"/>
    <p:sldId id="11638" r:id="rId47"/>
    <p:sldId id="11639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6A477B1-2C54-A644-8CEF-050146F58422}">
          <p14:sldIdLst>
            <p14:sldId id="1973"/>
          </p14:sldIdLst>
        </p14:section>
        <p14:section name="Untitled Section" id="{31B79D2E-C635-F04E-A4F6-74A549C95224}">
          <p14:sldIdLst>
            <p14:sldId id="2022"/>
            <p14:sldId id="11601"/>
            <p14:sldId id="11602"/>
            <p14:sldId id="11603"/>
            <p14:sldId id="11604"/>
            <p14:sldId id="11605"/>
            <p14:sldId id="11606"/>
            <p14:sldId id="11607"/>
            <p14:sldId id="11608"/>
            <p14:sldId id="11609"/>
            <p14:sldId id="11610"/>
            <p14:sldId id="11611"/>
            <p14:sldId id="11612"/>
            <p14:sldId id="11613"/>
            <p14:sldId id="11614"/>
            <p14:sldId id="2023"/>
            <p14:sldId id="11615"/>
            <p14:sldId id="11570"/>
            <p14:sldId id="11616"/>
            <p14:sldId id="11572"/>
            <p14:sldId id="11617"/>
            <p14:sldId id="11574"/>
            <p14:sldId id="11618"/>
            <p14:sldId id="11576"/>
            <p14:sldId id="11619"/>
            <p14:sldId id="11620"/>
            <p14:sldId id="11621"/>
            <p14:sldId id="11622"/>
            <p14:sldId id="11625"/>
            <p14:sldId id="11626"/>
            <p14:sldId id="11629"/>
            <p14:sldId id="11630"/>
            <p14:sldId id="11631"/>
            <p14:sldId id="11632"/>
            <p14:sldId id="11633"/>
            <p14:sldId id="11634"/>
            <p14:sldId id="2024"/>
            <p14:sldId id="11635"/>
            <p14:sldId id="11636"/>
            <p14:sldId id="11637"/>
            <p14:sldId id="11638"/>
            <p14:sldId id="1163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359739-ADAA-29C3-783C-D9B57E2ADDB5}" name="Tim Hemel" initials="" userId="S::tim.hemel@softwareimprovementgroup.com::11068282-940c-4e29-bf1b-b59b90666eb3" providerId="AD"/>
  <p188:author id="{3D97A144-B777-FD68-D7AB-3CD142D94AE5}" name="Cathal Boogerd" initials="" userId="S::cathal.boogerd@softwareimprovementgroup.com::dbb5a3ef-3cf9-4748-ac32-98f9c3baeb5b" providerId="AD"/>
  <p188:author id="{E5E0EE5C-8B63-32A2-9D2F-8352DF47097F}" name="Georges Elias" initials="" userId="S::georges.elias@softwareimprovementgroup.com::6139a130-5e49-4792-8e7b-0c9108a32bcb" providerId="AD"/>
  <p188:author id="{14C24185-38C8-53F4-6B25-1F37CA622275}" name="Koen Hanselman" initials="KH" userId="S::koen.hanselman@softwareimprovementgroup.com::5db663cf-586e-40d0-b19a-993566a64e50" providerId="AD"/>
  <p188:author id="{183DB49D-7ECF-D7E1-4C43-FB9D87383EAD}" name="Sylvan Rigal" initials="SR" userId="S::sylvan.rigal@softwareimprovementgroup.com::b1be0c31-8957-4e67-bfc4-5cd3c92b837e" providerId="AD"/>
  <p188:author id="{6C3551E2-2F50-52EC-DA49-DBE95072549A}" name="Koen Hanselman" initials="KH" userId="7d1800f64f1a7135" providerId="Windows Live"/>
  <p188:author id="{BBEAE1E7-4F6B-B092-BEC1-17EBE4860A28}" name="Feiyang Tang" initials="" userId="S::feiyang.tang@softwareimprovementgroup.com::7bc8dc39-7011-4932-87a8-1499417962c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5735"/>
    <a:srgbClr val="E98C36"/>
    <a:srgbClr val="BFC855"/>
    <a:srgbClr val="BDC855"/>
    <a:srgbClr val="F8C716"/>
    <a:srgbClr val="F9C816"/>
    <a:srgbClr val="083595"/>
    <a:srgbClr val="093AA0"/>
    <a:srgbClr val="083695"/>
    <a:srgbClr val="0020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799B23B-EC83-4686-B30A-512413B5E67A}" styleName="Stijl, licht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42"/>
    <p:restoredTop sz="96763"/>
  </p:normalViewPr>
  <p:slideViewPr>
    <p:cSldViewPr snapToGrid="0" snapToObjects="1" showGuides="1">
      <p:cViewPr varScale="1">
        <p:scale>
          <a:sx n="127" d="100"/>
          <a:sy n="127" d="100"/>
        </p:scale>
        <p:origin x="936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napToObjects="1">
      <p:cViewPr varScale="1">
        <p:scale>
          <a:sx n="157" d="100"/>
          <a:sy n="157" d="100"/>
        </p:scale>
        <p:origin x="5640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handoutMaster" Target="handoutMasters/handoutMaster1.xml"/><Relationship Id="rId55" Type="http://schemas.microsoft.com/office/2018/10/relationships/authors" Target="author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8" Type="http://schemas.openxmlformats.org/officeDocument/2006/relationships/slide" Target="slides/slide3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9/11/26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c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38">
            <a:extLst>
              <a:ext uri="{FF2B5EF4-FFF2-40B4-BE49-F238E27FC236}">
                <a16:creationId xmlns:a16="http://schemas.microsoft.com/office/drawing/2014/main" id="{7347C396-4E04-5438-3588-DA4459F358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47"/>
                    </a14:imgEffect>
                    <a14:imgEffect>
                      <a14:brightnessContrast bright="-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6" y="1"/>
            <a:ext cx="12192736" cy="4788650"/>
          </a:xfrm>
          <a:prstGeom prst="rect">
            <a:avLst/>
          </a:prstGeom>
        </p:spPr>
      </p:pic>
      <p:sp>
        <p:nvSpPr>
          <p:cNvPr id="5" name="Rechthoek 4">
            <a:extLst>
              <a:ext uri="{FF2B5EF4-FFF2-40B4-BE49-F238E27FC236}">
                <a16:creationId xmlns:a16="http://schemas.microsoft.com/office/drawing/2014/main" id="{3711BFBD-7D49-8987-E8A2-D4E4D95700E2}"/>
              </a:ext>
            </a:extLst>
          </p:cNvPr>
          <p:cNvSpPr/>
          <p:nvPr userDrawn="1"/>
        </p:nvSpPr>
        <p:spPr>
          <a:xfrm>
            <a:off x="0" y="0"/>
            <a:ext cx="12192000" cy="4119763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>
                  <a:alpha val="32941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980E156-820D-6279-257C-1179FF494665}"/>
              </a:ext>
            </a:extLst>
          </p:cNvPr>
          <p:cNvSpPr/>
          <p:nvPr userDrawn="1"/>
        </p:nvSpPr>
        <p:spPr>
          <a:xfrm>
            <a:off x="0" y="4047849"/>
            <a:ext cx="3033486" cy="2810151"/>
          </a:xfrm>
          <a:prstGeom prst="rect">
            <a:avLst/>
          </a:prstGeom>
          <a:gradFill>
            <a:gsLst>
              <a:gs pos="0">
                <a:srgbClr val="09204F"/>
              </a:gs>
              <a:gs pos="99000">
                <a:srgbClr val="1864FF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C197F95C-A1BB-C2C6-50E0-3639B39F8A87}"/>
              </a:ext>
            </a:extLst>
          </p:cNvPr>
          <p:cNvSpPr/>
          <p:nvPr userDrawn="1"/>
        </p:nvSpPr>
        <p:spPr>
          <a:xfrm>
            <a:off x="3033486" y="4047849"/>
            <a:ext cx="9158514" cy="2810151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30FCF230-7996-DE1F-6C0D-58B99665047D}"/>
              </a:ext>
            </a:extLst>
          </p:cNvPr>
          <p:cNvCxnSpPr>
            <a:cxnSpLocks/>
          </p:cNvCxnSpPr>
          <p:nvPr userDrawn="1"/>
        </p:nvCxnSpPr>
        <p:spPr>
          <a:xfrm>
            <a:off x="3672841" y="6278577"/>
            <a:ext cx="7895435" cy="0"/>
          </a:xfrm>
          <a:prstGeom prst="line">
            <a:avLst/>
          </a:prstGeom>
          <a:ln w="9525">
            <a:solidFill>
              <a:schemeClr val="bg2">
                <a:lumMod val="90000"/>
                <a:alpha val="59579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11FEE32-F393-744E-EBFD-1C14BB1094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1670400"/>
            <a:ext cx="11174400" cy="450000"/>
          </a:xfrm>
          <a:prstGeom prst="rect">
            <a:avLst/>
          </a:prstGeom>
        </p:spPr>
        <p:txBody>
          <a:bodyPr wrap="none" tIns="46800" rIns="234000" bIns="46800"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0" i="0" spc="-30" baseline="0">
                <a:solidFill>
                  <a:srgbClr val="D1E0FF">
                    <a:alpha val="80000"/>
                  </a:srgbClr>
                </a:solidFill>
                <a:latin typeface="Noir Pro" pitchFamily="2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 dirty="0"/>
              <a:t>Client name - System name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CC7910BC-58A3-14A8-3CB9-E7BE52B4B4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6000" y="2145600"/>
            <a:ext cx="11174400" cy="788400"/>
          </a:xfrm>
          <a:prstGeom prst="rect">
            <a:avLst/>
          </a:prstGeom>
        </p:spPr>
        <p:txBody>
          <a:bodyPr tIns="0" rIns="0" bIns="46800" anchor="t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6000" b="1" i="0">
                <a:solidFill>
                  <a:srgbClr val="FFFFFF"/>
                </a:solidFill>
                <a:latin typeface="Noir Pro Semi Bold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presentation subject</a:t>
            </a:r>
          </a:p>
        </p:txBody>
      </p:sp>
      <p:sp>
        <p:nvSpPr>
          <p:cNvPr id="28" name="Tijdelijke aanduiding voor voettekst 10">
            <a:extLst>
              <a:ext uri="{FF2B5EF4-FFF2-40B4-BE49-F238E27FC236}">
                <a16:creationId xmlns:a16="http://schemas.microsoft.com/office/drawing/2014/main" id="{25913A94-10DF-8D91-7C37-CE090F12EB19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>
          <a:xfrm>
            <a:off x="9854418" y="6429600"/>
            <a:ext cx="1712382" cy="237600"/>
          </a:xfrm>
          <a:prstGeom prst="rect">
            <a:avLst/>
          </a:prstGeom>
        </p:spPr>
        <p:txBody>
          <a:bodyPr lIns="251999" rIns="180000" bIns="46800">
            <a:noAutofit/>
          </a:bodyPr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r>
              <a:rPr lang="nl-NL"/>
              <a:t>Confidential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15211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7360B52C-32F4-6286-9606-BADD4B6FCD5D}"/>
              </a:ext>
            </a:extLst>
          </p:cNvPr>
          <p:cNvSpPr/>
          <p:nvPr userDrawn="1"/>
        </p:nvSpPr>
        <p:spPr>
          <a:xfrm>
            <a:off x="0" y="0"/>
            <a:ext cx="5275742" cy="6858000"/>
          </a:xfrm>
          <a:prstGeom prst="rect">
            <a:avLst/>
          </a:prstGeom>
          <a:gradFill>
            <a:gsLst>
              <a:gs pos="0">
                <a:srgbClr val="09204F"/>
              </a:gs>
              <a:gs pos="89000">
                <a:srgbClr val="1864F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F37031E7-C6CA-7F68-A55A-E44BEE6BB348}"/>
              </a:ext>
            </a:extLst>
          </p:cNvPr>
          <p:cNvSpPr/>
          <p:nvPr userDrawn="1"/>
        </p:nvSpPr>
        <p:spPr>
          <a:xfrm>
            <a:off x="0" y="2794000"/>
            <a:ext cx="5275742" cy="4064000"/>
          </a:xfrm>
          <a:prstGeom prst="rect">
            <a:avLst/>
          </a:prstGeom>
          <a:gradFill>
            <a:gsLst>
              <a:gs pos="4000">
                <a:srgbClr val="09204F"/>
              </a:gs>
              <a:gs pos="100000">
                <a:srgbClr val="155AE7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1AEEA1A0-88B9-9217-C726-6B0B21E8A2C9}"/>
              </a:ext>
            </a:extLst>
          </p:cNvPr>
          <p:cNvSpPr/>
          <p:nvPr userDrawn="1"/>
        </p:nvSpPr>
        <p:spPr>
          <a:xfrm>
            <a:off x="5263376" y="0"/>
            <a:ext cx="6928627" cy="6858000"/>
          </a:xfrm>
          <a:prstGeom prst="rect">
            <a:avLst/>
          </a:prstGeom>
          <a:gradFill>
            <a:gsLst>
              <a:gs pos="0">
                <a:srgbClr val="D1E0FF"/>
              </a:gs>
              <a:gs pos="9000">
                <a:srgbClr val="FFFFFF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D962B193-53CA-0D19-0118-C61D7DEBCFE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l-NL" dirty="0" err="1"/>
              <a:t>Confidential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5BD149E-B12D-F2FB-60B1-2F2EBB40DF9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5581EF9-202E-75BA-5611-B35F6FE181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7600" y="1220743"/>
            <a:ext cx="3560400" cy="609398"/>
          </a:xfrm>
        </p:spPr>
        <p:txBody>
          <a:bodyPr tIns="0" bIns="0" anchor="t"/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Noir Pro Semi Bold" pitchFamily="2" charset="0"/>
              </a:defRPr>
            </a:lvl1pPr>
          </a:lstStyle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en-US" dirty="0"/>
          </a:p>
        </p:txBody>
      </p:sp>
      <p:sp>
        <p:nvSpPr>
          <p:cNvPr id="12" name="Tijdelijke aanduiding voor inhoud 11">
            <a:extLst>
              <a:ext uri="{FF2B5EF4-FFF2-40B4-BE49-F238E27FC236}">
                <a16:creationId xmlns:a16="http://schemas.microsoft.com/office/drawing/2014/main" id="{4F637EDD-DD17-8404-6CF0-C103F6B059B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467600" y="738000"/>
            <a:ext cx="7092000" cy="2484274"/>
          </a:xfrm>
          <a:gradFill>
            <a:gsLst>
              <a:gs pos="0">
                <a:srgbClr val="A3C1FF">
                  <a:alpha val="89804"/>
                </a:srgbClr>
              </a:gs>
              <a:gs pos="8000">
                <a:srgbClr val="7FAAFF">
                  <a:alpha val="25000"/>
                </a:srgbClr>
              </a:gs>
              <a:gs pos="53000">
                <a:srgbClr val="FFFFFF">
                  <a:alpha val="14902"/>
                </a:srgbClr>
              </a:gs>
            </a:gsLst>
            <a:lin ang="3600000" scaled="0"/>
          </a:gradFill>
        </p:spPr>
        <p:txBody>
          <a:bodyPr lIns="324000" tIns="251999" rIns="288000" bIns="216000">
            <a:spAutoFit/>
          </a:bodyPr>
          <a:lstStyle>
            <a:lvl1pPr marL="900000" indent="-900000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>
                <a:schemeClr val="bg1"/>
              </a:buClr>
              <a:buSzPct val="120000"/>
              <a:buFont typeface="+mj-lt"/>
              <a:buAutoNum type="arabicPeriod"/>
              <a:defRPr sz="1800" b="0" i="0">
                <a:latin typeface="Noir Pro Medium" pitchFamily="2" charset="0"/>
              </a:defRPr>
            </a:lvl1pPr>
            <a:lvl2pPr marL="1114425" indent="-217488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2pPr>
            <a:lvl3pPr marL="1341438" indent="-22701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3pPr>
            <a:lvl4pPr marL="1600200" indent="-25876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4pPr>
          </a:lstStyle>
          <a:p>
            <a:pPr lvl="0"/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presentation</a:t>
            </a:r>
            <a:r>
              <a:rPr lang="nl-NL" dirty="0"/>
              <a:t> </a:t>
            </a:r>
            <a:r>
              <a:rPr lang="nl-NL" dirty="0" err="1"/>
              <a:t>sections</a:t>
            </a:r>
            <a:r>
              <a:rPr lang="nl-NL" dirty="0"/>
              <a:t>/topics</a:t>
            </a:r>
          </a:p>
          <a:p>
            <a:pPr lvl="1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2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2	</a:t>
            </a:r>
          </a:p>
          <a:p>
            <a:pPr lvl="3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3	</a:t>
            </a:r>
          </a:p>
          <a:p>
            <a:pPr lvl="0"/>
            <a:r>
              <a:rPr lang="en-US" dirty="0"/>
              <a:t>This is a second base-level item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120FC2D-DB38-A66D-B4BE-8E608C2A5D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167060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SH system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4803D971-BBE6-A649-8B31-9455C887E2E8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08465" y="3915896"/>
            <a:ext cx="228600" cy="2286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AC4218B1-EADF-C24A-80B5-E0C1A5B39C1D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08465" y="3472522"/>
            <a:ext cx="228600" cy="2286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7FA05DD7-2ECA-4D48-A21C-8DFA7DFADE3A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8465" y="4775539"/>
            <a:ext cx="228600" cy="2286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00F4E791-EF53-DC4D-BF37-A43BAC720663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08465" y="3056253"/>
            <a:ext cx="228600" cy="228600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5D59DCD9-95CA-2849-8561-B2216ED23288}"/>
              </a:ext>
            </a:extLst>
          </p:cNvPr>
          <p:cNvSpPr/>
          <p:nvPr/>
        </p:nvSpPr>
        <p:spPr>
          <a:xfrm>
            <a:off x="183655" y="2350901"/>
            <a:ext cx="5405506" cy="688946"/>
          </a:xfrm>
          <a:prstGeom prst="ellipse">
            <a:avLst/>
          </a:prstGeom>
          <a:solidFill>
            <a:srgbClr val="000000">
              <a:alpha val="15021"/>
            </a:srgbClr>
          </a:solidFill>
          <a:ln>
            <a:noFill/>
          </a:ln>
          <a:effectLst>
            <a:softEdge rad="266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731D74-9128-1544-855C-A1FEBA1CA2CF}"/>
              </a:ext>
            </a:extLst>
          </p:cNvPr>
          <p:cNvSpPr/>
          <p:nvPr/>
        </p:nvSpPr>
        <p:spPr>
          <a:xfrm>
            <a:off x="273504" y="1814254"/>
            <a:ext cx="5472121" cy="972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1ED1E9-7DDE-7349-A824-0A8F7F613A5A}"/>
              </a:ext>
            </a:extLst>
          </p:cNvPr>
          <p:cNvSpPr txBox="1"/>
          <p:nvPr userDrawn="1"/>
        </p:nvSpPr>
        <p:spPr>
          <a:xfrm>
            <a:off x="287680" y="1404912"/>
            <a:ext cx="4469780" cy="357085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b="0" i="0" dirty="0">
                <a:solidFill>
                  <a:schemeClr val="tx1"/>
                </a:solidFill>
                <a:latin typeface="☞NOIR PRO MEDIUM" pitchFamily="2" charset="0"/>
              </a:rPr>
              <a:t>Risks in external dependencies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6613CA-FC98-E948-8B09-66C076B53E70}"/>
              </a:ext>
            </a:extLst>
          </p:cNvPr>
          <p:cNvCxnSpPr>
            <a:cxnSpLocks/>
          </p:cNvCxnSpPr>
          <p:nvPr/>
        </p:nvCxnSpPr>
        <p:spPr>
          <a:xfrm>
            <a:off x="2377457" y="2242127"/>
            <a:ext cx="720000" cy="0"/>
          </a:xfrm>
          <a:prstGeom prst="line">
            <a:avLst/>
          </a:prstGeom>
          <a:ln w="57150" cap="rnd">
            <a:solidFill>
              <a:srgbClr val="DB4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utoShape 5">
            <a:extLst>
              <a:ext uri="{FF2B5EF4-FFF2-40B4-BE49-F238E27FC236}">
                <a16:creationId xmlns:a16="http://schemas.microsoft.com/office/drawing/2014/main" id="{9C79926D-A7E4-AB44-88CA-35B39C0B0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4627" y="2320450"/>
            <a:ext cx="649538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DB493D"/>
                </a:solidFill>
                <a:cs typeface="TheSansMono M5"/>
              </a:rPr>
              <a:t>high risk</a:t>
            </a:r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A0F466DD-E497-0B47-9C89-D4A346F11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984" y="2318493"/>
            <a:ext cx="888385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EF981A"/>
                </a:solidFill>
                <a:cs typeface="TheSansMono M5"/>
              </a:rPr>
              <a:t>medium risk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61AE6C-EBE9-4F46-A618-ED7896ACA29D}"/>
              </a:ext>
            </a:extLst>
          </p:cNvPr>
          <p:cNvCxnSpPr>
            <a:cxnSpLocks/>
          </p:cNvCxnSpPr>
          <p:nvPr/>
        </p:nvCxnSpPr>
        <p:spPr>
          <a:xfrm>
            <a:off x="3216635" y="2242127"/>
            <a:ext cx="720000" cy="0"/>
          </a:xfrm>
          <a:prstGeom prst="line">
            <a:avLst/>
          </a:prstGeom>
          <a:ln w="57150" cap="rnd">
            <a:solidFill>
              <a:srgbClr val="EF98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utoShape 5">
            <a:extLst>
              <a:ext uri="{FF2B5EF4-FFF2-40B4-BE49-F238E27FC236}">
                <a16:creationId xmlns:a16="http://schemas.microsoft.com/office/drawing/2014/main" id="{EA2FDCAB-455C-4E49-AF74-1E4FA9011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4025" y="2313682"/>
            <a:ext cx="61529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F8C740"/>
                </a:solidFill>
                <a:cs typeface="TheSansMono M5"/>
              </a:rPr>
              <a:t>low risk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D80D8D2-64AB-5B45-9E98-3024038CA8F5}"/>
              </a:ext>
            </a:extLst>
          </p:cNvPr>
          <p:cNvCxnSpPr>
            <a:cxnSpLocks/>
          </p:cNvCxnSpPr>
          <p:nvPr/>
        </p:nvCxnSpPr>
        <p:spPr>
          <a:xfrm>
            <a:off x="4050584" y="2242127"/>
            <a:ext cx="720000" cy="0"/>
          </a:xfrm>
          <a:prstGeom prst="line">
            <a:avLst/>
          </a:prstGeom>
          <a:ln w="57150" cap="rnd">
            <a:solidFill>
              <a:srgbClr val="F8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utoShape 5">
            <a:extLst>
              <a:ext uri="{FF2B5EF4-FFF2-40B4-BE49-F238E27FC236}">
                <a16:creationId xmlns:a16="http://schemas.microsoft.com/office/drawing/2014/main" id="{83EAF45F-0735-074F-B8DE-661963E38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660" y="2318108"/>
            <a:ext cx="69762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>
              <a:defRPr/>
            </a:pPr>
            <a:r>
              <a:rPr lang="en-US" sz="1100" b="1" dirty="0">
                <a:solidFill>
                  <a:srgbClr val="57C96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US" sz="1200" dirty="0">
                <a:solidFill>
                  <a:srgbClr val="57C968"/>
                </a:solidFill>
              </a:rPr>
              <a:t> </a:t>
            </a:r>
            <a:r>
              <a:rPr lang="en-US" sz="1200" spc="-50" noProof="1">
                <a:solidFill>
                  <a:srgbClr val="57C968"/>
                </a:solidFill>
                <a:cs typeface="TheSansMono M5"/>
              </a:rPr>
              <a:t>no risk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335F77-CBBF-B24B-8F0A-85FCA257B10A}"/>
              </a:ext>
            </a:extLst>
          </p:cNvPr>
          <p:cNvCxnSpPr>
            <a:cxnSpLocks/>
          </p:cNvCxnSpPr>
          <p:nvPr/>
        </p:nvCxnSpPr>
        <p:spPr>
          <a:xfrm>
            <a:off x="4884540" y="2242127"/>
            <a:ext cx="720000" cy="0"/>
          </a:xfrm>
          <a:prstGeom prst="line">
            <a:avLst/>
          </a:prstGeom>
          <a:ln w="57150" cap="rnd">
            <a:solidFill>
              <a:srgbClr val="57C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47">
            <a:extLst>
              <a:ext uri="{FF2B5EF4-FFF2-40B4-BE49-F238E27FC236}">
                <a16:creationId xmlns:a16="http://schemas.microsoft.com/office/drawing/2014/main" id="{91356441-694B-B541-8959-E690A83565FC}"/>
              </a:ext>
            </a:extLst>
          </p:cNvPr>
          <p:cNvSpPr/>
          <p:nvPr userDrawn="1"/>
        </p:nvSpPr>
        <p:spPr>
          <a:xfrm>
            <a:off x="373537" y="1870675"/>
            <a:ext cx="1078883" cy="721276"/>
          </a:xfrm>
          <a:custGeom>
            <a:avLst/>
            <a:gdLst>
              <a:gd name="connsiteX0" fmla="*/ 28050 w 1078883"/>
              <a:gd name="connsiteY0" fmla="*/ 0 h 721276"/>
              <a:gd name="connsiteX1" fmla="*/ 915239 w 1078883"/>
              <a:gd name="connsiteY1" fmla="*/ 0 h 721276"/>
              <a:gd name="connsiteX2" fmla="*/ 1078883 w 1078883"/>
              <a:gd name="connsiteY2" fmla="*/ 364710 h 721276"/>
              <a:gd name="connsiteX3" fmla="*/ 918893 w 1078883"/>
              <a:gd name="connsiteY3" fmla="*/ 721276 h 721276"/>
              <a:gd name="connsiteX4" fmla="*/ 28050 w 1078883"/>
              <a:gd name="connsiteY4" fmla="*/ 721276 h 721276"/>
              <a:gd name="connsiteX5" fmla="*/ 0 w 1078883"/>
              <a:gd name="connsiteY5" fmla="*/ 693226 h 721276"/>
              <a:gd name="connsiteX6" fmla="*/ 0 w 1078883"/>
              <a:gd name="connsiteY6" fmla="*/ 28050 h 721276"/>
              <a:gd name="connsiteX7" fmla="*/ 28050 w 1078883"/>
              <a:gd name="connsiteY7" fmla="*/ 0 h 721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8883" h="721276">
                <a:moveTo>
                  <a:pt x="28050" y="0"/>
                </a:moveTo>
                <a:lnTo>
                  <a:pt x="915239" y="0"/>
                </a:lnTo>
                <a:lnTo>
                  <a:pt x="1078883" y="364710"/>
                </a:lnTo>
                <a:lnTo>
                  <a:pt x="918893" y="721276"/>
                </a:lnTo>
                <a:lnTo>
                  <a:pt x="28050" y="721276"/>
                </a:lnTo>
                <a:cubicBezTo>
                  <a:pt x="12558" y="721276"/>
                  <a:pt x="0" y="708718"/>
                  <a:pt x="0" y="693226"/>
                </a:cubicBezTo>
                <a:lnTo>
                  <a:pt x="0" y="28050"/>
                </a:lnTo>
                <a:cubicBezTo>
                  <a:pt x="0" y="12558"/>
                  <a:pt x="12558" y="0"/>
                  <a:pt x="28050" y="0"/>
                </a:cubicBezTo>
                <a:close/>
              </a:path>
            </a:pathLst>
          </a:custGeom>
          <a:gradFill>
            <a:gsLst>
              <a:gs pos="100000">
                <a:srgbClr val="88ADF5"/>
              </a:gs>
              <a:gs pos="76000">
                <a:schemeClr val="accent3">
                  <a:alpha val="25000"/>
                </a:schemeClr>
              </a:gs>
              <a:gs pos="0">
                <a:schemeClr val="accent3">
                  <a:alpha val="0"/>
                </a:schemeClr>
              </a:gs>
            </a:gsLst>
            <a:lin ang="2700000" scaled="0"/>
          </a:gradFill>
          <a:ln w="9525">
            <a:solidFill>
              <a:schemeClr val="accent3">
                <a:alpha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A85B6768-8DD0-3840-98FF-EA35442768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3537" y="2159794"/>
            <a:ext cx="946336" cy="338554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square" lIns="36000" tIns="0" rIns="36000" bIns="0">
            <a:spAutoFit/>
          </a:bodyPr>
          <a:lstStyle/>
          <a:p>
            <a:pPr algn="ctr">
              <a:defRPr/>
            </a:pPr>
            <a: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</a:t>
            </a:r>
            <a:b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dependencies</a:t>
            </a:r>
            <a:endParaRPr lang="en-US" sz="1200" spc="-50" noProof="1">
              <a:solidFill>
                <a:schemeClr val="accent2"/>
              </a:solidFill>
              <a:cs typeface="TheSansMono M5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F23A31-FB0D-E745-BDFB-363075187412}"/>
              </a:ext>
            </a:extLst>
          </p:cNvPr>
          <p:cNvSpPr txBox="1"/>
          <p:nvPr userDrawn="1"/>
        </p:nvSpPr>
        <p:spPr>
          <a:xfrm>
            <a:off x="373537" y="5569608"/>
            <a:ext cx="2549071" cy="28943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200" dirty="0">
                <a:solidFill>
                  <a:schemeClr val="tx1">
                    <a:alpha val="50000"/>
                  </a:schemeClr>
                </a:solidFill>
              </a:rPr>
              <a:t>Number of dependencies: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C627EA2-AE44-A843-8263-F7C250ED20AD}"/>
              </a:ext>
            </a:extLst>
          </p:cNvPr>
          <p:cNvSpPr txBox="1"/>
          <p:nvPr userDrawn="1"/>
        </p:nvSpPr>
        <p:spPr>
          <a:xfrm>
            <a:off x="131435" y="2846815"/>
            <a:ext cx="2448628" cy="2628220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vulnerability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marL="0" marR="0" lvl="0" indent="0" algn="r" defTabSz="914400" rtl="0" eaLnBrk="1" fontAlgn="auto" latinLnBrk="0" hangingPunct="1">
              <a:lnSpc>
                <a:spcPct val="2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legal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freshness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stability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management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marL="0" marR="0" lvl="0" indent="0" algn="r" defTabSz="914400" rtl="0" eaLnBrk="1" fontAlgn="auto" latinLnBrk="0" hangingPunct="1">
              <a:lnSpc>
                <a:spcPct val="2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activity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8989BBF-287E-B847-9CAC-6DA102EFBD4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20006" y="1421846"/>
            <a:ext cx="5614794" cy="4896154"/>
          </a:xfrm>
        </p:spPr>
        <p:txBody>
          <a:bodyPr>
            <a:noAutofit/>
          </a:bodyPr>
          <a:lstStyle>
            <a:lvl1pPr marL="285750" indent="-279400">
              <a:buFont typeface="Arial" panose="020B0604020202020204" pitchFamily="34" charset="0"/>
              <a:buChar char="•"/>
              <a:tabLst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8FE26B8D-BD73-4444-8D0F-1248DE1DD5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0738" y="1894014"/>
            <a:ext cx="83510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accent2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EDC22544-D9BC-B244-939B-9E83862D4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66159" y="1894014"/>
            <a:ext cx="73443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DC4A3D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BB9C82F9-0A2D-9945-BB70-9C7924044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88761" y="1894014"/>
            <a:ext cx="760514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F09A19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4F6EE5E4-7412-804B-AB0B-2612A9AEF1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23661" y="1894014"/>
            <a:ext cx="760514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F8C818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20222DCE-C402-BC42-9510-1717F16DF8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42179" y="1894014"/>
            <a:ext cx="776867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57C968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B0C8CF-791F-18E5-4333-1B6A84495D38}"/>
              </a:ext>
            </a:extLst>
          </p:cNvPr>
          <p:cNvCxnSpPr>
            <a:cxnSpLocks/>
          </p:cNvCxnSpPr>
          <p:nvPr userDrawn="1"/>
        </p:nvCxnSpPr>
        <p:spPr>
          <a:xfrm>
            <a:off x="1540363" y="2237012"/>
            <a:ext cx="720000" cy="0"/>
          </a:xfrm>
          <a:prstGeom prst="line">
            <a:avLst/>
          </a:prstGeom>
          <a:ln w="57150" cap="rnd">
            <a:solidFill>
              <a:srgbClr val="9107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5">
            <a:extLst>
              <a:ext uri="{FF2B5EF4-FFF2-40B4-BE49-F238E27FC236}">
                <a16:creationId xmlns:a16="http://schemas.microsoft.com/office/drawing/2014/main" id="{D8BC2DDE-6625-F621-EC94-783A87A7B4F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07263" y="2315335"/>
            <a:ext cx="770084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910714"/>
                </a:solidFill>
                <a:cs typeface="TheSansMono M5"/>
              </a:rPr>
              <a:t>critical risk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AE3B6A-A32C-2E31-61A0-D3B86C8941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29065" y="1888899"/>
            <a:ext cx="73443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910614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5F2A81F-5932-87E7-D36E-A48D21EE92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4399855-F056-C1EA-96E3-8F6B2FE87A8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5AD1E1-E49C-07DA-9E88-2A64DC9326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45471" cy="228145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vert="horz" wrap="none" lIns="0" tIns="28800" rIns="144000" bIns="28800" rtlCol="0" anchor="ctr" anchorCtr="0">
            <a:spAutoFit/>
          </a:bodyPr>
          <a:lstStyle>
            <a:lvl1pPr marL="0" indent="0"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lvl="0" indent="-23040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3C657A4-EEB4-0690-E4D3-B51FF0CFAE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98967" y="4332165"/>
            <a:ext cx="247597" cy="24759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99DC8D9-DC6F-6B68-C30E-D89F7A9C4313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08465" y="5199916"/>
            <a:ext cx="228600" cy="228600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1D583B0-04E8-97BC-998D-5328C105EF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658975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45471" cy="228145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98077D-F430-EB3F-E631-8256B604A5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5208" y="640791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 marL="0" algn="l" defTabSz="914400" rtl="0" eaLnBrk="1" latinLnBrk="0" hangingPunct="1">
              <a:defRPr lang="en-US" sz="900" b="0" cap="none" spc="0" baseline="0" dirty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Generated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</a:t>
            </a:r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with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Sigrid</a:t>
            </a:r>
          </a:p>
          <a:p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for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411849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Relationship Id="rId4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hthoek 191">
            <a:extLst>
              <a:ext uri="{FF2B5EF4-FFF2-40B4-BE49-F238E27FC236}">
                <a16:creationId xmlns:a16="http://schemas.microsoft.com/office/drawing/2014/main" id="{E4789192-BD1C-FDF4-0676-2F84CD19AAD6}"/>
              </a:ext>
            </a:extLst>
          </p:cNvPr>
          <p:cNvSpPr/>
          <p:nvPr userDrawn="1"/>
        </p:nvSpPr>
        <p:spPr>
          <a:xfrm>
            <a:off x="0" y="6334783"/>
            <a:ext cx="12192000" cy="523217"/>
          </a:xfrm>
          <a:prstGeom prst="rect">
            <a:avLst/>
          </a:prstGeom>
          <a:gradFill>
            <a:gsLst>
              <a:gs pos="6000">
                <a:schemeClr val="accent3">
                  <a:lumMod val="60000"/>
                  <a:lumOff val="40000"/>
                </a:schemeClr>
              </a:gs>
              <a:gs pos="37000">
                <a:schemeClr val="accent3">
                  <a:lumMod val="40000"/>
                  <a:lumOff val="60000"/>
                </a:schemeClr>
              </a:gs>
              <a:gs pos="17000">
                <a:schemeClr val="accent3">
                  <a:lumMod val="20000"/>
                  <a:lumOff val="80000"/>
                </a:schemeClr>
              </a:gs>
              <a:gs pos="96000">
                <a:schemeClr val="accent3"/>
              </a:gs>
              <a:gs pos="77000">
                <a:schemeClr val="accent3">
                  <a:lumMod val="40000"/>
                  <a:lumOff val="60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8" name="Rounded Rectangle 11">
            <a:extLst>
              <a:ext uri="{FF2B5EF4-FFF2-40B4-BE49-F238E27FC236}">
                <a16:creationId xmlns:a16="http://schemas.microsoft.com/office/drawing/2014/main" id="{0930FD96-390B-3F34-8E93-387124B4AE31}"/>
              </a:ext>
            </a:extLst>
          </p:cNvPr>
          <p:cNvSpPr/>
          <p:nvPr userDrawn="1"/>
        </p:nvSpPr>
        <p:spPr>
          <a:xfrm>
            <a:off x="0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13000">
                <a:schemeClr val="accent3">
                  <a:lumMod val="20000"/>
                  <a:lumOff val="80000"/>
                </a:schemeClr>
              </a:gs>
              <a:gs pos="3000">
                <a:srgbClr val="74A2FF">
                  <a:alpha val="53725"/>
                </a:srgbClr>
              </a:gs>
              <a:gs pos="23000">
                <a:srgbClr val="FFFFFF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4" name="Rounded Rectangle 11">
            <a:extLst>
              <a:ext uri="{FF2B5EF4-FFF2-40B4-BE49-F238E27FC236}">
                <a16:creationId xmlns:a16="http://schemas.microsoft.com/office/drawing/2014/main" id="{559F4FB8-CDE5-4BE6-8294-34DD1FE8EE0C}"/>
              </a:ext>
            </a:extLst>
          </p:cNvPr>
          <p:cNvSpPr/>
          <p:nvPr userDrawn="1"/>
        </p:nvSpPr>
        <p:spPr>
          <a:xfrm>
            <a:off x="158400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87000">
                <a:srgbClr val="FFFFFF">
                  <a:alpha val="84000"/>
                </a:srgbClr>
              </a:gs>
              <a:gs pos="20000">
                <a:srgbClr val="FFFFFF">
                  <a:alpha val="0"/>
                </a:srgbClr>
              </a:gs>
            </a:gsLst>
            <a:lin ang="6000000" scaled="0"/>
          </a:gra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C68F7292-7A36-328D-4B64-D98F9F925AB4}"/>
              </a:ext>
            </a:extLst>
          </p:cNvPr>
          <p:cNvSpPr/>
          <p:nvPr userDrawn="1"/>
        </p:nvSpPr>
        <p:spPr>
          <a:xfrm>
            <a:off x="318057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10000">
                <a:srgbClr val="FFFFFF">
                  <a:alpha val="64340"/>
                </a:srgbClr>
              </a:gs>
              <a:gs pos="54000">
                <a:srgbClr val="FFFFFF">
                  <a:alpha val="69000"/>
                </a:srgbClr>
              </a:gs>
              <a:gs pos="0">
                <a:srgbClr val="FFFFFF">
                  <a:alpha val="0"/>
                </a:srgbClr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148" name="Straight Connector 9">
            <a:extLst>
              <a:ext uri="{FF2B5EF4-FFF2-40B4-BE49-F238E27FC236}">
                <a16:creationId xmlns:a16="http://schemas.microsoft.com/office/drawing/2014/main" id="{E2D66CD9-F464-D3CD-02A2-2C81FE92A34F}"/>
              </a:ext>
            </a:extLst>
          </p:cNvPr>
          <p:cNvCxnSpPr>
            <a:cxnSpLocks/>
          </p:cNvCxnSpPr>
          <p:nvPr userDrawn="1"/>
        </p:nvCxnSpPr>
        <p:spPr>
          <a:xfrm flipH="1">
            <a:off x="154800" y="1255306"/>
            <a:ext cx="11880000" cy="0"/>
          </a:xfrm>
          <a:prstGeom prst="line">
            <a:avLst/>
          </a:prstGeom>
          <a:ln w="9525">
            <a:solidFill>
              <a:srgbClr val="D3D3D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2">
            <a:extLst>
              <a:ext uri="{FF2B5EF4-FFF2-40B4-BE49-F238E27FC236}">
                <a16:creationId xmlns:a16="http://schemas.microsoft.com/office/drawing/2014/main" id="{1FAB8656-7C8B-2A03-F5EF-3769ECB3486C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8C716">
                  <a:alpha val="78000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8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53" name="Rounded Rectangle 92">
            <a:extLst>
              <a:ext uri="{FF2B5EF4-FFF2-40B4-BE49-F238E27FC236}">
                <a16:creationId xmlns:a16="http://schemas.microsoft.com/office/drawing/2014/main" id="{3A91C603-7F40-E63C-0717-77A1BF9F419D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54" name="Rectangle 3">
            <a:extLst>
              <a:ext uri="{FF2B5EF4-FFF2-40B4-BE49-F238E27FC236}">
                <a16:creationId xmlns:a16="http://schemas.microsoft.com/office/drawing/2014/main" id="{7BB50E56-74C1-CED6-9D35-3C52AD049AA2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164" name="Rectangle 22">
            <a:extLst>
              <a:ext uri="{FF2B5EF4-FFF2-40B4-BE49-F238E27FC236}">
                <a16:creationId xmlns:a16="http://schemas.microsoft.com/office/drawing/2014/main" id="{A4D40506-66E4-4645-F969-413BADB440DE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1" name="Straight Connector 9">
            <a:extLst>
              <a:ext uri="{FF2B5EF4-FFF2-40B4-BE49-F238E27FC236}">
                <a16:creationId xmlns:a16="http://schemas.microsoft.com/office/drawing/2014/main" id="{56618A81-C0A0-038B-63FE-C3CD954A14BE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43000">
                  <a:schemeClr val="bg2">
                    <a:lumMod val="90000"/>
                  </a:schemeClr>
                </a:gs>
                <a:gs pos="9000">
                  <a:schemeClr val="bg2">
                    <a:lumMod val="90000"/>
                    <a:alpha val="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199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6C8C7-4A4D-FB4E-9345-9292EFEF7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555" y="6388767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pic>
        <p:nvPicPr>
          <p:cNvPr id="157" name="Afbeelding 156">
            <a:extLst>
              <a:ext uri="{FF2B5EF4-FFF2-40B4-BE49-F238E27FC236}">
                <a16:creationId xmlns:a16="http://schemas.microsoft.com/office/drawing/2014/main" id="{5ABCF63A-ED55-8841-F6A3-67867EB0DE7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413622" y="6420571"/>
            <a:ext cx="1727200" cy="406400"/>
          </a:xfrm>
          <a:prstGeom prst="rect">
            <a:avLst/>
          </a:prstGeom>
        </p:spPr>
      </p:pic>
      <p:sp>
        <p:nvSpPr>
          <p:cNvPr id="158" name="Rechthoek 157">
            <a:extLst>
              <a:ext uri="{FF2B5EF4-FFF2-40B4-BE49-F238E27FC236}">
                <a16:creationId xmlns:a16="http://schemas.microsoft.com/office/drawing/2014/main" id="{CBB37F62-F6A8-54EE-84EB-1B26BA230147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7367" y="6469694"/>
            <a:ext cx="627434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noAutofit/>
          </a:bodyPr>
          <a:lstStyle>
            <a:lvl1pPr algn="ctr">
              <a:defRPr lang="en-US" sz="900" b="0" spc="10" baseline="0" smtClean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2" r:id="rId2"/>
    <p:sldLayoutId id="2147483792" r:id="rId3"/>
    <p:sldLayoutId id="2147483793" r:id="rId4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1864FF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 userDrawn="1">
          <p15:clr>
            <a:srgbClr val="F26B43"/>
          </p15:clr>
        </p15:guide>
        <p15:guide id="2" pos="98" userDrawn="1">
          <p15:clr>
            <a:srgbClr val="F26B43"/>
          </p15:clr>
        </p15:guide>
        <p15:guide id="3" pos="7582" userDrawn="1">
          <p15:clr>
            <a:srgbClr val="F26B43"/>
          </p15:clr>
        </p15:guide>
        <p15:guide id="4" orient="horz" pos="4024" userDrawn="1">
          <p15:clr>
            <a:srgbClr val="F26B43"/>
          </p15:clr>
        </p15:guide>
        <p15:guide id="5" pos="234" userDrawn="1">
          <p15:clr>
            <a:srgbClr val="5ACBF0"/>
          </p15:clr>
        </p15:guide>
        <p15:guide id="6" pos="7446" userDrawn="1">
          <p15:clr>
            <a:srgbClr val="5ACBF0"/>
          </p15:clr>
        </p15:guide>
        <p15:guide id="7" orient="horz" pos="3941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Groep 262">
            <a:extLst>
              <a:ext uri="{FF2B5EF4-FFF2-40B4-BE49-F238E27FC236}">
                <a16:creationId xmlns:a16="http://schemas.microsoft.com/office/drawing/2014/main" id="{AA850EB8-E83D-246C-BB63-2A868373B1BE}"/>
              </a:ext>
            </a:extLst>
          </p:cNvPr>
          <p:cNvGrpSpPr/>
          <p:nvPr userDrawn="1"/>
        </p:nvGrpSpPr>
        <p:grpSpPr>
          <a:xfrm flipH="1">
            <a:off x="10710451" y="4674513"/>
            <a:ext cx="2854391" cy="2702025"/>
            <a:chOff x="-1377504" y="-455451"/>
            <a:chExt cx="2854391" cy="2702025"/>
          </a:xfrm>
        </p:grpSpPr>
        <p:sp>
          <p:nvSpPr>
            <p:cNvPr id="264" name="Rectangle 68">
              <a:extLst>
                <a:ext uri="{FF2B5EF4-FFF2-40B4-BE49-F238E27FC236}">
                  <a16:creationId xmlns:a16="http://schemas.microsoft.com/office/drawing/2014/main" id="{99AD9F3A-EC71-D09A-06A4-DF026B826045}"/>
                </a:ext>
              </a:extLst>
            </p:cNvPr>
            <p:cNvSpPr/>
            <p:nvPr userDrawn="1"/>
          </p:nvSpPr>
          <p:spPr>
            <a:xfrm>
              <a:off x="-1369911" y="1133435"/>
              <a:ext cx="1362794" cy="134047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1620000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65" name="TextBox 225">
              <a:extLst>
                <a:ext uri="{FF2B5EF4-FFF2-40B4-BE49-F238E27FC236}">
                  <a16:creationId xmlns:a16="http://schemas.microsoft.com/office/drawing/2014/main" id="{A8DE34D6-110D-A715-D888-F32F534AB236}"/>
                </a:ext>
              </a:extLst>
            </p:cNvPr>
            <p:cNvSpPr txBox="1"/>
            <p:nvPr userDrawn="1"/>
          </p:nvSpPr>
          <p:spPr>
            <a:xfrm>
              <a:off x="115222" y="1877242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266" name="Rectangle 68">
              <a:extLst>
                <a:ext uri="{FF2B5EF4-FFF2-40B4-BE49-F238E27FC236}">
                  <a16:creationId xmlns:a16="http://schemas.microsoft.com/office/drawing/2014/main" id="{1B09B145-E15C-5E18-553C-9D553948BFE8}"/>
                </a:ext>
              </a:extLst>
            </p:cNvPr>
            <p:cNvSpPr/>
            <p:nvPr userDrawn="1"/>
          </p:nvSpPr>
          <p:spPr>
            <a:xfrm>
              <a:off x="147066" y="1738388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3A1FF">
                    <a:alpha val="45000"/>
                  </a:srgbClr>
                </a:gs>
                <a:gs pos="0">
                  <a:srgbClr val="73A1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67" name="Vrije vorm 266">
              <a:extLst>
                <a:ext uri="{FF2B5EF4-FFF2-40B4-BE49-F238E27FC236}">
                  <a16:creationId xmlns:a16="http://schemas.microsoft.com/office/drawing/2014/main" id="{8BBA4652-A078-2FC3-D9E6-6FAFDF320B37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268" name="TextBox 6">
              <a:extLst>
                <a:ext uri="{FF2B5EF4-FFF2-40B4-BE49-F238E27FC236}">
                  <a16:creationId xmlns:a16="http://schemas.microsoft.com/office/drawing/2014/main" id="{DAA4F945-67DA-0ADA-96A5-A0C39E38C5E0}"/>
                </a:ext>
              </a:extLst>
            </p:cNvPr>
            <p:cNvSpPr txBox="1"/>
            <p:nvPr userDrawn="1"/>
          </p:nvSpPr>
          <p:spPr>
            <a:xfrm>
              <a:off x="-1351052" y="123778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BELOW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269" name="Triangle 20">
              <a:extLst>
                <a:ext uri="{FF2B5EF4-FFF2-40B4-BE49-F238E27FC236}">
                  <a16:creationId xmlns:a16="http://schemas.microsoft.com/office/drawing/2014/main" id="{717475B2-DFBE-B1B3-31B8-727A697264AD}"/>
                </a:ext>
              </a:extLst>
            </p:cNvPr>
            <p:cNvSpPr/>
            <p:nvPr userDrawn="1"/>
          </p:nvSpPr>
          <p:spPr>
            <a:xfrm rot="10800000">
              <a:off x="-169889" y="1342928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0" name="Straight Connector 22">
              <a:extLst>
                <a:ext uri="{FF2B5EF4-FFF2-40B4-BE49-F238E27FC236}">
                  <a16:creationId xmlns:a16="http://schemas.microsoft.com/office/drawing/2014/main" id="{A42A00C7-DFEA-C7D5-033D-516B6F4C8CFB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261560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80">
              <a:extLst>
                <a:ext uri="{FF2B5EF4-FFF2-40B4-BE49-F238E27FC236}">
                  <a16:creationId xmlns:a16="http://schemas.microsoft.com/office/drawing/2014/main" id="{B58FAA8F-5DD0-C89C-271E-8C3A8EE064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1738388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81">
              <a:extLst>
                <a:ext uri="{FF2B5EF4-FFF2-40B4-BE49-F238E27FC236}">
                  <a16:creationId xmlns:a16="http://schemas.microsoft.com/office/drawing/2014/main" id="{89F07FB3-6911-809F-B25C-8AEC80425E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1738388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25">
              <a:extLst>
                <a:ext uri="{FF2B5EF4-FFF2-40B4-BE49-F238E27FC236}">
                  <a16:creationId xmlns:a16="http://schemas.microsoft.com/office/drawing/2014/main" id="{DD1E3D78-1140-8FC0-EA86-577F2CC4A346}"/>
                </a:ext>
              </a:extLst>
            </p:cNvPr>
            <p:cNvSpPr txBox="1"/>
            <p:nvPr userDrawn="1"/>
          </p:nvSpPr>
          <p:spPr>
            <a:xfrm>
              <a:off x="-1021213" y="1877242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1" i="0" dirty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RIGHT</a:t>
              </a: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274" name="Triangle 226">
              <a:extLst>
                <a:ext uri="{FF2B5EF4-FFF2-40B4-BE49-F238E27FC236}">
                  <a16:creationId xmlns:a16="http://schemas.microsoft.com/office/drawing/2014/main" id="{73A71C40-611D-D16B-2D10-56A4820B8C5F}"/>
                </a:ext>
              </a:extLst>
            </p:cNvPr>
            <p:cNvSpPr/>
            <p:nvPr userDrawn="1"/>
          </p:nvSpPr>
          <p:spPr>
            <a:xfrm rot="16200000">
              <a:off x="-2942" y="1806976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Triangle 226">
              <a:extLst>
                <a:ext uri="{FF2B5EF4-FFF2-40B4-BE49-F238E27FC236}">
                  <a16:creationId xmlns:a16="http://schemas.microsoft.com/office/drawing/2014/main" id="{95A5946A-4EDB-4588-5F58-FA5E53404F5A}"/>
                </a:ext>
              </a:extLst>
            </p:cNvPr>
            <p:cNvSpPr/>
            <p:nvPr userDrawn="1"/>
          </p:nvSpPr>
          <p:spPr>
            <a:xfrm rot="16200000">
              <a:off x="222593" y="1805625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6" name="Straight Connector 22">
              <a:extLst>
                <a:ext uri="{FF2B5EF4-FFF2-40B4-BE49-F238E27FC236}">
                  <a16:creationId xmlns:a16="http://schemas.microsoft.com/office/drawing/2014/main" id="{B56A85F9-757E-5259-ECF3-BF09D04D67F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134681"/>
              <a:ext cx="1367345" cy="0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7" name="TextBox 6">
              <a:extLst>
                <a:ext uri="{FF2B5EF4-FFF2-40B4-BE49-F238E27FC236}">
                  <a16:creationId xmlns:a16="http://schemas.microsoft.com/office/drawing/2014/main" id="{A218AAFF-C3F4-2913-ED83-EBBC959F5DAC}"/>
                </a:ext>
              </a:extLst>
            </p:cNvPr>
            <p:cNvSpPr txBox="1"/>
            <p:nvPr userDrawn="1"/>
          </p:nvSpPr>
          <p:spPr>
            <a:xfrm>
              <a:off x="-1351052" y="916735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 IN 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THIS MARGIN</a:t>
              </a:r>
            </a:p>
          </p:txBody>
        </p:sp>
        <p:sp>
          <p:nvSpPr>
            <p:cNvPr id="278" name="Triangle 20">
              <a:extLst>
                <a:ext uri="{FF2B5EF4-FFF2-40B4-BE49-F238E27FC236}">
                  <a16:creationId xmlns:a16="http://schemas.microsoft.com/office/drawing/2014/main" id="{FC06B2D3-B34D-2906-BEA5-2B255C7B96E0}"/>
                </a:ext>
              </a:extLst>
            </p:cNvPr>
            <p:cNvSpPr/>
            <p:nvPr userDrawn="1"/>
          </p:nvSpPr>
          <p:spPr>
            <a:xfrm rot="10800000">
              <a:off x="-169889" y="1158772"/>
              <a:ext cx="112623" cy="79252"/>
            </a:xfrm>
            <a:prstGeom prst="triangle">
              <a:avLst/>
            </a:prstGeom>
            <a:solidFill>
              <a:srgbClr val="74A2FF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ep 89">
            <a:extLst>
              <a:ext uri="{FF2B5EF4-FFF2-40B4-BE49-F238E27FC236}">
                <a16:creationId xmlns:a16="http://schemas.microsoft.com/office/drawing/2014/main" id="{D59C5C48-35AD-A63E-DC26-86E73634677A}"/>
              </a:ext>
            </a:extLst>
          </p:cNvPr>
          <p:cNvGrpSpPr/>
          <p:nvPr userDrawn="1"/>
        </p:nvGrpSpPr>
        <p:grpSpPr>
          <a:xfrm>
            <a:off x="-1427007" y="-511645"/>
            <a:ext cx="2903894" cy="1940242"/>
            <a:chOff x="-1427007" y="-511645"/>
            <a:chExt cx="2903894" cy="1940242"/>
          </a:xfrm>
        </p:grpSpPr>
        <p:sp>
          <p:nvSpPr>
            <p:cNvPr id="5" name="TextBox 225">
              <a:extLst>
                <a:ext uri="{FF2B5EF4-FFF2-40B4-BE49-F238E27FC236}">
                  <a16:creationId xmlns:a16="http://schemas.microsoft.com/office/drawing/2014/main" id="{32E95ECB-E3DD-95AD-0DEA-398BF1A178C7}"/>
                </a:ext>
              </a:extLst>
            </p:cNvPr>
            <p:cNvSpPr txBox="1"/>
            <p:nvPr userDrawn="1"/>
          </p:nvSpPr>
          <p:spPr>
            <a:xfrm>
              <a:off x="115222" y="-506673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7" name="Rectangle 68">
              <a:extLst>
                <a:ext uri="{FF2B5EF4-FFF2-40B4-BE49-F238E27FC236}">
                  <a16:creationId xmlns:a16="http://schemas.microsoft.com/office/drawing/2014/main" id="{AB2972B4-E1F2-58E1-20EA-34DF76C2E882}"/>
                </a:ext>
              </a:extLst>
            </p:cNvPr>
            <p:cNvSpPr/>
            <p:nvPr userDrawn="1"/>
          </p:nvSpPr>
          <p:spPr>
            <a:xfrm>
              <a:off x="147066" y="-511645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8" name="Vrije vorm 92">
              <a:extLst>
                <a:ext uri="{FF2B5EF4-FFF2-40B4-BE49-F238E27FC236}">
                  <a16:creationId xmlns:a16="http://schemas.microsoft.com/office/drawing/2014/main" id="{69987C38-B383-9396-270D-D57A1999E7F2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9" name="Vrije vorm 93">
              <a:extLst>
                <a:ext uri="{FF2B5EF4-FFF2-40B4-BE49-F238E27FC236}">
                  <a16:creationId xmlns:a16="http://schemas.microsoft.com/office/drawing/2014/main" id="{627E3288-DF74-C572-BA77-64616C7838B7}"/>
                </a:ext>
              </a:extLst>
            </p:cNvPr>
            <p:cNvSpPr/>
            <p:nvPr userDrawn="1"/>
          </p:nvSpPr>
          <p:spPr>
            <a:xfrm flipH="1">
              <a:off x="-1427007" y="130179"/>
              <a:ext cx="1427007" cy="227547"/>
            </a:xfrm>
            <a:custGeom>
              <a:avLst/>
              <a:gdLst>
                <a:gd name="connsiteX0" fmla="*/ 1379557 w 1427007"/>
                <a:gd name="connsiteY0" fmla="*/ 0 h 227547"/>
                <a:gd name="connsiteX1" fmla="*/ 0 w 1427007"/>
                <a:gd name="connsiteY1" fmla="*/ 0 h 227547"/>
                <a:gd name="connsiteX2" fmla="*/ 0 w 1427007"/>
                <a:gd name="connsiteY2" fmla="*/ 227547 h 227547"/>
                <a:gd name="connsiteX3" fmla="*/ 1379557 w 1427007"/>
                <a:gd name="connsiteY3" fmla="*/ 227547 h 227547"/>
                <a:gd name="connsiteX4" fmla="*/ 1427007 w 1427007"/>
                <a:gd name="connsiteY4" fmla="*/ 180097 h 227547"/>
                <a:gd name="connsiteX5" fmla="*/ 1427007 w 1427007"/>
                <a:gd name="connsiteY5" fmla="*/ 47450 h 227547"/>
                <a:gd name="connsiteX6" fmla="*/ 1379557 w 1427007"/>
                <a:gd name="connsiteY6" fmla="*/ 0 h 227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7007" h="227547">
                  <a:moveTo>
                    <a:pt x="1379557" y="0"/>
                  </a:moveTo>
                  <a:lnTo>
                    <a:pt x="0" y="0"/>
                  </a:lnTo>
                  <a:lnTo>
                    <a:pt x="0" y="227547"/>
                  </a:lnTo>
                  <a:lnTo>
                    <a:pt x="1379557" y="227547"/>
                  </a:lnTo>
                  <a:cubicBezTo>
                    <a:pt x="1405763" y="227547"/>
                    <a:pt x="1427007" y="206303"/>
                    <a:pt x="1427007" y="180097"/>
                  </a:cubicBezTo>
                  <a:lnTo>
                    <a:pt x="1427007" y="47450"/>
                  </a:lnTo>
                  <a:cubicBezTo>
                    <a:pt x="1427007" y="21244"/>
                    <a:pt x="1405763" y="0"/>
                    <a:pt x="1379557" y="0"/>
                  </a:cubicBezTo>
                  <a:close/>
                </a:path>
              </a:pathLst>
            </a:custGeom>
            <a:gradFill>
              <a:gsLst>
                <a:gs pos="15000">
                  <a:srgbClr val="F8C716"/>
                </a:gs>
                <a:gs pos="0">
                  <a:srgbClr val="EA8C36"/>
                </a:gs>
              </a:gsLst>
              <a:lin ang="0" scaled="0"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72000" bIns="36000" rtlCol="0" anchor="ctr">
              <a:noAutofit/>
            </a:bodyPr>
            <a:lstStyle/>
            <a:p>
              <a:pPr lvl="0" algn="r"/>
              <a:r>
                <a:rPr lang="en-US" sz="800" b="0" i="0" dirty="0">
                  <a:solidFill>
                    <a:schemeClr val="tx1"/>
                  </a:solidFill>
                  <a:latin typeface="Noir Pro Medium" pitchFamily="2" charset="0"/>
                </a:rPr>
                <a:t>PRESENTATION SECTION</a:t>
              </a:r>
              <a:r>
                <a:rPr lang="nl-NL" sz="800" b="0" i="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▸</a:t>
              </a:r>
              <a:endParaRPr lang="en-US" sz="800" b="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TextBox 6">
              <a:extLst>
                <a:ext uri="{FF2B5EF4-FFF2-40B4-BE49-F238E27FC236}">
                  <a16:creationId xmlns:a16="http://schemas.microsoft.com/office/drawing/2014/main" id="{85E0971F-FC0D-FAFC-8BB4-61D0D2B137CD}"/>
                </a:ext>
              </a:extLst>
            </p:cNvPr>
            <p:cNvSpPr txBox="1"/>
            <p:nvPr userDrawn="1"/>
          </p:nvSpPr>
          <p:spPr>
            <a:xfrm>
              <a:off x="-1351052" y="103085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ABOVE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11" name="Triangle 20">
              <a:extLst>
                <a:ext uri="{FF2B5EF4-FFF2-40B4-BE49-F238E27FC236}">
                  <a16:creationId xmlns:a16="http://schemas.microsoft.com/office/drawing/2014/main" id="{C9B50F90-B896-5DCF-BFDB-93B48ACA2A9E}"/>
                </a:ext>
              </a:extLst>
            </p:cNvPr>
            <p:cNvSpPr/>
            <p:nvPr userDrawn="1"/>
          </p:nvSpPr>
          <p:spPr>
            <a:xfrm>
              <a:off x="-169889" y="127232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22">
              <a:extLst>
                <a:ext uri="{FF2B5EF4-FFF2-40B4-BE49-F238E27FC236}">
                  <a16:creationId xmlns:a16="http://schemas.microsoft.com/office/drawing/2014/main" id="{754F6EE8-2E9A-2CBA-BC76-D9C28BEDA66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412872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61">
              <a:extLst>
                <a:ext uri="{FF2B5EF4-FFF2-40B4-BE49-F238E27FC236}">
                  <a16:creationId xmlns:a16="http://schemas.microsoft.com/office/drawing/2014/main" id="{2F3B8A7C-2801-5A4F-FCFF-BB6532792ADD}"/>
                </a:ext>
              </a:extLst>
            </p:cNvPr>
            <p:cNvSpPr txBox="1"/>
            <p:nvPr userDrawn="1"/>
          </p:nvSpPr>
          <p:spPr>
            <a:xfrm>
              <a:off x="-1234836" y="373601"/>
              <a:ext cx="1171414" cy="291811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800" b="0" i="0" dirty="0">
                  <a:solidFill>
                    <a:srgbClr val="EA8C36"/>
                  </a:solidFill>
                  <a:effectLst/>
                  <a:latin typeface="Noir Pro" pitchFamily="2" charset="0"/>
                </a:rPr>
                <a:t>E.G. “Introduction” OR “Conclusions”</a:t>
              </a:r>
            </a:p>
          </p:txBody>
        </p:sp>
        <p:cxnSp>
          <p:nvCxnSpPr>
            <p:cNvPr id="14" name="Straight Connector 80">
              <a:extLst>
                <a:ext uri="{FF2B5EF4-FFF2-40B4-BE49-F238E27FC236}">
                  <a16:creationId xmlns:a16="http://schemas.microsoft.com/office/drawing/2014/main" id="{CA123130-6078-F942-31C8-7D1D314E0D8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-511645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81">
              <a:extLst>
                <a:ext uri="{FF2B5EF4-FFF2-40B4-BE49-F238E27FC236}">
                  <a16:creationId xmlns:a16="http://schemas.microsoft.com/office/drawing/2014/main" id="{658E8802-FB8C-E3CC-28AD-8F34A34182A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-511645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225">
              <a:extLst>
                <a:ext uri="{FF2B5EF4-FFF2-40B4-BE49-F238E27FC236}">
                  <a16:creationId xmlns:a16="http://schemas.microsoft.com/office/drawing/2014/main" id="{D388F448-A8D1-3399-4E61-1638F2075917}"/>
                </a:ext>
              </a:extLst>
            </p:cNvPr>
            <p:cNvSpPr txBox="1"/>
            <p:nvPr userDrawn="1"/>
          </p:nvSpPr>
          <p:spPr>
            <a:xfrm>
              <a:off x="-1021213" y="-506673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       </a:t>
              </a:r>
              <a:r>
                <a:rPr lang="en-US" sz="900" b="1" i="0" dirty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LEFT</a:t>
              </a: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17" name="Triangle 226">
              <a:extLst>
                <a:ext uri="{FF2B5EF4-FFF2-40B4-BE49-F238E27FC236}">
                  <a16:creationId xmlns:a16="http://schemas.microsoft.com/office/drawing/2014/main" id="{0DBA9522-D22B-9DBA-AF8B-D363E3557F6A}"/>
                </a:ext>
              </a:extLst>
            </p:cNvPr>
            <p:cNvSpPr/>
            <p:nvPr userDrawn="1"/>
          </p:nvSpPr>
          <p:spPr>
            <a:xfrm rot="16200000">
              <a:off x="-2942" y="-14505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riangle 226">
              <a:extLst>
                <a:ext uri="{FF2B5EF4-FFF2-40B4-BE49-F238E27FC236}">
                  <a16:creationId xmlns:a16="http://schemas.microsoft.com/office/drawing/2014/main" id="{A82A2DFA-D8C5-D911-DE04-AFB44144EAE6}"/>
                </a:ext>
              </a:extLst>
            </p:cNvPr>
            <p:cNvSpPr/>
            <p:nvPr userDrawn="1"/>
          </p:nvSpPr>
          <p:spPr>
            <a:xfrm rot="16200000">
              <a:off x="226581" y="-146402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ep 119">
            <a:extLst>
              <a:ext uri="{FF2B5EF4-FFF2-40B4-BE49-F238E27FC236}">
                <a16:creationId xmlns:a16="http://schemas.microsoft.com/office/drawing/2014/main" id="{C2A05CFF-BFD2-D7A2-AE40-E01B243946B8}"/>
              </a:ext>
            </a:extLst>
          </p:cNvPr>
          <p:cNvGrpSpPr/>
          <p:nvPr userDrawn="1"/>
        </p:nvGrpSpPr>
        <p:grpSpPr>
          <a:xfrm flipH="1">
            <a:off x="10714464" y="-511645"/>
            <a:ext cx="2854391" cy="1940242"/>
            <a:chOff x="-1377504" y="-511645"/>
            <a:chExt cx="2854391" cy="1940242"/>
          </a:xfrm>
        </p:grpSpPr>
        <p:sp>
          <p:nvSpPr>
            <p:cNvPr id="20" name="TextBox 225">
              <a:extLst>
                <a:ext uri="{FF2B5EF4-FFF2-40B4-BE49-F238E27FC236}">
                  <a16:creationId xmlns:a16="http://schemas.microsoft.com/office/drawing/2014/main" id="{D81A72E2-530F-F1B2-FF4A-95585AE44BA6}"/>
                </a:ext>
              </a:extLst>
            </p:cNvPr>
            <p:cNvSpPr txBox="1"/>
            <p:nvPr userDrawn="1"/>
          </p:nvSpPr>
          <p:spPr>
            <a:xfrm>
              <a:off x="115222" y="-506673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21" name="Rectangle 68">
              <a:extLst>
                <a:ext uri="{FF2B5EF4-FFF2-40B4-BE49-F238E27FC236}">
                  <a16:creationId xmlns:a16="http://schemas.microsoft.com/office/drawing/2014/main" id="{83435E30-E1B5-02A9-A4E0-5FD7CB1BEF6B}"/>
                </a:ext>
              </a:extLst>
            </p:cNvPr>
            <p:cNvSpPr/>
            <p:nvPr userDrawn="1"/>
          </p:nvSpPr>
          <p:spPr>
            <a:xfrm>
              <a:off x="147066" y="-511645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2" name="Vrije vorm 122">
              <a:extLst>
                <a:ext uri="{FF2B5EF4-FFF2-40B4-BE49-F238E27FC236}">
                  <a16:creationId xmlns:a16="http://schemas.microsoft.com/office/drawing/2014/main" id="{0CC0EFCF-04D1-45F4-6702-6FC3A265B70E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A9A16DAD-D221-1339-C097-73024E4EB147}"/>
                </a:ext>
              </a:extLst>
            </p:cNvPr>
            <p:cNvSpPr txBox="1"/>
            <p:nvPr userDrawn="1"/>
          </p:nvSpPr>
          <p:spPr>
            <a:xfrm>
              <a:off x="-1351052" y="103085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ABOVE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24" name="Triangle 20">
              <a:extLst>
                <a:ext uri="{FF2B5EF4-FFF2-40B4-BE49-F238E27FC236}">
                  <a16:creationId xmlns:a16="http://schemas.microsoft.com/office/drawing/2014/main" id="{942D8640-0849-C2B0-5C54-2B32EBC367F3}"/>
                </a:ext>
              </a:extLst>
            </p:cNvPr>
            <p:cNvSpPr/>
            <p:nvPr userDrawn="1"/>
          </p:nvSpPr>
          <p:spPr>
            <a:xfrm>
              <a:off x="-169889" y="127232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2">
              <a:extLst>
                <a:ext uri="{FF2B5EF4-FFF2-40B4-BE49-F238E27FC236}">
                  <a16:creationId xmlns:a16="http://schemas.microsoft.com/office/drawing/2014/main" id="{A443B444-0F2A-7630-FCF7-EF4808767C4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412872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80">
              <a:extLst>
                <a:ext uri="{FF2B5EF4-FFF2-40B4-BE49-F238E27FC236}">
                  <a16:creationId xmlns:a16="http://schemas.microsoft.com/office/drawing/2014/main" id="{4E83FFE7-44CD-8735-C0A4-BE79EC39796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-511645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81">
              <a:extLst>
                <a:ext uri="{FF2B5EF4-FFF2-40B4-BE49-F238E27FC236}">
                  <a16:creationId xmlns:a16="http://schemas.microsoft.com/office/drawing/2014/main" id="{C0F7E114-51AF-14D3-7DBE-7C596486FE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-511645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25">
              <a:extLst>
                <a:ext uri="{FF2B5EF4-FFF2-40B4-BE49-F238E27FC236}">
                  <a16:creationId xmlns:a16="http://schemas.microsoft.com/office/drawing/2014/main" id="{D0DB4980-D536-E5B3-868C-F6D7255C05A0}"/>
                </a:ext>
              </a:extLst>
            </p:cNvPr>
            <p:cNvSpPr txBox="1"/>
            <p:nvPr userDrawn="1"/>
          </p:nvSpPr>
          <p:spPr>
            <a:xfrm>
              <a:off x="-1021213" y="-506673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RIGHT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29" name="Triangle 226">
              <a:extLst>
                <a:ext uri="{FF2B5EF4-FFF2-40B4-BE49-F238E27FC236}">
                  <a16:creationId xmlns:a16="http://schemas.microsoft.com/office/drawing/2014/main" id="{6B36C7E9-EDBA-AFB3-433E-8B2AB725E1FD}"/>
                </a:ext>
              </a:extLst>
            </p:cNvPr>
            <p:cNvSpPr/>
            <p:nvPr userDrawn="1"/>
          </p:nvSpPr>
          <p:spPr>
            <a:xfrm rot="16200000">
              <a:off x="-2942" y="-14505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riangle 226">
              <a:extLst>
                <a:ext uri="{FF2B5EF4-FFF2-40B4-BE49-F238E27FC236}">
                  <a16:creationId xmlns:a16="http://schemas.microsoft.com/office/drawing/2014/main" id="{9B00A46E-70BA-C698-9D23-9A7A9825BEB0}"/>
                </a:ext>
              </a:extLst>
            </p:cNvPr>
            <p:cNvSpPr/>
            <p:nvPr userDrawn="1"/>
          </p:nvSpPr>
          <p:spPr>
            <a:xfrm rot="16200000">
              <a:off x="226581" y="-146402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ep 148">
            <a:extLst>
              <a:ext uri="{FF2B5EF4-FFF2-40B4-BE49-F238E27FC236}">
                <a16:creationId xmlns:a16="http://schemas.microsoft.com/office/drawing/2014/main" id="{B065A78A-517B-7FE3-9BD1-5BBA83C5B2FD}"/>
              </a:ext>
            </a:extLst>
          </p:cNvPr>
          <p:cNvGrpSpPr/>
          <p:nvPr userDrawn="1"/>
        </p:nvGrpSpPr>
        <p:grpSpPr>
          <a:xfrm>
            <a:off x="-1377504" y="4674513"/>
            <a:ext cx="2854391" cy="2702025"/>
            <a:chOff x="-1377504" y="-455451"/>
            <a:chExt cx="2854391" cy="2702025"/>
          </a:xfrm>
        </p:grpSpPr>
        <p:sp>
          <p:nvSpPr>
            <p:cNvPr id="49" name="Rectangle 68">
              <a:extLst>
                <a:ext uri="{FF2B5EF4-FFF2-40B4-BE49-F238E27FC236}">
                  <a16:creationId xmlns:a16="http://schemas.microsoft.com/office/drawing/2014/main" id="{68E74EB2-0DC9-4FFA-13D4-BC1CAAD5C2DA}"/>
                </a:ext>
              </a:extLst>
            </p:cNvPr>
            <p:cNvSpPr/>
            <p:nvPr userDrawn="1"/>
          </p:nvSpPr>
          <p:spPr>
            <a:xfrm>
              <a:off x="-1371600" y="1126373"/>
              <a:ext cx="1364481" cy="134047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1620000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50" name="TextBox 225">
              <a:extLst>
                <a:ext uri="{FF2B5EF4-FFF2-40B4-BE49-F238E27FC236}">
                  <a16:creationId xmlns:a16="http://schemas.microsoft.com/office/drawing/2014/main" id="{1416B053-515C-7D37-719A-D5396792901F}"/>
                </a:ext>
              </a:extLst>
            </p:cNvPr>
            <p:cNvSpPr txBox="1"/>
            <p:nvPr userDrawn="1"/>
          </p:nvSpPr>
          <p:spPr>
            <a:xfrm>
              <a:off x="115222" y="1877242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51" name="Rectangle 68">
              <a:extLst>
                <a:ext uri="{FF2B5EF4-FFF2-40B4-BE49-F238E27FC236}">
                  <a16:creationId xmlns:a16="http://schemas.microsoft.com/office/drawing/2014/main" id="{B67387B5-D96B-0662-6DE0-1CEDDB232D44}"/>
                </a:ext>
              </a:extLst>
            </p:cNvPr>
            <p:cNvSpPr/>
            <p:nvPr userDrawn="1"/>
          </p:nvSpPr>
          <p:spPr>
            <a:xfrm>
              <a:off x="147066" y="1738388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52" name="Vrije vorm 162">
              <a:extLst>
                <a:ext uri="{FF2B5EF4-FFF2-40B4-BE49-F238E27FC236}">
                  <a16:creationId xmlns:a16="http://schemas.microsoft.com/office/drawing/2014/main" id="{D25AB246-D0F9-FF11-D812-6CE65EEA93D7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53" name="TextBox 6">
              <a:extLst>
                <a:ext uri="{FF2B5EF4-FFF2-40B4-BE49-F238E27FC236}">
                  <a16:creationId xmlns:a16="http://schemas.microsoft.com/office/drawing/2014/main" id="{49857C07-3FD7-ABA2-AE3A-5A082586E45F}"/>
                </a:ext>
              </a:extLst>
            </p:cNvPr>
            <p:cNvSpPr txBox="1"/>
            <p:nvPr userDrawn="1"/>
          </p:nvSpPr>
          <p:spPr>
            <a:xfrm>
              <a:off x="-1351052" y="123778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BELOW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54" name="Triangle 20">
              <a:extLst>
                <a:ext uri="{FF2B5EF4-FFF2-40B4-BE49-F238E27FC236}">
                  <a16:creationId xmlns:a16="http://schemas.microsoft.com/office/drawing/2014/main" id="{5F6BB872-7452-D5A8-42F6-FB044B207267}"/>
                </a:ext>
              </a:extLst>
            </p:cNvPr>
            <p:cNvSpPr/>
            <p:nvPr userDrawn="1"/>
          </p:nvSpPr>
          <p:spPr>
            <a:xfrm rot="10800000">
              <a:off x="-169889" y="1342928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22">
              <a:extLst>
                <a:ext uri="{FF2B5EF4-FFF2-40B4-BE49-F238E27FC236}">
                  <a16:creationId xmlns:a16="http://schemas.microsoft.com/office/drawing/2014/main" id="{7ABC8ED3-35BE-3005-C4F5-CE56B7C3290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254498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80">
              <a:extLst>
                <a:ext uri="{FF2B5EF4-FFF2-40B4-BE49-F238E27FC236}">
                  <a16:creationId xmlns:a16="http://schemas.microsoft.com/office/drawing/2014/main" id="{4DFCD810-B71B-1937-A748-B404B5D5D35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1738388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81">
              <a:extLst>
                <a:ext uri="{FF2B5EF4-FFF2-40B4-BE49-F238E27FC236}">
                  <a16:creationId xmlns:a16="http://schemas.microsoft.com/office/drawing/2014/main" id="{CC59845C-9422-C747-98C4-6BE9969399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1738388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225">
              <a:extLst>
                <a:ext uri="{FF2B5EF4-FFF2-40B4-BE49-F238E27FC236}">
                  <a16:creationId xmlns:a16="http://schemas.microsoft.com/office/drawing/2014/main" id="{DF4979DD-C143-00E2-257F-D2A99369298A}"/>
                </a:ext>
              </a:extLst>
            </p:cNvPr>
            <p:cNvSpPr txBox="1"/>
            <p:nvPr userDrawn="1"/>
          </p:nvSpPr>
          <p:spPr>
            <a:xfrm>
              <a:off x="-1021213" y="1877242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      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LEFT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59" name="Triangle 226">
              <a:extLst>
                <a:ext uri="{FF2B5EF4-FFF2-40B4-BE49-F238E27FC236}">
                  <a16:creationId xmlns:a16="http://schemas.microsoft.com/office/drawing/2014/main" id="{FD27ABA0-7135-DACE-FC6C-8A9EAAD90783}"/>
                </a:ext>
              </a:extLst>
            </p:cNvPr>
            <p:cNvSpPr/>
            <p:nvPr userDrawn="1"/>
          </p:nvSpPr>
          <p:spPr>
            <a:xfrm rot="16200000">
              <a:off x="-2942" y="1806976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riangle 226">
              <a:extLst>
                <a:ext uri="{FF2B5EF4-FFF2-40B4-BE49-F238E27FC236}">
                  <a16:creationId xmlns:a16="http://schemas.microsoft.com/office/drawing/2014/main" id="{2F3941FD-9462-C017-A887-F06C79F528F4}"/>
                </a:ext>
              </a:extLst>
            </p:cNvPr>
            <p:cNvSpPr/>
            <p:nvPr userDrawn="1"/>
          </p:nvSpPr>
          <p:spPr>
            <a:xfrm rot="16200000">
              <a:off x="225082" y="1805625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" name="Straight Connector 22">
              <a:extLst>
                <a:ext uri="{FF2B5EF4-FFF2-40B4-BE49-F238E27FC236}">
                  <a16:creationId xmlns:a16="http://schemas.microsoft.com/office/drawing/2014/main" id="{9C81FCA9-FCE4-FEF4-4B6B-AA410333A9E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127619"/>
              <a:ext cx="1367345" cy="0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">
              <a:extLst>
                <a:ext uri="{FF2B5EF4-FFF2-40B4-BE49-F238E27FC236}">
                  <a16:creationId xmlns:a16="http://schemas.microsoft.com/office/drawing/2014/main" id="{A2E9BB0C-D35B-4116-2AC4-90E9717E5237}"/>
                </a:ext>
              </a:extLst>
            </p:cNvPr>
            <p:cNvSpPr txBox="1"/>
            <p:nvPr userDrawn="1"/>
          </p:nvSpPr>
          <p:spPr>
            <a:xfrm>
              <a:off x="-1266826" y="909673"/>
              <a:ext cx="1144135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 </a:t>
              </a:r>
              <a:r>
                <a:rPr lang="en-US" sz="900" b="1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</a:t>
              </a:r>
              <a:br>
                <a:rPr lang="en-US" sz="900" b="1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THIS MARGIN</a:t>
              </a:r>
            </a:p>
          </p:txBody>
        </p:sp>
        <p:sp>
          <p:nvSpPr>
            <p:cNvPr id="63" name="Triangle 20">
              <a:extLst>
                <a:ext uri="{FF2B5EF4-FFF2-40B4-BE49-F238E27FC236}">
                  <a16:creationId xmlns:a16="http://schemas.microsoft.com/office/drawing/2014/main" id="{E8031D7B-7681-7AE4-A37D-529EC4686204}"/>
                </a:ext>
              </a:extLst>
            </p:cNvPr>
            <p:cNvSpPr/>
            <p:nvPr userDrawn="1"/>
          </p:nvSpPr>
          <p:spPr>
            <a:xfrm rot="10800000">
              <a:off x="-169889" y="1151710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9" name="Rechthoek 148">
            <a:extLst>
              <a:ext uri="{FF2B5EF4-FFF2-40B4-BE49-F238E27FC236}">
                <a16:creationId xmlns:a16="http://schemas.microsoft.com/office/drawing/2014/main" id="{912E8D36-CEBC-F4A4-DC48-0FFC029F5CDB}"/>
              </a:ext>
            </a:extLst>
          </p:cNvPr>
          <p:cNvSpPr/>
          <p:nvPr userDrawn="1"/>
        </p:nvSpPr>
        <p:spPr>
          <a:xfrm>
            <a:off x="0" y="6334783"/>
            <a:ext cx="12192000" cy="522161"/>
          </a:xfrm>
          <a:prstGeom prst="rect">
            <a:avLst/>
          </a:prstGeom>
          <a:gradFill>
            <a:gsLst>
              <a:gs pos="100000">
                <a:srgbClr val="1847B2"/>
              </a:gs>
              <a:gs pos="16000">
                <a:srgbClr val="151632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NL"/>
          </a:p>
        </p:txBody>
      </p:sp>
      <p:sp>
        <p:nvSpPr>
          <p:cNvPr id="150" name="Rounded Rectangle 11">
            <a:extLst>
              <a:ext uri="{FF2B5EF4-FFF2-40B4-BE49-F238E27FC236}">
                <a16:creationId xmlns:a16="http://schemas.microsoft.com/office/drawing/2014/main" id="{2D4AC5C1-8471-5765-EE2F-B91C401EEABC}"/>
              </a:ext>
            </a:extLst>
          </p:cNvPr>
          <p:cNvSpPr/>
          <p:nvPr userDrawn="1"/>
        </p:nvSpPr>
        <p:spPr>
          <a:xfrm>
            <a:off x="1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5000">
                <a:srgbClr val="003AAE"/>
              </a:gs>
              <a:gs pos="12000">
                <a:srgbClr val="002E8B"/>
              </a:gs>
              <a:gs pos="32000">
                <a:srgbClr val="151632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62" name="Rectangle 22">
            <a:extLst>
              <a:ext uri="{FF2B5EF4-FFF2-40B4-BE49-F238E27FC236}">
                <a16:creationId xmlns:a16="http://schemas.microsoft.com/office/drawing/2014/main" id="{A9735FA5-2FA2-C8BE-D5A8-A0118D2693E8}"/>
              </a:ext>
            </a:extLst>
          </p:cNvPr>
          <p:cNvSpPr/>
          <p:nvPr userDrawn="1"/>
        </p:nvSpPr>
        <p:spPr>
          <a:xfrm>
            <a:off x="0" y="0"/>
            <a:ext cx="12192000" cy="6334783"/>
          </a:xfrm>
          <a:prstGeom prst="rect">
            <a:avLst/>
          </a:prstGeom>
          <a:solidFill>
            <a:srgbClr val="15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 2">
            <a:extLst>
              <a:ext uri="{FF2B5EF4-FFF2-40B4-BE49-F238E27FC236}">
                <a16:creationId xmlns:a16="http://schemas.microsoft.com/office/drawing/2014/main" id="{47AF9F50-B0AE-A4D9-6892-D5B682DB31A2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9C716">
                  <a:alpha val="78258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9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65" name="Rounded Rectangle 92">
            <a:extLst>
              <a:ext uri="{FF2B5EF4-FFF2-40B4-BE49-F238E27FC236}">
                <a16:creationId xmlns:a16="http://schemas.microsoft.com/office/drawing/2014/main" id="{B6B0EA6D-93FA-0E47-82BC-6E9A5D82BC56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166" name="Rectangle 3">
            <a:extLst>
              <a:ext uri="{FF2B5EF4-FFF2-40B4-BE49-F238E27FC236}">
                <a16:creationId xmlns:a16="http://schemas.microsoft.com/office/drawing/2014/main" id="{929202E0-FBA3-6D1C-5DB2-A7003046CE87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rgbClr val="14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7" name="Straight Connector 9">
            <a:extLst>
              <a:ext uri="{FF2B5EF4-FFF2-40B4-BE49-F238E27FC236}">
                <a16:creationId xmlns:a16="http://schemas.microsoft.com/office/drawing/2014/main" id="{B175B565-7FF3-C6FA-3AEF-FECA88B3E490}"/>
              </a:ext>
            </a:extLst>
          </p:cNvPr>
          <p:cNvCxnSpPr>
            <a:cxnSpLocks/>
          </p:cNvCxnSpPr>
          <p:nvPr userDrawn="1"/>
        </p:nvCxnSpPr>
        <p:spPr>
          <a:xfrm>
            <a:off x="154800" y="1254633"/>
            <a:ext cx="11879999" cy="0"/>
          </a:xfrm>
          <a:prstGeom prst="line">
            <a:avLst/>
          </a:prstGeom>
          <a:ln w="9525">
            <a:solidFill>
              <a:srgbClr val="B0B0B0">
                <a:alpha val="4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hthoek 169">
            <a:extLst>
              <a:ext uri="{FF2B5EF4-FFF2-40B4-BE49-F238E27FC236}">
                <a16:creationId xmlns:a16="http://schemas.microsoft.com/office/drawing/2014/main" id="{A86F3B83-6262-41A8-700E-61C3B1838F75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2" name="Rectangle 22">
            <a:extLst>
              <a:ext uri="{FF2B5EF4-FFF2-40B4-BE49-F238E27FC236}">
                <a16:creationId xmlns:a16="http://schemas.microsoft.com/office/drawing/2014/main" id="{A60FFE3A-8FA1-676B-EFFA-9F7E31AFE577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14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399" y="6469694"/>
            <a:ext cx="626400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spAutoFit/>
          </a:bodyPr>
          <a:lstStyle>
            <a:lvl1pPr algn="ctr">
              <a:defRPr lang="en-US" sz="900" b="0" spc="10" baseline="0" smtClean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cxnSp>
        <p:nvCxnSpPr>
          <p:cNvPr id="173" name="Straight Connector 9">
            <a:extLst>
              <a:ext uri="{FF2B5EF4-FFF2-40B4-BE49-F238E27FC236}">
                <a16:creationId xmlns:a16="http://schemas.microsoft.com/office/drawing/2014/main" id="{8D280FE2-26DA-3F87-A7A0-367871842674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18000">
                  <a:srgbClr val="B0B0B0">
                    <a:alpha val="0"/>
                  </a:srgbClr>
                </a:gs>
                <a:gs pos="43000">
                  <a:srgbClr val="B0B0B0">
                    <a:alpha val="40000"/>
                  </a:srgb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4">
            <a:extLst>
              <a:ext uri="{FF2B5EF4-FFF2-40B4-BE49-F238E27FC236}">
                <a16:creationId xmlns:a16="http://schemas.microsoft.com/office/drawing/2014/main" id="{73B235D3-3C1A-926C-96F7-876AEA7F759F}"/>
              </a:ext>
            </a:extLst>
          </p:cNvPr>
          <p:cNvSpPr/>
          <p:nvPr userDrawn="1"/>
        </p:nvSpPr>
        <p:spPr>
          <a:xfrm>
            <a:off x="0" y="3429001"/>
            <a:ext cx="8134958" cy="2964608"/>
          </a:xfrm>
          <a:prstGeom prst="rect">
            <a:avLst/>
          </a:prstGeom>
          <a:gradFill>
            <a:gsLst>
              <a:gs pos="0">
                <a:srgbClr val="1864FF">
                  <a:alpha val="66667"/>
                </a:srgbClr>
              </a:gs>
              <a:gs pos="45000">
                <a:srgbClr val="151632">
                  <a:alpha val="0"/>
                </a:srgbClr>
              </a:gs>
              <a:gs pos="11000">
                <a:srgbClr val="1864FF">
                  <a:alpha val="56863"/>
                </a:srgbClr>
              </a:gs>
              <a:gs pos="35000">
                <a:srgbClr val="173D99">
                  <a:alpha val="24023"/>
                </a:srgbClr>
              </a:gs>
              <a:gs pos="22000">
                <a:srgbClr val="1864FF">
                  <a:alpha val="35686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152" name="Rectangle 4">
            <a:extLst>
              <a:ext uri="{FF2B5EF4-FFF2-40B4-BE49-F238E27FC236}">
                <a16:creationId xmlns:a16="http://schemas.microsoft.com/office/drawing/2014/main" id="{C05BC534-2B27-A9B7-CEAE-FECCCD47CBF9}"/>
              </a:ext>
            </a:extLst>
          </p:cNvPr>
          <p:cNvSpPr/>
          <p:nvPr userDrawn="1"/>
        </p:nvSpPr>
        <p:spPr>
          <a:xfrm>
            <a:off x="154800" y="5446799"/>
            <a:ext cx="8134958" cy="946809"/>
          </a:xfrm>
          <a:prstGeom prst="rect">
            <a:avLst/>
          </a:prstGeom>
          <a:gradFill>
            <a:gsLst>
              <a:gs pos="0">
                <a:srgbClr val="1864FF">
                  <a:alpha val="62745"/>
                </a:srgbClr>
              </a:gs>
              <a:gs pos="14000">
                <a:srgbClr val="1864FF">
                  <a:alpha val="16863"/>
                </a:srgbClr>
              </a:gs>
              <a:gs pos="28000">
                <a:srgbClr val="1864FF">
                  <a:alpha val="0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6C8C7-4A4D-FB4E-9345-9292EFEF7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5208" y="640791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 marL="0" algn="l" defTabSz="914400" rtl="0" eaLnBrk="1" latinLnBrk="0" hangingPunct="1">
              <a:defRPr lang="en-US" sz="900" b="0" cap="none" spc="0" baseline="0" dirty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Generated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</a:t>
            </a:r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with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Sigrid</a:t>
            </a:r>
          </a:p>
          <a:p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for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CUSTOMER_NAME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200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US" dirty="0"/>
          </a:p>
        </p:txBody>
      </p:sp>
      <p:grpSp>
        <p:nvGrpSpPr>
          <p:cNvPr id="31" name="Groep 30">
            <a:extLst>
              <a:ext uri="{FF2B5EF4-FFF2-40B4-BE49-F238E27FC236}">
                <a16:creationId xmlns:a16="http://schemas.microsoft.com/office/drawing/2014/main" id="{9E6A6A6B-50E5-38EF-4BD3-D020EE8689B3}"/>
              </a:ext>
            </a:extLst>
          </p:cNvPr>
          <p:cNvGrpSpPr/>
          <p:nvPr userDrawn="1"/>
        </p:nvGrpSpPr>
        <p:grpSpPr>
          <a:xfrm>
            <a:off x="12194479" y="1557707"/>
            <a:ext cx="1757701" cy="4093925"/>
            <a:chOff x="12194479" y="1557707"/>
            <a:chExt cx="1757701" cy="4093925"/>
          </a:xfrm>
        </p:grpSpPr>
        <p:sp>
          <p:nvSpPr>
            <p:cNvPr id="32" name="TextBox 221">
              <a:extLst>
                <a:ext uri="{FF2B5EF4-FFF2-40B4-BE49-F238E27FC236}">
                  <a16:creationId xmlns:a16="http://schemas.microsoft.com/office/drawing/2014/main" id="{066C03D8-F9E0-2E6A-1D60-4703BFF4BF08}"/>
                </a:ext>
              </a:extLst>
            </p:cNvPr>
            <p:cNvSpPr txBox="1"/>
            <p:nvPr userDrawn="1"/>
          </p:nvSpPr>
          <p:spPr>
            <a:xfrm>
              <a:off x="12207792" y="3617036"/>
              <a:ext cx="1744388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 dirty="0">
                  <a:solidFill>
                    <a:srgbClr val="929292"/>
                  </a:solidFill>
                  <a:latin typeface="Noir Pro Medium" pitchFamily="2" charset="0"/>
                </a:rPr>
                <a:t>TEXT COLORS – LIGHT BACKGROUND</a:t>
              </a:r>
            </a:p>
          </p:txBody>
        </p:sp>
        <p:sp>
          <p:nvSpPr>
            <p:cNvPr id="33" name="TextBox 224">
              <a:extLst>
                <a:ext uri="{FF2B5EF4-FFF2-40B4-BE49-F238E27FC236}">
                  <a16:creationId xmlns:a16="http://schemas.microsoft.com/office/drawing/2014/main" id="{6DA5FEDC-18D6-8CDA-F9D2-422186B578C7}"/>
                </a:ext>
              </a:extLst>
            </p:cNvPr>
            <p:cNvSpPr txBox="1"/>
            <p:nvPr userDrawn="1"/>
          </p:nvSpPr>
          <p:spPr>
            <a:xfrm>
              <a:off x="12207792" y="4073549"/>
              <a:ext cx="17331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TEXT COLORS – DARK BACKGROUND</a:t>
              </a:r>
            </a:p>
          </p:txBody>
        </p:sp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35CE28EB-FFCD-D541-EA26-34F53FBD21EB}"/>
                </a:ext>
              </a:extLst>
            </p:cNvPr>
            <p:cNvGrpSpPr/>
            <p:nvPr userDrawn="1"/>
          </p:nvGrpSpPr>
          <p:grpSpPr>
            <a:xfrm>
              <a:off x="12301425" y="3044549"/>
              <a:ext cx="1288114" cy="238539"/>
              <a:chOff x="12298208" y="4999574"/>
              <a:chExt cx="1288114" cy="238539"/>
            </a:xfrm>
          </p:grpSpPr>
          <p:sp>
            <p:nvSpPr>
              <p:cNvPr id="203" name="Rounded Rectangle 192">
                <a:extLst>
                  <a:ext uri="{FF2B5EF4-FFF2-40B4-BE49-F238E27FC236}">
                    <a16:creationId xmlns:a16="http://schemas.microsoft.com/office/drawing/2014/main" id="{9618C981-28CD-9B62-AEA5-B72309EBC59D}"/>
                  </a:ext>
                </a:extLst>
              </p:cNvPr>
              <p:cNvSpPr/>
              <p:nvPr userDrawn="1"/>
            </p:nvSpPr>
            <p:spPr>
              <a:xfrm>
                <a:off x="12298208" y="4999574"/>
                <a:ext cx="238539" cy="238539"/>
              </a:xfrm>
              <a:prstGeom prst="roundRect">
                <a:avLst/>
              </a:prstGeom>
              <a:solidFill>
                <a:srgbClr val="04040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1</a:t>
                </a:r>
              </a:p>
            </p:txBody>
          </p:sp>
          <p:sp>
            <p:nvSpPr>
              <p:cNvPr id="204" name="Rounded Rectangle 192">
                <a:extLst>
                  <a:ext uri="{FF2B5EF4-FFF2-40B4-BE49-F238E27FC236}">
                    <a16:creationId xmlns:a16="http://schemas.microsoft.com/office/drawing/2014/main" id="{21ED55EF-4A66-C250-0552-ABF809B489CB}"/>
                  </a:ext>
                </a:extLst>
              </p:cNvPr>
              <p:cNvSpPr/>
              <p:nvPr userDrawn="1"/>
            </p:nvSpPr>
            <p:spPr>
              <a:xfrm>
                <a:off x="12403166" y="4999574"/>
                <a:ext cx="238539" cy="238539"/>
              </a:xfrm>
              <a:prstGeom prst="roundRect">
                <a:avLst/>
              </a:prstGeom>
              <a:solidFill>
                <a:srgbClr val="1723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2</a:t>
                </a:r>
              </a:p>
            </p:txBody>
          </p:sp>
          <p:sp>
            <p:nvSpPr>
              <p:cNvPr id="205" name="Rounded Rectangle 192">
                <a:extLst>
                  <a:ext uri="{FF2B5EF4-FFF2-40B4-BE49-F238E27FC236}">
                    <a16:creationId xmlns:a16="http://schemas.microsoft.com/office/drawing/2014/main" id="{F7C1226B-DED1-9D42-E63A-DCDE41AA8DE0}"/>
                  </a:ext>
                </a:extLst>
              </p:cNvPr>
              <p:cNvSpPr/>
              <p:nvPr userDrawn="1"/>
            </p:nvSpPr>
            <p:spPr>
              <a:xfrm>
                <a:off x="12508124" y="4999574"/>
                <a:ext cx="238539" cy="238539"/>
              </a:xfrm>
              <a:prstGeom prst="roundRect">
                <a:avLst/>
              </a:prstGeom>
              <a:solidFill>
                <a:srgbClr val="162F7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3</a:t>
                </a:r>
              </a:p>
            </p:txBody>
          </p:sp>
          <p:sp>
            <p:nvSpPr>
              <p:cNvPr id="206" name="Rounded Rectangle 192">
                <a:extLst>
                  <a:ext uri="{FF2B5EF4-FFF2-40B4-BE49-F238E27FC236}">
                    <a16:creationId xmlns:a16="http://schemas.microsoft.com/office/drawing/2014/main" id="{41D16ED5-3FC1-934D-18D3-1AC9E84848DA}"/>
                  </a:ext>
                </a:extLst>
              </p:cNvPr>
              <p:cNvSpPr/>
              <p:nvPr userDrawn="1"/>
            </p:nvSpPr>
            <p:spPr>
              <a:xfrm>
                <a:off x="12613082" y="4999574"/>
                <a:ext cx="238539" cy="238539"/>
              </a:xfrm>
              <a:prstGeom prst="roundRect">
                <a:avLst/>
              </a:prstGeom>
              <a:solidFill>
                <a:srgbClr val="1947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4</a:t>
                </a:r>
              </a:p>
            </p:txBody>
          </p:sp>
          <p:sp>
            <p:nvSpPr>
              <p:cNvPr id="207" name="Rounded Rectangle 192">
                <a:extLst>
                  <a:ext uri="{FF2B5EF4-FFF2-40B4-BE49-F238E27FC236}">
                    <a16:creationId xmlns:a16="http://schemas.microsoft.com/office/drawing/2014/main" id="{ACA6061C-537F-FA8B-CE4A-032AC58CEA09}"/>
                  </a:ext>
                </a:extLst>
              </p:cNvPr>
              <p:cNvSpPr/>
              <p:nvPr userDrawn="1"/>
            </p:nvSpPr>
            <p:spPr>
              <a:xfrm>
                <a:off x="12718040" y="4999574"/>
                <a:ext cx="238539" cy="238539"/>
              </a:xfrm>
              <a:prstGeom prst="roundRect">
                <a:avLst/>
              </a:prstGeom>
              <a:solidFill>
                <a:srgbClr val="1859D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5</a:t>
                </a:r>
              </a:p>
            </p:txBody>
          </p:sp>
          <p:sp>
            <p:nvSpPr>
              <p:cNvPr id="208" name="Rounded Rectangle 192">
                <a:extLst>
                  <a:ext uri="{FF2B5EF4-FFF2-40B4-BE49-F238E27FC236}">
                    <a16:creationId xmlns:a16="http://schemas.microsoft.com/office/drawing/2014/main" id="{03490847-C703-37B9-668D-B2C6CD6F6E1F}"/>
                  </a:ext>
                </a:extLst>
              </p:cNvPr>
              <p:cNvSpPr/>
              <p:nvPr userDrawn="1"/>
            </p:nvSpPr>
            <p:spPr>
              <a:xfrm>
                <a:off x="13347783" y="4999574"/>
                <a:ext cx="238539" cy="238539"/>
              </a:xfrm>
              <a:prstGeom prst="roundRect">
                <a:avLst/>
              </a:prstGeom>
              <a:solidFill>
                <a:srgbClr val="BCCB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11</a:t>
                </a:r>
              </a:p>
            </p:txBody>
          </p:sp>
          <p:sp>
            <p:nvSpPr>
              <p:cNvPr id="209" name="Rounded Rectangle 192">
                <a:extLst>
                  <a:ext uri="{FF2B5EF4-FFF2-40B4-BE49-F238E27FC236}">
                    <a16:creationId xmlns:a16="http://schemas.microsoft.com/office/drawing/2014/main" id="{FEF3ED4D-4C0B-FD8D-5F10-E3E70506234C}"/>
                  </a:ext>
                </a:extLst>
              </p:cNvPr>
              <p:cNvSpPr/>
              <p:nvPr userDrawn="1"/>
            </p:nvSpPr>
            <p:spPr>
              <a:xfrm>
                <a:off x="13242830" y="4999574"/>
                <a:ext cx="238539" cy="238539"/>
              </a:xfrm>
              <a:prstGeom prst="roundRect">
                <a:avLst/>
              </a:prstGeom>
              <a:solidFill>
                <a:srgbClr val="88ADF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10</a:t>
                </a:r>
              </a:p>
            </p:txBody>
          </p:sp>
          <p:sp>
            <p:nvSpPr>
              <p:cNvPr id="210" name="Rounded Rectangle 192">
                <a:extLst>
                  <a:ext uri="{FF2B5EF4-FFF2-40B4-BE49-F238E27FC236}">
                    <a16:creationId xmlns:a16="http://schemas.microsoft.com/office/drawing/2014/main" id="{E311E1CA-1EAF-037A-CF4A-0BC946DE7638}"/>
                  </a:ext>
                </a:extLst>
              </p:cNvPr>
              <p:cNvSpPr/>
              <p:nvPr userDrawn="1"/>
            </p:nvSpPr>
            <p:spPr>
              <a:xfrm>
                <a:off x="13137872" y="4999574"/>
                <a:ext cx="238539" cy="238539"/>
              </a:xfrm>
              <a:prstGeom prst="roundRect">
                <a:avLst/>
              </a:prstGeom>
              <a:solidFill>
                <a:srgbClr val="6997F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9</a:t>
                </a:r>
              </a:p>
            </p:txBody>
          </p:sp>
          <p:sp>
            <p:nvSpPr>
              <p:cNvPr id="211" name="Rounded Rectangle 192">
                <a:extLst>
                  <a:ext uri="{FF2B5EF4-FFF2-40B4-BE49-F238E27FC236}">
                    <a16:creationId xmlns:a16="http://schemas.microsoft.com/office/drawing/2014/main" id="{1BC20D0D-8762-EB82-DED6-2289162CBC7C}"/>
                  </a:ext>
                </a:extLst>
              </p:cNvPr>
              <p:cNvSpPr/>
              <p:nvPr userDrawn="1"/>
            </p:nvSpPr>
            <p:spPr>
              <a:xfrm>
                <a:off x="13032914" y="4999574"/>
                <a:ext cx="238539" cy="238539"/>
              </a:xfrm>
              <a:prstGeom prst="roundRect">
                <a:avLst/>
              </a:prstGeom>
              <a:solidFill>
                <a:srgbClr val="4D85F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8</a:t>
                </a:r>
              </a:p>
            </p:txBody>
          </p:sp>
          <p:sp>
            <p:nvSpPr>
              <p:cNvPr id="212" name="Rounded Rectangle 192">
                <a:extLst>
                  <a:ext uri="{FF2B5EF4-FFF2-40B4-BE49-F238E27FC236}">
                    <a16:creationId xmlns:a16="http://schemas.microsoft.com/office/drawing/2014/main" id="{E782A8F1-F9DF-534B-B1D3-B3E7CF2C38A3}"/>
                  </a:ext>
                </a:extLst>
              </p:cNvPr>
              <p:cNvSpPr/>
              <p:nvPr userDrawn="1"/>
            </p:nvSpPr>
            <p:spPr>
              <a:xfrm>
                <a:off x="12927956" y="4999574"/>
                <a:ext cx="238539" cy="238539"/>
              </a:xfrm>
              <a:prstGeom prst="roundRect">
                <a:avLst/>
              </a:prstGeom>
              <a:solidFill>
                <a:srgbClr val="307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7</a:t>
                </a:r>
              </a:p>
            </p:txBody>
          </p:sp>
          <p:sp>
            <p:nvSpPr>
              <p:cNvPr id="213" name="Rounded Rectangle 192">
                <a:extLst>
                  <a:ext uri="{FF2B5EF4-FFF2-40B4-BE49-F238E27FC236}">
                    <a16:creationId xmlns:a16="http://schemas.microsoft.com/office/drawing/2014/main" id="{30B61454-8575-F166-5B53-203715E93CD9}"/>
                  </a:ext>
                </a:extLst>
              </p:cNvPr>
              <p:cNvSpPr/>
              <p:nvPr userDrawn="1"/>
            </p:nvSpPr>
            <p:spPr>
              <a:xfrm>
                <a:off x="12822998" y="4999574"/>
                <a:ext cx="238539" cy="238539"/>
              </a:xfrm>
              <a:prstGeom prst="roundRect">
                <a:avLst/>
              </a:prstGeom>
              <a:solidFill>
                <a:srgbClr val="1864FF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bIns="0" rtlCol="0" anchor="b"/>
              <a:lstStyle/>
              <a:p>
                <a:pPr algn="ctr"/>
                <a:r>
                  <a:rPr lang="en-US" sz="800" b="0" i="0">
                    <a:latin typeface="Noir Pro" pitchFamily="2" charset="0"/>
                  </a:rPr>
                  <a:t>6</a:t>
                </a:r>
              </a:p>
            </p:txBody>
          </p:sp>
        </p:grp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75A30032-DA97-85EF-C5DD-4AD304FCB16B}"/>
                </a:ext>
              </a:extLst>
            </p:cNvPr>
            <p:cNvSpPr/>
            <p:nvPr userDrawn="1"/>
          </p:nvSpPr>
          <p:spPr>
            <a:xfrm>
              <a:off x="12194479" y="1557707"/>
              <a:ext cx="1644280" cy="360000"/>
            </a:xfrm>
            <a:custGeom>
              <a:avLst/>
              <a:gdLst>
                <a:gd name="connsiteX0" fmla="*/ 0 w 1644280"/>
                <a:gd name="connsiteY0" fmla="*/ 0 h 360000"/>
                <a:gd name="connsiteX1" fmla="*/ 1584279 w 1644280"/>
                <a:gd name="connsiteY1" fmla="*/ 0 h 360000"/>
                <a:gd name="connsiteX2" fmla="*/ 1644280 w 1644280"/>
                <a:gd name="connsiteY2" fmla="*/ 60001 h 360000"/>
                <a:gd name="connsiteX3" fmla="*/ 1644280 w 1644280"/>
                <a:gd name="connsiteY3" fmla="*/ 299999 h 360000"/>
                <a:gd name="connsiteX4" fmla="*/ 1584279 w 1644280"/>
                <a:gd name="connsiteY4" fmla="*/ 360000 h 360000"/>
                <a:gd name="connsiteX5" fmla="*/ 0 w 1644280"/>
                <a:gd name="connsiteY5" fmla="*/ 36000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4280" h="360000">
                  <a:moveTo>
                    <a:pt x="0" y="0"/>
                  </a:moveTo>
                  <a:lnTo>
                    <a:pt x="1584279" y="0"/>
                  </a:lnTo>
                  <a:cubicBezTo>
                    <a:pt x="1617417" y="0"/>
                    <a:pt x="1644280" y="26863"/>
                    <a:pt x="1644280" y="60001"/>
                  </a:cubicBezTo>
                  <a:lnTo>
                    <a:pt x="1644280" y="299999"/>
                  </a:lnTo>
                  <a:cubicBezTo>
                    <a:pt x="1644280" y="333137"/>
                    <a:pt x="1617417" y="360000"/>
                    <a:pt x="1584279" y="360000"/>
                  </a:cubicBezTo>
                  <a:lnTo>
                    <a:pt x="0" y="360000"/>
                  </a:lnTo>
                  <a:close/>
                </a:path>
              </a:pathLst>
            </a:custGeom>
            <a:gradFill>
              <a:gsLst>
                <a:gs pos="15000">
                  <a:schemeClr val="tx1">
                    <a:lumMod val="50000"/>
                    <a:lumOff val="50000"/>
                  </a:schemeClr>
                </a:gs>
                <a:gs pos="0">
                  <a:schemeClr val="tx1">
                    <a:lumMod val="75000"/>
                    <a:lumOff val="2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0" rtlCol="0" anchor="ctr">
              <a:noAutofit/>
            </a:bodyPr>
            <a:lstStyle/>
            <a:p>
              <a:pPr lvl="0"/>
              <a:r>
                <a:rPr lang="en-US" sz="900" b="1" i="0" dirty="0">
                  <a:solidFill>
                    <a:schemeClr val="bg1"/>
                  </a:solidFill>
                  <a:latin typeface="Noir Pro Semi Bold" pitchFamily="2" charset="0"/>
                </a:rPr>
                <a:t>COLOR PALETTE</a:t>
              </a:r>
            </a:p>
            <a:p>
              <a:pPr lvl="0"/>
              <a:r>
                <a:rPr lang="en-US" sz="700" b="0" i="0" dirty="0">
                  <a:solidFill>
                    <a:schemeClr val="bg1"/>
                  </a:solidFill>
                  <a:latin typeface="Calibri Bold"/>
                </a:rPr>
                <a:t>Master template v20250902a</a:t>
              </a:r>
              <a:endParaRPr lang="en-US" sz="1000" b="0" i="0" dirty="0">
                <a:solidFill>
                  <a:schemeClr val="bg1"/>
                </a:solidFill>
                <a:latin typeface="Calibri Bold"/>
              </a:endParaRPr>
            </a:p>
          </p:txBody>
        </p:sp>
        <p:grpSp>
          <p:nvGrpSpPr>
            <p:cNvPr id="36" name="Group 168">
              <a:extLst>
                <a:ext uri="{FF2B5EF4-FFF2-40B4-BE49-F238E27FC236}">
                  <a16:creationId xmlns:a16="http://schemas.microsoft.com/office/drawing/2014/main" id="{6075733B-694E-4ADB-47EF-DAD37DFCB3E6}"/>
                </a:ext>
              </a:extLst>
            </p:cNvPr>
            <p:cNvGrpSpPr/>
            <p:nvPr userDrawn="1"/>
          </p:nvGrpSpPr>
          <p:grpSpPr>
            <a:xfrm>
              <a:off x="12301425" y="2133519"/>
              <a:ext cx="1288114" cy="238539"/>
              <a:chOff x="8158038" y="2122998"/>
              <a:chExt cx="1288114" cy="238539"/>
            </a:xfrm>
          </p:grpSpPr>
          <p:sp>
            <p:nvSpPr>
              <p:cNvPr id="198" name="Rounded Rectangle 169">
                <a:extLst>
                  <a:ext uri="{FF2B5EF4-FFF2-40B4-BE49-F238E27FC236}">
                    <a16:creationId xmlns:a16="http://schemas.microsoft.com/office/drawing/2014/main" id="{036B0188-C38A-4AA3-A501-88A117107627}"/>
                  </a:ext>
                </a:extLst>
              </p:cNvPr>
              <p:cNvSpPr/>
              <p:nvPr userDrawn="1"/>
            </p:nvSpPr>
            <p:spPr>
              <a:xfrm>
                <a:off x="8158038" y="2122998"/>
                <a:ext cx="238539" cy="238539"/>
              </a:xfrm>
              <a:prstGeom prst="roundRect">
                <a:avLst/>
              </a:prstGeom>
              <a:solidFill>
                <a:srgbClr val="41414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9" name="Rounded Rectangle 170">
                <a:extLst>
                  <a:ext uri="{FF2B5EF4-FFF2-40B4-BE49-F238E27FC236}">
                    <a16:creationId xmlns:a16="http://schemas.microsoft.com/office/drawing/2014/main" id="{29B23501-C1C3-45AC-B948-965728636D3A}"/>
                  </a:ext>
                </a:extLst>
              </p:cNvPr>
              <p:cNvSpPr/>
              <p:nvPr userDrawn="1"/>
            </p:nvSpPr>
            <p:spPr>
              <a:xfrm>
                <a:off x="8420432" y="2122998"/>
                <a:ext cx="238539" cy="238539"/>
              </a:xfrm>
              <a:prstGeom prst="roundRect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0" name="Rounded Rectangle 171">
                <a:extLst>
                  <a:ext uri="{FF2B5EF4-FFF2-40B4-BE49-F238E27FC236}">
                    <a16:creationId xmlns:a16="http://schemas.microsoft.com/office/drawing/2014/main" id="{BCE68616-B923-1F9F-989B-083E77D5EE74}"/>
                  </a:ext>
                </a:extLst>
              </p:cNvPr>
              <p:cNvSpPr/>
              <p:nvPr userDrawn="1"/>
            </p:nvSpPr>
            <p:spPr>
              <a:xfrm>
                <a:off x="8682826" y="2122998"/>
                <a:ext cx="238539" cy="238539"/>
              </a:xfrm>
              <a:prstGeom prst="round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1" name="Rounded Rectangle 172">
                <a:extLst>
                  <a:ext uri="{FF2B5EF4-FFF2-40B4-BE49-F238E27FC236}">
                    <a16:creationId xmlns:a16="http://schemas.microsoft.com/office/drawing/2014/main" id="{A6282074-B719-7DB3-F40F-EFF54687964E}"/>
                  </a:ext>
                </a:extLst>
              </p:cNvPr>
              <p:cNvSpPr/>
              <p:nvPr userDrawn="1"/>
            </p:nvSpPr>
            <p:spPr>
              <a:xfrm>
                <a:off x="8945220" y="2122998"/>
                <a:ext cx="238539" cy="238539"/>
              </a:xfrm>
              <a:prstGeom prst="round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2" name="Rounded Rectangle 173">
                <a:extLst>
                  <a:ext uri="{FF2B5EF4-FFF2-40B4-BE49-F238E27FC236}">
                    <a16:creationId xmlns:a16="http://schemas.microsoft.com/office/drawing/2014/main" id="{82087B6D-1646-4381-597B-95BAD5F312E5}"/>
                  </a:ext>
                </a:extLst>
              </p:cNvPr>
              <p:cNvSpPr/>
              <p:nvPr userDrawn="1"/>
            </p:nvSpPr>
            <p:spPr>
              <a:xfrm>
                <a:off x="9207613" y="2122998"/>
                <a:ext cx="238539" cy="238539"/>
              </a:xfrm>
              <a:prstGeom prst="round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37" name="Group 174">
              <a:extLst>
                <a:ext uri="{FF2B5EF4-FFF2-40B4-BE49-F238E27FC236}">
                  <a16:creationId xmlns:a16="http://schemas.microsoft.com/office/drawing/2014/main" id="{E0E0AE85-94F3-D4B8-309B-7CF8DA82E049}"/>
                </a:ext>
              </a:extLst>
            </p:cNvPr>
            <p:cNvGrpSpPr/>
            <p:nvPr userDrawn="1"/>
          </p:nvGrpSpPr>
          <p:grpSpPr>
            <a:xfrm>
              <a:off x="12301425" y="2589990"/>
              <a:ext cx="1288114" cy="238539"/>
              <a:chOff x="8158038" y="2385390"/>
              <a:chExt cx="1288114" cy="238539"/>
            </a:xfrm>
          </p:grpSpPr>
          <p:sp>
            <p:nvSpPr>
              <p:cNvPr id="193" name="Rounded Rectangle 175">
                <a:extLst>
                  <a:ext uri="{FF2B5EF4-FFF2-40B4-BE49-F238E27FC236}">
                    <a16:creationId xmlns:a16="http://schemas.microsoft.com/office/drawing/2014/main" id="{AC692AB7-9650-95DE-45A4-45AC1EEF33B3}"/>
                  </a:ext>
                </a:extLst>
              </p:cNvPr>
              <p:cNvSpPr/>
              <p:nvPr userDrawn="1"/>
            </p:nvSpPr>
            <p:spPr>
              <a:xfrm>
                <a:off x="8158038" y="2385390"/>
                <a:ext cx="238539" cy="238539"/>
              </a:xfrm>
              <a:prstGeom prst="roundRect">
                <a:avLst/>
              </a:prstGeom>
              <a:solidFill>
                <a:srgbClr val="186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4" name="Rounded Rectangle 176">
                <a:extLst>
                  <a:ext uri="{FF2B5EF4-FFF2-40B4-BE49-F238E27FC236}">
                    <a16:creationId xmlns:a16="http://schemas.microsoft.com/office/drawing/2014/main" id="{79093604-9E98-AE5D-C7BD-6A4D8C330F50}"/>
                  </a:ext>
                </a:extLst>
              </p:cNvPr>
              <p:cNvSpPr/>
              <p:nvPr userDrawn="1"/>
            </p:nvSpPr>
            <p:spPr>
              <a:xfrm>
                <a:off x="8420432" y="2385390"/>
                <a:ext cx="238539" cy="238539"/>
              </a:xfrm>
              <a:prstGeom prst="roundRect">
                <a:avLst/>
              </a:pr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5" name="Rounded Rectangle 177">
                <a:extLst>
                  <a:ext uri="{FF2B5EF4-FFF2-40B4-BE49-F238E27FC236}">
                    <a16:creationId xmlns:a16="http://schemas.microsoft.com/office/drawing/2014/main" id="{CBFE2210-2034-3457-2CCB-9011AE38EC1E}"/>
                  </a:ext>
                </a:extLst>
              </p:cNvPr>
              <p:cNvSpPr/>
              <p:nvPr userDrawn="1"/>
            </p:nvSpPr>
            <p:spPr>
              <a:xfrm>
                <a:off x="8682826" y="2385390"/>
                <a:ext cx="238539" cy="238539"/>
              </a:xfrm>
              <a:prstGeom prst="roundRect">
                <a:avLst/>
              </a:prstGeom>
              <a:solidFill>
                <a:srgbClr val="DF68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6" name="Rounded Rectangle 178">
                <a:extLst>
                  <a:ext uri="{FF2B5EF4-FFF2-40B4-BE49-F238E27FC236}">
                    <a16:creationId xmlns:a16="http://schemas.microsoft.com/office/drawing/2014/main" id="{6B3E5BC2-7DE5-C849-120F-41E1D4E164A8}"/>
                  </a:ext>
                </a:extLst>
              </p:cNvPr>
              <p:cNvSpPr/>
              <p:nvPr userDrawn="1"/>
            </p:nvSpPr>
            <p:spPr>
              <a:xfrm>
                <a:off x="8945220" y="2385390"/>
                <a:ext cx="238539" cy="238539"/>
              </a:xfrm>
              <a:prstGeom prst="roundRect">
                <a:avLst/>
              </a:prstGeom>
              <a:solidFill>
                <a:srgbClr val="E2A3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7" name="Rounded Rectangle 179">
                <a:extLst>
                  <a:ext uri="{FF2B5EF4-FFF2-40B4-BE49-F238E27FC236}">
                    <a16:creationId xmlns:a16="http://schemas.microsoft.com/office/drawing/2014/main" id="{08002A18-EDE4-0B6C-B2CB-36B12AF681F5}"/>
                  </a:ext>
                </a:extLst>
              </p:cNvPr>
              <p:cNvSpPr/>
              <p:nvPr userDrawn="1"/>
            </p:nvSpPr>
            <p:spPr>
              <a:xfrm>
                <a:off x="9207613" y="2385390"/>
                <a:ext cx="238539" cy="238539"/>
              </a:xfrm>
              <a:prstGeom prst="roundRect">
                <a:avLst/>
              </a:prstGeom>
              <a:solidFill>
                <a:srgbClr val="8BC26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sp>
          <p:nvSpPr>
            <p:cNvPr id="38" name="Rounded Rectangle 181">
              <a:extLst>
                <a:ext uri="{FF2B5EF4-FFF2-40B4-BE49-F238E27FC236}">
                  <a16:creationId xmlns:a16="http://schemas.microsoft.com/office/drawing/2014/main" id="{0A605A1A-0F44-2C3C-5DE2-3F97F6C99194}"/>
                </a:ext>
              </a:extLst>
            </p:cNvPr>
            <p:cNvSpPr/>
            <p:nvPr userDrawn="1"/>
          </p:nvSpPr>
          <p:spPr>
            <a:xfrm>
              <a:off x="12301425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E88C36"/>
                </a:gs>
                <a:gs pos="0">
                  <a:srgbClr val="F9C716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39" name="Rounded Rectangle 182">
              <a:extLst>
                <a:ext uri="{FF2B5EF4-FFF2-40B4-BE49-F238E27FC236}">
                  <a16:creationId xmlns:a16="http://schemas.microsoft.com/office/drawing/2014/main" id="{6AB693B8-DF04-6F44-B853-D2B72B164D30}"/>
                </a:ext>
              </a:extLst>
            </p:cNvPr>
            <p:cNvSpPr/>
            <p:nvPr userDrawn="1"/>
          </p:nvSpPr>
          <p:spPr>
            <a:xfrm>
              <a:off x="12563819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1864FF"/>
                </a:gs>
                <a:gs pos="0">
                  <a:srgbClr val="00205F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0" name="Rounded Rectangle 183">
              <a:extLst>
                <a:ext uri="{FF2B5EF4-FFF2-40B4-BE49-F238E27FC236}">
                  <a16:creationId xmlns:a16="http://schemas.microsoft.com/office/drawing/2014/main" id="{9974CB12-0B3D-D0CC-A465-BE0E7CF7E28B}"/>
                </a:ext>
              </a:extLst>
            </p:cNvPr>
            <p:cNvSpPr/>
            <p:nvPr userDrawn="1"/>
          </p:nvSpPr>
          <p:spPr>
            <a:xfrm>
              <a:off x="12826213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DF6838"/>
                </a:gs>
                <a:gs pos="0">
                  <a:srgbClr val="F9C716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1" name="Rounded Rectangle 184">
              <a:extLst>
                <a:ext uri="{FF2B5EF4-FFF2-40B4-BE49-F238E27FC236}">
                  <a16:creationId xmlns:a16="http://schemas.microsoft.com/office/drawing/2014/main" id="{5E0E721B-2F4B-5CEA-47CC-BF07256AC84B}"/>
                </a:ext>
              </a:extLst>
            </p:cNvPr>
            <p:cNvSpPr/>
            <p:nvPr userDrawn="1"/>
          </p:nvSpPr>
          <p:spPr>
            <a:xfrm>
              <a:off x="13088607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FBDD72"/>
                </a:gs>
                <a:gs pos="0">
                  <a:srgbClr val="C6CD59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2" name="Rounded Rectangle 185">
              <a:extLst>
                <a:ext uri="{FF2B5EF4-FFF2-40B4-BE49-F238E27FC236}">
                  <a16:creationId xmlns:a16="http://schemas.microsoft.com/office/drawing/2014/main" id="{4429CC0F-ACB9-993B-34A8-03B1CA880403}"/>
                </a:ext>
              </a:extLst>
            </p:cNvPr>
            <p:cNvSpPr/>
            <p:nvPr userDrawn="1"/>
          </p:nvSpPr>
          <p:spPr>
            <a:xfrm>
              <a:off x="13351000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00B150"/>
                </a:gs>
                <a:gs pos="0">
                  <a:srgbClr val="92D150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grpSp>
          <p:nvGrpSpPr>
            <p:cNvPr id="43" name="Group 191">
              <a:extLst>
                <a:ext uri="{FF2B5EF4-FFF2-40B4-BE49-F238E27FC236}">
                  <a16:creationId xmlns:a16="http://schemas.microsoft.com/office/drawing/2014/main" id="{61EA541D-279D-8CC0-646D-ACF2BB264F30}"/>
                </a:ext>
              </a:extLst>
            </p:cNvPr>
            <p:cNvGrpSpPr/>
            <p:nvPr userDrawn="1"/>
          </p:nvGrpSpPr>
          <p:grpSpPr>
            <a:xfrm>
              <a:off x="12301425" y="5413093"/>
              <a:ext cx="1288114" cy="238539"/>
              <a:chOff x="8158038" y="4031086"/>
              <a:chExt cx="1288114" cy="238539"/>
            </a:xfrm>
          </p:grpSpPr>
          <p:sp>
            <p:nvSpPr>
              <p:cNvPr id="188" name="Rounded Rectangle 192">
                <a:extLst>
                  <a:ext uri="{FF2B5EF4-FFF2-40B4-BE49-F238E27FC236}">
                    <a16:creationId xmlns:a16="http://schemas.microsoft.com/office/drawing/2014/main" id="{C8120719-4B42-211E-750D-2868797FCAA8}"/>
                  </a:ext>
                </a:extLst>
              </p:cNvPr>
              <p:cNvSpPr/>
              <p:nvPr userDrawn="1"/>
            </p:nvSpPr>
            <p:spPr>
              <a:xfrm>
                <a:off x="8158038" y="4031086"/>
                <a:ext cx="238539" cy="238539"/>
              </a:xfrm>
              <a:prstGeom prst="roundRect">
                <a:avLst/>
              </a:prstGeom>
              <a:solidFill>
                <a:srgbClr val="DC4A3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89" name="Rounded Rectangle 193">
                <a:extLst>
                  <a:ext uri="{FF2B5EF4-FFF2-40B4-BE49-F238E27FC236}">
                    <a16:creationId xmlns:a16="http://schemas.microsoft.com/office/drawing/2014/main" id="{E6DA9266-1CE3-DBEB-F12B-2E5F01C250CE}"/>
                  </a:ext>
                </a:extLst>
              </p:cNvPr>
              <p:cNvSpPr/>
              <p:nvPr userDrawn="1"/>
            </p:nvSpPr>
            <p:spPr>
              <a:xfrm>
                <a:off x="8420432" y="4031086"/>
                <a:ext cx="238539" cy="238539"/>
              </a:xfrm>
              <a:prstGeom prst="roundRect">
                <a:avLst/>
              </a:prstGeom>
              <a:solidFill>
                <a:srgbClr val="EF981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0" name="Rounded Rectangle 194">
                <a:extLst>
                  <a:ext uri="{FF2B5EF4-FFF2-40B4-BE49-F238E27FC236}">
                    <a16:creationId xmlns:a16="http://schemas.microsoft.com/office/drawing/2014/main" id="{E8ACC418-88AC-22EE-E9AA-B514AC46EE89}"/>
                  </a:ext>
                </a:extLst>
              </p:cNvPr>
              <p:cNvSpPr/>
              <p:nvPr userDrawn="1"/>
            </p:nvSpPr>
            <p:spPr>
              <a:xfrm>
                <a:off x="8682826" y="4031086"/>
                <a:ext cx="238539" cy="238539"/>
              </a:xfrm>
              <a:prstGeom prst="roundRect">
                <a:avLst/>
              </a:prstGeom>
              <a:solidFill>
                <a:srgbClr val="F9C6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1" name="Rounded Rectangle 195">
                <a:extLst>
                  <a:ext uri="{FF2B5EF4-FFF2-40B4-BE49-F238E27FC236}">
                    <a16:creationId xmlns:a16="http://schemas.microsoft.com/office/drawing/2014/main" id="{6D246CA1-3294-78C8-11DD-54EE9695C7D9}"/>
                  </a:ext>
                </a:extLst>
              </p:cNvPr>
              <p:cNvSpPr/>
              <p:nvPr userDrawn="1"/>
            </p:nvSpPr>
            <p:spPr>
              <a:xfrm>
                <a:off x="8945220" y="4031086"/>
                <a:ext cx="238539" cy="238539"/>
              </a:xfrm>
              <a:prstGeom prst="roundRect">
                <a:avLst/>
              </a:prstGeom>
              <a:solidFill>
                <a:srgbClr val="57C9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2" name="Rounded Rectangle 196">
                <a:extLst>
                  <a:ext uri="{FF2B5EF4-FFF2-40B4-BE49-F238E27FC236}">
                    <a16:creationId xmlns:a16="http://schemas.microsoft.com/office/drawing/2014/main" id="{E433F45C-755C-90B8-4C78-87E3AEFE2D2A}"/>
                  </a:ext>
                </a:extLst>
              </p:cNvPr>
              <p:cNvSpPr/>
              <p:nvPr userDrawn="1"/>
            </p:nvSpPr>
            <p:spPr>
              <a:xfrm>
                <a:off x="9207613" y="4031086"/>
                <a:ext cx="238539" cy="238539"/>
              </a:xfrm>
              <a:prstGeom prst="roundRect">
                <a:avLst/>
              </a:prstGeom>
              <a:solidFill>
                <a:srgbClr val="2B963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45" name="Group 197">
              <a:extLst>
                <a:ext uri="{FF2B5EF4-FFF2-40B4-BE49-F238E27FC236}">
                  <a16:creationId xmlns:a16="http://schemas.microsoft.com/office/drawing/2014/main" id="{B457501E-E91F-0C01-36D0-DF2C479CD7F6}"/>
                </a:ext>
              </a:extLst>
            </p:cNvPr>
            <p:cNvGrpSpPr/>
            <p:nvPr userDrawn="1"/>
          </p:nvGrpSpPr>
          <p:grpSpPr>
            <a:xfrm>
              <a:off x="12301425" y="4231124"/>
              <a:ext cx="1288114" cy="238539"/>
              <a:chOff x="8158038" y="3021495"/>
              <a:chExt cx="1288114" cy="238539"/>
            </a:xfrm>
          </p:grpSpPr>
          <p:sp>
            <p:nvSpPr>
              <p:cNvPr id="178" name="Rounded Rectangle 198">
                <a:extLst>
                  <a:ext uri="{FF2B5EF4-FFF2-40B4-BE49-F238E27FC236}">
                    <a16:creationId xmlns:a16="http://schemas.microsoft.com/office/drawing/2014/main" id="{3D8DF291-751C-2723-5B19-846B093985F1}"/>
                  </a:ext>
                </a:extLst>
              </p:cNvPr>
              <p:cNvSpPr/>
              <p:nvPr userDrawn="1"/>
            </p:nvSpPr>
            <p:spPr>
              <a:xfrm>
                <a:off x="8158038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FFFFFF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79" name="Rounded Rectangle 199">
                <a:extLst>
                  <a:ext uri="{FF2B5EF4-FFF2-40B4-BE49-F238E27FC236}">
                    <a16:creationId xmlns:a16="http://schemas.microsoft.com/office/drawing/2014/main" id="{F9A70E4A-677D-A207-67D1-C31F9AB8878D}"/>
                  </a:ext>
                </a:extLst>
              </p:cNvPr>
              <p:cNvSpPr/>
              <p:nvPr userDrawn="1"/>
            </p:nvSpPr>
            <p:spPr>
              <a:xfrm>
                <a:off x="8420432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DADADA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0" name="Rounded Rectangle 200">
                <a:extLst>
                  <a:ext uri="{FF2B5EF4-FFF2-40B4-BE49-F238E27FC236}">
                    <a16:creationId xmlns:a16="http://schemas.microsoft.com/office/drawing/2014/main" id="{2639B44B-BC7E-A2D4-2D29-516670B612F2}"/>
                  </a:ext>
                </a:extLst>
              </p:cNvPr>
              <p:cNvSpPr/>
              <p:nvPr userDrawn="1"/>
            </p:nvSpPr>
            <p:spPr>
              <a:xfrm>
                <a:off x="8682826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 dirty="0">
                    <a:solidFill>
                      <a:srgbClr val="F8C716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1" name="Rounded Rectangle 201">
                <a:extLst>
                  <a:ext uri="{FF2B5EF4-FFF2-40B4-BE49-F238E27FC236}">
                    <a16:creationId xmlns:a16="http://schemas.microsoft.com/office/drawing/2014/main" id="{75122786-9C32-FA9D-AE3A-F854A6F4BFE6}"/>
                  </a:ext>
                </a:extLst>
              </p:cNvPr>
              <p:cNvSpPr/>
              <p:nvPr userDrawn="1"/>
            </p:nvSpPr>
            <p:spPr>
              <a:xfrm>
                <a:off x="8945220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 dirty="0">
                    <a:solidFill>
                      <a:srgbClr val="E2A3F2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2" name="Rounded Rectangle 202">
                <a:extLst>
                  <a:ext uri="{FF2B5EF4-FFF2-40B4-BE49-F238E27FC236}">
                    <a16:creationId xmlns:a16="http://schemas.microsoft.com/office/drawing/2014/main" id="{4A7B7D7B-0A58-948A-807A-01BC60071F11}"/>
                  </a:ext>
                </a:extLst>
              </p:cNvPr>
              <p:cNvSpPr/>
              <p:nvPr userDrawn="1"/>
            </p:nvSpPr>
            <p:spPr>
              <a:xfrm>
                <a:off x="9207613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8BC26D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3" name="Rounded Rectangle 203">
                <a:extLst>
                  <a:ext uri="{FF2B5EF4-FFF2-40B4-BE49-F238E27FC236}">
                    <a16:creationId xmlns:a16="http://schemas.microsoft.com/office/drawing/2014/main" id="{5CC4700A-5BC2-0296-15C9-7BCCCFF40FB6}"/>
                  </a:ext>
                </a:extLst>
              </p:cNvPr>
              <p:cNvSpPr/>
              <p:nvPr userDrawn="1"/>
            </p:nvSpPr>
            <p:spPr>
              <a:xfrm>
                <a:off x="8182056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Rounded Rectangle 204">
                <a:extLst>
                  <a:ext uri="{FF2B5EF4-FFF2-40B4-BE49-F238E27FC236}">
                    <a16:creationId xmlns:a16="http://schemas.microsoft.com/office/drawing/2014/main" id="{F5A72D55-0AEB-4B09-A9B5-0149E7B59F5D}"/>
                  </a:ext>
                </a:extLst>
              </p:cNvPr>
              <p:cNvSpPr/>
              <p:nvPr userDrawn="1"/>
            </p:nvSpPr>
            <p:spPr>
              <a:xfrm>
                <a:off x="8444450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DBDBD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Rounded Rectangle 205">
                <a:extLst>
                  <a:ext uri="{FF2B5EF4-FFF2-40B4-BE49-F238E27FC236}">
                    <a16:creationId xmlns:a16="http://schemas.microsoft.com/office/drawing/2014/main" id="{565366B5-E56E-81F3-C8C8-AEEF70297232}"/>
                  </a:ext>
                </a:extLst>
              </p:cNvPr>
              <p:cNvSpPr/>
              <p:nvPr userDrawn="1"/>
            </p:nvSpPr>
            <p:spPr>
              <a:xfrm>
                <a:off x="8706844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Rounded Rectangle 206">
                <a:extLst>
                  <a:ext uri="{FF2B5EF4-FFF2-40B4-BE49-F238E27FC236}">
                    <a16:creationId xmlns:a16="http://schemas.microsoft.com/office/drawing/2014/main" id="{58EF4AB1-15D5-3B6B-AAAB-673933E17880}"/>
                  </a:ext>
                </a:extLst>
              </p:cNvPr>
              <p:cNvSpPr/>
              <p:nvPr userDrawn="1"/>
            </p:nvSpPr>
            <p:spPr>
              <a:xfrm>
                <a:off x="8969238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E2A3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Rounded Rectangle 207">
                <a:extLst>
                  <a:ext uri="{FF2B5EF4-FFF2-40B4-BE49-F238E27FC236}">
                    <a16:creationId xmlns:a16="http://schemas.microsoft.com/office/drawing/2014/main" id="{F8CFDDFC-0F47-B231-5FB0-727F0D81DF38}"/>
                  </a:ext>
                </a:extLst>
              </p:cNvPr>
              <p:cNvSpPr/>
              <p:nvPr userDrawn="1"/>
            </p:nvSpPr>
            <p:spPr>
              <a:xfrm>
                <a:off x="9231631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8BC26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Rounded Rectangle 209">
              <a:extLst>
                <a:ext uri="{FF2B5EF4-FFF2-40B4-BE49-F238E27FC236}">
                  <a16:creationId xmlns:a16="http://schemas.microsoft.com/office/drawing/2014/main" id="{D0671745-9691-ACD2-8DFC-F206A61EB352}"/>
                </a:ext>
              </a:extLst>
            </p:cNvPr>
            <p:cNvSpPr/>
            <p:nvPr userDrawn="1"/>
          </p:nvSpPr>
          <p:spPr>
            <a:xfrm>
              <a:off x="12301425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01010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47" name="Rounded Rectangle 210">
              <a:extLst>
                <a:ext uri="{FF2B5EF4-FFF2-40B4-BE49-F238E27FC236}">
                  <a16:creationId xmlns:a16="http://schemas.microsoft.com/office/drawing/2014/main" id="{60D59DF8-30D0-FF50-FB2E-9C66E1234B9F}"/>
                </a:ext>
              </a:extLst>
            </p:cNvPr>
            <p:cNvSpPr/>
            <p:nvPr userDrawn="1"/>
          </p:nvSpPr>
          <p:spPr>
            <a:xfrm>
              <a:off x="12563819" y="3775695"/>
              <a:ext cx="238539" cy="238539"/>
            </a:xfrm>
            <a:prstGeom prst="roundRect">
              <a:avLst/>
            </a:prstGeom>
            <a:solidFill>
              <a:srgbClr val="F8C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 dirty="0">
                  <a:solidFill>
                    <a:srgbClr val="01010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4" name="Rounded Rectangle 211">
              <a:extLst>
                <a:ext uri="{FF2B5EF4-FFF2-40B4-BE49-F238E27FC236}">
                  <a16:creationId xmlns:a16="http://schemas.microsoft.com/office/drawing/2014/main" id="{2F36D0C6-C39A-9B5F-8EB9-27463903D769}"/>
                </a:ext>
              </a:extLst>
            </p:cNvPr>
            <p:cNvSpPr/>
            <p:nvPr userDrawn="1"/>
          </p:nvSpPr>
          <p:spPr>
            <a:xfrm>
              <a:off x="12826213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 dirty="0">
                  <a:solidFill>
                    <a:srgbClr val="81818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5" name="Rounded Rectangle 212">
              <a:extLst>
                <a:ext uri="{FF2B5EF4-FFF2-40B4-BE49-F238E27FC236}">
                  <a16:creationId xmlns:a16="http://schemas.microsoft.com/office/drawing/2014/main" id="{0ADBA08E-81A8-97B6-DE53-FA396190B430}"/>
                </a:ext>
              </a:extLst>
            </p:cNvPr>
            <p:cNvSpPr/>
            <p:nvPr userDrawn="1"/>
          </p:nvSpPr>
          <p:spPr>
            <a:xfrm>
              <a:off x="13088607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1864FF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6" name="Rounded Rectangle 213">
              <a:extLst>
                <a:ext uri="{FF2B5EF4-FFF2-40B4-BE49-F238E27FC236}">
                  <a16:creationId xmlns:a16="http://schemas.microsoft.com/office/drawing/2014/main" id="{AB2BFFF9-6049-26DE-5969-5F83C0ECC2B4}"/>
                </a:ext>
              </a:extLst>
            </p:cNvPr>
            <p:cNvSpPr/>
            <p:nvPr userDrawn="1"/>
          </p:nvSpPr>
          <p:spPr>
            <a:xfrm>
              <a:off x="13351000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DF6838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7" name="Rounded Rectangle 214">
              <a:extLst>
                <a:ext uri="{FF2B5EF4-FFF2-40B4-BE49-F238E27FC236}">
                  <a16:creationId xmlns:a16="http://schemas.microsoft.com/office/drawing/2014/main" id="{DAE8DA0F-943B-B2BA-8A03-61406E8171A9}"/>
                </a:ext>
              </a:extLst>
            </p:cNvPr>
            <p:cNvSpPr/>
            <p:nvPr userDrawn="1"/>
          </p:nvSpPr>
          <p:spPr>
            <a:xfrm>
              <a:off x="12325443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ounded Rectangle 215">
              <a:extLst>
                <a:ext uri="{FF2B5EF4-FFF2-40B4-BE49-F238E27FC236}">
                  <a16:creationId xmlns:a16="http://schemas.microsoft.com/office/drawing/2014/main" id="{7DC515E9-8E21-049E-9C1A-9C1E666F4F4D}"/>
                </a:ext>
              </a:extLst>
            </p:cNvPr>
            <p:cNvSpPr/>
            <p:nvPr userDrawn="1"/>
          </p:nvSpPr>
          <p:spPr>
            <a:xfrm>
              <a:off x="12587837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01010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ounded Rectangle 216">
              <a:extLst>
                <a:ext uri="{FF2B5EF4-FFF2-40B4-BE49-F238E27FC236}">
                  <a16:creationId xmlns:a16="http://schemas.microsoft.com/office/drawing/2014/main" id="{4F13DD30-AC8C-5BAF-7D9E-17F37BF14CB1}"/>
                </a:ext>
              </a:extLst>
            </p:cNvPr>
            <p:cNvSpPr/>
            <p:nvPr userDrawn="1"/>
          </p:nvSpPr>
          <p:spPr>
            <a:xfrm>
              <a:off x="12850231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81818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ounded Rectangle 217">
              <a:extLst>
                <a:ext uri="{FF2B5EF4-FFF2-40B4-BE49-F238E27FC236}">
                  <a16:creationId xmlns:a16="http://schemas.microsoft.com/office/drawing/2014/main" id="{E2AEF98F-B06C-F55B-CA49-DD758CEA97A3}"/>
                </a:ext>
              </a:extLst>
            </p:cNvPr>
            <p:cNvSpPr/>
            <p:nvPr userDrawn="1"/>
          </p:nvSpPr>
          <p:spPr>
            <a:xfrm>
              <a:off x="13112625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1864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ounded Rectangle 218">
              <a:extLst>
                <a:ext uri="{FF2B5EF4-FFF2-40B4-BE49-F238E27FC236}">
                  <a16:creationId xmlns:a16="http://schemas.microsoft.com/office/drawing/2014/main" id="{7D56B7A7-845C-60E2-31FD-20ABDD7B2125}"/>
                </a:ext>
              </a:extLst>
            </p:cNvPr>
            <p:cNvSpPr/>
            <p:nvPr userDrawn="1"/>
          </p:nvSpPr>
          <p:spPr>
            <a:xfrm>
              <a:off x="13375018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DF68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TextBox 219">
              <a:extLst>
                <a:ext uri="{FF2B5EF4-FFF2-40B4-BE49-F238E27FC236}">
                  <a16:creationId xmlns:a16="http://schemas.microsoft.com/office/drawing/2014/main" id="{4A15EBF2-1689-F73E-531A-974E9DD60DCB}"/>
                </a:ext>
              </a:extLst>
            </p:cNvPr>
            <p:cNvSpPr txBox="1"/>
            <p:nvPr userDrawn="1"/>
          </p:nvSpPr>
          <p:spPr>
            <a:xfrm>
              <a:off x="12207792" y="1974299"/>
              <a:ext cx="72006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GREY TONES</a:t>
              </a:r>
            </a:p>
          </p:txBody>
        </p:sp>
        <p:sp>
          <p:nvSpPr>
            <p:cNvPr id="73" name="TextBox 220">
              <a:extLst>
                <a:ext uri="{FF2B5EF4-FFF2-40B4-BE49-F238E27FC236}">
                  <a16:creationId xmlns:a16="http://schemas.microsoft.com/office/drawing/2014/main" id="{83FD25DF-A8C4-97E8-16EE-50D23B1DB381}"/>
                </a:ext>
              </a:extLst>
            </p:cNvPr>
            <p:cNvSpPr txBox="1"/>
            <p:nvPr userDrawn="1"/>
          </p:nvSpPr>
          <p:spPr>
            <a:xfrm>
              <a:off x="12207792" y="2430257"/>
              <a:ext cx="125386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BRAND IDENTITY COLORS</a:t>
              </a:r>
            </a:p>
          </p:txBody>
        </p:sp>
        <p:sp>
          <p:nvSpPr>
            <p:cNvPr id="74" name="TextBox 222">
              <a:extLst>
                <a:ext uri="{FF2B5EF4-FFF2-40B4-BE49-F238E27FC236}">
                  <a16:creationId xmlns:a16="http://schemas.microsoft.com/office/drawing/2014/main" id="{4F150177-1E56-683E-55ED-3CCF98AA4117}"/>
                </a:ext>
              </a:extLst>
            </p:cNvPr>
            <p:cNvSpPr txBox="1"/>
            <p:nvPr userDrawn="1"/>
          </p:nvSpPr>
          <p:spPr>
            <a:xfrm>
              <a:off x="12207792" y="4531335"/>
              <a:ext cx="6655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GRADIENTS</a:t>
              </a:r>
            </a:p>
          </p:txBody>
        </p:sp>
        <p:sp>
          <p:nvSpPr>
            <p:cNvPr id="75" name="TextBox 223">
              <a:extLst>
                <a:ext uri="{FF2B5EF4-FFF2-40B4-BE49-F238E27FC236}">
                  <a16:creationId xmlns:a16="http://schemas.microsoft.com/office/drawing/2014/main" id="{762DD877-F163-49C0-9F2B-CE9A7CBD3D92}"/>
                </a:ext>
              </a:extLst>
            </p:cNvPr>
            <p:cNvSpPr txBox="1"/>
            <p:nvPr userDrawn="1"/>
          </p:nvSpPr>
          <p:spPr>
            <a:xfrm>
              <a:off x="12207792" y="5252309"/>
              <a:ext cx="116891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TRAFFIC LIGHT COLORS</a:t>
              </a:r>
            </a:p>
          </p:txBody>
        </p:sp>
        <p:pic>
          <p:nvPicPr>
            <p:cNvPr id="76" name="Picture 2" descr="color picker&quot; Icon - Download for free – Iconduck">
              <a:extLst>
                <a:ext uri="{FF2B5EF4-FFF2-40B4-BE49-F238E27FC236}">
                  <a16:creationId xmlns:a16="http://schemas.microsoft.com/office/drawing/2014/main" id="{DF8BA090-A25D-2EE1-1A71-E7DB99333FF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43048" y="1646506"/>
              <a:ext cx="178747" cy="178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879CA836-68ED-E044-092E-BF8651058649}"/>
                </a:ext>
              </a:extLst>
            </p:cNvPr>
            <p:cNvGrpSpPr/>
            <p:nvPr userDrawn="1"/>
          </p:nvGrpSpPr>
          <p:grpSpPr>
            <a:xfrm>
              <a:off x="12301425" y="3311063"/>
              <a:ext cx="1288114" cy="238539"/>
              <a:chOff x="12298208" y="5356993"/>
              <a:chExt cx="1288114" cy="238539"/>
            </a:xfrm>
          </p:grpSpPr>
          <p:sp>
            <p:nvSpPr>
              <p:cNvPr id="157" name="Rounded Rectangle 192">
                <a:extLst>
                  <a:ext uri="{FF2B5EF4-FFF2-40B4-BE49-F238E27FC236}">
                    <a16:creationId xmlns:a16="http://schemas.microsoft.com/office/drawing/2014/main" id="{F993CC58-58CA-2456-419A-28263CD7BB8F}"/>
                  </a:ext>
                </a:extLst>
              </p:cNvPr>
              <p:cNvSpPr/>
              <p:nvPr userDrawn="1"/>
            </p:nvSpPr>
            <p:spPr>
              <a:xfrm>
                <a:off x="12298208" y="5356993"/>
                <a:ext cx="238539" cy="238539"/>
              </a:xfrm>
              <a:prstGeom prst="roundRect">
                <a:avLst/>
              </a:prstGeom>
              <a:solidFill>
                <a:srgbClr val="14163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1</a:t>
                </a:r>
              </a:p>
            </p:txBody>
          </p:sp>
          <p:sp>
            <p:nvSpPr>
              <p:cNvPr id="158" name="Rounded Rectangle 192">
                <a:extLst>
                  <a:ext uri="{FF2B5EF4-FFF2-40B4-BE49-F238E27FC236}">
                    <a16:creationId xmlns:a16="http://schemas.microsoft.com/office/drawing/2014/main" id="{A67E78A3-0778-9F29-B935-C89976310177}"/>
                  </a:ext>
                </a:extLst>
              </p:cNvPr>
              <p:cNvSpPr/>
              <p:nvPr userDrawn="1"/>
            </p:nvSpPr>
            <p:spPr>
              <a:xfrm>
                <a:off x="12403166" y="5356993"/>
                <a:ext cx="238539" cy="238539"/>
              </a:xfrm>
              <a:prstGeom prst="roundRect">
                <a:avLst/>
              </a:prstGeom>
              <a:solidFill>
                <a:srgbClr val="37302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2</a:t>
                </a:r>
              </a:p>
            </p:txBody>
          </p:sp>
          <p:sp>
            <p:nvSpPr>
              <p:cNvPr id="159" name="Rounded Rectangle 192">
                <a:extLst>
                  <a:ext uri="{FF2B5EF4-FFF2-40B4-BE49-F238E27FC236}">
                    <a16:creationId xmlns:a16="http://schemas.microsoft.com/office/drawing/2014/main" id="{7653AA1D-C39A-A623-4D3B-538509434DB1}"/>
                  </a:ext>
                </a:extLst>
              </p:cNvPr>
              <p:cNvSpPr/>
              <p:nvPr userDrawn="1"/>
            </p:nvSpPr>
            <p:spPr>
              <a:xfrm>
                <a:off x="12508124" y="5356993"/>
                <a:ext cx="238539" cy="238539"/>
              </a:xfrm>
              <a:prstGeom prst="roundRect">
                <a:avLst/>
              </a:prstGeom>
              <a:solidFill>
                <a:srgbClr val="61522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3</a:t>
                </a:r>
              </a:p>
            </p:txBody>
          </p:sp>
          <p:sp>
            <p:nvSpPr>
              <p:cNvPr id="160" name="Rounded Rectangle 192">
                <a:extLst>
                  <a:ext uri="{FF2B5EF4-FFF2-40B4-BE49-F238E27FC236}">
                    <a16:creationId xmlns:a16="http://schemas.microsoft.com/office/drawing/2014/main" id="{55D8BDCD-C25B-7886-9130-72592531F970}"/>
                  </a:ext>
                </a:extLst>
              </p:cNvPr>
              <p:cNvSpPr/>
              <p:nvPr userDrawn="1"/>
            </p:nvSpPr>
            <p:spPr>
              <a:xfrm>
                <a:off x="12613082" y="5356993"/>
                <a:ext cx="238539" cy="238539"/>
              </a:xfrm>
              <a:prstGeom prst="roundRect">
                <a:avLst/>
              </a:prstGeom>
              <a:solidFill>
                <a:srgbClr val="967B2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4</a:t>
                </a:r>
              </a:p>
            </p:txBody>
          </p:sp>
          <p:sp>
            <p:nvSpPr>
              <p:cNvPr id="161" name="Rounded Rectangle 192">
                <a:extLst>
                  <a:ext uri="{FF2B5EF4-FFF2-40B4-BE49-F238E27FC236}">
                    <a16:creationId xmlns:a16="http://schemas.microsoft.com/office/drawing/2014/main" id="{B8FDA659-633D-A288-BEDE-927F2ADAA3AB}"/>
                  </a:ext>
                </a:extLst>
              </p:cNvPr>
              <p:cNvSpPr/>
              <p:nvPr userDrawn="1"/>
            </p:nvSpPr>
            <p:spPr>
              <a:xfrm>
                <a:off x="12718040" y="5356993"/>
                <a:ext cx="238539" cy="238539"/>
              </a:xfrm>
              <a:prstGeom prst="roundRect">
                <a:avLst/>
              </a:prstGeom>
              <a:solidFill>
                <a:srgbClr val="D7AE1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5</a:t>
                </a:r>
              </a:p>
            </p:txBody>
          </p:sp>
          <p:sp>
            <p:nvSpPr>
              <p:cNvPr id="164" name="Rounded Rectangle 192">
                <a:extLst>
                  <a:ext uri="{FF2B5EF4-FFF2-40B4-BE49-F238E27FC236}">
                    <a16:creationId xmlns:a16="http://schemas.microsoft.com/office/drawing/2014/main" id="{F5F9A153-09FD-30C6-88AF-87F80EC600BA}"/>
                  </a:ext>
                </a:extLst>
              </p:cNvPr>
              <p:cNvSpPr/>
              <p:nvPr userDrawn="1"/>
            </p:nvSpPr>
            <p:spPr>
              <a:xfrm>
                <a:off x="13347783" y="5356993"/>
                <a:ext cx="238539" cy="238539"/>
              </a:xfrm>
              <a:prstGeom prst="roundRect">
                <a:avLst/>
              </a:prstGeom>
              <a:solidFill>
                <a:srgbClr val="F8EBC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11</a:t>
                </a:r>
              </a:p>
            </p:txBody>
          </p:sp>
          <p:sp>
            <p:nvSpPr>
              <p:cNvPr id="171" name="Rounded Rectangle 192">
                <a:extLst>
                  <a:ext uri="{FF2B5EF4-FFF2-40B4-BE49-F238E27FC236}">
                    <a16:creationId xmlns:a16="http://schemas.microsoft.com/office/drawing/2014/main" id="{B7873913-C7E2-2303-9072-56FA55830009}"/>
                  </a:ext>
                </a:extLst>
              </p:cNvPr>
              <p:cNvSpPr/>
              <p:nvPr userDrawn="1"/>
            </p:nvSpPr>
            <p:spPr>
              <a:xfrm>
                <a:off x="13242830" y="5356993"/>
                <a:ext cx="238539" cy="238539"/>
              </a:xfrm>
              <a:prstGeom prst="roundRect">
                <a:avLst/>
              </a:prstGeom>
              <a:solidFill>
                <a:srgbClr val="F8E39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10</a:t>
                </a:r>
              </a:p>
            </p:txBody>
          </p:sp>
          <p:sp>
            <p:nvSpPr>
              <p:cNvPr id="174" name="Rounded Rectangle 192">
                <a:extLst>
                  <a:ext uri="{FF2B5EF4-FFF2-40B4-BE49-F238E27FC236}">
                    <a16:creationId xmlns:a16="http://schemas.microsoft.com/office/drawing/2014/main" id="{F21ACD13-F33D-2338-B166-B265A58E000A}"/>
                  </a:ext>
                </a:extLst>
              </p:cNvPr>
              <p:cNvSpPr/>
              <p:nvPr userDrawn="1"/>
            </p:nvSpPr>
            <p:spPr>
              <a:xfrm>
                <a:off x="13137872" y="5356993"/>
                <a:ext cx="238539" cy="238539"/>
              </a:xfrm>
              <a:prstGeom prst="roundRect">
                <a:avLst/>
              </a:prstGeom>
              <a:solidFill>
                <a:srgbClr val="F8DB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9</a:t>
                </a:r>
              </a:p>
            </p:txBody>
          </p:sp>
          <p:sp>
            <p:nvSpPr>
              <p:cNvPr id="175" name="Rounded Rectangle 192">
                <a:extLst>
                  <a:ext uri="{FF2B5EF4-FFF2-40B4-BE49-F238E27FC236}">
                    <a16:creationId xmlns:a16="http://schemas.microsoft.com/office/drawing/2014/main" id="{ED37EB85-248C-AAF4-5A6A-FB10B7F64600}"/>
                  </a:ext>
                </a:extLst>
              </p:cNvPr>
              <p:cNvSpPr/>
              <p:nvPr userDrawn="1"/>
            </p:nvSpPr>
            <p:spPr>
              <a:xfrm>
                <a:off x="13032914" y="5356993"/>
                <a:ext cx="238539" cy="238539"/>
              </a:xfrm>
              <a:prstGeom prst="roundRect">
                <a:avLst/>
              </a:prstGeom>
              <a:solidFill>
                <a:srgbClr val="F7D55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8</a:t>
                </a:r>
              </a:p>
            </p:txBody>
          </p:sp>
          <p:sp>
            <p:nvSpPr>
              <p:cNvPr id="176" name="Rounded Rectangle 192">
                <a:extLst>
                  <a:ext uri="{FF2B5EF4-FFF2-40B4-BE49-F238E27FC236}">
                    <a16:creationId xmlns:a16="http://schemas.microsoft.com/office/drawing/2014/main" id="{8DC91DB4-2566-7C71-8BE3-EAA149BEF36E}"/>
                  </a:ext>
                </a:extLst>
              </p:cNvPr>
              <p:cNvSpPr/>
              <p:nvPr userDrawn="1"/>
            </p:nvSpPr>
            <p:spPr>
              <a:xfrm>
                <a:off x="12927956" y="5356993"/>
                <a:ext cx="238539" cy="238539"/>
              </a:xfrm>
              <a:prstGeom prst="roundRect">
                <a:avLst/>
              </a:prstGeom>
              <a:solidFill>
                <a:srgbClr val="FAD33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7</a:t>
                </a:r>
              </a:p>
            </p:txBody>
          </p:sp>
          <p:sp>
            <p:nvSpPr>
              <p:cNvPr id="177" name="Rounded Rectangle 192">
                <a:extLst>
                  <a:ext uri="{FF2B5EF4-FFF2-40B4-BE49-F238E27FC236}">
                    <a16:creationId xmlns:a16="http://schemas.microsoft.com/office/drawing/2014/main" id="{5B2250DE-B47C-DE83-2A84-09EACF752A95}"/>
                  </a:ext>
                </a:extLst>
              </p:cNvPr>
              <p:cNvSpPr/>
              <p:nvPr userDrawn="1"/>
            </p:nvSpPr>
            <p:spPr>
              <a:xfrm>
                <a:off x="12822998" y="5356993"/>
                <a:ext cx="238539" cy="238539"/>
              </a:xfrm>
              <a:prstGeom prst="roundRect">
                <a:avLst/>
              </a:prstGeom>
              <a:solidFill>
                <a:srgbClr val="F8C716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bIns="0" rtlCol="0" anchor="b"/>
              <a:lstStyle/>
              <a:p>
                <a:pPr algn="ctr"/>
                <a:r>
                  <a:rPr lang="en-US" sz="800" b="0" i="0">
                    <a:latin typeface="Noir Pro" pitchFamily="2" charset="0"/>
                  </a:rPr>
                  <a:t>6</a:t>
                </a:r>
              </a:p>
            </p:txBody>
          </p:sp>
        </p:grpSp>
        <p:sp>
          <p:nvSpPr>
            <p:cNvPr id="78" name="TextBox 220">
              <a:extLst>
                <a:ext uri="{FF2B5EF4-FFF2-40B4-BE49-F238E27FC236}">
                  <a16:creationId xmlns:a16="http://schemas.microsoft.com/office/drawing/2014/main" id="{B584D808-91BB-7BCD-9C3E-5F6058E4E2AF}"/>
                </a:ext>
              </a:extLst>
            </p:cNvPr>
            <p:cNvSpPr txBox="1"/>
            <p:nvPr userDrawn="1"/>
          </p:nvSpPr>
          <p:spPr>
            <a:xfrm>
              <a:off x="12207792" y="2884595"/>
              <a:ext cx="15552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MAIN COLORS – COLOR GRADES</a:t>
              </a:r>
            </a:p>
          </p:txBody>
        </p:sp>
        <p:grpSp>
          <p:nvGrpSpPr>
            <p:cNvPr id="79" name="Groep 78">
              <a:extLst>
                <a:ext uri="{FF2B5EF4-FFF2-40B4-BE49-F238E27FC236}">
                  <a16:creationId xmlns:a16="http://schemas.microsoft.com/office/drawing/2014/main" id="{AD2A4754-1E4F-4068-2170-DFBC5D3316F6}"/>
                </a:ext>
              </a:extLst>
            </p:cNvPr>
            <p:cNvGrpSpPr/>
            <p:nvPr userDrawn="1"/>
          </p:nvGrpSpPr>
          <p:grpSpPr>
            <a:xfrm>
              <a:off x="12301425" y="4952389"/>
              <a:ext cx="238539" cy="238539"/>
              <a:chOff x="12301425" y="4952389"/>
              <a:chExt cx="238539" cy="238539"/>
            </a:xfrm>
          </p:grpSpPr>
          <p:sp>
            <p:nvSpPr>
              <p:cNvPr id="155" name="Vrije vorm 154">
                <a:extLst>
                  <a:ext uri="{FF2B5EF4-FFF2-40B4-BE49-F238E27FC236}">
                    <a16:creationId xmlns:a16="http://schemas.microsoft.com/office/drawing/2014/main" id="{532D1363-26B6-F938-D22C-D85CDE9B8657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56" name="Vrije vorm 155">
                <a:extLst>
                  <a:ext uri="{FF2B5EF4-FFF2-40B4-BE49-F238E27FC236}">
                    <a16:creationId xmlns:a16="http://schemas.microsoft.com/office/drawing/2014/main" id="{AD2EDC69-F434-FEFE-DED5-EAC10B2F6FD1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E88C3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0" name="Groep 79">
              <a:extLst>
                <a:ext uri="{FF2B5EF4-FFF2-40B4-BE49-F238E27FC236}">
                  <a16:creationId xmlns:a16="http://schemas.microsoft.com/office/drawing/2014/main" id="{43A159D0-3A59-0104-1C93-27959CC49CA9}"/>
                </a:ext>
              </a:extLst>
            </p:cNvPr>
            <p:cNvGrpSpPr/>
            <p:nvPr userDrawn="1"/>
          </p:nvGrpSpPr>
          <p:grpSpPr>
            <a:xfrm>
              <a:off x="12563819" y="4952389"/>
              <a:ext cx="238539" cy="238539"/>
              <a:chOff x="12301425" y="4952389"/>
              <a:chExt cx="238539" cy="238539"/>
            </a:xfrm>
          </p:grpSpPr>
          <p:sp>
            <p:nvSpPr>
              <p:cNvPr id="148" name="Vrije vorm 147">
                <a:extLst>
                  <a:ext uri="{FF2B5EF4-FFF2-40B4-BE49-F238E27FC236}">
                    <a16:creationId xmlns:a16="http://schemas.microsoft.com/office/drawing/2014/main" id="{3FE35D56-0BBE-9C75-BD0D-254A011F45CB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00215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54" name="Vrije vorm 153">
                <a:extLst>
                  <a:ext uri="{FF2B5EF4-FFF2-40B4-BE49-F238E27FC236}">
                    <a16:creationId xmlns:a16="http://schemas.microsoft.com/office/drawing/2014/main" id="{A1AE8FAA-D517-EE1D-BC44-E771B569D421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186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1" name="Groep 80">
              <a:extLst>
                <a:ext uri="{FF2B5EF4-FFF2-40B4-BE49-F238E27FC236}">
                  <a16:creationId xmlns:a16="http://schemas.microsoft.com/office/drawing/2014/main" id="{964AABD8-3BED-C343-6EA4-A3AFFC623BE5}"/>
                </a:ext>
              </a:extLst>
            </p:cNvPr>
            <p:cNvGrpSpPr/>
            <p:nvPr userDrawn="1"/>
          </p:nvGrpSpPr>
          <p:grpSpPr>
            <a:xfrm>
              <a:off x="12826213" y="4952389"/>
              <a:ext cx="238539" cy="238539"/>
              <a:chOff x="12301425" y="4952389"/>
              <a:chExt cx="238539" cy="238539"/>
            </a:xfrm>
          </p:grpSpPr>
          <p:sp>
            <p:nvSpPr>
              <p:cNvPr id="88" name="Vrije vorm 87">
                <a:extLst>
                  <a:ext uri="{FF2B5EF4-FFF2-40B4-BE49-F238E27FC236}">
                    <a16:creationId xmlns:a16="http://schemas.microsoft.com/office/drawing/2014/main" id="{CF408804-496A-4CEF-6352-5ED21F535C7A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9" name="Vrije vorm 88">
                <a:extLst>
                  <a:ext uri="{FF2B5EF4-FFF2-40B4-BE49-F238E27FC236}">
                    <a16:creationId xmlns:a16="http://schemas.microsoft.com/office/drawing/2014/main" id="{8D4DE3F5-B0B2-DCBB-0720-888ABA857B1F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DF67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2" name="Groep 81">
              <a:extLst>
                <a:ext uri="{FF2B5EF4-FFF2-40B4-BE49-F238E27FC236}">
                  <a16:creationId xmlns:a16="http://schemas.microsoft.com/office/drawing/2014/main" id="{AACF694F-9A3B-50EF-7841-C1F2EA0B1B70}"/>
                </a:ext>
              </a:extLst>
            </p:cNvPr>
            <p:cNvGrpSpPr/>
            <p:nvPr userDrawn="1"/>
          </p:nvGrpSpPr>
          <p:grpSpPr>
            <a:xfrm>
              <a:off x="13088607" y="4952389"/>
              <a:ext cx="238539" cy="238539"/>
              <a:chOff x="12301425" y="4952389"/>
              <a:chExt cx="238539" cy="238539"/>
            </a:xfrm>
          </p:grpSpPr>
          <p:sp>
            <p:nvSpPr>
              <p:cNvPr id="86" name="Vrije vorm 85">
                <a:extLst>
                  <a:ext uri="{FF2B5EF4-FFF2-40B4-BE49-F238E27FC236}">
                    <a16:creationId xmlns:a16="http://schemas.microsoft.com/office/drawing/2014/main" id="{7B74DFF1-5E09-B811-88D1-9B54957539EC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C7CD5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7" name="Vrije vorm 86">
                <a:extLst>
                  <a:ext uri="{FF2B5EF4-FFF2-40B4-BE49-F238E27FC236}">
                    <a16:creationId xmlns:a16="http://schemas.microsoft.com/office/drawing/2014/main" id="{CE6419B6-B15D-1FE3-CE6C-28FC30953400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FBDE7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AD7F2593-8F27-9D4E-266E-1AB2FF9361C3}"/>
                </a:ext>
              </a:extLst>
            </p:cNvPr>
            <p:cNvGrpSpPr/>
            <p:nvPr userDrawn="1"/>
          </p:nvGrpSpPr>
          <p:grpSpPr>
            <a:xfrm>
              <a:off x="13351000" y="4952389"/>
              <a:ext cx="238539" cy="238539"/>
              <a:chOff x="12301425" y="4952389"/>
              <a:chExt cx="238539" cy="238539"/>
            </a:xfrm>
          </p:grpSpPr>
          <p:sp>
            <p:nvSpPr>
              <p:cNvPr id="84" name="Vrije vorm 83">
                <a:extLst>
                  <a:ext uri="{FF2B5EF4-FFF2-40B4-BE49-F238E27FC236}">
                    <a16:creationId xmlns:a16="http://schemas.microsoft.com/office/drawing/2014/main" id="{6DCC535E-7254-C522-301C-D26974CE165D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93D2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5" name="Vrije vorm 84">
                <a:extLst>
                  <a:ext uri="{FF2B5EF4-FFF2-40B4-BE49-F238E27FC236}">
                    <a16:creationId xmlns:a16="http://schemas.microsoft.com/office/drawing/2014/main" id="{29C2DACA-3E2D-64DB-DCDB-AB641F33D906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00B2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43736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F8C716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>
          <p15:clr>
            <a:srgbClr val="F26B43"/>
          </p15:clr>
        </p15:guide>
        <p15:guide id="2" pos="98">
          <p15:clr>
            <a:srgbClr val="F26B43"/>
          </p15:clr>
        </p15:guide>
        <p15:guide id="3" pos="234">
          <p15:clr>
            <a:srgbClr val="5ACBF0"/>
          </p15:clr>
        </p15:guide>
        <p15:guide id="4" orient="horz" pos="4024">
          <p15:clr>
            <a:srgbClr val="F26B43"/>
          </p15:clr>
        </p15:guide>
        <p15:guide id="5" pos="7582">
          <p15:clr>
            <a:srgbClr val="F26B43"/>
          </p15:clr>
        </p15:guide>
        <p15:guide id="6" orient="horz" pos="3941">
          <p15:clr>
            <a:srgbClr val="5ACBF0"/>
          </p15:clr>
        </p15:guide>
        <p15:guide id="7" pos="7446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9B1408E6-E399-3AB5-FA0C-216DAFB328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CUSTOMER_NAME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344417F-5869-1AA1-3CB1-C663D0AA7B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Portfolio Metrics Overview</a:t>
            </a:r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F8AE1EA7-9945-5054-6361-8E1EAAA9FC90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  <a:p>
            <a:endParaRPr lang="en-GB" dirty="0"/>
          </a:p>
        </p:txBody>
      </p:sp>
      <p:sp>
        <p:nvSpPr>
          <p:cNvPr id="4" name="Tijdelijke aanduiding voor tekst 1">
            <a:extLst>
              <a:ext uri="{FF2B5EF4-FFF2-40B4-BE49-F238E27FC236}">
                <a16:creationId xmlns:a16="http://schemas.microsoft.com/office/drawing/2014/main" id="{9AD8A29F-88B6-1458-3D23-92698A071436}"/>
              </a:ext>
            </a:extLst>
          </p:cNvPr>
          <p:cNvSpPr txBox="1">
            <a:spLocks/>
          </p:cNvSpPr>
          <p:nvPr/>
        </p:nvSpPr>
        <p:spPr>
          <a:xfrm>
            <a:off x="395999" y="2959200"/>
            <a:ext cx="11174400" cy="450000"/>
          </a:xfrm>
          <a:prstGeom prst="rect">
            <a:avLst/>
          </a:prstGeom>
        </p:spPr>
        <p:txBody>
          <a:bodyPr vert="horz" wrap="none" lIns="216000" tIns="46800" rIns="234000" bIns="468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64FF"/>
              </a:buClr>
              <a:buFont typeface="Arial" panose="020B0604020202020204" pitchFamily="34" charset="0"/>
              <a:buNone/>
              <a:defRPr lang="en-US" sz="2800" b="0" i="0" kern="1200" spc="-30" baseline="0">
                <a:solidFill>
                  <a:srgbClr val="D1E0FF">
                    <a:alpha val="80000"/>
                  </a:srgbClr>
                </a:solidFill>
                <a:latin typeface="Noir Pro" pitchFamily="2" charset="0"/>
                <a:ea typeface="+mn-ea"/>
                <a:cs typeface="Calibri Light" panose="020F0302020204030204" pitchFamily="34" charset="0"/>
              </a:defRPr>
            </a:lvl1pPr>
            <a:lvl2pPr marL="45720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rgbClr val="DFC123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rgbClr val="DFC123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rgbClr val="DFC123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rgbClr val="DFC12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FILTER_INFO</a:t>
            </a:r>
          </a:p>
        </p:txBody>
      </p:sp>
    </p:spTree>
    <p:extLst>
      <p:ext uri="{BB962C8B-B14F-4D97-AF65-F5344CB8AC3E}">
        <p14:creationId xmlns:p14="http://schemas.microsoft.com/office/powerpoint/2010/main" val="1437872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3FAAAC3-03E2-1E82-24A5-0097FAFA71B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nl-NL"/>
              <a:t>Confidential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25011F-6250-5727-D825-C4BC235ED54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2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3873849-ED0F-8E7D-9221-DB920248C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600" y="1220743"/>
            <a:ext cx="3560400" cy="1218795"/>
          </a:xfrm>
        </p:spPr>
        <p:txBody>
          <a:bodyPr/>
          <a:lstStyle/>
          <a:p>
            <a:r>
              <a:rPr lang="en-US" dirty="0"/>
              <a:t>Index of Metrics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2864AFF-8AE9-6747-55C1-D2047BB4A87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8000"/>
            <a:ext cx="7092000" cy="2073007"/>
          </a:xfrm>
        </p:spPr>
        <p:txBody>
          <a:bodyPr/>
          <a:lstStyle/>
          <a:p>
            <a:r>
              <a:rPr lang="en-US" dirty="0"/>
              <a:t>Maintainability </a:t>
            </a:r>
          </a:p>
          <a:p>
            <a:r>
              <a:rPr lang="en-US" dirty="0"/>
              <a:t>Architecture Quality</a:t>
            </a:r>
          </a:p>
          <a:p>
            <a:r>
              <a:rPr lang="en-US" dirty="0"/>
              <a:t>Open Source Health</a:t>
            </a:r>
          </a:p>
        </p:txBody>
      </p:sp>
      <p:sp>
        <p:nvSpPr>
          <p:cNvPr id="6" name="Afgeronde rechthoek 33">
            <a:extLst>
              <a:ext uri="{FF2B5EF4-FFF2-40B4-BE49-F238E27FC236}">
                <a16:creationId xmlns:a16="http://schemas.microsoft.com/office/drawing/2014/main" id="{62AC8E64-6993-BFDC-20FC-716CD59A1B54}"/>
              </a:ext>
            </a:extLst>
          </p:cNvPr>
          <p:cNvSpPr/>
          <p:nvPr/>
        </p:nvSpPr>
        <p:spPr>
          <a:xfrm>
            <a:off x="4454347" y="754749"/>
            <a:ext cx="7567201" cy="672117"/>
          </a:xfrm>
          <a:prstGeom prst="roundRect">
            <a:avLst>
              <a:gd name="adj" fmla="val 4868"/>
            </a:avLst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GB" dirty="0">
              <a:solidFill>
                <a:schemeClr val="tx2"/>
              </a:solidFill>
              <a:latin typeface="Noir Pro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9492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410176" cy="228145"/>
          </a:xfrm>
        </p:spPr>
        <p:txBody>
          <a:bodyPr>
            <a:spAutoFit/>
          </a:bodyPr>
          <a:lstStyle/>
          <a:p>
            <a:r>
              <a:rPr lang="en-US"/>
              <a:t>Maintainability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Duplication metric for portfolio CUSTOMER_NAME</a:t>
            </a:r>
          </a:p>
        </p:txBody>
      </p: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PORTFOLIO_PERIOD_MAINT_DUPLICATION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Duplication rating for the portfolio is PORTFOLIO_MAINT_AVG_RATING_DUPLICATION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PORTFOLIO_MAINT_ABOVE_MARKET_DUPLICATION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PORTFOLIO_MAINT_MARKET_AVERAGE_DUPLICATION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PORTFOLIO_MAINT_BELOW_MARKET_DUPLICATION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136388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410176" cy="228145"/>
          </a:xfrm>
        </p:spPr>
        <p:txBody>
          <a:bodyPr>
            <a:spAutoFit/>
          </a:bodyPr>
          <a:lstStyle/>
          <a:p>
            <a:r>
              <a:rPr lang="en-US" dirty="0"/>
              <a:t>Maintainability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Duplication metric for portfolio CUSTOMER_NAME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PORTFOLIO_PERIOD_MAINT_DUPLICATION_CHANGE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 err="1">
                <a:ea typeface="Calibri"/>
                <a:cs typeface="Calibri"/>
              </a:rPr>
              <a:t>PORTFOLIO_MAINT_CHANGE_SUMMARY_DUPLICATION</a:t>
            </a:r>
            <a:endParaRPr lang="en-GB" sz="1550" dirty="0">
              <a:ea typeface="Calibri"/>
              <a:cs typeface="Calibri"/>
            </a:endParaRPr>
          </a:p>
          <a:p>
            <a:pPr indent="-283845"/>
            <a:r>
              <a:rPr lang="en-GB" sz="1550" dirty="0" err="1">
                <a:ea typeface="Calibri"/>
                <a:cs typeface="Calibri"/>
              </a:rPr>
              <a:t>PORTFOLIO_MAINT_INCREASED_DUPLICATION</a:t>
            </a:r>
            <a:r>
              <a:rPr lang="en-GB" sz="1550" dirty="0">
                <a:ea typeface="Calibri"/>
                <a:cs typeface="Calibri"/>
              </a:rPr>
              <a:t>% of systems has seen an increase in their Duplication rating. </a:t>
            </a:r>
            <a:r>
              <a:rPr lang="en-GB" sz="1550" dirty="0" err="1">
                <a:ea typeface="Calibri"/>
                <a:cs typeface="Calibri"/>
              </a:rPr>
              <a:t>PORTFOLIO_MAINT_STABLE_DUPLICATION</a:t>
            </a:r>
            <a:r>
              <a:rPr lang="en-GB" sz="1550" dirty="0">
                <a:ea typeface="Calibri"/>
                <a:cs typeface="Calibri"/>
              </a:rPr>
              <a:t>% of systems has remained stable. PORTFOLIO_MAINT_DECREASED_DUPLICATION%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PORTFOLIO_MAINT_BIGGEST_CHANGES_DUPLICATION</a:t>
            </a:r>
          </a:p>
        </p:txBody>
      </p:sp>
    </p:spTree>
    <p:extLst>
      <p:ext uri="{BB962C8B-B14F-4D97-AF65-F5344CB8AC3E}">
        <p14:creationId xmlns:p14="http://schemas.microsoft.com/office/powerpoint/2010/main" val="3281526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410176" cy="228145"/>
          </a:xfrm>
        </p:spPr>
        <p:txBody>
          <a:bodyPr>
            <a:spAutoFit/>
          </a:bodyPr>
          <a:lstStyle/>
          <a:p>
            <a:r>
              <a:rPr lang="en-US" dirty="0"/>
              <a:t>Maintainability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Unit Size metric for portfolio CUSTOMER_NAME</a:t>
            </a:r>
          </a:p>
        </p:txBody>
      </p: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PORTFOLIO_PERIOD_MAINT_UNIT_SIZE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Unit Size rating for the portfolio is PORTFOLIO_MAINT_AVG_RATING_UNIT_SIZE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PORTFOLIO_MAINT_ABOVE_MARKET_UNIT_SIZE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PORTFOLIO_MAINT_MARKET_AVERAGE_UNIT_SIZE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PORTFOLIO_MAINT_BELOW_MARKET_UNIT_SIZE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891030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410176" cy="228145"/>
          </a:xfrm>
        </p:spPr>
        <p:txBody>
          <a:bodyPr>
            <a:spAutoFit/>
          </a:bodyPr>
          <a:lstStyle/>
          <a:p>
            <a:r>
              <a:rPr lang="en-US" dirty="0"/>
              <a:t>Maintainability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Unit Size metric for portfolio CUSTOMER_NAME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PORTFOLIO_PERIOD_MAINT_UNIT_SIZE_CHANGE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 err="1">
                <a:ea typeface="Calibri"/>
                <a:cs typeface="Calibri"/>
              </a:rPr>
              <a:t>PORTFOLIO_MAINT_CHANGE_SUMMARY_UNIT_SIZE</a:t>
            </a:r>
            <a:endParaRPr lang="en-GB" sz="1550" dirty="0">
              <a:ea typeface="Calibri"/>
              <a:cs typeface="Calibri"/>
            </a:endParaRPr>
          </a:p>
          <a:p>
            <a:pPr indent="-283845"/>
            <a:r>
              <a:rPr lang="en-GB" sz="1550" dirty="0" err="1">
                <a:ea typeface="Calibri"/>
                <a:cs typeface="Calibri"/>
              </a:rPr>
              <a:t>PORTFOLIO_MAINT_INCREASED_UNIT_SIZE</a:t>
            </a:r>
            <a:r>
              <a:rPr lang="en-GB" sz="1550" dirty="0">
                <a:ea typeface="Calibri"/>
                <a:cs typeface="Calibri"/>
              </a:rPr>
              <a:t>% of systems has seen an increase in their Unit Size rating. </a:t>
            </a:r>
            <a:r>
              <a:rPr lang="en-GB" sz="1550" dirty="0" err="1">
                <a:ea typeface="Calibri"/>
                <a:cs typeface="Calibri"/>
              </a:rPr>
              <a:t>PORTFOLIO_MAINT_STABLE_UNIT_SIZE</a:t>
            </a:r>
            <a:r>
              <a:rPr lang="en-GB" sz="1550" dirty="0">
                <a:ea typeface="Calibri"/>
                <a:cs typeface="Calibri"/>
              </a:rPr>
              <a:t>% of systems has remained stable. PORTFOLIO_MAINT_DECREASED_UNIT_SIZE%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PORTFOLIO_MAINT_BIGGEST_CHANGES_UNIT_SIZE</a:t>
            </a:r>
          </a:p>
        </p:txBody>
      </p:sp>
    </p:spTree>
    <p:extLst>
      <p:ext uri="{BB962C8B-B14F-4D97-AF65-F5344CB8AC3E}">
        <p14:creationId xmlns:p14="http://schemas.microsoft.com/office/powerpoint/2010/main" val="3350898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410176" cy="228145"/>
          </a:xfrm>
        </p:spPr>
        <p:txBody>
          <a:bodyPr>
            <a:spAutoFit/>
          </a:bodyPr>
          <a:lstStyle/>
          <a:p>
            <a:r>
              <a:rPr lang="en-US" dirty="0"/>
              <a:t>Maintainability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Unit Complexity metric for portfolio CUSTOMER_NAME</a:t>
            </a:r>
          </a:p>
        </p:txBody>
      </p: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PORTFOLIO_PERIOD_MAINT_UNIT_COMPLEXITY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Unit Complexity rating for the portfolio is PORTFOLIO_MAINT_AVG_RATING_UNIT_COMPLEXITY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PORTFOLIO_MAINT_ABOVE_MARKET_UNIT_COMPLEXITY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PORTFOLIO_MAINT_MARKET_AVERAGE_UNIT_COMPLEXITY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PORTFOLIO_MAINT_BELOW_MARKET_UNIT_COMPLEXITY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244520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410176" cy="228145"/>
          </a:xfrm>
        </p:spPr>
        <p:txBody>
          <a:bodyPr>
            <a:spAutoFit/>
          </a:bodyPr>
          <a:lstStyle/>
          <a:p>
            <a:r>
              <a:rPr lang="en-US" dirty="0"/>
              <a:t>Maintainability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Unit Complexity metric for portfolio CUSTOMER_NAME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PORTFOLIO_PERIOD_MAINT_UNIT_COMPLEXITY_CHANGE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 err="1">
                <a:ea typeface="Calibri"/>
                <a:cs typeface="Calibri"/>
              </a:rPr>
              <a:t>PORTFOLIO_MAINT_CHANGE_SUMMARY_UNIT_COMPLEXITY</a:t>
            </a:r>
            <a:endParaRPr lang="en-GB" sz="1550" dirty="0">
              <a:ea typeface="Calibri"/>
              <a:cs typeface="Calibri"/>
            </a:endParaRPr>
          </a:p>
          <a:p>
            <a:pPr indent="-283845"/>
            <a:r>
              <a:rPr lang="en-GB" sz="1550" dirty="0" err="1">
                <a:ea typeface="Calibri"/>
                <a:cs typeface="Calibri"/>
              </a:rPr>
              <a:t>PORTFOLIO_MAINT_INCREASED_UNIT_COMPLEXITY</a:t>
            </a:r>
            <a:r>
              <a:rPr lang="en-GB" sz="1550" dirty="0">
                <a:ea typeface="Calibri"/>
                <a:cs typeface="Calibri"/>
              </a:rPr>
              <a:t>% of systems has seen an increase in their Unit Complexity rating. </a:t>
            </a:r>
            <a:r>
              <a:rPr lang="en-GB" sz="1550" dirty="0" err="1">
                <a:ea typeface="Calibri"/>
                <a:cs typeface="Calibri"/>
              </a:rPr>
              <a:t>PORTFOLIO_MAINT_STABLE_UNIT_COMPLEXITY</a:t>
            </a:r>
            <a:r>
              <a:rPr lang="en-GB" sz="1550" dirty="0">
                <a:ea typeface="Calibri"/>
                <a:cs typeface="Calibri"/>
              </a:rPr>
              <a:t>% of systems has remained stable. PORTFOLIO_MAINT_DECREASED_UNIT_COMPLEXITY%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PORTFOLIO_MAINT_BIGGEST_CHANGES_UNIT_COMPLEXITY</a:t>
            </a:r>
          </a:p>
        </p:txBody>
      </p:sp>
    </p:spTree>
    <p:extLst>
      <p:ext uri="{BB962C8B-B14F-4D97-AF65-F5344CB8AC3E}">
        <p14:creationId xmlns:p14="http://schemas.microsoft.com/office/powerpoint/2010/main" val="3102491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410176" cy="228145"/>
          </a:xfrm>
        </p:spPr>
        <p:txBody>
          <a:bodyPr>
            <a:spAutoFit/>
          </a:bodyPr>
          <a:lstStyle/>
          <a:p>
            <a:r>
              <a:rPr lang="en-US" dirty="0"/>
              <a:t>Maintainability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Unit Interfacing metric for portfolio CUSTOMER_NAME</a:t>
            </a:r>
          </a:p>
        </p:txBody>
      </p: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PORTFOLIO_PERIOD_MAINT_UNIT_INTERFACING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Unit Interfacing rating for the portfolio is PORTFOLIO_MAINT_AVG_RATING_UNIT_INTERFACING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PORTFOLIO_MAINT_ABOVE_MARKET_UNIT_INTERFACING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PORTFOLIO_MAINT_MARKET_AVERAGE_UNIT_INTERFACING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PORTFOLIO_MAINT_BELOW_MARKET_UNIT_INTERFACING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907563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410176" cy="228145"/>
          </a:xfrm>
        </p:spPr>
        <p:txBody>
          <a:bodyPr>
            <a:spAutoFit/>
          </a:bodyPr>
          <a:lstStyle/>
          <a:p>
            <a:r>
              <a:rPr lang="en-US" dirty="0"/>
              <a:t>Maintainability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Unit Interfacing metric for portfolio CUSTOMER_NAME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PORTFOLIO_PERIOD_MAINT_UNIT_INTERFACING_CHANGE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 err="1">
                <a:ea typeface="Calibri"/>
                <a:cs typeface="Calibri"/>
              </a:rPr>
              <a:t>PORTFOLIO_MAINT_CHANGE_SUMMARY_UNIT_INTERFACING</a:t>
            </a:r>
            <a:endParaRPr lang="en-GB" sz="1550" dirty="0">
              <a:ea typeface="Calibri"/>
              <a:cs typeface="Calibri"/>
            </a:endParaRPr>
          </a:p>
          <a:p>
            <a:pPr indent="-283845"/>
            <a:r>
              <a:rPr lang="en-GB" sz="1550" dirty="0" err="1">
                <a:ea typeface="Calibri"/>
                <a:cs typeface="Calibri"/>
              </a:rPr>
              <a:t>PORTFOLIO_MAINT_INCREASED_UNIT_INTERFACING</a:t>
            </a:r>
            <a:r>
              <a:rPr lang="en-GB" sz="1550" dirty="0">
                <a:ea typeface="Calibri"/>
                <a:cs typeface="Calibri"/>
              </a:rPr>
              <a:t>% of systems has seen an increase in their Unit Interfacing rating. </a:t>
            </a:r>
            <a:r>
              <a:rPr lang="en-GB" sz="1550" dirty="0" err="1">
                <a:ea typeface="Calibri"/>
                <a:cs typeface="Calibri"/>
              </a:rPr>
              <a:t>PORTFOLIO_MAINT_STABLE_UNIT_INTERFACING</a:t>
            </a:r>
            <a:r>
              <a:rPr lang="en-GB" sz="1550" dirty="0">
                <a:ea typeface="Calibri"/>
                <a:cs typeface="Calibri"/>
              </a:rPr>
              <a:t>% of systems has remained stable. </a:t>
            </a:r>
            <a:r>
              <a:rPr lang="en-GB" sz="1550" dirty="0" err="1">
                <a:ea typeface="Calibri"/>
                <a:cs typeface="Calibri"/>
              </a:rPr>
              <a:t>PORTFOLIO_MAINT_DECREASED_UNIT_INTERFACING</a:t>
            </a:r>
            <a:r>
              <a:rPr lang="en-GB" sz="1550" dirty="0">
                <a:ea typeface="Calibri"/>
                <a:cs typeface="Calibri"/>
              </a:rPr>
              <a:t>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PORTFOLIO_MAINT_BIGGEST_CHANGES_UNIT_INTERFACING</a:t>
            </a:r>
          </a:p>
        </p:txBody>
      </p:sp>
    </p:spTree>
    <p:extLst>
      <p:ext uri="{BB962C8B-B14F-4D97-AF65-F5344CB8AC3E}">
        <p14:creationId xmlns:p14="http://schemas.microsoft.com/office/powerpoint/2010/main" val="3840044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410176" cy="228145"/>
          </a:xfrm>
        </p:spPr>
        <p:txBody>
          <a:bodyPr>
            <a:spAutoFit/>
          </a:bodyPr>
          <a:lstStyle/>
          <a:p>
            <a:r>
              <a:rPr lang="en-US" dirty="0"/>
              <a:t>Maintainability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Module Coupling metric for portfolio CUSTOMER_NAME</a:t>
            </a:r>
          </a:p>
        </p:txBody>
      </p: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PORTFOLIO_PERIOD_MAINT_MODULE_COUPLING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Module Coupling rating for the portfolio is PORTFOLIO_MAINT_AVG_RATING_MODULE_COUPLING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PORTFOLIO_MAINT_ABOVE_MARKET_MODULE_COUPLING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PORTFOLIO_MAINT_MARKET_AVERAGE_MODULE_COUPLING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PORTFOLIO_MAINT_BELOW_MARKET_MODULE_COUPLING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219988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410176" cy="228145"/>
          </a:xfrm>
        </p:spPr>
        <p:txBody>
          <a:bodyPr>
            <a:spAutoFit/>
          </a:bodyPr>
          <a:lstStyle/>
          <a:p>
            <a:r>
              <a:rPr lang="en-US" dirty="0"/>
              <a:t>Maintainability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Module Coupling metric for portfolio CUSTOMER_NAME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PORTFOLIO_PERIOD_MAINT_MODULE_COUPLING_CHANGE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 err="1">
                <a:ea typeface="Calibri"/>
                <a:cs typeface="Calibri"/>
              </a:rPr>
              <a:t>PORTFOLIO_MAINT_CHANGE_SUMMARY_MODULE_COUPLING</a:t>
            </a:r>
            <a:endParaRPr lang="en-GB" sz="1550" dirty="0">
              <a:ea typeface="Calibri"/>
              <a:cs typeface="Calibri"/>
            </a:endParaRPr>
          </a:p>
          <a:p>
            <a:pPr indent="-283845"/>
            <a:r>
              <a:rPr lang="en-GB" sz="1550" dirty="0" err="1">
                <a:ea typeface="Calibri"/>
                <a:cs typeface="Calibri"/>
              </a:rPr>
              <a:t>PORTFOLIO_MAINT_INCREASED_MODULE_COUPLING</a:t>
            </a:r>
            <a:r>
              <a:rPr lang="en-GB" sz="1550" dirty="0">
                <a:ea typeface="Calibri"/>
                <a:cs typeface="Calibri"/>
              </a:rPr>
              <a:t>% of systems has seen an increase in their Module Coupling rating. </a:t>
            </a:r>
            <a:r>
              <a:rPr lang="en-GB" sz="1550" dirty="0" err="1">
                <a:ea typeface="Calibri"/>
                <a:cs typeface="Calibri"/>
              </a:rPr>
              <a:t>PORTFOLIO_MAINT_STABLE_MODULE_COUPLING</a:t>
            </a:r>
            <a:r>
              <a:rPr lang="en-GB" sz="1550" dirty="0">
                <a:ea typeface="Calibri"/>
                <a:cs typeface="Calibri"/>
              </a:rPr>
              <a:t>% of systems has remained stable. PORTFOLIO_MAINT_DECREASED_MODULE_COUPLING%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PORTFOLIO_MAINT_BIGGEST_CHANGES_MODULE_COUPLING</a:t>
            </a:r>
          </a:p>
        </p:txBody>
      </p:sp>
    </p:spTree>
    <p:extLst>
      <p:ext uri="{BB962C8B-B14F-4D97-AF65-F5344CB8AC3E}">
        <p14:creationId xmlns:p14="http://schemas.microsoft.com/office/powerpoint/2010/main" val="3004612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410176" cy="228145"/>
          </a:xfrm>
        </p:spPr>
        <p:txBody>
          <a:bodyPr>
            <a:spAutoFit/>
          </a:bodyPr>
          <a:lstStyle/>
          <a:p>
            <a:r>
              <a:rPr lang="en-US" dirty="0"/>
              <a:t>Maintainability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Component Independence metric for portfolio CUSTOMER_NAME</a:t>
            </a:r>
          </a:p>
        </p:txBody>
      </p: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PORTFOLIO_PERIOD_MAINT_COMPONENT_INDEPENDENCE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Component Independence rating for the portfolio is PORTFOLIO_MAINT_AVG_RATING_COMPONENT_INDEPENDENCE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PORTFOLIO_MAINT_ABOVE_MARKET_COMPONENT_INDEPENDENCE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PORTFOLIO_MAINT_MARKET_AVERAGE_COMPONENT_INDEPENDENCE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PORTFOLIO_MAINT_BELOW_MARKET_COMPONENT_INDEPENDENCE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609020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410176" cy="228145"/>
          </a:xfrm>
        </p:spPr>
        <p:txBody>
          <a:bodyPr>
            <a:spAutoFit/>
          </a:bodyPr>
          <a:lstStyle/>
          <a:p>
            <a:r>
              <a:rPr lang="en-US" dirty="0"/>
              <a:t>Maintainability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Component Independence metric for portfolio CUSTOMER_NAME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PORTFOLIO_PERIOD_MAINT_COMPONENT_INDEPENDENCE_CHANGE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 err="1">
                <a:ea typeface="Calibri"/>
                <a:cs typeface="Calibri"/>
              </a:rPr>
              <a:t>PORTFOLIO_MAINT_CHANGE_SUMMARY_COMPONENT_INDEPENDENCE</a:t>
            </a:r>
            <a:endParaRPr lang="en-GB" sz="1550" dirty="0">
              <a:ea typeface="Calibri"/>
              <a:cs typeface="Calibri"/>
            </a:endParaRPr>
          </a:p>
          <a:p>
            <a:pPr indent="-283845"/>
            <a:r>
              <a:rPr lang="en-GB" sz="1550" dirty="0" err="1">
                <a:ea typeface="Calibri"/>
                <a:cs typeface="Calibri"/>
              </a:rPr>
              <a:t>PORTFOLIO_MAINT_INCREASED_COMPONENT_INDEPENDENCE</a:t>
            </a:r>
            <a:r>
              <a:rPr lang="en-GB" sz="1550" dirty="0">
                <a:ea typeface="Calibri"/>
                <a:cs typeface="Calibri"/>
              </a:rPr>
              <a:t>% of systems has seen an increase in their Component Independence rating. </a:t>
            </a:r>
            <a:r>
              <a:rPr lang="en-GB" sz="1550" dirty="0" err="1">
                <a:ea typeface="Calibri"/>
                <a:cs typeface="Calibri"/>
              </a:rPr>
              <a:t>PORTFOLIO_MAINT_STABLE_COMPONENT_INDEPENDENCE</a:t>
            </a:r>
            <a:r>
              <a:rPr lang="en-GB" sz="1550" dirty="0">
                <a:ea typeface="Calibri"/>
                <a:cs typeface="Calibri"/>
              </a:rPr>
              <a:t>% of systems has remained stable. PORTFOLIO_MAINT_DECREASED_COMPONENT_INDEPENDENCE%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PORTFOLIO_MAINT_BIGGEST_CHANGES_COMPONENT_INDEPENDENCE</a:t>
            </a:r>
          </a:p>
        </p:txBody>
      </p:sp>
    </p:spTree>
    <p:extLst>
      <p:ext uri="{BB962C8B-B14F-4D97-AF65-F5344CB8AC3E}">
        <p14:creationId xmlns:p14="http://schemas.microsoft.com/office/powerpoint/2010/main" val="24426056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410176" cy="228145"/>
          </a:xfrm>
        </p:spPr>
        <p:txBody>
          <a:bodyPr>
            <a:spAutoFit/>
          </a:bodyPr>
          <a:lstStyle/>
          <a:p>
            <a:r>
              <a:rPr lang="en-US" dirty="0"/>
              <a:t>Maintainability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Component Entanglement metric for portfolio CUSTOMER_NAME</a:t>
            </a:r>
          </a:p>
        </p:txBody>
      </p: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PORTFOLIO_PERIOD_MAINT_COMPONENT_ENTANGLEMENT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Component Entanglement rating for the portfolio is PORTFOLIO_MAINT_AVG_RATING_COMPONENT_ENTANGLEMENT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PORTFOLIO_MAINT_ABOVE_MARKET_COMPONENT_ENTANGLEMENT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PORTFOLIO_MAINT_MARKET_AVERAGE_COMPONENT_ENTANGLEMENT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PORTFOLIO_MAINT_BELOW_MARKET_COMPONENT_ENTANGLEMENT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9820244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410176" cy="228145"/>
          </a:xfrm>
        </p:spPr>
        <p:txBody>
          <a:bodyPr>
            <a:spAutoFit/>
          </a:bodyPr>
          <a:lstStyle/>
          <a:p>
            <a:r>
              <a:rPr lang="en-US" dirty="0"/>
              <a:t>Maintainability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Component Entanglement metric for portfolio CUSTOMER_NAME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PORTFOLIO_PERIOD_MAINT_COMPONENT_ENTANGLEMENT_CHANGE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 err="1">
                <a:ea typeface="Calibri"/>
                <a:cs typeface="Calibri"/>
              </a:rPr>
              <a:t>PORTFOLIO_MAINT_CHANGE_SUMMARY_COMPONENT_ENTANGLEMENT</a:t>
            </a:r>
            <a:endParaRPr lang="en-GB" sz="1550" dirty="0">
              <a:ea typeface="Calibri"/>
              <a:cs typeface="Calibri"/>
            </a:endParaRPr>
          </a:p>
          <a:p>
            <a:pPr indent="-283845"/>
            <a:r>
              <a:rPr lang="en-GB" sz="1550" dirty="0" err="1">
                <a:ea typeface="Calibri"/>
                <a:cs typeface="Calibri"/>
              </a:rPr>
              <a:t>PORTFOLIO_MAINT_INCREASED_COMPONENT_ENTANGLEMENT</a:t>
            </a:r>
            <a:r>
              <a:rPr lang="en-GB" sz="1550" dirty="0">
                <a:ea typeface="Calibri"/>
                <a:cs typeface="Calibri"/>
              </a:rPr>
              <a:t>% of systems has seen an increase in their Component Entanglement </a:t>
            </a:r>
            <a:r>
              <a:rPr lang="en-GB" sz="1550">
                <a:ea typeface="Calibri"/>
                <a:cs typeface="Calibri"/>
              </a:rPr>
              <a:t>rating. PORTFOLIO</a:t>
            </a:r>
            <a:r>
              <a:rPr lang="en-GB" sz="1550" dirty="0" err="1">
                <a:ea typeface="Calibri"/>
                <a:cs typeface="Calibri"/>
              </a:rPr>
              <a:t>_MAINT_STABLE_COMPONENT_ENTANGLEMENT</a:t>
            </a:r>
            <a:r>
              <a:rPr lang="en-GB" sz="1550" dirty="0">
                <a:ea typeface="Calibri"/>
                <a:cs typeface="Calibri"/>
              </a:rPr>
              <a:t>% of systems has remained stable. PORTFOLIO_MAINT_DECREASED_COMPONENT_ENTANGLEMENT%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PORTFOLIO_MAINT_BIGGEST_CHANGES_COMPONENT_ENTANGLEMENT</a:t>
            </a:r>
          </a:p>
        </p:txBody>
      </p:sp>
    </p:spTree>
    <p:extLst>
      <p:ext uri="{BB962C8B-B14F-4D97-AF65-F5344CB8AC3E}">
        <p14:creationId xmlns:p14="http://schemas.microsoft.com/office/powerpoint/2010/main" val="7516122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9DAED-12F5-A259-BC91-56EC7C1D2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68ED157-A2D5-52AF-255A-424BB0A762D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nl-NL"/>
              <a:t>Confidential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6A4176-AD1E-9A14-096D-40AD01C407B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17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B2B9473-68A5-9566-236F-C2E388AAE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600" y="1220743"/>
            <a:ext cx="3560400" cy="1218795"/>
          </a:xfrm>
        </p:spPr>
        <p:txBody>
          <a:bodyPr/>
          <a:lstStyle/>
          <a:p>
            <a:r>
              <a:rPr lang="en-US" dirty="0"/>
              <a:t>Index of Metrics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542849-2FC7-08E3-5336-D0F86AAB7F1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8000"/>
            <a:ext cx="7092000" cy="2073007"/>
          </a:xfrm>
        </p:spPr>
        <p:txBody>
          <a:bodyPr/>
          <a:lstStyle/>
          <a:p>
            <a:r>
              <a:rPr lang="en-US" dirty="0"/>
              <a:t>Maintainability </a:t>
            </a:r>
          </a:p>
          <a:p>
            <a:r>
              <a:rPr lang="en-US" dirty="0"/>
              <a:t>Architecture Quality</a:t>
            </a:r>
          </a:p>
          <a:p>
            <a:r>
              <a:rPr lang="en-US" dirty="0"/>
              <a:t>Open Source Health</a:t>
            </a:r>
          </a:p>
        </p:txBody>
      </p:sp>
      <p:sp>
        <p:nvSpPr>
          <p:cNvPr id="6" name="Afgeronde rechthoek 33">
            <a:extLst>
              <a:ext uri="{FF2B5EF4-FFF2-40B4-BE49-F238E27FC236}">
                <a16:creationId xmlns:a16="http://schemas.microsoft.com/office/drawing/2014/main" id="{4B2109DD-DFE3-4DAC-D878-F79657C4BC34}"/>
              </a:ext>
            </a:extLst>
          </p:cNvPr>
          <p:cNvSpPr/>
          <p:nvPr/>
        </p:nvSpPr>
        <p:spPr>
          <a:xfrm>
            <a:off x="4467600" y="1438444"/>
            <a:ext cx="7567201" cy="672117"/>
          </a:xfrm>
          <a:prstGeom prst="roundRect">
            <a:avLst>
              <a:gd name="adj" fmla="val 4868"/>
            </a:avLst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GB" dirty="0">
              <a:solidFill>
                <a:schemeClr val="tx2"/>
              </a:solidFill>
              <a:latin typeface="Noir Pro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06059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156940" cy="228145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Code Breakdown metric for portfolio CUSTOMER_NAME</a:t>
            </a:r>
          </a:p>
        </p:txBody>
      </p: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PORTFOLIO_PERIOD_ARCH_CODE_BREAKDOWN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Code Breakdown rating for the portfolio is PORTFOLIO_ARCH_AVG_RATING_CODE_BREAKDOWN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PORTFOLIO_ARCH_ABOVE_MARKET_CODE_BREAKDOWN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PORTFOLIO_ARCH_MARKET_AVERAGE_CODE_BREAKDOWN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PORTFOLIO_ARCH_BELOW_MARKET_CODE_BREAKDOWN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0472794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156940" cy="228145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Code Breakdown metric for portfolio CUSTOMER_NAME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PORTFOLIO_PERIOD_ARCH_CODE_BREAKDOWN_RATINGS_CHANGE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>
                <a:ea typeface="Calibri"/>
                <a:cs typeface="Calibri"/>
              </a:rPr>
              <a:t>PORTFOLIO_ARCH_INCREASED_CODE_BREAKDOWN% of systems has seen an increase in their Code Breakdown rating. PORTFOLIO_ARCH_STABLE_CODE_BREAKDOWN% of systems has remained stable. PORTFOLIO_ARCH_DECREASED_CODE_BREAKDOWN%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PORTFOLIO_ARCH_BIGGEST_CHANGES_CODE_BREAKDOWN</a:t>
            </a:r>
          </a:p>
        </p:txBody>
      </p:sp>
    </p:spTree>
    <p:extLst>
      <p:ext uri="{BB962C8B-B14F-4D97-AF65-F5344CB8AC3E}">
        <p14:creationId xmlns:p14="http://schemas.microsoft.com/office/powerpoint/2010/main" val="38589134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156940" cy="228145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Component Coupling metric for portfolio CUSTOMER_NAME</a:t>
            </a:r>
          </a:p>
        </p:txBody>
      </p: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PORTFOLIO_PERIOD_ARCH_COMPONENT_COUPLING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Component Coupling rating for the portfolio is PORTFOLIO_ARCH_AVG_RATING_COMPONENT_COUPLING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PORTFOLIO_ARCH_ABOVE_MARKET_COMPONENT_COUPLING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PORTFOLIO_ARCH_MARKET_AVERAGE_COMPONENT_COUPLING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PORTFOLIO_ARCH_BELOW_MARKET_COMPONENT_COUPLING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0082517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156940" cy="228145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Component Coupling metric for portfolio CUSTOMER_NAME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PORTFOLIO_PERIOD_ARCH_COMPONENT_COUPLING_RATINGS_CHANGE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>
                <a:ea typeface="Calibri"/>
                <a:cs typeface="Calibri"/>
              </a:rPr>
              <a:t>PORTFOLIO_ARCH_INCREASED_COMPONENT_COUPLING% of systems has seen an increase in their Component Coupling rating. PORTFOLIO_ARCH_STABLE_COMPONENT_COUPLING% of systems has remained stable. PORTFOLIO_ARCH_DECREASED_COMPONENT_COUPLING%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PORTFOLIO_ARCH_BIGGEST_CHANGES_COMPONENT_COUPLING</a:t>
            </a:r>
          </a:p>
        </p:txBody>
      </p:sp>
    </p:spTree>
    <p:extLst>
      <p:ext uri="{BB962C8B-B14F-4D97-AF65-F5344CB8AC3E}">
        <p14:creationId xmlns:p14="http://schemas.microsoft.com/office/powerpoint/2010/main" val="34400809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156940" cy="228145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Component Adjacency metric for portfolio CUSTOMER_NAME</a:t>
            </a:r>
          </a:p>
        </p:txBody>
      </p: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PORTFOLIO_PERIOD_ARCH_COMPONENT_ADJACENCY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Component Adjacency rating for the portfolio is PORTFOLIO_ARCH_AVG_RATING_COMPONENT_ADJACENCY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PORTFOLIO_ARCH_ABOVE_MARKET_COMPONENT_ADJACENCY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PORTFOLIO_ARCH_MARKET_AVERAGE_COMPONENT_ADJACENCY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PORTFOLIO_ARCH_BELOW_MARKET_COMPONENT_ADJACENCY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8424427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156940" cy="228145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Component Adjacency metric for portfolio CUSTOMER_NAME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PORTFOLIO_PERIOD_ARCH_COMPONENT_ADJACENCY_RATINGS_CHANGE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>
                <a:ea typeface="Calibri"/>
                <a:cs typeface="Calibri"/>
              </a:rPr>
              <a:t>PORTFOLIO_ARCH_INCREASED_COMPONENT_ADJACENCY% of systems has seen an increase in their Component Adjacency rating. PORTFOLIO_ARCH_STABLE_COMPONENT_ADJACENCY% of systems has remained stable. PORTFOLIO_ARCH_DECREASED_COMPONENT_ADJACENCY%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PORTFOLIO_ARCH_BIGGEST_CHANGES_COMPONENT_ADJACENCY</a:t>
            </a:r>
          </a:p>
        </p:txBody>
      </p:sp>
    </p:spTree>
    <p:extLst>
      <p:ext uri="{BB962C8B-B14F-4D97-AF65-F5344CB8AC3E}">
        <p14:creationId xmlns:p14="http://schemas.microsoft.com/office/powerpoint/2010/main" val="28426400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156940" cy="228145"/>
          </a:xfrm>
        </p:spPr>
        <p:txBody>
          <a:bodyPr>
            <a:spAutoFit/>
          </a:bodyPr>
          <a:lstStyle/>
          <a:p>
            <a:r>
              <a:rPr dirty="0"/>
              <a:t>Architecture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Component Cohesion metric for portfolio CUSTOMER_NAME</a:t>
            </a:r>
          </a:p>
        </p:txBody>
      </p: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PORTFOLIO_PERIOD_ARCH_COMPONENT_COHESION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Component Cohesion rating for the portfolio is PORTFOLIO_ARCH_AVG_RATING_COMPONENT_COHESION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PORTFOLIO_ARCH_ABOVE_MARKET_COMPONENT_COHESION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PORTFOLIO_ARCH_MARKET_AVERAGE_COMPONENT_COHESION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PORTFOLIO_ARCH_BELOW_MARKET_COMPONENT_COHESION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0722280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156940" cy="228145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Component Cohesion metric for portfolio CUSTOMER_NAME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PORTFOLIO_PERIOD_ARCH_COMPONENT_COHESION_RATINGS_CHANGE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>
                <a:ea typeface="Calibri"/>
                <a:cs typeface="Calibri"/>
              </a:rPr>
              <a:t>PORTFOLIO_ARCH_INCREASED_COMPONENT_COHESION% of systems has seen an increase in their Component Cohesion rating. PORTFOLIO_ARCH_STABLE_COMPONENT_COHESION% of systems has remained stable. PORTFOLIO_ARCH_DECREASED_COMPONENT_COHESION%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PORTFOLIO_ARCH_BIGGEST_CHANGES_COMPONENT_COHESION</a:t>
            </a:r>
          </a:p>
        </p:txBody>
      </p:sp>
    </p:spTree>
    <p:extLst>
      <p:ext uri="{BB962C8B-B14F-4D97-AF65-F5344CB8AC3E}">
        <p14:creationId xmlns:p14="http://schemas.microsoft.com/office/powerpoint/2010/main" val="21369185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156940" cy="228145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</a:t>
            </a:r>
            <a:r>
              <a:rPr lang="en-GB" dirty="0">
                <a:ea typeface="Calibri"/>
                <a:cs typeface="Calibri"/>
              </a:rPr>
              <a:t>Communication Centralization </a:t>
            </a:r>
            <a:r>
              <a:rPr lang="en-US" dirty="0"/>
              <a:t>metric for portfolio CUSTOMER_NAME</a:t>
            </a:r>
          </a:p>
        </p:txBody>
      </p: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PORTFOLIO_PERIOD_ARCH</a:t>
            </a:r>
            <a:r>
              <a:rPr lang="en-GB" sz="1600" dirty="0">
                <a:ea typeface="Calibri"/>
                <a:cs typeface="Calibri"/>
              </a:rPr>
              <a:t>_COMMUNICATION_CENTRALIZATION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</a:t>
            </a:r>
            <a:r>
              <a:rPr lang="en-GB" dirty="0">
                <a:ea typeface="Calibri"/>
                <a:cs typeface="Calibri"/>
              </a:rPr>
              <a:t>Communication Centralization rating</a:t>
            </a:r>
            <a:r>
              <a:rPr lang="en-US" dirty="0"/>
              <a:t> for the portfolio is PORTFOLIO_ARCH_AVG_RATING_</a:t>
            </a:r>
            <a:r>
              <a:rPr lang="en-GB" dirty="0">
                <a:ea typeface="Calibri"/>
                <a:cs typeface="Calibri"/>
              </a:rPr>
              <a:t>COMMUNICATION_CENTRALIZATION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PORTFOLIO_ARCH_ABOVE_MARKET_</a:t>
            </a:r>
            <a:r>
              <a:rPr lang="en-GB" dirty="0">
                <a:ea typeface="Calibri"/>
                <a:cs typeface="Calibri"/>
              </a:rPr>
              <a:t>COMMUNICATION_CENTRALIZATION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PORTFOLIO_ARCH_MARKET_AVERAGE_</a:t>
            </a:r>
            <a:r>
              <a:rPr lang="en-GB" dirty="0">
                <a:ea typeface="Calibri"/>
                <a:cs typeface="Calibri"/>
              </a:rPr>
              <a:t>COMMUNICATION_CENTRALIZATION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PORTFOLIO_ARCH_BELOW_MARKET_</a:t>
            </a:r>
            <a:r>
              <a:rPr lang="en-GB" dirty="0">
                <a:ea typeface="Calibri"/>
                <a:cs typeface="Calibri"/>
              </a:rPr>
              <a:t>COMMUNICATION_CENTRALIZATION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7093799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156940" cy="228145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Communication Centralization metric for portfolio CUSTOMER_NAME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PORTFOLIO_PERIOD_ARCH_COMMUNICATION_CENTRALIZATION_RATINGS_CHANGE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>
                <a:ea typeface="Calibri"/>
                <a:cs typeface="Calibri"/>
              </a:rPr>
              <a:t>PORTFOLIO_ARCH_INCREASED_COMMUNICATION_CENTRALIZATION% of systems has seen an increase in their Communication Centralization rating. PORTFOLIO_ARCH_STABLE_COMMUNICATION_CENTRALIZATION% of systems has remained stable. PORTFOLIO_ARCH_DECREASED_COMMUNICATION_CENTRALIZATION%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PORTFOLIO_ARCH_BIGGEST_CHANGES_COMMUNICATION_CENTRALIZATION</a:t>
            </a:r>
          </a:p>
        </p:txBody>
      </p:sp>
    </p:spTree>
    <p:extLst>
      <p:ext uri="{BB962C8B-B14F-4D97-AF65-F5344CB8AC3E}">
        <p14:creationId xmlns:p14="http://schemas.microsoft.com/office/powerpoint/2010/main" val="37692473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156940" cy="228145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Data Coupling metric for portfolio CUSTOMER_NAME</a:t>
            </a:r>
          </a:p>
        </p:txBody>
      </p: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PORTFOLIO_PERIOD_ARCH_DATA_COUPLING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Data Coupling rating for the portfolio is PORTFOLIO_ARCH_AVG_RATING_DATA_COUPLING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PORTFOLIO_ARCH_ABOVE_MARKET_DATA_COUPLING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PORTFOLIO_ARCH_MARKET_AVERAGE_DATA_COUPLING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PORTFOLIO_ARCH_BELOW_MARKET_DATA_COUPLING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4387350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156940" cy="228145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Data Coupling metric for portfolio CUSTOMER_NAME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PORTFOLIO_PERIOD_ARCH_DATA_COUPLING_RATINGS_CHANGE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>
                <a:ea typeface="Calibri"/>
                <a:cs typeface="Calibri"/>
              </a:rPr>
              <a:t>PORTFOLIO_ARCH_INCREASED_DATA_COUPLING% of systems has seen an increase in their Data Coupling rating. PORTFOLIO_ARCH_STABLE_DATA_COUPLING% of systems has remained stable. PORTFOLIO_ARCH_DECREASED_DATA_COUPLING%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PORTFOLIO_ARCH_BIGGEST_CHANGES_DATA_COUPLING</a:t>
            </a:r>
          </a:p>
        </p:txBody>
      </p:sp>
    </p:spTree>
    <p:extLst>
      <p:ext uri="{BB962C8B-B14F-4D97-AF65-F5344CB8AC3E}">
        <p14:creationId xmlns:p14="http://schemas.microsoft.com/office/powerpoint/2010/main" val="25321641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156940" cy="228145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Bounded Evolution metric for portfolio CUSTOMER_NAME</a:t>
            </a:r>
          </a:p>
        </p:txBody>
      </p: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PORTFOLIO_PERIOD_ARCH_BOUNDED_EVOLUTION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Bounded Evolution rating for the portfolio is PORTFOLIO_ARCH_AVG_RATING_BOUNDED_EVOLUTION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PORTFOLIO_ARCH_ABOVE_MARKET_BOUNDED_EVOLUTION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PORTFOLIO_ARCH_MARKET_AVERAGE_BOUNDED_EVOLUTION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PORTFOLIO_ARCH_BELOW_MARKET_BOUNDED_EVOLUTION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957495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156940" cy="228145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Bounded Evolution metric for portfolio CUSTOMER_NAME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PORTFOLIO_PERIOD_ARCH_BOUNDED_EVOLUTION_RATINGS_CHANGE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>
                <a:ea typeface="Calibri"/>
                <a:cs typeface="Calibri"/>
              </a:rPr>
              <a:t>PORTFOLIO_ARCH_INCREASED_BOUNDED_EVOLUTION% of systems has seen an increase in their Bounded Evolution rating. PORTFOLIO_ARCH_STABLE_BOUNDED_EVOLUTION% of systems has remained stable. PORTFOLIO_ARCH_DECREASED_BOUNDED_EVOLUTION%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PORTFOLIO_ARCH_BIGGEST_CHANGES_BOUNDED_EVOLUTION</a:t>
            </a:r>
          </a:p>
        </p:txBody>
      </p:sp>
    </p:spTree>
    <p:extLst>
      <p:ext uri="{BB962C8B-B14F-4D97-AF65-F5344CB8AC3E}">
        <p14:creationId xmlns:p14="http://schemas.microsoft.com/office/powerpoint/2010/main" val="37186473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156940" cy="228145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Knowledge Awareness metric for portfolio CUSTOMER_NAME</a:t>
            </a:r>
          </a:p>
        </p:txBody>
      </p: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PORTFOLIO_PERIOD_ARCH_KNOWLEDGE_AWARENESS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Knowledge Awareness rating for the portfolio is PORTFOLIO_ARCH_AVG_RATING_KNOWLEDGE_AWARENESS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PORTFOLIO_ARCH_ABOVE_MARKET_KNOWLEDGE_AWARENESS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PORTFOLIO_ARCH_MARKET_AVERAGE_KNOWLEDGE_AWARENESS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PORTFOLIO_ARCH_BELOW_MARKET_KNOWLEDGE_AWARENESS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901172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156940" cy="228145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Knowledge Awareness metric for portfolio CUSTOMER_NAME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PORTFOLIO_PERIOD_ARCH_KNOWLEDGE_AWARENESS_RATINGS_CHANGE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>
                <a:ea typeface="Calibri"/>
                <a:cs typeface="Calibri"/>
              </a:rPr>
              <a:t>PORTFOLIO_ARCH_INCREASED_KNOWLEDGE_AWARENESS% of systems has seen an increase in their Knowledge Awareness rating. PORTFOLIO_ARCH_STABLE_KNOWLEDGE_AWARENESS% of systems has remained stable. PORTFOLIO_ARCH_DECREASED_KNOWLEDGE_AWARENESS%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PORTFOLIO_ARCH_BIGGEST_CHANGES_KNOWLEDGE_AWARENESS</a:t>
            </a:r>
          </a:p>
        </p:txBody>
      </p:sp>
    </p:spTree>
    <p:extLst>
      <p:ext uri="{BB962C8B-B14F-4D97-AF65-F5344CB8AC3E}">
        <p14:creationId xmlns:p14="http://schemas.microsoft.com/office/powerpoint/2010/main" val="22908151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156940" cy="228145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Component Freshness metric for portfolio CUSTOMER_NAME</a:t>
            </a:r>
          </a:p>
        </p:txBody>
      </p: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PORTFOLIO_PERIOD_ARCH_COMPONENT_FRESHNESS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Component Freshness rating for the portfolio is PORTFOLIO_ARCH_AVG_RATING_COMPONENT_FRESHNESS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PORTFOLIO_ARCH_ABOVE_MARKET_COMPONENT_FRESHNESS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PORTFOLIO_ARCH_MARKET_AVERAGE_COMPONENT_FRESHNESS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PORTFOLIO_ARCH_BELOW_MARKET_COMPONENT_FRESHNESS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622760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156940" cy="228145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Component Freshness metric for portfolio CUSTOMER_NAME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PORTFOLIO_PERIOD_ARCH_COMPONENT_FRESHNESS_RATINGS_CHANGE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>
                <a:ea typeface="Calibri"/>
                <a:cs typeface="Calibri"/>
              </a:rPr>
              <a:t>PORTFOLIO_ARCH_INCREASED_COMPONENT_FRESHNESS% of systems has seen an increase in their Component Freshness rating. PORTFOLIO_ARCH_STABLE_COMPONENT_FRESHNESS% of systems has remained stable. PORTFOLIO_ARCH_DECREASED_COMPONENT_FRESHNESS%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PORTFOLIO_ARCH_BIGGEST_CHANGES_COMPONENT_FRESHNESS</a:t>
            </a:r>
          </a:p>
        </p:txBody>
      </p:sp>
    </p:spTree>
    <p:extLst>
      <p:ext uri="{BB962C8B-B14F-4D97-AF65-F5344CB8AC3E}">
        <p14:creationId xmlns:p14="http://schemas.microsoft.com/office/powerpoint/2010/main" val="40404048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156940" cy="228145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Team Stability metric for portfolio CUSTOMER_NAME</a:t>
            </a:r>
          </a:p>
        </p:txBody>
      </p: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PORTFOLIO_PERIOD_ARCH_TEAM_STABILITY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Team Stability rating for the portfolio is PORTFOLIO_ARCH_AVG_RATING_TEAM_STABILITY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PORTFOLIO_ARCH_ABOVE_MARKET_TEAM_STABILITY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PORTFOLIO_ARCH_MARKET_AVERAGE_TEAM_STABILITY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PORTFOLIO_ARCH_BELOW_MARKET_TEAM_STABILITY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9555438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156940" cy="228145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Team Stability metric for portfolio CUSTOMER_NAME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PORTFOLIO_PERIOD_ARCH_TEAM_STABILITY_RATINGS_CHANGE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>
                <a:ea typeface="Calibri"/>
                <a:cs typeface="Calibri"/>
              </a:rPr>
              <a:t>PORTFOLIO_ARCH_INCREASED_TEAM_STABILITY% of systems has seen an increase in their Team Stability rating. PORTFOLIO_ARCH_STABLE_TEAM_STABILITY% of systems has remained stable. PORTFOLIO_ARCH_DECREASED_TEAM_STABILITY%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PORTFOLIO_ARCH_BIGGEST_CHANGES_TEAM_STABILITY</a:t>
            </a:r>
          </a:p>
        </p:txBody>
      </p:sp>
    </p:spTree>
    <p:extLst>
      <p:ext uri="{BB962C8B-B14F-4D97-AF65-F5344CB8AC3E}">
        <p14:creationId xmlns:p14="http://schemas.microsoft.com/office/powerpoint/2010/main" val="19523367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2A848-3C3B-60D0-07AA-C794FB3DE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78832CF-89C8-A678-3DE3-0B8570E1CDF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nl-NL"/>
              <a:t>Confidential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C0FA17-A24A-8F00-536B-10B083EAB6B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38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CCD467-505B-0161-53C5-DD3371562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600" y="1220743"/>
            <a:ext cx="3560400" cy="1218795"/>
          </a:xfrm>
        </p:spPr>
        <p:txBody>
          <a:bodyPr/>
          <a:lstStyle/>
          <a:p>
            <a:r>
              <a:rPr lang="en-US" dirty="0"/>
              <a:t>Index of Metrics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9133B35-BDB7-23F8-73B5-D80C3CA774C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8000"/>
            <a:ext cx="7092000" cy="2073007"/>
          </a:xfrm>
        </p:spPr>
        <p:txBody>
          <a:bodyPr/>
          <a:lstStyle/>
          <a:p>
            <a:r>
              <a:rPr lang="en-US" dirty="0"/>
              <a:t>Maintainability </a:t>
            </a:r>
          </a:p>
          <a:p>
            <a:r>
              <a:rPr lang="en-US" dirty="0"/>
              <a:t>Architecture Quality</a:t>
            </a:r>
          </a:p>
          <a:p>
            <a:r>
              <a:rPr lang="en-US" dirty="0"/>
              <a:t>Open Source Health</a:t>
            </a:r>
          </a:p>
        </p:txBody>
      </p:sp>
      <p:sp>
        <p:nvSpPr>
          <p:cNvPr id="6" name="Afgeronde rechthoek 33">
            <a:extLst>
              <a:ext uri="{FF2B5EF4-FFF2-40B4-BE49-F238E27FC236}">
                <a16:creationId xmlns:a16="http://schemas.microsoft.com/office/drawing/2014/main" id="{D0F816A6-BE10-E46B-5A30-AEE2C76C6193}"/>
              </a:ext>
            </a:extLst>
          </p:cNvPr>
          <p:cNvSpPr/>
          <p:nvPr/>
        </p:nvSpPr>
        <p:spPr>
          <a:xfrm>
            <a:off x="4467600" y="2103479"/>
            <a:ext cx="7567201" cy="672117"/>
          </a:xfrm>
          <a:prstGeom prst="roundRect">
            <a:avLst>
              <a:gd name="adj" fmla="val 4868"/>
            </a:avLst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GB" dirty="0">
              <a:solidFill>
                <a:schemeClr val="tx2"/>
              </a:solidFill>
              <a:latin typeface="Noir Pro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84349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663411" cy="228145"/>
          </a:xfrm>
        </p:spPr>
        <p:txBody>
          <a:bodyPr>
            <a:spAutoFit/>
          </a:bodyPr>
          <a:lstStyle/>
          <a:p>
            <a:r>
              <a:rPr lang="en-US" dirty="0"/>
              <a:t>Open Source Health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Vulnerability metric for portfolio CUSTOMER_NAME</a:t>
            </a:r>
          </a:p>
        </p:txBody>
      </p: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PORTFOLIO_PERIOD_OSH_VULNERABILITY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Vulnerability rating for the portfolio is PORTFOLIO_OSH_AVG_RATING_VULNERABILITY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PORTFOLIO_OSH_ABOVE_MARKET_VULNERABILITY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PORTFOLIO_OSH_MARKET_AVERAGE_VULNERABILITY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PORTFOLIO_OSH_BELOW_MARKET_VULNERABILITY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5657671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663411" cy="228145"/>
          </a:xfrm>
        </p:spPr>
        <p:txBody>
          <a:bodyPr>
            <a:spAutoFit/>
          </a:bodyPr>
          <a:lstStyle/>
          <a:p>
            <a:r>
              <a:rPr lang="en-US" dirty="0"/>
              <a:t>Open Source Health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Licenses metric for portfolio CUSTOMER_NAME</a:t>
            </a:r>
          </a:p>
        </p:txBody>
      </p: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PORTFOLIO_PERIOD_OSH_LICENSES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Licenses rating for the portfolio is PORTFOLIO_OSH_AVG_RATING_LICENSES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PORTFOLIO_OSH_ABOVE_MARKET_LICENSES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PORTFOLIO_OSH_MARKET_AVERAGE_LICENSES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PORTFOLIO_OSH_BELOW_MARKET_LICENSES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0347953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663411" cy="228145"/>
          </a:xfrm>
        </p:spPr>
        <p:txBody>
          <a:bodyPr>
            <a:spAutoFit/>
          </a:bodyPr>
          <a:lstStyle/>
          <a:p>
            <a:r>
              <a:rPr lang="en-US" dirty="0"/>
              <a:t>Open Source Health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Freshness metric for portfolio CUSTOMER_NAME</a:t>
            </a:r>
          </a:p>
        </p:txBody>
      </p: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PORTFOLIO_PERIOD_OSH_FRESHNESS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Freshness rating for the portfolio is PORTFOLIO_OSH_AVG_RATING_FRESHNESS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PORTFOLIO_OSH_ABOVE_MARKET_FRESHNESS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PORTFOLIO_OSH_MARKET_AVERAGE_FRESHNESS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PORTFOLIO_OSH_BELOW_MARKET_FRESHNESS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2704159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663129" cy="228145"/>
          </a:xfrm>
        </p:spPr>
        <p:txBody>
          <a:bodyPr>
            <a:spAutoFit/>
          </a:bodyPr>
          <a:lstStyle/>
          <a:p>
            <a:r>
              <a:rPr lang="en-US" dirty="0"/>
              <a:t>Open Source Health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Management metric for portfolio CUSTOMER_NAME</a:t>
            </a:r>
          </a:p>
        </p:txBody>
      </p: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PORTFOLIO_PERIOD_OSH_MANAGEMENT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Management rating for the portfolio is PORTFOLIO_OSH_AVG_RATING_MANAGEMENT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PORTFOLIO_OSH_ABOVE_MARKET_MANAGEMENT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PORTFOLIO_OSH_MARKET_AVERAGE_MANAGEMENT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PORTFOLIO_OSH_BELOW_MARKET_MANAGEMENT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570160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663411" cy="228145"/>
          </a:xfrm>
        </p:spPr>
        <p:txBody>
          <a:bodyPr>
            <a:spAutoFit/>
          </a:bodyPr>
          <a:lstStyle/>
          <a:p>
            <a:r>
              <a:rPr lang="en-US" dirty="0"/>
              <a:t>Open Source Health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Activity metric for portfolio CUSTOMER_NAME</a:t>
            </a:r>
          </a:p>
        </p:txBody>
      </p:sp>
      <p:sp>
        <p:nvSpPr>
          <p:cNvPr id="22" name="Footer Placeholder 1004">
            <a:extLst>
              <a:ext uri="{FF2B5EF4-FFF2-40B4-BE49-F238E27FC236}">
                <a16:creationId xmlns:a16="http://schemas.microsoft.com/office/drawing/2014/main" id="{3003FB07-67E0-4E3E-208C-0F579A9ED4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PORTFOLIO_PERIOD_OSH_ACTIVITY</a:t>
            </a:r>
          </a:p>
        </p:txBody>
      </p: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Activity rating for the portfolio is PORTFOLIO_OSH_AVG_RATING_ACTIVITY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PORTFOLIO_OSH_ABOVE_MARKET_ACTIVITY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PORTFOLIO_OSH_MARKET_AVERAGE_ACTIVITY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PORTFOLIO_OSH_BELOW_MARKET_ACTIVITY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  <p:grpSp>
        <p:nvGrpSpPr>
          <p:cNvPr id="6" name="Group 1030">
            <a:extLst>
              <a:ext uri="{FF2B5EF4-FFF2-40B4-BE49-F238E27FC236}">
                <a16:creationId xmlns:a16="http://schemas.microsoft.com/office/drawing/2014/main" id="{99AFEB87-0CCD-A5AC-7E55-A8E60931ECD5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8" name="TextBox 1031">
              <a:extLst>
                <a:ext uri="{FF2B5EF4-FFF2-40B4-BE49-F238E27FC236}">
                  <a16:creationId xmlns:a16="http://schemas.microsoft.com/office/drawing/2014/main" id="{D76B4ABE-E39A-C561-402E-9E302879EEFD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9" name="Rounded Rectangle 1032">
              <a:extLst>
                <a:ext uri="{FF2B5EF4-FFF2-40B4-BE49-F238E27FC236}">
                  <a16:creationId xmlns:a16="http://schemas.microsoft.com/office/drawing/2014/main" id="{6FBCB493-E9C2-EFBB-FBE4-182DA74247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Group 1033">
            <a:extLst>
              <a:ext uri="{FF2B5EF4-FFF2-40B4-BE49-F238E27FC236}">
                <a16:creationId xmlns:a16="http://schemas.microsoft.com/office/drawing/2014/main" id="{F4A7F3FD-0B04-7430-64C3-66D73D44FDFB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1" name="TextBox 1034">
              <a:extLst>
                <a:ext uri="{FF2B5EF4-FFF2-40B4-BE49-F238E27FC236}">
                  <a16:creationId xmlns:a16="http://schemas.microsoft.com/office/drawing/2014/main" id="{B9650F97-8672-3BEA-FA99-CF3043EDFB02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2" name="Rounded Rectangle 1035">
              <a:extLst>
                <a:ext uri="{FF2B5EF4-FFF2-40B4-BE49-F238E27FC236}">
                  <a16:creationId xmlns:a16="http://schemas.microsoft.com/office/drawing/2014/main" id="{FFADB97F-2BF7-4867-DCDB-A9D48DC52A8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" name="Group 1036">
            <a:extLst>
              <a:ext uri="{FF2B5EF4-FFF2-40B4-BE49-F238E27FC236}">
                <a16:creationId xmlns:a16="http://schemas.microsoft.com/office/drawing/2014/main" id="{D7604836-9265-A1A8-0D56-2C140B29F83E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4" name="TextBox 1037">
              <a:extLst>
                <a:ext uri="{FF2B5EF4-FFF2-40B4-BE49-F238E27FC236}">
                  <a16:creationId xmlns:a16="http://schemas.microsoft.com/office/drawing/2014/main" id="{C73D936E-59D4-6831-50F0-AB8CEB499B66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5" name="Rounded Rectangle 1038">
              <a:extLst>
                <a:ext uri="{FF2B5EF4-FFF2-40B4-BE49-F238E27FC236}">
                  <a16:creationId xmlns:a16="http://schemas.microsoft.com/office/drawing/2014/main" id="{AD985571-355E-A893-64A2-BBBC0A52D4D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Group 1039">
            <a:extLst>
              <a:ext uri="{FF2B5EF4-FFF2-40B4-BE49-F238E27FC236}">
                <a16:creationId xmlns:a16="http://schemas.microsoft.com/office/drawing/2014/main" id="{EA407F70-674E-C448-46FF-DAC346F52A85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7" name="TextBox 1040">
              <a:extLst>
                <a:ext uri="{FF2B5EF4-FFF2-40B4-BE49-F238E27FC236}">
                  <a16:creationId xmlns:a16="http://schemas.microsoft.com/office/drawing/2014/main" id="{F0FF61F8-4401-D061-4AC6-47B3AC5BBA14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8" name="Rounded Rectangle 1041">
              <a:extLst>
                <a:ext uri="{FF2B5EF4-FFF2-40B4-BE49-F238E27FC236}">
                  <a16:creationId xmlns:a16="http://schemas.microsoft.com/office/drawing/2014/main" id="{F47CC817-B00D-E027-7B3D-415586015C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Group 1042">
            <a:extLst>
              <a:ext uri="{FF2B5EF4-FFF2-40B4-BE49-F238E27FC236}">
                <a16:creationId xmlns:a16="http://schemas.microsoft.com/office/drawing/2014/main" id="{F16CAD8B-5312-A8AE-4012-68F182A02B54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20" name="TextBox 1043">
              <a:extLst>
                <a:ext uri="{FF2B5EF4-FFF2-40B4-BE49-F238E27FC236}">
                  <a16:creationId xmlns:a16="http://schemas.microsoft.com/office/drawing/2014/main" id="{9338EA57-AEDC-B417-24A7-2B066B9B45D4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21" name="Rounded Rectangle 1044">
              <a:extLst>
                <a:ext uri="{FF2B5EF4-FFF2-40B4-BE49-F238E27FC236}">
                  <a16:creationId xmlns:a16="http://schemas.microsoft.com/office/drawing/2014/main" id="{FB244793-B8B6-6212-8052-82DC320F85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30947613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theme (default)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764FF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8" id="{578C6016-95C3-5840-826C-B4226735762A}" vid="{EC50665E-BB8F-7A40-BCAA-233202124359}"/>
    </a:ext>
  </a:extLst>
</a:theme>
</file>

<file path=ppt/theme/theme2.xml><?xml version="1.0" encoding="utf-8"?>
<a:theme xmlns:a="http://schemas.openxmlformats.org/drawingml/2006/main" name="Dark theme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1" id="{F42F1492-7701-3649-9008-F8CF56C99C53}" vid="{069A4F46-BACC-A642-BE78-CD3F3EA7293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7A1475D-C9B4-4340-AC97-53E7D60D3545}">
  <we:reference id="11d7cf85-ae5a-43b8-bc58-1e1a151cce24" version="1.0.0.1" store="EXCatalog" storeType="EXCatalog"/>
  <we:alternateReferences>
    <we:reference id="WA200010725" version="1.0.0.1" store="en-US" storeType="OMEX"/>
  </we:alternateReferences>
  <we:properties>
    <we:property name="claude.fileId" value="&quot;bea3a859-62ab-42e4-a198-05891709eb96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EF897B6A9E5243A3BAB7B7BDA55B95" ma:contentTypeVersion="3" ma:contentTypeDescription="Een nieuw document maken." ma:contentTypeScope="" ma:versionID="0a97628efbdf127f23042160181f1d9a">
  <xsd:schema xmlns:xsd="http://www.w3.org/2001/XMLSchema" xmlns:xs="http://www.w3.org/2001/XMLSchema" xmlns:p="http://schemas.microsoft.com/office/2006/metadata/properties" xmlns:ns2="444ebd02-7183-4d1c-abe9-f175efe83725" targetNamespace="http://schemas.microsoft.com/office/2006/metadata/properties" ma:root="true" ma:fieldsID="44a7a3b93c857102c842f6fb1da07824" ns2:_="">
    <xsd:import namespace="444ebd02-7183-4d1c-abe9-f175efe837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4ebd02-7183-4d1c-abe9-f175efe837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8AD9160-B56A-4FCD-857D-8AE63521E7F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AFAF3E6-8A11-4BDC-9823-6F0ACEBB33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4ebd02-7183-4d1c-abe9-f175efe837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575A4A2-8818-4F4B-AD30-88D568004514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444ebd02-7183-4d1c-abe9-f175efe83725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Light theme (default)</Template>
  <TotalTime>22981</TotalTime>
  <Words>4871</Words>
  <Application>Microsoft Macintosh PowerPoint</Application>
  <PresentationFormat>Widescreen</PresentationFormat>
  <Paragraphs>530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56" baseType="lpstr">
      <vt:lpstr>☞NOIR PRO MEDIUM</vt:lpstr>
      <vt:lpstr>Arial</vt:lpstr>
      <vt:lpstr>Azeret Mono</vt:lpstr>
      <vt:lpstr>Azeret Mono Medium</vt:lpstr>
      <vt:lpstr>Calibri</vt:lpstr>
      <vt:lpstr>Calibri Bold</vt:lpstr>
      <vt:lpstr>Helvetica Neue Bold</vt:lpstr>
      <vt:lpstr>Noir Pro</vt:lpstr>
      <vt:lpstr>Noir Pro Medium</vt:lpstr>
      <vt:lpstr>Noir Pro Semi Bold</vt:lpstr>
      <vt:lpstr>TheSansMono M5</vt:lpstr>
      <vt:lpstr>Light theme (default)</vt:lpstr>
      <vt:lpstr>Dark theme</vt:lpstr>
      <vt:lpstr>PowerPoint Presentation</vt:lpstr>
      <vt:lpstr>Index of Metrics</vt:lpstr>
      <vt:lpstr>Overview of Duplication metric for portfolio CUSTOMER_NAME</vt:lpstr>
      <vt:lpstr>Change in Duplication metric for portfolio CUSTOMER_NAME</vt:lpstr>
      <vt:lpstr>Overview of Unit Size metric for portfolio CUSTOMER_NAME</vt:lpstr>
      <vt:lpstr>Change in Unit Size metric for portfolio CUSTOMER_NAME</vt:lpstr>
      <vt:lpstr>Overview of Unit Complexity metric for portfolio CUSTOMER_NAME</vt:lpstr>
      <vt:lpstr>Change in Unit Complexity metric for portfolio CUSTOMER_NAME</vt:lpstr>
      <vt:lpstr>Overview of Unit Interfacing metric for portfolio CUSTOMER_NAME</vt:lpstr>
      <vt:lpstr>Change in Unit Interfacing metric for portfolio CUSTOMER_NAME</vt:lpstr>
      <vt:lpstr>Overview of Module Coupling metric for portfolio CUSTOMER_NAME</vt:lpstr>
      <vt:lpstr>Change in Module Coupling metric for portfolio CUSTOMER_NAME</vt:lpstr>
      <vt:lpstr>Overview of Component Independence metric for portfolio CUSTOMER_NAME</vt:lpstr>
      <vt:lpstr>Change in Component Independence metric for portfolio CUSTOMER_NAME</vt:lpstr>
      <vt:lpstr>Overview of Component Entanglement metric for portfolio CUSTOMER_NAME</vt:lpstr>
      <vt:lpstr>Change in Component Entanglement metric for portfolio CUSTOMER_NAME</vt:lpstr>
      <vt:lpstr>Index of Metrics</vt:lpstr>
      <vt:lpstr>Overview of Code Breakdown metric for portfolio CUSTOMER_NAME</vt:lpstr>
      <vt:lpstr>Change in Code Breakdown metric for portfolio CUSTOMER_NAME</vt:lpstr>
      <vt:lpstr>Overview of Component Coupling metric for portfolio CUSTOMER_NAME</vt:lpstr>
      <vt:lpstr>Change in Component Coupling metric for portfolio CUSTOMER_NAME</vt:lpstr>
      <vt:lpstr>Overview of Component Adjacency metric for portfolio CUSTOMER_NAME</vt:lpstr>
      <vt:lpstr>Change in Component Adjacency metric for portfolio CUSTOMER_NAME</vt:lpstr>
      <vt:lpstr>Overview of Component Cohesion metric for portfolio CUSTOMER_NAME</vt:lpstr>
      <vt:lpstr>Change in Component Cohesion metric for portfolio CUSTOMER_NAME</vt:lpstr>
      <vt:lpstr>Overview of Communication Centralization metric for portfolio CUSTOMER_NAME</vt:lpstr>
      <vt:lpstr>Change in Communication Centralization metric for portfolio CUSTOMER_NAME</vt:lpstr>
      <vt:lpstr>Overview of Data Coupling metric for portfolio CUSTOMER_NAME</vt:lpstr>
      <vt:lpstr>Change in Data Coupling metric for portfolio CUSTOMER_NAME</vt:lpstr>
      <vt:lpstr>Overview of Bounded Evolution metric for portfolio CUSTOMER_NAME</vt:lpstr>
      <vt:lpstr>Change in Bounded Evolution metric for portfolio CUSTOMER_NAME</vt:lpstr>
      <vt:lpstr>Overview of Knowledge Awareness metric for portfolio CUSTOMER_NAME</vt:lpstr>
      <vt:lpstr>Change in Knowledge Awareness metric for portfolio CUSTOMER_NAME</vt:lpstr>
      <vt:lpstr>Overview of Component Freshness metric for portfolio CUSTOMER_NAME</vt:lpstr>
      <vt:lpstr>Change in Component Freshness metric for portfolio CUSTOMER_NAME</vt:lpstr>
      <vt:lpstr>Overview of Team Stability metric for portfolio CUSTOMER_NAME</vt:lpstr>
      <vt:lpstr>Change in Team Stability metric for portfolio CUSTOMER_NAME</vt:lpstr>
      <vt:lpstr>Index of Metrics</vt:lpstr>
      <vt:lpstr>Overview of Vulnerability metric for portfolio CUSTOMER_NAME</vt:lpstr>
      <vt:lpstr>Overview of Licenses metric for portfolio CUSTOMER_NAME</vt:lpstr>
      <vt:lpstr>Overview of Freshness metric for portfolio CUSTOMER_NAME</vt:lpstr>
      <vt:lpstr>Overview of Management metric for portfolio CUSTOMER_NAME</vt:lpstr>
      <vt:lpstr>Overview of Activity metric for portfolio CUSTOMER_NAME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Kovac</dc:creator>
  <cp:lastModifiedBy>Floris van Leeuwen</cp:lastModifiedBy>
  <cp:revision>225</cp:revision>
  <cp:lastPrinted>2020-04-20T09:37:43Z</cp:lastPrinted>
  <dcterms:created xsi:type="dcterms:W3CDTF">2025-10-22T11:22:13Z</dcterms:created>
  <dcterms:modified xsi:type="dcterms:W3CDTF">2026-09-11T09:39:46Z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0x0101004DEF897B6A9E5243A3BAB7B7BDA55B95</vt:lpwstr>
  </property>
</Properties>
</file>