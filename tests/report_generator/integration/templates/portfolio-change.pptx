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6"/>
  </p:notesMasterIdLst>
  <p:handoutMasterIdLst>
    <p:handoutMasterId r:id="rId47"/>
  </p:handoutMasterIdLst>
  <p:sldIdLst>
    <p:sldId id="1973" r:id="rId6"/>
    <p:sldId id="11390" r:id="rId7"/>
    <p:sldId id="10749" r:id="rId8"/>
    <p:sldId id="10751" r:id="rId9"/>
    <p:sldId id="10753" r:id="rId10"/>
    <p:sldId id="10750" r:id="rId11"/>
    <p:sldId id="10754" r:id="rId12"/>
    <p:sldId id="10755" r:id="rId13"/>
    <p:sldId id="10756" r:id="rId14"/>
    <p:sldId id="11363" r:id="rId15"/>
    <p:sldId id="11364" r:id="rId16"/>
    <p:sldId id="11365" r:id="rId17"/>
    <p:sldId id="11366" r:id="rId18"/>
    <p:sldId id="11367" r:id="rId19"/>
    <p:sldId id="11368" r:id="rId20"/>
    <p:sldId id="11369" r:id="rId21"/>
    <p:sldId id="11370" r:id="rId22"/>
    <p:sldId id="11389" r:id="rId23"/>
    <p:sldId id="11371" r:id="rId24"/>
    <p:sldId id="10757" r:id="rId25"/>
    <p:sldId id="11409" r:id="rId26"/>
    <p:sldId id="11410" r:id="rId27"/>
    <p:sldId id="1824" r:id="rId28"/>
    <p:sldId id="11403" r:id="rId29"/>
    <p:sldId id="11404" r:id="rId30"/>
    <p:sldId id="11387" r:id="rId31"/>
    <p:sldId id="11374" r:id="rId32"/>
    <p:sldId id="11405" r:id="rId33"/>
    <p:sldId id="11419" r:id="rId34"/>
    <p:sldId id="11406" r:id="rId35"/>
    <p:sldId id="11402" r:id="rId36"/>
    <p:sldId id="11422" r:id="rId37"/>
    <p:sldId id="11376" r:id="rId38"/>
    <p:sldId id="11284" r:id="rId39"/>
    <p:sldId id="11377" r:id="rId40"/>
    <p:sldId id="11421" r:id="rId41"/>
    <p:sldId id="11415" r:id="rId42"/>
    <p:sldId id="11416" r:id="rId43"/>
    <p:sldId id="11417" r:id="rId44"/>
    <p:sldId id="1141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7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03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5FE6A-D37A-834F-B8C5-870900F9D163}" type="VALUE">
                      <a:rPr lang="en-US" sz="1400" b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47-E74A-AA7B-5531F0E4EE0C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A15AB0D-C73F-2F4E-B068-1138B91CEB95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4D244C-CE32-A046-8143-A59D5CA86E7E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75D5-D342-BCFC-56747FBB812F}"/>
              </c:ext>
            </c:extLst>
          </c:dPt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75D5-D342-BCFC-56747FBB8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D5-D342-BCFC-56747FBB81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D5-D342-BCFC-56747FBB81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D5-D342-BCFC-56747FBB81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D5-D342-BCFC-56747FBB8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189D-224A-BCD3-20CC2B33F5C5}"/>
              </c:ext>
            </c:extLst>
          </c:dPt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189D-224A-BCD3-20CC2B33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9D-224A-BCD3-20CC2B33F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9D-224A-BCD3-20CC2B33F5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D-224A-BCD3-20CC2B33F5C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9D-224A-BCD3-20CC2B33F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E98D-4640-8B14-A67FDFDE3FF3}"/>
              </c:ext>
            </c:extLst>
          </c:dPt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E98D-4640-8B14-A67FDFDE3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8D-4640-8B14-A67FDFDE3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8D-4640-8B14-A67FDFDE3F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8D-4640-8B14-A67FDFDE3F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D-4640-8B14-A67FDFDE3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343-2840-AF35-77DE56009DF9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343-2840-AF35-77DE56009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3-2840-AF35-77DE56009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43-2840-AF35-77DE56009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43-2840-AF35-77DE56009D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43-2840-AF35-77DE56009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A7D-2A41-8E40-3CF6BA9EF6C8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A7D-2A41-8E40-3CF6BA9EF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7D-2A41-8E40-3CF6BA9EF6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7D-2A41-8E40-3CF6BA9EF6C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7D-2A41-8E40-3CF6BA9EF6C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7D-2A41-8E40-3CF6BA9EF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2F9E-3B4D-B259-782ED914E23F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2F9E-3B4D-B259-782ED914E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E-3B4D-B259-782ED914E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9E-3B4D-B259-782ED914E2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9E-3B4D-B259-782ED914E2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E-3B4D-B259-782ED914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BA9D-A148-A366-632DBB31698B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BA9D-A148-A366-632DBB316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D-A148-A366-632DBB3169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9D-A148-A366-632DBB3169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9D-A148-A366-632DBB31698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9D-A148-A366-632DBB31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9CDF-4B43-A58B-3C03F478D7BE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9CDF-4B43-A58B-3C03F478D7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F-4B43-A58B-3C03F478D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DF-4B43-A58B-3C03F478D7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DF-4B43-A58B-3C03F478D7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DF-4B43-A58B-3C03F478D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E0607016-B6E8-F645-9C70-B975DDE25D7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3BD0725-B024-5D4D-89BB-EF610F5F435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6744784-8E67-8D42-984E-51AA49FFB6E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2.5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983E-B549-A770-4B561453C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3E-B549-A770-4B561453C6BF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83E-B549-A770-4B561453C6BF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9-983E-B549-A770-4B561453C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E-983E-B549-A770-4B561453C6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F-983E-B549-A770-4B561453C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0-6308-9C42-B1E9-65C8973AB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08-9C42-B1E9-65C8973ABF79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08-9C42-B1E9-65C8973ABF79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9-6308-9C42-B1E9-65C8973AB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E-6308-9C42-B1E9-65C8973AB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F-6308-9C42-B1E9-65C8973AB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171D-B549-A7DE-EF4D33711D1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171D-B549-A7DE-EF4D33711D1D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D-B549-A7DE-EF4D33711D1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1D-B549-A7DE-EF4D33711D1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D-B549-A7DE-EF4D33711D1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1D-B549-A7DE-EF4D33711D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71D-B549-A7DE-EF4D33711D1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1D-B549-A7DE-EF4D33711D1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71D-B549-A7DE-EF4D33711D1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1D-B549-A7DE-EF4D33711D1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71D-B549-A7DE-EF4D33711D1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1D-B549-A7DE-EF4D33711D1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71D-B549-A7DE-EF4D33711D1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71D-B549-A7DE-EF4D33711D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980E-0B4B-A8CF-968C5F8B2D4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980E-0B4B-A8CF-968C5F8B2D40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980E-0B4B-A8CF-968C5F8B2D40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45167236744285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0E27-A747-9927-F7F0E1E987C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0E27-A747-9927-F7F0E1E987C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0E27-A747-9927-F7F0E1E987CA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2878023052360095"/>
          <c:w val="0.99589338467782274"/>
          <c:h val="0.138168858060648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6F4-9648-A147-F9769DAF760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6F4-9648-A147-F9769DAF760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F4-9648-A147-F9769DAF760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F4-9648-A147-F9769DAF760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F4-9648-A147-F9769DAF760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6F4-9648-A147-F9769DAF760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F4-9648-A147-F9769DAF760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6F4-9648-A147-F9769DAF760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F4-9648-A147-F9769DAF760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F4-9648-A147-F9769DAF760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F4-9648-A147-F9769DAF760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F4-9648-A147-F9769DAF760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6F4-9648-A147-F9769DAF760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6F4-9648-A147-F9769DAF76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5618420721620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1F71-2347-B18D-6B630A30733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1F71-2347-B18D-6B630A30733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1F71-2347-B18D-6B630A307332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3428871575955932"/>
          <c:w val="0.99589338467782274"/>
          <c:h val="0.132660372824690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3E51-4E42-8C00-A948DC2E75D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3E51-4E42-8C00-A948DC2E75DF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51-4E42-8C00-A948DC2E75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51-4E42-8C00-A948DC2E75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E51-4E42-8C00-A948DC2E75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E51-4E42-8C00-A948DC2E75D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E51-4E42-8C00-A948DC2E75D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E51-4E42-8C00-A948DC2E75D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E51-4E42-8C00-A948DC2E75D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E51-4E42-8C00-A948DC2E75D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E51-4E42-8C00-A948DC2E75D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E51-4E42-8C00-A948DC2E75D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51-4E42-8C00-A948DC2E75DF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E51-4E42-8C00-A948DC2E75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B586-A04E-8798-76AFBDCDFE8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B586-A04E-8798-76AFBDCDFE8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86-A04E-8798-76AFBDCDFE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86-A04E-8798-76AFBDCDFE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86-A04E-8798-76AFBDCDFE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86-A04E-8798-76AFBDCDFE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86-A04E-8798-76AFBDCDFE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86-A04E-8798-76AFBDCDFE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86-A04E-8798-76AFBDCDFE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586-A04E-8798-76AFBDCDFE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86-A04E-8798-76AFBDCDFE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586-A04E-8798-76AFBDCDFE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586-A04E-8798-76AFBDCDFE8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586-A04E-8798-76AFBDCDFE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C7F-D847-A4AD-44605D3AD5C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C7F-D847-A4AD-44605D3AD5C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F-D847-A4AD-44605D3AD5C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C7F-D847-A4AD-44605D3AD5C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F-D847-A4AD-44605D3AD5C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7F-D847-A4AD-44605D3AD5C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F-D847-A4AD-44605D3AD5C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C7F-D847-A4AD-44605D3AD5C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F-D847-A4AD-44605D3AD5C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C7F-D847-A4AD-44605D3AD5C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F-D847-A4AD-44605D3AD5C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C7F-D847-A4AD-44605D3AD5C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7F-D847-A4AD-44605D3AD5C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C7F-D847-A4AD-44605D3AD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8F19-F14D-B63F-8C5F7A03232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8F19-F14D-B63F-8C5F7A03232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19-F14D-B63F-8C5F7A03232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19-F14D-B63F-8C5F7A03232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19-F14D-B63F-8C5F7A03232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F19-F14D-B63F-8C5F7A03232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19-F14D-B63F-8C5F7A03232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F19-F14D-B63F-8C5F7A03232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19-F14D-B63F-8C5F7A03232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F19-F14D-B63F-8C5F7A03232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19-F14D-B63F-8C5F7A03232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F19-F14D-B63F-8C5F7A03232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F19-F14D-B63F-8C5F7A032322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F19-F14D-B63F-8C5F7A032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613A-144D-9198-B504C851AC6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613A-144D-9198-B504C851AC66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613A-144D-9198-B504C851AC66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2B7-BF97-0973-EDF4-48908FBE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CEDA-8AB3-6AF0-70C6-E15C6FC8C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9262-B5A4-2FCE-7E08-7EAAD1DB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85A-62C7-3089-C70F-6405456B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F13-6185-DA3A-E4BF-93AB0871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A878-4BCC-C37E-C60B-5C73D7AB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1676A-8DB0-EB68-AFE3-4B598088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DA36-1389-3F55-2F71-57DFDF61F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3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86E9-8DBC-7315-34FD-58C7242D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624-4D2F-82F2-F904-1C760725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E577-5C9F-05A6-2A63-85479AB3C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F337-03B5-BF71-3308-EB7914FE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3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D0F5-8BBF-7EE5-13F5-9F0CF5DC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9B9BD-FD8B-6877-05B7-E7676153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F4E-1948-87BC-0DC9-1B2643E7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974D-1303-6585-E51A-9BB4C0933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AC41-72C5-457E-68E0-ABA7943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5686-AB67-CADF-5E29-F5A5E8D97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7485-085D-0D90-7A80-DA34DCDD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4E9A-7183-4A81-0FF4-A45C7629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83-C9EC-1D45-88B8-5E84B58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B5CBF-3012-045D-BF54-6FE84596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B5E4-7175-81ED-5825-D28FF4AD0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45D3-74FD-0ADA-5B6C-DC6DBDDF1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1868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74F8-E8A1-04EC-B454-288A2CC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F02B9-A2E5-ED61-3237-42E0AC4BB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B389-453E-3433-6FA3-9E9724AF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64E3-FBDC-C133-4E72-F1AAC733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60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40C3-8B77-A987-276E-F1D31C85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5009-84BF-8836-E818-4EE4D95D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97E46-BEF0-F40D-55DD-BD10F774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F44B-8DFA-7FEC-E0BE-04E5455D6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927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2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Relationship Id="rId3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tiff"/><Relationship Id="rId4" Type="http://schemas.openxmlformats.org/officeDocument/2006/relationships/chart" Target="../charts/chart16.xml"/><Relationship Id="rId5" Type="http://schemas.openxmlformats.org/officeDocument/2006/relationships/image" Target="../media/image12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chart" Target="../charts/chart23.xml"/><Relationship Id="rId6" Type="http://schemas.openxmlformats.org/officeDocument/2006/relationships/chart" Target="../charts/chart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  <a:p>
            <a:endParaRPr lang="en-GB" dirty="0"/>
          </a:p>
        </p:txBody>
      </p:sp>
      <p:sp>
        <p:nvSpPr>
          <p:cNvPr id="4" name="Tijdelijke aanduiding voor tekst 1">
            <a:extLst>
              <a:ext uri="{FF2B5EF4-FFF2-40B4-BE49-F238E27FC236}">
                <a16:creationId xmlns:a16="http://schemas.microsoft.com/office/drawing/2014/main" id="{9AD8A29F-88B6-1458-3D23-92698A071436}"/>
              </a:ext>
            </a:extLst>
          </p:cNvPr>
          <p:cNvSpPr txBox="1">
            <a:spLocks/>
          </p:cNvSpPr>
          <p:nvPr/>
        </p:nvSpPr>
        <p:spPr>
          <a:xfrm>
            <a:off x="395999" y="2959200"/>
            <a:ext cx="11174400" cy="450000"/>
          </a:xfrm>
          <a:prstGeom prst="rect">
            <a:avLst/>
          </a:prstGeom>
        </p:spPr>
        <p:txBody>
          <a:bodyPr vert="horz" wrap="none" lIns="216000" tIns="46800" rIns="234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64FF"/>
              </a:buClr>
              <a:buFont typeface="Arial" panose="020B0604020202020204" pitchFamily="34" charset="0"/>
              <a:buNone/>
              <a:defRPr lang="en-US" sz="2800" b="0" i="0" kern="120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ea typeface="+mn-ea"/>
                <a:cs typeface="Calibri Light" panose="020F03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FILTER_INFO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8E9F-84B3-1417-B1C1-8497B04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996AB135-5D98-6CB2-2236-27FA6BFF1DF8}"/>
              </a:ext>
            </a:extLst>
          </p:cNvPr>
          <p:cNvSpPr/>
          <p:nvPr/>
        </p:nvSpPr>
        <p:spPr>
          <a:xfrm>
            <a:off x="4454347" y="754749"/>
            <a:ext cx="7567201" cy="14065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C2F1336-0E3A-77B1-7FED-5097E0B73E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85796-F7AC-E22A-DAA4-BFADBBE1A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C30576-65F7-766C-094F-C9239AE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B9E1154-CDD8-EB91-949B-479B334BF6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endParaRPr lang="en-GB" dirty="0"/>
          </a:p>
          <a:p>
            <a:r>
              <a:rPr lang="en-GB" dirty="0"/>
              <a:t>Portfolio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21DC0E-2ACB-F130-731C-38C80934C0BA}"/>
              </a:ext>
            </a:extLst>
          </p:cNvPr>
          <p:cNvSpPr/>
          <p:nvPr/>
        </p:nvSpPr>
        <p:spPr>
          <a:xfrm>
            <a:off x="4467601" y="2720084"/>
            <a:ext cx="7567200" cy="1739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A9620-EABF-7EE8-9AD9-DC016D1A3074}"/>
              </a:ext>
            </a:extLst>
          </p:cNvPr>
          <p:cNvGrpSpPr/>
          <p:nvPr/>
        </p:nvGrpSpPr>
        <p:grpSpPr>
          <a:xfrm>
            <a:off x="5682921" y="1563345"/>
            <a:ext cx="5119353" cy="332898"/>
            <a:chOff x="5682921" y="2898499"/>
            <a:chExt cx="5119353" cy="33289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96D49B4-3075-D523-A87B-34907DB1D635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12943039-BE55-8114-7DAD-5D4EF8731FF6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B5A5871D-7343-4BC4-31A9-01F0CD087096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Objectives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F51B979-8832-1084-DED6-F0BE94169ECE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 trends per capability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0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between OBJECTIVES_PERIOD_START and OBJECTIVES_PERIOD_END</a:t>
            </a:r>
          </a:p>
        </p:txBody>
      </p:sp>
      <p:graphicFrame>
        <p:nvGraphicFramePr>
          <p:cNvPr id="6" name="PROGRES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3343684" y="392400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B63DDC-05A6-1327-D587-7F5756A58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7D2-16D5-A283-E5D3-02028E6C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02B0A-CA08-2984-487D-E204E84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036A146-29BF-7CA2-2908-F2C86F33F1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FB01E-7199-3087-1F83-52C1190C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6" name="PROGRESS_TIME_CHART">
            <a:extLst>
              <a:ext uri="{FF2B5EF4-FFF2-40B4-BE49-F238E27FC236}">
                <a16:creationId xmlns:a16="http://schemas.microsoft.com/office/drawing/2014/main" id="{52C16B72-396C-FACA-8BB0-F4504E8F3C3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A1C5AF-9085-C111-CACA-05BD3DAB557A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F3C6A-7DFB-53D1-2356-25E4D5CBC43A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1C39327-FCCB-9925-2C56-F0F202787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3353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7376D-DF88-6D74-9C9C-4F16D33E7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458A9EA-AB86-5971-70BD-18746FED9B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Progress towards objectives per capability between OBJECTIVES_PERIOD_START and OBJECTIVES_PERIOD_END</a:t>
            </a:r>
          </a:p>
        </p:txBody>
      </p:sp>
      <p:graphicFrame>
        <p:nvGraphicFramePr>
          <p:cNvPr id="6" name="PROGRES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673381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3352012" y="594107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585CE50-769E-57F0-D096-7931858DD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090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0F-B83A-EBEB-A808-30AD19FF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DF103-9A84-4CFA-15FA-0BD904F9B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7307F2D-FDB8-AC4C-ACFA-CDBAE3CD8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46EF3-CD28-FFA0-169F-DB5D8A0C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6" name="PROGRESS_MAINTAINABILITY_TIME_CHART">
            <a:extLst>
              <a:ext uri="{FF2B5EF4-FFF2-40B4-BE49-F238E27FC236}">
                <a16:creationId xmlns:a16="http://schemas.microsoft.com/office/drawing/2014/main" id="{6A5764CB-E5B1-083A-A3BC-4B4C31D364C6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C9FF0-AB79-ABC8-F329-16AC81263C86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580F-B6CD-77C6-14B9-30EB83366C2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B48095F-3B8A-4132-2F2E-BF6B266DA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40619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548-AF8A-DB5D-1B63-77CE676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CA01-A950-E39F-CC0E-94DE74A9C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7A2343E-4E3B-DE64-59CA-4672A9243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F2716D-9FE8-0CD3-81E1-C55968C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6" name="PROGRESS_ARCHITECTURE_TIME_CHART">
            <a:extLst>
              <a:ext uri="{FF2B5EF4-FFF2-40B4-BE49-F238E27FC236}">
                <a16:creationId xmlns:a16="http://schemas.microsoft.com/office/drawing/2014/main" id="{7507C9AC-02D8-080E-E0DF-076B8886E4D4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1B99D-BF0F-6325-0317-FAF16C1BFC8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C1496-868F-E561-71C3-7A9DC6833873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0BEA1B1-2A0E-D397-E556-362D0DB59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93954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560-0589-B274-3129-E2437CFA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B3573-6428-0E36-04D1-823E45CA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/>
              <a:t>Objectives – Open Source Health</a:t>
            </a:r>
            <a:endParaRPr lang="en-GB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EFD069-A5E8-28E5-C656-D9092244E0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90226-C387-AD0E-CB48-3AC0D6BA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Progress towards objectives: Open Source Health</a:t>
            </a:r>
            <a:endParaRPr lang="en-GB" dirty="0"/>
          </a:p>
        </p:txBody>
      </p:sp>
      <p:graphicFrame>
        <p:nvGraphicFramePr>
          <p:cNvPr id="6" name="PROGRESS_OSH_TIME_CHART">
            <a:extLst>
              <a:ext uri="{FF2B5EF4-FFF2-40B4-BE49-F238E27FC236}">
                <a16:creationId xmlns:a16="http://schemas.microsoft.com/office/drawing/2014/main" id="{CEFBE414-6C0F-D888-D92A-8F4B1578B1E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F32ED1-229A-B9CF-7034-34B50F9DA34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8231-088E-AD7D-64C5-DE763E94554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5692CD9-4AE3-CDD3-1F88-18341671C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67510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3B19-00F5-BFA0-C36C-ACEB0F91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3F2A3-DC2A-0CBF-4932-AEA088FF9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D7CB3C8-5FC1-63F4-9226-2151F8280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5556D-9CC2-9B0A-DDA8-9AF0AA5A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>
            <a:normAutofit/>
          </a:bodyPr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A1BFDEE-B39F-2F33-8BE8-21E452A51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6" name="PROGRESS_SECURITY_TIME_CHART">
            <a:extLst>
              <a:ext uri="{FF2B5EF4-FFF2-40B4-BE49-F238E27FC236}">
                <a16:creationId xmlns:a16="http://schemas.microsoft.com/office/drawing/2014/main" id="{C6FA88CE-DDBE-C10D-7439-48AFDF8BC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60591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52522-5061-5A0D-7288-66E187FB7C31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2B87-2D1E-D2F1-65AB-69BA6680A392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134336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88B32-26A7-257B-DDDE-599EEC4CEC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747448" cy="228145"/>
          </a:xfrm>
        </p:spPr>
        <p:txBody>
          <a:bodyPr/>
          <a:lstStyle/>
          <a:p>
            <a:r>
              <a:rPr lang="en-GB" dirty="0"/>
              <a:t>Objectives – Status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773B6-825A-4167-35E1-B39EF2B943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6A0FA-E540-B347-F0E6-078404ED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between OBJECTIVES_PERIOD_START and OBJECTIVES_PERIOD_END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D154-723A-2909-18F9-136A88A42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STATUS_CHART">
            <a:extLst>
              <a:ext uri="{FF2B5EF4-FFF2-40B4-BE49-F238E27FC236}">
                <a16:creationId xmlns:a16="http://schemas.microsoft.com/office/drawing/2014/main" id="{2EDB28D6-D893-2834-1452-760EA34FA080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CF6F7A-28F4-82F4-BD9F-05E947064F24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4C5C-AD9F-1F4B-55E5-F3377812A35C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2441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76D7E-6A52-4C14-1626-F436107D18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578812" cy="228145"/>
          </a:xfrm>
        </p:spPr>
        <p:txBody>
          <a:bodyPr/>
          <a:lstStyle/>
          <a:p>
            <a:r>
              <a:rPr lang="en-GB" dirty="0"/>
              <a:t>Objectives – Team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A563-94D2-2769-14DD-8932B8AF8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CF856C-82D4-2AD8-52DB-B4AC65873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team between OBJECTIVES_PERIOD_START and OBJECTIVES_PERIOD_END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C7CD8-F0E2-3AA8-5650-3D8DA4191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11" name="OBJECTIVES_TEAM_CHART">
            <a:extLst>
              <a:ext uri="{FF2B5EF4-FFF2-40B4-BE49-F238E27FC236}">
                <a16:creationId xmlns:a16="http://schemas.microsoft.com/office/drawing/2014/main" id="{90D37655-7D68-97A1-42BD-3EA9E53215FD}"/>
              </a:ext>
            </a:extLst>
          </p:cNvPr>
          <p:cNvGraphicFramePr/>
          <p:nvPr/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842B39-F206-50DB-DCE4-FBFE6B59063D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FE085-67E8-695F-F564-B8C48BE4ECD4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125033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E287AD-36A0-DD07-3A6C-318F5D2B1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084720" cy="228145"/>
          </a:xfrm>
        </p:spPr>
        <p:txBody>
          <a:bodyPr/>
          <a:lstStyle/>
          <a:p>
            <a:r>
              <a:rPr lang="en-GB" dirty="0"/>
              <a:t>Objectives – Capability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B7156-CCFF-605D-4D31-9506947FE0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7C09E9-29E6-1EC3-4D1D-7D72EF930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per capability between OBJECTIVES_PERIOD_START and OBJECTIVES_PERIOD_END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9CDB-F8BA-4683-92D5-E4255AE0D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CAPABILITY_CHART">
            <a:extLst>
              <a:ext uri="{FF2B5EF4-FFF2-40B4-BE49-F238E27FC236}">
                <a16:creationId xmlns:a16="http://schemas.microsoft.com/office/drawing/2014/main" id="{F7EC7942-12DF-47CD-7568-513CF44E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71865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0E694A-649F-7E3D-3A63-6F6D6F81E40E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E8EC1-BCA9-D803-2F62-A8F5EF7DDCDA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96346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481FAE-4A75-47A8-A91D-55F888E11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831765" cy="228145"/>
          </a:xfrm>
        </p:spPr>
        <p:txBody>
          <a:bodyPr/>
          <a:lstStyle/>
          <a:p>
            <a:r>
              <a:rPr lang="en-GB" dirty="0"/>
              <a:t>Objectives – Overall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516E-D9DE-46A4-39EC-49C4A7E4D7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68BC10-5510-3D83-FFE3-706AA2FB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B6BB-5502-6059-F44F-990FF73C4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OVERALL_CHART">
            <a:extLst>
              <a:ext uri="{FF2B5EF4-FFF2-40B4-BE49-F238E27FC236}">
                <a16:creationId xmlns:a16="http://schemas.microsoft.com/office/drawing/2014/main" id="{717088A6-F703-E509-DF51-C3923B3A075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30F4B4-9201-428C-E53A-F1AEFD8E5616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D3893-DC86-A976-1AB5-AE31EF208FC8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8823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51F31D-6F2E-DFE6-587E-A78BD8E88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7E0D-EF19-08C9-4FF3-D419036690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77723-C726-4DFE-2330-B77DBE26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895C3-ED96-7EAA-081E-E246ABA2B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SECURITY_CHART">
            <a:extLst>
              <a:ext uri="{FF2B5EF4-FFF2-40B4-BE49-F238E27FC236}">
                <a16:creationId xmlns:a16="http://schemas.microsoft.com/office/drawing/2014/main" id="{FE1E4419-38A2-FC5F-E723-8277D7239FCE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2DC61A-F9F3-987F-31AE-C332F7F54B2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7B2F6-4CBE-9108-1F8E-D799C529DCCF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00646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A2875A-8544-1533-7916-43BBF6E82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759263" cy="228145"/>
          </a:xfrm>
        </p:spPr>
        <p:txBody>
          <a:bodyPr/>
          <a:lstStyle/>
          <a:p>
            <a:r>
              <a:rPr lang="en-GB" dirty="0"/>
              <a:t>Objectives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A5E5-D48A-3B03-A54D-B02E30DC0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95C68-B12D-B774-99A2-0D8AD051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Open 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FEB5E-6597-18A4-BEEB-888581F95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OSH_CHART">
            <a:extLst>
              <a:ext uri="{FF2B5EF4-FFF2-40B4-BE49-F238E27FC236}">
                <a16:creationId xmlns:a16="http://schemas.microsoft.com/office/drawing/2014/main" id="{0EBCAFE5-E641-00DD-A9BA-54DDF716F8A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2A8387-99CF-53E7-C02C-0F47937D058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4172-3DFC-6A98-8387-0A5860FF68EC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1704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BCFC-165E-6074-D295-7213C886B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AA93-DDC2-222A-347A-F3D1A30F0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1FF725-8BE2-FFE6-09CA-89427E9C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2143-4E69-C9AB-EF61-72293A1BC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MAINTAINABILITY_CHART">
            <a:extLst>
              <a:ext uri="{FF2B5EF4-FFF2-40B4-BE49-F238E27FC236}">
                <a16:creationId xmlns:a16="http://schemas.microsoft.com/office/drawing/2014/main" id="{B1D17370-4289-2EDA-3CF4-CDE176E45E7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D94812-AFF9-6320-FC55-9DFAD9E49F5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5A181-CE4E-BF8F-1749-76DA5E7EB5F5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38694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335B8-EE82-608B-22C4-A627436D3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A783F-27CE-A200-297F-D46B148F65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D9A223-DF60-A573-9531-80EE0F5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Progress towards objectives: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E40D1-0E68-7E25-1B05-ACD30948C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graphicFrame>
        <p:nvGraphicFramePr>
          <p:cNvPr id="7" name="OBJECTIVES_ARCHITECTURE_CHART">
            <a:extLst>
              <a:ext uri="{FF2B5EF4-FFF2-40B4-BE49-F238E27FC236}">
                <a16:creationId xmlns:a16="http://schemas.microsoft.com/office/drawing/2014/main" id="{160E225E-2E69-5802-F5E6-34A8D5119A3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47C19-C293-E59B-609F-8B720AE9857C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C6F2-6589-ECFC-76DC-423AFBC2B3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54342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geronde rechthoek 33">
            <a:extLst>
              <a:ext uri="{FF2B5EF4-FFF2-40B4-BE49-F238E27FC236}">
                <a16:creationId xmlns:a16="http://schemas.microsoft.com/office/drawing/2014/main" id="{5C67D71A-21D5-7B62-C401-C5338679DFE0}"/>
              </a:ext>
            </a:extLst>
          </p:cNvPr>
          <p:cNvSpPr/>
          <p:nvPr/>
        </p:nvSpPr>
        <p:spPr>
          <a:xfrm>
            <a:off x="4454347" y="1406584"/>
            <a:ext cx="7567201" cy="20333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9244B-2E65-D403-B5EA-9ABB5CA8CB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392751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7C3B66-2BB8-6651-49B3-C22404EF56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D0FD1C-DD8F-FA69-E8D5-51EBF8A0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8640D79-73F3-DDBF-46E3-A770D0CE4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7999"/>
            <a:ext cx="7092000" cy="273472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Portfolio trends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4DC9F-CC1F-F90B-BAEE-7FE68259B0A0}"/>
              </a:ext>
            </a:extLst>
          </p:cNvPr>
          <p:cNvGrpSpPr/>
          <p:nvPr/>
        </p:nvGrpSpPr>
        <p:grpSpPr>
          <a:xfrm>
            <a:off x="5678270" y="2777977"/>
            <a:ext cx="2396827" cy="332897"/>
            <a:chOff x="5682921" y="2898500"/>
            <a:chExt cx="2396827" cy="332897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64776AD-70C4-808F-74DD-3C14795FF549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6E313BE-4539-951D-39B6-8270E8E286F4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Security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AEFF71-AFAA-2A9B-1B52-69C00DF203AA}"/>
              </a:ext>
            </a:extLst>
          </p:cNvPr>
          <p:cNvGrpSpPr/>
          <p:nvPr/>
        </p:nvGrpSpPr>
        <p:grpSpPr>
          <a:xfrm>
            <a:off x="5682921" y="2128093"/>
            <a:ext cx="5119353" cy="332898"/>
            <a:chOff x="5682921" y="2898499"/>
            <a:chExt cx="5119353" cy="332898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F5648A5-989D-607F-8E33-BE663B334A22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6199A04C-EC60-FB43-DB8D-97CCBCA311F4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277D7F99-1C55-864A-511F-89B598866BE7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E7FB80B6-7D6D-E1C4-A31F-209945D62AC9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60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8671C5-F042-037A-74D6-4C34BE22CC2D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</a:t>
            </a:r>
            <a:r>
              <a:rPr lang="en-US" sz="1600" dirty="0">
                <a:solidFill>
                  <a:schemeClr val="bg1"/>
                </a:solidFill>
              </a:rPr>
              <a:t/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PORTFOLIO_PERIOD_MAINT_SHORT_SUMMARY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PORTFOLIO_MAINT_AVG_RATING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00F3-3D18-CF63-16D4-96CA7839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14AA8-0AD7-EDFF-9986-B230DB557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1BFF63-C4B5-7AB9-E5D9-E74391AFD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9EB6A-8DF6-69EE-B118-CBF9A8558A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20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FF12C5-E73A-8501-2BCE-9BD95E2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9C8604-49B1-C79B-52E3-E11913D09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44EBA72-3AF3-C450-92C3-70B42255A7A7}"/>
              </a:ext>
            </a:extLst>
          </p:cNvPr>
          <p:cNvSpPr txBox="1"/>
          <p:nvPr/>
        </p:nvSpPr>
        <p:spPr>
          <a:xfrm>
            <a:off x="2643466" y="6054740"/>
            <a:ext cx="1520116" cy="22512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Lifecycle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49045C-A3DB-D503-5F61-D4753A6B2ED2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24AC01-AE32-E25C-2E9D-D62F1A546D5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E528D542-C236-FC7F-A86B-58E301E03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8A81E2-505A-2686-805D-D50F2ED4D58F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DC148D-262C-83BE-A7DB-4CEECDA9841D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3216D68-D9B6-5F6A-FBB5-3659B7899E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C52AC4-11B0-1D06-863D-8E95DF4FAEE5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CAE05B-9910-83DD-05A3-9ED3538CAB1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B02E6CFD-57D4-174C-07D0-383B813F6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6E1917-406F-73B3-C93D-1D8325F31D6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7C8CEE-6BFB-AD76-8318-6426CA6A5C12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8290A5E7-04EA-1335-3D95-D2A8C4CF3F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C1BB1CA-50D6-5754-E886-56DDDB6B630E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AE7018-A3D7-FF0D-2550-A7320B145E2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DBAC6E5-512A-CB63-DCC5-44139D7EA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D4EC-E668-DDBB-C898-CDC11794C48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707EC47-51B6-60D2-5D25-8146CD420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23234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E1A0-F677-7ABE-9F7B-0B74434D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9586-B72E-67FD-21F0-E86559BC65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8337E4-C7B3-967F-A5FA-450CDEAD96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5351A-A8A1-C0E9-116D-C791E57414D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DB2541-F26E-1A45-8C1C-10C58277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Deployment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BC813-1EFC-AA71-9CF7-12E30412E01E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C797B5-3356-1576-4F18-BFFC41D8A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358172D-32D9-F7C1-D993-4B31C910BDC4}"/>
              </a:ext>
            </a:extLst>
          </p:cNvPr>
          <p:cNvSpPr txBox="1"/>
          <p:nvPr/>
        </p:nvSpPr>
        <p:spPr>
          <a:xfrm>
            <a:off x="2643466" y="6054740"/>
            <a:ext cx="179423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Deployment Type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4076F7-E0CB-4844-36A0-D8ADEDF46A51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BDAFEE-BD87-364A-427B-1ADAFE9D2FD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A5818A4-3349-D5D3-42AF-155A2D39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C7B01C-4916-26E1-BEC3-B97CA46AC676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15FDF0-0DD1-688E-2C19-BE57D0DA2F90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F55BD8D-BD79-0350-2FF6-1D572839C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A0D7B8-8D00-392D-59FD-31D01E88F3E8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2AE4D71-1C4A-A29C-0135-FB7FC88EE56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8395B98-85FF-EEBA-96FB-A7FD10538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7E4DA-2C3C-2AE2-3363-D2D775759D3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1EF211C-C030-38AE-15E4-BA37EEBA212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618CD8B-F77F-7B94-7099-D2A6E0871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887D693-398F-725A-9E0E-7CE3C9CEBF7F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213B5F-642D-ACFE-8DAA-017FB6B32DF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5212BCE3-BB24-D5A2-9072-32AB9DC11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4CC371E-7328-F7F7-E9E1-4858B90AD402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56A5C-934D-E3B5-596C-448BF20A39E1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FD24B40-8A09-8BE1-DFEB-86A20ADCB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90901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90F2-097E-682B-E154-B7F5F68A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A01EA-8BF6-6C6E-C2EA-026E3BA52E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A6A741-490B-4D85-EDEC-A2D787FD2B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532D-92C0-31A1-1473-96C62B00C1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82FDEF-4FFE-5D1A-E5F7-E673D396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Business Criticality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214E2-3C43-8276-BC3B-196FE252F2B4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6D6577-B13F-B6A8-C50E-B92434047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CC91BC5-C6A3-5E77-246D-36FE2F685E7F}"/>
              </a:ext>
            </a:extLst>
          </p:cNvPr>
          <p:cNvSpPr txBox="1"/>
          <p:nvPr/>
        </p:nvSpPr>
        <p:spPr>
          <a:xfrm>
            <a:off x="2643466" y="6054740"/>
            <a:ext cx="1864762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Business Criticality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38E846-65C7-5F8A-02D3-5E9652F1F70D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46B051-EB92-D2E7-6D04-74636614C2A9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9D95B88-8CC0-573A-6535-1AF23E138B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CBF650-7B39-402A-827B-0981957A785C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00EB7BA-5DEA-3F0D-197E-72B2F548A84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99B21F0D-B748-B211-AE94-D684974C74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F94FE93-43F4-84F8-E7F2-D0A5E5B08F99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36C1F78-BC5D-CEC8-ED18-7E9E38E2B3F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A4081921-0E01-5FE7-D962-38E98F27E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DD3B032-3BEE-87E0-6573-8C81BBB66BA1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4B3E38A-DFD6-B7C0-F31B-4A4BF82291B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CE0EE23E-F45B-7E9B-0DB6-9538874186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29FE5C-29C5-D102-FDA1-A0608E280B55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EF10E4-21F6-AF24-DEE6-649B26F77B1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E93FE0A-13E1-4209-1411-4A41EBD2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A79886F-F6FA-7F5B-8560-B0BE0161E43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PORTFOLIO_PERIOD_MAINTAINABILITY_GROUPED_BY_BUSINESS_CRITICALITY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FE69-CB4F-3856-7D00-A94F1E209BB2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C9DB02-3011-E249-D943-BF8E867E7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655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12217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PORTFOLIO_PERIOD_MAINT_SHORT_SUMMARY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75" y="6407677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222FB8-7B13-BCD6-F6A0-91FE5654FB8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771079" cy="228209"/>
          </a:xfrm>
        </p:spPr>
        <p:txBody>
          <a:bodyPr/>
          <a:lstStyle/>
          <a:p>
            <a:r>
              <a:rPr lang="en-GB"/>
              <a:t>Portfolio trends – Maintainability – Change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PORTFOLIO_PERIOD_MAINT_CHANGE_SHORT_SUMMARY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PORTFOLIO_MAINT_INCREASED% of systems has seen an increase in maintainability. PORTFOLIO_MAINT_STABLE% of systems has remained stable. PORTFOLIO_MAINT_DECREASED%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</a:t>
            </a:r>
          </a:p>
        </p:txBody>
      </p:sp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62677B25-859C-76E2-7724-E46BE305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37E637B-F307-DB1A-A51A-12A2262AEFC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PORTFOLIO_PERIOD_MAINTAINABILITY_DELTA_QUALITY_NEW_CODE_GROUPED_BY</a:t>
            </a:r>
            <a:r>
              <a:rPr lang="en-GB" sz="1600">
                <a:solidFill>
                  <a:schemeClr val="bg1"/>
                </a:solidFill>
              </a:rPr>
              <a:t>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newly written code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PORTFOLIO_NEW_CODE_BIGGEST_CHANGES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E4CE6E4-E826-8855-8337-8A804083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D3CD12-8F31-5FC5-9D7A-C77F8DB8A480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PORTFOLIO_PERIOD_MAINTAINABILITY_DELTA_QUALITY_CHANGED_CODE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changed code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E2B7E1-5A1B-B2EC-5518-63FC0E359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72E9D2A6-2917-A151-9F95-9B69A0D029E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PORTFOLIO_PERIOD_VOLUME_CHANGE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6C1F-5778-E596-B40D-BC39A3029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843581" cy="228209"/>
          </a:xfrm>
        </p:spPr>
        <p:txBody>
          <a:bodyPr/>
          <a:lstStyle/>
          <a:p>
            <a:r>
              <a:rPr lang="en-GB" dirty="0"/>
              <a:t>Portfolio trends – Volume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6CC33-85BB-6686-87C3-6E2C1EC480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237797-15BA-3A3C-A5DB-CEBB6BFC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volume (effort) of the portfolio between PORTFOLIO_PERIOD_START_DATE and PORTFOLIO_PERIOD_END_DATE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91A62A-783F-7AF6-89B3-FD236EF5EA4F}"/>
              </a:ext>
            </a:extLst>
          </p:cNvPr>
          <p:cNvGrpSpPr/>
          <p:nvPr/>
        </p:nvGrpSpPr>
        <p:grpSpPr>
          <a:xfrm>
            <a:off x="626780" y="5849109"/>
            <a:ext cx="2760731" cy="223844"/>
            <a:chOff x="512064" y="6054740"/>
            <a:chExt cx="2760731" cy="223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F34C57-170D-5311-7541-AFD3500F5E86}"/>
                </a:ext>
              </a:extLst>
            </p:cNvPr>
            <p:cNvSpPr txBox="1"/>
            <p:nvPr/>
          </p:nvSpPr>
          <p:spPr>
            <a:xfrm>
              <a:off x="1996335" y="6054740"/>
              <a:ext cx="127646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Systems grouped by </a:t>
              </a:r>
              <a:r>
                <a:rPr lang="en-GB" sz="800" b="1" dirty="0">
                  <a:solidFill>
                    <a:schemeClr val="tx2"/>
                  </a:solidFill>
                </a:rPr>
                <a:t>GROUPED_BY_LABEL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EF8ADA-DE01-AA30-2028-ED49BE436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122" y="6118505"/>
              <a:ext cx="91440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D5863-7369-49C4-1B54-EEA04955F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992" y="6118505"/>
              <a:ext cx="91440" cy="91440"/>
            </a:xfrm>
            <a:prstGeom prst="roundRect">
              <a:avLst/>
            </a:prstGeom>
            <a:solidFill>
              <a:srgbClr val="EFE6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52AC297-2CB7-56A7-5F80-FC2404D96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8862" y="6118505"/>
              <a:ext cx="91440" cy="91440"/>
            </a:xfrm>
            <a:prstGeom prst="roundRect">
              <a:avLst/>
            </a:prstGeom>
            <a:solidFill>
              <a:srgbClr val="F7F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88086E6-082A-B2A9-7D0B-B77386A1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8732" y="6118505"/>
              <a:ext cx="91440" cy="91440"/>
            </a:xfrm>
            <a:prstGeom prst="roundRect">
              <a:avLst/>
            </a:prstGeom>
            <a:solidFill>
              <a:srgbClr val="D8E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A065D0B-30E5-B7B4-A9AE-146C6FBB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8602" y="6118505"/>
              <a:ext cx="91440" cy="91440"/>
            </a:xfrm>
            <a:prstGeom prst="roundRect">
              <a:avLst/>
            </a:prstGeom>
            <a:solidFill>
              <a:srgbClr val="58B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295768-BD04-4C08-1C9F-E6A857D50707}"/>
                </a:ext>
              </a:extLst>
            </p:cNvPr>
            <p:cNvSpPr txBox="1"/>
            <p:nvPr/>
          </p:nvSpPr>
          <p:spPr>
            <a:xfrm>
              <a:off x="1678471" y="6054740"/>
              <a:ext cx="34191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+PY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6564EB-114B-305E-F2F4-C36CA3CBD1C9}"/>
                </a:ext>
              </a:extLst>
            </p:cNvPr>
            <p:cNvSpPr txBox="1"/>
            <p:nvPr/>
          </p:nvSpPr>
          <p:spPr>
            <a:xfrm>
              <a:off x="512064" y="6054740"/>
              <a:ext cx="322674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-PY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29A432BB-A903-CCB9-4E0F-E5A85232B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494787E-2446-5685-907F-157921FE4F1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noProof="0" dirty="0"/>
              <a:t>The portfolio has seen an overall PORTFOLIO_RELATIVE_VOLUME_CHANGE in volume of PORTFOLIO_VOLUME_CHANGE.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system PORTFOLIO_SYSTEM_BIGGEST_VOLUME_CHANGE has seen the biggest change with PORTFOLIO_RELATIVE_BIGGEST_VOLUME_CHANGE of PORTFOLIO_SYSTEM_PM_BIGGEST_VOLUME_CHANGE.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D4A10E2-A9D0-9CB8-4A20-12E583F53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49786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4FC4-92FA-133B-51E6-15AF607B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AAAF0DF-523F-2152-BE91-E690F0C16A3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3DCD-7C70-900D-43B4-CE96EF7B7F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13365-7513-F41E-A229-F5E5011630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3AD90-B853-FCBB-8AD0-E3ECB744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Test-to-production code ratios of the portfolio between PORTFOLIO_PERIOD_START_DATE and PORTFOLIO_PERIOD_END_DATE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D8A7E-FC89-374D-3928-733975E07F2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318A3D-4B01-E38F-0096-41FFF1B28944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B111F-FBB9-EA13-F251-F40E05265B0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D12FC3-B3EE-A681-5D2C-4218A1C30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FB8AA5-C615-8F28-1025-70C65A980764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7C06F8-9044-79E7-C86A-2D8041876F85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887F516-DD39-62A6-32D1-0B6374265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6264C-A1FC-6A59-5FF0-B02177854F9D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67932-53B3-03DB-2C57-283ECA8F4412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B5BF329-CA8A-DA0E-3BAF-54E57702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39F19E-79AC-7455-2D15-72A0F595FFC9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0A24F1-37A5-9F07-855B-7E46A52C102C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5CD8E8A-19FB-CC94-9D8A-28911D706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AD9C7-8D68-456A-B040-0C3083E160F6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D2D40F-86C4-A805-5564-B535E1BDEA4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1D75D-95FB-3C51-F392-A5E17786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5EBD51A-EAC9-1AE9-F142-54EBB16F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5EE8E18-8776-00A3-9C94-97989DFBACF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PORTFOLIO_TEST_CODE_LOW</a:t>
            </a:r>
            <a:r>
              <a:rPr lang="en-GB" sz="1550" noProof="0" dirty="0"/>
              <a:t>% systems have a test code ratio of &lt; 50%.</a:t>
            </a:r>
          </a:p>
          <a:p>
            <a:pPr indent="-283845"/>
            <a:r>
              <a:rPr lang="en-GB" sz="1550" dirty="0"/>
              <a:t>PORTFOLIO_TEST_CODE_MEDIUM</a:t>
            </a:r>
            <a:r>
              <a:rPr lang="en-GB" sz="1550" dirty="0">
                <a:ea typeface="Calibri"/>
                <a:cs typeface="Calibri"/>
              </a:rPr>
              <a:t>% of systems have a test code ratio between 50% and 100%.</a:t>
            </a:r>
          </a:p>
          <a:p>
            <a:pPr indent="-283845"/>
            <a:r>
              <a:rPr lang="en-GB" sz="1550" dirty="0"/>
              <a:t>PORTFOLIO_TEST_CODE_HIGH</a:t>
            </a:r>
            <a:r>
              <a:rPr lang="en-GB" sz="1550" dirty="0">
                <a:ea typeface="Calibri"/>
                <a:cs typeface="Calibri"/>
              </a:rPr>
              <a:t>% of systems have a test code ratio ≥ 100%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61DD779-D29F-E00A-9C65-A4D9D7C38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976464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5625-8644-5854-9F83-9F36AE8F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1B57E1-1F1B-29BE-06AF-F1CBB4D6EF18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PORTFOLIO_PERIOD_TEST_CODE_GROUPED_BY_MAIN_TECHNOLOGY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E6CB4A-7E0E-E565-486A-5DB654A87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8C8F1-CE1A-46D3-0BA6-F889B9D1B8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6968ED-9E83-A49E-5E87-63A71987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Test Code Ratio Grouped by Main Technology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787F7-4923-A6F4-B8BC-AA0B6841CDE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862765-40D5-7D45-7AF4-0F626CE7E743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98EE12-DD3C-4AC5-B45F-1D9DA346C37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8AD473E-3942-6E49-1FCD-CC05DD97AE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877F80-D83B-8F9D-1D82-98CDA0657127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E3BEF7-84EA-7653-3F08-34BC61CCC3C9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31784C8-27D3-E190-1188-83F8143002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98766D-7061-26B2-4081-542C5D9CAA47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EACCEE-F6C5-4239-D307-F1346978364D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F7980C08-449C-8781-AFFE-1B5D0B713E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DEE7BE-C0DD-5C7B-8A4F-B219560AA303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BE5AE9-EDB3-A5FB-A41D-39D01995E609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BE2B2C6-D275-9C9C-6E3C-6DEF49F9F5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F00055-C843-86F0-C3D7-38ABE03F5C50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C617B4-6B70-3461-DF10-192E09E859F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E8CC5339-E836-0F40-B13E-8AB2238B2A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B529869A-4031-1A95-3ED8-A3F5C59BC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F83632A-5C0F-EE29-CEC5-A1C83E82A100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B08F95E-E453-1063-D8EF-9330F4D3B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68290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FD6A-9E05-3D46-E60D-058AD3DF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F531B6D-B81A-7E98-1D56-EABC271BE38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3391-04C7-7757-5D2A-13EDA0DE2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951530" cy="228209"/>
          </a:xfrm>
        </p:spPr>
        <p:txBody>
          <a:bodyPr/>
          <a:lstStyle/>
          <a:p>
            <a:r>
              <a:rPr lang="en-GB" dirty="0"/>
              <a:t>Portfolio trends – Test-to-production code ratio –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B48E-331C-26C2-9486-41470DE99B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92D23-A084-1C07-108E-A039F527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test-to-production code ratios of the portfolio between PORTFOLIO_PERIOD_START_DATE and PORTFOLIO_PERIOD_END_DATE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C737C-0323-E724-2600-C1FD0C48F918}"/>
              </a:ext>
            </a:extLst>
          </p:cNvPr>
          <p:cNvSpPr txBox="1"/>
          <p:nvPr/>
        </p:nvSpPr>
        <p:spPr>
          <a:xfrm>
            <a:off x="2083423" y="5828312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5CC23-7FB2-3819-DF45-F461573B4C64}"/>
              </a:ext>
            </a:extLst>
          </p:cNvPr>
          <p:cNvSpPr txBox="1"/>
          <p:nvPr/>
        </p:nvSpPr>
        <p:spPr>
          <a:xfrm>
            <a:off x="1765559" y="5828312"/>
            <a:ext cx="309850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A911-0B10-AF2D-A9C0-DD22BC1BBD4E}"/>
              </a:ext>
            </a:extLst>
          </p:cNvPr>
          <p:cNvSpPr txBox="1"/>
          <p:nvPr/>
        </p:nvSpPr>
        <p:spPr>
          <a:xfrm>
            <a:off x="599152" y="5828312"/>
            <a:ext cx="290614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5916BB-0B42-8048-110F-7C3BB681E20B}"/>
              </a:ext>
            </a:extLst>
          </p:cNvPr>
          <p:cNvSpPr>
            <a:spLocks noChangeAspect="1"/>
          </p:cNvSpPr>
          <p:nvPr/>
        </p:nvSpPr>
        <p:spPr>
          <a:xfrm>
            <a:off x="966210" y="5892077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7EB203-3DE5-97DD-075C-0B587EC23CA8}"/>
              </a:ext>
            </a:extLst>
          </p:cNvPr>
          <p:cNvSpPr>
            <a:spLocks noChangeAspect="1"/>
          </p:cNvSpPr>
          <p:nvPr/>
        </p:nvSpPr>
        <p:spPr>
          <a:xfrm>
            <a:off x="1126080" y="5892077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54916-F833-9417-0E3F-376D5F92F098}"/>
              </a:ext>
            </a:extLst>
          </p:cNvPr>
          <p:cNvSpPr>
            <a:spLocks noChangeAspect="1"/>
          </p:cNvSpPr>
          <p:nvPr/>
        </p:nvSpPr>
        <p:spPr>
          <a:xfrm>
            <a:off x="1285950" y="5892077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2403CD-7F96-B10B-C967-0067917FCE2C}"/>
              </a:ext>
            </a:extLst>
          </p:cNvPr>
          <p:cNvSpPr>
            <a:spLocks noChangeAspect="1"/>
          </p:cNvSpPr>
          <p:nvPr/>
        </p:nvSpPr>
        <p:spPr>
          <a:xfrm>
            <a:off x="1445820" y="5892077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C43A55-E9EE-0CF2-1BEE-A73AE19E5A7B}"/>
              </a:ext>
            </a:extLst>
          </p:cNvPr>
          <p:cNvSpPr>
            <a:spLocks noChangeAspect="1"/>
          </p:cNvSpPr>
          <p:nvPr/>
        </p:nvSpPr>
        <p:spPr>
          <a:xfrm>
            <a:off x="1605690" y="5892077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2D1771-D0CC-C082-F03C-E4AF23AD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E2A0B08-A1F1-2331-6663-DCAE2EB4D3E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Overall, there has been PORTFOLIO_RELATIVE_TEST_CODE_DIFFERENCE in test code ratio for the </a:t>
            </a:r>
            <a:r>
              <a:rPr lang="en-GB" sz="1550" dirty="0"/>
              <a:t>portfolio (PORTFOLIO_TEST_CODE_DIFFERENCE%).</a:t>
            </a:r>
            <a:endParaRPr lang="en-GB" sz="1550" noProof="0" dirty="0"/>
          </a:p>
          <a:p>
            <a:pPr indent="-283845"/>
            <a:r>
              <a:rPr lang="en-GB" sz="1550" dirty="0"/>
              <a:t>PORTFOLIO_TEST_CODE_INCREASE% of systems have seen an increase in test code ratio while PORTFOLIO_TEST_CODE_DECREASE% of systems have seen a decrease. </a:t>
            </a:r>
          </a:p>
          <a:p>
            <a:pPr indent="-283845"/>
            <a:r>
              <a:rPr lang="en-GB" sz="1550" dirty="0"/>
              <a:t>PORTFOLIO_TEST_CODE_BIGGEST_CHANGES</a:t>
            </a:r>
            <a:endParaRPr lang="en-GB" sz="1550" dirty="0">
              <a:ea typeface="Calibri"/>
              <a:cs typeface="Calibri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DF429E-1695-7507-23C8-7080223EC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07851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F90BB58-CA09-58E2-BE3B-2E065F51CF77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PORTFOLIO_PERIOD_ARCHITECTURE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603A22-6C87-6123-7889-47059E7B5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759263" cy="228209"/>
          </a:xfrm>
        </p:spPr>
        <p:txBody>
          <a:bodyPr/>
          <a:lstStyle/>
          <a:p>
            <a:r>
              <a:rPr lang="en-GB" dirty="0"/>
              <a:t>Portfolio trends –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BB1EC-B729-EEEB-51CD-99A133FF2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CDDECE-07F9-831D-887E-96F18B22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Architecture ratings of the portfolio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60EA92-5FAE-DB20-C878-9397C39C8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2578C5-779F-2DE7-941C-EA21148CF77F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2F3EE-ED58-8890-B4BF-4E9E9399E1CC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D72A90-1A63-5E0F-8B76-76CF390D221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617A234-0C3B-1517-E133-7B2E2BCA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C97830-5D0A-7C61-5790-8AE0D6258402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1F050E-BC5D-A674-AE97-CDA4545FA315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4B1977E-A39B-88F7-3A2F-1EB3EBC87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A3F2BC-D11A-47C0-2D59-EDE88F571DA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50C71-B11A-F676-5B3D-04096307F85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9EF1191-C257-976C-29AA-F1DA1D22A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318A0-FABA-EB5B-A4DE-ADB204F5D0F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9D8162-537B-F3FD-4C5A-B95C9B9B31F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550F1B-DABE-4321-E085-10DEBDFB3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82E435-697F-C57C-1530-5C1E6B98227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E8F693-BD9E-2048-F83B-CAC471F85DB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93E0B17-8795-E431-6602-6FD9737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718E80B-E45D-BD72-6536-AB0C481281BD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en-GB" dirty="0"/>
              <a:t>Architecture Quality</a:t>
            </a:r>
            <a:r>
              <a:rPr lang="en-US" dirty="0"/>
              <a:t> rating for the portfolio is PORTFOLIO_ARCH_AVG_RATING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</a:t>
            </a:r>
            <a:r>
              <a:rPr lang="en-GB" dirty="0"/>
              <a:t>% of systems score above market average for Architecture Quality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PORTFOLIO_ARCH_MARKET_AVERAGE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9F0196F-C2C8-901D-3388-01AE9D1AB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83869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150D-A65E-A40C-6B49-AF7DCB612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E24BFC5-CB7A-9CFC-7130-4B0DC5D6EC34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PORTFOLIO_PERIOD_ARCHITECTURE_RATINGS_CHANGE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67203A-CD59-ACA2-0387-C994E78EE7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A47C1-2743-4E7A-7D4A-562B99B1F7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FBDDCA-D2CF-ED08-F7B9-0B588E37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PORTFOLIO_PERIOD_ARCH_CHANGE_SHORT_SUMMARY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33B504D-7A8E-EB12-5480-7248C811B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D0FA74F-562E-7349-3D5D-B56CB42C5B2E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6C2FD6-492D-0E1B-9C15-958B643F8A11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2A8F39-4C39-E112-DC09-FD6F52ECB23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13264880-98AC-7E55-C880-7A8CCE8F38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F3E857-EDC2-8EE7-81A9-A3311098CF1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ADA0A2C-AC23-3CD0-1444-BB92C14DA522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FD18D1A5-F134-68C3-A18E-2F87ECDA52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B321E3-3252-2B17-6200-C9A506567FED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F25BB4-A62C-193F-2D50-7FDF3DC238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EC02D13-D964-CD6E-20EB-22E6E4B11E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8ED2EC-6DC3-DAE7-2167-B926AD704CE7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85317C-57AA-4CC6-A677-703E2942F5AE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10652A05-2024-A59C-5C1F-DCE0E89941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379D43-A7B7-7D8F-A477-C3774652D50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4F48BB-4FF1-E4B5-C688-5154F7D19A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0A2CF2E-3196-627B-C3D8-DE40647EAD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CBB1A7A-1F34-F22F-B876-535EEF53610A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dirty="0">
                <a:ea typeface="Calibri"/>
                <a:cs typeface="Calibri"/>
              </a:rPr>
              <a:t>PORTFOLIO_ARCH_INCREASED% of systems has seen an increase in security ratings. PORTFOLIO_ARCH_STABLE% of systems has remained stable. PORTFOLIO_ARCH_DECREASED% of systems has seen a decrease in security ratings.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PORTFOLIO_ARCH_BIGGEST_CHANGES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AF939B1-43D2-7D15-6932-30FE4B4C7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532930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07B4F-D7B8-1CEF-56A5-C9C18FBFD1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265171" cy="228209"/>
          </a:xfrm>
        </p:spPr>
        <p:txBody>
          <a:bodyPr/>
          <a:lstStyle/>
          <a:p>
            <a:r>
              <a:rPr lang="en-GB" dirty="0"/>
              <a:t>Portfolio trends – Open-Source Health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6EA6-114E-BE00-9088-0FF2F34813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FBC53-E0F3-50EC-6D67-B2815BC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Open-source health ratings of the portfolio between PORTFOLIO_PERIOD_START_DATE and PORTFOLIO_PERIOD_END_DATE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E8C506-EBA7-D433-19CB-BD7B4186FE2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PORTFOLIO_PERIOD_OSH_RATINGS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53C8FF-A309-9635-AB10-3E7965715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E0572C-1734-61F0-856F-5E79E547DCB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88E0B2-1D87-C999-BC6A-C9E400EA29C4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7A6F15-7EE4-41DA-71F3-F8B932ABCB9E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5FB1D3-CA1E-3CEF-9DCB-A533BD675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8352C9-05CD-024F-9FC8-A43B06C5296F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0ACC94-4A3B-E4A2-C515-92A1B0B85607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BAC351A-6A3D-8EE7-3400-48AC200F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3C1BE7-DC33-05D7-A88F-E4549430313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258E72-CF1A-4DFE-52F3-DB2B89080DF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B613B1-191F-17CB-8B90-A1C172B0B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7A952-D4BD-C5BE-3ECD-80D0236B6DC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346C1E-F337-E3F0-51BC-42C15701A9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E88F2D9-0594-B652-C0EB-2B82B013E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D99AA7-4DE9-A06B-FABC-D5259DB272D8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791E94-0AAD-9D1A-14E0-882C135761E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CB886B0-18FD-211D-FAB5-01B5BE753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223A60-5DA4-23C2-35E1-41CA53903EB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Open Source Health </a:t>
            </a:r>
            <a:r>
              <a:rPr lang="en-US" dirty="0"/>
              <a:t>rating for the portfolio is PORTFOLIO_OSH_AVG_RATING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PORTFOLIO_OSH_ABOVE_MARKET% of systems score above market average for Open Source Health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PORTFOLIO_OSH_MARKET_AVERAGE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A1D2F67-A90D-74AA-22CD-017BC0D93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45401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r>
              <a:rPr lang="en-US" dirty="0"/>
              <a:t>PORTFOLIO_OSH_VULN_SUMMARY</a:t>
            </a:r>
          </a:p>
          <a:p>
            <a:r>
              <a:rPr lang="en-US" dirty="0"/>
              <a:t>PORTFOLIO_OSH_LEGAL_SUMMARY</a:t>
            </a:r>
          </a:p>
          <a:p>
            <a:r>
              <a:rPr lang="en-US" dirty="0"/>
              <a:t>PORTFOLIO_OSH_FRESHNESS_SUMMARY</a:t>
            </a:r>
          </a:p>
          <a:p>
            <a:r>
              <a:rPr lang="en-US" dirty="0"/>
              <a:t>PORTFOLIO_OSH_MANAGEMENT_SUMMARY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738" y="1894014"/>
            <a:ext cx="835106" cy="265112"/>
          </a:xfrm>
        </p:spPr>
        <p:txBody>
          <a:bodyPr>
            <a:noAutofit/>
          </a:bodyPr>
          <a:lstStyle/>
          <a:p>
            <a:r>
              <a:rPr lang="en-US" b="0" dirty="0"/>
              <a:t>PORTFOLIO_OSH_TOTAL_DEPS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Open Source Health Library Risks Overview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34</a:t>
            </a:fld>
            <a:endParaRPr lang="nl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GB" dirty="0"/>
              <a:t>Key findings – Open Source and IP</a:t>
            </a:r>
          </a:p>
        </p:txBody>
      </p:sp>
      <p:graphicFrame>
        <p:nvGraphicFramePr>
          <p:cNvPr id="2" name="OSH_PORTFOLIO_OTHER_RISKS_GRAPH">
            <a:extLst>
              <a:ext uri="{FF2B5EF4-FFF2-40B4-BE49-F238E27FC236}">
                <a16:creationId xmlns:a16="http://schemas.microsoft.com/office/drawing/2014/main" id="{4C5859CA-0A2B-2CD5-4201-90743823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722614"/>
              </p:ext>
            </p:extLst>
          </p:nvPr>
        </p:nvGraphicFramePr>
        <p:xfrm>
          <a:off x="2855399" y="368819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PORTFOLIO_VULN_LEGAL_GRAPH">
            <a:extLst>
              <a:ext uri="{FF2B5EF4-FFF2-40B4-BE49-F238E27FC236}">
                <a16:creationId xmlns:a16="http://schemas.microsoft.com/office/drawing/2014/main" id="{A2E74F15-1B72-6504-9282-2CD20177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23153"/>
              </p:ext>
            </p:extLst>
          </p:nvPr>
        </p:nvGraphicFramePr>
        <p:xfrm>
          <a:off x="2855399" y="2891471"/>
          <a:ext cx="3240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0B2912-5022-184F-E496-1EDCEC82A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1B5DD80-60E5-8513-9972-0F7EF4189F04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PORTFOLIO_PERIOD_SECURITY_RATINGS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7597F-0CE6-6979-6D59-2CC306D18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0E726-D390-617B-2837-17EF73C18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F92A6-63AF-66FE-4BB0-42211685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Security ratings of the portfolio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D9D636-CC1F-D5EE-82E8-F5B67A683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92C00B-839E-1F7C-C976-764E7FA89D08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13A58-DDFB-6E93-06B8-8F73093435CB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09D3E1-5818-A7F6-D907-77EE9F47DC8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5E576A0-5957-C060-F7D5-462BF2770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DAAD-3940-3E4F-EE06-CD1CDD98C4D0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782A8A-DA3D-0449-1C4B-FDA35D728C06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76C0325-7FCB-4C5A-F1B9-2AA83897F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9104F-A474-DEBF-B0B1-04438939F3F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EE0DD2-01FA-7CE1-6138-8B452A78A60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0B3354E-3FA0-1D94-0ED5-6B55810CB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FDA72-1D6A-069B-BA6F-C9555EA6EE09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91AD94-EFFF-2C79-D5D8-7DF2D278614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7B8822E-BA13-A142-1266-C50778012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93157F-D848-9E05-25CB-0110AC5E4F8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F3218E-BE5D-1E5F-2E2F-80BD224CB1D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F1EC965-F313-A395-6AF8-C9756978D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38D86B0-827F-9466-0A66-C9807390BBCB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Security </a:t>
            </a:r>
            <a:r>
              <a:rPr lang="en-US" dirty="0"/>
              <a:t>rating for the portfolio is PORTFOLIO_SEC_AVG_RATING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PORTFOLIO_SEC_ABOVE_MARKET% of systems score above market average for Security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PORTFOLIO_SEC_MARKET_AVERAGE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Security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PORTFOLIO_SEC_BELOW_MARKET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Security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AE87DF-A1BC-5958-DE2A-A8C3A6CD9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092530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75C0-C207-4E2C-BD14-5A81D230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6C82DEF-36D5-FB7E-AFAC-21F430C3BB5A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PORTFOLIO_PERIOD_SECURITY_RATINGS_CHANGE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71CDFD-E671-9983-BCFA-61E6FDA0C8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53550-5F0E-C6E4-29B9-7E84B37C21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C1924E-BF8A-82D4-91C3-65F9207E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PORTFOLIO_PERIOD_SEC_CHANGE_SHORT_SUMMARY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6C283A-7F67-5B7A-1592-8EF4CE26A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2C8211A-4BD1-17C2-157E-E7A75825DE5A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GROUPED_BY_LABEL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8E10F2-10CD-AA74-5A2C-170808E6F640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34314D-E3B4-A17A-A9F3-35718FEFCD7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668F8B1-8163-0280-E7AD-6FC40A4B3F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A9E2695-4C11-2982-75D5-4E0C6BE811D7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DC72B0-8D25-2365-9A54-C46D71FCEAA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1D2D5440-4938-251B-AD71-3D41CEF842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7376B1B-254E-3717-798E-FD0631037E7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80C7ED-B514-CF66-35D7-4A66EC00BCA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D8B81D40-7E02-2FB1-644E-20F77CD0B0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3F90A97-85BE-3BEB-5DD6-BDE4DB13BE1F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38FF40-E3F2-25D4-9EA0-FC948E18EE7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A1CAA676-894E-9A77-8893-A491CE6C61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FE4119A-FB59-D48B-0115-817DF87E7E5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CD1D60-85B7-3420-38E5-9562602AA3F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445541FA-1456-41B3-1BCE-43D44804C6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0845E37-BF7A-036F-1036-4DCCAD4A0C5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dirty="0">
                <a:ea typeface="Calibri"/>
                <a:cs typeface="Calibri"/>
              </a:rPr>
              <a:t>PORTFOLIO_SEC_INCREASED% of systems has seen an increase in security ratings. PORTFOLIO_SEC_STABLE% of systems has remained stable. PORTFOLIO_SEC_DECREASED% of systems has seen a decrease in security ratings.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PORTFOLIO_SEC_BIGGEST_CHANGES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3814472-2F91-8C00-BB5E-647E58883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088" y="6392596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644339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976C-A43A-62DF-8A14-555177D4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8C01D-33FF-CD9A-A477-2806EB6B1C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CBBF-57FB-ABB3-9835-20A2F9691D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E6FAE6-87BA-B605-5E5B-FC841A95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Critical findings trends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1C0D-0321-1290-3EFE-1E641277D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2F2E1-B218-4956-6E9E-F625515C8382}"/>
              </a:ext>
            </a:extLst>
          </p:cNvPr>
          <p:cNvSpPr/>
          <p:nvPr/>
        </p:nvSpPr>
        <p:spPr>
          <a:xfrm flipH="1">
            <a:off x="861633" y="3390745"/>
            <a:ext cx="10468734" cy="2720123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04CBEEE-0C86-D6F2-5A66-0F130C4B2075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20177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Since </a:t>
            </a:r>
            <a:r>
              <a:rPr lang="en-GB" sz="1550" dirty="0"/>
              <a:t>PORTFOLIO_SEC_PERIOD_START_DATE</a:t>
            </a:r>
            <a:r>
              <a:rPr lang="en-GB" sz="1550" noProof="0" dirty="0"/>
              <a:t>, </a:t>
            </a:r>
            <a:r>
              <a:rPr lang="en-GB" sz="1550" dirty="0"/>
              <a:t>PORTFOLIO_SEC_CRITICAL_RESOLVED</a:t>
            </a:r>
            <a:r>
              <a:rPr lang="en-GB" sz="1550" noProof="0" dirty="0"/>
              <a:t> critical security findings have been resolved </a:t>
            </a:r>
            <a:r>
              <a:rPr lang="en-GB" sz="1550" dirty="0"/>
              <a:t>while PORTFOLIO_SEC_CRITICAL_ADDED new critical findings were discovered. Overall, there has been PORTFOLIO_SEC_RELATIVE_CRITICAL in critical security findings of PORTFOLIO_SEC_CRITICAL_DIFFERENCE.</a:t>
            </a:r>
          </a:p>
          <a:p>
            <a:pPr indent="-283845"/>
            <a:r>
              <a:rPr lang="en-GB" sz="1550" dirty="0"/>
              <a:t>Of the resolved critical findings, most were resolved in PORTFOLIO_SEC_CRITICAL_RESOLUTION_MOST (PORTFOLIO_</a:t>
            </a:r>
            <a:r>
              <a:rPr lang="en-GB" sz="1550"/>
              <a:t>SEC_CRITICAL</a:t>
            </a:r>
            <a:r>
              <a:rPr lang="en-GB" sz="1550" dirty="0"/>
              <a:t>_RESOLUTION_FINDINGS_MOST findings). PORTFOLIO_SEC_CRITICAL_RESOLUTION_NO_RISK findings were resolved within the recommended 7 days while PORTFOLIO_SEC_CRITICAL_RESOLUTION_HIGH_RISK were resolved after 30 days or more. </a:t>
            </a:r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0" name="PORTFOLIO_SECURITY_FINDINGS_CRITICAL">
            <a:extLst>
              <a:ext uri="{FF2B5EF4-FFF2-40B4-BE49-F238E27FC236}">
                <a16:creationId xmlns:a16="http://schemas.microsoft.com/office/drawing/2014/main" id="{910F2E1C-D877-D2BA-B431-F9C4BA585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190819"/>
              </p:ext>
            </p:extLst>
          </p:nvPr>
        </p:nvGraphicFramePr>
        <p:xfrm>
          <a:off x="1124437" y="3851133"/>
          <a:ext cx="5010978" cy="217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PORTFOLIO_SECURITY_RESOLUTION_CRITICAL">
            <a:extLst>
              <a:ext uri="{FF2B5EF4-FFF2-40B4-BE49-F238E27FC236}">
                <a16:creationId xmlns:a16="http://schemas.microsoft.com/office/drawing/2014/main" id="{F4BA35FA-BE44-852A-B55F-63FF6EA3E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663586"/>
              </p:ext>
            </p:extLst>
          </p:nvPr>
        </p:nvGraphicFramePr>
        <p:xfrm>
          <a:off x="6235286" y="3713005"/>
          <a:ext cx="4832277" cy="2319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1578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4EF1-FCA0-2EC9-964E-45F3A94A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8824E7-4E29-8181-B01C-EA895DB82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4024032" cy="228145"/>
          </a:xfrm>
        </p:spPr>
        <p:txBody>
          <a:bodyPr/>
          <a:lstStyle/>
          <a:p>
            <a:r>
              <a:rPr lang="en-GB" dirty="0"/>
              <a:t>Portfolio trends – Security – Resolution times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AAA8-B191-8D33-A251-5BBAA5775E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BDEC54-B88C-60B4-98B9-CFF0E70B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resolution times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7DF3F-5BD8-9A33-2F26-1FFB63BA6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BDBC96-6A0F-7FB2-73A9-7CD5A1E31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DD134A-FB98-733E-70B7-BE217A938451}"/>
              </a:ext>
            </a:extLst>
          </p:cNvPr>
          <p:cNvSpPr/>
          <p:nvPr/>
        </p:nvSpPr>
        <p:spPr>
          <a:xfrm flipH="1">
            <a:off x="5291526" y="1291984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B23C483-13CD-B3D6-B6B2-3C5716E15A2A}"/>
              </a:ext>
            </a:extLst>
          </p:cNvPr>
          <p:cNvSpPr txBox="1">
            <a:spLocks/>
          </p:cNvSpPr>
          <p:nvPr/>
        </p:nvSpPr>
        <p:spPr>
          <a:xfrm>
            <a:off x="223094" y="1411287"/>
            <a:ext cx="4881341" cy="4762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Since PORTFOLIO_SEC_PERIOD_START_DATE, PORTFOLIO_SEC_HIGH_RESOLVED high security findings have been resolved while PORTFOLIO_SEC_HIGH_ADDED new high findings were discovered. Overall, there has been PORTFOLIO_SEC_RELATIVE_HIGH in high security findings of PORTFOLIO_SEC_HIGH_DIFFERENCE.</a:t>
            </a:r>
          </a:p>
          <a:p>
            <a:pPr indent="-283845"/>
            <a:r>
              <a:rPr lang="en-GB" sz="1550" dirty="0"/>
              <a:t>Of the resolved high findings, most were resolved in PORTFOLIO_SEC_HIGH_RESOLUTION_MOST (PORTFOLIO_SEC_HIGH_RESOLUTION_FINDINGS_MOST findings). PORTFOLIO_SEC_HIGH_RESOLUTION_NO_RISK findings were resolved within the recommended 14 days while PORTFOLIO_SEC_HIGH_RESOLUTION_HIGH_RISK were resolved after 180 days or more. </a:t>
            </a:r>
          </a:p>
          <a:p>
            <a:pPr indent="-283845"/>
            <a:r>
              <a:rPr lang="en-GB" sz="1550" dirty="0"/>
              <a:t>PORTFOLIO_SEC_MEDIUM_RESOLVED medium security findings have been resolved while PORTFOLIO_SEC_MEDIUM_ADDED new medium findings were discovered. Overall, there has been PORTFOLIO_SEC_RELATIVE_MEDIUM in medium security findings of PORTFOLIO_SEC_MEDIUM_DIFFERENCE.</a:t>
            </a:r>
          </a:p>
          <a:p>
            <a:pPr indent="-283845"/>
            <a:r>
              <a:rPr lang="en-GB" sz="1550" dirty="0"/>
              <a:t>Of the resolved medium findings, most were resolved in PORTFOLIO_SEC_MEDIUM_RESOLUTION_MOST (PORTFOLIO_SEC_MEDIUM_RESOLUTION_FINDINGS_MOST findings). PORTFOLIO_SEC_MEDIUM_RESOLUTION_NO_RISK findings were resolved within the recommended 30 days while PORTFOLIO_SEC_MEDIUM_RESOLUTION_HIGH_RISK were resolved after 270 days or more. </a:t>
            </a:r>
          </a:p>
          <a:p>
            <a:pPr indent="-283845"/>
            <a:endParaRPr lang="en-GB" sz="1550" dirty="0"/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8" name="PORTFOLIO_SECURITY_RESOLUTION_HIGH">
            <a:extLst>
              <a:ext uri="{FF2B5EF4-FFF2-40B4-BE49-F238E27FC236}">
                <a16:creationId xmlns:a16="http://schemas.microsoft.com/office/drawing/2014/main" id="{16E3CE9D-20C9-0E77-38B2-53E2D8CA6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503948"/>
              </p:ext>
            </p:extLst>
          </p:nvPr>
        </p:nvGraphicFramePr>
        <p:xfrm>
          <a:off x="8730926" y="1514933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PORTFOLIO_SECURITY_FINDINGS_HIGH">
            <a:extLst>
              <a:ext uri="{FF2B5EF4-FFF2-40B4-BE49-F238E27FC236}">
                <a16:creationId xmlns:a16="http://schemas.microsoft.com/office/drawing/2014/main" id="{75CB1C00-2C16-0486-C27D-31887DD06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665920"/>
              </p:ext>
            </p:extLst>
          </p:nvPr>
        </p:nvGraphicFramePr>
        <p:xfrm>
          <a:off x="5416871" y="1514933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A02A27D-5A11-E727-9003-68497845F5AF}"/>
              </a:ext>
            </a:extLst>
          </p:cNvPr>
          <p:cNvSpPr/>
          <p:nvPr/>
        </p:nvSpPr>
        <p:spPr>
          <a:xfrm flipH="1">
            <a:off x="5291526" y="3893212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E98C36"/>
                </a:solidFill>
              </a:rPr>
              <a:t>Medium</a:t>
            </a:r>
          </a:p>
        </p:txBody>
      </p:sp>
      <p:graphicFrame>
        <p:nvGraphicFramePr>
          <p:cNvPr id="22" name="PORTFOLIO_SECURITY_RESOLUTION_MEDIUM">
            <a:extLst>
              <a:ext uri="{FF2B5EF4-FFF2-40B4-BE49-F238E27FC236}">
                <a16:creationId xmlns:a16="http://schemas.microsoft.com/office/drawing/2014/main" id="{70983DB0-0BC7-2620-9F3E-685D6CFA68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010762"/>
              </p:ext>
            </p:extLst>
          </p:nvPr>
        </p:nvGraphicFramePr>
        <p:xfrm>
          <a:off x="8730926" y="4116161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PORTFOLIO_SECURITY_FINDINGS_MEDIUM">
            <a:extLst>
              <a:ext uri="{FF2B5EF4-FFF2-40B4-BE49-F238E27FC236}">
                <a16:creationId xmlns:a16="http://schemas.microsoft.com/office/drawing/2014/main" id="{72CCB03F-448F-67B3-48DD-4998FE51B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204567"/>
              </p:ext>
            </p:extLst>
          </p:nvPr>
        </p:nvGraphicFramePr>
        <p:xfrm>
          <a:off x="5416871" y="4116161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24758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1FF513-F7F0-C719-C954-DBA335D2C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43BB2-F642-BE45-7836-AFCD6CBFD8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47D14B-355C-A109-46FB-79FB23C8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4E15-C7EC-A545-5EBC-69B4EAE34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83ADB-6F9E-D057-991B-C0B52FAE9247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215FE-C7C0-BC81-3B0D-CEF368F87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36E7B9-811C-003C-7BFC-A5493486F19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98D90-BE8E-901C-9DF1-3C45821DE1B7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393784-89ED-CB65-097F-CF64C9DE33A9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7" name="PORTFOLIO_SECURITY_FINDINGS_CRITICAL">
            <a:extLst>
              <a:ext uri="{FF2B5EF4-FFF2-40B4-BE49-F238E27FC236}">
                <a16:creationId xmlns:a16="http://schemas.microsoft.com/office/drawing/2014/main" id="{3605FEE4-47C1-3A75-7A83-281F7BE41F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918974"/>
              </p:ext>
            </p:extLst>
          </p:nvPr>
        </p:nvGraphicFramePr>
        <p:xfrm>
          <a:off x="955163" y="1714666"/>
          <a:ext cx="5070948" cy="219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PORTFOLIO_SECURITY_FINDINGS_HIGH">
            <a:extLst>
              <a:ext uri="{FF2B5EF4-FFF2-40B4-BE49-F238E27FC236}">
                <a16:creationId xmlns:a16="http://schemas.microsoft.com/office/drawing/2014/main" id="{E6284084-0D17-0C79-BA25-E3E29D606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042344"/>
              </p:ext>
            </p:extLst>
          </p:nvPr>
        </p:nvGraphicFramePr>
        <p:xfrm>
          <a:off x="6284745" y="1714666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PORTFOLIO_SECURITY_FINDINGS_MEDIUM">
            <a:extLst>
              <a:ext uri="{FF2B5EF4-FFF2-40B4-BE49-F238E27FC236}">
                <a16:creationId xmlns:a16="http://schemas.microsoft.com/office/drawing/2014/main" id="{1D0C3BE9-A664-5700-38B0-74CDE05BE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025760"/>
              </p:ext>
            </p:extLst>
          </p:nvPr>
        </p:nvGraphicFramePr>
        <p:xfrm>
          <a:off x="3679861" y="4116161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7168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C38F-AE8D-FF4B-AE4F-040316CA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4E57D2-7FE4-C0AA-BDE9-A362D613ED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FF027-54A5-051F-5710-B5994A182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en-GB" smtClean="0"/>
              <a:pPr/>
              <a:t>40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1A16AE-C003-C50A-E6D6-3D6AA501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2B89-53C7-6B9A-712B-0DEEC0C14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2A71AF-4489-77E3-367D-617DFCB60DE0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AD5F6-18F9-8A40-2477-E9242D99A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490A03-971E-D057-E453-8848427D9F4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911086-3056-B85A-B493-E969F1E03B2E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2F09A1-6725-C876-B697-24D0E14922AC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0" name="PORTFOLIO_SECURITY_RESOLUTION_CRITICAL">
            <a:extLst>
              <a:ext uri="{FF2B5EF4-FFF2-40B4-BE49-F238E27FC236}">
                <a16:creationId xmlns:a16="http://schemas.microsoft.com/office/drawing/2014/main" id="{043ADC1B-1288-61F5-6E17-604566843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850097"/>
              </p:ext>
            </p:extLst>
          </p:nvPr>
        </p:nvGraphicFramePr>
        <p:xfrm>
          <a:off x="952145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PORTFOLIO_SECURITY_RESOLUTION_HIGH">
            <a:extLst>
              <a:ext uri="{FF2B5EF4-FFF2-40B4-BE49-F238E27FC236}">
                <a16:creationId xmlns:a16="http://schemas.microsoft.com/office/drawing/2014/main" id="{FD9AE359-1D59-B204-F3B2-ED88BE1F3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13887"/>
              </p:ext>
            </p:extLst>
          </p:nvPr>
        </p:nvGraphicFramePr>
        <p:xfrm>
          <a:off x="6340739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PORTFOLIO_SECURITY_RESOLUTION_MEDIUM">
            <a:extLst>
              <a:ext uri="{FF2B5EF4-FFF2-40B4-BE49-F238E27FC236}">
                <a16:creationId xmlns:a16="http://schemas.microsoft.com/office/drawing/2014/main" id="{6568A628-8BDB-F462-AB74-A5B810893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908121"/>
              </p:ext>
            </p:extLst>
          </p:nvPr>
        </p:nvGraphicFramePr>
        <p:xfrm>
          <a:off x="3678661" y="4091051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7643688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18381</TotalTime>
  <Words>2799</Words>
  <Application>Microsoft Macintosh PowerPoint</Application>
  <PresentationFormat>Widescreen</PresentationFormat>
  <Paragraphs>434</Paragraphs>
  <Slides>40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Dark theme</vt:lpstr>
      <vt:lpstr>PowerPoint Presentation</vt:lpstr>
      <vt:lpstr>Outline of topics</vt:lpstr>
      <vt:lpstr>Progress towards objectives between OBJECTIVES_PERIOD_START and OBJECTIVES_PERIOD_END</vt:lpstr>
      <vt:lpstr>Progress towards objectives over time</vt:lpstr>
      <vt:lpstr>Progress towards objectives per capability between OBJECTIVES_PERIOD_START and OBJECTIVES_PERIOD_END</vt:lpstr>
      <vt:lpstr>Progress towards objectives: Maintainability</vt:lpstr>
      <vt:lpstr>Progress towards objectives: Architecture</vt:lpstr>
      <vt:lpstr>Progress towards objectives: Open Source Health</vt:lpstr>
      <vt:lpstr>Progress towards objectives: Security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Index</vt:lpstr>
      <vt:lpstr>PORTFOLIO_PERIOD_MAINT_SHORT_SUMMARY</vt:lpstr>
      <vt:lpstr>Maintainability Grouped by Lifecycle</vt:lpstr>
      <vt:lpstr>Maintainability Grouped by Deployment Type</vt:lpstr>
      <vt:lpstr>Maintainability Grouped by Business Criticality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Change in volume (effort) of the portfolio between PORTFOLIO_PERIOD_START_DATE and PORTFOLIO_PERIOD_END_DATE</vt:lpstr>
      <vt:lpstr>Test-to-production code ratios of the portfolio between PORTFOLIO_PERIOD_START_DATE and PORTFOLIO_PERIOD_END_DATE</vt:lpstr>
      <vt:lpstr>Test Code Ratio Grouped by Main Technology</vt:lpstr>
      <vt:lpstr>Change in test-to-production code ratios of the portfolio between PORTFOLIO_PERIOD_START_DATE and PORTFOLIO_PERIOD_END_DATE</vt:lpstr>
      <vt:lpstr>Architecture ratings of the portfolio between PORTFOLIO_PERIOD_START_DATE and PORTFOLIO_PERIOD_END_DATE</vt:lpstr>
      <vt:lpstr>PORTFOLIO_PERIOD_ARCH_CHANGE_SHORT_SUMMARY</vt:lpstr>
      <vt:lpstr>Open-source health ratings of the portfolio between PORTFOLIO_PERIOD_START_DATE and PORTFOLIO_PERIOD_END_DATE</vt:lpstr>
      <vt:lpstr>Overall Open Source Health Library Risks Overview</vt:lpstr>
      <vt:lpstr>Security ratings of the portfolio between PORTFOLIO_PERIOD_START_DATE and PORTFOLIO_PERIOD_END_DATE</vt:lpstr>
      <vt:lpstr>PORTFOLIO_PERIOD_SEC_CHANGE_SHORT_SUMMARY</vt:lpstr>
      <vt:lpstr>Critical findings trends of the last 12 months (ending at PORTFOLIO_PERIOD_END_DATE)</vt:lpstr>
      <vt:lpstr>Security resolution times of the portfolio of the last 12 months (ending at PORTFOLIO_PERIOD_END_DATE)</vt:lpstr>
      <vt:lpstr>Security findings of the portfolio of the last 12 months (ending at PORTFOLIO_PERIOD_END_DATE)</vt:lpstr>
      <vt:lpstr>Security findings of the portfolio of the last 12 months (ending at PORTFOLIO_PERIOD_END_DATE)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207</cp:revision>
  <cp:lastPrinted>2020-04-20T09:37:43Z</cp:lastPrinted>
  <dcterms:created xsi:type="dcterms:W3CDTF">2025-10-22T11:22:13Z</dcterms:created>
  <dcterms:modified xsi:type="dcterms:W3CDTF">2026-07-21T14:47:28Z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