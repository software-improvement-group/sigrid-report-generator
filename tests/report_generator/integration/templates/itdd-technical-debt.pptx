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561" r:id="rId5"/>
    <p:sldId id="1507" r:id="rId6"/>
    <p:sldId id="1762" r:id="rId7"/>
    <p:sldId id="59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 management" id="{F882C068-ED6C-C445-9194-29C46CFF67E1}">
          <p14:sldIdLst/>
        </p14:section>
        <p14:section name="Front matter" id="{4A730639-607C-0E46-A965-5C2D2651664E}">
          <p14:sldIdLst>
            <p14:sldId id="561"/>
            <p14:sldId id="1507"/>
            <p14:sldId id="1762"/>
          </p14:sldIdLst>
        </p14:section>
        <p14:section name="Back matter" id="{3FD0872C-192F-5B46-895B-A626D88A1562}">
          <p14:sldIdLst>
            <p14:sldId id="597"/>
          </p14:sldIdLst>
        </p14:section>
        <p14:section name="Maintainability metrics" id="{A432B334-BA3D-FA4F-AC8E-C1EF3306B678}">
          <p14:sldIdLst/>
        </p14:section>
        <p14:section name="Architecture Metric Explanations" id="{4D6A3F6C-777D-D047-839D-BEA038349B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8E17"/>
    <a:srgbClr val="910813"/>
    <a:srgbClr val="CF4731"/>
    <a:srgbClr val="EBC937"/>
    <a:srgbClr val="DB4A3D"/>
    <a:srgbClr val="F0089F"/>
    <a:srgbClr val="1E354B"/>
    <a:srgbClr val="57C967"/>
    <a:srgbClr val="F9C640"/>
    <a:srgbClr val="1E3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00"/>
    <p:restoredTop sz="96327"/>
  </p:normalViewPr>
  <p:slideViewPr>
    <p:cSldViewPr snapToGrid="0" snapToObjects="1" showGuides="1">
      <p:cViewPr varScale="1">
        <p:scale>
          <a:sx n="128" d="100"/>
          <a:sy n="128" d="100"/>
        </p:scale>
        <p:origin x="968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emf"/><Relationship Id="rId5" Type="http://schemas.openxmlformats.org/officeDocument/2006/relationships/image" Target="../media/image20.emf"/><Relationship Id="rId4" Type="http://schemas.openxmlformats.org/officeDocument/2006/relationships/image" Target="../media/image19.tif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</a:t>
            </a:r>
            <a:r>
              <a:rPr lang="en-US" dirty="0" err="1"/>
              <a:t>SYSTEM_NAME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Technical Debt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ight Arrow 54">
            <a:extLst>
              <a:ext uri="{FF2B5EF4-FFF2-40B4-BE49-F238E27FC236}">
                <a16:creationId xmlns:a16="http://schemas.microsoft.com/office/drawing/2014/main" id="{5137A122-FBEA-1742-BA77-69F545AC8736}"/>
              </a:ext>
            </a:extLst>
          </p:cNvPr>
          <p:cNvSpPr/>
          <p:nvPr/>
        </p:nvSpPr>
        <p:spPr>
          <a:xfrm>
            <a:off x="7803207" y="3834866"/>
            <a:ext cx="1422401" cy="655970"/>
          </a:xfrm>
          <a:prstGeom prst="rightArrow">
            <a:avLst>
              <a:gd name="adj1" fmla="val 52474"/>
              <a:gd name="adj2" fmla="val 62243"/>
            </a:avLst>
          </a:prstGeom>
          <a:gradFill>
            <a:gsLst>
              <a:gs pos="52000">
                <a:srgbClr val="57C968"/>
              </a:gs>
              <a:gs pos="10000">
                <a:srgbClr val="57C968">
                  <a:alpha val="0"/>
                </a:srgbClr>
              </a:gs>
            </a:gsLst>
            <a:lin ang="0" scaled="0"/>
          </a:gradFill>
          <a:ln>
            <a:noFill/>
          </a:ln>
          <a:effectLst>
            <a:outerShdw blurRad="241300" dist="38100" dir="2700000" algn="tl" rotWithShape="0">
              <a:schemeClr val="accent4">
                <a:lumMod val="75000"/>
                <a:alpha val="4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7B98A-1D37-EB47-A5C8-6EE15061B1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17AE71-FCC3-E142-BF3B-A35E9D87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Cost Estimation model combines Sigrid analysis results with SIG benchmarks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C2AB6C-22EA-C84B-A69B-8ED8B4FA4C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E08FD-47BE-0743-8ED6-69C95CED73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dirty="0"/>
          </a:p>
        </p:txBody>
      </p:sp>
      <p:sp>
        <p:nvSpPr>
          <p:cNvPr id="86" name="Content Placeholder 85">
            <a:extLst>
              <a:ext uri="{FF2B5EF4-FFF2-40B4-BE49-F238E27FC236}">
                <a16:creationId xmlns:a16="http://schemas.microsoft.com/office/drawing/2014/main" id="{4EE5E8AD-0E47-6E45-B275-4E63022E37C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2847369" cy="495000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The Cost Estimation Model (</a:t>
            </a:r>
            <a:r>
              <a:rPr lang="en-US" b="1" dirty="0" err="1"/>
              <a:t>CEM</a:t>
            </a:r>
            <a:r>
              <a:rPr lang="en-US" b="1" dirty="0"/>
              <a:t>) enables translating technical analysis results to cost estimations.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The most important input for the CEM are the maintainability analysis results. This is mandatory. CEM then combines this with </a:t>
            </a:r>
            <a:r>
              <a:rPr lang="en-US" b="1" dirty="0"/>
              <a:t>SIG’s benchmarks </a:t>
            </a:r>
            <a:r>
              <a:rPr lang="en-US" dirty="0"/>
              <a:t>on productivity and maintainability.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Cost estimations form key input for scenario comparison.</a:t>
            </a: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E1AA55C1-EE8A-A74A-88AB-60628F1B1773}"/>
              </a:ext>
            </a:extLst>
          </p:cNvPr>
          <p:cNvSpPr/>
          <p:nvPr/>
        </p:nvSpPr>
        <p:spPr>
          <a:xfrm>
            <a:off x="5079004" y="2590633"/>
            <a:ext cx="2996276" cy="1329772"/>
          </a:xfrm>
          <a:prstGeom prst="diamond">
            <a:avLst/>
          </a:prstGeom>
          <a:gradFill>
            <a:gsLst>
              <a:gs pos="0">
                <a:srgbClr val="E0C201"/>
              </a:gs>
              <a:gs pos="93000">
                <a:srgbClr val="D0A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riangle 7">
            <a:extLst>
              <a:ext uri="{FF2B5EF4-FFF2-40B4-BE49-F238E27FC236}">
                <a16:creationId xmlns:a16="http://schemas.microsoft.com/office/drawing/2014/main" id="{7230205B-31AD-5D44-B3B0-EECBEA1912BF}"/>
              </a:ext>
            </a:extLst>
          </p:cNvPr>
          <p:cNvSpPr/>
          <p:nvPr/>
        </p:nvSpPr>
        <p:spPr>
          <a:xfrm rot="5400000" flipV="1">
            <a:off x="5161201" y="2520728"/>
            <a:ext cx="1329552" cy="1486418"/>
          </a:xfrm>
          <a:prstGeom prst="triangle">
            <a:avLst/>
          </a:prstGeom>
          <a:gradFill>
            <a:gsLst>
              <a:gs pos="100000">
                <a:srgbClr val="806600"/>
              </a:gs>
              <a:gs pos="0">
                <a:srgbClr val="F1DE6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4BB7099-4E07-EE44-A41E-2C600F6B15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5927333" y="2809739"/>
            <a:ext cx="1245883" cy="1059000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BF3E8A0D-0499-C140-94FB-BD9038D5E442}"/>
              </a:ext>
            </a:extLst>
          </p:cNvPr>
          <p:cNvSpPr/>
          <p:nvPr/>
        </p:nvSpPr>
        <p:spPr>
          <a:xfrm rot="5400000">
            <a:off x="4634891" y="3699603"/>
            <a:ext cx="2386359" cy="1498137"/>
          </a:xfrm>
          <a:prstGeom prst="parallelogram">
            <a:avLst>
              <a:gd name="adj" fmla="val 43913"/>
            </a:avLst>
          </a:prstGeom>
          <a:gradFill>
            <a:gsLst>
              <a:gs pos="0">
                <a:srgbClr val="586B77"/>
              </a:gs>
              <a:gs pos="55000">
                <a:srgbClr val="17323F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253B108D-011B-0349-BDC8-530006765974}"/>
              </a:ext>
            </a:extLst>
          </p:cNvPr>
          <p:cNvSpPr/>
          <p:nvPr/>
        </p:nvSpPr>
        <p:spPr>
          <a:xfrm rot="16200000" flipH="1">
            <a:off x="6133030" y="3697205"/>
            <a:ext cx="2386359" cy="1498141"/>
          </a:xfrm>
          <a:prstGeom prst="parallelogram">
            <a:avLst>
              <a:gd name="adj" fmla="val 44259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9F04B5-077E-3F4D-B473-02E85BDD9A5A}"/>
              </a:ext>
            </a:extLst>
          </p:cNvPr>
          <p:cNvCxnSpPr>
            <a:cxnSpLocks/>
          </p:cNvCxnSpPr>
          <p:nvPr/>
        </p:nvCxnSpPr>
        <p:spPr>
          <a:xfrm>
            <a:off x="6579838" y="2595948"/>
            <a:ext cx="0" cy="1328076"/>
          </a:xfrm>
          <a:prstGeom prst="line">
            <a:avLst/>
          </a:prstGeom>
          <a:ln w="12700">
            <a:gradFill>
              <a:gsLst>
                <a:gs pos="0">
                  <a:srgbClr val="D0A600">
                    <a:alpha val="74000"/>
                  </a:srgbClr>
                </a:gs>
                <a:gs pos="100000">
                  <a:srgbClr val="524702">
                    <a:alpha val="95000"/>
                  </a:srgb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mond 11">
            <a:extLst>
              <a:ext uri="{FF2B5EF4-FFF2-40B4-BE49-F238E27FC236}">
                <a16:creationId xmlns:a16="http://schemas.microsoft.com/office/drawing/2014/main" id="{6E1D2B65-CBD3-6849-8FFA-E3F2C87C0950}"/>
              </a:ext>
            </a:extLst>
          </p:cNvPr>
          <p:cNvSpPr/>
          <p:nvPr/>
        </p:nvSpPr>
        <p:spPr>
          <a:xfrm>
            <a:off x="5121399" y="2590368"/>
            <a:ext cx="2945924" cy="1330037"/>
          </a:xfrm>
          <a:prstGeom prst="diamond">
            <a:avLst/>
          </a:prstGeom>
          <a:gradFill>
            <a:gsLst>
              <a:gs pos="50000">
                <a:srgbClr val="E0C201">
                  <a:alpha val="0"/>
                </a:srgbClr>
              </a:gs>
              <a:gs pos="100000">
                <a:srgbClr val="806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6C4506E-F159-024C-9D2B-55CEB186C9B9}"/>
              </a:ext>
            </a:extLst>
          </p:cNvPr>
          <p:cNvSpPr/>
          <p:nvPr/>
        </p:nvSpPr>
        <p:spPr>
          <a:xfrm rot="5400000">
            <a:off x="5418989" y="2912513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2F27295-6EFA-0345-8F08-6B563F06E3DD}"/>
              </a:ext>
            </a:extLst>
          </p:cNvPr>
          <p:cNvSpPr/>
          <p:nvPr/>
        </p:nvSpPr>
        <p:spPr>
          <a:xfrm rot="16200000" flipH="1">
            <a:off x="6915922" y="2916938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B5025897-2A61-BF48-A538-F0F8D83E93B4}"/>
              </a:ext>
            </a:extLst>
          </p:cNvPr>
          <p:cNvSpPr/>
          <p:nvPr/>
        </p:nvSpPr>
        <p:spPr>
          <a:xfrm>
            <a:off x="5078637" y="2586000"/>
            <a:ext cx="2993738" cy="676206"/>
          </a:xfrm>
          <a:custGeom>
            <a:avLst/>
            <a:gdLst>
              <a:gd name="connsiteX0" fmla="*/ 1120135 w 2240270"/>
              <a:gd name="connsiteY0" fmla="*/ 0 h 514231"/>
              <a:gd name="connsiteX1" fmla="*/ 2240270 w 2240270"/>
              <a:gd name="connsiteY1" fmla="*/ 505723 h 514231"/>
              <a:gd name="connsiteX2" fmla="*/ 2221427 w 2240270"/>
              <a:gd name="connsiteY2" fmla="*/ 514231 h 514231"/>
              <a:gd name="connsiteX3" fmla="*/ 1120135 w 2240270"/>
              <a:gd name="connsiteY3" fmla="*/ 17015 h 514231"/>
              <a:gd name="connsiteX4" fmla="*/ 18844 w 2240270"/>
              <a:gd name="connsiteY4" fmla="*/ 514231 h 514231"/>
              <a:gd name="connsiteX5" fmla="*/ 0 w 2240270"/>
              <a:gd name="connsiteY5" fmla="*/ 505723 h 514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40270" h="514231">
                <a:moveTo>
                  <a:pt x="1120135" y="0"/>
                </a:moveTo>
                <a:lnTo>
                  <a:pt x="2240270" y="505723"/>
                </a:lnTo>
                <a:lnTo>
                  <a:pt x="2221427" y="514231"/>
                </a:lnTo>
                <a:lnTo>
                  <a:pt x="1120135" y="17015"/>
                </a:lnTo>
                <a:lnTo>
                  <a:pt x="18844" y="514231"/>
                </a:lnTo>
                <a:lnTo>
                  <a:pt x="0" y="505723"/>
                </a:lnTo>
                <a:close/>
              </a:path>
            </a:pathLst>
          </a:custGeom>
          <a:solidFill>
            <a:srgbClr val="D0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28B09AAF-2C21-6E49-905B-A3A62EB84501}"/>
              </a:ext>
            </a:extLst>
          </p:cNvPr>
          <p:cNvCxnSpPr>
            <a:cxnSpLocks/>
          </p:cNvCxnSpPr>
          <p:nvPr/>
        </p:nvCxnSpPr>
        <p:spPr>
          <a:xfrm flipH="1" flipV="1">
            <a:off x="5072227" y="4165225"/>
            <a:ext cx="1499248" cy="661403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22D027F-F0AB-634F-8339-767F5ABDCDDF}"/>
              </a:ext>
            </a:extLst>
          </p:cNvPr>
          <p:cNvCxnSpPr>
            <a:cxnSpLocks/>
          </p:cNvCxnSpPr>
          <p:nvPr/>
        </p:nvCxnSpPr>
        <p:spPr>
          <a:xfrm flipH="1">
            <a:off x="6562877" y="4155650"/>
            <a:ext cx="1511327" cy="670050"/>
          </a:xfrm>
          <a:prstGeom prst="line">
            <a:avLst/>
          </a:prstGeom>
          <a:ln w="19050">
            <a:gradFill>
              <a:gsLst>
                <a:gs pos="66000">
                  <a:schemeClr val="accent4"/>
                </a:gs>
                <a:gs pos="100000">
                  <a:schemeClr val="accent3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Arc 52">
            <a:extLst>
              <a:ext uri="{FF2B5EF4-FFF2-40B4-BE49-F238E27FC236}">
                <a16:creationId xmlns:a16="http://schemas.microsoft.com/office/drawing/2014/main" id="{95B2D585-67CB-BF4C-B950-7E96C38B9198}"/>
              </a:ext>
            </a:extLst>
          </p:cNvPr>
          <p:cNvSpPr/>
          <p:nvPr/>
        </p:nvSpPr>
        <p:spPr>
          <a:xfrm rot="7200000" flipH="1">
            <a:off x="7518488" y="4271564"/>
            <a:ext cx="569438" cy="1631518"/>
          </a:xfrm>
          <a:prstGeom prst="arc">
            <a:avLst>
              <a:gd name="adj1" fmla="val 16312158"/>
              <a:gd name="adj2" fmla="val 2410627"/>
            </a:avLst>
          </a:prstGeom>
          <a:ln w="190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DF8416-E011-C846-9769-2A0C09F54F8B}"/>
              </a:ext>
            </a:extLst>
          </p:cNvPr>
          <p:cNvSpPr txBox="1"/>
          <p:nvPr/>
        </p:nvSpPr>
        <p:spPr>
          <a:xfrm>
            <a:off x="7803207" y="5521661"/>
            <a:ext cx="1422401" cy="440231"/>
          </a:xfrm>
          <a:prstGeom prst="rect">
            <a:avLst/>
          </a:prstGeom>
          <a:noFill/>
        </p:spPr>
        <p:txBody>
          <a:bodyPr wrap="none" lIns="90000" rtlCol="0" anchor="t">
            <a:noAutofit/>
          </a:bodyPr>
          <a:lstStyle/>
          <a:p>
            <a:pPr algn="l">
              <a:lnSpc>
                <a:spcPct val="113000"/>
              </a:lnSpc>
            </a:pP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AAABA69-2D22-F945-9F0A-F21D4794A943}"/>
              </a:ext>
            </a:extLst>
          </p:cNvPr>
          <p:cNvSpPr txBox="1"/>
          <p:nvPr/>
        </p:nvSpPr>
        <p:spPr>
          <a:xfrm>
            <a:off x="4638252" y="1962027"/>
            <a:ext cx="1857076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Language productivity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58EB8A2E-4250-374D-9C6F-751709832BB3}"/>
              </a:ext>
            </a:extLst>
          </p:cNvPr>
          <p:cNvSpPr/>
          <p:nvPr/>
        </p:nvSpPr>
        <p:spPr>
          <a:xfrm rot="2987567">
            <a:off x="6604893" y="2105254"/>
            <a:ext cx="453707" cy="1104183"/>
          </a:xfrm>
          <a:prstGeom prst="arc">
            <a:avLst>
              <a:gd name="adj1" fmla="val 17800726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85841F-6683-CF40-9932-8828AE41F11E}"/>
              </a:ext>
            </a:extLst>
          </p:cNvPr>
          <p:cNvGrpSpPr/>
          <p:nvPr/>
        </p:nvGrpSpPr>
        <p:grpSpPr>
          <a:xfrm>
            <a:off x="7243408" y="3970416"/>
            <a:ext cx="404550" cy="608645"/>
            <a:chOff x="6766330" y="3866689"/>
            <a:chExt cx="404550" cy="608645"/>
          </a:xfrm>
          <a:effectLst/>
        </p:grpSpPr>
        <p:sp>
          <p:nvSpPr>
            <p:cNvPr id="64" name="Parallelogram 63">
              <a:extLst>
                <a:ext uri="{FF2B5EF4-FFF2-40B4-BE49-F238E27FC236}">
                  <a16:creationId xmlns:a16="http://schemas.microsoft.com/office/drawing/2014/main" id="{0921C6FF-D373-6247-B405-01819C3C7E24}"/>
                </a:ext>
              </a:extLst>
            </p:cNvPr>
            <p:cNvSpPr/>
            <p:nvPr/>
          </p:nvSpPr>
          <p:spPr>
            <a:xfrm rot="16200000" flipV="1">
              <a:off x="6664282" y="3968737"/>
              <a:ext cx="608645" cy="404550"/>
            </a:xfrm>
            <a:prstGeom prst="parallelogram">
              <a:avLst>
                <a:gd name="adj" fmla="val 43700"/>
              </a:avLst>
            </a:prstGeom>
            <a:solidFill>
              <a:schemeClr val="accent4">
                <a:lumMod val="5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outerShdw blurRad="50800" dist="25400" dir="13500000" algn="br" rotWithShape="0">
                <a:prstClr val="black">
                  <a:alpha val="6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6E2B5FF-9F70-2242-8C9E-812ADBC59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  <a:alphaModFix amt="80000"/>
            </a:blip>
            <a:stretch>
              <a:fillRect/>
            </a:stretch>
          </p:blipFill>
          <p:spPr>
            <a:xfrm>
              <a:off x="6817345" y="4000299"/>
              <a:ext cx="324000" cy="324000"/>
            </a:xfrm>
            <a:prstGeom prst="rect">
              <a:avLst/>
            </a:prstGeom>
            <a:scene3d>
              <a:camera prst="perspectiveContrastingRightFacing">
                <a:rot lat="1200000" lon="18963666" rev="213211"/>
              </a:camera>
              <a:lightRig rig="threePt" dir="t"/>
            </a:scene3d>
          </p:spPr>
        </p:pic>
      </p:grpSp>
      <p:pic>
        <p:nvPicPr>
          <p:cNvPr id="74" name="Picture 73">
            <a:extLst>
              <a:ext uri="{FF2B5EF4-FFF2-40B4-BE49-F238E27FC236}">
                <a16:creationId xmlns:a16="http://schemas.microsoft.com/office/drawing/2014/main" id="{CE691106-5872-9244-8C2C-32361B782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4388" y="1751935"/>
            <a:ext cx="306703" cy="204469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905CB36-76AE-DA4B-813A-19091F0BFE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874" y="1745715"/>
            <a:ext cx="306703" cy="204469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1C339567-966E-5548-A3E1-78F848309A8F}"/>
              </a:ext>
            </a:extLst>
          </p:cNvPr>
          <p:cNvSpPr txBox="1"/>
          <p:nvPr/>
        </p:nvSpPr>
        <p:spPr>
          <a:xfrm>
            <a:off x="6731540" y="1962027"/>
            <a:ext cx="1669471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Maintainability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8B41564C-FA6B-E241-8C5D-1056084FFFC4}"/>
              </a:ext>
            </a:extLst>
          </p:cNvPr>
          <p:cNvSpPr/>
          <p:nvPr/>
        </p:nvSpPr>
        <p:spPr>
          <a:xfrm rot="18545569" flipH="1">
            <a:off x="6059440" y="2066237"/>
            <a:ext cx="519130" cy="1104183"/>
          </a:xfrm>
          <a:prstGeom prst="arc">
            <a:avLst>
              <a:gd name="adj1" fmla="val 18116925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A8D9DE88-D137-6A46-BF49-1001C1A3E343}"/>
              </a:ext>
            </a:extLst>
          </p:cNvPr>
          <p:cNvSpPr/>
          <p:nvPr/>
        </p:nvSpPr>
        <p:spPr>
          <a:xfrm>
            <a:off x="5117973" y="2598381"/>
            <a:ext cx="2945924" cy="1330037"/>
          </a:xfrm>
          <a:prstGeom prst="diamond">
            <a:avLst/>
          </a:prstGeom>
          <a:gradFill>
            <a:gsLst>
              <a:gs pos="45000">
                <a:srgbClr val="E0C201">
                  <a:alpha val="0"/>
                </a:srgbClr>
              </a:gs>
              <a:gs pos="98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Parallelogram 41">
            <a:extLst>
              <a:ext uri="{FF2B5EF4-FFF2-40B4-BE49-F238E27FC236}">
                <a16:creationId xmlns:a16="http://schemas.microsoft.com/office/drawing/2014/main" id="{63AE8408-4A3A-6445-85CA-50DA808E1E7D}"/>
              </a:ext>
            </a:extLst>
          </p:cNvPr>
          <p:cNvSpPr/>
          <p:nvPr/>
        </p:nvSpPr>
        <p:spPr>
          <a:xfrm rot="5400000">
            <a:off x="5097932" y="4020495"/>
            <a:ext cx="1355507" cy="863067"/>
          </a:xfrm>
          <a:prstGeom prst="parallelogram">
            <a:avLst>
              <a:gd name="adj" fmla="val 44398"/>
            </a:avLst>
          </a:prstGeom>
          <a:solidFill>
            <a:schemeClr val="accent3">
              <a:lumMod val="50000"/>
            </a:schemeClr>
          </a:solidFill>
          <a:ln>
            <a:solidFill>
              <a:schemeClr val="accent3"/>
            </a:solidFill>
          </a:ln>
          <a:effectLst>
            <a:innerShdw blurRad="330200" dist="381000" dir="36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26E3AA-BFAE-264C-B4C3-9DCEE417B0BE}"/>
              </a:ext>
            </a:extLst>
          </p:cNvPr>
          <p:cNvSpPr txBox="1"/>
          <p:nvPr/>
        </p:nvSpPr>
        <p:spPr>
          <a:xfrm>
            <a:off x="3795639" y="5387926"/>
            <a:ext cx="2304442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Software metric results </a:t>
            </a:r>
          </a:p>
          <a:p>
            <a:r>
              <a:rPr lang="en-US" sz="1200" b="1" dirty="0">
                <a:solidFill>
                  <a:schemeClr val="bg1"/>
                </a:solidFill>
              </a:rPr>
              <a:t>(e.g. Maintainability)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3AD1255A-0D09-EE44-9D63-4C936D2D9887}"/>
              </a:ext>
            </a:extLst>
          </p:cNvPr>
          <p:cNvSpPr/>
          <p:nvPr/>
        </p:nvSpPr>
        <p:spPr>
          <a:xfrm rot="14869025">
            <a:off x="5025208" y="4674616"/>
            <a:ext cx="964482" cy="1456519"/>
          </a:xfrm>
          <a:prstGeom prst="arc">
            <a:avLst>
              <a:gd name="adj1" fmla="val 17571897"/>
              <a:gd name="adj2" fmla="val 19555005"/>
            </a:avLst>
          </a:prstGeom>
          <a:ln w="19050">
            <a:gradFill>
              <a:gsLst>
                <a:gs pos="0">
                  <a:schemeClr val="bg1"/>
                </a:gs>
                <a:gs pos="100000">
                  <a:schemeClr val="bg1"/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2A15D27-A2E0-1544-8335-A12B0B22FA3B}"/>
              </a:ext>
            </a:extLst>
          </p:cNvPr>
          <p:cNvGrpSpPr/>
          <p:nvPr/>
        </p:nvGrpSpPr>
        <p:grpSpPr>
          <a:xfrm>
            <a:off x="4860311" y="4084788"/>
            <a:ext cx="1320198" cy="1054052"/>
            <a:chOff x="4776551" y="4119688"/>
            <a:chExt cx="1320198" cy="105405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2B95C8-BDD4-1146-9798-FC02D3B575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332" y="4464161"/>
              <a:ext cx="459417" cy="182553"/>
            </a:xfrm>
            <a:prstGeom prst="straightConnector1">
              <a:avLst/>
            </a:prstGeom>
            <a:ln w="60325">
              <a:gradFill>
                <a:gsLst>
                  <a:gs pos="0">
                    <a:schemeClr val="bg1">
                      <a:alpha val="0"/>
                    </a:schemeClr>
                  </a:gs>
                  <a:gs pos="58000">
                    <a:schemeClr val="bg1">
                      <a:alpha val="80000"/>
                    </a:schemeClr>
                  </a:gs>
                </a:gsLst>
                <a:lin ang="1800000" scaled="0"/>
              </a:gradFill>
              <a:tailEnd type="triangle"/>
            </a:ln>
            <a:scene3d>
              <a:camera prst="orthographicFront">
                <a:rot lat="0" lon="2400000" rev="21420000"/>
              </a:camera>
              <a:lightRig rig="threePt" dir="t"/>
            </a:scene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5B67A9C-8C7C-5D46-B4CC-F49A58235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76551" y="4119688"/>
              <a:ext cx="1036484" cy="1054052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A0599B3-F474-9A42-A7F7-59AB35D845A2}"/>
              </a:ext>
            </a:extLst>
          </p:cNvPr>
          <p:cNvGrpSpPr/>
          <p:nvPr/>
        </p:nvGrpSpPr>
        <p:grpSpPr>
          <a:xfrm>
            <a:off x="7229635" y="4505723"/>
            <a:ext cx="448277" cy="691525"/>
            <a:chOff x="7229635" y="4467623"/>
            <a:chExt cx="448277" cy="691525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92A3E72-8850-D84D-97D3-722AD21660DB}"/>
                </a:ext>
              </a:extLst>
            </p:cNvPr>
            <p:cNvGrpSpPr/>
            <p:nvPr/>
          </p:nvGrpSpPr>
          <p:grpSpPr>
            <a:xfrm>
              <a:off x="7229635" y="4613881"/>
              <a:ext cx="128366" cy="545267"/>
              <a:chOff x="7229635" y="4613881"/>
              <a:chExt cx="128366" cy="545267"/>
            </a:xfrm>
          </p:grpSpPr>
          <p:sp>
            <p:nvSpPr>
              <p:cNvPr id="48" name="Rounded Rectangle 47">
                <a:extLst>
                  <a:ext uri="{FF2B5EF4-FFF2-40B4-BE49-F238E27FC236}">
                    <a16:creationId xmlns:a16="http://schemas.microsoft.com/office/drawing/2014/main" id="{D25CFAC8-0AC7-C249-ADEF-A47E6C7FA912}"/>
                  </a:ext>
                </a:extLst>
              </p:cNvPr>
              <p:cNvSpPr/>
              <p:nvPr/>
            </p:nvSpPr>
            <p:spPr>
              <a:xfrm>
                <a:off x="7229635" y="4613881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4E0E835-A03D-2942-91B9-4015231D31B1}"/>
                  </a:ext>
                </a:extLst>
              </p:cNvPr>
              <p:cNvSpPr/>
              <p:nvPr/>
            </p:nvSpPr>
            <p:spPr>
              <a:xfrm>
                <a:off x="7249431" y="4665799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6868B29-3372-9040-8637-FB79DB1C4E0F}"/>
                </a:ext>
              </a:extLst>
            </p:cNvPr>
            <p:cNvGrpSpPr/>
            <p:nvPr/>
          </p:nvGrpSpPr>
          <p:grpSpPr>
            <a:xfrm>
              <a:off x="7392240" y="4542056"/>
              <a:ext cx="128366" cy="545267"/>
              <a:chOff x="7392240" y="4542056"/>
              <a:chExt cx="128366" cy="545267"/>
            </a:xfrm>
          </p:grpSpPr>
          <p:sp>
            <p:nvSpPr>
              <p:cNvPr id="71" name="Rounded Rectangle 70">
                <a:extLst>
                  <a:ext uri="{FF2B5EF4-FFF2-40B4-BE49-F238E27FC236}">
                    <a16:creationId xmlns:a16="http://schemas.microsoft.com/office/drawing/2014/main" id="{DDDA38A0-B408-7F40-93AD-512728FCFFD1}"/>
                  </a:ext>
                </a:extLst>
              </p:cNvPr>
              <p:cNvSpPr/>
              <p:nvPr/>
            </p:nvSpPr>
            <p:spPr>
              <a:xfrm>
                <a:off x="7392240" y="4542056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A866759E-9D39-F74B-A6A9-2E8B822437D6}"/>
                  </a:ext>
                </a:extLst>
              </p:cNvPr>
              <p:cNvSpPr/>
              <p:nvPr/>
            </p:nvSpPr>
            <p:spPr>
              <a:xfrm>
                <a:off x="7412036" y="4982760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469AF4C-8970-314C-86F0-CC60081B6B3A}"/>
                </a:ext>
              </a:extLst>
            </p:cNvPr>
            <p:cNvGrpSpPr/>
            <p:nvPr/>
          </p:nvGrpSpPr>
          <p:grpSpPr>
            <a:xfrm>
              <a:off x="7549546" y="4467623"/>
              <a:ext cx="128366" cy="545267"/>
              <a:chOff x="7549546" y="4467623"/>
              <a:chExt cx="128366" cy="545267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C5232F7C-1C5B-5C4B-ABFA-C7D5C7B67E90}"/>
                  </a:ext>
                </a:extLst>
              </p:cNvPr>
              <p:cNvSpPr/>
              <p:nvPr/>
            </p:nvSpPr>
            <p:spPr>
              <a:xfrm>
                <a:off x="7549546" y="4467623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0C72879-F1A8-B649-9079-79685ABC19B1}"/>
                  </a:ext>
                </a:extLst>
              </p:cNvPr>
              <p:cNvSpPr/>
              <p:nvPr/>
            </p:nvSpPr>
            <p:spPr>
              <a:xfrm>
                <a:off x="7569342" y="4656048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14330B-C56C-634D-916E-29BA18E6FC14}"/>
              </a:ext>
            </a:extLst>
          </p:cNvPr>
          <p:cNvGrpSpPr/>
          <p:nvPr/>
        </p:nvGrpSpPr>
        <p:grpSpPr>
          <a:xfrm>
            <a:off x="9361589" y="3840047"/>
            <a:ext cx="2043473" cy="587979"/>
            <a:chOff x="9361589" y="3840047"/>
            <a:chExt cx="2043473" cy="587979"/>
          </a:xfrm>
          <a:effectLst>
            <a:outerShdw blurRad="317500" sx="102000" sy="102000" algn="ctr" rotWithShape="0">
              <a:prstClr val="black">
                <a:alpha val="20000"/>
              </a:prstClr>
            </a:outerShdw>
          </a:effectLst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2BA20F0-0E5D-B34A-B308-8B0A50390FFA}"/>
                </a:ext>
              </a:extLst>
            </p:cNvPr>
            <p:cNvSpPr/>
            <p:nvPr/>
          </p:nvSpPr>
          <p:spPr>
            <a:xfrm>
              <a:off x="9363200" y="3840047"/>
              <a:ext cx="2041862" cy="587979"/>
            </a:xfrm>
            <a:prstGeom prst="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108000" rIns="108000" bIns="72000" rtlCol="0" anchor="ctr"/>
            <a:lstStyle/>
            <a:p>
              <a:pPr>
                <a:lnSpc>
                  <a:spcPct val="90000"/>
                </a:lnSpc>
              </a:pPr>
              <a:r>
                <a:rPr lang="en-US" sz="1600" dirty="0">
                  <a:solidFill>
                    <a:schemeClr val="bg1"/>
                  </a:solidFill>
                </a:rPr>
                <a:t>Development effort estimations</a:t>
              </a: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C8E6EB14-5EA5-2448-B95A-770C94B25F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9361589" y="3928713"/>
              <a:ext cx="443858" cy="377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30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9075 0.06412 L 5E-6 -3.7037E-6 " pathEditMode="relative" rAng="0" ptsTypes="AA">
                                      <p:cBhvr>
                                        <p:cTn id="6" dur="1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557" y="-321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8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1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1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46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3" grpId="0" animBg="1"/>
      <p:bldP spid="54" grpId="0"/>
      <p:bldP spid="57" grpId="0"/>
      <p:bldP spid="58" grpId="0" animBg="1"/>
      <p:bldP spid="76" grpId="0"/>
      <p:bldP spid="77" grpId="0" animBg="1"/>
      <p:bldP spid="80" grpId="0"/>
      <p:bldP spid="8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E893F2-CA5B-B942-A22D-39CA1F039D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A5F19B-C80F-4C4A-A0B5-6609A35FEB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33DD5B-84A1-9242-9A75-9ECC1786C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SYSTEM_NAME technical debt </a:t>
            </a:r>
            <a:r>
              <a:rPr lang="en-US"/>
              <a:t>is RENOVATION_EFFORT_PY person </a:t>
            </a:r>
            <a:r>
              <a:rPr lang="en-US" dirty="0"/>
              <a:t>years (RENOVATION_EFFORT_PERCENTAGE% of its volume)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8E996-F7E6-BC4B-9602-AF4F50581A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dirty="0"/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F63A9DF6-04C3-5F4C-9DBE-9F44ECD078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799" y="1368000"/>
            <a:ext cx="7825332" cy="268771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SYSTEM_NAME’s code volume totals SYSTEM_PY person years of theoretical rebuild volume</a:t>
            </a:r>
          </a:p>
          <a:p>
            <a:r>
              <a:rPr lang="en-US" dirty="0"/>
              <a:t>Maintainability is </a:t>
            </a:r>
            <a:r>
              <a:rPr lang="en-US" sz="1600" dirty="0" err="1"/>
              <a:t>MAINT_RELATIVE  </a:t>
            </a:r>
            <a:r>
              <a:rPr lang="en-US" dirty="0"/>
              <a:t>market average at </a:t>
            </a:r>
            <a:r>
              <a:rPr lang="en-US" sz="1600" dirty="0" err="1"/>
              <a:t>MAINT_RATING</a:t>
            </a:r>
            <a:r>
              <a:rPr lang="en-US" sz="1600" dirty="0"/>
              <a:t> stars (</a:t>
            </a:r>
            <a:r>
              <a:rPr lang="en-US" sz="1600" dirty="0" err="1"/>
              <a:t>MAINT_STARS</a:t>
            </a:r>
            <a:r>
              <a:rPr lang="en-US" sz="1600" dirty="0"/>
              <a:t>)</a:t>
            </a:r>
            <a:endParaRPr lang="en-US" dirty="0"/>
          </a:p>
          <a:p>
            <a:r>
              <a:rPr lang="en-US" dirty="0"/>
              <a:t>For modern systems built in common technologies, at minimum a 4-star rating is recommended to avoid unnecessary maintenance costs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MAINTENANCE_FTE FTE of development effort is recommended for maintenance alone</a:t>
            </a:r>
          </a:p>
          <a:p>
            <a:r>
              <a:rPr lang="en-US" dirty="0"/>
              <a:t>Approximately RENOVATION_EFFORT_PY person years is required to renovate the system towards the recommended 4-star level</a:t>
            </a:r>
          </a:p>
        </p:txBody>
      </p:sp>
      <p:graphicFrame>
        <p:nvGraphicFramePr>
          <p:cNvPr id="14" name="Table 10">
            <a:extLst>
              <a:ext uri="{FF2B5EF4-FFF2-40B4-BE49-F238E27FC236}">
                <a16:creationId xmlns:a16="http://schemas.microsoft.com/office/drawing/2014/main" id="{FC47E74D-88F5-294E-846C-4D3E796F6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7082069"/>
              </p:ext>
            </p:extLst>
          </p:nvPr>
        </p:nvGraphicFramePr>
        <p:xfrm>
          <a:off x="514374" y="4679176"/>
          <a:ext cx="7567186" cy="1354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1907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6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831">
                  <a:extLst>
                    <a:ext uri="{9D8B030D-6E8A-4147-A177-3AD203B41FA5}">
                      <a16:colId xmlns:a16="http://schemas.microsoft.com/office/drawing/2014/main" val="3876865189"/>
                    </a:ext>
                  </a:extLst>
                </a:gridCol>
                <a:gridCol w="1237121">
                  <a:extLst>
                    <a:ext uri="{9D8B030D-6E8A-4147-A177-3AD203B41FA5}">
                      <a16:colId xmlns:a16="http://schemas.microsoft.com/office/drawing/2014/main" val="705789028"/>
                    </a:ext>
                  </a:extLst>
                </a:gridCol>
                <a:gridCol w="1074543">
                  <a:extLst>
                    <a:ext uri="{9D8B030D-6E8A-4147-A177-3AD203B41FA5}">
                      <a16:colId xmlns:a16="http://schemas.microsoft.com/office/drawing/2014/main" val="1497910350"/>
                    </a:ext>
                  </a:extLst>
                </a:gridCol>
                <a:gridCol w="11558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Cost estimation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73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Code volume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Technical debt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lt"/>
                          <a:cs typeface="TheSans B4 SemiLight"/>
                        </a:rPr>
                        <a:t>Projected maintenance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Available capacity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73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Innovation capacity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732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SYSTEM_NAME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2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noProof="0" dirty="0">
                          <a:solidFill>
                            <a:schemeClr val="accent1"/>
                          </a:solidFill>
                          <a:effectLst/>
                          <a:latin typeface="Calibri Regular"/>
                        </a:rPr>
                        <a:t>SYSTEM_PY </a:t>
                      </a:r>
                      <a:r>
                        <a:rPr lang="en-US" sz="1400" b="0" i="0" u="none" strike="noStrike" noProof="0" dirty="0" err="1">
                          <a:solidFill>
                            <a:schemeClr val="accent1"/>
                          </a:solidFill>
                          <a:effectLst/>
                          <a:latin typeface="Calibri Regular"/>
                        </a:rPr>
                        <a:t>PY</a:t>
                      </a:r>
                      <a:endParaRPr lang="en-US" sz="1400" b="0" i="0" u="none" strike="noStrike" noProof="0" dirty="0">
                        <a:solidFill>
                          <a:schemeClr val="accent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 Regular"/>
                        </a:rPr>
                        <a:t>RENOVATION_EFFORT PY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F6F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noProof="0" dirty="0">
                          <a:solidFill>
                            <a:schemeClr val="accent1"/>
                          </a:solidFill>
                          <a:effectLst/>
                          <a:latin typeface="Calibri Regular"/>
                        </a:rPr>
                        <a:t>MAINTENANCE_FTE FTE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@@ FTE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noProof="0" dirty="0">
                          <a:solidFill>
                            <a:srgbClr val="00B050"/>
                          </a:solidFill>
                          <a:effectLst/>
                          <a:latin typeface="Calibri Regular"/>
                        </a:rPr>
                        <a:t>@@ FTE (@@%)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68337941-C14C-4B4A-AA66-0226BE210508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568557-E759-D54B-A1F3-092F643F4045}"/>
              </a:ext>
            </a:extLst>
          </p:cNvPr>
          <p:cNvCxnSpPr>
            <a:cxnSpLocks/>
          </p:cNvCxnSpPr>
          <p:nvPr/>
        </p:nvCxnSpPr>
        <p:spPr>
          <a:xfrm>
            <a:off x="8460712" y="1488580"/>
            <a:ext cx="0" cy="4711252"/>
          </a:xfrm>
          <a:prstGeom prst="line">
            <a:avLst/>
          </a:prstGeom>
          <a:ln w="1905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51">
            <a:extLst>
              <a:ext uri="{FF2B5EF4-FFF2-40B4-BE49-F238E27FC236}">
                <a16:creationId xmlns:a16="http://schemas.microsoft.com/office/drawing/2014/main" id="{2778901A-00D8-3847-B807-BCCB71A2C123}"/>
              </a:ext>
            </a:extLst>
          </p:cNvPr>
          <p:cNvSpPr/>
          <p:nvPr/>
        </p:nvSpPr>
        <p:spPr>
          <a:xfrm>
            <a:off x="8581292" y="1754372"/>
            <a:ext cx="3041878" cy="451342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28600" indent="-219075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chemeClr val="tx1"/>
                </a:solidFill>
              </a:rPr>
              <a:t>Code volume </a:t>
            </a:r>
            <a:r>
              <a:rPr lang="en-US" sz="1200" dirty="0">
                <a:solidFill>
                  <a:schemeClr val="accent1"/>
                </a:solidFill>
              </a:rPr>
              <a:t>is the estimated amount of development effort to produce the current amount of lines of code.</a:t>
            </a:r>
          </a:p>
          <a:p>
            <a:pPr marL="228600" indent="-22860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chemeClr val="accent3"/>
                </a:solidFill>
              </a:rPr>
              <a:t>Technical debt</a:t>
            </a:r>
            <a:r>
              <a:rPr lang="en-US" sz="1200" dirty="0">
                <a:solidFill>
                  <a:schemeClr val="accent3"/>
                </a:solidFill>
              </a:rPr>
              <a:t> </a:t>
            </a:r>
            <a:r>
              <a:rPr lang="en-US" sz="1200" dirty="0">
                <a:solidFill>
                  <a:schemeClr val="accent1"/>
                </a:solidFill>
              </a:rPr>
              <a:t>is the estimated amount of development effort to improve the quality of the system to ★★★★☆ (3.5) maintainability rating.</a:t>
            </a:r>
            <a:endParaRPr lang="en-US" sz="1200" b="1" dirty="0">
              <a:solidFill>
                <a:schemeClr val="accent1"/>
              </a:solidFill>
            </a:endParaRPr>
          </a:p>
          <a:p>
            <a:pPr marL="228600" indent="-22860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dirty="0">
                <a:solidFill>
                  <a:schemeClr val="accent1"/>
                </a:solidFill>
              </a:rPr>
              <a:t>The yearly </a:t>
            </a:r>
            <a:r>
              <a:rPr lang="en-US" sz="1200" b="1" dirty="0">
                <a:solidFill>
                  <a:schemeClr val="accent6">
                    <a:lumMod val="50000"/>
                  </a:schemeClr>
                </a:solidFill>
              </a:rPr>
              <a:t>Projected maintenance </a:t>
            </a:r>
            <a:r>
              <a:rPr lang="en-US" sz="1200" dirty="0">
                <a:solidFill>
                  <a:schemeClr val="accent1"/>
                </a:solidFill>
              </a:rPr>
              <a:t>is calculated using the code volume and quality. It assumes an annual 15% required change rate in the code base. This change is meant for reactive (bug fixes) and proactive (quality improvement) maintenance. </a:t>
            </a:r>
            <a:r>
              <a:rPr lang="en-US" sz="1200" b="1" dirty="0">
                <a:solidFill>
                  <a:schemeClr val="accent1"/>
                </a:solidFill>
              </a:rPr>
              <a:t>Spending less effort is likely to deteriorate the maintainability.</a:t>
            </a:r>
          </a:p>
          <a:p>
            <a:pPr marL="228600" indent="-22860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chemeClr val="accent1"/>
                </a:solidFill>
              </a:rPr>
              <a:t>Available capacity </a:t>
            </a:r>
            <a:r>
              <a:rPr lang="en-US" sz="1200" dirty="0">
                <a:solidFill>
                  <a:schemeClr val="accent1"/>
                </a:solidFill>
              </a:rPr>
              <a:t>is the currently available full-time equivalent number of developers.</a:t>
            </a:r>
          </a:p>
          <a:p>
            <a:pPr marL="228600" indent="-22860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chemeClr val="accent1"/>
                </a:solidFill>
              </a:rPr>
              <a:t>Innovation capacity </a:t>
            </a:r>
            <a:r>
              <a:rPr lang="en-US" sz="1200" dirty="0">
                <a:solidFill>
                  <a:schemeClr val="accent1"/>
                </a:solidFill>
              </a:rPr>
              <a:t>is the number of FTE available for innovation, calculated by subtracting projected FTE from the available FTE</a:t>
            </a:r>
          </a:p>
          <a:p>
            <a:pPr marL="285750" indent="-285750">
              <a:buClr>
                <a:schemeClr val="tx1">
                  <a:lumMod val="50000"/>
                  <a:lumOff val="50000"/>
                </a:schemeClr>
              </a:buClr>
              <a:buFont typeface=".AppleSystemUIFont"/>
              <a:buChar char="&gt;"/>
            </a:pP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612DED-1DF5-044A-9D08-E204549758DB}"/>
              </a:ext>
            </a:extLst>
          </p:cNvPr>
          <p:cNvSpPr txBox="1"/>
          <p:nvPr/>
        </p:nvSpPr>
        <p:spPr>
          <a:xfrm>
            <a:off x="8581292" y="1360835"/>
            <a:ext cx="123625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Terminology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E5DB2B5-CA8D-7243-9A07-B90864A731BE}"/>
              </a:ext>
            </a:extLst>
          </p:cNvPr>
          <p:cNvCxnSpPr>
            <a:cxnSpLocks/>
          </p:cNvCxnSpPr>
          <p:nvPr/>
        </p:nvCxnSpPr>
        <p:spPr>
          <a:xfrm>
            <a:off x="8709628" y="1865347"/>
            <a:ext cx="0" cy="414914"/>
          </a:xfrm>
          <a:prstGeom prst="line">
            <a:avLst/>
          </a:prstGeom>
          <a:ln w="63500" cap="rnd">
            <a:solidFill>
              <a:srgbClr val="B3BECD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1465529-16D8-3647-9041-AED520AE52E9}"/>
              </a:ext>
            </a:extLst>
          </p:cNvPr>
          <p:cNvCxnSpPr>
            <a:cxnSpLocks/>
          </p:cNvCxnSpPr>
          <p:nvPr/>
        </p:nvCxnSpPr>
        <p:spPr>
          <a:xfrm>
            <a:off x="8709628" y="2569320"/>
            <a:ext cx="0" cy="608059"/>
          </a:xfrm>
          <a:prstGeom prst="line">
            <a:avLst/>
          </a:prstGeom>
          <a:ln w="63500" cap="rnd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9893527-B474-6049-85A0-60869B0EDBC1}"/>
              </a:ext>
            </a:extLst>
          </p:cNvPr>
          <p:cNvCxnSpPr>
            <a:cxnSpLocks/>
          </p:cNvCxnSpPr>
          <p:nvPr/>
        </p:nvCxnSpPr>
        <p:spPr>
          <a:xfrm>
            <a:off x="8709628" y="3453112"/>
            <a:ext cx="0" cy="1347488"/>
          </a:xfrm>
          <a:prstGeom prst="line">
            <a:avLst/>
          </a:prstGeom>
          <a:ln w="63500" cap="rnd">
            <a:solidFill>
              <a:srgbClr val="F8C74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6515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22591</TotalTime>
  <Words>383</Words>
  <Application>Microsoft Macintosh PowerPoint</Application>
  <PresentationFormat>Widescreen</PresentationFormat>
  <Paragraphs>47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.AppleSystemUIFont</vt:lpstr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PowerPoint Presentation</vt:lpstr>
      <vt:lpstr>The Cost Estimation model combines Sigrid analysis results with SIG benchmarks</vt:lpstr>
      <vt:lpstr>SYSTEM_NAME technical debt is RENOVATION_EFFORT_PY person years (RENOVATION_EFFORT_PERCENTAGE% of its volume)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Maxim Janssen</cp:lastModifiedBy>
  <cp:revision>145</cp:revision>
  <cp:lastPrinted>2020-07-02T15:41:27Z</cp:lastPrinted>
  <dcterms:created xsi:type="dcterms:W3CDTF">2024-01-03T15:04:34Z</dcterms:created>
  <dcterms:modified xsi:type="dcterms:W3CDTF">2026-02-23T15:50:45Z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