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4" r:id="rId5"/>
  </p:sldMasterIdLst>
  <p:notesMasterIdLst>
    <p:notesMasterId r:id="rId23"/>
  </p:notesMasterIdLst>
  <p:handoutMasterIdLst>
    <p:handoutMasterId r:id="rId24"/>
  </p:handoutMasterIdLst>
  <p:sldIdLst>
    <p:sldId id="1973" r:id="rId6"/>
    <p:sldId id="11390" r:id="rId7"/>
    <p:sldId id="11393" r:id="rId8"/>
    <p:sldId id="11424" r:id="rId9"/>
    <p:sldId id="11426" r:id="rId10"/>
    <p:sldId id="11427" r:id="rId11"/>
    <p:sldId id="11428" r:id="rId12"/>
    <p:sldId id="10749" r:id="rId13"/>
    <p:sldId id="10753" r:id="rId14"/>
    <p:sldId id="11429" r:id="rId15"/>
    <p:sldId id="11371" r:id="rId16"/>
    <p:sldId id="1824" r:id="rId17"/>
    <p:sldId id="11405" r:id="rId18"/>
    <p:sldId id="11402" r:id="rId19"/>
    <p:sldId id="11376" r:id="rId20"/>
    <p:sldId id="11284" r:id="rId21"/>
    <p:sldId id="113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498"/>
    <p:restoredTop sz="96763"/>
  </p:normalViewPr>
  <p:slideViewPr>
    <p:cSldViewPr snapToGrid="0" snapToObjects="1" showGuides="1">
      <p:cViewPr varScale="1">
        <p:scale>
          <a:sx n="127" d="100"/>
          <a:sy n="127" d="100"/>
        </p:scale>
        <p:origin x="920"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chemeClr val="accent2">
                <a:shade val="76000"/>
              </a:schemeClr>
            </a:solidFill>
            <a:ln w="19050">
              <a:noFill/>
            </a:ln>
            <a:effectLst>
              <a:outerShdw blurRad="241300" dist="38100" dir="2700000" algn="tl" rotWithShape="0">
                <a:prstClr val="black">
                  <a:alpha val="15000"/>
                </a:prstClr>
              </a:outerShdw>
            </a:effectLst>
          </c:spPr>
          <c:invertIfNegative val="0"/>
          <c:dPt>
            <c:idx val="0"/>
            <c:invertIfNegative val="0"/>
            <c:bubble3D val="0"/>
            <c:explosion val="6"/>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0-7C96-CF4F-94AD-E08A5CD6D25E}"/>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Sheet1!$B$2:$B$11</c:f>
              <c:numCache>
                <c:formatCode>General</c:formatCode>
                <c:ptCount val="10"/>
                <c:pt idx="0">
                  <c:v>50</c:v>
                </c:pt>
                <c:pt idx="1">
                  <c:v>50</c:v>
                </c:pt>
                <c:pt idx="2">
                  <c:v>50</c:v>
                </c:pt>
                <c:pt idx="3">
                  <c:v>50</c:v>
                </c:pt>
                <c:pt idx="4">
                  <c:v>50</c:v>
                </c:pt>
                <c:pt idx="5">
                  <c:v>50</c:v>
                </c:pt>
                <c:pt idx="6">
                  <c:v>50</c:v>
                </c:pt>
                <c:pt idx="7">
                  <c:v>50</c:v>
                </c:pt>
                <c:pt idx="8">
                  <c:v>50</c:v>
                </c:pt>
                <c:pt idx="9">
                  <c:v>50</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7C96-CF4F-94AD-E08A5CD6D25E}"/>
            </c:ext>
          </c:extLst>
        </c:ser>
        <c:ser>
          <c:idx val="1"/>
          <c:order val="1"/>
          <c:tx>
            <c:strRef>
              <c:f>Sheet1!$C$1</c:f>
              <c:strCache>
                <c:ptCount val="1"/>
                <c:pt idx="0">
                  <c:v>Percentage of portfolio</c:v>
                </c:pt>
              </c:strCache>
            </c:strRef>
          </c:tx>
          <c:spPr>
            <a:solidFill>
              <a:schemeClr val="accent3">
                <a:lumMod val="60000"/>
                <a:lumOff val="40000"/>
              </a:schemeClr>
            </a:solidFill>
            <a:ln w="19050">
              <a:noFill/>
            </a:ln>
            <a:effectLst/>
          </c:spPr>
          <c:invertIfNegative val="0"/>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Sheet1!$C$2:$C$11</c:f>
              <c:numCache>
                <c:formatCode>General</c:formatCode>
                <c:ptCount val="10"/>
                <c:pt idx="0">
                  <c:v>50</c:v>
                </c:pt>
                <c:pt idx="1">
                  <c:v>50</c:v>
                </c:pt>
                <c:pt idx="2">
                  <c:v>50</c:v>
                </c:pt>
                <c:pt idx="3">
                  <c:v>50</c:v>
                </c:pt>
                <c:pt idx="4">
                  <c:v>50</c:v>
                </c:pt>
                <c:pt idx="5">
                  <c:v>50</c:v>
                </c:pt>
                <c:pt idx="6">
                  <c:v>50</c:v>
                </c:pt>
                <c:pt idx="7">
                  <c:v>50</c:v>
                </c:pt>
                <c:pt idx="8">
                  <c:v>50</c:v>
                </c:pt>
                <c:pt idx="9">
                  <c:v>50</c:v>
                </c:pt>
              </c:numCache>
            </c:numRef>
          </c:val>
          <c:extLst>
            <c:ext xmlns:c16="http://schemas.microsoft.com/office/drawing/2014/chart" uri="{C3380CC4-5D6E-409C-BE32-E72D297353CC}">
              <c16:uniqueId val="{00000002-7C96-CF4F-94AD-E08A5CD6D25E}"/>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Systems</c:v>
                </c:pt>
              </c:strCache>
            </c:strRef>
          </c:tx>
          <c:spPr>
            <a:solidFill>
              <a:schemeClr val="accent1"/>
            </a:solidFill>
            <a:ln>
              <a:noFill/>
            </a:ln>
            <a:effectLst/>
          </c:spPr>
          <c:invertIfNegative val="0"/>
          <c:dLbls>
            <c:spPr>
              <a:solidFill>
                <a:schemeClr val="bg1"/>
              </a:solidFill>
              <a:ln w="12700">
                <a:solidFill>
                  <a:schemeClr val="accent1"/>
                </a:solid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Total</c:v>
                </c:pt>
                <c:pt idx="1">
                  <c:v>All Capabilities</c:v>
                </c:pt>
                <c:pt idx="2">
                  <c:v>Architecture Quality</c:v>
                </c:pt>
                <c:pt idx="3">
                  <c:v>Maintainability</c:v>
                </c:pt>
                <c:pt idx="4">
                  <c:v>Open Source Health</c:v>
                </c:pt>
                <c:pt idx="5">
                  <c:v>Security</c:v>
                </c:pt>
              </c:strCache>
            </c:strRef>
          </c:cat>
          <c:val>
            <c:numRef>
              <c:f>Sheet1!$B$2:$B$7</c:f>
              <c:numCache>
                <c:formatCode>General</c:formatCode>
                <c:ptCount val="6"/>
                <c:pt idx="0">
                  <c:v>100</c:v>
                </c:pt>
                <c:pt idx="1">
                  <c:v>20</c:v>
                </c:pt>
                <c:pt idx="2">
                  <c:v>20</c:v>
                </c:pt>
                <c:pt idx="3">
                  <c:v>20</c:v>
                </c:pt>
                <c:pt idx="4">
                  <c:v>20</c:v>
                </c:pt>
                <c:pt idx="5">
                  <c:v>20</c:v>
                </c:pt>
              </c:numCache>
            </c:numRef>
          </c:val>
          <c:extLst>
            <c:ext xmlns:c16="http://schemas.microsoft.com/office/drawing/2014/chart" uri="{C3380CC4-5D6E-409C-BE32-E72D297353CC}">
              <c16:uniqueId val="{00000000-EA26-474B-919E-22DA88E63ED1}"/>
            </c:ext>
          </c:extLst>
        </c:ser>
        <c:dLbls>
          <c:showLegendKey val="0"/>
          <c:showVal val="0"/>
          <c:showCatName val="0"/>
          <c:showSerName val="0"/>
          <c:showPercent val="0"/>
          <c:showBubbleSize val="0"/>
        </c:dLbls>
        <c:gapWidth val="219"/>
        <c:overlap val="-27"/>
        <c:axId val="59297280"/>
        <c:axId val="2146427199"/>
      </c:barChart>
      <c:catAx>
        <c:axId val="59297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146427199"/>
        <c:crosses val="autoZero"/>
        <c:auto val="1"/>
        <c:lblAlgn val="ctr"/>
        <c:lblOffset val="100"/>
        <c:noMultiLvlLbl val="0"/>
      </c:catAx>
      <c:valAx>
        <c:axId val="21464271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59297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dLbls>
            <c:dLbl>
              <c:idx val="0"/>
              <c:tx>
                <c:rich>
                  <a:bodyPr/>
                  <a:lstStyle/>
                  <a:p>
                    <a:fld id="{01A5FE6A-D37A-834F-B8C5-870900F9D163}" type="VALUE">
                      <a:rPr lang="en-US" sz="1400" b="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147-E74A-AA7B-5531F0E4EE0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Sheet1!$B$2</c:f>
              <c:numCache>
                <c:formatCode>0.0</c:formatCode>
                <c:ptCount val="1"/>
                <c:pt idx="0">
                  <c:v>0.5</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dLbls>
            <c:dLbl>
              <c:idx val="0"/>
              <c:tx>
                <c:rich>
                  <a:bodyPr/>
                  <a:lstStyle/>
                  <a:p>
                    <a:fld id="{1A15AB0D-C73F-2F4E-B068-1138B91CEB95}"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Sheet1!$C$2</c:f>
              <c:numCache>
                <c:formatCode>0.0</c:formatCode>
                <c:ptCount val="1"/>
                <c:pt idx="0">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Worsened</c:v>
                </c:pt>
              </c:strCache>
            </c:strRef>
          </c:tx>
          <c:spPr>
            <a:solidFill>
              <a:srgbClr val="F06241"/>
            </a:solidFill>
            <a:ln w="19050">
              <a:noFill/>
            </a:ln>
            <a:effectLst/>
          </c:spPr>
          <c:invertIfNegative val="0"/>
          <c:dLbls>
            <c:dLbl>
              <c:idx val="0"/>
              <c:tx>
                <c:rich>
                  <a:bodyPr/>
                  <a:lstStyle/>
                  <a:p>
                    <a:fld id="{834D244C-CE32-A046-8143-A59D5CA86E7E}"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Sheet1!$D$2</c:f>
              <c:numCache>
                <c:formatCode>General</c:formatCode>
                <c:ptCount val="1"/>
                <c:pt idx="0">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Unchanged</c:v>
                </c:pt>
              </c:strCache>
            </c:strRef>
          </c:tx>
          <c:spPr>
            <a:solidFill>
              <a:srgbClr val="BFC4D0"/>
            </a:solidFill>
            <a:ln w="19050">
              <a:noFill/>
            </a:ln>
            <a:effectLst/>
          </c:spPr>
          <c:invertIfNegative val="0"/>
          <c:dLbls>
            <c:delete val="1"/>
          </c:dLbls>
          <c:cat>
            <c:strRef>
              <c:f>Sheet1!$A$2</c:f>
              <c:strCache>
                <c:ptCount val="1"/>
                <c:pt idx="0">
                  <c:v>Overall</c:v>
                </c:pt>
              </c:strCache>
            </c:strRef>
          </c:cat>
          <c:val>
            <c:numRef>
              <c:f>Sheet1!$E$2</c:f>
              <c:numCache>
                <c:formatCode>General</c:formatCode>
                <c:ptCount val="1"/>
                <c:pt idx="0">
                  <c:v>0.5</c:v>
                </c:pt>
              </c:numCache>
            </c:numRef>
          </c:val>
          <c:extLst>
            <c:ext xmlns:c16="http://schemas.microsoft.com/office/drawing/2014/chart" uri="{C3380CC4-5D6E-409C-BE32-E72D297353CC}">
              <c16:uniqueId val="{00000005-6147-E74A-AA7B-5531F0E4EE0C}"/>
            </c:ext>
          </c:extLst>
        </c:ser>
        <c:dLbls>
          <c:dLblPos val="ctr"/>
          <c:showLegendKey val="0"/>
          <c:showVal val="1"/>
          <c:showCatName val="0"/>
          <c:showSerName val="0"/>
          <c:showPercent val="0"/>
          <c:showBubbleSize val="0"/>
        </c:dLbls>
        <c:gapWidth val="20"/>
        <c:overlap val="100"/>
        <c:axId val="476387520"/>
        <c:axId val="477616192"/>
      </c:barChart>
      <c:catAx>
        <c:axId val="476387520"/>
        <c:scaling>
          <c:orientation val="minMax"/>
        </c:scaling>
        <c:delete val="1"/>
        <c:axPos val="l"/>
        <c:numFmt formatCode="General" sourceLinked="1"/>
        <c:majorTickMark val="out"/>
        <c:minorTickMark val="none"/>
        <c:tickLblPos val="nextTo"/>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Sheet1!$B$2:$B$11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Sheet1!$C$2:$C$11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Worsened</c:v>
                </c:pt>
              </c:strCache>
            </c:strRef>
          </c:tx>
          <c:spPr>
            <a:solidFill>
              <a:srgbClr val="F06241"/>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Sheet1!$D$2:$D$11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Unchanged</c:v>
                </c:pt>
              </c:strCache>
            </c:strRef>
          </c:tx>
          <c:spPr>
            <a:solidFill>
              <a:srgbClr val="BFC4D0"/>
            </a:solidFill>
            <a:ln w="19050">
              <a:noFill/>
            </a:ln>
            <a:effectLst/>
          </c:spPr>
          <c:invertIfNegative val="0"/>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Sheet1!$E$2:$E$11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5-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Maintainability rating</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fld id="{C33DFA4A-CA17-7444-8E48-2C4EB087B744}"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B86A-D14B-85E9-B8DEC18B60F7}"/>
                </c:ext>
              </c:extLst>
            </c:dLbl>
            <c:dLbl>
              <c:idx val="1"/>
              <c:tx>
                <c:rich>
                  <a:bodyPr/>
                  <a:lstStyle/>
                  <a:p>
                    <a:fld id="{8C2E86CF-6D2C-EC4A-AD8D-5A95FB28F02D}"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E2E4-0547-BD87-A6B50BFB06ED}"/>
                </c:ext>
              </c:extLst>
            </c:dLbl>
            <c:dLbl>
              <c:idx val="2"/>
              <c:tx>
                <c:rich>
                  <a:bodyPr/>
                  <a:lstStyle/>
                  <a:p>
                    <a:fld id="{F27EA543-7767-6449-A30C-5144DBF72784}"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E2E4-0547-BD87-A6B50BFB06ED}"/>
                </c:ext>
              </c:extLst>
            </c:dLbl>
            <c:dLbl>
              <c:idx val="3"/>
              <c:layout>
                <c:manualLayout>
                  <c:x val="-2.3413399101154898E-2"/>
                  <c:y val="-4.5616973413873718E-2"/>
                </c:manualLayout>
              </c:layout>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dLbl>
              <c:idx val="4"/>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2-E2E4-0547-BD87-A6B50BFB06ED}"/>
                </c:ext>
              </c:extLst>
            </c:dLbl>
            <c:dLbl>
              <c:idx val="5"/>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3-E2E4-0547-BD87-A6B50BFB06ED}"/>
                </c:ext>
              </c:extLst>
            </c:dLbl>
            <c:dLbl>
              <c:idx val="6"/>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4-E2E4-0547-BD87-A6B50BFB06ED}"/>
                </c:ext>
              </c:extLst>
            </c:dLbl>
            <c:dLbl>
              <c:idx val="7"/>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5-E2E4-0547-BD87-A6B50BFB06ED}"/>
                </c:ext>
              </c:extLst>
            </c:dLbl>
            <c:dLbl>
              <c:idx val="8"/>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6-E2E4-0547-BD87-A6B50BFB06ED}"/>
                </c:ext>
              </c:extLst>
            </c:dLbl>
            <c:dLbl>
              <c:idx val="9"/>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7-E2E4-0547-BD87-A6B50BFB06ED}"/>
                </c:ext>
              </c:extLst>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0"/>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Sheet1!$A$2:$A$11</c:f>
              <c:numCache>
                <c:formatCode>General</c:formatCode>
                <c:ptCount val="10"/>
                <c:pt idx="0">
                  <c:v>35</c:v>
                </c:pt>
                <c:pt idx="1">
                  <c:v>12</c:v>
                </c:pt>
                <c:pt idx="2">
                  <c:v>15</c:v>
                </c:pt>
              </c:numCache>
            </c:numRef>
          </c:xVal>
          <c:yVal>
            <c:numRef>
              <c:f>Sheet1!$B$2:$B$11</c:f>
              <c:numCache>
                <c:formatCode>General</c:formatCode>
                <c:ptCount val="10"/>
                <c:pt idx="0">
                  <c:v>2</c:v>
                </c:pt>
                <c:pt idx="1">
                  <c:v>3</c:v>
                </c:pt>
                <c:pt idx="2">
                  <c:v>2.5</c:v>
                </c:pt>
              </c:numCache>
            </c:numRef>
          </c:yVal>
          <c:smooth val="0"/>
          <c:extLst>
            <c:ext xmlns:c15="http://schemas.microsoft.com/office/drawing/2012/chart" uri="{02D57815-91ED-43cb-92C2-25804820EDAC}">
              <c15:datalabelsRange>
                <c15:f>Sheet1!$C$2:$C$11</c15:f>
                <c15:dlblRangeCache>
                  <c:ptCount val="10"/>
                  <c:pt idx="0">
                    <c:v>System 1</c:v>
                  </c:pt>
                  <c:pt idx="1">
                    <c:v>System 2</c:v>
                  </c:pt>
                  <c:pt idx="2">
                    <c:v>System 3</c:v>
                  </c:pt>
                </c15:dlblRangeCache>
              </c15:datalabelsRange>
            </c:ext>
            <c:ext xmlns:c16="http://schemas.microsoft.com/office/drawing/2014/chart" uri="{C3380CC4-5D6E-409C-BE32-E72D297353CC}">
              <c16:uniqueId val="{00000003-B86A-D14B-85E9-B8DEC18B60F7}"/>
            </c:ext>
          </c:extLst>
        </c:ser>
        <c:ser>
          <c:idx val="1"/>
          <c:order val="1"/>
          <c:tx>
            <c:strRef>
              <c:f>Sheet1!$C$1</c:f>
              <c:strCache>
                <c:ptCount val="1"/>
                <c:pt idx="0">
                  <c:v>System name</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Sheet1!$A$2:$A$11</c:f>
              <c:numCache>
                <c:formatCode>General</c:formatCode>
                <c:ptCount val="10"/>
                <c:pt idx="0">
                  <c:v>35</c:v>
                </c:pt>
                <c:pt idx="1">
                  <c:v>12</c:v>
                </c:pt>
                <c:pt idx="2">
                  <c:v>15</c:v>
                </c:pt>
              </c:numCache>
            </c:numRef>
          </c:xVal>
          <c:yVal>
            <c:numRef>
              <c:f>Sheet1!$C$2:$C$11</c:f>
              <c:numCache>
                <c:formatCode>General</c:formatCode>
                <c:ptCount val="10"/>
                <c:pt idx="0">
                  <c:v>0</c:v>
                </c:pt>
                <c:pt idx="1">
                  <c:v>0</c:v>
                </c:pt>
                <c:pt idx="2">
                  <c:v>0</c:v>
                </c:pt>
              </c:numCache>
            </c:numRef>
          </c:yVal>
          <c:smooth val="0"/>
          <c:extLst>
            <c:ext xmlns:c16="http://schemas.microsoft.com/office/drawing/2014/chart" uri="{C3380CC4-5D6E-409C-BE32-E72D297353CC}">
              <c16:uniqueId val="{00000004-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numCache>
            </c:numRef>
          </c:val>
          <c:extLst>
            <c:ext xmlns:c16="http://schemas.microsoft.com/office/drawing/2014/chart" uri="{C3380CC4-5D6E-409C-BE32-E72D297353CC}">
              <c16:uniqueId val="{00000000-983E-B549-A770-4B561453C6BF}"/>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983E-B549-A770-4B561453C6BF}"/>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983E-B549-A770-4B561453C6BF}"/>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983E-B549-A770-4B561453C6BF}"/>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983E-B549-A770-4B561453C6BF}"/>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numCache>
            </c:numRef>
          </c:val>
          <c:extLst>
            <c:ext xmlns:c16="http://schemas.microsoft.com/office/drawing/2014/chart" uri="{C3380CC4-5D6E-409C-BE32-E72D297353CC}">
              <c16:uniqueId val="{00000009-983E-B549-A770-4B561453C6BF}"/>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983E-B549-A770-4B561453C6BF}"/>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983E-B549-A770-4B561453C6BF}"/>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numCache>
            </c:numRef>
          </c:val>
          <c:extLst>
            <c:ext xmlns:c16="http://schemas.microsoft.com/office/drawing/2014/chart" uri="{C3380CC4-5D6E-409C-BE32-E72D297353CC}">
              <c16:uniqueId val="{0000000E-983E-B549-A770-4B561453C6BF}"/>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numCache>
            </c:numRef>
          </c:val>
          <c:extLst>
            <c:ext xmlns:c16="http://schemas.microsoft.com/office/drawing/2014/chart" uri="{C3380CC4-5D6E-409C-BE32-E72D297353CC}">
              <c16:uniqueId val="{0000000F-983E-B549-A770-4B561453C6BF}"/>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190.0000000000005"/>
          <c:min val="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9604363196085568"/>
          <c:w val="1"/>
          <c:h val="6.86886807385664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numCache>
            </c:numRef>
          </c:val>
          <c:extLst>
            <c:ext xmlns:c16="http://schemas.microsoft.com/office/drawing/2014/chart" uri="{C3380CC4-5D6E-409C-BE32-E72D297353CC}">
              <c16:uniqueId val="{00000000-6308-9C42-B1E9-65C8973ABF79}"/>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6308-9C42-B1E9-65C8973ABF79}"/>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6308-9C42-B1E9-65C8973ABF79}"/>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6308-9C42-B1E9-65C8973ABF79}"/>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6308-9C42-B1E9-65C8973ABF79}"/>
              </c:ext>
            </c:extLst>
          </c:dPt>
          <c:cat>
            <c:strRef>
              <c:f>Sheet1!$A$2:$A$3</c:f>
              <c:strCache>
                <c:ptCount val="2"/>
                <c:pt idx="0">
                  <c:v>Vulnerability risk</c:v>
                </c:pt>
                <c:pt idx="1">
                  <c:v>Legal risk</c:v>
                </c:pt>
              </c:strCache>
            </c:strRef>
          </c:cat>
          <c:val>
            <c:numRef>
              <c:f>Sheet1!$C$2:$C$3</c:f>
              <c:numCache>
                <c:formatCode>General</c:formatCode>
                <c:ptCount val="2"/>
              </c:numCache>
            </c:numRef>
          </c:val>
          <c:extLst>
            <c:ext xmlns:c16="http://schemas.microsoft.com/office/drawing/2014/chart" uri="{C3380CC4-5D6E-409C-BE32-E72D297353CC}">
              <c16:uniqueId val="{00000009-6308-9C42-B1E9-65C8973ABF79}"/>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6308-9C42-B1E9-65C8973ABF79}"/>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6308-9C42-B1E9-65C8973ABF79}"/>
              </c:ext>
            </c:extLst>
          </c:dPt>
          <c:cat>
            <c:strRef>
              <c:f>Sheet1!$A$2:$A$3</c:f>
              <c:strCache>
                <c:ptCount val="2"/>
                <c:pt idx="0">
                  <c:v>Vulnerability risk</c:v>
                </c:pt>
                <c:pt idx="1">
                  <c:v>Legal risk</c:v>
                </c:pt>
              </c:strCache>
            </c:strRef>
          </c:cat>
          <c:val>
            <c:numRef>
              <c:f>Sheet1!$D$2:$D$3</c:f>
              <c:numCache>
                <c:formatCode>General</c:formatCode>
                <c:ptCount val="2"/>
              </c:numCache>
            </c:numRef>
          </c:val>
          <c:extLst>
            <c:ext xmlns:c16="http://schemas.microsoft.com/office/drawing/2014/chart" uri="{C3380CC4-5D6E-409C-BE32-E72D297353CC}">
              <c16:uniqueId val="{0000000E-6308-9C42-B1E9-65C8973ABF79}"/>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numCache>
            </c:numRef>
          </c:val>
          <c:extLst>
            <c:ext xmlns:c16="http://schemas.microsoft.com/office/drawing/2014/chart" uri="{C3380CC4-5D6E-409C-BE32-E72D297353CC}">
              <c16:uniqueId val="{0000000F-6308-9C42-B1E9-65C8973ABF79}"/>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190.0000000000005"/>
          <c:min val="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5/19/26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5/19/26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D2F1-F27E-F008-D28F-A80C65A79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FE20B-AC68-A715-1904-A8997A740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90C4E-EA51-177C-42BA-46AF20D0BD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9E6F7B-6012-765E-DCF5-2558BB00D944}"/>
              </a:ext>
            </a:extLst>
          </p:cNvPr>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18632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507022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12</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20572372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
        <p:nvSpPr>
          <p:cNvPr id="5" name="Footer Placeholder 5">
            <a:extLst>
              <a:ext uri="{FF2B5EF4-FFF2-40B4-BE49-F238E27FC236}">
                <a16:creationId xmlns:a16="http://schemas.microsoft.com/office/drawing/2014/main" id="{B0C0C93F-2FEA-2A95-D1EB-F56E5131AF3B}"/>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Footer Placeholder 5">
            <a:extLst>
              <a:ext uri="{FF2B5EF4-FFF2-40B4-BE49-F238E27FC236}">
                <a16:creationId xmlns:a16="http://schemas.microsoft.com/office/drawing/2014/main" id="{37650158-9378-BDA6-B989-A50961008A30}"/>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
        <p:nvSpPr>
          <p:cNvPr id="6" name="Footer Placeholder 5">
            <a:extLst>
              <a:ext uri="{FF2B5EF4-FFF2-40B4-BE49-F238E27FC236}">
                <a16:creationId xmlns:a16="http://schemas.microsoft.com/office/drawing/2014/main" id="{29A1803D-62ED-5989-489B-04C2354098C9}"/>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
        <p:nvSpPr>
          <p:cNvPr id="8" name="Footer Placeholder 5">
            <a:extLst>
              <a:ext uri="{FF2B5EF4-FFF2-40B4-BE49-F238E27FC236}">
                <a16:creationId xmlns:a16="http://schemas.microsoft.com/office/drawing/2014/main" id="{88F0C024-5ADF-C9D1-7E6D-DA7E7F352B1B}"/>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gradFill>
            <a:gsLst>
              <a:gs pos="4000">
                <a:schemeClr val="accent3"/>
              </a:gs>
              <a:gs pos="41000">
                <a:schemeClr val="accent3">
                  <a:lumMod val="20000"/>
                  <a:lumOff val="80000"/>
                </a:schemeClr>
              </a:gs>
              <a:gs pos="22000">
                <a:schemeClr val="accent3">
                  <a:lumMod val="60000"/>
                  <a:lumOff val="40000"/>
                  <a:alpha val="73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tx2"/>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200" cy="4842000"/>
          </a:xfrm>
        </p:spPr>
        <p:txBody>
          <a:bodyPr lIns="216000" tIns="144000" rIns="234000">
            <a:noAutofit/>
          </a:bodyPr>
          <a:lstStyle>
            <a:lvl1pPr marL="0" indent="0">
              <a:buClr>
                <a:schemeClr val="bg1"/>
              </a:buClr>
              <a:buFont typeface="Arial" panose="020B0604020202020204" pitchFamily="34" charset="0"/>
              <a:buNone/>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2" name="Footer Placeholder 5">
            <a:extLst>
              <a:ext uri="{FF2B5EF4-FFF2-40B4-BE49-F238E27FC236}">
                <a16:creationId xmlns:a16="http://schemas.microsoft.com/office/drawing/2014/main" id="{3D30C1FB-591F-4EC1-DBFA-7F1A47CAB3AF}"/>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910525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0" name="Tijdelijke aanduiding voor voettekst 1">
            <a:extLst>
              <a:ext uri="{FF2B5EF4-FFF2-40B4-BE49-F238E27FC236}">
                <a16:creationId xmlns:a16="http://schemas.microsoft.com/office/drawing/2014/main" id="{1550FF2B-9973-D8E2-1D04-7D52FC7B4451}"/>
              </a:ext>
            </a:extLst>
          </p:cNvPr>
          <p:cNvSpPr>
            <a:spLocks noGrp="1"/>
          </p:cNvSpPr>
          <p:nvPr>
            <p:ph type="ftr" sz="quarter" idx="14"/>
          </p:nvPr>
        </p:nvSpPr>
        <p:spPr>
          <a:xfrm>
            <a:off x="194555" y="6387115"/>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411849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2.xml"/><Relationship Id="rId1" Type="http://schemas.openxmlformats.org/officeDocument/2006/relationships/slideLayout" Target="../slideLayouts/slideLayout7.xml"/><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8"/>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
        <p:nvSpPr>
          <p:cNvPr id="13" name="Footer Placeholder 5">
            <a:extLst>
              <a:ext uri="{FF2B5EF4-FFF2-40B4-BE49-F238E27FC236}">
                <a16:creationId xmlns:a16="http://schemas.microsoft.com/office/drawing/2014/main" id="{8F0D1AEF-DE47-8489-6A2A-611156540ED5}"/>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 id="2147483796" r:id="rId6"/>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194555" y="638273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1843736170"/>
      </p:ext>
    </p:extLst>
  </p:cSld>
  <p:clrMap bg1="lt1" tx1="dk1" bg2="lt2" tx2="dk2" accent1="accent1" accent2="accent2" accent3="accent3" accent4="accent4" accent5="accent5" accent6="accent6" hlink="hlink" folHlink="folHlink"/>
  <p:sldLayoutIdLst>
    <p:sldLayoutId id="2147483795"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Software-Improvement-Group/sigrid-report-generator"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docs.sigrid-says.com/organization-integration/metadata.htm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cs.sigrid-says.com/capabilities/objectives.html" TargetMode="External"/><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2.emf"/><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GB" dirty="0"/>
              <a:t>CUSTOMER_NAME</a:t>
            </a:r>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GB" dirty="0"/>
              <a:t>Portfolio baseline report</a:t>
            </a:r>
          </a:p>
        </p:txBody>
      </p:sp>
      <p:sp>
        <p:nvSpPr>
          <p:cNvPr id="5" name="Tijdelijke aanduiding voor voettekst 10">
            <a:extLst>
              <a:ext uri="{FF2B5EF4-FFF2-40B4-BE49-F238E27FC236}">
                <a16:creationId xmlns:a16="http://schemas.microsoft.com/office/drawing/2014/main" id="{03AAA943-ED6F-B90F-27FC-E22483CED91E}"/>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2</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
        <p:nvSpPr>
          <p:cNvPr id="10" name="Afgeronde rechthoek 33">
            <a:extLst>
              <a:ext uri="{FF2B5EF4-FFF2-40B4-BE49-F238E27FC236}">
                <a16:creationId xmlns:a16="http://schemas.microsoft.com/office/drawing/2014/main" id="{0D3E7177-C8EE-5FFC-521A-8C9EEEC5326B}"/>
              </a:ext>
            </a:extLst>
          </p:cNvPr>
          <p:cNvSpPr/>
          <p:nvPr/>
        </p:nvSpPr>
        <p:spPr>
          <a:xfrm>
            <a:off x="4454347" y="707417"/>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12" name="Tijdelijke aanduiding voor inhoud 4">
            <a:extLst>
              <a:ext uri="{FF2B5EF4-FFF2-40B4-BE49-F238E27FC236}">
                <a16:creationId xmlns:a16="http://schemas.microsoft.com/office/drawing/2014/main" id="{92CE52E8-D858-B31D-AC41-08D60448D5A0}"/>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
        <p:nvSpPr>
          <p:cNvPr id="2" name="Footer Placeholder 5">
            <a:extLst>
              <a:ext uri="{FF2B5EF4-FFF2-40B4-BE49-F238E27FC236}">
                <a16:creationId xmlns:a16="http://schemas.microsoft.com/office/drawing/2014/main" id="{F1341C02-B5DA-9A6B-6630-1BC07730E8A1}"/>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249905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4728A2-D49B-B80A-C0BB-81C3E8139325}"/>
              </a:ext>
            </a:extLst>
          </p:cNvPr>
          <p:cNvSpPr>
            <a:spLocks noGrp="1"/>
          </p:cNvSpPr>
          <p:nvPr>
            <p:ph type="body" sz="quarter" idx="12"/>
          </p:nvPr>
        </p:nvSpPr>
        <p:spPr>
          <a:xfrm>
            <a:off x="381600" y="129568"/>
            <a:ext cx="1325858" cy="228209"/>
          </a:xfrm>
        </p:spPr>
        <p:txBody>
          <a:bodyPr/>
          <a:lstStyle/>
          <a:p>
            <a:r>
              <a:rPr lang="en-GB">
                <a:solidFill>
                  <a:schemeClr val="tx2"/>
                </a:solidFill>
              </a:rPr>
              <a:t>Report context</a:t>
            </a:r>
            <a:endParaRPr lang="en-GB" dirty="0"/>
          </a:p>
        </p:txBody>
      </p:sp>
      <p:sp>
        <p:nvSpPr>
          <p:cNvPr id="3" name="Content Placeholder 2">
            <a:extLst>
              <a:ext uri="{FF2B5EF4-FFF2-40B4-BE49-F238E27FC236}">
                <a16:creationId xmlns:a16="http://schemas.microsoft.com/office/drawing/2014/main" id="{EB46ACE4-3C8B-C339-132D-F5E76E16A6DE}"/>
              </a:ext>
            </a:extLst>
          </p:cNvPr>
          <p:cNvSpPr>
            <a:spLocks noGrp="1"/>
          </p:cNvSpPr>
          <p:nvPr>
            <p:ph sz="quarter" idx="19"/>
          </p:nvPr>
        </p:nvSpPr>
        <p:spPr/>
        <p:txBody>
          <a:bodyPr/>
          <a:lstStyle/>
          <a:p>
            <a:endParaRPr lang="en-GB" b="1"/>
          </a:p>
          <a:p>
            <a:pPr marL="285750" indent="-285750">
              <a:buFont typeface="Arial" panose="020B0604020202020204" pitchFamily="34" charset="0"/>
              <a:buChar char="•"/>
            </a:pPr>
            <a:r>
              <a:rPr lang="en-GB"/>
              <a:t>Congratulations for having successfully completed your Sigrid onboarding!</a:t>
            </a:r>
          </a:p>
          <a:p>
            <a:pPr marL="285750" indent="-285750">
              <a:buFont typeface="Arial" panose="020B0604020202020204" pitchFamily="34" charset="0"/>
              <a:buChar char="•"/>
            </a:pPr>
            <a:r>
              <a:rPr lang="en-GB"/>
              <a:t>This is a baseline report showing the quality and security state of your software portfolio at the start of your Sigrid journey, to help you get a first overview and set your priorities for the coming period.</a:t>
            </a:r>
          </a:p>
          <a:p>
            <a:pPr marL="285750" indent="-285750">
              <a:buFont typeface="Arial" panose="020B0604020202020204" pitchFamily="34" charset="0"/>
              <a:buChar char="•"/>
            </a:pPr>
            <a:r>
              <a:rPr lang="en-GB"/>
              <a:t>This report has been automatically generated by our consultants based on the information in your Sigrid.</a:t>
            </a:r>
          </a:p>
          <a:p>
            <a:pPr marL="285750" indent="-285750">
              <a:buFont typeface="Arial" panose="020B0604020202020204" pitchFamily="34" charset="0"/>
              <a:buChar char="•"/>
            </a:pPr>
            <a:r>
              <a:rPr lang="en-GB"/>
              <a:t>If you find this report useful, you as well can easily generate similar reports! Simply follow the instructions in our public </a:t>
            </a:r>
            <a:r>
              <a:rPr lang="en-GB">
                <a:hlinkClick r:id="rId2"/>
              </a:rPr>
              <a:t>GitHub repository</a:t>
            </a:r>
            <a:r>
              <a:rPr lang="en-GB"/>
              <a:t> or contact your Customer Success Manager for more information.</a:t>
            </a:r>
          </a:p>
          <a:p>
            <a:endParaRPr lang="en-GB" dirty="0"/>
          </a:p>
        </p:txBody>
      </p:sp>
      <p:sp>
        <p:nvSpPr>
          <p:cNvPr id="4" name="Content Placeholder 3">
            <a:extLst>
              <a:ext uri="{FF2B5EF4-FFF2-40B4-BE49-F238E27FC236}">
                <a16:creationId xmlns:a16="http://schemas.microsoft.com/office/drawing/2014/main" id="{B24A8EDE-A8CC-C479-ADF2-FE638773B436}"/>
              </a:ext>
            </a:extLst>
          </p:cNvPr>
          <p:cNvSpPr>
            <a:spLocks noGrp="1"/>
          </p:cNvSpPr>
          <p:nvPr>
            <p:ph sz="quarter" idx="20"/>
          </p:nvPr>
        </p:nvSpPr>
        <p:spPr/>
        <p:txBody>
          <a:bodyPr/>
          <a:lstStyle/>
          <a:p>
            <a:pPr algn="just"/>
            <a:endParaRPr lang="en-GB" b="1">
              <a:solidFill>
                <a:schemeClr val="accent2"/>
              </a:solidFill>
            </a:endParaRPr>
          </a:p>
          <a:p>
            <a:pPr algn="just"/>
            <a:r>
              <a:rPr lang="en-GB" b="1">
                <a:solidFill>
                  <a:schemeClr val="accent2"/>
                </a:solidFill>
              </a:rPr>
              <a:t>Contents</a:t>
            </a:r>
            <a:r>
              <a:rPr lang="en-GB" b="1">
                <a:solidFill>
                  <a:schemeClr val="bg1"/>
                </a:solidFill>
              </a:rPr>
              <a:t> </a:t>
            </a:r>
          </a:p>
          <a:p>
            <a:pPr>
              <a:buClr>
                <a:schemeClr val="accent2"/>
              </a:buClr>
            </a:pPr>
            <a:r>
              <a:rPr lang="en-GB" b="1">
                <a:solidFill>
                  <a:schemeClr val="tx1"/>
                </a:solidFill>
              </a:rPr>
              <a:t>Sigrid portfolio hygiene:</a:t>
            </a:r>
            <a:r>
              <a:rPr lang="en-GB">
                <a:solidFill>
                  <a:schemeClr val="tx1"/>
                </a:solidFill>
              </a:rPr>
              <a:t> Gives you information on whether your Sigrid has been fully configured to give you the most useful insights. Sigrid results are most useful when metadata is filled in, and quality objectives are defined in the platform.</a:t>
            </a:r>
          </a:p>
          <a:p>
            <a:pPr>
              <a:buClr>
                <a:schemeClr val="accent2"/>
              </a:buClr>
            </a:pPr>
            <a:r>
              <a:rPr lang="en-GB" b="1">
                <a:solidFill>
                  <a:schemeClr val="tx1"/>
                </a:solidFill>
              </a:rPr>
              <a:t>Objectives:</a:t>
            </a:r>
            <a:r>
              <a:rPr lang="en-GB">
                <a:solidFill>
                  <a:schemeClr val="tx1"/>
                </a:solidFill>
              </a:rPr>
              <a:t> Number of systems in your portfolio that meet the quality and security objectives you set in Sigrid.</a:t>
            </a:r>
          </a:p>
          <a:p>
            <a:pPr>
              <a:buClr>
                <a:schemeClr val="accent2"/>
              </a:buClr>
            </a:pPr>
            <a:r>
              <a:rPr lang="en-GB" b="1">
                <a:solidFill>
                  <a:schemeClr val="tx1"/>
                </a:solidFill>
              </a:rPr>
              <a:t>Portfolio trends:</a:t>
            </a:r>
            <a:r>
              <a:rPr lang="en-GB">
                <a:solidFill>
                  <a:schemeClr val="tx1"/>
                </a:solidFill>
              </a:rPr>
              <a:t> Information on the quality and security state of your portfolio at the start of your Sigrid journey.</a:t>
            </a:r>
          </a:p>
          <a:p>
            <a:endParaRPr lang="en-GB" dirty="0"/>
          </a:p>
        </p:txBody>
      </p:sp>
      <p:sp>
        <p:nvSpPr>
          <p:cNvPr id="5" name="Title 4">
            <a:extLst>
              <a:ext uri="{FF2B5EF4-FFF2-40B4-BE49-F238E27FC236}">
                <a16:creationId xmlns:a16="http://schemas.microsoft.com/office/drawing/2014/main" id="{88C7ABDD-9432-ACF8-4FEC-77AA6EB74ECE}"/>
              </a:ext>
            </a:extLst>
          </p:cNvPr>
          <p:cNvSpPr>
            <a:spLocks noGrp="1"/>
          </p:cNvSpPr>
          <p:nvPr>
            <p:ph type="title"/>
          </p:nvPr>
        </p:nvSpPr>
        <p:spPr/>
        <p:txBody>
          <a:bodyPr/>
          <a:lstStyle/>
          <a:p>
            <a:r>
              <a:rPr lang="en-GB"/>
              <a:t>Introduction to the baseline report</a:t>
            </a:r>
            <a:endParaRPr lang="en-GB" dirty="0"/>
          </a:p>
        </p:txBody>
      </p:sp>
      <p:sp>
        <p:nvSpPr>
          <p:cNvPr id="7" name="Slide Number Placeholder 6">
            <a:extLst>
              <a:ext uri="{FF2B5EF4-FFF2-40B4-BE49-F238E27FC236}">
                <a16:creationId xmlns:a16="http://schemas.microsoft.com/office/drawing/2014/main" id="{B3618148-8DA2-DAE0-FC69-8684BB025740}"/>
              </a:ext>
            </a:extLst>
          </p:cNvPr>
          <p:cNvSpPr>
            <a:spLocks noGrp="1"/>
          </p:cNvSpPr>
          <p:nvPr>
            <p:ph type="sldNum" sz="quarter" idx="22"/>
          </p:nvPr>
        </p:nvSpPr>
        <p:spPr/>
        <p:txBody>
          <a:bodyPr/>
          <a:lstStyle/>
          <a:p>
            <a:fld id="{E242BD21-9B61-2246-BCB1-4BE5E1BEBE1C}" type="slidenum">
              <a:rPr lang="en-GB" smtClean="0"/>
              <a:pPr/>
              <a:t>3</a:t>
            </a:fld>
            <a:endParaRPr lang="en-GB" dirty="0"/>
          </a:p>
        </p:txBody>
      </p:sp>
      <p:sp>
        <p:nvSpPr>
          <p:cNvPr id="6" name="Footer Placeholder 5">
            <a:extLst>
              <a:ext uri="{FF2B5EF4-FFF2-40B4-BE49-F238E27FC236}">
                <a16:creationId xmlns:a16="http://schemas.microsoft.com/office/drawing/2014/main" id="{48CCE201-D532-5332-1ABA-1148677A097F}"/>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300404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275D-A691-B899-C8C0-7CA9275B46D0}"/>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D5940918-3CB3-803D-EDD0-F5E060D3DC41}"/>
              </a:ext>
            </a:extLst>
          </p:cNvPr>
          <p:cNvSpPr/>
          <p:nvPr/>
        </p:nvSpPr>
        <p:spPr>
          <a:xfrm>
            <a:off x="4454347" y="1405244"/>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4BE8A0BB-9BF4-0EEF-421A-43317280C0C9}"/>
              </a:ext>
            </a:extLst>
          </p:cNvPr>
          <p:cNvSpPr>
            <a:spLocks noGrp="1"/>
          </p:cNvSpPr>
          <p:nvPr>
            <p:ph type="sldNum" sz="quarter" idx="15"/>
          </p:nvPr>
        </p:nvSpPr>
        <p:spPr/>
        <p:txBody>
          <a:bodyPr/>
          <a:lstStyle/>
          <a:p>
            <a:fld id="{E242BD21-9B61-2246-BCB1-4BE5E1BEBE1C}" type="slidenum">
              <a:rPr lang="en-GB" smtClean="0"/>
              <a:pPr/>
              <a:t>4</a:t>
            </a:fld>
            <a:endParaRPr lang="en-GB" dirty="0"/>
          </a:p>
        </p:txBody>
      </p:sp>
      <p:sp>
        <p:nvSpPr>
          <p:cNvPr id="4" name="Titel 3">
            <a:extLst>
              <a:ext uri="{FF2B5EF4-FFF2-40B4-BE49-F238E27FC236}">
                <a16:creationId xmlns:a16="http://schemas.microsoft.com/office/drawing/2014/main" id="{B52E2D34-4447-ADD4-8DC6-965B34D46EF0}"/>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A00B7195-879B-BEB7-83E4-505314226773}"/>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
        <p:nvSpPr>
          <p:cNvPr id="7" name="Rectangle 2">
            <a:extLst>
              <a:ext uri="{FF2B5EF4-FFF2-40B4-BE49-F238E27FC236}">
                <a16:creationId xmlns:a16="http://schemas.microsoft.com/office/drawing/2014/main" id="{0674849F-4F72-5C07-B47E-2437E9D8F4CD}"/>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
        <p:nvSpPr>
          <p:cNvPr id="2" name="Footer Placeholder 5">
            <a:extLst>
              <a:ext uri="{FF2B5EF4-FFF2-40B4-BE49-F238E27FC236}">
                <a16:creationId xmlns:a16="http://schemas.microsoft.com/office/drawing/2014/main" id="{26F7AFB7-FFF9-E2FD-4842-317140D1DFCA}"/>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638578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2169037" cy="228209"/>
          </a:xfrm>
        </p:spPr>
        <p:txBody>
          <a:bodyPr/>
          <a:lstStyle/>
          <a:p>
            <a:r>
              <a:rPr lang="en-GB"/>
              <a:t>Sigrid portfolio hygiene</a:t>
            </a:r>
            <a:endParaRPr lang="en-GB" dirty="0"/>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5</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a:t>Metadata completeness per field</a:t>
            </a:r>
            <a:endParaRPr lang="en-GB" dirty="0"/>
          </a:p>
        </p:txBody>
      </p:sp>
      <p:graphicFrame>
        <p:nvGraphicFramePr>
          <p:cNvPr id="12" name="METADATA_COMPLETENESS_CHART">
            <a:extLst>
              <a:ext uri="{FF2B5EF4-FFF2-40B4-BE49-F238E27FC236}">
                <a16:creationId xmlns:a16="http://schemas.microsoft.com/office/drawing/2014/main" id="{8A441EFF-07E9-9E27-9640-D73D806C4D65}"/>
              </a:ext>
            </a:extLst>
          </p:cNvPr>
          <p:cNvGraphicFramePr/>
          <p:nvPr>
            <p:extLst>
              <p:ext uri="{D42A27DB-BD31-4B8C-83A1-F6EECF244321}">
                <p14:modId xmlns:p14="http://schemas.microsoft.com/office/powerpoint/2010/main" val="4081541850"/>
              </p:ext>
            </p:extLst>
          </p:nvPr>
        </p:nvGraphicFramePr>
        <p:xfrm>
          <a:off x="478224" y="2397760"/>
          <a:ext cx="11267443" cy="3670506"/>
        </p:xfrm>
        <a:graphic>
          <a:graphicData uri="http://schemas.openxmlformats.org/drawingml/2006/chart">
            <c:chart xmlns:c="http://schemas.openxmlformats.org/drawingml/2006/chart" xmlns:r="http://schemas.openxmlformats.org/officeDocument/2006/relationships" r:id="rId3"/>
          </a:graphicData>
        </a:graphic>
      </p:graphicFrame>
      <p:sp>
        <p:nvSpPr>
          <p:cNvPr id="13" name="Content Placeholder 2">
            <a:extLst>
              <a:ext uri="{FF2B5EF4-FFF2-40B4-BE49-F238E27FC236}">
                <a16:creationId xmlns:a16="http://schemas.microsoft.com/office/drawing/2014/main" id="{BF7EBEF1-AE34-0146-7D18-236358E52DAA}"/>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a:t>Results in Sigrid and the contents of this report become more accurate and useful the more systems have the metadata filled in.</a:t>
            </a:r>
          </a:p>
          <a:p>
            <a:pPr marL="285750" indent="-285750">
              <a:buFont typeface="Arial" panose="020B0604020202020204" pitchFamily="34" charset="0"/>
              <a:buChar char="•"/>
            </a:pPr>
            <a:r>
              <a:rPr lang="en-US"/>
              <a:t>If you have not yet defined your metadata, you can learn how to so in the </a:t>
            </a:r>
            <a:r>
              <a:rPr lang="en-US">
                <a:hlinkClick r:id="rId4"/>
              </a:rPr>
              <a:t>Sigrid documentation</a:t>
            </a:r>
            <a:r>
              <a:rPr lang="en-US"/>
              <a:t>.</a:t>
            </a:r>
            <a:endParaRPr lang="en-US" dirty="0"/>
          </a:p>
        </p:txBody>
      </p:sp>
      <p:sp>
        <p:nvSpPr>
          <p:cNvPr id="5" name="TextBox 4">
            <a:extLst>
              <a:ext uri="{FF2B5EF4-FFF2-40B4-BE49-F238E27FC236}">
                <a16:creationId xmlns:a16="http://schemas.microsoft.com/office/drawing/2014/main" id="{5EEBC68F-7213-EB53-C40C-FB8AB820FF2E}"/>
              </a:ext>
            </a:extLst>
          </p:cNvPr>
          <p:cNvSpPr txBox="1"/>
          <p:nvPr/>
        </p:nvSpPr>
        <p:spPr>
          <a:xfrm>
            <a:off x="9905465" y="2249529"/>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
        <p:nvSpPr>
          <p:cNvPr id="3" name="Footer Placeholder 5">
            <a:extLst>
              <a:ext uri="{FF2B5EF4-FFF2-40B4-BE49-F238E27FC236}">
                <a16:creationId xmlns:a16="http://schemas.microsoft.com/office/drawing/2014/main" id="{55AE2176-E53D-677F-8417-DF6E32C6E391}"/>
              </a:ext>
            </a:extLst>
          </p:cNvPr>
          <p:cNvSpPr>
            <a:spLocks noGrp="1"/>
          </p:cNvSpPr>
          <p:nvPr>
            <p:ph type="ftr" sz="quarter" idx="3"/>
          </p:nvPr>
        </p:nvSpPr>
        <p:spPr>
          <a:xfrm>
            <a:off x="194555" y="6403168"/>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589618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A562B4-433C-6AD3-BE97-6669903E222E}"/>
              </a:ext>
            </a:extLst>
          </p:cNvPr>
          <p:cNvSpPr>
            <a:spLocks noGrp="1"/>
          </p:cNvSpPr>
          <p:nvPr>
            <p:ph type="body" sz="quarter" idx="12"/>
          </p:nvPr>
        </p:nvSpPr>
        <p:spPr>
          <a:xfrm>
            <a:off x="381600" y="129568"/>
            <a:ext cx="2169037" cy="228209"/>
          </a:xfrm>
        </p:spPr>
        <p:txBody>
          <a:bodyPr/>
          <a:lstStyle/>
          <a:p>
            <a:r>
              <a:rPr lang="en-US"/>
              <a:t>Sigrid portfolio hygiene</a:t>
            </a:r>
            <a:endParaRPr lang="en-US" dirty="0"/>
          </a:p>
        </p:txBody>
      </p:sp>
      <p:sp>
        <p:nvSpPr>
          <p:cNvPr id="5" name="Slide Number Placeholder 4">
            <a:extLst>
              <a:ext uri="{FF2B5EF4-FFF2-40B4-BE49-F238E27FC236}">
                <a16:creationId xmlns:a16="http://schemas.microsoft.com/office/drawing/2014/main" id="{3A6B275E-9687-84C1-BAB5-0DAE4218D09F}"/>
              </a:ext>
            </a:extLst>
          </p:cNvPr>
          <p:cNvSpPr>
            <a:spLocks noGrp="1"/>
          </p:cNvSpPr>
          <p:nvPr>
            <p:ph type="sldNum" sz="quarter" idx="15"/>
          </p:nvPr>
        </p:nvSpPr>
        <p:spPr/>
        <p:txBody>
          <a:bodyPr/>
          <a:lstStyle/>
          <a:p>
            <a:fld id="{E242BD21-9B61-2246-BCB1-4BE5E1BEBE1C}" type="slidenum">
              <a:rPr lang="nl-NL" smtClean="0"/>
              <a:pPr/>
              <a:t>6</a:t>
            </a:fld>
            <a:endParaRPr lang="nl-NL"/>
          </a:p>
        </p:txBody>
      </p:sp>
      <p:sp>
        <p:nvSpPr>
          <p:cNvPr id="6" name="Title 5">
            <a:extLst>
              <a:ext uri="{FF2B5EF4-FFF2-40B4-BE49-F238E27FC236}">
                <a16:creationId xmlns:a16="http://schemas.microsoft.com/office/drawing/2014/main" id="{E471E740-C96B-E177-A48D-9DDFA9B4783A}"/>
              </a:ext>
            </a:extLst>
          </p:cNvPr>
          <p:cNvSpPr>
            <a:spLocks noGrp="1"/>
          </p:cNvSpPr>
          <p:nvPr>
            <p:ph type="title"/>
          </p:nvPr>
        </p:nvSpPr>
        <p:spPr/>
        <p:txBody>
          <a:bodyPr/>
          <a:lstStyle/>
          <a:p>
            <a:r>
              <a:rPr lang="en-US"/>
              <a:t>Number of systems covered by objectives</a:t>
            </a:r>
            <a:endParaRPr lang="en-US" dirty="0"/>
          </a:p>
        </p:txBody>
      </p:sp>
      <p:graphicFrame>
        <p:nvGraphicFramePr>
          <p:cNvPr id="8" name="OBJECTIVES_COVERAGE_CHART">
            <a:extLst>
              <a:ext uri="{FF2B5EF4-FFF2-40B4-BE49-F238E27FC236}">
                <a16:creationId xmlns:a16="http://schemas.microsoft.com/office/drawing/2014/main" id="{0EEA915C-1522-0D70-85F6-DB14A1F8E992}"/>
              </a:ext>
            </a:extLst>
          </p:cNvPr>
          <p:cNvGraphicFramePr/>
          <p:nvPr>
            <p:extLst>
              <p:ext uri="{D42A27DB-BD31-4B8C-83A1-F6EECF244321}">
                <p14:modId xmlns:p14="http://schemas.microsoft.com/office/powerpoint/2010/main" val="1736691432"/>
              </p:ext>
            </p:extLst>
          </p:nvPr>
        </p:nvGraphicFramePr>
        <p:xfrm>
          <a:off x="1235282" y="2540951"/>
          <a:ext cx="9719035" cy="3723049"/>
        </p:xfrm>
        <a:graphic>
          <a:graphicData uri="http://schemas.openxmlformats.org/drawingml/2006/chart">
            <c:chart xmlns:c="http://schemas.openxmlformats.org/drawingml/2006/chart" xmlns:r="http://schemas.openxmlformats.org/officeDocument/2006/relationships" r:id="rId2"/>
          </a:graphicData>
        </a:graphic>
      </p:graphicFrame>
      <p:sp>
        <p:nvSpPr>
          <p:cNvPr id="3" name="Content Placeholder 2">
            <a:extLst>
              <a:ext uri="{FF2B5EF4-FFF2-40B4-BE49-F238E27FC236}">
                <a16:creationId xmlns:a16="http://schemas.microsoft.com/office/drawing/2014/main" id="{8279FF7D-CC98-58F5-DA1F-6B85E8AE0DF3}"/>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a:t>Having objectives set in Sigrid helps your teams to track the quality of the portfolio and gradually improve it over time.</a:t>
            </a:r>
          </a:p>
          <a:p>
            <a:pPr marL="285750" indent="-285750">
              <a:buFont typeface="Arial" panose="020B0604020202020204" pitchFamily="34" charset="0"/>
              <a:buChar char="•"/>
            </a:pPr>
            <a:r>
              <a:rPr lang="en-US"/>
              <a:t>If you have not yet defined objectives for all systems, you can learn how to so in the </a:t>
            </a:r>
            <a:r>
              <a:rPr lang="en-US">
                <a:hlinkClick r:id="rId3"/>
              </a:rPr>
              <a:t>Sigrid documentation</a:t>
            </a:r>
            <a:r>
              <a:rPr lang="en-US"/>
              <a:t>.</a:t>
            </a:r>
            <a:endParaRPr lang="en-US" dirty="0"/>
          </a:p>
        </p:txBody>
      </p:sp>
      <p:sp>
        <p:nvSpPr>
          <p:cNvPr id="11" name="Footer Placeholder 5">
            <a:extLst>
              <a:ext uri="{FF2B5EF4-FFF2-40B4-BE49-F238E27FC236}">
                <a16:creationId xmlns:a16="http://schemas.microsoft.com/office/drawing/2014/main" id="{5AD26C79-29F6-03B3-8BCE-68F31D64F07D}"/>
              </a:ext>
            </a:extLst>
          </p:cNvPr>
          <p:cNvSpPr>
            <a:spLocks noGrp="1"/>
          </p:cNvSpPr>
          <p:nvPr>
            <p:ph type="ftr" sz="quarter" idx="3"/>
          </p:nvPr>
        </p:nvSpPr>
        <p:spPr>
          <a:xfrm>
            <a:off x="194555" y="6403168"/>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94163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996AB135-5D98-6CB2-2236-27FA6BFF1DF8}"/>
              </a:ext>
            </a:extLst>
          </p:cNvPr>
          <p:cNvSpPr/>
          <p:nvPr/>
        </p:nvSpPr>
        <p:spPr>
          <a:xfrm>
            <a:off x="4454347" y="2077868"/>
            <a:ext cx="7567201" cy="14065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7</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8B9E1154-CDD8-EB91-949B-479B334BF674}"/>
              </a:ext>
            </a:extLst>
          </p:cNvPr>
          <p:cNvSpPr>
            <a:spLocks noGrp="1"/>
          </p:cNvSpPr>
          <p:nvPr>
            <p:ph sz="quarter" idx="16"/>
          </p:nvPr>
        </p:nvSpPr>
        <p:spPr>
          <a:xfrm>
            <a:off x="4467600" y="738000"/>
            <a:ext cx="7092000" cy="3396447"/>
          </a:xfrm>
        </p:spPr>
        <p:txBody>
          <a:bodyPr/>
          <a:lstStyle/>
          <a:p>
            <a:r>
              <a:rPr lang="en-GB" dirty="0"/>
              <a:t>Report context</a:t>
            </a:r>
          </a:p>
          <a:p>
            <a:r>
              <a:rPr lang="en-GB" dirty="0"/>
              <a:t>Sigrid portfolio hygiene</a:t>
            </a:r>
          </a:p>
          <a:p>
            <a:r>
              <a:rPr lang="en-GB" dirty="0"/>
              <a:t>Objectives</a:t>
            </a:r>
          </a:p>
          <a:p>
            <a:endParaRPr lang="en-GB" dirty="0"/>
          </a:p>
          <a:p>
            <a:r>
              <a:rPr lang="en-GB" dirty="0"/>
              <a:t>Portfolio trends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grpSp>
        <p:nvGrpSpPr>
          <p:cNvPr id="26" name="Group 25">
            <a:extLst>
              <a:ext uri="{FF2B5EF4-FFF2-40B4-BE49-F238E27FC236}">
                <a16:creationId xmlns:a16="http://schemas.microsoft.com/office/drawing/2014/main" id="{378A9620-EABF-7EE8-9AD9-DC016D1A3074}"/>
              </a:ext>
            </a:extLst>
          </p:cNvPr>
          <p:cNvGrpSpPr/>
          <p:nvPr/>
        </p:nvGrpSpPr>
        <p:grpSpPr>
          <a:xfrm>
            <a:off x="5682921" y="2878443"/>
            <a:ext cx="5119353" cy="332898"/>
            <a:chOff x="5682921" y="2898499"/>
            <a:chExt cx="5119353" cy="332898"/>
          </a:xfrm>
        </p:grpSpPr>
        <p:sp>
          <p:nvSpPr>
            <p:cNvPr id="8" name="Rectangle 5">
              <a:extLst>
                <a:ext uri="{FF2B5EF4-FFF2-40B4-BE49-F238E27FC236}">
                  <a16:creationId xmlns:a16="http://schemas.microsoft.com/office/drawing/2014/main" id="{E96D49B4-3075-D523-A87B-34907DB1D635}"/>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11" name="Rectangle 12">
              <a:extLst>
                <a:ext uri="{FF2B5EF4-FFF2-40B4-BE49-F238E27FC236}">
                  <a16:creationId xmlns:a16="http://schemas.microsoft.com/office/drawing/2014/main" id="{12943039-BE55-8114-7DAD-5D4EF8731FF6}"/>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15" name="TextBox 6">
              <a:extLst>
                <a:ext uri="{FF2B5EF4-FFF2-40B4-BE49-F238E27FC236}">
                  <a16:creationId xmlns:a16="http://schemas.microsoft.com/office/drawing/2014/main" id="{B5A5871D-7343-4BC4-31A9-01F0CD087096}"/>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Overall status</a:t>
              </a:r>
            </a:p>
          </p:txBody>
        </p:sp>
        <p:sp>
          <p:nvSpPr>
            <p:cNvPr id="18" name="TextBox 18">
              <a:extLst>
                <a:ext uri="{FF2B5EF4-FFF2-40B4-BE49-F238E27FC236}">
                  <a16:creationId xmlns:a16="http://schemas.microsoft.com/office/drawing/2014/main" id="{2F51B979-8832-1084-DED6-F0BE94169ECE}"/>
                </a:ext>
              </a:extLst>
            </p:cNvPr>
            <p:cNvSpPr txBox="1"/>
            <p:nvPr/>
          </p:nvSpPr>
          <p:spPr>
            <a:xfrm>
              <a:off x="8364857" y="2909129"/>
              <a:ext cx="2437417" cy="322268"/>
            </a:xfrm>
            <a:prstGeom prst="rect">
              <a:avLst/>
            </a:prstGeom>
            <a:noFill/>
          </p:spPr>
          <p:txBody>
            <a:bodyPr wrap="square" lIns="90000" rtlCol="0" anchor="ctr">
              <a:spAutoFit/>
            </a:bodyPr>
            <a:lstStyle/>
            <a:p>
              <a:pPr algn="l">
                <a:lnSpc>
                  <a:spcPct val="113000"/>
                </a:lnSpc>
              </a:pPr>
              <a:r>
                <a:rPr lang="en-GB" sz="1400" dirty="0">
                  <a:solidFill>
                    <a:schemeClr val="tx2"/>
                  </a:solidFill>
                </a:rPr>
                <a:t>Status per capability</a:t>
              </a:r>
            </a:p>
          </p:txBody>
        </p:sp>
      </p:grpSp>
    </p:spTree>
    <p:extLst>
      <p:ext uri="{BB962C8B-B14F-4D97-AF65-F5344CB8AC3E}">
        <p14:creationId xmlns:p14="http://schemas.microsoft.com/office/powerpoint/2010/main" val="2757854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988586" cy="228209"/>
          </a:xfrm>
        </p:spPr>
        <p:txBody>
          <a:bodyPr/>
          <a:lstStyle/>
          <a:p>
            <a:r>
              <a:rPr lang="en-GB" dirty="0"/>
              <a:t>Objectives</a:t>
            </a:r>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8</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dirty="0"/>
              <a:t>Overall objectives status on PORTFOLIO_PERIOD_END_DATE</a:t>
            </a:r>
          </a:p>
        </p:txBody>
      </p:sp>
      <p:graphicFrame>
        <p:nvGraphicFramePr>
          <p:cNvPr id="6" name="PROGRESS_STATUS_CHART">
            <a:extLst>
              <a:ext uri="{FF2B5EF4-FFF2-40B4-BE49-F238E27FC236}">
                <a16:creationId xmlns:a16="http://schemas.microsoft.com/office/drawing/2014/main" id="{9A17AFA3-FC96-B65B-0A6A-D4A1754157FE}"/>
              </a:ext>
            </a:extLst>
          </p:cNvPr>
          <p:cNvGraphicFramePr/>
          <p:nvPr>
            <p:extLst>
              <p:ext uri="{D42A27DB-BD31-4B8C-83A1-F6EECF244321}">
                <p14:modId xmlns:p14="http://schemas.microsoft.com/office/powerpoint/2010/main" val="1490064785"/>
              </p:ext>
            </p:extLst>
          </p:nvPr>
        </p:nvGraphicFramePr>
        <p:xfrm>
          <a:off x="478224" y="3496084"/>
          <a:ext cx="11267443" cy="145781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D9A08C5B-250B-FC47-1AD3-3C078984145A}"/>
              </a:ext>
            </a:extLst>
          </p:cNvPr>
          <p:cNvSpPr txBox="1"/>
          <p:nvPr/>
        </p:nvSpPr>
        <p:spPr>
          <a:xfrm>
            <a:off x="681046" y="3268366"/>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8F572F14-0D3C-878A-7DE9-450027AF1F97}"/>
              </a:ext>
            </a:extLst>
          </p:cNvPr>
          <p:cNvSpPr txBox="1"/>
          <p:nvPr/>
        </p:nvSpPr>
        <p:spPr>
          <a:xfrm>
            <a:off x="4790650" y="5256482"/>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
        <p:nvSpPr>
          <p:cNvPr id="5" name="Content Placeholder 2">
            <a:extLst>
              <a:ext uri="{FF2B5EF4-FFF2-40B4-BE49-F238E27FC236}">
                <a16:creationId xmlns:a16="http://schemas.microsoft.com/office/drawing/2014/main" id="{04D86E77-66CA-8A40-67D2-22546FF2E582}"/>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Having objectives set in Sigrid helps you track the quality of the portfolio and gradually improve it over time.</a:t>
            </a:r>
          </a:p>
          <a:p>
            <a:pPr marL="285750" indent="-285750">
              <a:buFont typeface="Arial" panose="020B0604020202020204" pitchFamily="34" charset="0"/>
              <a:buChar char="•"/>
            </a:pPr>
            <a:r>
              <a:rPr lang="en-US" dirty="0"/>
              <a:t>If you have already set objectives, you can see below how many of them are currently completed and how much work is left to do.</a:t>
            </a:r>
          </a:p>
          <a:p>
            <a:pPr marL="285750" indent="-285750">
              <a:buFont typeface="Arial" panose="020B0604020202020204" pitchFamily="34" charset="0"/>
              <a:buChar char="•"/>
            </a:pPr>
            <a:r>
              <a:rPr lang="en-US" dirty="0"/>
              <a:t>If you have not yet defined objectives, you can use the insights in this presentation on the current quality of your portfolio to do so.</a:t>
            </a:r>
          </a:p>
        </p:txBody>
      </p:sp>
      <p:sp>
        <p:nvSpPr>
          <p:cNvPr id="7" name="Footer Placeholder 5">
            <a:extLst>
              <a:ext uri="{FF2B5EF4-FFF2-40B4-BE49-F238E27FC236}">
                <a16:creationId xmlns:a16="http://schemas.microsoft.com/office/drawing/2014/main" id="{1A1C669E-868F-5C5F-C159-D257CADC15AC}"/>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780981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5A28-0797-82EC-8AAB-40E0AD48F1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67376D-DF88-6D74-9C9C-4F16D33E792C}"/>
              </a:ext>
            </a:extLst>
          </p:cNvPr>
          <p:cNvSpPr>
            <a:spLocks noGrp="1"/>
          </p:cNvSpPr>
          <p:nvPr>
            <p:ph type="body" sz="quarter" idx="12"/>
          </p:nvPr>
        </p:nvSpPr>
        <p:spPr>
          <a:xfrm>
            <a:off x="381600" y="129568"/>
            <a:ext cx="988586" cy="228209"/>
          </a:xfrm>
        </p:spPr>
        <p:txBody>
          <a:bodyPr/>
          <a:lstStyle/>
          <a:p>
            <a:r>
              <a:rPr lang="en-GB" dirty="0"/>
              <a:t>Objectives</a:t>
            </a:r>
          </a:p>
        </p:txBody>
      </p:sp>
      <p:sp>
        <p:nvSpPr>
          <p:cNvPr id="11" name="Slide Number Placeholder 4">
            <a:extLst>
              <a:ext uri="{FF2B5EF4-FFF2-40B4-BE49-F238E27FC236}">
                <a16:creationId xmlns:a16="http://schemas.microsoft.com/office/drawing/2014/main" id="{4458A9EA-AB86-5971-70BD-18746FED9BD6}"/>
              </a:ext>
            </a:extLst>
          </p:cNvPr>
          <p:cNvSpPr>
            <a:spLocks noGrp="1"/>
          </p:cNvSpPr>
          <p:nvPr>
            <p:ph type="sldNum" sz="quarter" idx="15"/>
          </p:nvPr>
        </p:nvSpPr>
        <p:spPr/>
        <p:txBody>
          <a:bodyPr/>
          <a:lstStyle/>
          <a:p>
            <a:fld id="{E242BD21-9B61-2246-BCB1-4BE5E1BEBE1C}" type="slidenum">
              <a:rPr lang="en-GB" smtClean="0"/>
              <a:pPr/>
              <a:t>9</a:t>
            </a:fld>
            <a:endParaRPr lang="en-GB" dirty="0"/>
          </a:p>
        </p:txBody>
      </p:sp>
      <p:sp>
        <p:nvSpPr>
          <p:cNvPr id="4" name="Title 3">
            <a:extLst>
              <a:ext uri="{FF2B5EF4-FFF2-40B4-BE49-F238E27FC236}">
                <a16:creationId xmlns:a16="http://schemas.microsoft.com/office/drawing/2014/main" id="{28F4B936-22AE-53AE-D47F-598EDA21157C}"/>
              </a:ext>
            </a:extLst>
          </p:cNvPr>
          <p:cNvSpPr>
            <a:spLocks noGrp="1"/>
          </p:cNvSpPr>
          <p:nvPr>
            <p:ph type="title"/>
          </p:nvPr>
        </p:nvSpPr>
        <p:spPr/>
        <p:txBody>
          <a:bodyPr>
            <a:noAutofit/>
          </a:bodyPr>
          <a:lstStyle/>
          <a:p>
            <a:r>
              <a:rPr lang="en-GB" dirty="0"/>
              <a:t>Status of objectives per capability on PORTFOLIO_PERIOD_END_DATE</a:t>
            </a:r>
          </a:p>
        </p:txBody>
      </p:sp>
      <p:graphicFrame>
        <p:nvGraphicFramePr>
          <p:cNvPr id="6" name="PROGRESS_CAPABILITY_CHART">
            <a:extLst>
              <a:ext uri="{FF2B5EF4-FFF2-40B4-BE49-F238E27FC236}">
                <a16:creationId xmlns:a16="http://schemas.microsoft.com/office/drawing/2014/main" id="{2774041C-71AE-0495-78BB-3253007E9E90}"/>
              </a:ext>
            </a:extLst>
          </p:cNvPr>
          <p:cNvGraphicFramePr/>
          <p:nvPr>
            <p:extLst>
              <p:ext uri="{D42A27DB-BD31-4B8C-83A1-F6EECF244321}">
                <p14:modId xmlns:p14="http://schemas.microsoft.com/office/powerpoint/2010/main" val="2956673381"/>
              </p:ext>
            </p:extLst>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C377E27A-346A-7209-76CD-BF5DB2681082}"/>
              </a:ext>
            </a:extLst>
          </p:cNvPr>
          <p:cNvSpPr txBox="1"/>
          <p:nvPr/>
        </p:nvSpPr>
        <p:spPr>
          <a:xfrm>
            <a:off x="9905465" y="1325702"/>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56AFC1FD-CEB1-995E-247C-183F6F25A651}"/>
              </a:ext>
            </a:extLst>
          </p:cNvPr>
          <p:cNvSpPr txBox="1"/>
          <p:nvPr/>
        </p:nvSpPr>
        <p:spPr>
          <a:xfrm>
            <a:off x="4790650" y="5922481"/>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
        <p:nvSpPr>
          <p:cNvPr id="5" name="Footer Placeholder 5">
            <a:extLst>
              <a:ext uri="{FF2B5EF4-FFF2-40B4-BE49-F238E27FC236}">
                <a16:creationId xmlns:a16="http://schemas.microsoft.com/office/drawing/2014/main" id="{A9C608DA-694C-3895-9324-CF9DC8B04B8D}"/>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709089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fgeronde rechthoek 33">
            <a:extLst>
              <a:ext uri="{FF2B5EF4-FFF2-40B4-BE49-F238E27FC236}">
                <a16:creationId xmlns:a16="http://schemas.microsoft.com/office/drawing/2014/main" id="{5C67D71A-21D5-7B62-C401-C5338679DFE0}"/>
              </a:ext>
            </a:extLst>
          </p:cNvPr>
          <p:cNvSpPr/>
          <p:nvPr/>
        </p:nvSpPr>
        <p:spPr>
          <a:xfrm>
            <a:off x="4454347" y="2758785"/>
            <a:ext cx="7567201" cy="20333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727C3B66-2BB8-6651-49B3-C22404EF5657}"/>
              </a:ext>
            </a:extLst>
          </p:cNvPr>
          <p:cNvSpPr>
            <a:spLocks noGrp="1"/>
          </p:cNvSpPr>
          <p:nvPr>
            <p:ph type="sldNum" sz="quarter" idx="15"/>
          </p:nvPr>
        </p:nvSpPr>
        <p:spPr/>
        <p:txBody>
          <a:bodyPr/>
          <a:lstStyle/>
          <a:p>
            <a:fld id="{E242BD21-9B61-2246-BCB1-4BE5E1BEBE1C}" type="slidenum">
              <a:rPr lang="en-GB" smtClean="0"/>
              <a:pPr/>
              <a:t>10</a:t>
            </a:fld>
            <a:endParaRPr lang="en-GB" dirty="0"/>
          </a:p>
        </p:txBody>
      </p:sp>
      <p:sp>
        <p:nvSpPr>
          <p:cNvPr id="4" name="Titel 3">
            <a:extLst>
              <a:ext uri="{FF2B5EF4-FFF2-40B4-BE49-F238E27FC236}">
                <a16:creationId xmlns:a16="http://schemas.microsoft.com/office/drawing/2014/main" id="{D7D0FD1C-DD8F-FA69-E8D5-51EBF8A0085B}"/>
              </a:ext>
            </a:extLst>
          </p:cNvPr>
          <p:cNvSpPr>
            <a:spLocks noGrp="1"/>
          </p:cNvSpPr>
          <p:nvPr>
            <p:ph type="title"/>
          </p:nvPr>
        </p:nvSpPr>
        <p:spPr/>
        <p:txBody>
          <a:bodyPr/>
          <a:lstStyle/>
          <a:p>
            <a:r>
              <a:rPr lang="en-GB" dirty="0"/>
              <a:t>Index</a:t>
            </a:r>
          </a:p>
        </p:txBody>
      </p:sp>
      <p:sp>
        <p:nvSpPr>
          <p:cNvPr id="5" name="Tijdelijke aanduiding voor inhoud 4">
            <a:extLst>
              <a:ext uri="{FF2B5EF4-FFF2-40B4-BE49-F238E27FC236}">
                <a16:creationId xmlns:a16="http://schemas.microsoft.com/office/drawing/2014/main" id="{B8640D79-73F3-DDBF-46E3-A770D0CE4F85}"/>
              </a:ext>
            </a:extLst>
          </p:cNvPr>
          <p:cNvSpPr>
            <a:spLocks noGrp="1"/>
          </p:cNvSpPr>
          <p:nvPr>
            <p:ph sz="quarter" idx="16"/>
          </p:nvPr>
        </p:nvSpPr>
        <p:spPr>
          <a:xfrm>
            <a:off x="4467600" y="737999"/>
            <a:ext cx="7092000" cy="4058166"/>
          </a:xfrm>
        </p:spPr>
        <p:txBody>
          <a:bodyPr/>
          <a:lstStyle/>
          <a:p>
            <a:r>
              <a:rPr lang="en-GB" dirty="0"/>
              <a:t>Report context</a:t>
            </a:r>
          </a:p>
          <a:p>
            <a:r>
              <a:rPr lang="en-GB" dirty="0"/>
              <a:t>Sigrid portfolio hygiene</a:t>
            </a:r>
          </a:p>
          <a:p>
            <a:r>
              <a:rPr lang="en-GB" dirty="0"/>
              <a:t>Objectives</a:t>
            </a:r>
          </a:p>
          <a:p>
            <a:r>
              <a:rPr lang="en-GB" dirty="0"/>
              <a:t>Portfolio trends</a:t>
            </a:r>
          </a:p>
          <a:p>
            <a:endParaRPr lang="en-GB" dirty="0"/>
          </a:p>
          <a:p>
            <a:endParaRPr lang="en-GB" dirty="0"/>
          </a:p>
        </p:txBody>
      </p:sp>
      <p:grpSp>
        <p:nvGrpSpPr>
          <p:cNvPr id="32" name="Group 31">
            <a:extLst>
              <a:ext uri="{FF2B5EF4-FFF2-40B4-BE49-F238E27FC236}">
                <a16:creationId xmlns:a16="http://schemas.microsoft.com/office/drawing/2014/main" id="{63AEFF71-AFAA-2A9B-1B52-69C00DF203AA}"/>
              </a:ext>
            </a:extLst>
          </p:cNvPr>
          <p:cNvGrpSpPr/>
          <p:nvPr/>
        </p:nvGrpSpPr>
        <p:grpSpPr>
          <a:xfrm>
            <a:off x="5682921" y="3488315"/>
            <a:ext cx="5119353" cy="332898"/>
            <a:chOff x="5682921" y="2898499"/>
            <a:chExt cx="5119353" cy="332898"/>
          </a:xfrm>
        </p:grpSpPr>
        <p:sp>
          <p:nvSpPr>
            <p:cNvPr id="33" name="Rectangle 5">
              <a:extLst>
                <a:ext uri="{FF2B5EF4-FFF2-40B4-BE49-F238E27FC236}">
                  <a16:creationId xmlns:a16="http://schemas.microsoft.com/office/drawing/2014/main" id="{CF5648A5-989D-607F-8E33-BE663B334A22}"/>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34" name="Rectangle 12">
              <a:extLst>
                <a:ext uri="{FF2B5EF4-FFF2-40B4-BE49-F238E27FC236}">
                  <a16:creationId xmlns:a16="http://schemas.microsoft.com/office/drawing/2014/main" id="{6199A04C-EC60-FB43-DB8D-97CCBCA311F4}"/>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35" name="TextBox 6">
              <a:extLst>
                <a:ext uri="{FF2B5EF4-FFF2-40B4-BE49-F238E27FC236}">
                  <a16:creationId xmlns:a16="http://schemas.microsoft.com/office/drawing/2014/main" id="{277D7F99-1C55-864A-511F-89B598866BE7}"/>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Maintainability</a:t>
              </a:r>
            </a:p>
          </p:txBody>
        </p:sp>
        <p:sp>
          <p:nvSpPr>
            <p:cNvPr id="36" name="TextBox 18">
              <a:extLst>
                <a:ext uri="{FF2B5EF4-FFF2-40B4-BE49-F238E27FC236}">
                  <a16:creationId xmlns:a16="http://schemas.microsoft.com/office/drawing/2014/main" id="{E7FB80B6-7D6D-E1C4-A31F-209945D62AC9}"/>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Architecture</a:t>
              </a:r>
            </a:p>
          </p:txBody>
        </p:sp>
      </p:grpSp>
      <p:grpSp>
        <p:nvGrpSpPr>
          <p:cNvPr id="10" name="Group 9">
            <a:extLst>
              <a:ext uri="{FF2B5EF4-FFF2-40B4-BE49-F238E27FC236}">
                <a16:creationId xmlns:a16="http://schemas.microsoft.com/office/drawing/2014/main" id="{143C0B0B-ED22-142B-A9CD-BAA7FAF50C31}"/>
              </a:ext>
            </a:extLst>
          </p:cNvPr>
          <p:cNvGrpSpPr/>
          <p:nvPr/>
        </p:nvGrpSpPr>
        <p:grpSpPr>
          <a:xfrm>
            <a:off x="5682922" y="4097912"/>
            <a:ext cx="5119353" cy="332898"/>
            <a:chOff x="5682921" y="2898499"/>
            <a:chExt cx="5119353" cy="332898"/>
          </a:xfrm>
        </p:grpSpPr>
        <p:sp>
          <p:nvSpPr>
            <p:cNvPr id="11" name="Rectangle 5">
              <a:extLst>
                <a:ext uri="{FF2B5EF4-FFF2-40B4-BE49-F238E27FC236}">
                  <a16:creationId xmlns:a16="http://schemas.microsoft.com/office/drawing/2014/main" id="{47BAAC54-EE45-F1AF-80E5-0327EFBDE8CA}"/>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3</a:t>
              </a:r>
            </a:p>
          </p:txBody>
        </p:sp>
        <p:sp>
          <p:nvSpPr>
            <p:cNvPr id="15" name="Rectangle 12">
              <a:extLst>
                <a:ext uri="{FF2B5EF4-FFF2-40B4-BE49-F238E27FC236}">
                  <a16:creationId xmlns:a16="http://schemas.microsoft.com/office/drawing/2014/main" id="{5C965501-DB29-F3B2-092B-EE8EBEEE535D}"/>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4</a:t>
              </a:r>
            </a:p>
          </p:txBody>
        </p:sp>
        <p:sp>
          <p:nvSpPr>
            <p:cNvPr id="17" name="TextBox 6">
              <a:extLst>
                <a:ext uri="{FF2B5EF4-FFF2-40B4-BE49-F238E27FC236}">
                  <a16:creationId xmlns:a16="http://schemas.microsoft.com/office/drawing/2014/main" id="{21034DE5-129E-322B-E133-4976C59FE493}"/>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Open Source Health</a:t>
              </a:r>
            </a:p>
          </p:txBody>
        </p:sp>
        <p:sp>
          <p:nvSpPr>
            <p:cNvPr id="18" name="TextBox 18">
              <a:extLst>
                <a:ext uri="{FF2B5EF4-FFF2-40B4-BE49-F238E27FC236}">
                  <a16:creationId xmlns:a16="http://schemas.microsoft.com/office/drawing/2014/main" id="{314E0D16-B487-D155-FBA6-1606DD728846}"/>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Security</a:t>
              </a:r>
            </a:p>
          </p:txBody>
        </p:sp>
      </p:grpSp>
      <p:sp>
        <p:nvSpPr>
          <p:cNvPr id="6" name="Footer Placeholder 5">
            <a:extLst>
              <a:ext uri="{FF2B5EF4-FFF2-40B4-BE49-F238E27FC236}">
                <a16:creationId xmlns:a16="http://schemas.microsoft.com/office/drawing/2014/main" id="{1EF2CB95-9458-0410-67B8-D0010F7323BD}"/>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277002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18671C5-F042-037A-74D6-4C34BE22CC2D}"/>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PORTFOLIO_PERIOD_MAINTAINABILITY</a:t>
            </a:r>
            <a:r>
              <a:rPr lang="en-US" sz="1600" dirty="0">
                <a:solidFill>
                  <a:schemeClr val="bg1"/>
                </a:solidFill>
              </a:rPr>
              <a:t>_GROUPED_BY_TEAM</a:t>
            </a:r>
            <a:endParaRPr lang="en-GB" sz="1600" dirty="0">
              <a:solidFill>
                <a:schemeClr val="bg1"/>
              </a:solidFill>
            </a:endParaRPr>
          </a:p>
        </p:txBody>
      </p:sp>
      <p:sp>
        <p:nvSpPr>
          <p:cNvPr id="2" name="Text Placeholder 1">
            <a:extLst>
              <a:ext uri="{FF2B5EF4-FFF2-40B4-BE49-F238E27FC236}">
                <a16:creationId xmlns:a16="http://schemas.microsoft.com/office/drawing/2014/main" id="{24A601DF-C4A8-2D87-FD83-478449C52321}"/>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5" name="Slide Number Placeholder 4">
            <a:extLst>
              <a:ext uri="{FF2B5EF4-FFF2-40B4-BE49-F238E27FC236}">
                <a16:creationId xmlns:a16="http://schemas.microsoft.com/office/drawing/2014/main" id="{CC8973F4-BD90-5319-109B-46FFDE9337A1}"/>
              </a:ext>
            </a:extLst>
          </p:cNvPr>
          <p:cNvSpPr>
            <a:spLocks noGrp="1"/>
          </p:cNvSpPr>
          <p:nvPr>
            <p:ph type="sldNum" sz="quarter" idx="15"/>
          </p:nvPr>
        </p:nvSpPr>
        <p:spPr/>
        <p:txBody>
          <a:bodyPr/>
          <a:lstStyle/>
          <a:p>
            <a:fld id="{E242BD21-9B61-2246-BCB1-4BE5E1BEBE1C}" type="slidenum">
              <a:rPr lang="en-GB" smtClean="0"/>
              <a:pPr/>
              <a:t>11</a:t>
            </a:fld>
            <a:endParaRPr lang="en-GB" dirty="0"/>
          </a:p>
        </p:txBody>
      </p:sp>
      <p:sp>
        <p:nvSpPr>
          <p:cNvPr id="6" name="Title 5">
            <a:extLst>
              <a:ext uri="{FF2B5EF4-FFF2-40B4-BE49-F238E27FC236}">
                <a16:creationId xmlns:a16="http://schemas.microsoft.com/office/drawing/2014/main" id="{30EF4FCE-16C7-AAE8-D773-A8EA61868F96}"/>
              </a:ext>
            </a:extLst>
          </p:cNvPr>
          <p:cNvSpPr>
            <a:spLocks noGrp="1"/>
          </p:cNvSpPr>
          <p:nvPr>
            <p:ph type="title"/>
          </p:nvPr>
        </p:nvSpPr>
        <p:spPr/>
        <p:txBody>
          <a:bodyPr/>
          <a:lstStyle/>
          <a:p>
            <a:r>
              <a:rPr lang="en-GB" dirty="0"/>
              <a:t>PORTFOLIO_PERIOD_MAINT_SHORT_SUMMARY</a:t>
            </a:r>
          </a:p>
        </p:txBody>
      </p:sp>
      <p:pic>
        <p:nvPicPr>
          <p:cNvPr id="27" name="Graphic 26">
            <a:extLst>
              <a:ext uri="{FF2B5EF4-FFF2-40B4-BE49-F238E27FC236}">
                <a16:creationId xmlns:a16="http://schemas.microsoft.com/office/drawing/2014/main" id="{1B8A7248-F03C-088E-C008-987A5B232F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9" name="TextBox 28">
            <a:extLst>
              <a:ext uri="{FF2B5EF4-FFF2-40B4-BE49-F238E27FC236}">
                <a16:creationId xmlns:a16="http://schemas.microsoft.com/office/drawing/2014/main" id="{46CDA2AA-8345-4B77-9D19-3B6B6B682D6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30" name="Group 29">
            <a:extLst>
              <a:ext uri="{FF2B5EF4-FFF2-40B4-BE49-F238E27FC236}">
                <a16:creationId xmlns:a16="http://schemas.microsoft.com/office/drawing/2014/main" id="{E0D9E6FA-490C-7A76-F042-C6CBE8EC8CC9}"/>
              </a:ext>
            </a:extLst>
          </p:cNvPr>
          <p:cNvGrpSpPr/>
          <p:nvPr/>
        </p:nvGrpSpPr>
        <p:grpSpPr>
          <a:xfrm>
            <a:off x="690538" y="5907042"/>
            <a:ext cx="300732" cy="98617"/>
            <a:chOff x="586253" y="6116391"/>
            <a:chExt cx="300732" cy="98617"/>
          </a:xfrm>
        </p:grpSpPr>
        <p:sp>
          <p:nvSpPr>
            <p:cNvPr id="31" name="TextBox 30">
              <a:extLst>
                <a:ext uri="{FF2B5EF4-FFF2-40B4-BE49-F238E27FC236}">
                  <a16:creationId xmlns:a16="http://schemas.microsoft.com/office/drawing/2014/main" id="{AFCC85E8-4CEE-1443-5223-4D50EF70486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2" name="Rounded Rectangle 31">
              <a:extLst>
                <a:ext uri="{FF2B5EF4-FFF2-40B4-BE49-F238E27FC236}">
                  <a16:creationId xmlns:a16="http://schemas.microsoft.com/office/drawing/2014/main" id="{C9B90DD7-4FB9-2883-E7AE-08032D550CCB}"/>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3" name="Group 32">
            <a:extLst>
              <a:ext uri="{FF2B5EF4-FFF2-40B4-BE49-F238E27FC236}">
                <a16:creationId xmlns:a16="http://schemas.microsoft.com/office/drawing/2014/main" id="{5CB124ED-E704-12AA-C864-811D9D5670BD}"/>
              </a:ext>
            </a:extLst>
          </p:cNvPr>
          <p:cNvGrpSpPr/>
          <p:nvPr/>
        </p:nvGrpSpPr>
        <p:grpSpPr>
          <a:xfrm>
            <a:off x="1107915" y="5907042"/>
            <a:ext cx="331190" cy="98617"/>
            <a:chOff x="961765" y="6117353"/>
            <a:chExt cx="331190" cy="98617"/>
          </a:xfrm>
        </p:grpSpPr>
        <p:sp>
          <p:nvSpPr>
            <p:cNvPr id="34" name="TextBox 33">
              <a:extLst>
                <a:ext uri="{FF2B5EF4-FFF2-40B4-BE49-F238E27FC236}">
                  <a16:creationId xmlns:a16="http://schemas.microsoft.com/office/drawing/2014/main" id="{AC0E027F-C043-85D4-8A7D-8FB2639DA35A}"/>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5" name="Rounded Rectangle 34">
              <a:extLst>
                <a:ext uri="{FF2B5EF4-FFF2-40B4-BE49-F238E27FC236}">
                  <a16:creationId xmlns:a16="http://schemas.microsoft.com/office/drawing/2014/main" id="{321A6AD1-50D4-60BA-DA82-432C012CDE3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6" name="Group 35">
            <a:extLst>
              <a:ext uri="{FF2B5EF4-FFF2-40B4-BE49-F238E27FC236}">
                <a16:creationId xmlns:a16="http://schemas.microsoft.com/office/drawing/2014/main" id="{76D7359A-F9B0-6788-C6F6-1FD4C4F59016}"/>
              </a:ext>
            </a:extLst>
          </p:cNvPr>
          <p:cNvGrpSpPr/>
          <p:nvPr/>
        </p:nvGrpSpPr>
        <p:grpSpPr>
          <a:xfrm>
            <a:off x="1555751" y="5907042"/>
            <a:ext cx="331190" cy="98617"/>
            <a:chOff x="1114165" y="6269753"/>
            <a:chExt cx="331190" cy="98617"/>
          </a:xfrm>
        </p:grpSpPr>
        <p:sp>
          <p:nvSpPr>
            <p:cNvPr id="37" name="TextBox 36">
              <a:extLst>
                <a:ext uri="{FF2B5EF4-FFF2-40B4-BE49-F238E27FC236}">
                  <a16:creationId xmlns:a16="http://schemas.microsoft.com/office/drawing/2014/main" id="{8A42E839-1AC6-A973-B2D6-FE03C7A2EAA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8" name="Rounded Rectangle 37">
              <a:extLst>
                <a:ext uri="{FF2B5EF4-FFF2-40B4-BE49-F238E27FC236}">
                  <a16:creationId xmlns:a16="http://schemas.microsoft.com/office/drawing/2014/main" id="{574C697C-D5E2-1EC6-E364-0363EB8D95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9" name="Group 38">
            <a:extLst>
              <a:ext uri="{FF2B5EF4-FFF2-40B4-BE49-F238E27FC236}">
                <a16:creationId xmlns:a16="http://schemas.microsoft.com/office/drawing/2014/main" id="{546AB6F5-8F91-2462-9FB2-89399076ED14}"/>
              </a:ext>
            </a:extLst>
          </p:cNvPr>
          <p:cNvGrpSpPr/>
          <p:nvPr/>
        </p:nvGrpSpPr>
        <p:grpSpPr>
          <a:xfrm>
            <a:off x="2003587" y="5907042"/>
            <a:ext cx="331190" cy="98617"/>
            <a:chOff x="1114165" y="6269753"/>
            <a:chExt cx="331190" cy="98617"/>
          </a:xfrm>
        </p:grpSpPr>
        <p:sp>
          <p:nvSpPr>
            <p:cNvPr id="40" name="TextBox 39">
              <a:extLst>
                <a:ext uri="{FF2B5EF4-FFF2-40B4-BE49-F238E27FC236}">
                  <a16:creationId xmlns:a16="http://schemas.microsoft.com/office/drawing/2014/main" id="{21B966A2-CD6E-43B3-1B35-574D340193A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41" name="Rounded Rectangle 40">
              <a:extLst>
                <a:ext uri="{FF2B5EF4-FFF2-40B4-BE49-F238E27FC236}">
                  <a16:creationId xmlns:a16="http://schemas.microsoft.com/office/drawing/2014/main" id="{EBB239A8-7183-B922-0F96-5ECD20AD38D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2" name="Group 41">
            <a:extLst>
              <a:ext uri="{FF2B5EF4-FFF2-40B4-BE49-F238E27FC236}">
                <a16:creationId xmlns:a16="http://schemas.microsoft.com/office/drawing/2014/main" id="{58E13405-55E4-337C-0075-F5940C9366AF}"/>
              </a:ext>
            </a:extLst>
          </p:cNvPr>
          <p:cNvGrpSpPr/>
          <p:nvPr/>
        </p:nvGrpSpPr>
        <p:grpSpPr>
          <a:xfrm>
            <a:off x="2451422" y="5907042"/>
            <a:ext cx="331190" cy="98617"/>
            <a:chOff x="1114165" y="6269753"/>
            <a:chExt cx="331190" cy="98617"/>
          </a:xfrm>
        </p:grpSpPr>
        <p:sp>
          <p:nvSpPr>
            <p:cNvPr id="43" name="TextBox 42">
              <a:extLst>
                <a:ext uri="{FF2B5EF4-FFF2-40B4-BE49-F238E27FC236}">
                  <a16:creationId xmlns:a16="http://schemas.microsoft.com/office/drawing/2014/main" id="{EB9F2CE7-8B0B-523F-B2D6-B2F5B8E1AF5C}"/>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4" name="Rounded Rectangle 43">
              <a:extLst>
                <a:ext uri="{FF2B5EF4-FFF2-40B4-BE49-F238E27FC236}">
                  <a16:creationId xmlns:a16="http://schemas.microsoft.com/office/drawing/2014/main" id="{B9C71E9A-6525-560E-1410-76D0C3A6297F}"/>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7" name="Content Placeholder 2">
            <a:extLst>
              <a:ext uri="{FF2B5EF4-FFF2-40B4-BE49-F238E27FC236}">
                <a16:creationId xmlns:a16="http://schemas.microsoft.com/office/drawing/2014/main" id="{D48E06C3-DD1E-DA61-E312-484DB2CB23C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maintainability rating for the portfolio is PORTFOLIO_MAINT_AVG_RATING</a:t>
            </a:r>
            <a:r>
              <a:rPr lang="en-US" sz="100" dirty="0"/>
              <a:t> </a:t>
            </a:r>
            <a:r>
              <a:rPr lang="en-US" dirty="0"/>
              <a:t>★.</a:t>
            </a:r>
          </a:p>
          <a:p>
            <a:pPr indent="-283845"/>
            <a:r>
              <a:rPr lang="en-US" dirty="0"/>
              <a:t>PORTFOLIO_MAINT_ABOVE_MARKET</a:t>
            </a:r>
            <a:r>
              <a:rPr lang="en-GB" sz="1550" noProof="0" dirty="0"/>
              <a:t>% of systems score above market average (≥3.5</a:t>
            </a:r>
            <a:r>
              <a:rPr lang="en-US" sz="1400" dirty="0"/>
              <a:t>★</a:t>
            </a:r>
            <a:r>
              <a:rPr lang="en-GB" sz="1550" noProof="0" dirty="0"/>
              <a:t>).</a:t>
            </a:r>
          </a:p>
          <a:p>
            <a:pPr indent="-283845"/>
            <a:r>
              <a:rPr lang="en-US" dirty="0"/>
              <a:t>PORTFOLIO_MAINT_MARKET_AVERAGE</a:t>
            </a:r>
            <a:r>
              <a:rPr lang="en-GB" sz="1550" dirty="0">
                <a:ea typeface="Calibri"/>
                <a:cs typeface="Calibri"/>
              </a:rPr>
              <a:t>% of systems score market average (3</a:t>
            </a:r>
            <a:r>
              <a:rPr lang="en-US" sz="1400" dirty="0"/>
              <a:t>★</a:t>
            </a:r>
            <a:r>
              <a:rPr lang="en-GB" sz="1550" dirty="0">
                <a:ea typeface="Calibri"/>
                <a:cs typeface="Calibri"/>
              </a:rPr>
              <a:t>).</a:t>
            </a:r>
          </a:p>
          <a:p>
            <a:pPr indent="-283845"/>
            <a:r>
              <a:rPr lang="en-US" dirty="0"/>
              <a:t>PORTFOLIO_MAINT_BELOW_MARKET</a:t>
            </a:r>
            <a:r>
              <a:rPr lang="en-GB" sz="1550" dirty="0">
                <a:ea typeface="Calibri"/>
                <a:cs typeface="Calibri"/>
              </a:rPr>
              <a:t>% of systems score below market average (≤2.5</a:t>
            </a:r>
            <a:r>
              <a:rPr lang="en-US" sz="1400" dirty="0"/>
              <a:t>★</a:t>
            </a:r>
            <a:r>
              <a:rPr lang="en-GB" sz="1550" dirty="0">
                <a:ea typeface="Calibri"/>
                <a:cs typeface="Calibri"/>
              </a:rPr>
              <a:t>).</a:t>
            </a:r>
          </a:p>
        </p:txBody>
      </p:sp>
      <p:sp>
        <p:nvSpPr>
          <p:cNvPr id="3" name="Footer Placeholder 5">
            <a:extLst>
              <a:ext uri="{FF2B5EF4-FFF2-40B4-BE49-F238E27FC236}">
                <a16:creationId xmlns:a16="http://schemas.microsoft.com/office/drawing/2014/main" id="{82359267-D9DF-5DAD-4FF7-F4F7A208FD08}"/>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753497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012217" cy="228209"/>
          </a:xfrm>
        </p:spPr>
        <p:txBody>
          <a:bodyPr/>
          <a:lstStyle/>
          <a:p>
            <a:r>
              <a:rPr lang="en-US" dirty="0"/>
              <a:t>Portfolio trends - Maintainability</a:t>
            </a:r>
            <a:endParaRPr lang="en-US" noProof="0" dirty="0"/>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GB" dirty="0"/>
              <a:t>PORTFOLIO_PERIOD_MAINT_SHORT_SUMMARY</a:t>
            </a:r>
            <a:endParaRPr lang="en-US" noProof="0" dirty="0"/>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PORTFOLIO_GALAXY_CHART">
            <a:extLst>
              <a:ext uri="{FF2B5EF4-FFF2-40B4-BE49-F238E27FC236}">
                <a16:creationId xmlns:a16="http://schemas.microsoft.com/office/drawing/2014/main" id="{71473021-ED8B-E048-AE80-928BC05FB04C}"/>
              </a:ext>
            </a:extLst>
          </p:cNvPr>
          <p:cNvGraphicFramePr/>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
        <p:nvSpPr>
          <p:cNvPr id="5" name="Tijdelijke aanduiding voor voettekst 1">
            <a:extLst>
              <a:ext uri="{FF2B5EF4-FFF2-40B4-BE49-F238E27FC236}">
                <a16:creationId xmlns:a16="http://schemas.microsoft.com/office/drawing/2014/main" id="{8BBB7104-DB0E-37E3-6567-BE521D1AD431}"/>
              </a:ext>
            </a:extLst>
          </p:cNvPr>
          <p:cNvSpPr>
            <a:spLocks noGrp="1"/>
          </p:cNvSpPr>
          <p:nvPr>
            <p:ph type="ftr" sz="quarter" idx="14"/>
          </p:nvPr>
        </p:nvSpPr>
        <p:spPr>
          <a:xfrm>
            <a:off x="194555" y="6387115"/>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729317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F4FC4-92FA-133B-51E6-15AF607B42D8}"/>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4AAAF0DF-523F-2152-BE91-E690F0C16A36}"/>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PORTFOLIO_PERIOD_TEST_CODE_GROUPED_BY_TEAM</a:t>
            </a:r>
          </a:p>
        </p:txBody>
      </p:sp>
      <p:sp>
        <p:nvSpPr>
          <p:cNvPr id="2" name="Text Placeholder 1">
            <a:extLst>
              <a:ext uri="{FF2B5EF4-FFF2-40B4-BE49-F238E27FC236}">
                <a16:creationId xmlns:a16="http://schemas.microsoft.com/office/drawing/2014/main" id="{8DA83DCD-7C70-900D-43B4-CE96EF7B7F60}"/>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5" name="Slide Number Placeholder 4">
            <a:extLst>
              <a:ext uri="{FF2B5EF4-FFF2-40B4-BE49-F238E27FC236}">
                <a16:creationId xmlns:a16="http://schemas.microsoft.com/office/drawing/2014/main" id="{83A13365-7513-F41E-A229-F5E501163035}"/>
              </a:ext>
            </a:extLst>
          </p:cNvPr>
          <p:cNvSpPr>
            <a:spLocks noGrp="1"/>
          </p:cNvSpPr>
          <p:nvPr>
            <p:ph type="sldNum" sz="quarter" idx="15"/>
          </p:nvPr>
        </p:nvSpPr>
        <p:spPr/>
        <p:txBody>
          <a:bodyPr/>
          <a:lstStyle/>
          <a:p>
            <a:fld id="{E242BD21-9B61-2246-BCB1-4BE5E1BEBE1C}" type="slidenum">
              <a:rPr lang="en-GB" smtClean="0"/>
              <a:pPr/>
              <a:t>13</a:t>
            </a:fld>
            <a:endParaRPr lang="en-GB" dirty="0"/>
          </a:p>
        </p:txBody>
      </p:sp>
      <p:sp>
        <p:nvSpPr>
          <p:cNvPr id="6" name="Title 5">
            <a:extLst>
              <a:ext uri="{FF2B5EF4-FFF2-40B4-BE49-F238E27FC236}">
                <a16:creationId xmlns:a16="http://schemas.microsoft.com/office/drawing/2014/main" id="{5213AD90-B853-FCBB-8AD0-E3ECB74413FB}"/>
              </a:ext>
            </a:extLst>
          </p:cNvPr>
          <p:cNvSpPr>
            <a:spLocks noGrp="1"/>
          </p:cNvSpPr>
          <p:nvPr>
            <p:ph type="title"/>
          </p:nvPr>
        </p:nvSpPr>
        <p:spPr>
          <a:xfrm>
            <a:off x="154800" y="594000"/>
            <a:ext cx="11880000" cy="402291"/>
          </a:xfrm>
        </p:spPr>
        <p:txBody>
          <a:bodyPr/>
          <a:lstStyle/>
          <a:p>
            <a:r>
              <a:rPr lang="en-GB" dirty="0"/>
              <a:t>Test-to-production code ratios of the portfolio on PORTFOLIO_PERIOD_END_DATE</a:t>
            </a:r>
          </a:p>
        </p:txBody>
      </p:sp>
      <p:sp>
        <p:nvSpPr>
          <p:cNvPr id="10" name="TextBox 9">
            <a:extLst>
              <a:ext uri="{FF2B5EF4-FFF2-40B4-BE49-F238E27FC236}">
                <a16:creationId xmlns:a16="http://schemas.microsoft.com/office/drawing/2014/main" id="{A02D8A7E-FC89-374D-3928-733975E07F27}"/>
              </a:ext>
            </a:extLst>
          </p:cNvPr>
          <p:cNvSpPr txBox="1"/>
          <p:nvPr/>
        </p:nvSpPr>
        <p:spPr>
          <a:xfrm>
            <a:off x="3082464" y="5845729"/>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11" name="Group 10">
            <a:extLst>
              <a:ext uri="{FF2B5EF4-FFF2-40B4-BE49-F238E27FC236}">
                <a16:creationId xmlns:a16="http://schemas.microsoft.com/office/drawing/2014/main" id="{FF318A3D-4B01-E38F-0096-41FFF1B28944}"/>
              </a:ext>
            </a:extLst>
          </p:cNvPr>
          <p:cNvGrpSpPr/>
          <p:nvPr/>
        </p:nvGrpSpPr>
        <p:grpSpPr>
          <a:xfrm>
            <a:off x="694948" y="5908343"/>
            <a:ext cx="273482" cy="98617"/>
            <a:chOff x="586253" y="6116391"/>
            <a:chExt cx="273482" cy="98617"/>
          </a:xfrm>
        </p:grpSpPr>
        <p:sp>
          <p:nvSpPr>
            <p:cNvPr id="12" name="TextBox 11">
              <a:extLst>
                <a:ext uri="{FF2B5EF4-FFF2-40B4-BE49-F238E27FC236}">
                  <a16:creationId xmlns:a16="http://schemas.microsoft.com/office/drawing/2014/main" id="{4B1B111F-FBB9-EA13-F251-F40E05265B0A}"/>
                </a:ext>
              </a:extLst>
            </p:cNvPr>
            <p:cNvSpPr txBox="1"/>
            <p:nvPr/>
          </p:nvSpPr>
          <p:spPr>
            <a:xfrm>
              <a:off x="710655" y="6116391"/>
              <a:ext cx="14908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 1%</a:t>
              </a:r>
            </a:p>
          </p:txBody>
        </p:sp>
        <p:sp>
          <p:nvSpPr>
            <p:cNvPr id="13" name="Rounded Rectangle 12">
              <a:extLst>
                <a:ext uri="{FF2B5EF4-FFF2-40B4-BE49-F238E27FC236}">
                  <a16:creationId xmlns:a16="http://schemas.microsoft.com/office/drawing/2014/main" id="{87D12FC3-B3EE-A681-5D2C-4218A1C308E0}"/>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4" name="Group 13">
            <a:extLst>
              <a:ext uri="{FF2B5EF4-FFF2-40B4-BE49-F238E27FC236}">
                <a16:creationId xmlns:a16="http://schemas.microsoft.com/office/drawing/2014/main" id="{CEFB8AA5-C615-8F28-1025-70C65A980764}"/>
              </a:ext>
            </a:extLst>
          </p:cNvPr>
          <p:cNvGrpSpPr/>
          <p:nvPr/>
        </p:nvGrpSpPr>
        <p:grpSpPr>
          <a:xfrm>
            <a:off x="1060651" y="5908343"/>
            <a:ext cx="408134" cy="98617"/>
            <a:chOff x="961765" y="6117353"/>
            <a:chExt cx="408134" cy="98617"/>
          </a:xfrm>
        </p:grpSpPr>
        <p:sp>
          <p:nvSpPr>
            <p:cNvPr id="15" name="TextBox 14">
              <a:extLst>
                <a:ext uri="{FF2B5EF4-FFF2-40B4-BE49-F238E27FC236}">
                  <a16:creationId xmlns:a16="http://schemas.microsoft.com/office/drawing/2014/main" id="{587C06F8-9044-79E7-C86A-2D8041876F85}"/>
                </a:ext>
              </a:extLst>
            </p:cNvPr>
            <p:cNvSpPr txBox="1"/>
            <p:nvPr/>
          </p:nvSpPr>
          <p:spPr>
            <a:xfrm>
              <a:off x="1086167" y="6117353"/>
              <a:ext cx="283732"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- 15%</a:t>
              </a:r>
            </a:p>
          </p:txBody>
        </p:sp>
        <p:sp>
          <p:nvSpPr>
            <p:cNvPr id="16" name="Rounded Rectangle 15">
              <a:extLst>
                <a:ext uri="{FF2B5EF4-FFF2-40B4-BE49-F238E27FC236}">
                  <a16:creationId xmlns:a16="http://schemas.microsoft.com/office/drawing/2014/main" id="{2887F516-DD39-62A6-32D1-0B6374265003}"/>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7" name="Group 16">
            <a:extLst>
              <a:ext uri="{FF2B5EF4-FFF2-40B4-BE49-F238E27FC236}">
                <a16:creationId xmlns:a16="http://schemas.microsoft.com/office/drawing/2014/main" id="{8CD6264C-A1FC-6A59-5FF0-B02177854F9D}"/>
              </a:ext>
            </a:extLst>
          </p:cNvPr>
          <p:cNvGrpSpPr/>
          <p:nvPr/>
        </p:nvGrpSpPr>
        <p:grpSpPr>
          <a:xfrm>
            <a:off x="1561006" y="5908343"/>
            <a:ext cx="446606" cy="98617"/>
            <a:chOff x="1114165" y="6269753"/>
            <a:chExt cx="446606" cy="98617"/>
          </a:xfrm>
        </p:grpSpPr>
        <p:sp>
          <p:nvSpPr>
            <p:cNvPr id="18" name="TextBox 17">
              <a:extLst>
                <a:ext uri="{FF2B5EF4-FFF2-40B4-BE49-F238E27FC236}">
                  <a16:creationId xmlns:a16="http://schemas.microsoft.com/office/drawing/2014/main" id="{67767932-53B3-03DB-2C57-283ECA8F4412}"/>
                </a:ext>
              </a:extLst>
            </p:cNvPr>
            <p:cNvSpPr txBox="1"/>
            <p:nvPr/>
          </p:nvSpPr>
          <p:spPr>
            <a:xfrm>
              <a:off x="1238567" y="6269753"/>
              <a:ext cx="32220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15% - 50%</a:t>
              </a:r>
            </a:p>
          </p:txBody>
        </p:sp>
        <p:sp>
          <p:nvSpPr>
            <p:cNvPr id="19" name="Rounded Rectangle 18">
              <a:extLst>
                <a:ext uri="{FF2B5EF4-FFF2-40B4-BE49-F238E27FC236}">
                  <a16:creationId xmlns:a16="http://schemas.microsoft.com/office/drawing/2014/main" id="{DB5BF329-CA8A-DA0E-3BAF-54E5770234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0" name="Group 19">
            <a:extLst>
              <a:ext uri="{FF2B5EF4-FFF2-40B4-BE49-F238E27FC236}">
                <a16:creationId xmlns:a16="http://schemas.microsoft.com/office/drawing/2014/main" id="{6039F19E-79AC-7455-2D15-72A0F595FFC9}"/>
              </a:ext>
            </a:extLst>
          </p:cNvPr>
          <p:cNvGrpSpPr/>
          <p:nvPr/>
        </p:nvGrpSpPr>
        <p:grpSpPr>
          <a:xfrm>
            <a:off x="2099833" y="5908343"/>
            <a:ext cx="485078" cy="98617"/>
            <a:chOff x="1114165" y="6269753"/>
            <a:chExt cx="485078" cy="98617"/>
          </a:xfrm>
        </p:grpSpPr>
        <p:sp>
          <p:nvSpPr>
            <p:cNvPr id="21" name="TextBox 20">
              <a:extLst>
                <a:ext uri="{FF2B5EF4-FFF2-40B4-BE49-F238E27FC236}">
                  <a16:creationId xmlns:a16="http://schemas.microsoft.com/office/drawing/2014/main" id="{D60A24F1-37A5-9F07-855B-7E46A52C102C}"/>
                </a:ext>
              </a:extLst>
            </p:cNvPr>
            <p:cNvSpPr txBox="1"/>
            <p:nvPr/>
          </p:nvSpPr>
          <p:spPr>
            <a:xfrm>
              <a:off x="1238567" y="6269753"/>
              <a:ext cx="360676"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50% - 150%</a:t>
              </a:r>
            </a:p>
          </p:txBody>
        </p:sp>
        <p:sp>
          <p:nvSpPr>
            <p:cNvPr id="22" name="Rounded Rectangle 21">
              <a:extLst>
                <a:ext uri="{FF2B5EF4-FFF2-40B4-BE49-F238E27FC236}">
                  <a16:creationId xmlns:a16="http://schemas.microsoft.com/office/drawing/2014/main" id="{15CD8E8A-19FB-CC94-9D8A-28911D7068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3" name="Group 22">
            <a:extLst>
              <a:ext uri="{FF2B5EF4-FFF2-40B4-BE49-F238E27FC236}">
                <a16:creationId xmlns:a16="http://schemas.microsoft.com/office/drawing/2014/main" id="{423AD9C7-8D68-456A-B040-0C3083E160F6}"/>
              </a:ext>
            </a:extLst>
          </p:cNvPr>
          <p:cNvGrpSpPr/>
          <p:nvPr/>
        </p:nvGrpSpPr>
        <p:grpSpPr>
          <a:xfrm>
            <a:off x="2677130" y="5908343"/>
            <a:ext cx="350426" cy="98617"/>
            <a:chOff x="1114165" y="6269753"/>
            <a:chExt cx="350426" cy="98617"/>
          </a:xfrm>
        </p:grpSpPr>
        <p:sp>
          <p:nvSpPr>
            <p:cNvPr id="24" name="TextBox 23">
              <a:extLst>
                <a:ext uri="{FF2B5EF4-FFF2-40B4-BE49-F238E27FC236}">
                  <a16:creationId xmlns:a16="http://schemas.microsoft.com/office/drawing/2014/main" id="{98D2D40F-86C4-A805-5564-B535E1BDEA47}"/>
                </a:ext>
              </a:extLst>
            </p:cNvPr>
            <p:cNvSpPr txBox="1"/>
            <p:nvPr/>
          </p:nvSpPr>
          <p:spPr>
            <a:xfrm>
              <a:off x="1238567" y="6269753"/>
              <a:ext cx="22602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&gt; 150%</a:t>
              </a:r>
            </a:p>
          </p:txBody>
        </p:sp>
        <p:sp>
          <p:nvSpPr>
            <p:cNvPr id="25" name="Rounded Rectangle 24">
              <a:extLst>
                <a:ext uri="{FF2B5EF4-FFF2-40B4-BE49-F238E27FC236}">
                  <a16:creationId xmlns:a16="http://schemas.microsoft.com/office/drawing/2014/main" id="{7001D75D-95FB-3C51-F392-A5E177860A13}"/>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pic>
        <p:nvPicPr>
          <p:cNvPr id="3" name="Graphic 2">
            <a:extLst>
              <a:ext uri="{FF2B5EF4-FFF2-40B4-BE49-F238E27FC236}">
                <a16:creationId xmlns:a16="http://schemas.microsoft.com/office/drawing/2014/main" id="{A5EBD51A-EAC9-1AE9-F142-54EBB16F3D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43" name="Content Placeholder 2">
            <a:extLst>
              <a:ext uri="{FF2B5EF4-FFF2-40B4-BE49-F238E27FC236}">
                <a16:creationId xmlns:a16="http://schemas.microsoft.com/office/drawing/2014/main" id="{35EE8E18-8776-00A3-9C94-97989DFBACF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dirty="0"/>
              <a:t>PORTFOLIO_TEST_CODE_LOW</a:t>
            </a:r>
            <a:r>
              <a:rPr lang="en-GB" sz="1550" noProof="0" dirty="0"/>
              <a:t>% systems have a test code ratio of &lt; 50%.</a:t>
            </a:r>
          </a:p>
          <a:p>
            <a:pPr indent="-283845"/>
            <a:r>
              <a:rPr lang="en-GB" sz="1550" dirty="0"/>
              <a:t>PORTFOLIO_TEST_CODE_MEDIUM</a:t>
            </a:r>
            <a:r>
              <a:rPr lang="en-GB" sz="1550" dirty="0">
                <a:ea typeface="Calibri"/>
                <a:cs typeface="Calibri"/>
              </a:rPr>
              <a:t>% of systems have a test code ratio between 50% and 100%.</a:t>
            </a:r>
          </a:p>
          <a:p>
            <a:pPr indent="-283845"/>
            <a:r>
              <a:rPr lang="en-GB" sz="1550" dirty="0"/>
              <a:t>PORTFOLIO_TEST_CODE_HIGH</a:t>
            </a:r>
            <a:r>
              <a:rPr lang="en-GB" sz="1550" dirty="0">
                <a:ea typeface="Calibri"/>
                <a:cs typeface="Calibri"/>
              </a:rPr>
              <a:t>% of systems have a test code ratio ≥ 100%</a:t>
            </a:r>
          </a:p>
        </p:txBody>
      </p:sp>
      <p:sp>
        <p:nvSpPr>
          <p:cNvPr id="4" name="Footer Placeholder 5">
            <a:extLst>
              <a:ext uri="{FF2B5EF4-FFF2-40B4-BE49-F238E27FC236}">
                <a16:creationId xmlns:a16="http://schemas.microsoft.com/office/drawing/2014/main" id="{0476B414-9DA5-568A-1156-7476C19E0ADD}"/>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976464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5F90BB58-CA09-58E2-BE3B-2E065F51CF77}"/>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PORTFOLIO_PERIOD_ARCHITECTURE_GROUPED_BY_TEAM</a:t>
            </a:r>
          </a:p>
        </p:txBody>
      </p:sp>
      <p:sp>
        <p:nvSpPr>
          <p:cNvPr id="2" name="Text Placeholder 1">
            <a:extLst>
              <a:ext uri="{FF2B5EF4-FFF2-40B4-BE49-F238E27FC236}">
                <a16:creationId xmlns:a16="http://schemas.microsoft.com/office/drawing/2014/main" id="{A5603A22-6C87-6123-7889-47059E7B5158}"/>
              </a:ext>
            </a:extLst>
          </p:cNvPr>
          <p:cNvSpPr>
            <a:spLocks noGrp="1"/>
          </p:cNvSpPr>
          <p:nvPr>
            <p:ph type="body" sz="quarter" idx="12"/>
          </p:nvPr>
        </p:nvSpPr>
        <p:spPr>
          <a:xfrm>
            <a:off x="381600" y="129568"/>
            <a:ext cx="2759263" cy="228209"/>
          </a:xfrm>
        </p:spPr>
        <p:txBody>
          <a:bodyPr/>
          <a:lstStyle/>
          <a:p>
            <a:r>
              <a:rPr lang="en-GB" dirty="0"/>
              <a:t>Portfolio trends – Architecture</a:t>
            </a:r>
          </a:p>
        </p:txBody>
      </p:sp>
      <p:sp>
        <p:nvSpPr>
          <p:cNvPr id="5" name="Slide Number Placeholder 4">
            <a:extLst>
              <a:ext uri="{FF2B5EF4-FFF2-40B4-BE49-F238E27FC236}">
                <a16:creationId xmlns:a16="http://schemas.microsoft.com/office/drawing/2014/main" id="{161BB1EC-B729-EEEB-51CD-99A133FF216E}"/>
              </a:ext>
            </a:extLst>
          </p:cNvPr>
          <p:cNvSpPr>
            <a:spLocks noGrp="1"/>
          </p:cNvSpPr>
          <p:nvPr>
            <p:ph type="sldNum" sz="quarter" idx="15"/>
          </p:nvPr>
        </p:nvSpPr>
        <p:spPr/>
        <p:txBody>
          <a:bodyPr/>
          <a:lstStyle/>
          <a:p>
            <a:fld id="{E242BD21-9B61-2246-BCB1-4BE5E1BEBE1C}" type="slidenum">
              <a:rPr lang="en-GB" smtClean="0"/>
              <a:pPr/>
              <a:t>14</a:t>
            </a:fld>
            <a:endParaRPr lang="en-GB" dirty="0"/>
          </a:p>
        </p:txBody>
      </p:sp>
      <p:sp>
        <p:nvSpPr>
          <p:cNvPr id="6" name="Title 5">
            <a:extLst>
              <a:ext uri="{FF2B5EF4-FFF2-40B4-BE49-F238E27FC236}">
                <a16:creationId xmlns:a16="http://schemas.microsoft.com/office/drawing/2014/main" id="{43CDDECE-07F9-831D-887E-96F18B22268F}"/>
              </a:ext>
            </a:extLst>
          </p:cNvPr>
          <p:cNvSpPr>
            <a:spLocks noGrp="1"/>
          </p:cNvSpPr>
          <p:nvPr>
            <p:ph type="title"/>
          </p:nvPr>
        </p:nvSpPr>
        <p:spPr>
          <a:xfrm>
            <a:off x="154800" y="594000"/>
            <a:ext cx="11880000" cy="402291"/>
          </a:xfrm>
        </p:spPr>
        <p:txBody>
          <a:bodyPr/>
          <a:lstStyle/>
          <a:p>
            <a:r>
              <a:rPr lang="en-GB" dirty="0"/>
              <a:t>Architecture ratings of the portfolio on PORTFOLIO_PERIOD_END_DATE</a:t>
            </a:r>
          </a:p>
        </p:txBody>
      </p:sp>
      <p:pic>
        <p:nvPicPr>
          <p:cNvPr id="3" name="Graphic 2">
            <a:extLst>
              <a:ext uri="{FF2B5EF4-FFF2-40B4-BE49-F238E27FC236}">
                <a16:creationId xmlns:a16="http://schemas.microsoft.com/office/drawing/2014/main" id="{7D60EA92-5FAE-DB20-C878-9397C39C84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F22578C5-779F-2DE7-941C-EA21148CF77F}"/>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BCA2F3EE-ED58-8890-B4BF-4E9E9399E1CC}"/>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D7D72A90-1A63-5E0F-8B76-76CF390D2210}"/>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6617A234-0C3B-1517-E133-7B2E2BCA1FAD}"/>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F2C97830-5D0A-7C61-5790-8AE0D6258402}"/>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B61F050E-BC5D-A674-AE97-CDA4545FA315}"/>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84B1977E-A39B-88F7-3A2F-1EB3EBC876F7}"/>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64A3F2BC-D11A-47C0-2D59-EDE88F571DA8}"/>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53250C71-B11A-F676-5B3D-04096307F859}"/>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49EF1191-C257-976C-29AA-F1DA1D22A946}"/>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FDA318A0-FABA-EB5B-A4DE-ADB204F5D0F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3F9D8162-537B-F3FD-4C5A-B95C9B9B31F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6550F1B-DABE-4321-E085-10DEBDFB3F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8782E435-697F-C57C-1530-5C1E6B98227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1EE8F693-BD9E-2048-F83B-CAC471F85DB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F93E0B17-8795-E431-6602-6FD9737C9271}"/>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2718E80B-E45D-BD72-6536-AB0C481281BD}"/>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en-GB" dirty="0"/>
              <a:t>Architecture Quality</a:t>
            </a:r>
            <a:r>
              <a:rPr lang="en-US" dirty="0"/>
              <a:t> rating for the portfolio is PORTFOLIO_ARCH_AVG_RATING</a:t>
            </a:r>
            <a:r>
              <a:rPr lang="en-US" sz="100" dirty="0"/>
              <a:t> </a:t>
            </a:r>
            <a:r>
              <a:rPr lang="en-US" dirty="0"/>
              <a:t>★.</a:t>
            </a:r>
          </a:p>
          <a:p>
            <a:pPr indent="-283845"/>
            <a:r>
              <a:rPr lang="en-US" dirty="0"/>
              <a:t>PORTFOLIO_ARCH_ABOVE_MARKET</a:t>
            </a:r>
            <a:r>
              <a:rPr lang="en-GB" dirty="0"/>
              <a:t>% of systems score above market average for Architecture Quality (≥3.5</a:t>
            </a:r>
            <a:r>
              <a:rPr lang="en-US" dirty="0"/>
              <a:t>★</a:t>
            </a:r>
            <a:r>
              <a:rPr lang="en-GB" dirty="0"/>
              <a:t>).</a:t>
            </a:r>
          </a:p>
          <a:p>
            <a:pPr indent="-283845"/>
            <a:r>
              <a:rPr lang="en-US" dirty="0"/>
              <a:t>PORTFOLIO_ARCH_MARKET_AVERAGE</a:t>
            </a:r>
            <a:r>
              <a:rPr lang="en-GB" dirty="0">
                <a:ea typeface="Calibri"/>
                <a:cs typeface="Calibri"/>
              </a:rPr>
              <a:t>% of systems score market average</a:t>
            </a:r>
            <a:r>
              <a:rPr lang="en-GB" dirty="0"/>
              <a:t> for Architecture Quality</a:t>
            </a:r>
            <a:r>
              <a:rPr lang="en-GB" dirty="0">
                <a:ea typeface="Calibri"/>
                <a:cs typeface="Calibri"/>
              </a:rPr>
              <a:t> (3</a:t>
            </a:r>
            <a:r>
              <a:rPr lang="en-US" dirty="0"/>
              <a:t>★</a:t>
            </a:r>
            <a:r>
              <a:rPr lang="en-GB" dirty="0">
                <a:ea typeface="Calibri"/>
                <a:cs typeface="Calibri"/>
              </a:rPr>
              <a:t>).</a:t>
            </a:r>
          </a:p>
          <a:p>
            <a:pPr indent="-283845"/>
            <a:r>
              <a:rPr lang="en-US" dirty="0"/>
              <a:t>PORTFOLIO_ARCH_BELOW_MARKET</a:t>
            </a:r>
            <a:r>
              <a:rPr lang="en-GB" dirty="0">
                <a:ea typeface="Calibri"/>
                <a:cs typeface="Calibri"/>
              </a:rPr>
              <a:t>% of systems score below market average</a:t>
            </a:r>
            <a:r>
              <a:rPr lang="en-GB" dirty="0"/>
              <a:t> for Architecture Quality</a:t>
            </a:r>
            <a:r>
              <a:rPr lang="en-GB" dirty="0">
                <a:ea typeface="Calibri"/>
                <a:cs typeface="Calibri"/>
              </a:rPr>
              <a:t> (≤2.5</a:t>
            </a:r>
            <a:r>
              <a:rPr lang="en-US" dirty="0"/>
              <a:t>★</a:t>
            </a:r>
            <a:r>
              <a:rPr lang="en-GB" dirty="0">
                <a:ea typeface="Calibri"/>
                <a:cs typeface="Calibri"/>
              </a:rPr>
              <a:t>).</a:t>
            </a:r>
          </a:p>
        </p:txBody>
      </p:sp>
      <p:sp>
        <p:nvSpPr>
          <p:cNvPr id="4" name="Footer Placeholder 5">
            <a:extLst>
              <a:ext uri="{FF2B5EF4-FFF2-40B4-BE49-F238E27FC236}">
                <a16:creationId xmlns:a16="http://schemas.microsoft.com/office/drawing/2014/main" id="{0A35FFDE-258C-B923-8BFA-686A042F4E14}"/>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483869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B07B4F-D7B8-1CEF-56A5-C9C18FBFD145}"/>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sp>
        <p:nvSpPr>
          <p:cNvPr id="5" name="Slide Number Placeholder 4">
            <a:extLst>
              <a:ext uri="{FF2B5EF4-FFF2-40B4-BE49-F238E27FC236}">
                <a16:creationId xmlns:a16="http://schemas.microsoft.com/office/drawing/2014/main" id="{B6546EA6-114E-BE00-9088-0FF2F348135B}"/>
              </a:ext>
            </a:extLst>
          </p:cNvPr>
          <p:cNvSpPr>
            <a:spLocks noGrp="1"/>
          </p:cNvSpPr>
          <p:nvPr>
            <p:ph type="sldNum" sz="quarter" idx="15"/>
          </p:nvPr>
        </p:nvSpPr>
        <p:spPr/>
        <p:txBody>
          <a:bodyPr/>
          <a:lstStyle/>
          <a:p>
            <a:fld id="{E242BD21-9B61-2246-BCB1-4BE5E1BEBE1C}" type="slidenum">
              <a:rPr lang="en-GB" smtClean="0"/>
              <a:pPr/>
              <a:t>15</a:t>
            </a:fld>
            <a:endParaRPr lang="en-GB" dirty="0"/>
          </a:p>
        </p:txBody>
      </p:sp>
      <p:sp>
        <p:nvSpPr>
          <p:cNvPr id="6" name="Title 5">
            <a:extLst>
              <a:ext uri="{FF2B5EF4-FFF2-40B4-BE49-F238E27FC236}">
                <a16:creationId xmlns:a16="http://schemas.microsoft.com/office/drawing/2014/main" id="{3DDFBC53-E0F3-50EC-6D67-B2815BC99A86}"/>
              </a:ext>
            </a:extLst>
          </p:cNvPr>
          <p:cNvSpPr>
            <a:spLocks noGrp="1"/>
          </p:cNvSpPr>
          <p:nvPr>
            <p:ph type="title"/>
          </p:nvPr>
        </p:nvSpPr>
        <p:spPr>
          <a:xfrm>
            <a:off x="154800" y="594000"/>
            <a:ext cx="11880000" cy="402291"/>
          </a:xfrm>
        </p:spPr>
        <p:txBody>
          <a:bodyPr/>
          <a:lstStyle/>
          <a:p>
            <a:r>
              <a:rPr lang="en-GB" dirty="0"/>
              <a:t>Open-source health ratings of the portfolio on PORTFOLIO_PERIOD_END_DATE</a:t>
            </a:r>
          </a:p>
        </p:txBody>
      </p:sp>
      <p:sp>
        <p:nvSpPr>
          <p:cNvPr id="9" name="Rectangle 8">
            <a:extLst>
              <a:ext uri="{FF2B5EF4-FFF2-40B4-BE49-F238E27FC236}">
                <a16:creationId xmlns:a16="http://schemas.microsoft.com/office/drawing/2014/main" id="{B6E8C506-EBA7-D433-19CB-BD7B4186FE2F}"/>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PORTFOLIO_PERIOD_OSH_RATINGS_GROUPED_BY_TEAM</a:t>
            </a:r>
          </a:p>
        </p:txBody>
      </p:sp>
      <p:pic>
        <p:nvPicPr>
          <p:cNvPr id="3" name="Graphic 2">
            <a:extLst>
              <a:ext uri="{FF2B5EF4-FFF2-40B4-BE49-F238E27FC236}">
                <a16:creationId xmlns:a16="http://schemas.microsoft.com/office/drawing/2014/main" id="{6053C8FF-A309-9635-AB10-3E7965715D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15E0572C-1734-61F0-856F-5E79E547DCB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D988E0B2-1D87-C999-BC6A-C9E400EA29C4}"/>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2C7A6F15-7EE4-41DA-71F3-F8B932ABCB9E}"/>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C5FB1D3-CA1E-3CEF-9DCB-A533BD67512F}"/>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678352C9-05CD-024F-9FC8-A43B06C5296F}"/>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D80ACC94-4A3B-E4A2-C515-92A1B0B85607}"/>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5BAC351A-6A3D-8EE7-3400-48AC200F046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103C1BE7-DC33-05D7-A88F-E4549430313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15258E72-CF1A-4DFE-52F3-DB2B89080DF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73B613B1-191F-17CB-8B90-A1C172B0B5E9}"/>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86C7A952-D4BD-C5BE-3ECD-80D0236B6DC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CE346C1E-F337-E3F0-51BC-42C15701A9F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0E88F2D9-0594-B652-C0EB-2B82B013E371}"/>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6FD99AA7-4DE9-A06B-FABC-D5259DB272D8}"/>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E3791E94-0AAD-9D1A-14E0-882C135761E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3CB886B0-18FD-211D-FAB5-01B5BE753299}"/>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E223A60-5DA4-23C2-35E1-41CA53903EBF}"/>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nl-NL" dirty="0"/>
              <a:t>Open Source Health </a:t>
            </a:r>
            <a:r>
              <a:rPr lang="en-US" dirty="0"/>
              <a:t>rating for the portfolio is PORTFOLIO_OSH_AVG_RATING</a:t>
            </a:r>
            <a:r>
              <a:rPr lang="en-US" sz="100" dirty="0"/>
              <a:t> </a:t>
            </a:r>
            <a:r>
              <a:rPr lang="en-US" dirty="0"/>
              <a:t>★.</a:t>
            </a:r>
          </a:p>
          <a:p>
            <a:pPr indent="-283845"/>
            <a:r>
              <a:rPr lang="en-GB" dirty="0"/>
              <a:t>PORTFOLIO_OSH_ABOVE_MARKET% of systems score above market average for Open Source Health (≥3.5</a:t>
            </a:r>
            <a:r>
              <a:rPr lang="en-US" dirty="0"/>
              <a:t>★</a:t>
            </a:r>
            <a:r>
              <a:rPr lang="en-GB" dirty="0"/>
              <a:t>).</a:t>
            </a:r>
          </a:p>
          <a:p>
            <a:pPr indent="-283845"/>
            <a:r>
              <a:rPr lang="en-US" dirty="0"/>
              <a:t>PORTFOLIO_OSH_MARKET_AVERAGE</a:t>
            </a:r>
            <a:r>
              <a:rPr lang="en-GB" dirty="0">
                <a:ea typeface="Calibri"/>
                <a:cs typeface="Calibri"/>
              </a:rPr>
              <a:t>% of systems score market average</a:t>
            </a:r>
            <a:r>
              <a:rPr lang="en-GB" dirty="0"/>
              <a:t> for Open Source Health </a:t>
            </a:r>
            <a:r>
              <a:rPr lang="en-GB" dirty="0">
                <a:ea typeface="Calibri"/>
                <a:cs typeface="Calibri"/>
              </a:rPr>
              <a:t>(3</a:t>
            </a:r>
            <a:r>
              <a:rPr lang="en-US" dirty="0"/>
              <a:t>★</a:t>
            </a:r>
            <a:r>
              <a:rPr lang="en-GB" dirty="0">
                <a:ea typeface="Calibri"/>
                <a:cs typeface="Calibri"/>
              </a:rPr>
              <a:t>).</a:t>
            </a:r>
          </a:p>
          <a:p>
            <a:pPr indent="-283845"/>
            <a:r>
              <a:rPr lang="en-US" dirty="0"/>
              <a:t>PORTFOLIO_OSH_BELOW_MARKET</a:t>
            </a:r>
            <a:r>
              <a:rPr lang="en-GB" dirty="0">
                <a:ea typeface="Calibri"/>
                <a:cs typeface="Calibri"/>
              </a:rPr>
              <a:t>% of systems score below market average</a:t>
            </a:r>
            <a:r>
              <a:rPr lang="en-GB" dirty="0"/>
              <a:t> for Open Source Health </a:t>
            </a:r>
            <a:r>
              <a:rPr lang="en-GB" dirty="0">
                <a:ea typeface="Calibri"/>
                <a:cs typeface="Calibri"/>
              </a:rPr>
              <a:t>(≤2.5</a:t>
            </a:r>
            <a:r>
              <a:rPr lang="en-US" dirty="0"/>
              <a:t>★</a:t>
            </a:r>
            <a:r>
              <a:rPr lang="en-GB" dirty="0">
                <a:ea typeface="Calibri"/>
                <a:cs typeface="Calibri"/>
              </a:rPr>
              <a:t>).</a:t>
            </a:r>
          </a:p>
        </p:txBody>
      </p:sp>
      <p:sp>
        <p:nvSpPr>
          <p:cNvPr id="4" name="Footer Placeholder 5">
            <a:extLst>
              <a:ext uri="{FF2B5EF4-FFF2-40B4-BE49-F238E27FC236}">
                <a16:creationId xmlns:a16="http://schemas.microsoft.com/office/drawing/2014/main" id="{CD0BEDA0-A614-7EF6-D020-A50AEBD31A20}"/>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745401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r>
              <a:rPr lang="en-US" dirty="0"/>
              <a:t>PORTFOLIO_OSH_VULN_SUMMARY</a:t>
            </a:r>
          </a:p>
          <a:p>
            <a:r>
              <a:rPr lang="en-US" dirty="0"/>
              <a:t>PORTFOLIO_OSH_LEGAL_SUMMARY</a:t>
            </a:r>
          </a:p>
          <a:p>
            <a:r>
              <a:rPr lang="en-US" dirty="0"/>
              <a:t>PORTFOLIO_OSH_FRESHNESS_SUMMARY</a:t>
            </a:r>
          </a:p>
          <a:p>
            <a:r>
              <a:rPr lang="en-US" dirty="0"/>
              <a:t>PORTFOLIO_OSH_MANAGEMENT_SUMMARY</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b="0" dirty="0"/>
              <a:t>PORTFOLIO_OSH_TOTAL_DEPS</a:t>
            </a:r>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Autofit/>
          </a:bodyPr>
          <a:lstStyle/>
          <a:p>
            <a:r>
              <a:rPr lang="en-US" b="0" dirty="0"/>
              <a:t>PORTFOLIO_OSH_HIGH_RISK</a:t>
            </a:r>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Autofit/>
          </a:bodyPr>
          <a:lstStyle/>
          <a:p>
            <a:r>
              <a:rPr lang="en-US" b="0" dirty="0"/>
              <a:t>PORTFOLIO_OSH_MEDIUM_RISK</a:t>
            </a:r>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Autofit/>
          </a:bodyPr>
          <a:lstStyle/>
          <a:p>
            <a:r>
              <a:rPr lang="en-US" b="0" dirty="0"/>
              <a:t>PORTFOLIO_OSH_LOW_RISK</a:t>
            </a:r>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Autofit/>
          </a:bodyPr>
          <a:lstStyle/>
          <a:p>
            <a:r>
              <a:rPr lang="en-US" b="0" dirty="0"/>
              <a:t>PORTFOLIO_OSH_NO_RISK</a:t>
            </a:r>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Autofit/>
          </a:bodyPr>
          <a:lstStyle/>
          <a:p>
            <a:r>
              <a:rPr lang="en-US" b="0" dirty="0"/>
              <a:t>PORTFOLIO_OSH_CRITICAL_RISK</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dirty="0"/>
              <a:t>Overall Open Source Health Library Risks Overview</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a:xfrm>
            <a:off x="11407367" y="6469694"/>
            <a:ext cx="627434" cy="231923"/>
          </a:xfrm>
        </p:spPr>
        <p:txBody>
          <a:bodyPr/>
          <a:lstStyle/>
          <a:p>
            <a:fld id="{E242BD21-9B61-2246-BCB1-4BE5E1BEBE1C}" type="slidenum">
              <a:rPr lang="nl-NL" smtClean="0"/>
              <a:pPr/>
              <a:t>16</a:t>
            </a:fld>
            <a:endParaRPr lang="nl-NL"/>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graphicFrame>
        <p:nvGraphicFramePr>
          <p:cNvPr id="2" name="OSH_PORTFOLIO_OTHER_RISKS_GRAPH">
            <a:extLst>
              <a:ext uri="{FF2B5EF4-FFF2-40B4-BE49-F238E27FC236}">
                <a16:creationId xmlns:a16="http://schemas.microsoft.com/office/drawing/2014/main" id="{4C5859CA-0A2B-2CD5-4201-90743823171C}"/>
              </a:ext>
            </a:extLst>
          </p:cNvPr>
          <p:cNvGraphicFramePr>
            <a:graphicFrameLocks/>
          </p:cNvGraphicFramePr>
          <p:nvPr>
            <p:extLst>
              <p:ext uri="{D42A27DB-BD31-4B8C-83A1-F6EECF244321}">
                <p14:modId xmlns:p14="http://schemas.microsoft.com/office/powerpoint/2010/main" val="2608722614"/>
              </p:ext>
            </p:extLst>
          </p:nvPr>
        </p:nvGraphicFramePr>
        <p:xfrm>
          <a:off x="2855399" y="3688194"/>
          <a:ext cx="3240000" cy="25207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OSH_PORTFOLIO_VULN_LEGAL_GRAPH">
            <a:extLst>
              <a:ext uri="{FF2B5EF4-FFF2-40B4-BE49-F238E27FC236}">
                <a16:creationId xmlns:a16="http://schemas.microsoft.com/office/drawing/2014/main" id="{A2E74F15-1B72-6504-9282-2CD2017740C3}"/>
              </a:ext>
            </a:extLst>
          </p:cNvPr>
          <p:cNvGraphicFramePr>
            <a:graphicFrameLocks/>
          </p:cNvGraphicFramePr>
          <p:nvPr>
            <p:extLst>
              <p:ext uri="{D42A27DB-BD31-4B8C-83A1-F6EECF244321}">
                <p14:modId xmlns:p14="http://schemas.microsoft.com/office/powerpoint/2010/main" val="3028423153"/>
              </p:ext>
            </p:extLst>
          </p:nvPr>
        </p:nvGraphicFramePr>
        <p:xfrm>
          <a:off x="2855399" y="2891471"/>
          <a:ext cx="3240000" cy="1298448"/>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5">
            <a:extLst>
              <a:ext uri="{FF2B5EF4-FFF2-40B4-BE49-F238E27FC236}">
                <a16:creationId xmlns:a16="http://schemas.microsoft.com/office/drawing/2014/main" id="{45FEEADB-79FE-B13B-140F-962C130AA548}"/>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281104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41B5DD80-60E5-8513-9972-0F7EF4189F04}"/>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PORTFOLIO_PERIOD_SECURITY_RATINGS_GROUPED_BY_TEAM</a:t>
            </a:r>
          </a:p>
        </p:txBody>
      </p:sp>
      <p:sp>
        <p:nvSpPr>
          <p:cNvPr id="2" name="Text Placeholder 1">
            <a:extLst>
              <a:ext uri="{FF2B5EF4-FFF2-40B4-BE49-F238E27FC236}">
                <a16:creationId xmlns:a16="http://schemas.microsoft.com/office/drawing/2014/main" id="{D287597F-0CE6-6979-6D59-2CC306D18F3A}"/>
              </a:ext>
            </a:extLst>
          </p:cNvPr>
          <p:cNvSpPr>
            <a:spLocks noGrp="1"/>
          </p:cNvSpPr>
          <p:nvPr>
            <p:ph type="body" sz="quarter" idx="12"/>
          </p:nvPr>
        </p:nvSpPr>
        <p:spPr>
          <a:xfrm>
            <a:off x="381600" y="129568"/>
            <a:ext cx="2421992" cy="228209"/>
          </a:xfrm>
        </p:spPr>
        <p:txBody>
          <a:bodyPr/>
          <a:lstStyle/>
          <a:p>
            <a:r>
              <a:rPr lang="en-GB"/>
              <a:t>Portfolio trends – Security</a:t>
            </a:r>
            <a:endParaRPr lang="en-GB" dirty="0"/>
          </a:p>
        </p:txBody>
      </p:sp>
      <p:sp>
        <p:nvSpPr>
          <p:cNvPr id="5" name="Slide Number Placeholder 4">
            <a:extLst>
              <a:ext uri="{FF2B5EF4-FFF2-40B4-BE49-F238E27FC236}">
                <a16:creationId xmlns:a16="http://schemas.microsoft.com/office/drawing/2014/main" id="{9370E726-D390-617B-2837-17EF73C1835C}"/>
              </a:ext>
            </a:extLst>
          </p:cNvPr>
          <p:cNvSpPr>
            <a:spLocks noGrp="1"/>
          </p:cNvSpPr>
          <p:nvPr>
            <p:ph type="sldNum" sz="quarter" idx="15"/>
          </p:nvPr>
        </p:nvSpPr>
        <p:spPr/>
        <p:txBody>
          <a:bodyPr/>
          <a:lstStyle/>
          <a:p>
            <a:fld id="{E242BD21-9B61-2246-BCB1-4BE5E1BEBE1C}" type="slidenum">
              <a:rPr lang="en-GB" smtClean="0"/>
              <a:pPr/>
              <a:t>17</a:t>
            </a:fld>
            <a:endParaRPr lang="en-GB" dirty="0"/>
          </a:p>
        </p:txBody>
      </p:sp>
      <p:sp>
        <p:nvSpPr>
          <p:cNvPr id="6" name="Title 5">
            <a:extLst>
              <a:ext uri="{FF2B5EF4-FFF2-40B4-BE49-F238E27FC236}">
                <a16:creationId xmlns:a16="http://schemas.microsoft.com/office/drawing/2014/main" id="{BD1F92A6-63AF-66FE-4BB0-422116859425}"/>
              </a:ext>
            </a:extLst>
          </p:cNvPr>
          <p:cNvSpPr>
            <a:spLocks noGrp="1"/>
          </p:cNvSpPr>
          <p:nvPr>
            <p:ph type="title"/>
          </p:nvPr>
        </p:nvSpPr>
        <p:spPr>
          <a:xfrm>
            <a:off x="154800" y="594000"/>
            <a:ext cx="11880000" cy="402291"/>
          </a:xfrm>
        </p:spPr>
        <p:txBody>
          <a:bodyPr/>
          <a:lstStyle/>
          <a:p>
            <a:r>
              <a:rPr lang="en-GB"/>
              <a:t>Security ratings of the portfolio on PORTFOLIO_PERIOD_END_DATE</a:t>
            </a:r>
            <a:endParaRPr lang="en-GB" dirty="0"/>
          </a:p>
        </p:txBody>
      </p:sp>
      <p:pic>
        <p:nvPicPr>
          <p:cNvPr id="3" name="Graphic 2">
            <a:extLst>
              <a:ext uri="{FF2B5EF4-FFF2-40B4-BE49-F238E27FC236}">
                <a16:creationId xmlns:a16="http://schemas.microsoft.com/office/drawing/2014/main" id="{DBD9D636-CC1F-D5EE-82E8-F5B67A683E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4592C00B-839E-1F7C-C976-764E7FA89D08}"/>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38D13A58-DDFB-6E93-06B8-8F73093435CB}"/>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5B09D3E1-5818-A7F6-D907-77EE9F47DC8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5E576A0-5957-C060-F7D5-462BF27703EA}"/>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293ADAAD-3940-3E4F-EE06-CD1CDD98C4D0}"/>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C0782A8A-DA3D-0449-1C4B-FDA35D728C06}"/>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476C0325-7FCB-4C5A-F1B9-2AA83897F928}"/>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D5E9104F-A474-DEBF-B0B1-04438939F3F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29EE0DD2-01FA-7CE1-6138-8B452A78A603}"/>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50B3354E-3FA0-1D94-0ED5-6B55810CBCBB}"/>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B08FDA72-1D6A-069B-BA6F-C9555EA6EE09}"/>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9491AD94-EFFF-2C79-D5D8-7DF2D278614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7B8822E-BA13-A142-1266-C5077801284E}"/>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BB93157F-D848-9E05-25CB-0110AC5E4F8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5AF3218E-BE5D-1E5F-2E2F-80BD224CB1D1}"/>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BF1EC965-F313-A395-6AF8-C9756978DDDA}"/>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38D86B0-827F-9466-0A66-C9807390BBCB}"/>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nl-NL" dirty="0"/>
              <a:t>Security </a:t>
            </a:r>
            <a:r>
              <a:rPr lang="en-US" dirty="0"/>
              <a:t>rating for the portfolio is PORTFOLIO_SEC_AVG_RATING</a:t>
            </a:r>
            <a:r>
              <a:rPr lang="en-US" sz="100" dirty="0"/>
              <a:t> </a:t>
            </a:r>
            <a:r>
              <a:rPr lang="en-US" dirty="0"/>
              <a:t>★.</a:t>
            </a:r>
          </a:p>
          <a:p>
            <a:pPr indent="-283845"/>
            <a:r>
              <a:rPr lang="en-GB" dirty="0"/>
              <a:t>PORTFOLIO_SEC_ABOVE_MARKET% of systems score above market average for Security (≥3.5</a:t>
            </a:r>
            <a:r>
              <a:rPr lang="en-US" dirty="0"/>
              <a:t>★</a:t>
            </a:r>
            <a:r>
              <a:rPr lang="en-GB" dirty="0"/>
              <a:t>).</a:t>
            </a:r>
          </a:p>
          <a:p>
            <a:pPr indent="-283845"/>
            <a:r>
              <a:rPr lang="en-US" dirty="0"/>
              <a:t>PORTFOLIO_SEC_MARKET_AVERAGE</a:t>
            </a:r>
            <a:r>
              <a:rPr lang="en-GB" dirty="0">
                <a:ea typeface="Calibri"/>
                <a:cs typeface="Calibri"/>
              </a:rPr>
              <a:t>% of systems score market average</a:t>
            </a:r>
            <a:r>
              <a:rPr lang="en-GB" dirty="0"/>
              <a:t> for Security </a:t>
            </a:r>
            <a:r>
              <a:rPr lang="en-GB" dirty="0">
                <a:ea typeface="Calibri"/>
                <a:cs typeface="Calibri"/>
              </a:rPr>
              <a:t>(3</a:t>
            </a:r>
            <a:r>
              <a:rPr lang="en-US" dirty="0"/>
              <a:t>★</a:t>
            </a:r>
            <a:r>
              <a:rPr lang="en-GB" dirty="0">
                <a:ea typeface="Calibri"/>
                <a:cs typeface="Calibri"/>
              </a:rPr>
              <a:t>).</a:t>
            </a:r>
          </a:p>
          <a:p>
            <a:pPr indent="-283845"/>
            <a:r>
              <a:rPr lang="en-US" dirty="0"/>
              <a:t>PORTFOLIO_SEC_BELOW_MARKET</a:t>
            </a:r>
            <a:r>
              <a:rPr lang="en-GB" dirty="0">
                <a:ea typeface="Calibri"/>
                <a:cs typeface="Calibri"/>
              </a:rPr>
              <a:t>% of systems score below market average</a:t>
            </a:r>
            <a:r>
              <a:rPr lang="en-GB" dirty="0"/>
              <a:t> for Security</a:t>
            </a:r>
            <a:r>
              <a:rPr lang="en-GB" dirty="0">
                <a:ea typeface="Calibri"/>
                <a:cs typeface="Calibri"/>
              </a:rPr>
              <a:t>(≤2.5</a:t>
            </a:r>
            <a:r>
              <a:rPr lang="en-US" dirty="0"/>
              <a:t>★</a:t>
            </a:r>
            <a:r>
              <a:rPr lang="en-GB" dirty="0">
                <a:ea typeface="Calibri"/>
                <a:cs typeface="Calibri"/>
              </a:rPr>
              <a:t>).</a:t>
            </a:r>
          </a:p>
        </p:txBody>
      </p:sp>
      <p:sp>
        <p:nvSpPr>
          <p:cNvPr id="10" name="Footer Placeholder 5">
            <a:extLst>
              <a:ext uri="{FF2B5EF4-FFF2-40B4-BE49-F238E27FC236}">
                <a16:creationId xmlns:a16="http://schemas.microsoft.com/office/drawing/2014/main" id="{2FB0E97C-F974-577B-FB38-C4432CA701BB}"/>
              </a:ext>
            </a:extLst>
          </p:cNvPr>
          <p:cNvSpPr>
            <a:spLocks noGrp="1"/>
          </p:cNvSpPr>
          <p:nvPr>
            <p:ph type="ftr" sz="quarter" idx="3"/>
          </p:nvPr>
        </p:nvSpPr>
        <p:spPr>
          <a:xfrm>
            <a:off x="194555" y="6383072"/>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4092530764"/>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88AD9160-B56A-4FCD-857D-8AE63521E7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18476</TotalTime>
  <Words>1328</Words>
  <Application>Microsoft Macintosh PowerPoint</Application>
  <PresentationFormat>Widescreen</PresentationFormat>
  <Paragraphs>211</Paragraphs>
  <Slides>17</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17</vt:i4>
      </vt:variant>
    </vt:vector>
  </HeadingPairs>
  <TitlesOfParts>
    <vt:vector size="30" baseType="lpstr">
      <vt:lpstr>☞NOIR PRO MEDIUM</vt:lpstr>
      <vt:lpstr>Arial</vt:lpstr>
      <vt:lpstr>Azeret Mono</vt:lpstr>
      <vt:lpstr>Azeret Mono Medium</vt:lpstr>
      <vt:lpstr>Calibri</vt:lpstr>
      <vt:lpstr>Calibri Bold</vt:lpstr>
      <vt:lpstr>Helvetica Neue Bold</vt:lpstr>
      <vt:lpstr>Noir Pro</vt:lpstr>
      <vt:lpstr>Noir Pro Medium</vt:lpstr>
      <vt:lpstr>Noir Pro Semi Bold</vt:lpstr>
      <vt:lpstr>TheSansMono M5</vt:lpstr>
      <vt:lpstr>Light theme (default)</vt:lpstr>
      <vt:lpstr>Dark theme</vt:lpstr>
      <vt:lpstr>PowerPoint Presentation</vt:lpstr>
      <vt:lpstr>Outline of topics</vt:lpstr>
      <vt:lpstr>Introduction to the baseline report</vt:lpstr>
      <vt:lpstr>Outline of topics</vt:lpstr>
      <vt:lpstr>Metadata completeness per field</vt:lpstr>
      <vt:lpstr>Number of systems covered by objectives</vt:lpstr>
      <vt:lpstr>Outline of topics</vt:lpstr>
      <vt:lpstr>Overall objectives status on PORTFOLIO_PERIOD_END_DATE</vt:lpstr>
      <vt:lpstr>Status of objectives per capability on PORTFOLIO_PERIOD_END_DATE</vt:lpstr>
      <vt:lpstr>Index</vt:lpstr>
      <vt:lpstr>PORTFOLIO_PERIOD_MAINT_SHORT_SUMMARY</vt:lpstr>
      <vt:lpstr>PORTFOLIO_PERIOD_MAINT_SHORT_SUMMARY</vt:lpstr>
      <vt:lpstr>Test-to-production code ratios of the portfolio on PORTFOLIO_PERIOD_END_DATE</vt:lpstr>
      <vt:lpstr>Architecture ratings of the portfolio on PORTFOLIO_PERIOD_END_DATE</vt:lpstr>
      <vt:lpstr>Open-source health ratings of the portfolio on PORTFOLIO_PERIOD_END_DATE</vt:lpstr>
      <vt:lpstr>Overall Open Source Health Library Risks Overview</vt:lpstr>
      <vt:lpstr>Security ratings of the portfolio on PORTFOLIO_PERIOD_END_DATE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Maxim Janssen</cp:lastModifiedBy>
  <cp:revision>189</cp:revision>
  <cp:lastPrinted>2020-04-20T09:37:43Z</cp:lastPrinted>
  <dcterms:created xsi:type="dcterms:W3CDTF">2025-10-22T11:22:13Z</dcterms:created>
  <dcterms:modified xsi:type="dcterms:W3CDTF">2026-05-19T13:07:53Z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