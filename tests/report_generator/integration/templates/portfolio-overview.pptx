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3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4"/>
  </p:notesMasterIdLst>
  <p:handoutMasterIdLst>
    <p:handoutMasterId r:id="rId45"/>
  </p:handoutMasterIdLst>
  <p:sldIdLst>
    <p:sldId id="1973" r:id="rId6"/>
    <p:sldId id="11390" r:id="rId7"/>
    <p:sldId id="10749" r:id="rId8"/>
    <p:sldId id="10751" r:id="rId9"/>
    <p:sldId id="10753" r:id="rId10"/>
    <p:sldId id="10750" r:id="rId11"/>
    <p:sldId id="10754" r:id="rId12"/>
    <p:sldId id="10755" r:id="rId13"/>
    <p:sldId id="10756" r:id="rId14"/>
    <p:sldId id="11363" r:id="rId15"/>
    <p:sldId id="11364" r:id="rId16"/>
    <p:sldId id="11365" r:id="rId17"/>
    <p:sldId id="11366" r:id="rId18"/>
    <p:sldId id="11367" r:id="rId19"/>
    <p:sldId id="11368" r:id="rId20"/>
    <p:sldId id="11369" r:id="rId21"/>
    <p:sldId id="11370" r:id="rId22"/>
    <p:sldId id="11389" r:id="rId23"/>
    <p:sldId id="11371" r:id="rId24"/>
    <p:sldId id="10757" r:id="rId25"/>
    <p:sldId id="11409" r:id="rId26"/>
    <p:sldId id="11410" r:id="rId27"/>
    <p:sldId id="1824" r:id="rId28"/>
    <p:sldId id="11403" r:id="rId29"/>
    <p:sldId id="11404" r:id="rId30"/>
    <p:sldId id="11387" r:id="rId31"/>
    <p:sldId id="11374" r:id="rId32"/>
    <p:sldId id="11405" r:id="rId33"/>
    <p:sldId id="11419" r:id="rId34"/>
    <p:sldId id="11406" r:id="rId35"/>
    <p:sldId id="11402" r:id="rId36"/>
    <p:sldId id="11376" r:id="rId37"/>
    <p:sldId id="11284" r:id="rId38"/>
    <p:sldId id="11377" r:id="rId39"/>
    <p:sldId id="11415" r:id="rId40"/>
    <p:sldId id="11416" r:id="rId41"/>
    <p:sldId id="11417" r:id="rId42"/>
    <p:sldId id="1141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7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03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06C05DC1-7827-8A45-B5CE-C6A99742222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34E4B4D-57AD-9D4D-B4B1-E7C376D20E0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CECC8AA-F6BF-AA4B-99C3-8DF8F652F30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2.5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171D-B549-A7DE-EF4D33711D1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171D-B549-A7DE-EF4D33711D1D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D-B549-A7DE-EF4D33711D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D-B549-A7DE-EF4D33711D1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D-B549-A7DE-EF4D33711D1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D-B549-A7DE-EF4D33711D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1D-B549-A7DE-EF4D33711D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1D-B549-A7DE-EF4D33711D1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71D-B549-A7DE-EF4D33711D1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1D-B549-A7DE-EF4D33711D1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71D-B549-A7DE-EF4D33711D1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1D-B549-A7DE-EF4D33711D1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71D-B549-A7DE-EF4D33711D1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71D-B549-A7DE-EF4D3371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980E-0B4B-A8CF-968C5F8B2D4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980E-0B4B-A8CF-968C5F8B2D40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980E-0B4B-A8CF-968C5F8B2D40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45167236744285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0E27-A747-9927-F7F0E1E987C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0E27-A747-9927-F7F0E1E987C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0E27-A747-9927-F7F0E1E987CA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2878023052360095"/>
          <c:w val="0.99589338467782274"/>
          <c:h val="0.138168858060648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6F4-9648-A147-F9769DAF760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6F4-9648-A147-F9769DAF760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4-9648-A147-F9769DAF760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F4-9648-A147-F9769DAF760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4-9648-A147-F9769DAF760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F4-9648-A147-F9769DAF760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4-9648-A147-F9769DAF760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F4-9648-A147-F9769DAF760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4-9648-A147-F9769DAF760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F4-9648-A147-F9769DAF760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F4-9648-A147-F9769DAF760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F4-9648-A147-F9769DAF760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6F4-9648-A147-F9769DAF760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6F4-9648-A147-F9769DAF76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5618420721620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1F71-2347-B18D-6B630A30733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1F71-2347-B18D-6B630A30733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1F71-2347-B18D-6B630A307332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3428871575955932"/>
          <c:w val="0.99589338467782274"/>
          <c:h val="0.132660372824690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3E51-4E42-8C00-A948DC2E75D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3E51-4E42-8C00-A948DC2E75DF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51-4E42-8C00-A948DC2E75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51-4E42-8C00-A948DC2E75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51-4E42-8C00-A948DC2E75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E51-4E42-8C00-A948DC2E75D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51-4E42-8C00-A948DC2E75D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51-4E42-8C00-A948DC2E75D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51-4E42-8C00-A948DC2E75D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E51-4E42-8C00-A948DC2E75D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51-4E42-8C00-A948DC2E75D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E51-4E42-8C00-A948DC2E75D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51-4E42-8C00-A948DC2E75DF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E51-4E42-8C00-A948DC2E75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B586-A04E-8798-76AFBDCDFE8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B586-A04E-8798-76AFBDCDFE8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86-A04E-8798-76AFBDCDFE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86-A04E-8798-76AFBDCDFE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86-A04E-8798-76AFBDCDFE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86-A04E-8798-76AFBDCDFE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86-A04E-8798-76AFBDCDFE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86-A04E-8798-76AFBDCDFE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86-A04E-8798-76AFBDCDFE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86-A04E-8798-76AFBDCDFE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86-A04E-8798-76AFBDCDFE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86-A04E-8798-76AFBDCDFE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86-A04E-8798-76AFBDCDFE8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86-A04E-8798-76AFBDCDFE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C7F-D847-A4AD-44605D3AD5C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C7F-D847-A4AD-44605D3AD5C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D847-A4AD-44605D3AD5C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7F-D847-A4AD-44605D3AD5C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D847-A4AD-44605D3AD5C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7F-D847-A4AD-44605D3AD5C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D847-A4AD-44605D3AD5C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C7F-D847-A4AD-44605D3AD5C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D847-A4AD-44605D3AD5C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C7F-D847-A4AD-44605D3AD5C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D847-A4AD-44605D3AD5C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C7F-D847-A4AD-44605D3AD5C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D847-A4AD-44605D3AD5C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C7F-D847-A4AD-44605D3AD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8F19-F14D-B63F-8C5F7A03232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8F19-F14D-B63F-8C5F7A03232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19-F14D-B63F-8C5F7A03232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19-F14D-B63F-8C5F7A03232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19-F14D-B63F-8C5F7A03232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19-F14D-B63F-8C5F7A03232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19-F14D-B63F-8C5F7A03232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19-F14D-B63F-8C5F7A03232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19-F14D-B63F-8C5F7A03232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19-F14D-B63F-8C5F7A03232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19-F14D-B63F-8C5F7A03232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19-F14D-B63F-8C5F7A03232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19-F14D-B63F-8C5F7A032322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F19-F14D-B63F-8C5F7A032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613A-144D-9198-B504C851AC6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613A-144D-9198-B504C851AC66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613A-144D-9198-B504C851AC66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83-C9EC-1D45-88B8-5E84B58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5CBF-3012-045D-BF54-6FE84596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B5E4-7175-81ED-5825-D28FF4AD0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5D3-74FD-0ADA-5B6C-DC6DBDDF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86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74F8-E8A1-04EC-B454-288A2C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02B9-A2E5-ED61-3237-42E0AC4BB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389-453E-3433-6FA3-9E9724AF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64E3-FBDC-C133-4E72-F1AAC733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60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40C3-8B77-A987-276E-F1D31C85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5009-84BF-8836-E818-4EE4D95D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7E46-BEF0-F40D-55DD-BD10F774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F44B-8DFA-7FEC-E0BE-04E5455D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927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emf"/><Relationship Id="rId4" Type="http://schemas.openxmlformats.org/officeDocument/2006/relationships/chart" Target="../charts/char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between OBJECTIVES_PERIOD_START and OBJECTIVES_PERIOD_END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3343684" y="392400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B63DDC-05A6-1327-D587-7F5756A58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C39327-FCCB-9925-2C56-F0F20278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3353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Progress towards objectives per capability between OBJECTIVES_PERIOD_START and OBJECTIVES_PERIOD_END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673381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3352012" y="594107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85CE50-769E-57F0-D096-7931858DD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090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B48095F-3B8A-4132-2F2E-BF6B266DA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40619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BEA1B1-2A0E-D397-E556-362D0DB59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93954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/>
              <a:t>Objectives – Open Source Health</a:t>
            </a:r>
            <a:endParaRPr lang="en-GB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Progress towards objectives: Open Source Health</a:t>
            </a:r>
            <a:endParaRPr lang="en-GB" dirty="0"/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5692CD9-4AE3-CDD3-1F88-18341671C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67510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>
            <a:normAutofit/>
          </a:bodyPr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BFDEE-B39F-2F33-8BE8-21E452A51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60591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134336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between OBJECTIVES_PERIOD_START and OBJECTIVES_PERIOD_END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2441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team between OBJECTIVES_PERIOD_START and OBJECTIVES_PERIOD_END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125033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capability between OBJECTIVES_PERIOD_START and OBJECTIVES_PERIOD_END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1865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96346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8823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00646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759263" cy="228145"/>
          </a:xfrm>
        </p:spPr>
        <p:txBody>
          <a:bodyPr/>
          <a:lstStyle/>
          <a:p>
            <a:r>
              <a:rPr lang="en-GB" dirty="0"/>
              <a:t>Objectives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Open 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1704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38694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54342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8671C5-F042-037A-74D6-4C34BE22CC2D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</a:t>
            </a:r>
            <a:r>
              <a:rPr lang="en-US" sz="1600" dirty="0">
                <a:solidFill>
                  <a:schemeClr val="bg1"/>
                </a:solidFill>
              </a:rPr>
              <a:t>_GROUPED_BY_TEAM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PORTFOLIO_PERIOD_MAINT_SHORT_SUMMARY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PORTFOLIO_MAINT_AVG_RATING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00F3-3D18-CF63-16D4-96CA783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14AA8-0AD7-EDFF-9986-B230DB557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1BFF63-C4B5-7AB9-E5D9-E74391AFD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9EB6A-8DF6-69EE-B118-CBF9A8558A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FF12C5-E73A-8501-2BCE-9BD95E2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9C8604-49B1-C79B-52E3-E11913D0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44EBA72-3AF3-C450-92C3-70B42255A7A7}"/>
              </a:ext>
            </a:extLst>
          </p:cNvPr>
          <p:cNvSpPr txBox="1"/>
          <p:nvPr/>
        </p:nvSpPr>
        <p:spPr>
          <a:xfrm>
            <a:off x="2643466" y="6054740"/>
            <a:ext cx="1520116" cy="22512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Lifecycle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9045C-A3DB-D503-5F61-D4753A6B2ED2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24AC01-AE32-E25C-2E9D-D62F1A546D5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528D542-C236-FC7F-A86B-58E301E03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8A81E2-505A-2686-805D-D50F2ED4D58F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C148D-262C-83BE-A7DB-4CEECDA9841D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3216D68-D9B6-5F6A-FBB5-3659B7899E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C52AC4-11B0-1D06-863D-8E95DF4FAEE5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CAE05B-9910-83DD-05A3-9ED3538CAB1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02E6CFD-57D4-174C-07D0-383B813F6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6E1917-406F-73B3-C93D-1D8325F31D6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7C8CEE-6BFB-AD76-8318-6426CA6A5C12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8290A5E7-04EA-1335-3D95-D2A8C4CF3F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C1BB1CA-50D6-5754-E886-56DDDB6B630E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AE7018-A3D7-FF0D-2550-A7320B145E2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DBAC6E5-512A-CB63-DCC5-44139D7EA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4EC-E668-DDBB-C898-CDC11794C48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707EC47-51B6-60D2-5D25-8146CD420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23234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E1A0-F677-7ABE-9F7B-0B74434D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86-B72E-67FD-21F0-E86559BC6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8337E4-C7B3-967F-A5FA-450CDEAD96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5351A-A8A1-C0E9-116D-C791E57414D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DB2541-F26E-1A45-8C1C-10C58277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Deployment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BC813-1EFC-AA71-9CF7-12E30412E01E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C797B5-3356-1576-4F18-BFFC41D8A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358172D-32D9-F7C1-D993-4B31C910BDC4}"/>
              </a:ext>
            </a:extLst>
          </p:cNvPr>
          <p:cNvSpPr txBox="1"/>
          <p:nvPr/>
        </p:nvSpPr>
        <p:spPr>
          <a:xfrm>
            <a:off x="2643466" y="6054740"/>
            <a:ext cx="179423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Deployment Type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4076F7-E0CB-4844-36A0-D8ADEDF46A51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BDAFEE-BD87-364A-427B-1ADAFE9D2FD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A5818A4-3349-D5D3-42AF-155A2D39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C7B01C-4916-26E1-BEC3-B97CA46AC676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15FDF0-0DD1-688E-2C19-BE57D0DA2F90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F55BD8D-BD79-0350-2FF6-1D572839C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A0D7B8-8D00-392D-59FD-31D01E88F3E8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2AE4D71-1C4A-A29C-0135-FB7FC88EE56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8395B98-85FF-EEBA-96FB-A7FD1053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7E4DA-2C3C-2AE2-3363-D2D775759D3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EF211C-C030-38AE-15E4-BA37EEBA212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618CD8B-F77F-7B94-7099-D2A6E0871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87D693-398F-725A-9E0E-7CE3C9CEBF7F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213B5F-642D-ACFE-8DAA-017FB6B32DF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12BCE3-BB24-D5A2-9072-32AB9DC1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4CC371E-7328-F7F7-E9E1-4858B90AD402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A5C-934D-E3B5-596C-448BF20A39E1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FD24B40-8A09-8BE1-DFEB-86A20ADC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9090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0F2-097E-682B-E154-B7F5F68A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01EA-8BF6-6C6E-C2EA-026E3BA52E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A6A741-490B-4D85-EDEC-A2D787FD2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532D-92C0-31A1-1473-96C62B00C1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82FDEF-4FFE-5D1A-E5F7-E673D396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Business Criticality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214E2-3C43-8276-BC3B-196FE252F2B4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6D6577-B13F-B6A8-C50E-B92434047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91BC5-C6A3-5E77-246D-36FE2F685E7F}"/>
              </a:ext>
            </a:extLst>
          </p:cNvPr>
          <p:cNvSpPr txBox="1"/>
          <p:nvPr/>
        </p:nvSpPr>
        <p:spPr>
          <a:xfrm>
            <a:off x="2643466" y="6054740"/>
            <a:ext cx="1864762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Business Criticality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38E846-65C7-5F8A-02D3-5E9652F1F70D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46B051-EB92-D2E7-6D04-74636614C2A9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9D95B88-8CC0-573A-6535-1AF23E138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CBF650-7B39-402A-827B-0981957A785C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00EB7BA-5DEA-3F0D-197E-72B2F548A84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9B21F0D-B748-B211-AE94-D684974C7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94FE93-43F4-84F8-E7F2-D0A5E5B08F99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6C1F78-BC5D-CEC8-ED18-7E9E38E2B3F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A4081921-0E01-5FE7-D962-38E98F27E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D3B032-3BEE-87E0-6573-8C81BBB66BA1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B3E38A-DFD6-B7C0-F31B-4A4BF82291B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CE0EE23E-F45B-7E9B-0DB6-9538874186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9FE5C-29C5-D102-FDA1-A0608E280B55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EF10E4-21F6-AF24-DEE6-649B26F77B1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E93FE0A-13E1-4209-1411-4A41EBD2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A79886F-F6FA-7F5B-8560-B0BE0161E43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PORTFOLIO_PERIOD_MAINTAINABILITY_GROUPED_BY_BUSINESS_CRITICALITY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FE69-CB4F-3856-7D00-A94F1E209BB2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C9DB02-3011-E249-D943-BF8E867E7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65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PORTFOLIO_PERIOD_MAINT_SHORT_SUMMARY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75" y="6407677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222FB8-7B13-BCD6-F6A0-91FE5654FB8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771079" cy="228209"/>
          </a:xfrm>
        </p:spPr>
        <p:txBody>
          <a:bodyPr/>
          <a:lstStyle/>
          <a:p>
            <a:r>
              <a:rPr lang="en-GB"/>
              <a:t>Portfolio trends – Maintainability – Change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PORTFOLIO_PERIOD_MAINT_CHANGE_SHORT_SUMMARY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PORTFOLIO_MAINT_INCREASED% of systems has seen an increase in maintainability. PORTFOLIO_MAINT_STABLE% of systems has remained stable. PORTFOLIO_MAINT_DECREASED%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37E637B-F307-DB1A-A51A-12A2262AEFC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PORTFOLIO_PERIOD_MAINTAINABILITY_DELTA_QUALITY_NEW_CODE_GROUPED_BY</a:t>
            </a:r>
            <a:r>
              <a:rPr lang="en-GB" sz="1600">
                <a:solidFill>
                  <a:schemeClr val="bg1"/>
                </a:solidFill>
              </a:rPr>
              <a:t>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newly written code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PORTFOLIO_NEW_CODE_BIGGEST_CHANGES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D3CD12-8F31-5FC5-9D7A-C77F8DB8A480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PORTFOLIO_PERIOD_MAINTAINABILITY_DELTA_QUALITY_CHANGED_CODE_GROUPED_BY_TEAM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changed code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2E9D2A6-2917-A151-9F95-9B69A0D029E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PORTFOLIO_PERIOD_VOLUME_CHANGE_GROUPED_BY_TEAM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843581" cy="228209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volume (effort) of the portfolio between PORTFOLIO_PERIOD_START_DATE and PORTFOLIO_PERIOD_END_DATE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Team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4191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22674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-PY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PORTFOLIO_RELATIVE_VOLUME_CHANGE in volume of PORTFOLIO_VOLUME_CHANGE.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PORTFOLIO_SYSTEM_BIGGEST_VOLUME_CHANGE has seen the biggest change with PORTFOLIO_RELATIVE_BIGGEST_VOLUME_CHANGE of PORTFOLIO_SYSTEM_PM_BIGGEST_VOLUME_CHANGE.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D4A10E2-A9D0-9CB8-4A20-12E583F53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AAAF0DF-523F-2152-BE91-E690F0C16A3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Test-to-production code ratios of the portfolio between PORTFOLIO_PERIOD_START_DATE and PORTFOLIO_PERIOD_END_DATE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PORTFOLIO_TEST_CODE_LOW</a:t>
            </a:r>
            <a:r>
              <a:rPr lang="en-GB" sz="1550" noProof="0" dirty="0"/>
              <a:t>% systems have a test code ratio of &lt; 50%.</a:t>
            </a:r>
          </a:p>
          <a:p>
            <a:pPr indent="-283845"/>
            <a:r>
              <a:rPr lang="en-GB" sz="1550" dirty="0"/>
              <a:t>PORTFOLIO_TEST_CODE_MEDIUM</a:t>
            </a:r>
            <a:r>
              <a:rPr lang="en-GB" sz="1550" dirty="0">
                <a:ea typeface="Calibri"/>
                <a:cs typeface="Calibri"/>
              </a:rPr>
              <a:t>% of systems have a test code ratio between 50% and 100%.</a:t>
            </a:r>
          </a:p>
          <a:p>
            <a:pPr indent="-283845"/>
            <a:r>
              <a:rPr lang="en-GB" sz="1550" dirty="0"/>
              <a:t>PORTFOLIO_TEST_CODE_HIGH</a:t>
            </a:r>
            <a:r>
              <a:rPr lang="en-GB" sz="1550" dirty="0">
                <a:ea typeface="Calibri"/>
                <a:cs typeface="Calibri"/>
              </a:rPr>
              <a:t>% of systems have a test code ratio ≥ 100%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61DD779-D29F-E00A-9C65-A4D9D7C38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5625-8644-5854-9F83-9F36AE8F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1B57E1-1F1B-29BE-06AF-F1CBB4D6EF18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PORTFOLIO_PERIOD_TEST_CODE_GROUPED_BY_MAIN_TECHNOLOGY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E6CB4A-7E0E-E565-486A-5DB654A87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8C8F1-CE1A-46D3-0BA6-F889B9D1B8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6968ED-9E83-A49E-5E87-63A71987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Test Code Ratio Grouped by Main 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787F7-4923-A6F4-B8BC-AA0B6841CDE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62765-40D5-7D45-7AF4-0F626CE7E743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98EE12-DD3C-4AC5-B45F-1D9DA346C37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8AD473E-3942-6E49-1FCD-CC05DD97A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77F80-D83B-8F9D-1D82-98CDA0657127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E3BEF7-84EA-7653-3F08-34BC61CCC3C9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31784C8-27D3-E190-1188-83F8143002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98766D-7061-26B2-4081-542C5D9CAA47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EACCEE-F6C5-4239-D307-F1346978364D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7980C08-449C-8781-AFFE-1B5D0B713E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EE7BE-C0DD-5C7B-8A4F-B219560AA303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BE5AE9-EDB3-A5FB-A41D-39D01995E609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BE2B2C6-D275-9C9C-6E3C-6DEF49F9F5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F00055-C843-86F0-C3D7-38ABE03F5C50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C617B4-6B70-3461-DF10-192E09E859F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E8CC5339-E836-0F40-B13E-8AB2238B2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B529869A-4031-1A95-3ED8-A3F5C59BC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F83632A-5C0F-EE29-CEC5-A1C83E82A100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B08F95E-E453-1063-D8EF-9330F4D3B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68290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F531B6D-B81A-7E98-1D56-EABC271BE38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951530" cy="228209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test-to-production code ratios of the portfolio between PORTFOLIO_PERIOD_START_DATE and PORTFOLIO_PERIOD_END_DATE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PORTFOLIO_RELATIVE_TEST_CODE_DIFFERENCE in test code ratio for the </a:t>
            </a:r>
            <a:r>
              <a:rPr lang="en-GB" sz="1550" dirty="0"/>
              <a:t>portfolio (PORTFOLIO_TEST_CODE_DIFFERENCE%).</a:t>
            </a:r>
            <a:endParaRPr lang="en-GB" sz="1550" noProof="0" dirty="0"/>
          </a:p>
          <a:p>
            <a:pPr indent="-283845"/>
            <a:r>
              <a:rPr lang="en-GB" sz="1550" dirty="0"/>
              <a:t>PORTFOLIO_TEST_CODE_INCREASE% of systems have seen an increase in test code ratio while PORTFOLIO_TEST_CODE_DECREASE% of systems have seen a decrease. </a:t>
            </a:r>
          </a:p>
          <a:p>
            <a:pPr indent="-283845"/>
            <a:r>
              <a:rPr lang="en-GB" sz="1550" dirty="0"/>
              <a:t>PORTFOLIO_TEST_CODE_BIGGEST_CHANGES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DF429E-1695-7507-23C8-7080223EC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F90BB58-CA09-58E2-BE3B-2E065F51CF77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PORTFOLIO_PERIOD_ARCHITECTURE_GROUPED_BY_TEAM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759263" cy="228209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Architecture ratings of the portfolio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en-GB" dirty="0"/>
              <a:t>Architecture Quality</a:t>
            </a:r>
            <a:r>
              <a:rPr lang="en-US" dirty="0"/>
              <a:t> rating for the portfolio is PORTFOLIO_ARCH_AVG_RATING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</a:t>
            </a:r>
            <a:r>
              <a:rPr lang="en-GB" dirty="0"/>
              <a:t>% of systems score above market average for Architecture Quality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PORTFOLIO_ARCH_MARKET_AVERAGE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9F0196F-C2C8-901D-3388-01AE9D1AB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265171" cy="228209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Open-source health ratings of the portfolio between PORTFOLIO_PERIOD_START_DATE and PORTFOLIO_PERIOD_END_DATE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8C506-EBA7-D433-19CB-BD7B4186FE2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PORTFOLIO_PERIOD_OSH_RATINGS_GROUPED_BY_TEAM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Open Source Health </a:t>
            </a:r>
            <a:r>
              <a:rPr lang="en-US" dirty="0"/>
              <a:t>rating for the portfolio is PORTFOLIO_OSH_AVG_RATING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PORTFOLIO_OSH_ABOVE_MARKET% of systems score above market average for Open Source Health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PORTFOLIO_OSH_MARKET_AVERAGE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A1D2F67-A90D-74AA-22CD-017BC0D9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PORTFOLIO_OSH_VULN_SUMMARY</a:t>
            </a:r>
          </a:p>
          <a:p>
            <a:r>
              <a:rPr lang="en-US" dirty="0"/>
              <a:t>PORTFOLIO_OSH_LEGAL_SUMMARY</a:t>
            </a:r>
          </a:p>
          <a:p>
            <a:r>
              <a:rPr lang="en-US" dirty="0"/>
              <a:t>PORTFOLIO_OSH_FRESHNESS_SUMMARY</a:t>
            </a:r>
          </a:p>
          <a:p>
            <a:r>
              <a:rPr lang="en-US" dirty="0"/>
              <a:t>PORTFOLIO_OSH_MANAGEMENT_SUMMARY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PORTFOLIO_OSH_TOTAL_DEPS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33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0B2912-5022-184F-E496-1EDCEC82A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1B5DD80-60E5-8513-9972-0F7EF4189F04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PORTFOLIO_PERIOD_SECURITY_RATINGS_GROUPED_BY_TEAM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Security ratings of the portfolio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Security </a:t>
            </a:r>
            <a:r>
              <a:rPr lang="en-US" dirty="0"/>
              <a:t>rating for the portfolio is PORTFOLIO_SEC_AVG_RATING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PORTFOLIO_SEC_ABOVE_MARKET% of systems score above market average for Security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PORTFOLIO_SEC_MARKET_AVERAGE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Security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PORTFOLIO_SEC_BELOW_MARKET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Security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AE87DF-A1BC-5958-DE2A-A8C3A6CD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76C-A43A-62DF-8A14-555177D4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8C01D-33FF-CD9A-A477-2806EB6B1C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CBBF-57FB-ABB3-9835-20A2F9691D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6FAE6-87BA-B605-5E5B-FC841A95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Critical findings trends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1C0D-0321-1290-3EFE-1E641277D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2F2E1-B218-4956-6E9E-F625515C8382}"/>
              </a:ext>
            </a:extLst>
          </p:cNvPr>
          <p:cNvSpPr/>
          <p:nvPr/>
        </p:nvSpPr>
        <p:spPr>
          <a:xfrm flipH="1">
            <a:off x="861633" y="3390745"/>
            <a:ext cx="10468734" cy="2720123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4CBEEE-0C86-D6F2-5A66-0F130C4B2075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20177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Since </a:t>
            </a:r>
            <a:r>
              <a:rPr lang="en-GB" sz="1550" dirty="0"/>
              <a:t>PORTFOLIO_SEC_PERIOD_START_DATE</a:t>
            </a:r>
            <a:r>
              <a:rPr lang="en-GB" sz="1550" noProof="0" dirty="0"/>
              <a:t>, </a:t>
            </a:r>
            <a:r>
              <a:rPr lang="en-GB" sz="1550" dirty="0"/>
              <a:t>PORTFOLIO_SEC_CRITICAL_RESOLVED</a:t>
            </a:r>
            <a:r>
              <a:rPr lang="en-GB" sz="1550" noProof="0" dirty="0"/>
              <a:t> critical security findings have been resolved </a:t>
            </a:r>
            <a:r>
              <a:rPr lang="en-GB" sz="1550" dirty="0"/>
              <a:t>while PORTFOLIO_SEC_CRITICAL_ADDED new critical findings were discovered. Overall, there has been PORTFOLIO_SEC_RELATIVE_CRITICAL in critical security findings of PORTFOLIO_SEC_CRITICAL_DIFFERENCE.</a:t>
            </a:r>
          </a:p>
          <a:p>
            <a:pPr indent="-283845"/>
            <a:r>
              <a:rPr lang="en-GB" sz="1550" dirty="0"/>
              <a:t>Of the resolved critical findings, most were resolved in PORTFOLIO_SEC_CRITICAL_RESOLUTION_MOST (PORTFOLIO_</a:t>
            </a:r>
            <a:r>
              <a:rPr lang="en-GB" sz="1550"/>
              <a:t>SEC_CRITICAL</a:t>
            </a:r>
            <a:r>
              <a:rPr lang="en-GB" sz="1550" dirty="0"/>
              <a:t>_RESOLUTION_FINDINGS_MOST findings). PORTFOLIO_SEC_CRITICAL_RESOLUTION_NO_RISK findings were resolved within the recommended 7 days while PORTFOLIO_SEC_CRITICAL_RESOLUTION_HIGH_RISK were resolved after 30 days or more. </a:t>
            </a:r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0" name="PORTFOLIO_SECURITY_FINDINGS_CRITICAL">
            <a:extLst>
              <a:ext uri="{FF2B5EF4-FFF2-40B4-BE49-F238E27FC236}">
                <a16:creationId xmlns:a16="http://schemas.microsoft.com/office/drawing/2014/main" id="{910F2E1C-D877-D2BA-B431-F9C4BA585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190819"/>
              </p:ext>
            </p:extLst>
          </p:nvPr>
        </p:nvGraphicFramePr>
        <p:xfrm>
          <a:off x="1124437" y="3851133"/>
          <a:ext cx="5010978" cy="217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PORTFOLIO_SECURITY_RESOLUTION_CRITICAL">
            <a:extLst>
              <a:ext uri="{FF2B5EF4-FFF2-40B4-BE49-F238E27FC236}">
                <a16:creationId xmlns:a16="http://schemas.microsoft.com/office/drawing/2014/main" id="{F4BA35FA-BE44-852A-B55F-63FF6EA3E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663586"/>
              </p:ext>
            </p:extLst>
          </p:nvPr>
        </p:nvGraphicFramePr>
        <p:xfrm>
          <a:off x="6235286" y="3713005"/>
          <a:ext cx="4832277" cy="231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1578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4EF1-FCA0-2EC9-964E-45F3A94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8824E7-4E29-8181-B01C-EA895DB82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4024032" cy="228145"/>
          </a:xfrm>
        </p:spPr>
        <p:txBody>
          <a:bodyPr/>
          <a:lstStyle/>
          <a:p>
            <a:r>
              <a:rPr lang="en-GB" dirty="0"/>
              <a:t>Portfolio trends – Security – Resolution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A8-B191-8D33-A251-5BBAA5775E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BDEC54-B88C-60B4-98B9-CFF0E70B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resolution times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DF3F-5BD8-9A33-2F26-1FFB63BA6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BDBC96-6A0F-7FB2-73A9-7CD5A1E3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DD134A-FB98-733E-70B7-BE217A938451}"/>
              </a:ext>
            </a:extLst>
          </p:cNvPr>
          <p:cNvSpPr/>
          <p:nvPr/>
        </p:nvSpPr>
        <p:spPr>
          <a:xfrm flipH="1">
            <a:off x="5291526" y="1291984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23C483-13CD-B3D6-B6B2-3C5716E15A2A}"/>
              </a:ext>
            </a:extLst>
          </p:cNvPr>
          <p:cNvSpPr txBox="1">
            <a:spLocks/>
          </p:cNvSpPr>
          <p:nvPr/>
        </p:nvSpPr>
        <p:spPr>
          <a:xfrm>
            <a:off x="223094" y="1411287"/>
            <a:ext cx="4881341" cy="4762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Since PORTFOLIO_SEC_PERIOD_START_DATE, PORTFOLIO_SEC_HIGH_RESOLVED high security findings have been resolved while PORTFOLIO_SEC_HIGH_ADDED new high findings were discovered. Overall, there has been PORTFOLIO_SEC_RELATIVE_HIGH in high security findings of PORTFOLIO_SEC_HIGH_DIFFERENCE.</a:t>
            </a:r>
          </a:p>
          <a:p>
            <a:pPr indent="-283845"/>
            <a:r>
              <a:rPr lang="en-GB" sz="1550" dirty="0"/>
              <a:t>Of the resolved high findings, most were resolved in PORTFOLIO_SEC_HIGH_RESOLUTION_MOST (PORTFOLIO_SEC_HIGH_RESOLUTION_FINDINGS_MOST findings). PORTFOLIO_SEC_HIGH_RESOLUTION_NO_RISK findings were resolved within the recommended 14 days while PORTFOLIO_SEC_HIGH_RESOLUTION_HIGH_RISK were resolved after 180 days or more. </a:t>
            </a:r>
          </a:p>
          <a:p>
            <a:pPr indent="-283845"/>
            <a:r>
              <a:rPr lang="en-GB" sz="1550" dirty="0"/>
              <a:t>PORTFOLIO_SEC_MEDIUM_RESOLVED medium security findings have been resolved while PORTFOLIO_SEC_MEDIUM_ADDED new medium findings were discovered. Overall, there has been PORTFOLIO_SEC_RELATIVE_MEDIUM in medium security findings of PORTFOLIO_SEC_MEDIUM_DIFFERENCE.</a:t>
            </a:r>
          </a:p>
          <a:p>
            <a:pPr indent="-283845"/>
            <a:r>
              <a:rPr lang="en-GB" sz="1550" dirty="0"/>
              <a:t>Of the resolved medium findings, most were resolved in PORTFOLIO_SEC_MEDIUM_RESOLUTION_MOST (PORTFOLIO_SEC_MEDIUM_RESOLUTION_FINDINGS_MOST findings). PORTFOLIO_SEC_MEDIUM_RESOLUTION_NO_RISK findings were resolved within the recommended 30 days while PORTFOLIO_SEC_MEDIUM_RESOLUTION_HIGH_RISK were resolved after 270 days or more. </a:t>
            </a:r>
          </a:p>
          <a:p>
            <a:pPr indent="-283845"/>
            <a:endParaRPr lang="en-GB" sz="1550" dirty="0"/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8" name="PORTFOLIO_SECURITY_RESOLUTION_HIGH">
            <a:extLst>
              <a:ext uri="{FF2B5EF4-FFF2-40B4-BE49-F238E27FC236}">
                <a16:creationId xmlns:a16="http://schemas.microsoft.com/office/drawing/2014/main" id="{16E3CE9D-20C9-0E77-38B2-53E2D8CA6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503948"/>
              </p:ext>
            </p:extLst>
          </p:nvPr>
        </p:nvGraphicFramePr>
        <p:xfrm>
          <a:off x="8730926" y="1514933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PORTFOLIO_SECURITY_FINDINGS_HIGH">
            <a:extLst>
              <a:ext uri="{FF2B5EF4-FFF2-40B4-BE49-F238E27FC236}">
                <a16:creationId xmlns:a16="http://schemas.microsoft.com/office/drawing/2014/main" id="{75CB1C00-2C16-0486-C27D-31887D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665920"/>
              </p:ext>
            </p:extLst>
          </p:nvPr>
        </p:nvGraphicFramePr>
        <p:xfrm>
          <a:off x="5416871" y="1514933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02A27D-5A11-E727-9003-68497845F5AF}"/>
              </a:ext>
            </a:extLst>
          </p:cNvPr>
          <p:cNvSpPr/>
          <p:nvPr/>
        </p:nvSpPr>
        <p:spPr>
          <a:xfrm flipH="1">
            <a:off x="5291526" y="3893212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E98C36"/>
                </a:solidFill>
              </a:rPr>
              <a:t>Medium</a:t>
            </a:r>
          </a:p>
        </p:txBody>
      </p:sp>
      <p:graphicFrame>
        <p:nvGraphicFramePr>
          <p:cNvPr id="22" name="PORTFOLIO_SECURITY_RESOLUTION_MEDIUM">
            <a:extLst>
              <a:ext uri="{FF2B5EF4-FFF2-40B4-BE49-F238E27FC236}">
                <a16:creationId xmlns:a16="http://schemas.microsoft.com/office/drawing/2014/main" id="{70983DB0-0BC7-2620-9F3E-685D6CFA6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10762"/>
              </p:ext>
            </p:extLst>
          </p:nvPr>
        </p:nvGraphicFramePr>
        <p:xfrm>
          <a:off x="8730926" y="4116161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PORTFOLIO_SECURITY_FINDINGS_MEDIUM">
            <a:extLst>
              <a:ext uri="{FF2B5EF4-FFF2-40B4-BE49-F238E27FC236}">
                <a16:creationId xmlns:a16="http://schemas.microsoft.com/office/drawing/2014/main" id="{72CCB03F-448F-67B3-48DD-4998FE51B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204567"/>
              </p:ext>
            </p:extLst>
          </p:nvPr>
        </p:nvGraphicFramePr>
        <p:xfrm>
          <a:off x="5416871" y="4116161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4758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1FF513-F7F0-C719-C954-DBA335D2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43BB2-F642-BE45-7836-AFCD6CBFD8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47D14B-355C-A109-46FB-79FB23C8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4E15-C7EC-A545-5EBC-69B4EAE34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83ADB-6F9E-D057-991B-C0B52FAE9247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215FE-C7C0-BC81-3B0D-CEF368F87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36E7B9-811C-003C-7BFC-A5493486F19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98D90-BE8E-901C-9DF1-3C45821DE1B7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393784-89ED-CB65-097F-CF64C9DE33A9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7" name="PORTFOLIO_SECURITY_FINDINGS_CRITICAL">
            <a:extLst>
              <a:ext uri="{FF2B5EF4-FFF2-40B4-BE49-F238E27FC236}">
                <a16:creationId xmlns:a16="http://schemas.microsoft.com/office/drawing/2014/main" id="{3605FEE4-47C1-3A75-7A83-281F7BE41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918974"/>
              </p:ext>
            </p:extLst>
          </p:nvPr>
        </p:nvGraphicFramePr>
        <p:xfrm>
          <a:off x="955163" y="1714666"/>
          <a:ext cx="5070948" cy="219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ORTFOLIO_SECURITY_FINDINGS_HIGH">
            <a:extLst>
              <a:ext uri="{FF2B5EF4-FFF2-40B4-BE49-F238E27FC236}">
                <a16:creationId xmlns:a16="http://schemas.microsoft.com/office/drawing/2014/main" id="{E6284084-0D17-0C79-BA25-E3E29D606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042344"/>
              </p:ext>
            </p:extLst>
          </p:nvPr>
        </p:nvGraphicFramePr>
        <p:xfrm>
          <a:off x="6284745" y="1714666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PORTFOLIO_SECURITY_FINDINGS_MEDIUM">
            <a:extLst>
              <a:ext uri="{FF2B5EF4-FFF2-40B4-BE49-F238E27FC236}">
                <a16:creationId xmlns:a16="http://schemas.microsoft.com/office/drawing/2014/main" id="{1D0C3BE9-A664-5700-38B0-74CDE05BE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025760"/>
              </p:ext>
            </p:extLst>
          </p:nvPr>
        </p:nvGraphicFramePr>
        <p:xfrm>
          <a:off x="3679861" y="4116161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716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C38F-AE8D-FF4B-AE4F-040316C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E57D2-7FE4-C0AA-BDE9-A362D613ED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F027-54A5-051F-5710-B5994A182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1A16AE-C003-C50A-E6D6-3D6AA501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89-53C7-6B9A-712B-0DEEC0C1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A71AF-4489-77E3-367D-617DFCB60DE0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AD5F6-18F9-8A40-2477-E9242D99A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490A03-971E-D057-E453-8848427D9F4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11086-3056-B85A-B493-E969F1E03B2E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2F09A1-6725-C876-B697-24D0E14922AC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0" name="PORTFOLIO_SECURITY_RESOLUTION_CRITICAL">
            <a:extLst>
              <a:ext uri="{FF2B5EF4-FFF2-40B4-BE49-F238E27FC236}">
                <a16:creationId xmlns:a16="http://schemas.microsoft.com/office/drawing/2014/main" id="{043ADC1B-1288-61F5-6E17-604566843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850097"/>
              </p:ext>
            </p:extLst>
          </p:nvPr>
        </p:nvGraphicFramePr>
        <p:xfrm>
          <a:off x="952145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ORTFOLIO_SECURITY_RESOLUTION_HIGH">
            <a:extLst>
              <a:ext uri="{FF2B5EF4-FFF2-40B4-BE49-F238E27FC236}">
                <a16:creationId xmlns:a16="http://schemas.microsoft.com/office/drawing/2014/main" id="{FD9AE359-1D59-B204-F3B2-ED88BE1F3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13887"/>
              </p:ext>
            </p:extLst>
          </p:nvPr>
        </p:nvGraphicFramePr>
        <p:xfrm>
          <a:off x="6340739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PORTFOLIO_SECURITY_RESOLUTION_MEDIUM">
            <a:extLst>
              <a:ext uri="{FF2B5EF4-FFF2-40B4-BE49-F238E27FC236}">
                <a16:creationId xmlns:a16="http://schemas.microsoft.com/office/drawing/2014/main" id="{6568A628-8BDB-F462-AB74-A5B810893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08121"/>
              </p:ext>
            </p:extLst>
          </p:nvPr>
        </p:nvGraphicFramePr>
        <p:xfrm>
          <a:off x="3678661" y="4091051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643688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18340</TotalTime>
  <Words>2590</Words>
  <Application>Microsoft Macintosh PowerPoint</Application>
  <PresentationFormat>Widescreen</PresentationFormat>
  <Paragraphs>405</Paragraphs>
  <Slides>38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Progress towards objectives between OBJECTIVES_PERIOD_START and OBJECTIVES_PERIOD_END</vt:lpstr>
      <vt:lpstr>Progress towards objectives over time</vt:lpstr>
      <vt:lpstr>Progress towards objectives per capability between OBJECTIVES_PERIOD_START and OBJECTIVES_PERIOD_END</vt:lpstr>
      <vt:lpstr>Progress towards objectives: Maintainability</vt:lpstr>
      <vt:lpstr>Progress towards objectives: Architecture</vt:lpstr>
      <vt:lpstr>Progress towards objectives: Open Source Health</vt:lpstr>
      <vt:lpstr>Progress towards objectives: Security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Index</vt:lpstr>
      <vt:lpstr>PORTFOLIO_PERIOD_MAINT_SHORT_SUMMARY</vt:lpstr>
      <vt:lpstr>Maintainability Grouped by Lifecycle</vt:lpstr>
      <vt:lpstr>Maintainability Grouped by Deployment Type</vt:lpstr>
      <vt:lpstr>Maintainability Grouped by Business Criticality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Test Code Ratio Grouped by Main Technology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  <vt:lpstr>Critical findings trends of the last 12 months (ending at PORTFOLIO_PERIOD_END_DATE)</vt:lpstr>
      <vt:lpstr>Security resolution times of the portfolio of the last 12 months (ending at PORTFOLIO_PERIOD_END_DATE)</vt:lpstr>
      <vt:lpstr>Security findings of the portfolio of the last 12 months (ending at PORTFOLIO_PERIOD_END_DATE)</vt:lpstr>
      <vt:lpstr>Security findings of the portfolio of the last 12 months (ending at PORTFOLIO_PERIOD_END_DATE)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202</cp:revision>
  <cp:lastPrinted>2020-04-20T09:37:43Z</cp:lastPrinted>
  <dcterms:created xsi:type="dcterms:W3CDTF">2025-10-22T11:22:13Z</dcterms:created>
  <dcterms:modified xsi:type="dcterms:W3CDTF">2026-07-13T17:05:15Z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