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charts/chart2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charts/chart2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charts/chart2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charts/chart27.xml" ContentType="application/vnd.openxmlformats-officedocument.drawingml.chart+xml"/>
  <Override PartName="/ppt/charts/style27.xml" ContentType="application/vnd.ms-office.chartstyle+xml"/>
  <Override PartName="/ppt/charts/colors27.xml" ContentType="application/vnd.ms-office.chartcolorstyle+xml"/>
  <Override PartName="/ppt/charts/chart28.xml" ContentType="application/vnd.openxmlformats-officedocument.drawingml.chart+xml"/>
  <Override PartName="/ppt/charts/style28.xml" ContentType="application/vnd.ms-office.chartstyle+xml"/>
  <Override PartName="/ppt/charts/colors28.xml" ContentType="application/vnd.ms-office.chartcolorstyle+xml"/>
  <Override PartName="/ppt/charts/chart29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2"/>
  </p:notesMasterIdLst>
  <p:handoutMasterIdLst>
    <p:handoutMasterId r:id="rId43"/>
  </p:handoutMasterIdLst>
  <p:sldIdLst>
    <p:sldId id="1973" r:id="rId5"/>
    <p:sldId id="11390" r:id="rId6"/>
    <p:sldId id="10749" r:id="rId7"/>
    <p:sldId id="10751" r:id="rId8"/>
    <p:sldId id="10753" r:id="rId9"/>
    <p:sldId id="10750" r:id="rId10"/>
    <p:sldId id="10754" r:id="rId11"/>
    <p:sldId id="10755" r:id="rId12"/>
    <p:sldId id="10756" r:id="rId13"/>
    <p:sldId id="11363" r:id="rId14"/>
    <p:sldId id="11364" r:id="rId15"/>
    <p:sldId id="11365" r:id="rId16"/>
    <p:sldId id="11366" r:id="rId17"/>
    <p:sldId id="11367" r:id="rId18"/>
    <p:sldId id="11368" r:id="rId19"/>
    <p:sldId id="11369" r:id="rId20"/>
    <p:sldId id="11370" r:id="rId21"/>
    <p:sldId id="11389" r:id="rId22"/>
    <p:sldId id="11371" r:id="rId23"/>
    <p:sldId id="10757" r:id="rId24"/>
    <p:sldId id="11409" r:id="rId25"/>
    <p:sldId id="11410" r:id="rId26"/>
    <p:sldId id="11403" r:id="rId27"/>
    <p:sldId id="11404" r:id="rId28"/>
    <p:sldId id="11387" r:id="rId29"/>
    <p:sldId id="11384" r:id="rId30"/>
    <p:sldId id="11374" r:id="rId31"/>
    <p:sldId id="11405" r:id="rId32"/>
    <p:sldId id="11406" r:id="rId33"/>
    <p:sldId id="11402" r:id="rId34"/>
    <p:sldId id="11376" r:id="rId35"/>
    <p:sldId id="11284" r:id="rId36"/>
    <p:sldId id="11377" r:id="rId37"/>
    <p:sldId id="11415" r:id="rId38"/>
    <p:sldId id="11416" r:id="rId39"/>
    <p:sldId id="11417" r:id="rId40"/>
    <p:sldId id="11418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454"/>
    <p:restoredTop sz="96763"/>
  </p:normalViewPr>
  <p:slideViewPr>
    <p:cSldViewPr snapToGrid="0" snapToObjects="1" showGuides="1">
      <p:cViewPr varScale="1">
        <p:scale>
          <a:sx n="173" d="100"/>
          <a:sy n="173" d="100"/>
        </p:scale>
        <p:origin x="232" y="125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handoutMaster" Target="handoutMasters/handoutMaster1.xml"/><Relationship Id="rId48" Type="http://schemas.microsoft.com/office/2018/10/relationships/authors" Target="author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6.xlsx"/><Relationship Id="rId2" Type="http://schemas.microsoft.com/office/2011/relationships/chartColorStyle" Target="colors27.xml"/><Relationship Id="rId1" Type="http://schemas.microsoft.com/office/2011/relationships/chartStyle" Target="style27.xml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7.xlsx"/><Relationship Id="rId2" Type="http://schemas.microsoft.com/office/2011/relationships/chartColorStyle" Target="colors28.xml"/><Relationship Id="rId1" Type="http://schemas.microsoft.com/office/2011/relationships/chartStyle" Target="style28.xml"/></Relationships>
</file>

<file path=ppt/charts/_rels/chart2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8.xlsx"/><Relationship Id="rId2" Type="http://schemas.microsoft.com/office/2011/relationships/chartColorStyle" Target="colors29.xml"/><Relationship Id="rId1" Type="http://schemas.microsoft.com/office/2011/relationships/chartStyle" Target="style29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nl-NL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nl-NL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nl-NL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75D5-D342-BCFC-56747FBB812F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75D5-D342-BCFC-56747FBB81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5D5-D342-BCFC-56747FBB81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5D5-D342-BCFC-56747FBB812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5D5-D342-BCFC-56747FBB812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5D5-D342-BCFC-56747FBB8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189D-224A-BCD3-20CC2B33F5C5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189D-224A-BCD3-20CC2B33F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9D-224A-BCD3-20CC2B33F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89D-224A-BCD3-20CC2B33F5C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9D-224A-BCD3-20CC2B33F5C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89D-224A-BCD3-20CC2B33F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E98D-4640-8B14-A67FDFDE3FF3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E98D-4640-8B14-A67FDFDE3F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98D-4640-8B14-A67FDFDE3F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98D-4640-8B14-A67FDFDE3FF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98D-4640-8B14-A67FDFDE3FF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98D-4640-8B14-A67FDFDE3F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5343-2840-AF35-77DE56009DF9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5343-2840-AF35-77DE56009DF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343-2840-AF35-77DE56009DF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343-2840-AF35-77DE56009DF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43-2840-AF35-77DE56009DF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343-2840-AF35-77DE56009D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5A7D-2A41-8E40-3CF6BA9EF6C8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5A7D-2A41-8E40-3CF6BA9EF6C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A7D-2A41-8E40-3CF6BA9EF6C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A7D-2A41-8E40-3CF6BA9EF6C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A7D-2A41-8E40-3CF6BA9EF6C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A7D-2A41-8E40-3CF6BA9EF6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2F9E-3B4D-B259-782ED914E23F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2F9E-3B4D-B259-782ED914E23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F9E-3B4D-B259-782ED914E23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F9E-3B4D-B259-782ED914E23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F9E-3B4D-B259-782ED914E23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F9E-3B4D-B259-782ED914E2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BA9D-A148-A366-632DBB31698B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BA9D-A148-A366-632DBB3169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A9D-A148-A366-632DBB3169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A9D-A148-A366-632DBB31698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A9D-A148-A366-632DBB31698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A9D-A148-A366-632DBB3169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9CDF-4B43-A58B-3C03F478D7BE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9CDF-4B43-A58B-3C03F478D7B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CDF-4B43-A58B-3C03F478D7B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CDF-4B43-A58B-3C03F478D7B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CDF-4B43-A58B-3C03F478D7B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CDF-4B43-A58B-3C03F478D7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0-983E-B549-A770-4B561453C6B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83E-B549-A770-4B561453C6BF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983E-B549-A770-4B561453C6BF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9-983E-B549-A770-4B561453C6B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E-983E-B549-A770-4B561453C6B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F-983E-B549-A770-4B561453C6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190.0000000000005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0-6308-9C42-B1E9-65C8973ABF7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308-9C42-B1E9-65C8973ABF79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6308-9C42-B1E9-65C8973ABF79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9-6308-9C42-B1E9-65C8973ABF7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E-6308-9C42-B1E9-65C8973ABF7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F-6308-9C42-B1E9-65C8973ABF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190.0000000000005"/>
          <c:min val="0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171D-B549-A7DE-EF4D33711D1D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171D-B549-A7DE-EF4D33711D1D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71D-B549-A7DE-EF4D33711D1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71D-B549-A7DE-EF4D33711D1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71D-B549-A7DE-EF4D33711D1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71D-B549-A7DE-EF4D33711D1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71D-B549-A7DE-EF4D33711D1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71D-B549-A7DE-EF4D33711D1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71D-B549-A7DE-EF4D33711D1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171D-B549-A7DE-EF4D33711D1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71D-B549-A7DE-EF4D33711D1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171D-B549-A7DE-EF4D33711D1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71D-B549-A7DE-EF4D33711D1D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171D-B549-A7DE-EF4D33711D1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980E-0B4B-A8CF-968C5F8B2D40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980E-0B4B-A8CF-968C5F8B2D40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980E-0B4B-A8CF-968C5F8B2D40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4516723674428567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0E27-A747-9927-F7F0E1E987CA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0E27-A747-9927-F7F0E1E987CA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0E27-A747-9927-F7F0E1E987CA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2878023052360095"/>
          <c:w val="0.99589338467782274"/>
          <c:h val="0.1381688580606488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96F4-9648-A147-F9769DAF7605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96F4-9648-A147-F9769DAF7605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6F4-9648-A147-F9769DAF760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6F4-9648-A147-F9769DAF760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6F4-9648-A147-F9769DAF760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6F4-9648-A147-F9769DAF760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6F4-9648-A147-F9769DAF760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6F4-9648-A147-F9769DAF760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6F4-9648-A147-F9769DAF760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6F4-9648-A147-F9769DAF760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6F4-9648-A147-F9769DAF760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6F4-9648-A147-F9769DAF760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6F4-9648-A147-F9769DAF760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6F4-9648-A147-F9769DAF760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561842072162023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1F71-2347-B18D-6B630A307332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1F71-2347-B18D-6B630A307332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1F71-2347-B18D-6B630A307332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3428871575955932"/>
          <c:w val="0.99589338467782274"/>
          <c:h val="0.1326603728246904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3E51-4E42-8C00-A948DC2E75DF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3E51-4E42-8C00-A948DC2E75DF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E51-4E42-8C00-A948DC2E75D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E51-4E42-8C00-A948DC2E75D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E51-4E42-8C00-A948DC2E75D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E51-4E42-8C00-A948DC2E75D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E51-4E42-8C00-A948DC2E75D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3E51-4E42-8C00-A948DC2E75D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3E51-4E42-8C00-A948DC2E75D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3E51-4E42-8C00-A948DC2E75D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3E51-4E42-8C00-A948DC2E75D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3E51-4E42-8C00-A948DC2E75D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3E51-4E42-8C00-A948DC2E75DF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3E51-4E42-8C00-A948DC2E75D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B586-A04E-8798-76AFBDCDFE8A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B586-A04E-8798-76AFBDCDFE8A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586-A04E-8798-76AFBDCDFE8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B586-A04E-8798-76AFBDCDFE8A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586-A04E-8798-76AFBDCDFE8A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B586-A04E-8798-76AFBDCDFE8A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586-A04E-8798-76AFBDCDFE8A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B586-A04E-8798-76AFBDCDFE8A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586-A04E-8798-76AFBDCDFE8A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B586-A04E-8798-76AFBDCDFE8A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586-A04E-8798-76AFBDCDFE8A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B586-A04E-8798-76AFBDCDFE8A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586-A04E-8798-76AFBDCDFE8A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B586-A04E-8798-76AFBDCDFE8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9C7F-D847-A4AD-44605D3AD5C5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9C7F-D847-A4AD-44605D3AD5C5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C7F-D847-A4AD-44605D3AD5C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C7F-D847-A4AD-44605D3AD5C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C7F-D847-A4AD-44605D3AD5C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C7F-D847-A4AD-44605D3AD5C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C7F-D847-A4AD-44605D3AD5C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C7F-D847-A4AD-44605D3AD5C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C7F-D847-A4AD-44605D3AD5C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C7F-D847-A4AD-44605D3AD5C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C7F-D847-A4AD-44605D3AD5C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C7F-D847-A4AD-44605D3AD5C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C7F-D847-A4AD-44605D3AD5C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C7F-D847-A4AD-44605D3AD5C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8F19-F14D-B63F-8C5F7A032322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8F19-F14D-B63F-8C5F7A032322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F19-F14D-B63F-8C5F7A03232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8F19-F14D-B63F-8C5F7A032322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F19-F14D-B63F-8C5F7A03232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8F19-F14D-B63F-8C5F7A03232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F19-F14D-B63F-8C5F7A03232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8F19-F14D-B63F-8C5F7A032322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F19-F14D-B63F-8C5F7A032322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8F19-F14D-B63F-8C5F7A032322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F19-F14D-B63F-8C5F7A032322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8F19-F14D-B63F-8C5F7A032322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F19-F14D-B63F-8C5F7A032322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8F19-F14D-B63F-8C5F7A03232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613A-144D-9198-B504C851AC66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613A-144D-9198-B504C851AC66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613A-144D-9198-B504C851AC66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9E683-C9EC-1D45-88B8-5E84B5854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B5CBF-3012-045D-BF54-6FE84596A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33B5E4-7175-81ED-5825-D28FF4AD0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7745D3-74FD-0ADA-5B6C-DC6DBDDF1C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318681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A74F8-E8A1-04EC-B454-288A2CC88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F02B9-A2E5-ED61-3237-42E0AC4BBB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B8B389-453E-3433-6FA3-9E9724AFA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964E3-FBDC-C133-4E72-F1AAC73304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56031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40C3-8B77-A987-276E-F1D31C85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65009-84BF-8836-E818-4EE4D95DBD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697E46-BEF0-F40D-55DD-BD10F7747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66F44B-8DFA-7FEC-E0BE-04E5455D62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239279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37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94A2A75-3145-2B40-BD84-D3A76CD6FFAD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chart" Target="../charts/chart16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9.xml"/><Relationship Id="rId2" Type="http://schemas.openxmlformats.org/officeDocument/2006/relationships/chart" Target="../charts/chart18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23.xml"/><Relationship Id="rId5" Type="http://schemas.openxmlformats.org/officeDocument/2006/relationships/chart" Target="../charts/chart22.xml"/><Relationship Id="rId4" Type="http://schemas.openxmlformats.org/officeDocument/2006/relationships/chart" Target="../charts/chart2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4.xml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3.xml"/><Relationship Id="rId5" Type="http://schemas.openxmlformats.org/officeDocument/2006/relationships/chart" Target="../charts/chart26.xml"/><Relationship Id="rId4" Type="http://schemas.openxmlformats.org/officeDocument/2006/relationships/chart" Target="../charts/chart2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7.xml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3.xml"/><Relationship Id="rId5" Type="http://schemas.openxmlformats.org/officeDocument/2006/relationships/chart" Target="../charts/chart29.xml"/><Relationship Id="rId4" Type="http://schemas.openxmlformats.org/officeDocument/2006/relationships/chart" Target="../charts/char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CUSTOMER_NAME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Portfolio Overview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8E9F-84B3-1417-B1C1-8497B0441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996AB135-5D98-6CB2-2236-27FA6BFF1DF8}"/>
              </a:ext>
            </a:extLst>
          </p:cNvPr>
          <p:cNvSpPr/>
          <p:nvPr/>
        </p:nvSpPr>
        <p:spPr>
          <a:xfrm>
            <a:off x="4454347" y="754749"/>
            <a:ext cx="7567201" cy="14065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6C2F1336-0E3A-77B1-7FED-5097E0B73E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06585796-F7AC-E22A-DAA4-BFADBBE1AED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1C30576-65F7-766C-094F-C9239AE17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8B9E1154-CDD8-EB91-949B-479B334BF67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endParaRPr lang="en-GB" dirty="0"/>
          </a:p>
          <a:p>
            <a:r>
              <a:rPr lang="en-GB" dirty="0"/>
              <a:t>Portfolio trends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221DC0E-2ACB-F130-731C-38C80934C0BA}"/>
              </a:ext>
            </a:extLst>
          </p:cNvPr>
          <p:cNvSpPr/>
          <p:nvPr/>
        </p:nvSpPr>
        <p:spPr>
          <a:xfrm>
            <a:off x="4467601" y="2720084"/>
            <a:ext cx="7567200" cy="1739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78A9620-EABF-7EE8-9AD9-DC016D1A3074}"/>
              </a:ext>
            </a:extLst>
          </p:cNvPr>
          <p:cNvGrpSpPr/>
          <p:nvPr/>
        </p:nvGrpSpPr>
        <p:grpSpPr>
          <a:xfrm>
            <a:off x="5682921" y="1563345"/>
            <a:ext cx="5119353" cy="332898"/>
            <a:chOff x="5682921" y="2898499"/>
            <a:chExt cx="5119353" cy="332898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96D49B4-3075-D523-A87B-34907DB1D635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tangle 12">
              <a:extLst>
                <a:ext uri="{FF2B5EF4-FFF2-40B4-BE49-F238E27FC236}">
                  <a16:creationId xmlns:a16="http://schemas.microsoft.com/office/drawing/2014/main" id="{12943039-BE55-8114-7DAD-5D4EF8731FF6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B5A5871D-7343-4BC4-31A9-01F0CD087096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Objectives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2F51B979-8832-1084-DED6-F0BE94169ECE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 trends per capability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905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between OBJECTIVES_PERIOD_START and OBJECTIVES_PERIOD_END</a:t>
            </a:r>
          </a:p>
        </p:txBody>
      </p:sp>
      <p:graphicFrame>
        <p:nvGraphicFramePr>
          <p:cNvPr id="6" name="PROGRESS_STATUS_CHART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002B0A-CA08-2984-487D-E204E84385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6" name="PROGRESS_TIME_CHART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67376D-DF88-6D74-9C9C-4F16D33E7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6" name="PROGRESS_CAPABILITY_CHART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6673381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6DF103-9A84-4CFA-15FA-0BD904F9B38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6" name="PROGRESS_MAINTAINABILITY_TIME_CHART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742CA01-A950-E39F-CC0E-94DE74A9CA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6" name="PROGRESS_ARCHITECTURE_TIME_CHART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29B3573-6428-0E36-04D1-823E45CA08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GB" dirty="0"/>
              <a:t>Objectives – Open Source Health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Open Source Health</a:t>
            </a:r>
          </a:p>
        </p:txBody>
      </p:sp>
      <p:graphicFrame>
        <p:nvGraphicFramePr>
          <p:cNvPr id="6" name="PROGRESS_OSH_TIME_CHART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33F2A3-DC2A-0CBF-4932-AEA088FF9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Security</a:t>
            </a:r>
          </a:p>
        </p:txBody>
      </p:sp>
      <p:graphicFrame>
        <p:nvGraphicFramePr>
          <p:cNvPr id="6" name="PROGRESS_SECURITY_TIME_CHART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01605918"/>
              </p:ext>
            </p:extLst>
          </p:nvPr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888B32-26A7-257B-DDDE-599EEC4CEC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747448" cy="228145"/>
          </a:xfrm>
        </p:spPr>
        <p:txBody>
          <a:bodyPr/>
          <a:lstStyle/>
          <a:p>
            <a:r>
              <a:rPr lang="en-GB" dirty="0"/>
              <a:t>Objectives – Status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FCD154-723A-2909-18F9-136A88A427F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773B6-825A-4167-35E1-B39EF2B9436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216A0FA-E540-B347-F0E6-078404ED9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between OBJECTIVES_PERIOD_START and OBJECTIVES_PERIOD_END</a:t>
            </a:r>
          </a:p>
        </p:txBody>
      </p:sp>
      <p:graphicFrame>
        <p:nvGraphicFramePr>
          <p:cNvPr id="7" name="OBJECTIVES_STATUS_CHART">
            <a:extLst>
              <a:ext uri="{FF2B5EF4-FFF2-40B4-BE49-F238E27FC236}">
                <a16:creationId xmlns:a16="http://schemas.microsoft.com/office/drawing/2014/main" id="{2EDB28D6-D893-2834-1452-760EA34FA080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7CF6F7A-28F4-82F4-BD9F-05E947064F24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64C5C-AD9F-1F4B-55E5-F3377812A35C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24414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576D7E-6A52-4C14-1626-F436107D18C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578812" cy="228145"/>
          </a:xfrm>
        </p:spPr>
        <p:txBody>
          <a:bodyPr/>
          <a:lstStyle/>
          <a:p>
            <a:r>
              <a:rPr lang="en-GB" dirty="0"/>
              <a:t>Objectives – Team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C7CD8-F0E2-3AA8-5650-3D8DA4191EF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DA563-94D2-2769-14DD-8932B8AF8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1CF856C-82D4-2AD8-52DB-B4AC65873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per team between OBJECTIVES_PERIOD_START and OBJECTIVES_PERIOD_END</a:t>
            </a:r>
          </a:p>
        </p:txBody>
      </p:sp>
      <p:graphicFrame>
        <p:nvGraphicFramePr>
          <p:cNvPr id="11" name="OBJECTIVES_TEAM_CHART">
            <a:extLst>
              <a:ext uri="{FF2B5EF4-FFF2-40B4-BE49-F238E27FC236}">
                <a16:creationId xmlns:a16="http://schemas.microsoft.com/office/drawing/2014/main" id="{90D37655-7D68-97A1-42BD-3EA9E53215F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D842B39-F206-50DB-DCE4-FBFE6B59063D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CFE085-67E8-695F-F564-B8C48BE4ECD4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1250334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2E287AD-36A0-DD07-3A6C-318F5D2B12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084720" cy="228145"/>
          </a:xfrm>
        </p:spPr>
        <p:txBody>
          <a:bodyPr/>
          <a:lstStyle/>
          <a:p>
            <a:r>
              <a:rPr lang="en-GB" dirty="0"/>
              <a:t>Objectives – Capability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19CDB-F8BA-4683-92D5-E4255AE0D10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CB7156-CCFF-605D-4D31-9506947FE0B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7C09E9-29E6-1EC3-4D1D-7D72EF930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7" name="OBJECTIVES_CAPABILITY_CHART">
            <a:extLst>
              <a:ext uri="{FF2B5EF4-FFF2-40B4-BE49-F238E27FC236}">
                <a16:creationId xmlns:a16="http://schemas.microsoft.com/office/drawing/2014/main" id="{F7EC7942-12DF-47CD-7568-513CF44E5D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671865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90E694A-649F-7E3D-3A63-6F6D6F81E40E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E8EC1-BCA9-D803-2F62-A8F5EF7DDCDA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963466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481FAE-4A75-47A8-A91D-55F888E119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831765" cy="228145"/>
          </a:xfrm>
        </p:spPr>
        <p:txBody>
          <a:bodyPr/>
          <a:lstStyle/>
          <a:p>
            <a:r>
              <a:rPr lang="en-GB" dirty="0"/>
              <a:t>Objectives – Overall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6FB6BB-5502-6059-F44F-990FF73C435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CF516E-D9DE-46A4-39EC-49C4A7E4D71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068BC10-5510-3D83-FFE3-706AA2FB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7" name="OBJECTIVES_OVERALL_CHART">
            <a:extLst>
              <a:ext uri="{FF2B5EF4-FFF2-40B4-BE49-F238E27FC236}">
                <a16:creationId xmlns:a16="http://schemas.microsoft.com/office/drawing/2014/main" id="{717088A6-F703-E509-DF51-C3923B3A075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330F4B4-9201-428C-E53A-F1AEFD8E5616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D3893-DC86-A976-1AB5-AE31EF208FC8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88232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51F31D-6F2E-DFE6-587E-A78BD8E881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C895C3-ED96-7EAA-081E-E246ABA2BFE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FE7E0D-EF19-08C9-4FF3-D419036690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8977723-C726-4DFE-2330-B77DBE26A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Security</a:t>
            </a:r>
          </a:p>
        </p:txBody>
      </p:sp>
      <p:graphicFrame>
        <p:nvGraphicFramePr>
          <p:cNvPr id="7" name="OBJECTIVES_SECURITY_CHART">
            <a:extLst>
              <a:ext uri="{FF2B5EF4-FFF2-40B4-BE49-F238E27FC236}">
                <a16:creationId xmlns:a16="http://schemas.microsoft.com/office/drawing/2014/main" id="{FE1E4419-38A2-FC5F-E723-8277D7239FCE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E2DC61A-F9F3-987F-31AE-C332F7F54B2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C7B2F6-4CBE-9108-1F8E-D799C529DCCF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00646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A2875A-8544-1533-7916-43BBF6E82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843581" cy="228145"/>
          </a:xfrm>
        </p:spPr>
        <p:txBody>
          <a:bodyPr/>
          <a:lstStyle/>
          <a:p>
            <a:r>
              <a:rPr lang="en-GB" dirty="0"/>
              <a:t>Objectives – Open-Source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FEB5E-6597-18A4-BEEB-888581F9565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9A5E5-D48A-3B03-A54D-B02E30DC03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0495C68-B12D-B774-99A2-0D8AD051F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Open Source Health</a:t>
            </a:r>
          </a:p>
        </p:txBody>
      </p:sp>
      <p:graphicFrame>
        <p:nvGraphicFramePr>
          <p:cNvPr id="7" name="OBJECTIVES_OSH_CHART">
            <a:extLst>
              <a:ext uri="{FF2B5EF4-FFF2-40B4-BE49-F238E27FC236}">
                <a16:creationId xmlns:a16="http://schemas.microsoft.com/office/drawing/2014/main" id="{0EBCAFE5-E641-00DD-A9BA-54DDF716F8A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D2A8387-99CF-53E7-C02C-0F47937D058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9B4172-3DFC-6A98-8387-0A5860FF68EC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17045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B3FBCFC-165E-6074-D295-7213C886B0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90627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DB2143-4E69-C9AB-EF61-72293A1BC14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2AA93-DDC2-222A-347A-F3D1A30F09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21FF725-8BE2-FFE6-09CA-89427E9C3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7" name="OBJECTIVES_MAINTAINABILITY_CHART">
            <a:extLst>
              <a:ext uri="{FF2B5EF4-FFF2-40B4-BE49-F238E27FC236}">
                <a16:creationId xmlns:a16="http://schemas.microsoft.com/office/drawing/2014/main" id="{B1D17370-4289-2EDA-3CF4-CDE176E45E7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5D94812-AFF9-6320-FC55-9DFAD9E49F5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85A181-CE4E-BF8F-1749-76DA5E7EB5F5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386941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37335B8-EE82-608B-22C4-A627436D36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9E40D1-0E68-7E25-1B05-ACD30948CCE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1A783F-27CE-A200-297F-D46B148F653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6D9A223-DF60-A573-9531-80EE0F5E6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7" name="OBJECTIVES_ARCHITECTURE_CHART">
            <a:extLst>
              <a:ext uri="{FF2B5EF4-FFF2-40B4-BE49-F238E27FC236}">
                <a16:creationId xmlns:a16="http://schemas.microsoft.com/office/drawing/2014/main" id="{160E225E-2E69-5802-F5E6-34A8D5119A3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CE47C19-C293-E59B-609F-8B720AE9857C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F4C6F2-6589-ECFC-76DC-423AFBC2B3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54342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fgeronde rechthoek 33">
            <a:extLst>
              <a:ext uri="{FF2B5EF4-FFF2-40B4-BE49-F238E27FC236}">
                <a16:creationId xmlns:a16="http://schemas.microsoft.com/office/drawing/2014/main" id="{5C67D71A-21D5-7B62-C401-C5338679DFE0}"/>
              </a:ext>
            </a:extLst>
          </p:cNvPr>
          <p:cNvSpPr/>
          <p:nvPr/>
        </p:nvSpPr>
        <p:spPr>
          <a:xfrm>
            <a:off x="4454347" y="1406584"/>
            <a:ext cx="7567201" cy="20333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B159244B-2E65-D403-B5EA-9ABB5CA8CB9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</p:spPr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727C3B66-2BB8-6651-49B3-C22404EF56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D0FD1C-DD8F-FA69-E8D5-51EBF8A0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B8640D79-73F3-DDBF-46E3-A770D0CE4F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7999"/>
            <a:ext cx="7092000" cy="273472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r>
              <a:rPr lang="en-GB" dirty="0"/>
              <a:t>Portfolio trends</a:t>
            </a:r>
          </a:p>
          <a:p>
            <a:endParaRPr lang="en-GB" dirty="0"/>
          </a:p>
          <a:p>
            <a:endParaRPr lang="en-GB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64DC9F-CC1F-F90B-BAEE-7FE68259B0A0}"/>
              </a:ext>
            </a:extLst>
          </p:cNvPr>
          <p:cNvGrpSpPr/>
          <p:nvPr/>
        </p:nvGrpSpPr>
        <p:grpSpPr>
          <a:xfrm>
            <a:off x="5678270" y="2777977"/>
            <a:ext cx="2396827" cy="332897"/>
            <a:chOff x="5682921" y="2898500"/>
            <a:chExt cx="2396827" cy="332897"/>
          </a:xfrm>
        </p:grpSpPr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164776AD-70C4-808F-74DD-3C14795FF549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26E313BE-4539-951D-39B6-8270E8E286F4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Security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AEFF71-AFAA-2A9B-1B52-69C00DF203AA}"/>
              </a:ext>
            </a:extLst>
          </p:cNvPr>
          <p:cNvGrpSpPr/>
          <p:nvPr/>
        </p:nvGrpSpPr>
        <p:grpSpPr>
          <a:xfrm>
            <a:off x="5682921" y="2128093"/>
            <a:ext cx="5119353" cy="332898"/>
            <a:chOff x="5682921" y="2898499"/>
            <a:chExt cx="5119353" cy="332898"/>
          </a:xfrm>
        </p:grpSpPr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CF5648A5-989D-607F-8E33-BE663B334A22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4" name="Rectangle 12">
              <a:extLst>
                <a:ext uri="{FF2B5EF4-FFF2-40B4-BE49-F238E27FC236}">
                  <a16:creationId xmlns:a16="http://schemas.microsoft.com/office/drawing/2014/main" id="{6199A04C-EC60-FB43-DB8D-97CCBCA311F4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5" name="TextBox 6">
              <a:extLst>
                <a:ext uri="{FF2B5EF4-FFF2-40B4-BE49-F238E27FC236}">
                  <a16:creationId xmlns:a16="http://schemas.microsoft.com/office/drawing/2014/main" id="{277D7F99-1C55-864A-511F-89B598866BE7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36" name="TextBox 18">
              <a:extLst>
                <a:ext uri="{FF2B5EF4-FFF2-40B4-BE49-F238E27FC236}">
                  <a16:creationId xmlns:a16="http://schemas.microsoft.com/office/drawing/2014/main" id="{E7FB80B6-7D6D-E1C4-A31F-209945D62AC9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3604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18671C5-F042-037A-74D6-4C34BE22CC2D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</a:t>
            </a:r>
            <a:r>
              <a:rPr lang="en-US" sz="1600" dirty="0">
                <a:solidFill>
                  <a:schemeClr val="bg1"/>
                </a:solidFill>
              </a:rPr>
              <a:t>_GROUPED_BY_TEAM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PORTFOLIO_PERIOD_MAINT_SHORT_SUMMARY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PORTFOLIO_MAINT_AVG_RATING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800F3-3D18-CF63-16D4-96CA78393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14AA8-0AD7-EDFF-9986-B230DB557AA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F1BFF63-C4B5-7AB9-E5D9-E74391AFD97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9EB6A-8DF6-69EE-B118-CBF9A8558A5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20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AFF12C5-E73A-8501-2BCE-9BD95E2EC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Lifecycle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B9C8604-49B1-C79B-52E3-E11913D097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044EBA72-3AF3-C450-92C3-70B42255A7A7}"/>
              </a:ext>
            </a:extLst>
          </p:cNvPr>
          <p:cNvSpPr txBox="1"/>
          <p:nvPr/>
        </p:nvSpPr>
        <p:spPr>
          <a:xfrm>
            <a:off x="2643466" y="6054740"/>
            <a:ext cx="1520116" cy="22512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Lifecycle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849045C-A3DB-D503-5F61-D4753A6B2ED2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624AC01-AE32-E25C-2E9D-D62F1A546D5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E528D542-C236-FC7F-A86B-58E301E03F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C8A81E2-505A-2686-805D-D50F2ED4D58F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6DC148D-262C-83BE-A7DB-4CEECDA9841D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3216D68-D9B6-5F6A-FBB5-3659B7899EE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5C52AC4-11B0-1D06-863D-8E95DF4FAEE5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FCAE05B-9910-83DD-05A3-9ED3538CAB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B02E6CFD-57D4-174C-07D0-383B813F68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26E1917-406F-73B3-C93D-1D8325F31D6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67C8CEE-6BFB-AD76-8318-6426CA6A5C1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8290A5E7-04EA-1335-3D95-D2A8C4CF3F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C1BB1CA-50D6-5754-E886-56DDDB6B630E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AAE7018-A3D7-FF0D-2550-A7320B145E2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DBAC6E5-512A-CB63-DCC5-44139D7EAC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BD4EC-E668-DDBB-C898-CDC11794C48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323457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9E1A0-F677-7ABE-9F7B-0B74434D5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FE9586-B72E-67FD-21F0-E86559BC65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8337E4-C7B3-967F-A5FA-450CDEAD96F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C5351A-A8A1-C0E9-116D-C791E57414D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2DB2541-F26E-1A45-8C1C-10C582779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Deployment Type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DBC813-1EFC-AA71-9CF7-12E30412E01E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2C797B5-3356-1576-4F18-BFFC41D8A5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358172D-32D9-F7C1-D993-4B31C910BDC4}"/>
              </a:ext>
            </a:extLst>
          </p:cNvPr>
          <p:cNvSpPr txBox="1"/>
          <p:nvPr/>
        </p:nvSpPr>
        <p:spPr>
          <a:xfrm>
            <a:off x="2643466" y="6054740"/>
            <a:ext cx="179423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Deployment Type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94076F7-E0CB-4844-36A0-D8ADEDF46A51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6BDAFEE-BD87-364A-427B-1ADAFE9D2FD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A5818A4-3349-D5D3-42AF-155A2D3964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CC7B01C-4916-26E1-BEC3-B97CA46AC67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715FDF0-0DD1-688E-2C19-BE57D0DA2F9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AF55BD8D-BD79-0350-2FF6-1D572839C3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2A0D7B8-8D00-392D-59FD-31D01E88F3E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2AE4D71-1C4A-A29C-0135-FB7FC88EE56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E8395B98-85FF-EEBA-96FB-A7FD105389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E17E4DA-2C3C-2AE2-3363-D2D775759D3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1EF211C-C030-38AE-15E4-BA37EEBA212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4618CD8B-F77F-7B94-7099-D2A6E087157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87D693-398F-725A-9E0E-7CE3C9CEBF7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A213B5F-642D-ACFE-8DAA-017FB6B32DF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5212BCE3-BB24-D5A2-9072-32AB9DC116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D4CC371E-7328-F7F7-E9E1-4858B90AD402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PORTFOLIO_PERIOD_MAINTAINABILITY_GROUPED_BY_DEPLOYMENT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56A5C-934D-E3B5-596C-448BF20A39E1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909019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F90F2-097E-682B-E154-B7F5F68A6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A01EA-8BF6-6C6E-C2EA-026E3BA52E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1A6A741-490B-4D85-EDEC-A2D787FD2B6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1532D-92C0-31A1-1473-96C62B00C1E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D82FDEF-4FFE-5D1A-E5F7-E673D396C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Business Criticality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8214E2-3C43-8276-BC3B-196FE252F2B4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A6D6577-B13F-B6A8-C50E-B92434047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ACC91BC5-C6A3-5E77-246D-36FE2F685E7F}"/>
              </a:ext>
            </a:extLst>
          </p:cNvPr>
          <p:cNvSpPr txBox="1"/>
          <p:nvPr/>
        </p:nvSpPr>
        <p:spPr>
          <a:xfrm>
            <a:off x="2643466" y="6054740"/>
            <a:ext cx="1864762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Business Criticality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C38E846-65C7-5F8A-02D3-5E9652F1F70D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2446B051-EB92-D2E7-6D04-74636614C2A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99D95B88-8CC0-573A-6535-1AF23E138B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BCBF650-7B39-402A-827B-0981957A785C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00EB7BA-5DEA-3F0D-197E-72B2F548A84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99B21F0D-B748-B211-AE94-D684974C74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F94FE93-43F4-84F8-E7F2-D0A5E5B08F99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36C1F78-BC5D-CEC8-ED18-7E9E38E2B3F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A4081921-0E01-5FE7-D962-38E98F27E6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DD3B032-3BEE-87E0-6573-8C81BBB66BA1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4B3E38A-DFD6-B7C0-F31B-4A4BF82291B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CE0EE23E-F45B-7E9B-0DB6-9538874186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729FE5C-29C5-D102-FDA1-A0608E280B5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C0EF10E4-21F6-AF24-DEE6-649B26F77B1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DE93FE0A-13E1-4209-1411-4A41EBD2C8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3A79886F-F6FA-7F5B-8560-B0BE0161E439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PORTFOLIO_PERIOD_MAINTAINABILITY_GROUPED_BY_BUSINESS_CRITICALITY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8FE69-CB4F-3856-7D00-A94F1E209BB2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56557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4222FB8-7B13-BCD6-F6A0-91FE5654FB8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771079" cy="228209"/>
          </a:xfrm>
        </p:spPr>
        <p:txBody>
          <a:bodyPr/>
          <a:lstStyle/>
          <a:p>
            <a:r>
              <a:rPr lang="en-GB" dirty="0"/>
              <a:t>Portfolio trends – Maintainability –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89DC56-8462-CF33-E81E-8455477D979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PORTFOLIO_PERIOD_MAINT_CHANGE_SHORT_SUMMARY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PORTFOLIO_MAINT_INCREASED% of systems has seen an increase in maintainability. PORTFOLIO_MAINT_STABLE% of systems has remained stable. PORTFOLIO_MAINT_DECREASED%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D37E637B-F307-DB1A-A51A-12A2262AEFC9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PORTFOLIO_PERIOD_MAINTAINABILITY_DELTA_QUALITY_NEW_CODE_GROUPED_BY</a:t>
            </a:r>
            <a:r>
              <a:rPr lang="en-GB" sz="1600">
                <a:solidFill>
                  <a:schemeClr val="bg1"/>
                </a:solidFill>
              </a:rPr>
              <a:t>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F5E6F9-F646-2621-3ECC-B2A693B532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B11F98-52B8-0076-76CB-238BEE6E686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4F2BF-4CA6-50AA-B99F-E948E9B811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2D033D-4CA9-CECD-FC25-4F30961BD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newly written code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E135570-D80B-D1B1-054A-C690D81954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A80C054-C74A-85C9-4528-6DC22A256A65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570F5E-51BF-3962-84E2-45A92F1C8BFA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36F1B5-B6B1-B883-8B3C-00693DA070F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1CD5492-40E3-E786-F583-1EE2149D22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9778BD3-6B52-E7DA-5105-B5B0FFC5CA6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04AA2C9-D341-5635-F3CA-78A97D525D4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F602512-EB0F-1D20-C16F-9F6E8C2D80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3AADD56-4D4C-8447-3FD7-F1E94288BBE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0AFED2B-5565-64C7-6B99-35E8CCBE475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37D1A56F-2AFD-E4E9-0F6B-599384DFF8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D6DDFCC-FDD6-8B50-CC33-F43116CE5873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16EAB9-CCB1-9D30-142C-E67002C7E9A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063CD8A-141A-63AF-6CBE-D3879FAC87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43AE2-DC60-4FB8-90CB-328B3B292E3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256AFF-19A8-F941-A8C9-00EB6EF20D5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2F57D1EE-A07F-BAE6-42C8-B3AC60895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5EA2AF5-0C7B-6DB1-46A7-9076322F3A73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PORTFOLIO_NEW_CODE_BIGGEST_CHANGES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27437047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B5EC3-2A89-EF88-5A56-3D554D8CC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CD3CD12-8F31-5FC5-9D7A-C77F8DB8A480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PORTFOLIO_PERIOD_MAINTAINABILITY_DELTA_QUALITY_CHANGED_CODE_GROUPED_BY_TEAM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6B5548-3455-9844-5004-E49CD11C6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174C2F-D188-5116-64A1-84C15F30C53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A32CF-7CBE-2C0C-5381-28EFF19753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7371D7-A678-7A32-E175-0E7DF8D9E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changed code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263B0AA-5D87-F385-AF46-88B1DD533A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C61E12F-4F73-0E02-AFAE-4D08CA48A0C3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FC7257-2BE2-5CE3-C10B-BE3AC2B18C72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1508AC-9EBA-994D-5A5A-FA52E9A69E9C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71DCEDD-7FD1-7BDF-F5C1-F91EA2E8DD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D34B76-0227-F645-0A0C-1697CB7E19C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0C2DA85-206F-DB2E-5C73-7B08646DBA8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E7C13A2-9231-F9A5-DAE6-B9C2B934C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57F437-2819-329B-EDCB-5E85A7422083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17E262-89FB-1571-225F-028F46BE08C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9C4B866F-F8B8-9878-A0F7-B0591D01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982081-C926-E0A8-28C5-FE9E62F4125A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04B11B7-6316-2B2B-1EB6-00E55E6915B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EA03BAA-5800-AFD6-84A6-38D9A87D6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77DC13E-BA93-909A-5BA6-1FFE85D9E34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01BBD6-0742-680E-25F0-D19CEBB0E33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CEA51C4B-192C-AF95-F9B9-3B24E46BF6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1D880514-4785-0D93-6BDA-1F2E0E83B5B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054666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446F1-4C2E-3E8E-B8CF-472DCCEA8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F309309-A96C-94CD-FD90-AEC66468BD3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F77DDD-2A9C-A11A-BCC8-78FB2B6B006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AC8139-63F5-DD9B-84D1-A0E0FE1373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DACB4F8-DCF6-6037-2620-E3F7A90BD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delta quality ratings of the portfolio between PORTFOLIO_PERIOD_START_DATE and PORTFOLIO_PERIOD_END_DATE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59FE4D2-6709-94D1-92D9-433748541C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E673761-5FC2-9029-6267-B19DD2C2F08B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242F203-49FD-78B9-B03E-4B9D44080378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F7BC1B3-A2C3-BB29-2484-DB2065CFD8C1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FA531F56-1E0E-6966-F40D-82C11CD93C3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695109-2321-E534-0496-0ADC19043553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4620934-284F-2137-983F-DA633CD4E2E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2435BBC8-9793-F0F4-6F77-AC9C450E215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319A2AF-EE85-F130-2282-3114CACC0253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5B8074A-2CFD-EC0C-FB62-DDD31D98A528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39DA4B9E-871A-CA27-7E89-0340C130DDA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1B07BA2-B357-2D15-D5DF-CA3BD8F33EB2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3C6C928-3648-4252-D644-F64A97E52B4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CD3E39B9-2702-25B6-A505-D5656EBFEB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ADE2C6F-AEEE-26B4-005C-17E9581A5312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01A3FAA-9759-8285-2BDD-A70A6DD18FC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FA12D9BB-7561-E3D0-BCAD-DE466F39D20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C767695A-0F52-1B53-B0CD-9FE176D84948}"/>
              </a:ext>
            </a:extLst>
          </p:cNvPr>
          <p:cNvSpPr/>
          <p:nvPr/>
        </p:nvSpPr>
        <p:spPr>
          <a:xfrm>
            <a:off x="156000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PORTFOLIO_PERIOD_MAINTAINABILITY_DELTA_QUALITY_NEW_CODE_GROUPED_BY_TEAM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515FDBA-44E5-4000-CE8B-09E1F218B77D}"/>
              </a:ext>
            </a:extLst>
          </p:cNvPr>
          <p:cNvSpPr/>
          <p:nvPr/>
        </p:nvSpPr>
        <p:spPr>
          <a:xfrm>
            <a:off x="4172249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PORTFOLIO_PERIOD_MAINTAINABILITY_DELTA_QUALITY_CHANGED_CODE_GROUPED_BY_TEAM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4CCA3F0-A440-956F-9DFA-0417F9AF51B1}"/>
              </a:ext>
            </a:extLst>
          </p:cNvPr>
          <p:cNvSpPr/>
          <p:nvPr/>
        </p:nvSpPr>
        <p:spPr>
          <a:xfrm>
            <a:off x="8188499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PORTFOLIO_PERIOD_MAINTAINABILITY_DELTA_QUALITY_NEW_AND_CHANGED_CODE_GROUPED_BY_TEAM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CC2EDDF-C97F-C25E-F440-BBC1D7D1DC85}"/>
              </a:ext>
            </a:extLst>
          </p:cNvPr>
          <p:cNvSpPr txBox="1"/>
          <p:nvPr/>
        </p:nvSpPr>
        <p:spPr>
          <a:xfrm>
            <a:off x="1565977" y="1478241"/>
            <a:ext cx="1027546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600" b="1" dirty="0">
                <a:solidFill>
                  <a:schemeClr val="tx1"/>
                </a:solidFill>
              </a:rPr>
              <a:t>New code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73620C-AE1D-DD22-A4B2-1F42A19EE0DC}"/>
              </a:ext>
            </a:extLst>
          </p:cNvPr>
          <p:cNvSpPr txBox="1"/>
          <p:nvPr/>
        </p:nvSpPr>
        <p:spPr>
          <a:xfrm>
            <a:off x="5406473" y="1478241"/>
            <a:ext cx="137905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600" b="1" dirty="0"/>
              <a:t>Changed</a:t>
            </a:r>
            <a:r>
              <a:rPr lang="en-GB" sz="1600" b="1" dirty="0">
                <a:solidFill>
                  <a:schemeClr val="tx1"/>
                </a:solidFill>
              </a:rPr>
              <a:t> code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9C04E7-0175-768A-89BA-8351440D4908}"/>
              </a:ext>
            </a:extLst>
          </p:cNvPr>
          <p:cNvSpPr txBox="1"/>
          <p:nvPr/>
        </p:nvSpPr>
        <p:spPr>
          <a:xfrm>
            <a:off x="9032106" y="1478241"/>
            <a:ext cx="216029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600" b="1" dirty="0">
                <a:solidFill>
                  <a:schemeClr val="tx1"/>
                </a:solidFill>
              </a:rPr>
              <a:t>New and changed code</a:t>
            </a:r>
          </a:p>
        </p:txBody>
      </p:sp>
    </p:spTree>
    <p:extLst>
      <p:ext uri="{BB962C8B-B14F-4D97-AF65-F5344CB8AC3E}">
        <p14:creationId xmlns:p14="http://schemas.microsoft.com/office/powerpoint/2010/main" val="25348020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 61">
            <a:extLst>
              <a:ext uri="{FF2B5EF4-FFF2-40B4-BE49-F238E27FC236}">
                <a16:creationId xmlns:a16="http://schemas.microsoft.com/office/drawing/2014/main" id="{72E9D2A6-2917-A151-9F95-9B69A0D029E5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PORTFOLIO_PERIOD_VOLUME_CHANGE_GROUPED_BY_TEAM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446C1F-5778-E596-B40D-BC39A302905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843581" cy="228209"/>
          </a:xfrm>
        </p:spPr>
        <p:txBody>
          <a:bodyPr/>
          <a:lstStyle/>
          <a:p>
            <a:r>
              <a:rPr lang="en-GB" dirty="0"/>
              <a:t>Portfolio trends – Volume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F366C7-3114-4B4C-4D7B-B7C04086F13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B6CC33-85BB-6686-87C3-6E2C1EC480A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237797-15BA-3A3C-A5DB-CEBB6BFCA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volume (effort) of the portfolio between PORTFOLIO_PERIOD_START_DATE and PORTFOLIO_PERIOD_END_DATE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591A62A-783F-7AF6-89B3-FD236EF5EA4F}"/>
              </a:ext>
            </a:extLst>
          </p:cNvPr>
          <p:cNvGrpSpPr/>
          <p:nvPr/>
        </p:nvGrpSpPr>
        <p:grpSpPr>
          <a:xfrm>
            <a:off x="626780" y="5849109"/>
            <a:ext cx="2760731" cy="223844"/>
            <a:chOff x="512064" y="6054740"/>
            <a:chExt cx="2760731" cy="22384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F34C57-170D-5311-7541-AFD3500F5E86}"/>
                </a:ext>
              </a:extLst>
            </p:cNvPr>
            <p:cNvSpPr txBox="1"/>
            <p:nvPr/>
          </p:nvSpPr>
          <p:spPr>
            <a:xfrm>
              <a:off x="1996335" y="6054740"/>
              <a:ext cx="127646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Systems grouped by </a:t>
              </a:r>
              <a:r>
                <a:rPr lang="en-GB" sz="800" b="1" dirty="0">
                  <a:solidFill>
                    <a:schemeClr val="tx2"/>
                  </a:solidFill>
                </a:rPr>
                <a:t>Team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9EF8ADA-DE01-AA30-2028-ED49BE436A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122" y="6118505"/>
              <a:ext cx="91440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10D5863-7369-49C4-1B54-EEA04955FF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8992" y="6118505"/>
              <a:ext cx="91440" cy="91440"/>
            </a:xfrm>
            <a:prstGeom prst="roundRect">
              <a:avLst/>
            </a:prstGeom>
            <a:solidFill>
              <a:srgbClr val="EFE6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52AC297-2CB7-56A7-5F80-FC2404D96F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8862" y="6118505"/>
              <a:ext cx="91440" cy="91440"/>
            </a:xfrm>
            <a:prstGeom prst="roundRect">
              <a:avLst/>
            </a:prstGeom>
            <a:solidFill>
              <a:srgbClr val="F7F9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E88086E6-082A-B2A9-7D0B-B77386A1B5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58732" y="6118505"/>
              <a:ext cx="91440" cy="91440"/>
            </a:xfrm>
            <a:prstGeom prst="roundRect">
              <a:avLst/>
            </a:prstGeom>
            <a:solidFill>
              <a:srgbClr val="D8E9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6A065D0B-30E5-B7B4-A9AE-146C6FBBB3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18602" y="6118505"/>
              <a:ext cx="91440" cy="91440"/>
            </a:xfrm>
            <a:prstGeom prst="roundRect">
              <a:avLst/>
            </a:prstGeom>
            <a:solidFill>
              <a:srgbClr val="58B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2295768-BD04-4C08-1C9F-E6A857D50707}"/>
                </a:ext>
              </a:extLst>
            </p:cNvPr>
            <p:cNvSpPr txBox="1"/>
            <p:nvPr/>
          </p:nvSpPr>
          <p:spPr>
            <a:xfrm>
              <a:off x="1678471" y="6054740"/>
              <a:ext cx="34191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+PY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C6564EB-114B-305E-F2F4-C36CA3CBD1C9}"/>
                </a:ext>
              </a:extLst>
            </p:cNvPr>
            <p:cNvSpPr txBox="1"/>
            <p:nvPr/>
          </p:nvSpPr>
          <p:spPr>
            <a:xfrm>
              <a:off x="512064" y="6054740"/>
              <a:ext cx="322674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-PY</a:t>
              </a:r>
            </a:p>
          </p:txBody>
        </p:sp>
      </p:grpSp>
      <p:pic>
        <p:nvPicPr>
          <p:cNvPr id="55" name="Graphic 54">
            <a:extLst>
              <a:ext uri="{FF2B5EF4-FFF2-40B4-BE49-F238E27FC236}">
                <a16:creationId xmlns:a16="http://schemas.microsoft.com/office/drawing/2014/main" id="{29A432BB-A903-CCB9-4E0F-E5A85232B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F494787E-2446-5685-907F-157921FE4F1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noProof="0" dirty="0"/>
              <a:t>The portfolio has seen an overall PORTFOLIO_RELATIVE_VOLUME_CHANGE in volume of PORTFOLIO_VOLUME_CHANGE.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The system PORTFOLIO_SYSTEM_BIGGEST_VOLUME_CHANGE has seen the biggest change with PORTFOLIO_RELATIVE_BIGGEST_VOLUME_CHANGE of PORTFOLIO_SYSTEM_PM_BIGGEST_VOLUME_CHANGE.</a:t>
            </a:r>
          </a:p>
        </p:txBody>
      </p:sp>
    </p:spTree>
    <p:extLst>
      <p:ext uri="{BB962C8B-B14F-4D97-AF65-F5344CB8AC3E}">
        <p14:creationId xmlns:p14="http://schemas.microsoft.com/office/powerpoint/2010/main" val="22497864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F4FC4-92FA-133B-51E6-15AF607B4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4AAAF0DF-523F-2152-BE91-E690F0C16A3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A83DCD-7C70-900D-43B4-CE96EF7B7F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2F0B54-B832-6085-49CA-E85C45796DA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A13365-7513-F41E-A229-F5E5011630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213AD90-B853-FCBB-8AD0-E3ECB7441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Test-to-production code ratios of the portfolio between PORTFOLIO_PERIOD_START_DATE and PORTFOLIO_PERIOD_END_DATE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D8A7E-FC89-374D-3928-733975E07F2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F318A3D-4B01-E38F-0096-41FFF1B28944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B1B111F-FBB9-EA13-F251-F40E05265B0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87D12FC3-B3EE-A681-5D2C-4218A1C308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FB8AA5-C615-8F28-1025-70C65A980764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7C06F8-9044-79E7-C86A-2D8041876F85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2887F516-DD39-62A6-32D1-0B63742650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CD6264C-A1FC-6A59-5FF0-B02177854F9D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7767932-53B3-03DB-2C57-283ECA8F4412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B5BF329-CA8A-DA0E-3BAF-54E5770234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39F19E-79AC-7455-2D15-72A0F595FFC9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60A24F1-37A5-9F07-855B-7E46A52C102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15CD8E8A-19FB-CC94-9D8A-28911D7068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23AD9C7-8D68-456A-B040-0C3083E160F6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D2D40F-86C4-A805-5564-B535E1BDEA4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7001D75D-95FB-3C51-F392-A5E177860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5EBD51A-EAC9-1AE9-F142-54EBB16F3D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5EE8E18-8776-00A3-9C94-97989DFBACF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PORTFOLIO_TEST_CODE_LOW</a:t>
            </a:r>
            <a:r>
              <a:rPr lang="en-GB" sz="1550" noProof="0" dirty="0"/>
              <a:t>% systems have a test code ratio of &lt; 50%.</a:t>
            </a:r>
          </a:p>
          <a:p>
            <a:pPr indent="-283845"/>
            <a:r>
              <a:rPr lang="en-GB" sz="1550" dirty="0"/>
              <a:t>PORTFOLIO_TEST_CODE_MEDIUM</a:t>
            </a:r>
            <a:r>
              <a:rPr lang="en-GB" sz="1550" dirty="0">
                <a:ea typeface="Calibri"/>
                <a:cs typeface="Calibri"/>
              </a:rPr>
              <a:t>% of systems have a test code ratio between 50% and 100%.</a:t>
            </a:r>
          </a:p>
          <a:p>
            <a:pPr indent="-283845"/>
            <a:r>
              <a:rPr lang="en-GB" sz="1550" dirty="0"/>
              <a:t>PORTFOLIO_TEST_CODE_HIGH</a:t>
            </a:r>
            <a:r>
              <a:rPr lang="en-GB" sz="1550" dirty="0">
                <a:ea typeface="Calibri"/>
                <a:cs typeface="Calibri"/>
              </a:rPr>
              <a:t>% of systems have a test code ratio ≥ 100%</a:t>
            </a:r>
          </a:p>
        </p:txBody>
      </p:sp>
    </p:spTree>
    <p:extLst>
      <p:ext uri="{BB962C8B-B14F-4D97-AF65-F5344CB8AC3E}">
        <p14:creationId xmlns:p14="http://schemas.microsoft.com/office/powerpoint/2010/main" val="29764648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FD6A-9E05-3D46-E60D-058AD3DFF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2F531B6D-B81A-7E98-1D56-EABC271BE385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5E93391-04C7-7757-5D2A-13EDA0DE2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951530" cy="228209"/>
          </a:xfrm>
        </p:spPr>
        <p:txBody>
          <a:bodyPr/>
          <a:lstStyle/>
          <a:p>
            <a:r>
              <a:rPr lang="en-GB" dirty="0"/>
              <a:t>Portfolio trends – Test-to-production code ratio –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1581-856E-3020-C018-13E27E63586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48E-331C-26C2-9486-41470DE99B0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1192D23-A084-1C07-108E-A039F527F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test-to-production code ratios of the portfolio between PORTFOLIO_PERIOD_START_DATE and PORTFOLIO_PERIOD_END_DATE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9C737C-0323-E724-2600-C1FD0C48F918}"/>
              </a:ext>
            </a:extLst>
          </p:cNvPr>
          <p:cNvSpPr txBox="1"/>
          <p:nvPr/>
        </p:nvSpPr>
        <p:spPr>
          <a:xfrm>
            <a:off x="2083423" y="5828312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5CC23-7FB2-3819-DF45-F461573B4C64}"/>
              </a:ext>
            </a:extLst>
          </p:cNvPr>
          <p:cNvSpPr txBox="1"/>
          <p:nvPr/>
        </p:nvSpPr>
        <p:spPr>
          <a:xfrm>
            <a:off x="1765559" y="5828312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AFA911-0B10-AF2D-A9C0-DD22BC1BBD4E}"/>
              </a:ext>
            </a:extLst>
          </p:cNvPr>
          <p:cNvSpPr txBox="1"/>
          <p:nvPr/>
        </p:nvSpPr>
        <p:spPr>
          <a:xfrm>
            <a:off x="599152" y="5828312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25916BB-0B42-8048-110F-7C3BB681E20B}"/>
              </a:ext>
            </a:extLst>
          </p:cNvPr>
          <p:cNvSpPr>
            <a:spLocks noChangeAspect="1"/>
          </p:cNvSpPr>
          <p:nvPr/>
        </p:nvSpPr>
        <p:spPr>
          <a:xfrm>
            <a:off x="966210" y="5892077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17EB203-3DE5-97DD-075C-0B587EC23CA8}"/>
              </a:ext>
            </a:extLst>
          </p:cNvPr>
          <p:cNvSpPr>
            <a:spLocks noChangeAspect="1"/>
          </p:cNvSpPr>
          <p:nvPr/>
        </p:nvSpPr>
        <p:spPr>
          <a:xfrm>
            <a:off x="1126080" y="5892077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DC54916-F833-9417-0E3F-376D5F92F098}"/>
              </a:ext>
            </a:extLst>
          </p:cNvPr>
          <p:cNvSpPr>
            <a:spLocks noChangeAspect="1"/>
          </p:cNvSpPr>
          <p:nvPr/>
        </p:nvSpPr>
        <p:spPr>
          <a:xfrm>
            <a:off x="1285950" y="5892077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B2403CD-7F96-B10B-C967-0067917FCE2C}"/>
              </a:ext>
            </a:extLst>
          </p:cNvPr>
          <p:cNvSpPr>
            <a:spLocks noChangeAspect="1"/>
          </p:cNvSpPr>
          <p:nvPr/>
        </p:nvSpPr>
        <p:spPr>
          <a:xfrm>
            <a:off x="1445820" y="5892077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AC43A55-E9EE-0CF2-1BEE-A73AE19E5A7B}"/>
              </a:ext>
            </a:extLst>
          </p:cNvPr>
          <p:cNvSpPr>
            <a:spLocks noChangeAspect="1"/>
          </p:cNvSpPr>
          <p:nvPr/>
        </p:nvSpPr>
        <p:spPr>
          <a:xfrm>
            <a:off x="1605690" y="5892077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12D1771-D0CC-C082-F03C-E4AF23AD0F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4E2A0B08-A1F1-2331-6663-DCAE2EB4D3E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Overall, there has been PORTFOLIO_RELATIVE_TEST_CODE_DIFFERENCE in test code ratio for the </a:t>
            </a:r>
            <a:r>
              <a:rPr lang="en-GB" sz="1550" dirty="0"/>
              <a:t>portfolio (PORTFOLIO_TEST_CODE_DIFFERENCE%).</a:t>
            </a:r>
            <a:endParaRPr lang="en-GB" sz="1550" noProof="0" dirty="0"/>
          </a:p>
          <a:p>
            <a:pPr indent="-283845"/>
            <a:r>
              <a:rPr lang="en-GB" sz="1550" dirty="0"/>
              <a:t>PORTFOLIO_TEST_CODE_INCREASE% of systems have seen an increase in test code ratio while PORTFOLIO_TEST_CODE_DECREASE% of systems have seen a decrease. </a:t>
            </a:r>
          </a:p>
          <a:p>
            <a:pPr indent="-283845"/>
            <a:r>
              <a:rPr lang="en-GB" sz="1550" dirty="0"/>
              <a:t>PORTFOLIO_TEST_CODE_BIGGEST_CHANGES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78519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F90BB58-CA09-58E2-BE3B-2E065F51CF77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PORTFOLIO_PERIOD_ARCHITECTURE_GROUPED_BY_TEAM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5603A22-6C87-6123-7889-47059E7B51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759263" cy="228209"/>
          </a:xfrm>
        </p:spPr>
        <p:txBody>
          <a:bodyPr/>
          <a:lstStyle/>
          <a:p>
            <a:r>
              <a:rPr lang="en-GB" dirty="0"/>
              <a:t>Portfolio trends –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EA4971-6A99-29AF-1BC3-87E1EAC3B19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BB1EC-B729-EEEB-51CD-99A133FF21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CDDECE-07F9-831D-887E-96F18B222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Architecture ratings of the portfolio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D60EA92-5FAE-DB20-C878-9397C39C84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22578C5-779F-2DE7-941C-EA21148CF77F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CA2F3EE-ED58-8890-B4BF-4E9E9399E1CC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7D72A90-1A63-5E0F-8B76-76CF390D221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617A234-0C3B-1517-E133-7B2E2BCA1F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2C97830-5D0A-7C61-5790-8AE0D6258402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61F050E-BC5D-A674-AE97-CDA4545FA31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84B1977E-A39B-88F7-3A2F-1EB3EBC876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A3F2BC-D11A-47C0-2D59-EDE88F571DA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3250C71-B11A-F676-5B3D-04096307F85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9EF1191-C257-976C-29AA-F1DA1D22A9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A318A0-FABA-EB5B-A4DE-ADB204F5D0F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9D8162-537B-F3FD-4C5A-B95C9B9B31F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6550F1B-DABE-4321-E085-10DEBDFB3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782E435-697F-C57C-1530-5C1E6B98227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EE8F693-BD9E-2048-F83B-CAC471F85DB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F93E0B17-8795-E431-6602-6FD9737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718E80B-E45D-BD72-6536-AB0C481281BD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en-GB" dirty="0"/>
              <a:t>Architecture Quality</a:t>
            </a:r>
            <a:r>
              <a:rPr lang="en-US" dirty="0"/>
              <a:t> rating for the portfolio is PORTFOLIO_ARCH_AVG_RATING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</a:t>
            </a:r>
            <a:r>
              <a:rPr lang="en-GB" dirty="0"/>
              <a:t>% of systems score above market average for Architecture Quality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PORTFOLIO_ARCH_MARKET_AVERAGE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Architecture Quality</a:t>
            </a:r>
            <a:r>
              <a:rPr lang="en-GB" dirty="0">
                <a:ea typeface="Calibri"/>
                <a:cs typeface="Calibri"/>
              </a:rPr>
              <a:t> 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Architecture Quality</a:t>
            </a:r>
            <a:r>
              <a:rPr lang="en-GB" dirty="0">
                <a:ea typeface="Calibri"/>
                <a:cs typeface="Calibri"/>
              </a:rPr>
              <a:t> 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4838696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8B07B4F-D7B8-1CEF-56A5-C9C18FBFD1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265171" cy="228209"/>
          </a:xfrm>
        </p:spPr>
        <p:txBody>
          <a:bodyPr/>
          <a:lstStyle/>
          <a:p>
            <a:r>
              <a:rPr lang="en-GB" dirty="0"/>
              <a:t>Portfolio trends – Open-Source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7F3D46-14AA-5186-5BE6-A857453EEA4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46EA6-114E-BE00-9088-0FF2F34813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DDFBC53-E0F3-50EC-6D67-B2815BC99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Open-source health ratings of the portfolio between PORTFOLIO_PERIOD_START_DATE and PORTFOLIO_PERIOD_END_DATE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E8C506-EBA7-D433-19CB-BD7B4186FE2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PORTFOLIO_PERIOD_OSH_RATINGS_GROUPED_BY_TEAM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053C8FF-A309-9635-AB10-3E7965715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5E0572C-1734-61F0-856F-5E79E547DCB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988E0B2-1D87-C999-BC6A-C9E400EA29C4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7A6F15-7EE4-41DA-71F3-F8B932ABCB9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C5FB1D3-CA1E-3CEF-9DCB-A533BD6751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78352C9-05CD-024F-9FC8-A43B06C5296F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0ACC94-4A3B-E4A2-C515-92A1B0B85607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5BAC351A-6A3D-8EE7-3400-48AC200F04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03C1BE7-DC33-05D7-A88F-E4549430313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5258E72-CF1A-4DFE-52F3-DB2B89080DF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73B613B1-191F-17CB-8B90-A1C172B0B5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6C7A952-D4BD-C5BE-3ECD-80D0236B6DC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E346C1E-F337-E3F0-51BC-42C15701A9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0E88F2D9-0594-B652-C0EB-2B82B013E3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FD99AA7-4DE9-A06B-FABC-D5259DB272D8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3791E94-0AAD-9D1A-14E0-882C135761E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3CB886B0-18FD-211D-FAB5-01B5BE7532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E223A60-5DA4-23C2-35E1-41CA53903EB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nl-NL" dirty="0"/>
              <a:t>Open Source Health </a:t>
            </a:r>
            <a:r>
              <a:rPr lang="en-US" dirty="0"/>
              <a:t>rating for the portfolio is PORTFOLIO_OSH_AVG_RATING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PORTFOLIO_OSH_ABOVE_MARKET% of systems score above market average for Open Source Health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PORTFOLIO_OSH_MARKET_AVERAGE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Open Source Health </a:t>
            </a:r>
            <a:r>
              <a:rPr lang="en-GB" dirty="0">
                <a:ea typeface="Calibri"/>
                <a:cs typeface="Calibri"/>
              </a:rPr>
              <a:t>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PORTFOLIO_OSH_BELOW_MARKET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Open Source Health </a:t>
            </a:r>
            <a:r>
              <a:rPr lang="en-GB" dirty="0">
                <a:ea typeface="Calibri"/>
                <a:cs typeface="Calibri"/>
              </a:rPr>
              <a:t>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7454016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r>
              <a:rPr lang="en-US" dirty="0"/>
              <a:t>PORTFOLIO_OSH_VULN_SUMMARY</a:t>
            </a:r>
          </a:p>
          <a:p>
            <a:r>
              <a:rPr lang="en-US" dirty="0"/>
              <a:t>PORTFOLIO_OSH_LEGAL_SUMMARY</a:t>
            </a:r>
          </a:p>
          <a:p>
            <a:r>
              <a:rPr lang="en-US" dirty="0"/>
              <a:t>PORTFOLIO_OSH_FRESHNESS_SUMMARY</a:t>
            </a:r>
          </a:p>
          <a:p>
            <a:r>
              <a:rPr lang="en-US" dirty="0"/>
              <a:t>PORTFOLIO_OSH_MANAGEMENT_SUMMARY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0738" y="1894014"/>
            <a:ext cx="835106" cy="265112"/>
          </a:xfrm>
        </p:spPr>
        <p:txBody>
          <a:bodyPr>
            <a:noAutofit/>
          </a:bodyPr>
          <a:lstStyle/>
          <a:p>
            <a:r>
              <a:rPr lang="en-US" b="0" dirty="0"/>
              <a:t>PORTFOLIO_OSH_TOTAL_DEPS</a:t>
            </a:r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PORTFOLIO_OSH_HIGH_RISK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PORTFOLIO_OSH_MEDIUM_RISK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PORTFOLIO_OSH_LOW_RISK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PORTFOLIO_OSH_NO_RISK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PORTFOLIO_OSH_CRITICAL_RISK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Open Source Health Library Risks Overview</a:t>
            </a:r>
          </a:p>
        </p:txBody>
      </p:sp>
      <p:sp>
        <p:nvSpPr>
          <p:cNvPr id="10" name="Tijdelijke aanduiding voor voettekst 9">
            <a:extLst>
              <a:ext uri="{FF2B5EF4-FFF2-40B4-BE49-F238E27FC236}">
                <a16:creationId xmlns:a16="http://schemas.microsoft.com/office/drawing/2014/main" id="{85CC0D40-EB66-D793-CEA6-7AF5F045B2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849600" y="6462000"/>
            <a:ext cx="1085851" cy="231923"/>
          </a:xfrm>
        </p:spPr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32</a:t>
            </a:fld>
            <a:endParaRPr lang="nl-NL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GB" dirty="0"/>
              <a:t>Key findings – Open Source and IP</a:t>
            </a:r>
          </a:p>
        </p:txBody>
      </p:sp>
      <p:graphicFrame>
        <p:nvGraphicFramePr>
          <p:cNvPr id="2" name="OSH_PORTFOLIO_OTHER_RISKS_GRAPH">
            <a:extLst>
              <a:ext uri="{FF2B5EF4-FFF2-40B4-BE49-F238E27FC236}">
                <a16:creationId xmlns:a16="http://schemas.microsoft.com/office/drawing/2014/main" id="{4C5859CA-0A2B-2CD5-4201-9074382317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8722614"/>
              </p:ext>
            </p:extLst>
          </p:nvPr>
        </p:nvGraphicFramePr>
        <p:xfrm>
          <a:off x="2855399" y="368819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PORTFOLIO_VULN_LEGAL_GRAPH">
            <a:extLst>
              <a:ext uri="{FF2B5EF4-FFF2-40B4-BE49-F238E27FC236}">
                <a16:creationId xmlns:a16="http://schemas.microsoft.com/office/drawing/2014/main" id="{A2E74F15-1B72-6504-9282-2CD2017740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8423153"/>
              </p:ext>
            </p:extLst>
          </p:nvPr>
        </p:nvGraphicFramePr>
        <p:xfrm>
          <a:off x="2855399" y="2891471"/>
          <a:ext cx="3240000" cy="12984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2811049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41B5DD80-60E5-8513-9972-0F7EF4189F04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PORTFOLIO_PERIOD_SECURITY_RATINGS_GROUPED_BY_TEAM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87597F-0CE6-6979-6D59-2CC306D18F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14A6CB-9C92-0C40-9DFC-ECCD40B4D27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70E726-D390-617B-2837-17EF73C183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D1F92A6-63AF-66FE-4BB0-422116859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Security ratings of the portfolio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BD9D636-CC1F-D5EE-82E8-F5B67A683E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592C00B-839E-1F7C-C976-764E7FA89D08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8D13A58-DDFB-6E93-06B8-8F73093435CB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09D3E1-5818-A7F6-D907-77EE9F47DC8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5E576A0-5957-C060-F7D5-462BF2770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3ADAAD-3940-3E4F-EE06-CD1CDD98C4D0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0782A8A-DA3D-0449-1C4B-FDA35D728C06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476C0325-7FCB-4C5A-F1B9-2AA83897F9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E9104F-A474-DEBF-B0B1-04438939F3F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9EE0DD2-01FA-7CE1-6138-8B452A78A60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50B3354E-3FA0-1D94-0ED5-6B55810CBC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08FDA72-1D6A-069B-BA6F-C9555EA6EE09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491AD94-EFFF-2C79-D5D8-7DF2D278614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7B8822E-BA13-A142-1266-C507780128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93157F-D848-9E05-25CB-0110AC5E4F8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AF3218E-BE5D-1E5F-2E2F-80BD224CB1D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BF1EC965-F313-A395-6AF8-C9756978DD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38D86B0-827F-9466-0A66-C9807390BBCB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nl-NL" dirty="0"/>
              <a:t>Security </a:t>
            </a:r>
            <a:r>
              <a:rPr lang="en-US" dirty="0"/>
              <a:t>rating for the portfolio is PORTFOLIO_SEC_AVG_RATING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PORTFOLIO_SEC_ABOVE_MARKET% of systems score above market average for Security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PORTFOLIO_SEC_MARKET_AVERAGE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Security </a:t>
            </a:r>
            <a:r>
              <a:rPr lang="en-GB" dirty="0">
                <a:ea typeface="Calibri"/>
                <a:cs typeface="Calibri"/>
              </a:rPr>
              <a:t>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PORTFOLIO_SEC_BELOW_MARKET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Security</a:t>
            </a:r>
            <a:r>
              <a:rPr lang="en-GB" dirty="0">
                <a:ea typeface="Calibri"/>
                <a:cs typeface="Calibri"/>
              </a:rPr>
              <a:t>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0925307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A976C-A43A-62DF-8A14-555177D4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888C01D-33FF-CD9A-A477-2806EB6B1C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301C0D-0321-1290-3EFE-1E641277D76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D9CBBF-57FB-ABB3-9835-20A2F9691D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BE6FAE6-87BA-B605-5E5B-FC841A95C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Critical findings trends of the last 12 months (ending at 2025-12-31)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132F2E1-B218-4956-6E9E-F625515C8382}"/>
              </a:ext>
            </a:extLst>
          </p:cNvPr>
          <p:cNvSpPr/>
          <p:nvPr/>
        </p:nvSpPr>
        <p:spPr>
          <a:xfrm flipH="1">
            <a:off x="861633" y="3390745"/>
            <a:ext cx="10468734" cy="2720123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04CBEEE-0C86-D6F2-5A66-0F130C4B2075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20177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Since 2025-01-01, 675 critical security findings have been resolved while 731 new critical findings were discovered. Overall, there has been an increase in critical security findings of 56.</a:t>
            </a:r>
          </a:p>
          <a:p>
            <a:pPr indent="-283845"/>
            <a:r>
              <a:rPr lang="en-GB" sz="1550" dirty="0"/>
              <a:t>Of the resolved critical findings, most were resolved in at least 30 days (518 findings). 37 findings were resolved within the recommended 7 days while 518 were resolved after 30 days or more. </a:t>
            </a:r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0" name="PORTFOLIO_SECURITY_FINDINGS_CRITICAL">
            <a:extLst>
              <a:ext uri="{FF2B5EF4-FFF2-40B4-BE49-F238E27FC236}">
                <a16:creationId xmlns:a16="http://schemas.microsoft.com/office/drawing/2014/main" id="{910F2E1C-D877-D2BA-B431-F9C4BA585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15211144"/>
              </p:ext>
            </p:extLst>
          </p:nvPr>
        </p:nvGraphicFramePr>
        <p:xfrm>
          <a:off x="1124437" y="3851133"/>
          <a:ext cx="5010978" cy="21773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2" name="PORTFOLIO_SECURITY_RESOLUTION_CRITICAL">
            <a:extLst>
              <a:ext uri="{FF2B5EF4-FFF2-40B4-BE49-F238E27FC236}">
                <a16:creationId xmlns:a16="http://schemas.microsoft.com/office/drawing/2014/main" id="{F4BA35FA-BE44-852A-B55F-63FF6EA3EB0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72392254"/>
              </p:ext>
            </p:extLst>
          </p:nvPr>
        </p:nvGraphicFramePr>
        <p:xfrm>
          <a:off x="6235286" y="3713005"/>
          <a:ext cx="4832277" cy="23198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8915783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4EF1-FCA0-2EC9-964E-45F3A94A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D8824E7-4E29-8181-B01C-EA895DB82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024032" cy="228145"/>
          </a:xfrm>
        </p:spPr>
        <p:txBody>
          <a:bodyPr/>
          <a:lstStyle/>
          <a:p>
            <a:r>
              <a:rPr lang="en-GB" dirty="0"/>
              <a:t>Portfolio trends – Security – Resolution times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87DF3F-5BD8-9A33-2F26-1FFB63BA6D4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18AAA8-B191-8D33-A251-5BBAA5775E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9BDEC54-B88C-60B4-98B9-CFF0E70B4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Security resolution times of the portfolio of the last 12 months (ending at PORTFOLIO_PERIOD_END_DATE)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0BDBC96-6A0F-7FB2-73A9-7CD5A1E31F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6DD134A-FB98-733E-70B7-BE217A938451}"/>
              </a:ext>
            </a:extLst>
          </p:cNvPr>
          <p:cNvSpPr/>
          <p:nvPr/>
        </p:nvSpPr>
        <p:spPr>
          <a:xfrm flipH="1">
            <a:off x="5291526" y="1291984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B23C483-13CD-B3D6-B6B2-3C5716E15A2A}"/>
              </a:ext>
            </a:extLst>
          </p:cNvPr>
          <p:cNvSpPr txBox="1">
            <a:spLocks/>
          </p:cNvSpPr>
          <p:nvPr/>
        </p:nvSpPr>
        <p:spPr>
          <a:xfrm>
            <a:off x="223094" y="1411287"/>
            <a:ext cx="4881341" cy="476271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Since PORTFOLIO_SEC_PERIOD_START_DATE, PORTFOLIO_SEC_HIGH_RESOLVED high security findings have been resolved while PORTFOLIO_SEC_HIGH_ADDED new high findings were discovered. Overall, there has been PORTFOLIO_SEC_RELATIVE_HIGH in high security findings of PORTFOLIO_SEC_HIGH_DIFFERENCE.</a:t>
            </a:r>
          </a:p>
          <a:p>
            <a:pPr indent="-283845"/>
            <a:r>
              <a:rPr lang="en-GB" sz="1550" dirty="0"/>
              <a:t>Of the resolved high findings, most were resolved in PORTFOLIO_SEC_HIGH_RESOLUTION_MOST (PORTFOLIO_SEC_HIGH_RESOLUTION_FINDINGS_MOST findings). PORTFOLIO_SEC_HIGH_RESOLUTION_NO_RISK findings were resolved within the recommended 14 days while PORTFOLIO_SEC_HIGH_RESOLUTION_HIGH_RISK were resolved after 180 days or more. </a:t>
            </a:r>
          </a:p>
          <a:p>
            <a:pPr indent="-283845"/>
            <a:r>
              <a:rPr lang="en-GB" sz="1550" dirty="0"/>
              <a:t>PORTFOLIO_SEC_MEDIUM_RESOLVED medium security findings have been resolved while PORTFOLIO_SEC_MEDIUM_ADDED new medium findings were discovered. Overall, there has been PORTFOLIO_SEC_RELATIVE_MEDIUM in medium security findings of PORTFOLIO_SEC_MEDIUM_DIFFERENCE.</a:t>
            </a:r>
          </a:p>
          <a:p>
            <a:pPr indent="-283845"/>
            <a:r>
              <a:rPr lang="en-GB" sz="1550" dirty="0"/>
              <a:t>Of the resolved medium findings, most were resolved in PORTFOLIO_SEC_MEDIUM_RESOLUTION_MOST (PORTFOLIO_SEC_MEDIUM_RESOLUTION_FINDINGS_MOST findings). PORTFOLIO_SEC_MEDIUM_RESOLUTION_NO_RISK findings were resolved within the recommended 30 days while PORTFOLIO_SEC_MEDIUM_RESOLUTION_HIGH_RISK were resolved after 270 days or more. </a:t>
            </a:r>
          </a:p>
          <a:p>
            <a:pPr indent="-283845"/>
            <a:endParaRPr lang="en-GB" sz="1550" dirty="0"/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8" name="PORTFOLIO_SECURITY_RESOLUTION_HIGH">
            <a:extLst>
              <a:ext uri="{FF2B5EF4-FFF2-40B4-BE49-F238E27FC236}">
                <a16:creationId xmlns:a16="http://schemas.microsoft.com/office/drawing/2014/main" id="{16E3CE9D-20C9-0E77-38B2-53E2D8CA626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503948"/>
              </p:ext>
            </p:extLst>
          </p:nvPr>
        </p:nvGraphicFramePr>
        <p:xfrm>
          <a:off x="8730926" y="1514933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PORTFOLIO_SECURITY_FINDINGS_HIGH">
            <a:extLst>
              <a:ext uri="{FF2B5EF4-FFF2-40B4-BE49-F238E27FC236}">
                <a16:creationId xmlns:a16="http://schemas.microsoft.com/office/drawing/2014/main" id="{75CB1C00-2C16-0486-C27D-31887DD0692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2665920"/>
              </p:ext>
            </p:extLst>
          </p:nvPr>
        </p:nvGraphicFramePr>
        <p:xfrm>
          <a:off x="5416871" y="1514933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A02A27D-5A11-E727-9003-68497845F5AF}"/>
              </a:ext>
            </a:extLst>
          </p:cNvPr>
          <p:cNvSpPr/>
          <p:nvPr/>
        </p:nvSpPr>
        <p:spPr>
          <a:xfrm flipH="1">
            <a:off x="5291526" y="3893212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E98C36"/>
                </a:solidFill>
              </a:rPr>
              <a:t>Medium</a:t>
            </a:r>
          </a:p>
        </p:txBody>
      </p:sp>
      <p:graphicFrame>
        <p:nvGraphicFramePr>
          <p:cNvPr id="22" name="PORTFOLIO_SECURITY_RESOLUTION_MEDIUM">
            <a:extLst>
              <a:ext uri="{FF2B5EF4-FFF2-40B4-BE49-F238E27FC236}">
                <a16:creationId xmlns:a16="http://schemas.microsoft.com/office/drawing/2014/main" id="{70983DB0-0BC7-2620-9F3E-685D6CFA687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62010762"/>
              </p:ext>
            </p:extLst>
          </p:nvPr>
        </p:nvGraphicFramePr>
        <p:xfrm>
          <a:off x="8730926" y="4116161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3" name="PORTFOLIO_SECURITY_FINDINGS_MEDIUM">
            <a:extLst>
              <a:ext uri="{FF2B5EF4-FFF2-40B4-BE49-F238E27FC236}">
                <a16:creationId xmlns:a16="http://schemas.microsoft.com/office/drawing/2014/main" id="{72CCB03F-448F-67B3-48DD-4998FE51B72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97204567"/>
              </p:ext>
            </p:extLst>
          </p:nvPr>
        </p:nvGraphicFramePr>
        <p:xfrm>
          <a:off x="5416871" y="4116161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16247588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1FF513-F7F0-C719-C954-DBA335D2C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9D4E15-C7EC-A545-5EBC-69B4EAE348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B43BB2-F642-BE45-7836-AFCD6CBFD8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047D14B-355C-A109-46FB-79FB23C87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Security findings of the portfolio of the last 12 months (ending at PORTFOLIO_PERIOD_END_DATE)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783ADB-6F9E-D057-991B-C0B52FAE9247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B9215FE-C7C0-BC81-3B0D-CEF368F87C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136E7B9-811C-003C-7BFC-A5493486F19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0198D90-BE8E-901C-9DF1-3C45821DE1B7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6393784-89ED-CB65-097F-CF64C9DE33A9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7" name="PORTFOLIO_SECURITY_FINDINGS_CRITICAL">
            <a:extLst>
              <a:ext uri="{FF2B5EF4-FFF2-40B4-BE49-F238E27FC236}">
                <a16:creationId xmlns:a16="http://schemas.microsoft.com/office/drawing/2014/main" id="{3605FEE4-47C1-3A75-7A83-281F7BE41F7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83918974"/>
              </p:ext>
            </p:extLst>
          </p:nvPr>
        </p:nvGraphicFramePr>
        <p:xfrm>
          <a:off x="955163" y="1714666"/>
          <a:ext cx="5070948" cy="21958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PORTFOLIO_SECURITY_FINDINGS_HIGH">
            <a:extLst>
              <a:ext uri="{FF2B5EF4-FFF2-40B4-BE49-F238E27FC236}">
                <a16:creationId xmlns:a16="http://schemas.microsoft.com/office/drawing/2014/main" id="{E6284084-0D17-0C79-BA25-E3E29D606E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3042344"/>
              </p:ext>
            </p:extLst>
          </p:nvPr>
        </p:nvGraphicFramePr>
        <p:xfrm>
          <a:off x="6284745" y="1714666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9" name="PORTFOLIO_SECURITY_FINDINGS_MEDIUM">
            <a:extLst>
              <a:ext uri="{FF2B5EF4-FFF2-40B4-BE49-F238E27FC236}">
                <a16:creationId xmlns:a16="http://schemas.microsoft.com/office/drawing/2014/main" id="{1D0C3BE9-A664-5700-38B0-74CDE05BE04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94025760"/>
              </p:ext>
            </p:extLst>
          </p:nvPr>
        </p:nvGraphicFramePr>
        <p:xfrm>
          <a:off x="3679861" y="4116161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81716899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AC38F-AE8D-FF4B-AE4F-040316CA1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E4E57D2-7FE4-C0AA-BDE9-A362D613ED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282B89-53C7-6B9A-712B-0DEEC0C14AB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1FF027-54A5-051F-5710-B5994A18213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E1A16AE-C003-C50A-E6D6-3D6AA501D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Security findings of the portfolio of the last 12 months (ending at PORTFOLIO_PERIOD_END_DATE)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F2A71AF-4489-77E3-367D-617DFCB60DE0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61AD5F6-18F9-8A40-2477-E9242D99AA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5490A03-971E-D057-E453-8848427D9F4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9911086-3056-B85A-B493-E969F1E03B2E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C2F09A1-6725-C876-B697-24D0E14922AC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0" name="PORTFOLIO_SECURITY_RESOLUTION_CRITICAL">
            <a:extLst>
              <a:ext uri="{FF2B5EF4-FFF2-40B4-BE49-F238E27FC236}">
                <a16:creationId xmlns:a16="http://schemas.microsoft.com/office/drawing/2014/main" id="{043ADC1B-1288-61F5-6E17-604566843D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1850097"/>
              </p:ext>
            </p:extLst>
          </p:nvPr>
        </p:nvGraphicFramePr>
        <p:xfrm>
          <a:off x="952145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PORTFOLIO_SECURITY_RESOLUTION_HIGH">
            <a:extLst>
              <a:ext uri="{FF2B5EF4-FFF2-40B4-BE49-F238E27FC236}">
                <a16:creationId xmlns:a16="http://schemas.microsoft.com/office/drawing/2014/main" id="{FD9AE359-1D59-B204-F3B2-ED88BE1F3B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89913887"/>
              </p:ext>
            </p:extLst>
          </p:nvPr>
        </p:nvGraphicFramePr>
        <p:xfrm>
          <a:off x="6340739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PORTFOLIO_SECURITY_RESOLUTION_MEDIUM">
            <a:extLst>
              <a:ext uri="{FF2B5EF4-FFF2-40B4-BE49-F238E27FC236}">
                <a16:creationId xmlns:a16="http://schemas.microsoft.com/office/drawing/2014/main" id="{6568A628-8BDB-F462-AB74-A5B810893E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03908121"/>
              </p:ext>
            </p:extLst>
          </p:nvPr>
        </p:nvGraphicFramePr>
        <p:xfrm>
          <a:off x="3678661" y="4091051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476436889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11131</TotalTime>
  <Words>2311</Words>
  <Application>Microsoft Macintosh PowerPoint</Application>
  <PresentationFormat>Widescreen</PresentationFormat>
  <Paragraphs>353</Paragraphs>
  <Slides>37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9" baseType="lpstr">
      <vt:lpstr>☞NOIR PRO MEDIUM</vt:lpstr>
      <vt:lpstr>Arial</vt:lpstr>
      <vt:lpstr>Azeret Mono</vt:lpstr>
      <vt:lpstr>Azeret Mono Medium</vt:lpstr>
      <vt:lpstr>Calibri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Light theme (default)</vt:lpstr>
      <vt:lpstr>PowerPoint Presentation</vt:lpstr>
      <vt:lpstr>Outline of topics</vt:lpstr>
      <vt:lpstr>Progress towards objectives between OBJECTIVES_PERIOD_START and OBJECTIVES_PERIOD_END</vt:lpstr>
      <vt:lpstr>Progress towards objectives over time</vt:lpstr>
      <vt:lpstr>Progress towards objectives per capability between OBJECTIVES_PERIOD_START and OBJECTIVES_PERIOD_END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Index</vt:lpstr>
      <vt:lpstr>PORTFOLIO_PERIOD_MAINT_SHORT_SUMMARY</vt:lpstr>
      <vt:lpstr>Maintainability Grouped by Lifecycle</vt:lpstr>
      <vt:lpstr>Maintainability Grouped by Deployment Type</vt:lpstr>
      <vt:lpstr>Maintainability Grouped by Business Criticality</vt:lpstr>
      <vt:lpstr>PORTFOLIO_PERIOD_MAINT_CHANGE_SHORT_SUMMARY</vt:lpstr>
      <vt:lpstr>Maintainability ratings of newly written code between PORTFOLIO_PERIOD_START_DATE and PORTFOLIO_PERIOD_END_DATE</vt:lpstr>
      <vt:lpstr>Maintainability ratings of changed code between PORTFOLIO_PERIOD_START_DATE and PORTFOLIO_PERIOD_END_DATE</vt:lpstr>
      <vt:lpstr>Maintainability delta quality ratings of the portfolio between PORTFOLIO_PERIOD_START_DATE and PORTFOLIO_PERIOD_END_DATE</vt:lpstr>
      <vt:lpstr>Change in volume (effort) of the portfolio between PORTFOLIO_PERIOD_START_DATE and PORTFOLIO_PERIOD_END_DATE</vt:lpstr>
      <vt:lpstr>Test-to-production code ratios of the portfolio between PORTFOLIO_PERIOD_START_DATE and PORTFOLIO_PERIOD_END_DATE</vt:lpstr>
      <vt:lpstr>Change in test-to-production code ratios of the portfolio between PORTFOLIO_PERIOD_START_DATE and PORTFOLIO_PERIOD_END_DATE</vt:lpstr>
      <vt:lpstr>Architecture ratings of the portfolio between PORTFOLIO_PERIOD_START_DATE and PORTFOLIO_PERIOD_END_DATE</vt:lpstr>
      <vt:lpstr>Open-source health ratings of the portfolio between PORTFOLIO_PERIOD_START_DATE and PORTFOLIO_PERIOD_END_DATE</vt:lpstr>
      <vt:lpstr>Overall Open Source Health Library Risks Overview</vt:lpstr>
      <vt:lpstr>Security ratings of the portfolio between PORTFOLIO_PERIOD_START_DATE and PORTFOLIO_PERIOD_END_DATE</vt:lpstr>
      <vt:lpstr>Critical findings trends of the last 12 months (ending at 2025-12-31)</vt:lpstr>
      <vt:lpstr>Security resolution times of the portfolio of the last 12 months (ending at PORTFOLIO_PERIOD_END_DATE)</vt:lpstr>
      <vt:lpstr>Security findings of the portfolio of the last 12 months (ending at PORTFOLIO_PERIOD_END_DATE)</vt:lpstr>
      <vt:lpstr>Security findings of the portfolio of the last 12 months (ending at PORTFOLIO_PERIOD_END_DATE)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Floris van Leeuwen</cp:lastModifiedBy>
  <cp:revision>168</cp:revision>
  <cp:lastPrinted>2020-04-20T09:37:43Z</cp:lastPrinted>
  <dcterms:created xsi:type="dcterms:W3CDTF">2025-10-22T11:22:13Z</dcterms:created>
  <dcterms:modified xsi:type="dcterms:W3CDTF">2026-03-12T16:00:57Z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