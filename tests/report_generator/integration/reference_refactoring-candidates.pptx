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516" r:id="rId5"/>
    <p:sldId id="517" r:id="rId6"/>
    <p:sldId id="519" r:id="rId7"/>
    <p:sldId id="518" r:id="rId8"/>
    <p:sldId id="520" r:id="rId9"/>
    <p:sldId id="521" r:id="rId10"/>
    <p:sldId id="52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354B"/>
    <a:srgbClr val="FFFFFF"/>
    <a:srgbClr val="FEF5BA"/>
    <a:srgbClr val="DFC100"/>
    <a:srgbClr val="E78E17"/>
    <a:srgbClr val="910813"/>
    <a:srgbClr val="CF4731"/>
    <a:srgbClr val="EBC937"/>
    <a:srgbClr val="DB4A3D"/>
    <a:srgbClr val="F008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2094BA-3324-E44C-AFE3-01F0E8F31A48}" v="69" dt="2024-01-12T19:24:27.5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8175"/>
    <p:restoredTop sz="96327"/>
  </p:normalViewPr>
  <p:slideViewPr>
    <p:cSldViewPr snapToGrid="0" snapToObjects="1" showGuides="1">
      <p:cViewPr varScale="1">
        <p:scale>
          <a:sx n="33" d="100"/>
          <a:sy n="33" d="100"/>
        </p:scale>
        <p:origin x="392" y="62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8" d="100"/>
        <a:sy n="38" d="100"/>
      </p:scale>
      <p:origin x="0" y="0"/>
    </p:cViewPr>
  </p:sorterViewPr>
  <p:notesViewPr>
    <p:cSldViewPr snapToGrid="0" snapToObjects="1">
      <p:cViewPr varScale="1">
        <p:scale>
          <a:sx n="163" d="100"/>
          <a:sy n="163" d="100"/>
        </p:scale>
        <p:origin x="6728" y="184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F400D1-FA8E-6548-A590-873477C843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4962C3-51DB-5B49-AE33-9436051173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55C68-584F-174D-BB81-51BF91708794}" type="datetimeFigureOut">
              <a:rPr lang="en-US" smtClean="0"/>
              <a:t>7/16/25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633DF3-39D0-BC4B-8900-A41729E59C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D735CF-6CE3-3041-89CE-FA86F745DE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955B2-A2D5-2846-95B1-99C033D9F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016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EDAAC4-819D-C544-9EA1-C73624CFD70B}" type="datetimeFigureOut">
              <a:rPr lang="en-US" smtClean="0"/>
              <a:t>7/16/25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8DED6-61EF-5240-95D8-926F20A98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998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8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1.png"/><Relationship Id="rId9" Type="http://schemas.openxmlformats.org/officeDocument/2006/relationships/image" Target="../media/image12.svg"/><Relationship Id="rId10" Type="http://schemas.openxmlformats.org/officeDocument/2006/relationships/image" Target="../media/image13.png"/><Relationship Id="rId11" Type="http://schemas.openxmlformats.org/officeDocument/2006/relationships/image" Target="../media/image14.svg"/><Relationship Id="rId12" Type="http://schemas.openxmlformats.org/officeDocument/2006/relationships/image" Target="../media/image15.png"/><Relationship Id="rId13" Type="http://schemas.openxmlformats.org/officeDocument/2006/relationships/image" Target="../media/image1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 Telec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6D4EE728-E82E-704D-ADEB-24FAC51A50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9833"/>
            <a:ext cx="12192000" cy="687578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1BFBDC1-0F88-404F-8878-DA6B9775F7E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9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7AF298E3-4E90-9E47-86B5-57AC257443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5414" y="2937600"/>
            <a:ext cx="8486893" cy="366712"/>
          </a:xfrm>
          <a:prstGeom prst="rect">
            <a:avLst/>
          </a:prstGeom>
        </p:spPr>
        <p:txBody>
          <a:bodyPr wrap="none" t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2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>
                <a:solidFill>
                  <a:srgbClr val="DFC123"/>
                </a:solidFill>
              </a:defRPr>
            </a:lvl2pPr>
            <a:lvl3pPr marL="914400" indent="0">
              <a:buNone/>
              <a:defRPr>
                <a:solidFill>
                  <a:srgbClr val="DFC123"/>
                </a:solidFill>
              </a:defRPr>
            </a:lvl3pPr>
            <a:lvl4pPr marL="1371600" indent="0">
              <a:buNone/>
              <a:defRPr>
                <a:solidFill>
                  <a:srgbClr val="DFC123"/>
                </a:solidFill>
              </a:defRPr>
            </a:lvl4pPr>
            <a:lvl5pPr marL="1828800" indent="0">
              <a:buNone/>
              <a:defRPr>
                <a:solidFill>
                  <a:srgbClr val="DFC123"/>
                </a:solidFill>
              </a:defRPr>
            </a:lvl5pPr>
          </a:lstStyle>
          <a:p>
            <a:pPr lvl="0"/>
            <a:r>
              <a:rPr lang="en-US" dirty="0"/>
              <a:t>Client name - System name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7C6FE27-98CB-9247-98B6-B1989EF943B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415" y="3319200"/>
            <a:ext cx="8486892" cy="344488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2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presentation subject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F0D60B5C-8D30-9A43-A2F0-A420A72384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576161" y="6525935"/>
            <a:ext cx="1146147" cy="257763"/>
          </a:xfrm>
          <a:prstGeom prst="rect">
            <a:avLst/>
          </a:prstGeom>
        </p:spPr>
        <p:txBody>
          <a:bodyPr wrap="none" rIns="0">
            <a:spAutoFit/>
          </a:bodyPr>
          <a:lstStyle>
            <a:lvl1pPr marL="0" indent="0" algn="r">
              <a:buNone/>
              <a:defRPr sz="1000" b="1" cap="all" baseline="0">
                <a:solidFill>
                  <a:schemeClr val="bg1"/>
                </a:solidFill>
                <a:effectLst>
                  <a:outerShdw blurRad="571500" dist="38100" dir="2700000" sx="105000" sy="105000" algn="tl" rotWithShape="0">
                    <a:schemeClr val="tx2"/>
                  </a:outerShdw>
                </a:effectLst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REPORT DATE</a:t>
            </a:r>
          </a:p>
        </p:txBody>
      </p:sp>
    </p:spTree>
    <p:extLst>
      <p:ext uri="{BB962C8B-B14F-4D97-AF65-F5344CB8AC3E}">
        <p14:creationId xmlns:p14="http://schemas.microsoft.com/office/powerpoint/2010/main" val="4182363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22E66F4-7F53-DD4A-8713-C073FB230C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0000" y="1366268"/>
            <a:ext cx="10665667" cy="4952085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>
            <a:lvl1pPr marL="342900" indent="-3429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2BECD"/>
              </a:buClr>
              <a:buFont typeface="+mj-lt"/>
              <a:buAutoNum type="arabicPeriod"/>
              <a:defRPr lang="en-US" sz="1600" b="0" dirty="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  <a:lvl6pPr>
              <a:defRPr sz="1600">
                <a:solidFill>
                  <a:schemeClr val="tx2"/>
                </a:solidFill>
              </a:defRPr>
            </a:lvl6pPr>
            <a:lvl7pPr>
              <a:defRPr sz="1600">
                <a:solidFill>
                  <a:schemeClr val="tx2"/>
                </a:solidFill>
              </a:defRPr>
            </a:lvl7pPr>
            <a:lvl8pPr>
              <a:defRPr sz="1600">
                <a:solidFill>
                  <a:schemeClr val="tx2"/>
                </a:solidFill>
              </a:defRPr>
            </a:lvl8pPr>
          </a:lstStyle>
          <a:p>
            <a:pPr marL="342900" indent="-342900">
              <a:lnSpc>
                <a:spcPct val="114000"/>
              </a:lnSpc>
              <a:buClr>
                <a:srgbClr val="9FABB6"/>
              </a:buClr>
              <a:buFont typeface="+mj-lt"/>
              <a:buAutoNum type="arabicPeriod"/>
            </a:pPr>
            <a:r>
              <a:rPr lang="en-US" dirty="0"/>
              <a:t>Insert sections (make bold to highlight sections)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FAE89E-5649-9B44-9D8C-7D3C163D2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3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10DD217-089D-C949-BCCE-0C2D8196FA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522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B4138DB0-ED82-C84A-8589-E27E32B9B5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>
              <a:defRPr lang="en-US" sz="1000" b="1" spc="10" dirty="0">
                <a:solidFill>
                  <a:srgbClr val="B3BECD"/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526575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0F7AAF3-E03F-F445-84B7-DEC6FD5CC0B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8F36FC-ED84-CE49-90C1-FB88EDBAE7F2}"/>
              </a:ext>
            </a:extLst>
          </p:cNvPr>
          <p:cNvSpPr/>
          <p:nvPr userDrawn="1"/>
        </p:nvSpPr>
        <p:spPr>
          <a:xfrm>
            <a:off x="1526401" y="0"/>
            <a:ext cx="10665600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FAE89E-5649-9B44-9D8C-7D3C163D2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smtClean="0"/>
              <a:pPr/>
              <a:t>‹#›</a:t>
            </a:fld>
            <a:endParaRPr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3A2DC225-29A5-1C4E-85B1-B1B58619FC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522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37A1B97-F536-DA40-9B5F-C768D92CAC7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0000" y="1366268"/>
            <a:ext cx="10665667" cy="4952085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>
            <a:lvl1pPr marL="342900" indent="-3429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2BECD"/>
              </a:buClr>
              <a:buFont typeface="+mj-lt"/>
              <a:buAutoNum type="arabicPeriod"/>
              <a:defRPr lang="en-US" sz="1600" b="0" dirty="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>
                <a:solidFill>
                  <a:schemeClr val="bg1"/>
                </a:solidFill>
              </a:defRPr>
            </a:lvl6pPr>
            <a:lvl7pPr>
              <a:defRPr sz="1600">
                <a:solidFill>
                  <a:schemeClr val="bg1"/>
                </a:solidFill>
              </a:defRPr>
            </a:lvl7pPr>
            <a:lvl8pPr>
              <a:defRPr sz="1600">
                <a:solidFill>
                  <a:schemeClr val="bg1"/>
                </a:solidFill>
              </a:defRPr>
            </a:lvl8pPr>
          </a:lstStyle>
          <a:p>
            <a:pPr marL="342900" indent="-342900">
              <a:lnSpc>
                <a:spcPct val="114000"/>
              </a:lnSpc>
              <a:buClr>
                <a:srgbClr val="9FABB6"/>
              </a:buClr>
              <a:buFont typeface="+mj-lt"/>
              <a:buAutoNum type="arabicPeriod"/>
            </a:pPr>
            <a:r>
              <a:rPr lang="en-US" dirty="0"/>
              <a:t>Insert sections (make bold to highlight sections)</a:t>
            </a:r>
          </a:p>
        </p:txBody>
      </p:sp>
    </p:spTree>
    <p:extLst>
      <p:ext uri="{BB962C8B-B14F-4D97-AF65-F5344CB8AC3E}">
        <p14:creationId xmlns:p14="http://schemas.microsoft.com/office/powerpoint/2010/main" val="3569207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D864A3-F6DC-434B-B5BE-5F14C8CEA463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8A8B0682-F79C-014E-BF74-DADFA39ECD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546037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FAE89E-5649-9B44-9D8C-7D3C163D2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3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10DD217-089D-C949-BCCE-0C2D8196FA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522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606E028-6F75-5A40-AE18-EB44D4BC81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2499030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D62445-A202-3741-926B-06A74F654895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7985789-259F-8A45-8AFC-1116A7FBC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B723CB0-4ECE-354C-B92C-5CCAC7B1422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573487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rgbClr val="AA98C4"/>
              </a:gs>
              <a:gs pos="0">
                <a:srgbClr val="576BAA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062C32F-BF79-8E4D-80C7-A236088BE3DC}"/>
              </a:ext>
            </a:extLst>
          </p:cNvPr>
          <p:cNvSpPr/>
          <p:nvPr userDrawn="1"/>
        </p:nvSpPr>
        <p:spPr>
          <a:xfrm>
            <a:off x="-230588" y="385969"/>
            <a:ext cx="12730038" cy="7310231"/>
          </a:xfrm>
          <a:prstGeom prst="ellipse">
            <a:avLst/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45000">
                <a:srgbClr val="FFFFFF">
                  <a:alpha val="15000"/>
                </a:srgbClr>
              </a:gs>
              <a:gs pos="0">
                <a:schemeClr val="bg1">
                  <a:alpha val="5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B5964A-85C4-E845-8FF0-BCE54011F8F7}"/>
              </a:ext>
            </a:extLst>
          </p:cNvPr>
          <p:cNvSpPr/>
          <p:nvPr userDrawn="1"/>
        </p:nvSpPr>
        <p:spPr>
          <a:xfrm>
            <a:off x="0" y="-4586"/>
            <a:ext cx="12192000" cy="6858000"/>
          </a:xfrm>
          <a:prstGeom prst="rect">
            <a:avLst/>
          </a:prstGeom>
          <a:gradFill>
            <a:gsLst>
              <a:gs pos="100000">
                <a:srgbClr val="576BAA">
                  <a:alpha val="45000"/>
                </a:srgbClr>
              </a:gs>
              <a:gs pos="50000">
                <a:srgbClr val="AA98C4">
                  <a:alpha val="0"/>
                </a:srgbClr>
              </a:gs>
              <a:gs pos="0">
                <a:srgbClr val="576BAA">
                  <a:alpha val="6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D62445-A202-3741-926B-06A74F654895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7985789-259F-8A45-8AFC-1116A7FBC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chemeClr val="bg1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B723CB0-4ECE-354C-B92C-5CCAC7B1422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504821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rk with graphic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7F570A5C-1465-F949-AFD7-E381D9043B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749"/>
            <a:ext cx="12192000" cy="68687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4000">
                <a:schemeClr val="tx2">
                  <a:alpha val="80000"/>
                </a:schemeClr>
              </a:gs>
              <a:gs pos="0">
                <a:schemeClr val="tx2">
                  <a:alpha val="74000"/>
                </a:schemeClr>
              </a:gs>
              <a:gs pos="93000">
                <a:schemeClr val="tx2">
                  <a:alpha val="25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44">
              <a:solidFill>
                <a:schemeClr val="accent2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FB5ABF-597D-DA40-9F8B-5743780B79A1}"/>
              </a:ext>
            </a:extLst>
          </p:cNvPr>
          <p:cNvSpPr/>
          <p:nvPr userDrawn="1"/>
        </p:nvSpPr>
        <p:spPr>
          <a:xfrm>
            <a:off x="0" y="1720892"/>
            <a:ext cx="12192000" cy="5145061"/>
          </a:xfrm>
          <a:prstGeom prst="rect">
            <a:avLst/>
          </a:prstGeom>
          <a:gradFill>
            <a:gsLst>
              <a:gs pos="46000">
                <a:schemeClr val="accent2">
                  <a:alpha val="0"/>
                </a:schemeClr>
              </a:gs>
              <a:gs pos="100000">
                <a:srgbClr val="DFC101">
                  <a:alpha val="32000"/>
                </a:srgbClr>
              </a:gs>
              <a:gs pos="82000">
                <a:schemeClr val="accent2">
                  <a:alpha val="1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912" tIns="57275" rIns="85912" bIns="57275" rtlCol="0" anchor="t"/>
          <a:lstStyle/>
          <a:p>
            <a:pPr algn="l"/>
            <a:endParaRPr lang="en-US" sz="1273" dirty="0" err="1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0B229FA-CC1D-8949-846A-2C092B3B817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F1029506-2B22-D540-9093-4B18C0BD13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543FC0-FA8A-4842-8FC2-F203AF9029D4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B0B6AD95-6CA1-134E-A06C-BEECADF70E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EC2317AA-E47D-1A45-A701-485ECFFE29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B399D4FA-CC06-BB46-A0F0-A490F2F2218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847504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reversed col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401" y="0"/>
            <a:ext cx="10665600" cy="856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D864A3-F6DC-434B-B5BE-5F14C8CEA463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8A8B0682-F79C-014E-BF74-DADFA39ECD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88014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0CA7ACA-36F1-CC4B-B88F-E30BC3BB7F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70E661-2568-014D-9679-50866771DD38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5E177DEE-B705-3E43-89AC-7B3420354C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17FC6343-20BF-144E-82D5-AAFFD46B94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1934A-DE0A-C841-9479-688B6BBD602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5450" y="1366838"/>
            <a:ext cx="5421313" cy="4950149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DA720B1-8ADB-B746-A933-6029EBDCC50B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345667" y="1366837"/>
            <a:ext cx="5421313" cy="495015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990561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contra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02F3CE-3A89-6048-9903-A3ECEDE9519E}"/>
              </a:ext>
            </a:extLst>
          </p:cNvPr>
          <p:cNvSpPr/>
          <p:nvPr userDrawn="1"/>
        </p:nvSpPr>
        <p:spPr>
          <a:xfrm>
            <a:off x="6092456" y="857977"/>
            <a:ext cx="6099544" cy="60095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4A2A52-2842-B847-AEC4-CBD2BA3484C4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49C73C1F-AEDD-7D45-8181-915FDFA1014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E9CA1143-6585-1C41-BCC0-F6D8645487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3655483-73D5-1842-B980-1CB68BC0E61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5450" y="1366838"/>
            <a:ext cx="5421313" cy="4950149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C502811-F846-1F49-AD36-092A6CA4C35B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345667" y="1366837"/>
            <a:ext cx="5421313" cy="495015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3317707-F6BD-BC43-AFE4-EF3A58BA0D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5944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EAB487C9-ECA1-B54D-8C96-3D8551EC5901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FA66B3B-E195-4A46-97EC-4F5B8E0BC8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3163FBFA-31D9-6B47-A169-FE02B11448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C84D26-9EDC-F949-AC1A-A72B1BBE389A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25304" y="1366988"/>
            <a:ext cx="3548218" cy="4950000"/>
          </a:xfrm>
        </p:spPr>
        <p:txBody>
          <a:bodyPr lIns="90000" tIns="468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3817169C-C0BF-0A40-9984-FECFBA08563F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332642" y="1366988"/>
            <a:ext cx="3548218" cy="4950000"/>
          </a:xfrm>
        </p:spPr>
        <p:txBody>
          <a:bodyPr lIns="90000" tIns="468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6FEB4DC9-D693-9443-81DF-3152226B193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97449" y="1366988"/>
            <a:ext cx="3548218" cy="4950000"/>
          </a:xfrm>
        </p:spPr>
        <p:txBody>
          <a:bodyPr lIns="90000" tIns="468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45A2829-FFCA-D14F-91DA-F2D5FAE26F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2653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EAB487C9-ECA1-B54D-8C96-3D8551EC5901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FA66B3B-E195-4A46-97EC-4F5B8E0BC8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3163FBFA-31D9-6B47-A169-FE02B11448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A7E353-A588-4F4A-90F0-66ACD582169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218715" y="1366988"/>
            <a:ext cx="3526952" cy="4950000"/>
          </a:xfrm>
          <a:prstGeom prst="rect">
            <a:avLst/>
          </a:prstGeom>
        </p:spPr>
        <p:txBody>
          <a:bodyPr wrap="square" lIns="0" rIns="0" bIns="46800" anchor="ctr"/>
          <a:lstStyle>
            <a:lvl1pPr marL="0" indent="0" algn="ctr">
              <a:buNone/>
              <a:defRPr lang="en-US" sz="1400" b="0">
                <a:solidFill>
                  <a:schemeClr val="tx2"/>
                </a:solidFill>
              </a:defRPr>
            </a:lvl1pPr>
          </a:lstStyle>
          <a:p>
            <a:pPr marL="228600" lvl="0" indent="-228600">
              <a:lnSpc>
                <a:spcPct val="114000"/>
              </a:lnSpc>
            </a:pPr>
            <a:r>
              <a:rPr lang="en-US" dirty="0"/>
              <a:t>Insert a picture here. </a:t>
            </a:r>
            <a:br>
              <a:rPr lang="en-US" dirty="0"/>
            </a:br>
            <a:r>
              <a:rPr lang="en-US" dirty="0"/>
              <a:t>The picture will be cropped to placeholder.</a:t>
            </a:r>
            <a:br>
              <a:rPr lang="en-US" dirty="0"/>
            </a:br>
            <a:r>
              <a:rPr lang="en-US" dirty="0"/>
              <a:t>The position can be set via picture settings.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0930E766-BD21-724F-ADBE-C3AA43F4CD87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25304" y="1366988"/>
            <a:ext cx="3548218" cy="495000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F11B0C39-D009-B544-B7E4-F06D9BA4A5A7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332642" y="1366988"/>
            <a:ext cx="3548218" cy="495000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D44F31D-ED30-0B48-8DF3-597B351FA8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3119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A208878-2260-3E4C-BBF0-1ABC5DE8530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218713" y="1366988"/>
            <a:ext cx="3526953" cy="49514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Insert a picture here. </a:t>
            </a:r>
            <a:br>
              <a:rPr lang="en-US" dirty="0"/>
            </a:br>
            <a:r>
              <a:rPr lang="en-US" dirty="0"/>
              <a:t>The picture will be cropped to placeholder size.</a:t>
            </a:r>
            <a:br>
              <a:rPr lang="en-US" dirty="0"/>
            </a:br>
            <a:r>
              <a:rPr lang="en-US" dirty="0"/>
              <a:t>The position can be set via picture settings.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2F1FF5-0CB8-5244-87C9-8C167EB6734D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8289E72B-8537-DA46-B51A-1764BAD110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DCAD90D6-8AB2-DE4E-A1B2-D53B38CD25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1AE6A-17BD-3C43-B24D-A3D22CFBB4A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14372" y="1366988"/>
            <a:ext cx="7345113" cy="4951412"/>
          </a:xfrm>
        </p:spPr>
        <p:txBody>
          <a:bodyPr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1EFC51B-F0FA-CF4B-AC2A-30474AC390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7839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ic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E4B9930-CD1C-CA44-8C43-D95C6097D120}"/>
              </a:ext>
            </a:extLst>
          </p:cNvPr>
          <p:cNvSpPr/>
          <p:nvPr userDrawn="1"/>
        </p:nvSpPr>
        <p:spPr>
          <a:xfrm>
            <a:off x="4989841" y="5698067"/>
            <a:ext cx="7202159" cy="11599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A564C0-5D9C-5145-B29A-05DCBD35ED69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F98EE3B-D03A-DD43-A8E2-3C5AB37DAA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A393E49-A939-1E42-9494-C19B9F240D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01FCD5-EE6E-3543-8FD5-9B4F7C1A74C1}"/>
              </a:ext>
            </a:extLst>
          </p:cNvPr>
          <p:cNvSpPr/>
          <p:nvPr userDrawn="1"/>
        </p:nvSpPr>
        <p:spPr>
          <a:xfrm>
            <a:off x="0" y="5505561"/>
            <a:ext cx="4253241" cy="7867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ECB82676-C1C3-D348-AF83-1EF35EDE361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3832" y="5908297"/>
            <a:ext cx="984550" cy="199737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0" indent="0" algn="ctr">
              <a:lnSpc>
                <a:spcPct val="7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IIIII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835C75AB-59F9-834C-8767-A3EB61616D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34754" y="5695488"/>
            <a:ext cx="482705" cy="198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#.#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430E3A36-E8DA-6C49-9EB1-E22666F652A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4373" y="5798438"/>
            <a:ext cx="2397600" cy="223200"/>
          </a:xfrm>
          <a:prstGeom prst="rect">
            <a:avLst/>
          </a:prstGeom>
          <a:noFill/>
        </p:spPr>
        <p:txBody>
          <a:bodyPr wrap="square" lIns="0" tIns="0" rIns="90000" bIns="0" anchor="ctr">
            <a:spAutoFit/>
          </a:bodyPr>
          <a:lstStyle>
            <a:lvl1pPr marL="0" indent="0" algn="l">
              <a:lnSpc>
                <a:spcPct val="90000"/>
              </a:lnSpc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metric name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5AD301B-75B6-8D48-80C0-A4199B9A02BF}"/>
              </a:ext>
            </a:extLst>
          </p:cNvPr>
          <p:cNvSpPr/>
          <p:nvPr userDrawn="1"/>
        </p:nvSpPr>
        <p:spPr>
          <a:xfrm>
            <a:off x="2517735" y="859129"/>
            <a:ext cx="1721491" cy="4674369"/>
          </a:xfrm>
          <a:prstGeom prst="rect">
            <a:avLst/>
          </a:prstGeom>
          <a:gradFill>
            <a:gsLst>
              <a:gs pos="10000">
                <a:srgbClr val="AFB9C2">
                  <a:alpha val="1000"/>
                </a:srgbClr>
              </a:gs>
              <a:gs pos="90000">
                <a:srgbClr val="AFB9C2">
                  <a:alpha val="0"/>
                </a:srgbClr>
              </a:gs>
              <a:gs pos="50000">
                <a:srgbClr val="AFB9C2">
                  <a:alpha val="25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3E1BDCF-5BFE-FE49-A911-63130C874BA0}"/>
              </a:ext>
            </a:extLst>
          </p:cNvPr>
          <p:cNvSpPr/>
          <p:nvPr userDrawn="1"/>
        </p:nvSpPr>
        <p:spPr>
          <a:xfrm>
            <a:off x="2515428" y="860920"/>
            <a:ext cx="1715709" cy="464464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bg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677BE5-1E8F-1041-94D8-7FE480E767C2}"/>
              </a:ext>
            </a:extLst>
          </p:cNvPr>
          <p:cNvCxnSpPr>
            <a:cxnSpLocks/>
          </p:cNvCxnSpPr>
          <p:nvPr userDrawn="1"/>
        </p:nvCxnSpPr>
        <p:spPr>
          <a:xfrm>
            <a:off x="4246367" y="1366988"/>
            <a:ext cx="0" cy="4025055"/>
          </a:xfrm>
          <a:prstGeom prst="line">
            <a:avLst/>
          </a:prstGeom>
          <a:ln w="19050">
            <a:solidFill>
              <a:srgbClr val="AFB9C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FAF313A3-FEEC-CE41-9CC2-83C432778B2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27221" y="5734485"/>
            <a:ext cx="466644" cy="1593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 sz="1200" b="0">
                <a:solidFill>
                  <a:srgbClr val="B2BECD"/>
                </a:solidFill>
              </a:defRPr>
            </a:lvl1pPr>
          </a:lstStyle>
          <a:p>
            <a:pPr lvl="0"/>
            <a:r>
              <a:rPr lang="en-US" dirty="0"/>
              <a:t>+-#.##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D34E09-B672-CF47-8451-5270CB616A87}"/>
              </a:ext>
            </a:extLst>
          </p:cNvPr>
          <p:cNvSpPr/>
          <p:nvPr userDrawn="1"/>
        </p:nvSpPr>
        <p:spPr>
          <a:xfrm>
            <a:off x="4255741" y="5505560"/>
            <a:ext cx="7936259" cy="503364"/>
          </a:xfrm>
          <a:prstGeom prst="rect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9B80F2-D674-0E4C-842B-7A30702B1C06}"/>
              </a:ext>
            </a:extLst>
          </p:cNvPr>
          <p:cNvSpPr/>
          <p:nvPr userDrawn="1"/>
        </p:nvSpPr>
        <p:spPr>
          <a:xfrm>
            <a:off x="9343381" y="5238893"/>
            <a:ext cx="2848620" cy="1306286"/>
          </a:xfrm>
          <a:prstGeom prst="rect">
            <a:avLst/>
          </a:prstGeom>
          <a:gradFill>
            <a:gsLst>
              <a:gs pos="100000">
                <a:schemeClr val="bg2"/>
              </a:gs>
              <a:gs pos="0">
                <a:schemeClr val="bg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D3F50C4B-7039-1045-AB59-6FDD08E2573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14372" y="1366988"/>
            <a:ext cx="3354895" cy="3954086"/>
          </a:xfrm>
        </p:spPr>
        <p:txBody>
          <a:bodyPr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C4B0E93E-75EE-6A4B-8272-3D8D30E3A8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8643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ic overview - Qualit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E4B9930-CD1C-CA44-8C43-D95C6097D120}"/>
              </a:ext>
            </a:extLst>
          </p:cNvPr>
          <p:cNvSpPr/>
          <p:nvPr userDrawn="1"/>
        </p:nvSpPr>
        <p:spPr>
          <a:xfrm>
            <a:off x="4989841" y="5698067"/>
            <a:ext cx="7202159" cy="11599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A564C0-5D9C-5145-B29A-05DCBD35ED69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F98EE3B-D03A-DD43-A8E2-3C5AB37DAA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A393E49-A939-1E42-9494-C19B9F240D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01FCD5-EE6E-3543-8FD5-9B4F7C1A74C1}"/>
              </a:ext>
            </a:extLst>
          </p:cNvPr>
          <p:cNvSpPr/>
          <p:nvPr userDrawn="1"/>
        </p:nvSpPr>
        <p:spPr>
          <a:xfrm>
            <a:off x="0" y="5505561"/>
            <a:ext cx="4253241" cy="7867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ECB82676-C1C3-D348-AF83-1EF35EDE361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3832" y="5908297"/>
            <a:ext cx="984550" cy="199737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0" indent="0" algn="ctr">
              <a:lnSpc>
                <a:spcPct val="7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IIIII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835C75AB-59F9-834C-8767-A3EB61616D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34754" y="5695488"/>
            <a:ext cx="482705" cy="198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#.#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430E3A36-E8DA-6C49-9EB1-E22666F652A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4373" y="5799858"/>
            <a:ext cx="2397600" cy="223200"/>
          </a:xfrm>
          <a:prstGeom prst="rect">
            <a:avLst/>
          </a:prstGeom>
          <a:noFill/>
        </p:spPr>
        <p:txBody>
          <a:bodyPr vert="horz" wrap="square" lIns="0" tIns="0" rIns="90000" bIns="0" rtlCol="0" anchor="ctr">
            <a:spAutoFit/>
          </a:bodyPr>
          <a:lstStyle>
            <a:lvl1pPr marL="0" indent="0">
              <a:lnSpc>
                <a:spcPct val="90000"/>
              </a:lnSpc>
              <a:buNone/>
              <a:defRPr lang="en-US" b="1" dirty="0">
                <a:solidFill>
                  <a:schemeClr val="bg1"/>
                </a:solidFill>
              </a:defRPr>
            </a:lvl1pPr>
          </a:lstStyle>
          <a:p>
            <a:pPr marL="285750" lvl="0" indent="-285750"/>
            <a:r>
              <a:rPr lang="en-US" dirty="0"/>
              <a:t>metric name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677BE5-1E8F-1041-94D8-7FE480E767C2}"/>
              </a:ext>
            </a:extLst>
          </p:cNvPr>
          <p:cNvCxnSpPr>
            <a:cxnSpLocks/>
          </p:cNvCxnSpPr>
          <p:nvPr userDrawn="1"/>
        </p:nvCxnSpPr>
        <p:spPr>
          <a:xfrm>
            <a:off x="522333" y="1488831"/>
            <a:ext cx="0" cy="3903212"/>
          </a:xfrm>
          <a:prstGeom prst="line">
            <a:avLst/>
          </a:prstGeom>
          <a:ln w="19050">
            <a:solidFill>
              <a:srgbClr val="AFB9C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FAF313A3-FEEC-CE41-9CC2-83C432778B2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27221" y="5734485"/>
            <a:ext cx="466644" cy="1593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 sz="1200" b="0">
                <a:solidFill>
                  <a:srgbClr val="B2BECD"/>
                </a:solidFill>
              </a:defRPr>
            </a:lvl1pPr>
          </a:lstStyle>
          <a:p>
            <a:pPr lvl="0"/>
            <a:r>
              <a:rPr lang="en-US" dirty="0"/>
              <a:t>+-#.##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D34E09-B672-CF47-8451-5270CB616A87}"/>
              </a:ext>
            </a:extLst>
          </p:cNvPr>
          <p:cNvSpPr/>
          <p:nvPr userDrawn="1"/>
        </p:nvSpPr>
        <p:spPr>
          <a:xfrm>
            <a:off x="4255741" y="5505560"/>
            <a:ext cx="7936259" cy="503364"/>
          </a:xfrm>
          <a:prstGeom prst="rect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9B80F2-D674-0E4C-842B-7A30702B1C06}"/>
              </a:ext>
            </a:extLst>
          </p:cNvPr>
          <p:cNvSpPr/>
          <p:nvPr userDrawn="1"/>
        </p:nvSpPr>
        <p:spPr>
          <a:xfrm>
            <a:off x="9343381" y="5238893"/>
            <a:ext cx="2848620" cy="1306286"/>
          </a:xfrm>
          <a:prstGeom prst="rect">
            <a:avLst/>
          </a:prstGeom>
          <a:gradFill>
            <a:gsLst>
              <a:gs pos="100000">
                <a:schemeClr val="bg2"/>
              </a:gs>
              <a:gs pos="0">
                <a:schemeClr val="bg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D3F50C4B-7039-1045-AB59-6FDD08E2573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14372" y="1366988"/>
            <a:ext cx="11231295" cy="3954086"/>
          </a:xfrm>
        </p:spPr>
        <p:txBody>
          <a:bodyPr lIns="18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7F9FF7DA-17F8-2241-8F5E-D615FB44FF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5286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page gener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7F570A5C-1465-F949-AFD7-E381D9043B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749"/>
            <a:ext cx="12192000" cy="68687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565017-894C-E344-A8B5-B1F451E1E1C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200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EA732E99-E093-BA43-9D65-ED4C138D063D}"/>
              </a:ext>
            </a:extLst>
          </p:cNvPr>
          <p:cNvSpPr txBox="1">
            <a:spLocks/>
          </p:cNvSpPr>
          <p:nvPr userDrawn="1"/>
        </p:nvSpPr>
        <p:spPr>
          <a:xfrm>
            <a:off x="1869429" y="1504098"/>
            <a:ext cx="2881289" cy="216792"/>
          </a:xfrm>
          <a:prstGeom prst="rect">
            <a:avLst/>
          </a:prstGeom>
        </p:spPr>
        <p:txBody>
          <a:bodyPr wrap="square" tIns="0" bIns="0" anchor="t">
            <a:noAutofit/>
          </a:bodyPr>
          <a:lstStyle>
            <a:defPPr>
              <a:defRPr lang="en-US"/>
            </a:defPPr>
            <a:lvl1pPr marL="228600" lvl="0" indent="-228600">
              <a:lnSpc>
                <a:spcPct val="80000"/>
              </a:lnSpc>
              <a:spcBef>
                <a:spcPts val="1000"/>
              </a:spcBef>
              <a:buFont typeface="Arial"/>
              <a:buNone/>
              <a:defRPr sz="2000" b="0">
                <a:solidFill>
                  <a:srgbClr val="AFB9C2"/>
                </a:solidFill>
                <a:ea typeface="TheSans B6 SemiBold" charset="0"/>
                <a:cs typeface="TheSans B6 SemiBold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9pPr>
          </a:lstStyle>
          <a:p>
            <a:pPr lvl="0" algn="l"/>
            <a:r>
              <a:rPr lang="en-US" sz="2400" b="1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Presented </a:t>
            </a:r>
            <a:r>
              <a:rPr lang="en-US" sz="2400" b="0" i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by</a:t>
            </a:r>
            <a:endParaRPr lang="en-US" sz="2400" b="1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240597-FB20-6A42-8EA6-4B770828805B}"/>
              </a:ext>
            </a:extLst>
          </p:cNvPr>
          <p:cNvSpPr/>
          <p:nvPr userDrawn="1"/>
        </p:nvSpPr>
        <p:spPr>
          <a:xfrm>
            <a:off x="6096000" y="853201"/>
            <a:ext cx="6095999" cy="6012750"/>
          </a:xfrm>
          <a:prstGeom prst="rect">
            <a:avLst/>
          </a:prstGeom>
          <a:gradFill>
            <a:gsLst>
              <a:gs pos="0">
                <a:srgbClr val="DFC101"/>
              </a:gs>
              <a:gs pos="30000">
                <a:schemeClr val="accent2">
                  <a:alpha val="85000"/>
                </a:schemeClr>
              </a:gs>
              <a:gs pos="100000">
                <a:schemeClr val="accent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F12D71D-5C15-3F47-9ACB-1C4A8CF8A4B8}"/>
              </a:ext>
            </a:extLst>
          </p:cNvPr>
          <p:cNvCxnSpPr/>
          <p:nvPr userDrawn="1"/>
        </p:nvCxnSpPr>
        <p:spPr>
          <a:xfrm>
            <a:off x="6096000" y="853201"/>
            <a:ext cx="0" cy="4067142"/>
          </a:xfrm>
          <a:prstGeom prst="line">
            <a:avLst/>
          </a:prstGeom>
          <a:ln w="15875">
            <a:gradFill>
              <a:gsLst>
                <a:gs pos="19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780D622-8466-B04C-8DFD-B730E797EA3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935666" y="219527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56FEDB43-2B74-1B40-B33C-A25AAD8DD9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35666" y="380880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18E3A589-B95B-D14B-8B35-827248735BA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35666" y="40788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8FBC5404-48F5-3F4D-9830-C71054E2212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935666" y="2663507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2B2F3057-76A4-6B43-818A-38CCFBF40B3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935666" y="3000701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6F444726-1D68-A94E-B387-A55930D429B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35666" y="3468938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53" name="Text Placeholder 7">
            <a:extLst>
              <a:ext uri="{FF2B5EF4-FFF2-40B4-BE49-F238E27FC236}">
                <a16:creationId xmlns:a16="http://schemas.microsoft.com/office/drawing/2014/main" id="{013CFE9D-2F23-0946-B34E-FF8D67DEBB0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935666" y="461520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56" name="Text Placeholder 10">
            <a:extLst>
              <a:ext uri="{FF2B5EF4-FFF2-40B4-BE49-F238E27FC236}">
                <a16:creationId xmlns:a16="http://schemas.microsoft.com/office/drawing/2014/main" id="{CAEE56BA-F636-814A-A890-4BBAAE750F4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935666" y="48852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9813E48C-419C-714D-8526-2AA43F81E71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935666" y="542160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58" name="Text Placeholder 10">
            <a:extLst>
              <a:ext uri="{FF2B5EF4-FFF2-40B4-BE49-F238E27FC236}">
                <a16:creationId xmlns:a16="http://schemas.microsoft.com/office/drawing/2014/main" id="{4D4FD237-047E-9B4E-8E24-7614DA39C6D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935666" y="56916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5D1CEA7-9339-3848-B2B0-9A6116B9924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35665" y="2464345"/>
            <a:ext cx="3691928" cy="201426"/>
          </a:xfrm>
        </p:spPr>
        <p:txBody>
          <a:bodyPr vert="horz" wrap="none" lIns="0" tIns="0" rIns="0" bIns="0" rtlCol="0">
            <a:noAutofit/>
          </a:bodyPr>
          <a:lstStyle>
            <a:lvl1pPr marL="0" indent="0">
              <a:buNone/>
              <a:defRPr lang="en-US" sz="1400" dirty="0">
                <a:solidFill>
                  <a:srgbClr val="B3BECD"/>
                </a:solidFill>
              </a:defRPr>
            </a:lvl1pPr>
          </a:lstStyle>
          <a:p>
            <a:pPr marL="285750" lvl="0" indent="-285750"/>
            <a:r>
              <a:rPr lang="en-US" dirty="0"/>
              <a:t>Title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6C3551FB-2F8C-B345-A30C-01137E5F311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935665" y="3265605"/>
            <a:ext cx="3691928" cy="201426"/>
          </a:xfrm>
        </p:spPr>
        <p:txBody>
          <a:bodyPr vert="horz" wrap="none" lIns="0" tIns="0" rIns="0" bIns="0" rtlCol="0">
            <a:noAutofit/>
          </a:bodyPr>
          <a:lstStyle>
            <a:lvl1pPr marL="0" indent="0">
              <a:buNone/>
              <a:defRPr lang="en-US" sz="1400" dirty="0">
                <a:solidFill>
                  <a:srgbClr val="B3BECD"/>
                </a:solidFill>
              </a:defRPr>
            </a:lvl1pPr>
          </a:lstStyle>
          <a:p>
            <a:pPr marL="285750" lvl="0" indent="-285750"/>
            <a:r>
              <a:rPr lang="en-US" dirty="0"/>
              <a:t>Title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AAEDB36D-8075-864A-96B7-0874A127938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935666" y="42768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EB7E0FE4-1626-7944-B91A-5691F585869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935666" y="50832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14A15AB8-FF15-5A48-948F-7B9B55B0F0D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35666" y="58896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3" name="Slide Number Placeholder 5">
            <a:extLst>
              <a:ext uri="{FF2B5EF4-FFF2-40B4-BE49-F238E27FC236}">
                <a16:creationId xmlns:a16="http://schemas.microsoft.com/office/drawing/2014/main" id="{B688E3D0-C02A-B94C-A130-548294B8EE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chemeClr val="bg1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4806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 cover 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B226EB-715A-5F46-819A-D97E866136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1" cy="68689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F796445-AFA9-D44D-80A5-7B00312D6B1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239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SH system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D62445-A202-3741-926B-06A74F654895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7985789-259F-8A45-8AFC-1116A7FBC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E3D95FD-87E1-8242-936D-A016724AAC60}"/>
              </a:ext>
            </a:extLst>
          </p:cNvPr>
          <p:cNvGrpSpPr/>
          <p:nvPr userDrawn="1"/>
        </p:nvGrpSpPr>
        <p:grpSpPr>
          <a:xfrm>
            <a:off x="340066" y="1737023"/>
            <a:ext cx="5561970" cy="1324829"/>
            <a:chOff x="340066" y="1721909"/>
            <a:chExt cx="5561970" cy="1324829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D59DCD9-95CA-2849-8561-B2216ED23288}"/>
                </a:ext>
              </a:extLst>
            </p:cNvPr>
            <p:cNvSpPr/>
            <p:nvPr/>
          </p:nvSpPr>
          <p:spPr>
            <a:xfrm>
              <a:off x="340066" y="2357792"/>
              <a:ext cx="5405506" cy="688946"/>
            </a:xfrm>
            <a:prstGeom prst="ellipse">
              <a:avLst/>
            </a:prstGeom>
            <a:solidFill>
              <a:srgbClr val="000000">
                <a:alpha val="25000"/>
              </a:srgbClr>
            </a:solidFill>
            <a:ln>
              <a:noFill/>
            </a:ln>
            <a:effectLst>
              <a:softEdge rad="2667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6731D74-9128-1544-855C-A1FEBA1CA2CF}"/>
                </a:ext>
              </a:extLst>
            </p:cNvPr>
            <p:cNvSpPr/>
            <p:nvPr/>
          </p:nvSpPr>
          <p:spPr>
            <a:xfrm>
              <a:off x="429915" y="1721909"/>
              <a:ext cx="5472121" cy="97288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F21ED1E9-7DDE-7349-A824-0A8F7F613A5A}"/>
              </a:ext>
            </a:extLst>
          </p:cNvPr>
          <p:cNvSpPr txBox="1"/>
          <p:nvPr userDrawn="1"/>
        </p:nvSpPr>
        <p:spPr>
          <a:xfrm>
            <a:off x="429915" y="1364824"/>
            <a:ext cx="4469780" cy="357085"/>
          </a:xfrm>
          <a:prstGeom prst="rect">
            <a:avLst/>
          </a:prstGeom>
          <a:solidFill>
            <a:schemeClr val="accent1"/>
          </a:solidFill>
        </p:spPr>
        <p:txBody>
          <a:bodyPr wrap="square" lIns="90000" rtlCol="0" anchor="t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600" b="1" dirty="0">
                <a:solidFill>
                  <a:schemeClr val="bg1"/>
                </a:solidFill>
              </a:rPr>
              <a:t>Risks in external dependencies</a:t>
            </a:r>
            <a:r>
              <a:rPr lang="en-US" sz="1600" b="0" dirty="0">
                <a:solidFill>
                  <a:schemeClr val="bg1"/>
                </a:solidFill>
              </a:rPr>
              <a:t> – System overview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B90D4AFC-98E5-0C4A-9707-F2559B9A97DC}"/>
              </a:ext>
            </a:extLst>
          </p:cNvPr>
          <p:cNvSpPr txBox="1">
            <a:spLocks/>
          </p:cNvSpPr>
          <p:nvPr userDrawn="1"/>
        </p:nvSpPr>
        <p:spPr>
          <a:xfrm>
            <a:off x="1204383" y="1831229"/>
            <a:ext cx="3695312" cy="2621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400" b="1" dirty="0">
                <a:solidFill>
                  <a:schemeClr val="accent1"/>
                </a:solidFill>
                <a:latin typeface="Calibri Regular"/>
              </a:rPr>
              <a:t>Risk categories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56613CA-FC98-E948-8B09-66C076B53E70}"/>
              </a:ext>
            </a:extLst>
          </p:cNvPr>
          <p:cNvCxnSpPr>
            <a:cxnSpLocks/>
          </p:cNvCxnSpPr>
          <p:nvPr/>
        </p:nvCxnSpPr>
        <p:spPr>
          <a:xfrm>
            <a:off x="2533868" y="2164896"/>
            <a:ext cx="720000" cy="0"/>
          </a:xfrm>
          <a:prstGeom prst="line">
            <a:avLst/>
          </a:prstGeom>
          <a:ln w="57150" cap="rnd">
            <a:solidFill>
              <a:srgbClr val="DB4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utoShape 5">
            <a:extLst>
              <a:ext uri="{FF2B5EF4-FFF2-40B4-BE49-F238E27FC236}">
                <a16:creationId xmlns:a16="http://schemas.microsoft.com/office/drawing/2014/main" id="{9C79926D-A7E4-AB44-88CA-35B39C0B0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1038" y="2243219"/>
            <a:ext cx="649538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DB493D"/>
                </a:solidFill>
                <a:cs typeface="TheSansMono M5"/>
              </a:rPr>
              <a:t>high risk</a:t>
            </a:r>
          </a:p>
        </p:txBody>
      </p:sp>
      <p:sp>
        <p:nvSpPr>
          <p:cNvPr id="37" name="AutoShape 5">
            <a:extLst>
              <a:ext uri="{FF2B5EF4-FFF2-40B4-BE49-F238E27FC236}">
                <a16:creationId xmlns:a16="http://schemas.microsoft.com/office/drawing/2014/main" id="{A0F466DD-E497-0B47-9C89-D4A346F11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0395" y="2241262"/>
            <a:ext cx="888385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EF981A"/>
                </a:solidFill>
                <a:cs typeface="TheSansMono M5"/>
              </a:rPr>
              <a:t>medium risk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061AE6C-EBE9-4F46-A618-ED7896ACA29D}"/>
              </a:ext>
            </a:extLst>
          </p:cNvPr>
          <p:cNvCxnSpPr>
            <a:cxnSpLocks/>
          </p:cNvCxnSpPr>
          <p:nvPr/>
        </p:nvCxnSpPr>
        <p:spPr>
          <a:xfrm>
            <a:off x="3373046" y="2164896"/>
            <a:ext cx="720000" cy="0"/>
          </a:xfrm>
          <a:prstGeom prst="line">
            <a:avLst/>
          </a:prstGeom>
          <a:ln w="57150" cap="rnd">
            <a:solidFill>
              <a:srgbClr val="EF98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utoShape 5">
            <a:extLst>
              <a:ext uri="{FF2B5EF4-FFF2-40B4-BE49-F238E27FC236}">
                <a16:creationId xmlns:a16="http://schemas.microsoft.com/office/drawing/2014/main" id="{EA2FDCAB-455C-4E49-AF74-1E4FA9011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0436" y="2236451"/>
            <a:ext cx="61529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F8C740"/>
                </a:solidFill>
                <a:cs typeface="TheSansMono M5"/>
              </a:rPr>
              <a:t>low risk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D80D8D2-64AB-5B45-9E98-3024038CA8F5}"/>
              </a:ext>
            </a:extLst>
          </p:cNvPr>
          <p:cNvCxnSpPr>
            <a:cxnSpLocks/>
          </p:cNvCxnSpPr>
          <p:nvPr/>
        </p:nvCxnSpPr>
        <p:spPr>
          <a:xfrm>
            <a:off x="4206995" y="2164896"/>
            <a:ext cx="720000" cy="0"/>
          </a:xfrm>
          <a:prstGeom prst="line">
            <a:avLst/>
          </a:prstGeom>
          <a:ln w="57150" cap="rnd">
            <a:solidFill>
              <a:srgbClr val="F8C7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AutoShape 5">
            <a:extLst>
              <a:ext uri="{FF2B5EF4-FFF2-40B4-BE49-F238E27FC236}">
                <a16:creationId xmlns:a16="http://schemas.microsoft.com/office/drawing/2014/main" id="{83EAF45F-0735-074F-B8DE-661963E38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5071" y="2240877"/>
            <a:ext cx="69762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>
              <a:defRPr/>
            </a:pPr>
            <a:r>
              <a:rPr lang="en-US" sz="1100" b="1" dirty="0">
                <a:solidFill>
                  <a:srgbClr val="57C96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✓</a:t>
            </a:r>
            <a:r>
              <a:rPr lang="en-US" sz="1200" dirty="0">
                <a:solidFill>
                  <a:srgbClr val="57C968"/>
                </a:solidFill>
              </a:rPr>
              <a:t> </a:t>
            </a:r>
            <a:r>
              <a:rPr lang="en-US" sz="1200" spc="-50" noProof="1">
                <a:solidFill>
                  <a:srgbClr val="57C968"/>
                </a:solidFill>
                <a:cs typeface="TheSansMono M5"/>
              </a:rPr>
              <a:t>no risk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9335F77-CBBF-B24B-8F0A-85FCA257B10A}"/>
              </a:ext>
            </a:extLst>
          </p:cNvPr>
          <p:cNvCxnSpPr>
            <a:cxnSpLocks/>
          </p:cNvCxnSpPr>
          <p:nvPr/>
        </p:nvCxnSpPr>
        <p:spPr>
          <a:xfrm>
            <a:off x="5040951" y="2164896"/>
            <a:ext cx="720000" cy="0"/>
          </a:xfrm>
          <a:prstGeom prst="line">
            <a:avLst/>
          </a:prstGeom>
          <a:ln w="57150" cap="rnd">
            <a:solidFill>
              <a:srgbClr val="57C9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reeform 47">
            <a:extLst>
              <a:ext uri="{FF2B5EF4-FFF2-40B4-BE49-F238E27FC236}">
                <a16:creationId xmlns:a16="http://schemas.microsoft.com/office/drawing/2014/main" id="{91356441-694B-B541-8959-E690A83565FC}"/>
              </a:ext>
            </a:extLst>
          </p:cNvPr>
          <p:cNvSpPr/>
          <p:nvPr userDrawn="1"/>
        </p:nvSpPr>
        <p:spPr>
          <a:xfrm>
            <a:off x="529948" y="1793444"/>
            <a:ext cx="1078883" cy="721276"/>
          </a:xfrm>
          <a:custGeom>
            <a:avLst/>
            <a:gdLst>
              <a:gd name="connsiteX0" fmla="*/ 28050 w 1078883"/>
              <a:gd name="connsiteY0" fmla="*/ 0 h 721276"/>
              <a:gd name="connsiteX1" fmla="*/ 915239 w 1078883"/>
              <a:gd name="connsiteY1" fmla="*/ 0 h 721276"/>
              <a:gd name="connsiteX2" fmla="*/ 1078883 w 1078883"/>
              <a:gd name="connsiteY2" fmla="*/ 364710 h 721276"/>
              <a:gd name="connsiteX3" fmla="*/ 918893 w 1078883"/>
              <a:gd name="connsiteY3" fmla="*/ 721276 h 721276"/>
              <a:gd name="connsiteX4" fmla="*/ 28050 w 1078883"/>
              <a:gd name="connsiteY4" fmla="*/ 721276 h 721276"/>
              <a:gd name="connsiteX5" fmla="*/ 0 w 1078883"/>
              <a:gd name="connsiteY5" fmla="*/ 693226 h 721276"/>
              <a:gd name="connsiteX6" fmla="*/ 0 w 1078883"/>
              <a:gd name="connsiteY6" fmla="*/ 28050 h 721276"/>
              <a:gd name="connsiteX7" fmla="*/ 28050 w 1078883"/>
              <a:gd name="connsiteY7" fmla="*/ 0 h 721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78883" h="721276">
                <a:moveTo>
                  <a:pt x="28050" y="0"/>
                </a:moveTo>
                <a:lnTo>
                  <a:pt x="915239" y="0"/>
                </a:lnTo>
                <a:lnTo>
                  <a:pt x="1078883" y="364710"/>
                </a:lnTo>
                <a:lnTo>
                  <a:pt x="918893" y="721276"/>
                </a:lnTo>
                <a:lnTo>
                  <a:pt x="28050" y="721276"/>
                </a:lnTo>
                <a:cubicBezTo>
                  <a:pt x="12558" y="721276"/>
                  <a:pt x="0" y="708718"/>
                  <a:pt x="0" y="693226"/>
                </a:cubicBezTo>
                <a:lnTo>
                  <a:pt x="0" y="28050"/>
                </a:lnTo>
                <a:cubicBezTo>
                  <a:pt x="0" y="12558"/>
                  <a:pt x="12558" y="0"/>
                  <a:pt x="28050" y="0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25000"/>
                </a:schemeClr>
              </a:gs>
              <a:gs pos="100000">
                <a:schemeClr val="bg2">
                  <a:alpha val="0"/>
                </a:schemeClr>
              </a:gs>
            </a:gsLst>
            <a:lin ang="2700000" scaled="0"/>
          </a:gradFill>
          <a:ln w="9525">
            <a:solidFill>
              <a:schemeClr val="bg2">
                <a:alpha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50" name="AutoShape 5">
            <a:extLst>
              <a:ext uri="{FF2B5EF4-FFF2-40B4-BE49-F238E27FC236}">
                <a16:creationId xmlns:a16="http://schemas.microsoft.com/office/drawing/2014/main" id="{A85B6768-8DD0-3840-98FF-EA35442768A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29948" y="2082563"/>
            <a:ext cx="946336" cy="338554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square" lIns="36000" tIns="0" rIns="36000" bIns="0">
            <a:spAutoFit/>
          </a:bodyPr>
          <a:lstStyle/>
          <a:p>
            <a:pPr algn="ctr">
              <a:defRPr/>
            </a:pPr>
            <a:r>
              <a:rPr lang="en-US" sz="11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external</a:t>
            </a:r>
            <a:br>
              <a:rPr lang="en-US" sz="11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1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dependencies</a:t>
            </a:r>
            <a:endParaRPr lang="en-US" sz="1200" spc="-50" noProof="1">
              <a:solidFill>
                <a:schemeClr val="bg2"/>
              </a:solidFill>
              <a:cs typeface="TheSansMono M5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7CD0235-CB15-C949-BCBD-9E062FB24F3A}"/>
              </a:ext>
            </a:extLst>
          </p:cNvPr>
          <p:cNvSpPr/>
          <p:nvPr userDrawn="1"/>
        </p:nvSpPr>
        <p:spPr>
          <a:xfrm>
            <a:off x="6116295" y="730293"/>
            <a:ext cx="6075705" cy="61277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accent1"/>
              </a:solidFill>
            </a:endParaRP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C8989BBF-287E-B847-9CAC-6DA102EFBD4A}"/>
              </a:ext>
            </a:extLst>
          </p:cNvPr>
          <p:cNvSpPr>
            <a:spLocks noGrp="1"/>
          </p:cNvSpPr>
          <p:nvPr userDrawn="1">
            <p:ph sz="quarter" idx="13" hasCustomPrompt="1"/>
          </p:nvPr>
        </p:nvSpPr>
        <p:spPr>
          <a:xfrm>
            <a:off x="6420006" y="1368000"/>
            <a:ext cx="5326793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8FE26B8D-BD73-4444-8D0F-1248DE1DD5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7149" y="1816783"/>
            <a:ext cx="835106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EDC22544-D9BC-B244-939B-9E83862D4E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22570" y="1816783"/>
            <a:ext cx="734436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BB9C82F9-0A2D-9945-BB70-9C7924044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5172" y="1816783"/>
            <a:ext cx="760514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4F6EE5E4-7412-804B-AB0B-2612A9AEF1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80072" y="1816783"/>
            <a:ext cx="760514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20222DCE-C402-BC42-9510-1717F16DF89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98590" y="1816783"/>
            <a:ext cx="776867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57C968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3B0C8CF-791F-18E5-4333-1B6A84495D38}"/>
              </a:ext>
            </a:extLst>
          </p:cNvPr>
          <p:cNvCxnSpPr>
            <a:cxnSpLocks/>
          </p:cNvCxnSpPr>
          <p:nvPr userDrawn="1"/>
        </p:nvCxnSpPr>
        <p:spPr>
          <a:xfrm>
            <a:off x="1696774" y="2159781"/>
            <a:ext cx="720000" cy="0"/>
          </a:xfrm>
          <a:prstGeom prst="line">
            <a:avLst/>
          </a:prstGeom>
          <a:ln w="57150" cap="rnd">
            <a:solidFill>
              <a:srgbClr val="9107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5">
            <a:extLst>
              <a:ext uri="{FF2B5EF4-FFF2-40B4-BE49-F238E27FC236}">
                <a16:creationId xmlns:a16="http://schemas.microsoft.com/office/drawing/2014/main" id="{D8BC2DDE-6625-F621-EC94-783A87A7B4F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63674" y="2238104"/>
            <a:ext cx="770084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910714"/>
                </a:solidFill>
                <a:cs typeface="TheSansMono M5"/>
              </a:rPr>
              <a:t>critical risk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AAE3B6A-A32C-2E31-61A0-D3B86C8941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85476" y="1811668"/>
            <a:ext cx="734436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46E4A2-084F-9B55-1A76-59A9E48860A4}"/>
              </a:ext>
            </a:extLst>
          </p:cNvPr>
          <p:cNvSpPr txBox="1"/>
          <p:nvPr userDrawn="1"/>
        </p:nvSpPr>
        <p:spPr>
          <a:xfrm>
            <a:off x="-143206" y="5881381"/>
            <a:ext cx="2549071" cy="289438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200" dirty="0">
                <a:solidFill>
                  <a:schemeClr val="tx1">
                    <a:lumMod val="60000"/>
                    <a:lumOff val="40000"/>
                    <a:alpha val="50000"/>
                  </a:schemeClr>
                </a:solidFill>
              </a:rPr>
              <a:t>Number of dependencies: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4748B4A-7DD2-00DB-AD86-FD93B244FC19}"/>
              </a:ext>
            </a:extLst>
          </p:cNvPr>
          <p:cNvGrpSpPr/>
          <p:nvPr userDrawn="1"/>
        </p:nvGrpSpPr>
        <p:grpSpPr>
          <a:xfrm>
            <a:off x="184167" y="2938848"/>
            <a:ext cx="2176758" cy="478914"/>
            <a:chOff x="184167" y="2938848"/>
            <a:chExt cx="2176758" cy="478914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FD8BF416-6FD7-D2A6-2D79-58E7A1832B0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132325" y="3145777"/>
              <a:ext cx="228600" cy="2286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8FA3170-93BB-C32C-D469-8D7B377640BD}"/>
                </a:ext>
              </a:extLst>
            </p:cNvPr>
            <p:cNvSpPr txBox="1"/>
            <p:nvPr userDrawn="1"/>
          </p:nvSpPr>
          <p:spPr>
            <a:xfrm>
              <a:off x="184167" y="2938848"/>
              <a:ext cx="1930982" cy="4789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80000"/>
                </a:lnSpc>
              </a:pPr>
              <a:r>
                <a:rPr lang="en-US" sz="1600" b="1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vulnerability </a:t>
              </a:r>
              <a:r>
                <a:rPr lang="en-US" sz="160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5DD96C8-3ACF-1DFF-CF73-0AF5F066614E}"/>
              </a:ext>
            </a:extLst>
          </p:cNvPr>
          <p:cNvGrpSpPr/>
          <p:nvPr userDrawn="1"/>
        </p:nvGrpSpPr>
        <p:grpSpPr>
          <a:xfrm>
            <a:off x="1016807" y="3564280"/>
            <a:ext cx="1344118" cy="423514"/>
            <a:chOff x="1016807" y="3564280"/>
            <a:chExt cx="1344118" cy="423514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5D59CE77-F471-DC75-C135-1DA00EA336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132325" y="3703034"/>
              <a:ext cx="228600" cy="2286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AB1C286-E53F-9CE4-4C64-B0026A68614C}"/>
                </a:ext>
              </a:extLst>
            </p:cNvPr>
            <p:cNvSpPr txBox="1"/>
            <p:nvPr userDrawn="1"/>
          </p:nvSpPr>
          <p:spPr>
            <a:xfrm>
              <a:off x="1016807" y="3564280"/>
              <a:ext cx="1098342" cy="4235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US" sz="1600" b="1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legal </a:t>
              </a:r>
              <a:r>
                <a:rPr lang="en-US" sz="160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3B04AA6-0170-8ABA-260D-D0032728A162}"/>
              </a:ext>
            </a:extLst>
          </p:cNvPr>
          <p:cNvGrpSpPr/>
          <p:nvPr userDrawn="1"/>
        </p:nvGrpSpPr>
        <p:grpSpPr>
          <a:xfrm>
            <a:off x="283779" y="4213198"/>
            <a:ext cx="2077146" cy="276999"/>
            <a:chOff x="283779" y="4213198"/>
            <a:chExt cx="2077146" cy="276999"/>
          </a:xfrm>
        </p:grpSpPr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54275B3F-AB3B-D0D7-E66A-918FA53CB79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32325" y="4260843"/>
              <a:ext cx="228600" cy="228600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AED634E-2496-806E-376D-3C44D5DAEAD1}"/>
                </a:ext>
              </a:extLst>
            </p:cNvPr>
            <p:cNvSpPr txBox="1"/>
            <p:nvPr userDrawn="1"/>
          </p:nvSpPr>
          <p:spPr>
            <a:xfrm>
              <a:off x="283779" y="4213198"/>
              <a:ext cx="183137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freshness risk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93FE0FE-23FE-D4C7-7966-960B2D6BD3D4}"/>
              </a:ext>
            </a:extLst>
          </p:cNvPr>
          <p:cNvGrpSpPr/>
          <p:nvPr userDrawn="1"/>
        </p:nvGrpSpPr>
        <p:grpSpPr>
          <a:xfrm>
            <a:off x="763256" y="4628191"/>
            <a:ext cx="1597669" cy="307777"/>
            <a:chOff x="763256" y="4610126"/>
            <a:chExt cx="1597669" cy="307777"/>
          </a:xfrm>
        </p:grpSpPr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A884E1D2-68C4-CC99-6761-4E51BA139A5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132325" y="4671752"/>
              <a:ext cx="228600" cy="228600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B637B0B-B9F7-C45A-A2CD-E4236903CA44}"/>
                </a:ext>
              </a:extLst>
            </p:cNvPr>
            <p:cNvSpPr txBox="1"/>
            <p:nvPr userDrawn="1"/>
          </p:nvSpPr>
          <p:spPr>
            <a:xfrm>
              <a:off x="763256" y="4610126"/>
              <a:ext cx="135189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stability</a:t>
              </a:r>
              <a:r>
                <a:rPr lang="en-US" sz="14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 </a:t>
              </a: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DDEE55D-85C5-F1E0-82C9-656E14C98A45}"/>
              </a:ext>
            </a:extLst>
          </p:cNvPr>
          <p:cNvGrpSpPr/>
          <p:nvPr userDrawn="1"/>
        </p:nvGrpSpPr>
        <p:grpSpPr>
          <a:xfrm>
            <a:off x="632049" y="5073962"/>
            <a:ext cx="1728876" cy="276999"/>
            <a:chOff x="632049" y="5033912"/>
            <a:chExt cx="1728876" cy="276999"/>
          </a:xfrm>
        </p:grpSpPr>
        <p:pic>
          <p:nvPicPr>
            <p:cNvPr id="49" name="Graphic 48">
              <a:extLst>
                <a:ext uri="{FF2B5EF4-FFF2-40B4-BE49-F238E27FC236}">
                  <a16:creationId xmlns:a16="http://schemas.microsoft.com/office/drawing/2014/main" id="{638CBB33-3CAC-D4D4-95F0-E601E9651F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132325" y="5075030"/>
              <a:ext cx="228600" cy="228600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EBE0748-E831-C177-8482-1AD9D7C8020A}"/>
                </a:ext>
              </a:extLst>
            </p:cNvPr>
            <p:cNvSpPr txBox="1"/>
            <p:nvPr userDrawn="1"/>
          </p:nvSpPr>
          <p:spPr>
            <a:xfrm>
              <a:off x="632049" y="5033912"/>
              <a:ext cx="14831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management risk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2F96D4F-7882-8E1E-059F-CF281133C60A}"/>
              </a:ext>
            </a:extLst>
          </p:cNvPr>
          <p:cNvGrpSpPr/>
          <p:nvPr userDrawn="1"/>
        </p:nvGrpSpPr>
        <p:grpSpPr>
          <a:xfrm>
            <a:off x="708077" y="5488955"/>
            <a:ext cx="1652848" cy="276999"/>
            <a:chOff x="708077" y="5488955"/>
            <a:chExt cx="1652848" cy="276999"/>
          </a:xfrm>
        </p:grpSpPr>
        <p:pic>
          <p:nvPicPr>
            <p:cNvPr id="59" name="Graphic 58">
              <a:extLst>
                <a:ext uri="{FF2B5EF4-FFF2-40B4-BE49-F238E27FC236}">
                  <a16:creationId xmlns:a16="http://schemas.microsoft.com/office/drawing/2014/main" id="{1A99E526-2AFE-852A-F382-C92035CEFB7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132325" y="5517723"/>
              <a:ext cx="228600" cy="228600"/>
            </a:xfrm>
            <a:prstGeom prst="rect">
              <a:avLst/>
            </a:prstGeom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64638D2F-CAB2-BA06-872A-ED7C6CD060EB}"/>
                </a:ext>
              </a:extLst>
            </p:cNvPr>
            <p:cNvSpPr txBox="1"/>
            <p:nvPr userDrawn="1"/>
          </p:nvSpPr>
          <p:spPr>
            <a:xfrm>
              <a:off x="708077" y="5488955"/>
              <a:ext cx="140707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activity risk</a:t>
              </a:r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DA66A356-888B-5B88-7541-A81781B37E16}"/>
              </a:ext>
            </a:extLst>
          </p:cNvPr>
          <p:cNvSpPr txBox="1"/>
          <p:nvPr userDrawn="1"/>
        </p:nvSpPr>
        <p:spPr>
          <a:xfrm>
            <a:off x="1972649" y="2655839"/>
            <a:ext cx="1152452" cy="28943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NL" sz="1200" b="1" i="0" dirty="0">
                <a:solidFill>
                  <a:srgbClr val="C1C7CF"/>
                </a:solidFill>
              </a:rPr>
              <a:t>Risk categories</a:t>
            </a:r>
          </a:p>
        </p:txBody>
      </p:sp>
    </p:spTree>
    <p:extLst>
      <p:ext uri="{BB962C8B-B14F-4D97-AF65-F5344CB8AC3E}">
        <p14:creationId xmlns:p14="http://schemas.microsoft.com/office/powerpoint/2010/main" val="784851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Relationship Id="rId21" Type="http://schemas.openxmlformats.org/officeDocument/2006/relationships/hyperlink" Target="https://wiki.sig.eu/confluence/x/JoDbC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CDFA920-C997-D084-6D6F-20383567486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77137826"/>
              </p:ext>
            </p:extLst>
          </p:nvPr>
        </p:nvGraphicFramePr>
        <p:xfrm>
          <a:off x="12294145" y="1986729"/>
          <a:ext cx="1440000" cy="23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">
                  <a:extLst>
                    <a:ext uri="{9D8B030D-6E8A-4147-A177-3AD203B41FA5}">
                      <a16:colId xmlns:a16="http://schemas.microsoft.com/office/drawing/2014/main" val="355718378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87131648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2550956232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391318227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266216837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609036797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687972093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474073916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186812505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855898394"/>
                    </a:ext>
                  </a:extLst>
                </a:gridCol>
              </a:tblGrid>
              <a:tr h="288000"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64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97C8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BEC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1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6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771366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6575328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64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D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36AA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159491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70536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D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36AA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1587105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C22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EC5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91B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CD5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552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2382331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818685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F7E16D"/>
                        </a:gs>
                        <a:gs pos="100000">
                          <a:srgbClr val="E0C223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100000">
                          <a:srgbClr val="6AD6E5"/>
                        </a:gs>
                        <a:gs pos="0">
                          <a:srgbClr val="04ABC8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AA98C3"/>
                        </a:gs>
                        <a:gs pos="100000">
                          <a:srgbClr val="6076BA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C5CD59"/>
                        </a:gs>
                        <a:gs pos="100000">
                          <a:srgbClr val="9DA43C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EB935C"/>
                        </a:gs>
                        <a:gs pos="35000">
                          <a:srgbClr val="D65200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60244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E16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C22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D6E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ABC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A98C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76B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CD5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DA43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935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871530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0424333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4A3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981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C64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7C96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6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488421"/>
                  </a:ext>
                </a:extLst>
              </a:tr>
            </a:tbl>
          </a:graphicData>
        </a:graphic>
      </p:graphicFrame>
      <p:sp>
        <p:nvSpPr>
          <p:cNvPr id="5" name="TextBox 4">
            <a:hlinkClick r:id="rId21"/>
            <a:extLst>
              <a:ext uri="{FF2B5EF4-FFF2-40B4-BE49-F238E27FC236}">
                <a16:creationId xmlns:a16="http://schemas.microsoft.com/office/drawing/2014/main" id="{97451D23-9484-A5AC-6DE0-B05B1E0505F7}"/>
              </a:ext>
            </a:extLst>
          </p:cNvPr>
          <p:cNvSpPr txBox="1"/>
          <p:nvPr userDrawn="1"/>
        </p:nvSpPr>
        <p:spPr>
          <a:xfrm>
            <a:off x="12260945" y="4406201"/>
            <a:ext cx="1574597" cy="43319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9B9A87"/>
              </a:buClr>
              <a:buSzPct val="100000"/>
              <a:buFont typeface="+mj-lt"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 Bold"/>
                <a:ea typeface="+mn-ea"/>
                <a:cs typeface="+mn-cs"/>
              </a:rPr>
              <a:t>Master template version: </a:t>
            </a:r>
          </a:p>
          <a:p>
            <a:pPr marL="0" marR="0" lvl="0" indent="0" algn="l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9B9A87"/>
              </a:buClr>
              <a:buSzPct val="100000"/>
              <a:buFont typeface="+mj-lt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 Regular"/>
                <a:ea typeface="+mn-ea"/>
                <a:cs typeface="+mn-cs"/>
              </a:rPr>
              <a:t>v20220729</a:t>
            </a:r>
            <a:endParaRPr lang="en-US" sz="1000" b="0" i="0" dirty="0">
              <a:solidFill>
                <a:schemeClr val="tx1">
                  <a:lumMod val="60000"/>
                  <a:lumOff val="40000"/>
                </a:schemeClr>
              </a:solidFill>
              <a:latin typeface="Calibri Regular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9FC6F2-3923-4241-B710-1B30D0874A09}"/>
              </a:ext>
            </a:extLst>
          </p:cNvPr>
          <p:cNvSpPr/>
          <p:nvPr userDrawn="1"/>
        </p:nvSpPr>
        <p:spPr>
          <a:xfrm>
            <a:off x="0" y="-1"/>
            <a:ext cx="12192000" cy="686595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F04000-FB3A-6842-9B07-0251B414D6E4}"/>
              </a:ext>
            </a:extLst>
          </p:cNvPr>
          <p:cNvSpPr/>
          <p:nvPr userDrawn="1"/>
        </p:nvSpPr>
        <p:spPr>
          <a:xfrm>
            <a:off x="1526401" y="0"/>
            <a:ext cx="10665600" cy="856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3798" y="1360359"/>
            <a:ext cx="11231962" cy="49717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800" y="277200"/>
            <a:ext cx="9810000" cy="284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>
            <a:spAutoFit/>
          </a:bodyPr>
          <a:lstStyle>
            <a:lvl1pPr algn="r">
              <a:defRPr lang="en-US" sz="1000" b="1" spc="10" smtClean="0">
                <a:solidFill>
                  <a:srgbClr val="B3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068D9D8-6BDF-E84E-92C4-860CA2E281CA}"/>
              </a:ext>
            </a:extLst>
          </p:cNvPr>
          <p:cNvSpPr txBox="1"/>
          <p:nvPr userDrawn="1"/>
        </p:nvSpPr>
        <p:spPr>
          <a:xfrm>
            <a:off x="-1228363" y="-303006"/>
            <a:ext cx="1228362" cy="1658286"/>
          </a:xfrm>
          <a:prstGeom prst="rect">
            <a:avLst/>
          </a:prstGeom>
          <a:gradFill>
            <a:gsLst>
              <a:gs pos="53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2400000" scaled="0"/>
          </a:gradFill>
        </p:spPr>
        <p:txBody>
          <a:bodyPr wrap="square" rtlCol="0" anchor="b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 HERE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66DECB5-D39A-5146-B4F8-F6AE03D6367F}"/>
              </a:ext>
            </a:extLst>
          </p:cNvPr>
          <p:cNvSpPr txBox="1"/>
          <p:nvPr userDrawn="1"/>
        </p:nvSpPr>
        <p:spPr>
          <a:xfrm>
            <a:off x="-301318" y="-372507"/>
            <a:ext cx="826141" cy="369332"/>
          </a:xfrm>
          <a:prstGeom prst="rect">
            <a:avLst/>
          </a:prstGeom>
          <a:gradFill>
            <a:gsLst>
              <a:gs pos="60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30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    HERE</a:t>
            </a:r>
          </a:p>
        </p:txBody>
      </p:sp>
      <p:sp>
        <p:nvSpPr>
          <p:cNvPr id="80" name="Triangle 79">
            <a:extLst>
              <a:ext uri="{FF2B5EF4-FFF2-40B4-BE49-F238E27FC236}">
                <a16:creationId xmlns:a16="http://schemas.microsoft.com/office/drawing/2014/main" id="{F11C372E-FF74-1C46-AC9A-9C6FAC6B5901}"/>
              </a:ext>
            </a:extLst>
          </p:cNvPr>
          <p:cNvSpPr/>
          <p:nvPr userDrawn="1"/>
        </p:nvSpPr>
        <p:spPr>
          <a:xfrm rot="16200000">
            <a:off x="313381" y="-158834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Freeform 80">
            <a:extLst>
              <a:ext uri="{FF2B5EF4-FFF2-40B4-BE49-F238E27FC236}">
                <a16:creationId xmlns:a16="http://schemas.microsoft.com/office/drawing/2014/main" id="{C37BE910-150E-F547-AA99-B012E5B28DE1}"/>
              </a:ext>
            </a:extLst>
          </p:cNvPr>
          <p:cNvSpPr/>
          <p:nvPr userDrawn="1"/>
        </p:nvSpPr>
        <p:spPr>
          <a:xfrm>
            <a:off x="12191262" y="1535801"/>
            <a:ext cx="1644280" cy="360000"/>
          </a:xfrm>
          <a:custGeom>
            <a:avLst/>
            <a:gdLst>
              <a:gd name="connsiteX0" fmla="*/ 0 w 1644280"/>
              <a:gd name="connsiteY0" fmla="*/ 0 h 360000"/>
              <a:gd name="connsiteX1" fmla="*/ 1584279 w 1644280"/>
              <a:gd name="connsiteY1" fmla="*/ 0 h 360000"/>
              <a:gd name="connsiteX2" fmla="*/ 1644280 w 1644280"/>
              <a:gd name="connsiteY2" fmla="*/ 60001 h 360000"/>
              <a:gd name="connsiteX3" fmla="*/ 1644280 w 1644280"/>
              <a:gd name="connsiteY3" fmla="*/ 299999 h 360000"/>
              <a:gd name="connsiteX4" fmla="*/ 1584279 w 1644280"/>
              <a:gd name="connsiteY4" fmla="*/ 360000 h 360000"/>
              <a:gd name="connsiteX5" fmla="*/ 0 w 1644280"/>
              <a:gd name="connsiteY5" fmla="*/ 360000 h 3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44280" h="360000">
                <a:moveTo>
                  <a:pt x="0" y="0"/>
                </a:moveTo>
                <a:lnTo>
                  <a:pt x="1584279" y="0"/>
                </a:lnTo>
                <a:cubicBezTo>
                  <a:pt x="1617417" y="0"/>
                  <a:pt x="1644280" y="26863"/>
                  <a:pt x="1644280" y="60001"/>
                </a:cubicBezTo>
                <a:lnTo>
                  <a:pt x="1644280" y="299999"/>
                </a:lnTo>
                <a:cubicBezTo>
                  <a:pt x="1644280" y="333137"/>
                  <a:pt x="1617417" y="360000"/>
                  <a:pt x="1584279" y="360000"/>
                </a:cubicBezTo>
                <a:lnTo>
                  <a:pt x="0" y="360000"/>
                </a:lnTo>
                <a:close/>
              </a:path>
            </a:pathLst>
          </a:custGeom>
          <a:gradFill>
            <a:gsLst>
              <a:gs pos="100000">
                <a:schemeClr val="accent1">
                  <a:alpha val="85000"/>
                </a:schemeClr>
              </a:gs>
              <a:gs pos="4000">
                <a:schemeClr val="accent1">
                  <a:alpha val="70000"/>
                </a:schemeClr>
              </a:gs>
              <a:gs pos="0">
                <a:srgbClr val="17323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0" rtlCol="0" anchor="ctr">
            <a:noAutofit/>
          </a:bodyPr>
          <a:lstStyle/>
          <a:p>
            <a:pPr lvl="0"/>
            <a:r>
              <a:rPr lang="en-US" sz="1000" b="1" i="0" dirty="0">
                <a:solidFill>
                  <a:schemeClr val="bg1"/>
                </a:solidFill>
                <a:latin typeface="Calibri Bold"/>
              </a:rPr>
              <a:t>SIG COLOR </a:t>
            </a:r>
            <a:r>
              <a:rPr lang="en-US" sz="1000" b="0" i="0" dirty="0">
                <a:solidFill>
                  <a:schemeClr val="bg1"/>
                </a:solidFill>
                <a:latin typeface="Calibri Bold"/>
              </a:rPr>
              <a:t>PALETTE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0CBF917-BBFA-154F-AE49-00C72A97DC4D}"/>
              </a:ext>
            </a:extLst>
          </p:cNvPr>
          <p:cNvSpPr txBox="1"/>
          <p:nvPr userDrawn="1"/>
        </p:nvSpPr>
        <p:spPr>
          <a:xfrm>
            <a:off x="12261348" y="3358336"/>
            <a:ext cx="1432427" cy="268253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Gradients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3190199-C1C2-0549-B59C-931BCAB1B18A}"/>
              </a:ext>
            </a:extLst>
          </p:cNvPr>
          <p:cNvSpPr txBox="1"/>
          <p:nvPr userDrawn="1"/>
        </p:nvSpPr>
        <p:spPr>
          <a:xfrm>
            <a:off x="12261350" y="1990137"/>
            <a:ext cx="777584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Grey tones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A2C8420-18BB-7B4C-A8CE-24531816B381}"/>
              </a:ext>
            </a:extLst>
          </p:cNvPr>
          <p:cNvSpPr txBox="1"/>
          <p:nvPr userDrawn="1"/>
        </p:nvSpPr>
        <p:spPr>
          <a:xfrm>
            <a:off x="12255293" y="2341826"/>
            <a:ext cx="1914733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Text colors light bg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0C230F0-D526-6C4F-9E43-2F708FEF06D1}"/>
              </a:ext>
            </a:extLst>
          </p:cNvPr>
          <p:cNvSpPr txBox="1"/>
          <p:nvPr userDrawn="1"/>
        </p:nvSpPr>
        <p:spPr>
          <a:xfrm>
            <a:off x="12255293" y="2703535"/>
            <a:ext cx="1478852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Adjusted PPT colors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66F376A-0B7A-B448-B37D-0C09B74FA9CF}"/>
              </a:ext>
            </a:extLst>
          </p:cNvPr>
          <p:cNvSpPr txBox="1"/>
          <p:nvPr userDrawn="1"/>
        </p:nvSpPr>
        <p:spPr>
          <a:xfrm>
            <a:off x="12299254" y="2974539"/>
            <a:ext cx="1316722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Default SIG colors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446E0B7-64D4-2F4F-AD07-A36525F701FD}"/>
              </a:ext>
            </a:extLst>
          </p:cNvPr>
          <p:cNvSpPr txBox="1"/>
          <p:nvPr userDrawn="1"/>
        </p:nvSpPr>
        <p:spPr>
          <a:xfrm>
            <a:off x="12255294" y="4008901"/>
            <a:ext cx="1003261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 dirty="0">
                <a:solidFill>
                  <a:schemeClr val="bg1"/>
                </a:solidFill>
                <a:latin typeface="Calibri Bold"/>
              </a:rPr>
              <a:t>Signal colors</a:t>
            </a:r>
          </a:p>
        </p:txBody>
      </p:sp>
      <p:sp>
        <p:nvSpPr>
          <p:cNvPr id="94" name="Triangle 93">
            <a:extLst>
              <a:ext uri="{FF2B5EF4-FFF2-40B4-BE49-F238E27FC236}">
                <a16:creationId xmlns:a16="http://schemas.microsoft.com/office/drawing/2014/main" id="{95EA91EB-DF88-DC4C-8867-A6E89E2C68C6}"/>
              </a:ext>
            </a:extLst>
          </p:cNvPr>
          <p:cNvSpPr/>
          <p:nvPr userDrawn="1"/>
        </p:nvSpPr>
        <p:spPr>
          <a:xfrm>
            <a:off x="-178692" y="1203286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23730BB1-9B79-EB43-8C9B-DD4E1F8DAD52}"/>
              </a:ext>
            </a:extLst>
          </p:cNvPr>
          <p:cNvCxnSpPr>
            <a:cxnSpLocks/>
          </p:cNvCxnSpPr>
          <p:nvPr userDrawn="1"/>
        </p:nvCxnSpPr>
        <p:spPr>
          <a:xfrm>
            <a:off x="517893" y="-299831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6F3CBACC-10D2-674D-8DF2-97BE380A1038}"/>
              </a:ext>
            </a:extLst>
          </p:cNvPr>
          <p:cNvCxnSpPr>
            <a:cxnSpLocks/>
          </p:cNvCxnSpPr>
          <p:nvPr userDrawn="1"/>
        </p:nvCxnSpPr>
        <p:spPr>
          <a:xfrm flipH="1">
            <a:off x="-1179871" y="1352986"/>
            <a:ext cx="1169712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58AB2E3C-062E-554B-991E-0F04B3480EAB}"/>
              </a:ext>
            </a:extLst>
          </p:cNvPr>
          <p:cNvSpPr txBox="1"/>
          <p:nvPr userDrawn="1"/>
        </p:nvSpPr>
        <p:spPr>
          <a:xfrm>
            <a:off x="-1228363" y="6332096"/>
            <a:ext cx="1228362" cy="533854"/>
          </a:xfrm>
          <a:prstGeom prst="rect">
            <a:avLst/>
          </a:prstGeom>
          <a:gradFill>
            <a:gsLst>
              <a:gs pos="56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8000000" scaled="0"/>
          </a:gradFill>
        </p:spPr>
        <p:txBody>
          <a:bodyPr wrap="square" rtlCol="0" anchor="t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 HERE</a:t>
            </a:r>
          </a:p>
        </p:txBody>
      </p:sp>
      <p:sp>
        <p:nvSpPr>
          <p:cNvPr id="98" name="Triangle 97">
            <a:extLst>
              <a:ext uri="{FF2B5EF4-FFF2-40B4-BE49-F238E27FC236}">
                <a16:creationId xmlns:a16="http://schemas.microsoft.com/office/drawing/2014/main" id="{11579231-7E59-274F-85B7-5EF4619636F1}"/>
              </a:ext>
            </a:extLst>
          </p:cNvPr>
          <p:cNvSpPr/>
          <p:nvPr userDrawn="1"/>
        </p:nvSpPr>
        <p:spPr>
          <a:xfrm flipV="1">
            <a:off x="-178692" y="6408014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5E706FE-9CC7-DB4A-94D2-5B4F0983B282}"/>
              </a:ext>
            </a:extLst>
          </p:cNvPr>
          <p:cNvCxnSpPr>
            <a:cxnSpLocks/>
          </p:cNvCxnSpPr>
          <p:nvPr userDrawn="1"/>
        </p:nvCxnSpPr>
        <p:spPr>
          <a:xfrm flipH="1">
            <a:off x="-1179871" y="6336930"/>
            <a:ext cx="1169712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A2D8030A-24DD-F24C-B561-91D005086F32}"/>
              </a:ext>
            </a:extLst>
          </p:cNvPr>
          <p:cNvSpPr txBox="1"/>
          <p:nvPr userDrawn="1"/>
        </p:nvSpPr>
        <p:spPr>
          <a:xfrm>
            <a:off x="-301318" y="6865950"/>
            <a:ext cx="826141" cy="369332"/>
          </a:xfrm>
          <a:prstGeom prst="rect">
            <a:avLst/>
          </a:prstGeom>
          <a:gradFill>
            <a:gsLst>
              <a:gs pos="72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89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    HERE</a:t>
            </a:r>
          </a:p>
        </p:txBody>
      </p:sp>
      <p:sp>
        <p:nvSpPr>
          <p:cNvPr id="101" name="Triangle 100">
            <a:extLst>
              <a:ext uri="{FF2B5EF4-FFF2-40B4-BE49-F238E27FC236}">
                <a16:creationId xmlns:a16="http://schemas.microsoft.com/office/drawing/2014/main" id="{FAF50A31-8A21-194A-AACD-F93E3F7DDBA2}"/>
              </a:ext>
            </a:extLst>
          </p:cNvPr>
          <p:cNvSpPr/>
          <p:nvPr userDrawn="1"/>
        </p:nvSpPr>
        <p:spPr>
          <a:xfrm rot="16200000">
            <a:off x="313381" y="7083822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EA568D93-8F76-1F47-8432-E5BA84BD883F}"/>
              </a:ext>
            </a:extLst>
          </p:cNvPr>
          <p:cNvCxnSpPr>
            <a:cxnSpLocks/>
          </p:cNvCxnSpPr>
          <p:nvPr userDrawn="1"/>
        </p:nvCxnSpPr>
        <p:spPr>
          <a:xfrm>
            <a:off x="517893" y="6887674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CA5E9F19-F0DD-8D49-906A-3B4B9F498BE0}"/>
              </a:ext>
            </a:extLst>
          </p:cNvPr>
          <p:cNvSpPr txBox="1"/>
          <p:nvPr userDrawn="1"/>
        </p:nvSpPr>
        <p:spPr>
          <a:xfrm>
            <a:off x="12197109" y="-7624"/>
            <a:ext cx="1256301" cy="1362904"/>
          </a:xfrm>
          <a:prstGeom prst="rect">
            <a:avLst/>
          </a:prstGeom>
          <a:gradFill>
            <a:gsLst>
              <a:gs pos="53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8400000" scaled="0"/>
          </a:gradFill>
        </p:spPr>
        <p:txBody>
          <a:bodyPr wrap="square" rtlCol="0" anchor="b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NO CONTENT HERE</a:t>
            </a:r>
          </a:p>
        </p:txBody>
      </p:sp>
      <p:sp>
        <p:nvSpPr>
          <p:cNvPr id="104" name="Triangle 103">
            <a:extLst>
              <a:ext uri="{FF2B5EF4-FFF2-40B4-BE49-F238E27FC236}">
                <a16:creationId xmlns:a16="http://schemas.microsoft.com/office/drawing/2014/main" id="{26D0B294-32A3-6E48-A0F8-F348E1C5475D}"/>
              </a:ext>
            </a:extLst>
          </p:cNvPr>
          <p:cNvSpPr/>
          <p:nvPr userDrawn="1"/>
        </p:nvSpPr>
        <p:spPr>
          <a:xfrm>
            <a:off x="12278571" y="1203286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25C59B47-1A1E-E048-B3C7-1674CBF00BA4}"/>
              </a:ext>
            </a:extLst>
          </p:cNvPr>
          <p:cNvCxnSpPr>
            <a:cxnSpLocks/>
          </p:cNvCxnSpPr>
          <p:nvPr userDrawn="1"/>
        </p:nvCxnSpPr>
        <p:spPr>
          <a:xfrm flipH="1">
            <a:off x="12206176" y="1352986"/>
            <a:ext cx="1141114" cy="1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31C1F5FB-91A2-734D-A19C-C1FBD5BA6428}"/>
              </a:ext>
            </a:extLst>
          </p:cNvPr>
          <p:cNvSpPr txBox="1"/>
          <p:nvPr userDrawn="1"/>
        </p:nvSpPr>
        <p:spPr>
          <a:xfrm>
            <a:off x="12197109" y="6332096"/>
            <a:ext cx="1256301" cy="533854"/>
          </a:xfrm>
          <a:prstGeom prst="rect">
            <a:avLst/>
          </a:prstGeom>
          <a:gradFill>
            <a:gsLst>
              <a:gs pos="56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4400000" scaled="0"/>
          </a:gradFill>
        </p:spPr>
        <p:txBody>
          <a:bodyPr wrap="square" rtlCol="0" anchor="t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NO CONTENT HERE</a:t>
            </a:r>
          </a:p>
        </p:txBody>
      </p:sp>
      <p:sp>
        <p:nvSpPr>
          <p:cNvPr id="107" name="Triangle 106">
            <a:extLst>
              <a:ext uri="{FF2B5EF4-FFF2-40B4-BE49-F238E27FC236}">
                <a16:creationId xmlns:a16="http://schemas.microsoft.com/office/drawing/2014/main" id="{DE0C5951-F714-9C44-8682-C724B5FE1100}"/>
              </a:ext>
            </a:extLst>
          </p:cNvPr>
          <p:cNvSpPr/>
          <p:nvPr userDrawn="1"/>
        </p:nvSpPr>
        <p:spPr>
          <a:xfrm flipV="1">
            <a:off x="12278571" y="6408014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1B6EB480-EA98-0A40-89A3-61F487FE4C85}"/>
              </a:ext>
            </a:extLst>
          </p:cNvPr>
          <p:cNvCxnSpPr>
            <a:cxnSpLocks/>
          </p:cNvCxnSpPr>
          <p:nvPr userDrawn="1"/>
        </p:nvCxnSpPr>
        <p:spPr>
          <a:xfrm flipH="1">
            <a:off x="12206176" y="6329115"/>
            <a:ext cx="1133740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6D8FDB07-3CA8-1B45-A406-77809CF8B74B}"/>
              </a:ext>
            </a:extLst>
          </p:cNvPr>
          <p:cNvSpPr txBox="1"/>
          <p:nvPr userDrawn="1"/>
        </p:nvSpPr>
        <p:spPr>
          <a:xfrm>
            <a:off x="11753369" y="-369332"/>
            <a:ext cx="826141" cy="369332"/>
          </a:xfrm>
          <a:prstGeom prst="rect">
            <a:avLst/>
          </a:prstGeom>
          <a:gradFill>
            <a:gsLst>
              <a:gs pos="72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84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HERE</a:t>
            </a:r>
          </a:p>
        </p:txBody>
      </p:sp>
      <p:sp>
        <p:nvSpPr>
          <p:cNvPr id="110" name="Triangle 109">
            <a:extLst>
              <a:ext uri="{FF2B5EF4-FFF2-40B4-BE49-F238E27FC236}">
                <a16:creationId xmlns:a16="http://schemas.microsoft.com/office/drawing/2014/main" id="{3B56AC1A-0522-8447-B54E-A3B921BE61CA}"/>
              </a:ext>
            </a:extLst>
          </p:cNvPr>
          <p:cNvSpPr/>
          <p:nvPr userDrawn="1"/>
        </p:nvSpPr>
        <p:spPr>
          <a:xfrm rot="5400000" flipH="1">
            <a:off x="11831127" y="-158835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297B4272-1DA3-CD44-8357-76391CEA3A5F}"/>
              </a:ext>
            </a:extLst>
          </p:cNvPr>
          <p:cNvCxnSpPr>
            <a:cxnSpLocks/>
          </p:cNvCxnSpPr>
          <p:nvPr userDrawn="1"/>
        </p:nvCxnSpPr>
        <p:spPr>
          <a:xfrm>
            <a:off x="11748091" y="-303006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38127C6C-4883-104A-B1C6-B43ADDFA08D8}"/>
              </a:ext>
            </a:extLst>
          </p:cNvPr>
          <p:cNvSpPr txBox="1"/>
          <p:nvPr userDrawn="1"/>
        </p:nvSpPr>
        <p:spPr>
          <a:xfrm>
            <a:off x="11753369" y="6873324"/>
            <a:ext cx="826141" cy="369332"/>
          </a:xfrm>
          <a:prstGeom prst="rect">
            <a:avLst/>
          </a:prstGeom>
          <a:gradFill>
            <a:gsLst>
              <a:gs pos="72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32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HERE</a:t>
            </a:r>
          </a:p>
        </p:txBody>
      </p:sp>
      <p:sp>
        <p:nvSpPr>
          <p:cNvPr id="113" name="Triangle 112">
            <a:extLst>
              <a:ext uri="{FF2B5EF4-FFF2-40B4-BE49-F238E27FC236}">
                <a16:creationId xmlns:a16="http://schemas.microsoft.com/office/drawing/2014/main" id="{5E23F091-2253-9A46-A773-B6E33A4E19DA}"/>
              </a:ext>
            </a:extLst>
          </p:cNvPr>
          <p:cNvSpPr/>
          <p:nvPr userDrawn="1"/>
        </p:nvSpPr>
        <p:spPr>
          <a:xfrm rot="5400000" flipH="1">
            <a:off x="11831127" y="7083821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ED939B88-4AB8-874C-A524-9CF7AB4C7AE2}"/>
              </a:ext>
            </a:extLst>
          </p:cNvPr>
          <p:cNvCxnSpPr>
            <a:cxnSpLocks/>
          </p:cNvCxnSpPr>
          <p:nvPr userDrawn="1"/>
        </p:nvCxnSpPr>
        <p:spPr>
          <a:xfrm>
            <a:off x="11748091" y="6874974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467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662" r:id="rId2"/>
    <p:sldLayoutId id="2147483673" r:id="rId3"/>
    <p:sldLayoutId id="2147483713" r:id="rId4"/>
    <p:sldLayoutId id="2147483714" r:id="rId5"/>
    <p:sldLayoutId id="2147483668" r:id="rId6"/>
    <p:sldLayoutId id="2147483720" r:id="rId7"/>
    <p:sldLayoutId id="2147483719" r:id="rId8"/>
    <p:sldLayoutId id="2147483661" r:id="rId9"/>
    <p:sldLayoutId id="2147483664" r:id="rId10"/>
    <p:sldLayoutId id="2147483692" r:id="rId11"/>
    <p:sldLayoutId id="2147483693" r:id="rId12"/>
    <p:sldLayoutId id="2147483690" r:id="rId13"/>
    <p:sldLayoutId id="2147483691" r:id="rId14"/>
    <p:sldLayoutId id="2147483697" r:id="rId15"/>
    <p:sldLayoutId id="2147483715" r:id="rId16"/>
    <p:sldLayoutId id="2147483717" r:id="rId17"/>
    <p:sldLayoutId id="2147483704" r:id="rId18"/>
    <p:sldLayoutId id="214748372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000" b="1" kern="1200" spc="-10" smtClean="0">
          <a:solidFill>
            <a:schemeClr val="tx2"/>
          </a:solidFill>
          <a:latin typeface="+mn-lt"/>
          <a:ea typeface="+mn-ea"/>
          <a:cs typeface="+mn-cs"/>
        </a:defRPr>
      </a:lvl1pPr>
    </p:titleStyle>
    <p:bodyStyle>
      <a:lvl1pPr marL="0" indent="-2646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defRPr lang="en-US" sz="1600" kern="1200" smtClean="0">
          <a:solidFill>
            <a:schemeClr val="tx2"/>
          </a:solidFill>
          <a:latin typeface="+mn-lt"/>
          <a:ea typeface="+mn-ea"/>
          <a:cs typeface="+mn-cs"/>
        </a:defRPr>
      </a:lvl1pPr>
      <a:lvl2pPr marL="540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2pPr>
      <a:lvl3pPr marL="792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3pPr>
      <a:lvl4pPr marL="1044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4pPr>
      <a:lvl5pPr marL="1296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51" userDrawn="1">
          <p15:clr>
            <a:srgbClr val="F26B43"/>
          </p15:clr>
        </p15:guide>
        <p15:guide id="2" pos="32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4AF23F-0AD1-0347-BF7F-1B20660C75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50B659-F724-1B47-9AC0-0C9C91F9FEC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DUPLICATION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FFB116C-E601-C24A-9C7F-0F5295238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longest duplicates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FA917F-83E5-5E45-B28C-D0C1B78149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B1030-EE41-F840-9218-1CBC0360023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7" name="REFACTORING_CANDIDATES_TABLE_DUPLICATION">
            <a:extLst>
              <a:ext uri="{FF2B5EF4-FFF2-40B4-BE49-F238E27FC236}">
                <a16:creationId xmlns:a16="http://schemas.microsoft.com/office/drawing/2014/main" id="{6D18B547-BA3F-1046-9F1B-A8CA602DA8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4238741"/>
              </p:ext>
            </p:extLst>
          </p:nvPr>
        </p:nvGraphicFramePr>
        <p:xfrm>
          <a:off x="514373" y="1366988"/>
          <a:ext cx="11231294" cy="493368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70040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09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13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4988">
                  <a:extLst>
                    <a:ext uri="{9D8B030D-6E8A-4147-A177-3AD203B41FA5}">
                      <a16:colId xmlns:a16="http://schemas.microsoft.com/office/drawing/2014/main" val="2857446439"/>
                    </a:ext>
                  </a:extLst>
                </a:gridCol>
              </a:tblGrid>
              <a:tr h="30582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Description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Redundant LOC</a:t>
                      </a:r>
                    </a:p>
                  </a:txBody>
                  <a:tcPr marL="108000" marR="108000" marT="72000" marB="72000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C10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Level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 anchor="b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Technology</a:t>
                      </a:r>
                    </a:p>
                  </a:txBody>
                  <a:tcPr marL="108000" marR="108000" marT="72000" marB="72000" anchor="b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3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13 lines occurring 31 times in CandidatePipelineResult.scala, ContentFeatures.scala, MixerPipelineResult.scala, RecommendationPipelineResult.scala, UpdateTimelinesPersistenceStoreSideEffect.scala</a:t>
                      </a: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390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System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Scala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19 lines occurring 21 times in ContentFeatures.scala, RecommendationPipelineResult.scala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380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System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Scala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14 lines occurring 27 times in ContentFeatures.scala, RecommendationPipelineResult.scala, UpdateTimelinesPersistenceStoreSideEffect.scala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364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System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Scala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50 lines occurring 4 times in Main.scala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150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Component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Scala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8 lines occurring 57 times in CandidatePipelineResult.scala, ContentFeatures.scala, MixerPipelineResult.scala, ProductPipelineResult.scala, RecommendationPipelineResult.scala, UpdateTimelinesPersistenceStoreSideEffect.scala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448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System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Scala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61 lines occurring 3 times in FeatureStoreGizmoduckSource.scala, FeatureStoreTimelinesAuthorSource.scala, FeatureStoreUserMetricCountsSource.scala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122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Component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Scala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12 lines occurring 10 times in VisibilityPolicy.scala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108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File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Scala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25 lines occurring 5 times in AggregatableFavBasedProducerEmbeddings.scala, AggregatableFollowBasedProducerEmbeddings.scala, AggregatableLogFavBasedProducerEmbeddings.scala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100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Component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Scala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20 lines occurring 5 times in VisibilityPolicy.scala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80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File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Scala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15 lines occurring 6 times in VisibilityPolicy.scala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75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File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Scala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68 lines occurring 2 times in TweetMediaFeatureExtractor.scala, TweetMediaFeaturesExtractor.scala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68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System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Scala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63985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66 lines occurring 2 times in ProducerBasedUnifiedSimilarityEngine.scala, TweetBasedUnifiedSimilarityEngine.scala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66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Component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Scala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04128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66 lines occurring 2 times in Main.scala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66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Component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Scala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6331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11 lines occurring 7 times in FreedomOfSpeechNotReach.scala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66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File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Scala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97001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0202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0E241-59C2-6F55-4707-FD2CC82A6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397773-E61A-9D94-159E-FE176D511F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70E2EE-7B25-5041-16B6-A6265C553E9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Unit Size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E6AFEFE-FA0F-CDBD-40F1-A3FF99211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longest units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76392F-4A8E-477A-00F5-76B3207433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UNIT_SIZE">
            <a:extLst>
              <a:ext uri="{FF2B5EF4-FFF2-40B4-BE49-F238E27FC236}">
                <a16:creationId xmlns:a16="http://schemas.microsoft.com/office/drawing/2014/main" id="{6526472F-557C-F0F9-9AC9-DA0F1F07D8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6643359"/>
              </p:ext>
            </p:extLst>
          </p:nvPr>
        </p:nvGraphicFramePr>
        <p:xfrm>
          <a:off x="514373" y="1366988"/>
          <a:ext cx="11232250" cy="497256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60249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89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3781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  <a:gridCol w="1500910">
                  <a:extLst>
                    <a:ext uri="{9D8B030D-6E8A-4147-A177-3AD203B41FA5}">
                      <a16:colId xmlns:a16="http://schemas.microsoft.com/office/drawing/2014/main" val="4263492041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5090921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Unit name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McCabe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Parameters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Component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Technology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CandidatePipelineBuilder.build(ComponentIdentifierStack,BaseCandidatePipelineConfig)</a:t>
                      </a: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557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2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2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product-mixer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Scala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UUABasedClusterToTweetIndexGenerationJob.convertActionTypesSeqToString(Seq)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468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src/scala/com/twitter/simclusters_v2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Scala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argument_parser.py:get_trainer_parser()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386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0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twml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Python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EarlybirdAdapter.setFeatures(Option,RichDataRecord)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303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2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2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home-mixer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Scala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get(Query)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283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13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cr-mixer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Scala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nsfw_media.py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273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18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0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trust_and_safety_models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Python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TombstoneVisibilityLibrary.apply(TombstoneVisibilityRequest)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257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15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visibilitylib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Scala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ScoringPipelineBuilder.build(ComponentIdentifierStack,ScoringPipelineConfig)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255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9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2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product-mixer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Scala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ftr_tweet_embeddings.sql.$defaultUnit1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247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12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-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src/scala/com/twitter/simclusters_v2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PL/SQL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get(Query)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220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12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cr-mixer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Scala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EarlybirdServerFactory.makeEarlybirdServer(EarlybirdWireModule)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212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3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src/java/com/twitter/search/earlybird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63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SimClustersInterestedInCandidateGeneration.fromParams(InternalId,configapi.Params)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209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2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cr-mixer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Scala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0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SimClustersInterestedInCandidateGeneration.get(SimClustersInterestedInCandidateGeneration.Query)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208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44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cr-mixer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Scala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6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8876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3C50C-D5AC-B980-57E1-AB9740C2F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C47716-66EC-A5D9-AE7C-3AF047ABA0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7D58E3A-84C6-E394-9DB2-843E3C2B42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Unit COMPLEXITY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1B683A4-1422-9996-73B9-EDF74B14B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most complex units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8D24E3-806B-1789-735C-FD0762CEDC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UNIT_COMPLEXITY">
            <a:extLst>
              <a:ext uri="{FF2B5EF4-FFF2-40B4-BE49-F238E27FC236}">
                <a16:creationId xmlns:a16="http://schemas.microsoft.com/office/drawing/2014/main" id="{B2AD6F83-29C1-E9BE-13AF-24963E398A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251483"/>
              </p:ext>
            </p:extLst>
          </p:nvPr>
        </p:nvGraphicFramePr>
        <p:xfrm>
          <a:off x="514373" y="1366988"/>
          <a:ext cx="11232250" cy="497256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60249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89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3781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  <a:gridCol w="1500910">
                  <a:extLst>
                    <a:ext uri="{9D8B030D-6E8A-4147-A177-3AD203B41FA5}">
                      <a16:colId xmlns:a16="http://schemas.microsoft.com/office/drawing/2014/main" val="4263492041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5090921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Unit name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5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McCabe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Parameters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Component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Technology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SimClustersInterestedInCandidateGeneration.get(SimClustersInterestedInCandidateGeneration.Query)</a:t>
                      </a: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208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44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cr-mixer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Scala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FeatureBasedScoringFunction.updateLinearScoringData(float)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201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45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src/java/com/twitter/search/earlybird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EarlybirdLuceneQueryVisitor.visit(SearchOperator)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178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63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src/java/com/twitter/search/earlybird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FeatureBasedScoringFunction.generateExplanationForBoosts(LinearScoringData,boolean)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143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29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2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src/java/com/twitter/search/earlybird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LinearScoringParams.LinearScoringParams(ThriftSearchQuery,ThriftRankingParams)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141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45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2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src/java/com/twitter/search/earlybird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FeatureBasedScoringFunction.applyBoosts(LinearScoringData,double,boolean,boolean)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134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46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4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src/java/com/twitter/search/earlybird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TweetEventParseHelper.getTwitterMessageFromCreationEvent(TweetCreateEvent,List&lt;PenguinVersion&gt;,DebugEvents)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131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26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3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src/java/com/twitter/search/ingester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FacetResponseMerger.fillFacetFieldResults(FacetsResultsUtils.FacetFieldInfo,Map,ThriftFacetFieldResults)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129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36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3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src/java/com/twitter/search/earlybird_root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Trainer.__init__(name,params,build_graph_fn,metric_fn,optimize_loss_fn,run_config,save_dir,init_from_dir,init_map,warm_start_from,profiler_steps,kwargs)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97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27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12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twml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Python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Trainer.learn(train_input_fn,eval_input_fn,train_max_steps,train_steps,eval_steps,train_hooks,eval_hooks,early_stop_metric,early_stop_patience,early_stop_minimize,early_stop_tolerance,start_epoch,exporters,export_output_fn,max_duration)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83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33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15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twml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Python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LinearScoringData.getPropertyExplanation()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43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33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0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src/java/com/twitter/search/earlybird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63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TimelineItemContentMarshaller.apply(TimelineItem)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33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27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product-mixer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Scala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0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get(Query)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283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13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cr-mixer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Scala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6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4173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E5DF8-42C2-D9A0-C581-926F88850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384C2E-E259-D449-D3FC-4501B83DD5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92E8F9D-227D-DE48-28FD-49E58F9EE84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Unit INTERFACING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36CF5EF-9D37-AF0B-8482-89079D5C2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units with the largest interfaces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3E2457-37D9-7B56-B0F1-9C62576D55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UNIT_INTERFACING">
            <a:extLst>
              <a:ext uri="{FF2B5EF4-FFF2-40B4-BE49-F238E27FC236}">
                <a16:creationId xmlns:a16="http://schemas.microsoft.com/office/drawing/2014/main" id="{886DDEFD-B6CA-D10A-3710-9F71507BA7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4690946"/>
              </p:ext>
            </p:extLst>
          </p:nvPr>
        </p:nvGraphicFramePr>
        <p:xfrm>
          <a:off x="514373" y="1366988"/>
          <a:ext cx="11232250" cy="497256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60249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89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3781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  <a:gridCol w="1500910">
                  <a:extLst>
                    <a:ext uri="{9D8B030D-6E8A-4147-A177-3AD203B41FA5}">
                      <a16:colId xmlns:a16="http://schemas.microsoft.com/office/drawing/2014/main" val="4263492041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5090921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Unit name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5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McCabe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Parameters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C1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Component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Technology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UtegLikedByTweetsSource.UtegLikedByTweetsSource(UserTweetEntityGraphClient,GizmoduckClient,SearchClient,TweetyPieClient,UserMetadataClient,FollowGraphDataProvider,Store,StatsReceiver)</a:t>
                      </a: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201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2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8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timelineranker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Scala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InNetworkTweetSource.InNetworkTweetSource(GizmoduckClient,SearchClient,SearchClient,TweetyPieClient,UserMetadataClient,FollowGraphDataProvider,Store,VisibilityEnforcer,StatsReceiver)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187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9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timelineranker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Scala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TweetVisibilityLibrary.apply(VisibilityLibrary,UserSource,UserRelationshipSource,KeywordMatcher.Matcher,InvitedToConversationRepo,Decider,StratoClient,LocalizationSource,TweetPerspectiveSource,TweetMediaMetadataSource,TombstoneGenerator,LocalizedInterstit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186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3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14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visibilitylib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Scala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TweetJob.generate(SimClustersTweetProfile,Producer,P#Service,P#Store,P#Store,P#Store,Option,JobId)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150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6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8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src/scala/com/twitter/simclusters_v2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Scala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EarlybirdWireModule.provideEarlybirdStartup(PartitionManager,UserUpdatesStreamIndexer,UserScrubGeoEventStreamIndexer,AudioSpaceEventsStreamIndexer,DynamicPartitionConfig,CriticalExceptionHandler,SegmentManager,MultiSegmentTermDictionaryManager,QueryCacheM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148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7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16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src/java/com/twitter/search/earlybird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UpdateKnownForApps.runUpdateKnownForGeneric(Args,TypedPipe,TypedPipe,String,TypedPipe=&gt;Execution,=&gt;TypedPipe,Boolean,DateRange,UniqueID)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140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2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9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src/scala/com/twitter/simclusters_v2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Scala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TweetInfoStoreModule.providesTweetInfoStore(StatsReceiver,ServiceIdentifier,StratoClient,MemcachedClient,ManhattanKVClientMtlsParams,TweetService.MethodPerEndpoint,UserTweetGraphPlus.MethodPerEndpoint,ReadableStore,CrMixerDecider)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127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9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cr-mixer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Scala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PushServiceVisibilityLibrary.apply(VisibilityLibrary,UserSource,UserRelationshipSource,StratoClient,Gate,ReadableStore,ReadableStore,-,StatsReceiver)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118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4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9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visibilitylib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Scala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RecapAuthorSource.RecapAuthorSource(GizmoduckClient,SearchClient,TweetyPieClient,UserMetadataClient,FollowGraphDataProvider,Store,VisibilityEnforcer,StatsReceiver)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116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8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timelineranker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Scala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Trainer.__init__(name,params,build_graph_fn,metric_fn,optimize_loss_fn,run_config,save_dir,init_from_dir,init_map,warm_start_from,profiler_steps,kwargs)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97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27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12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twml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Python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ClusterDetailsJob.run(TypedPipe,Int,String,TypedPipe,TypedPipe,Option,Option,Option,Double,UniqueID)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87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2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10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src/scala/com/twitter/simclusters_v2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Scala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63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InterestedInTwiceBaseApp.getMultiEmbeddingPerUser(TypedPipe,TypedPipe,ClusteringMethod,Int,ClusterRepresentativeSelectionMethod,Int,UniqueID)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85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2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7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src/scala/com/twitter/simclusters_v2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Scala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0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Trainer.learn(train_input_fn,eval_input_fn,train_max_steps,train_steps,eval_steps,train_hooks,eval_hooks,early_stop_metric,early_stop_patience,early_stop_minimize,early_stop_tolerance,start_epoch,exporters,export_output_fn,max_duration)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83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33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15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twml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Python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6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820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E2D5C-3E5F-6B9D-908E-50F0A86AC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ED10E3-5A1E-EB42-A8DD-8C3EA6AFCB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2401406-73FA-D043-F4F9-83583AFBBF7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Module COUPLING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6B4BED9-C15D-5B49-DC19-82A8E7339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modules with the highest coupling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B246FC-EA60-CE91-78AD-F32916748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MODULE_COUPLING">
            <a:extLst>
              <a:ext uri="{FF2B5EF4-FFF2-40B4-BE49-F238E27FC236}">
                <a16:creationId xmlns:a16="http://schemas.microsoft.com/office/drawing/2014/main" id="{08CD0C1C-FF15-4288-5694-0C8CA50F5F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5251971"/>
              </p:ext>
            </p:extLst>
          </p:nvPr>
        </p:nvGraphicFramePr>
        <p:xfrm>
          <a:off x="514373" y="1366988"/>
          <a:ext cx="11231293" cy="478968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6036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45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7908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  <a:gridCol w="1766924">
                  <a:extLst>
                    <a:ext uri="{9D8B030D-6E8A-4147-A177-3AD203B41FA5}">
                      <a16:colId xmlns:a16="http://schemas.microsoft.com/office/drawing/2014/main" val="4263492041"/>
                    </a:ext>
                  </a:extLst>
                </a:gridCol>
                <a:gridCol w="1405383">
                  <a:extLst>
                    <a:ext uri="{9D8B030D-6E8A-4147-A177-3AD203B41FA5}">
                      <a16:colId xmlns:a16="http://schemas.microsoft.com/office/drawing/2014/main" val="25090921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File name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5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Fan-in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C1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Component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Technology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Condition.scala</a:t>
                      </a: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2017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63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visibilitylib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Scala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TwitterMessage.java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875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328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src/java/com/twitter/search/common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Action.scala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749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170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visibilitylib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Scala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EarlybirdThriftDocumentBuilder.java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595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52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src/java/com/twitter/search/common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SchemaBuilder.java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508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110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src/java/com/twitter/search/common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InvertedRealtimeIndex.java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407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72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src/java/com/twitter/search/core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EarlybirdIndexSegmentData.java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340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133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src/java/com/twitter/search/core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EarlybirdProperty.java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324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59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src/java/com/twitter/search/earlybird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SegmentInfo.java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317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272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src/java/com/twitter/search/earlybird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TwitterBaseStage.java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259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168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src/java/com/twitter/search/ingester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Util.scala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254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58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src/scala/com/twitter/simclusters_v2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Scala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63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EarlybirdConfig.java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246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143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src/java/com/twitter/search/earlybird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0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EarlybirdDocumentFeatures.java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178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129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src/java/com/twitter/search/common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6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8308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261DE-516A-2C47-C290-CC53EE2EC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025075-AF88-4ABD-0816-000FE85C61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6BA0A77-753D-20DB-3D53-A7D106A78F7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COMPONENT ENTANGLEMENT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362569B-8BFD-D308-A55E-04765D4E1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component entanglement related findings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ED554A-888F-C192-ED2E-3071DD750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COMPONENT_ENTANGLEMENT">
            <a:extLst>
              <a:ext uri="{FF2B5EF4-FFF2-40B4-BE49-F238E27FC236}">
                <a16:creationId xmlns:a16="http://schemas.microsoft.com/office/drawing/2014/main" id="{9838512D-A010-DDD6-1567-37B565CF58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9859789"/>
              </p:ext>
            </p:extLst>
          </p:nvPr>
        </p:nvGraphicFramePr>
        <p:xfrm>
          <a:off x="514373" y="1351494"/>
          <a:ext cx="11231294" cy="460680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96632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79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53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Description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Weight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5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Cyclic dependency between src/java/com/twitter/search/common and src/java/com/twitter/search/ingester</a:t>
                      </a: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2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High communication density on src/java/com/twitter/search/common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6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Medium communication density on src/java/com/twitter/search/earlybird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3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Medium communication density on cr-mixer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3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Medium communication density on src/scala/com/twitter/simclusters_v2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3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Medium communication density on product-mixer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3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7627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B2A1D-C398-FD00-A262-F1315FFA7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62FCDF-5E0F-1700-45E3-65B5191C49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F418E4D-4C1B-5CF0-D4B4-9BE92D28DF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COMPONENT Independence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E4658BA-0814-EB54-4871-7EA330797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high impact communicating files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FCF33D-A478-D36E-605A-D3A5163CF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COMPONENT_INDEPENDENCE">
            <a:extLst>
              <a:ext uri="{FF2B5EF4-FFF2-40B4-BE49-F238E27FC236}">
                <a16:creationId xmlns:a16="http://schemas.microsoft.com/office/drawing/2014/main" id="{0354F911-27AA-DF84-8BBC-02F20E05B6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0974292"/>
              </p:ext>
            </p:extLst>
          </p:nvPr>
        </p:nvGraphicFramePr>
        <p:xfrm>
          <a:off x="514373" y="1366988"/>
          <a:ext cx="11231293" cy="460680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65994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37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1675">
                  <a:extLst>
                    <a:ext uri="{9D8B030D-6E8A-4147-A177-3AD203B41FA5}">
                      <a16:colId xmlns:a16="http://schemas.microsoft.com/office/drawing/2014/main" val="4263492041"/>
                    </a:ext>
                  </a:extLst>
                </a:gridCol>
                <a:gridCol w="1536423">
                  <a:extLst>
                    <a:ext uri="{9D8B030D-6E8A-4147-A177-3AD203B41FA5}">
                      <a16:colId xmlns:a16="http://schemas.microsoft.com/office/drawing/2014/main" val="25090921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File name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5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Component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Technology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EarlybirdIndexSegmentData.java</a:t>
                      </a: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340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src/java/com/twitter/search/core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EarlybirdRealtimeIndexSegmentData.java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201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src/java/com/twitter/search/core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EarlybirdLuceneIndexSegmentData.java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165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src/java/com/twitter/search/core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IndexOptimizer.java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154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src/java/com/twitter/search/core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AbstractFacetCountingArray.java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146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src/java/com/twitter/search/core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FacetIDMap.java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113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src/java/com/twitter/search/core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EarlybirdIndexSegmentAtomicReader.java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89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src/java/com/twitter/search/core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FacetCountState.java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64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src/java/com/twitter/search/core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QueryCostTracker.java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33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src/java/com/twitter/search/core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VisibleTokenRatioUtil.java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28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src/java/com/twitter/search/ingester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EarlybirdFieldConstants.java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897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src/java/com/twitter/search/common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63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TwitterMessage.java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875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src/java/com/twitter/search/common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0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ImmutableSchema.java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692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src/java/com/twitter/search/common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6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1720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IG 2020">
      <a:dk1>
        <a:srgbClr val="657484"/>
      </a:dk1>
      <a:lt1>
        <a:srgbClr val="FFFFFF"/>
      </a:lt1>
      <a:dk2>
        <a:srgbClr val="1F354B"/>
      </a:dk2>
      <a:lt2>
        <a:srgbClr val="EFF3F8"/>
      </a:lt2>
      <a:accent1>
        <a:srgbClr val="1F354B"/>
      </a:accent1>
      <a:accent2>
        <a:srgbClr val="DFC101"/>
      </a:accent2>
      <a:accent3>
        <a:srgbClr val="04ABC8"/>
      </a:accent3>
      <a:accent4>
        <a:srgbClr val="8269A4"/>
      </a:accent4>
      <a:accent5>
        <a:srgbClr val="C5CD58"/>
      </a:accent5>
      <a:accent6>
        <a:srgbClr val="D45200"/>
      </a:accent6>
      <a:hlink>
        <a:srgbClr val="08ACC8"/>
      </a:hlink>
      <a:folHlink>
        <a:srgbClr val="00ADC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rgbClr val="B3BECD"/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87A88162-E9FA-E744-BFFA-BC08FDA9AD0B}" vid="{A5F00ED1-E9E7-C44B-A961-D0FA0EAA5A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937df2-abe2-4d38-b5f4-c228acba3827">
      <Terms xmlns="http://schemas.microsoft.com/office/infopath/2007/PartnerControls"/>
    </lcf76f155ced4ddcb4097134ff3c332f>
    <TaxCatchAll xmlns="bc8ba18a-4a58-4ad2-bfc0-6516af8e7dc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98B4EB28540854BB4092730D7F67224" ma:contentTypeVersion="13" ma:contentTypeDescription="Create a new document." ma:contentTypeScope="" ma:versionID="07d6997c7358ecc3b6f0d78039f1ac55">
  <xsd:schema xmlns:xsd="http://www.w3.org/2001/XMLSchema" xmlns:xs="http://www.w3.org/2001/XMLSchema" xmlns:p="http://schemas.microsoft.com/office/2006/metadata/properties" xmlns:ns2="fa937df2-abe2-4d38-b5f4-c228acba3827" xmlns:ns3="bc8ba18a-4a58-4ad2-bfc0-6516af8e7dc2" targetNamespace="http://schemas.microsoft.com/office/2006/metadata/properties" ma:root="true" ma:fieldsID="a7d20d2c9a349b6838acf4b79389f2fd" ns2:_="" ns3:_="">
    <xsd:import namespace="fa937df2-abe2-4d38-b5f4-c228acba3827"/>
    <xsd:import namespace="bc8ba18a-4a58-4ad2-bfc0-6516af8e7d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937df2-abe2-4d38-b5f4-c228acba38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0897a51-27a2-4a5e-b602-66a4649d25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8ba18a-4a58-4ad2-bfc0-6516af8e7dc2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2119a7a8-86cc-43f5-a248-74259e6177ea}" ma:internalName="TaxCatchAll" ma:showField="CatchAllData" ma:web="bc8ba18a-4a58-4ad2-bfc0-6516af8e7d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B629362-CF15-4610-8FAC-A8E699942233}">
  <ds:schemaRefs>
    <ds:schemaRef ds:uri="http://schemas.microsoft.com/office/2006/documentManagement/types"/>
    <ds:schemaRef ds:uri="http://purl.org/dc/elements/1.1/"/>
    <ds:schemaRef ds:uri="bc8ba18a-4a58-4ad2-bfc0-6516af8e7dc2"/>
    <ds:schemaRef ds:uri="http://purl.org/dc/terms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fa937df2-abe2-4d38-b5f4-c228acba3827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570928F0-D7CA-4732-B7F3-1F945720D0A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6E6923A-C221-4753-B75B-BA213EEB7564}">
  <ds:schemaRefs>
    <ds:schemaRef ds:uri="bc8ba18a-4a58-4ad2-bfc0-6516af8e7dc2"/>
    <ds:schemaRef ds:uri="fa937df2-abe2-4d38-b5f4-c228acba382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22559</TotalTime>
  <Words>204</Words>
  <Application>Microsoft Macintosh PowerPoint</Application>
  <PresentationFormat>Widescreen</PresentationFormat>
  <Paragraphs>94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Calibri</vt:lpstr>
      <vt:lpstr>Calibri Bold</vt:lpstr>
      <vt:lpstr>Calibri Light</vt:lpstr>
      <vt:lpstr>Calibri Regular</vt:lpstr>
      <vt:lpstr>TheSansMono M5</vt:lpstr>
      <vt:lpstr>Wingdings</vt:lpstr>
      <vt:lpstr>Office Theme</vt:lpstr>
      <vt:lpstr>An overview of the longest duplicates</vt:lpstr>
      <vt:lpstr>An overview of the longest units</vt:lpstr>
      <vt:lpstr>An overview of the most complex units</vt:lpstr>
      <vt:lpstr>An overview of the units with the largest interfaces</vt:lpstr>
      <vt:lpstr>An overview of the modules with the highest coupling</vt:lpstr>
      <vt:lpstr>An overview of component entanglement related findings</vt:lpstr>
      <vt:lpstr>An overview of high impact communicating files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 O'Brien</dc:creator>
  <cp:lastModifiedBy>Floris van Leeuwen</cp:lastModifiedBy>
  <cp:revision>168</cp:revision>
  <cp:lastPrinted>2020-07-02T15:41:27Z</cp:lastPrinted>
  <dcterms:created xsi:type="dcterms:W3CDTF">2024-01-03T15:04:34Z</dcterms:created>
  <dcterms:modified xsi:type="dcterms:W3CDTF">2025-07-16T17:44:03Z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0x010100398B4EB28540854BB4092730D7F67224</vt:lpwstr>
  </property>
  <property fmtid="{D5CDD505-2E9C-101B-9397-08002B2CF9AE}" pid="3" name="MediaServiceImageTags">
    <vt:lpwstr/>
  </property>
</Properties>
</file>