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3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4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5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6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7.xml" ContentType="application/vnd.openxmlformats-officedocument.presentationml.notesSl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notesSlides/notesSlide8.xml" ContentType="application/vnd.openxmlformats-officedocument.presentationml.notesSl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notesSlides/notesSlide9.xml" ContentType="application/vnd.openxmlformats-officedocument.presentationml.notesSlid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notesSlides/notesSlide10.xml" ContentType="application/vnd.openxmlformats-officedocument.presentationml.notesSlid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notesSlides/notesSlide11.xml" ContentType="application/vnd.openxmlformats-officedocument.presentationml.notesSlid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notesSlides/notesSlide12.xml" ContentType="application/vnd.openxmlformats-officedocument.presentationml.notesSlid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notesSlides/notesSlide13.xml" ContentType="application/vnd.openxmlformats-officedocument.presentationml.notesSlid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notesSlides/notesSlide14.xml" ContentType="application/vnd.openxmlformats-officedocument.presentationml.notesSlid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notesSlides/notesSlide15.xml" ContentType="application/vnd.openxmlformats-officedocument.presentationml.notesSlid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notesSlides/notesSlide16.xml" ContentType="application/vnd.openxmlformats-officedocument.presentationml.notesSlid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6"/>
  </p:notesMasterIdLst>
  <p:sldIdLst>
    <p:sldId id="256" r:id="rId2"/>
    <p:sldId id="10748" r:id="rId3"/>
    <p:sldId id="10749" r:id="rId4"/>
    <p:sldId id="10751" r:id="rId5"/>
    <p:sldId id="10753" r:id="rId6"/>
    <p:sldId id="10750" r:id="rId7"/>
    <p:sldId id="10754" r:id="rId8"/>
    <p:sldId id="10755" r:id="rId9"/>
    <p:sldId id="10756" r:id="rId10"/>
    <p:sldId id="10724" r:id="rId11"/>
    <p:sldId id="598" r:id="rId12"/>
    <p:sldId id="605" r:id="rId13"/>
    <p:sldId id="606" r:id="rId14"/>
    <p:sldId id="604" r:id="rId15"/>
    <p:sldId id="599" r:id="rId16"/>
    <p:sldId id="600" r:id="rId17"/>
    <p:sldId id="603" r:id="rId18"/>
    <p:sldId id="602" r:id="rId19"/>
    <p:sldId id="601" r:id="rId20"/>
    <p:sldId id="10725" r:id="rId21"/>
    <p:sldId id="10736" r:id="rId22"/>
    <p:sldId id="10757" r:id="rId23"/>
    <p:sldId id="10758" r:id="rId24"/>
    <p:sldId id="10759" r:id="rId25"/>
    <p:sldId id="10728" r:id="rId26"/>
    <p:sldId id="10746" r:id="rId27"/>
    <p:sldId id="10737" r:id="rId28"/>
    <p:sldId id="10738" r:id="rId29"/>
    <p:sldId id="10747" r:id="rId30"/>
    <p:sldId id="10739" r:id="rId31"/>
    <p:sldId id="10742" r:id="rId32"/>
    <p:sldId id="10745" r:id="rId33"/>
    <p:sldId id="10740" r:id="rId34"/>
    <p:sldId id="10741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451"/>
    <p:restoredTop sz="94694"/>
  </p:normalViewPr>
  <p:slideViewPr>
    <p:cSldViewPr snapToGrid="0">
      <p:cViewPr>
        <p:scale>
          <a:sx n="87" d="100"/>
          <a:sy n="87" d="100"/>
        </p:scale>
        <p:origin x="2152" y="92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1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2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3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4.xlsx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01A5FE6A-D37A-834F-B8C5-870900F9D163}" type="VALUE">
                      <a:rPr lang="en-US" sz="1400" b="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nl-NL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6147-E74A-AA7B-5531F0E4EE0C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41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1A15AB0D-C73F-2F4E-B068-1138B91CEB95}" type="VALUE">
                      <a:rPr lang="en-US" sz="140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nl-NL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2-3B95-5448-A5A8-44A174A721F0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834D244C-CE32-A046-8143-A59D5CA86E7E}" type="VALUE">
                      <a:rPr lang="en-US" sz="140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nl-NL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3-3B95-5448-A5A8-44A174A721F0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D0"/>
            </a:solidFill>
            <a:ln w="19050">
              <a:noFill/>
            </a:ln>
            <a:effectLst/>
          </c:spPr>
          <c:invertIfNegative val="0"/>
          <c:dLbls>
            <c:delete val="1"/>
          </c:dLbls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49.990944372574383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54</c:v>
                </c:pt>
                <c:pt idx="1">
                  <c:v>53</c:v>
                </c:pt>
                <c:pt idx="2">
                  <c:v>53</c:v>
                </c:pt>
                <c:pt idx="3">
                  <c:v>52</c:v>
                </c:pt>
                <c:pt idx="4">
                  <c:v>52</c:v>
                </c:pt>
                <c:pt idx="5">
                  <c:v>52</c:v>
                </c:pt>
                <c:pt idx="6">
                  <c:v>52</c:v>
                </c:pt>
                <c:pt idx="7">
                  <c:v>51</c:v>
                </c:pt>
                <c:pt idx="8">
                  <c:v>51</c:v>
                </c:pt>
                <c:pt idx="9">
                  <c:v>51</c:v>
                </c:pt>
                <c:pt idx="10">
                  <c:v>50</c:v>
                </c:pt>
                <c:pt idx="11">
                  <c:v>50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Security</c:v>
                </c:pt>
                <c:pt idx="1">
                  <c:v>Open Source Health</c:v>
                </c:pt>
                <c:pt idx="2">
                  <c:v>Architecture Quality</c:v>
                </c:pt>
                <c:pt idx="3">
                  <c:v>Maintainability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34</c:v>
                </c:pt>
                <c:pt idx="1">
                  <c:v>52</c:v>
                </c:pt>
                <c:pt idx="2">
                  <c:v>20</c:v>
                </c:pt>
                <c:pt idx="3">
                  <c:v>36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Security</c:v>
                </c:pt>
                <c:pt idx="1">
                  <c:v>Open Source Health</c:v>
                </c:pt>
                <c:pt idx="2">
                  <c:v>Architecture Quality</c:v>
                </c:pt>
                <c:pt idx="3">
                  <c:v>Maintainability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47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Security</c:v>
                </c:pt>
                <c:pt idx="1">
                  <c:v>Open Source Health</c:v>
                </c:pt>
                <c:pt idx="2">
                  <c:v>Architecture Quality</c:v>
                </c:pt>
                <c:pt idx="3">
                  <c:v>Maintainability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3</c:v>
                </c:pt>
                <c:pt idx="1">
                  <c:v>1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D0"/>
            </a:solidFill>
            <a:ln w="1905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Security</c:v>
                </c:pt>
                <c:pt idx="1">
                  <c:v>Open Source Health</c:v>
                </c:pt>
                <c:pt idx="2">
                  <c:v>Architecture Quality</c:v>
                </c:pt>
                <c:pt idx="3">
                  <c:v>Maintainability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63.216216216216225</c:v>
                </c:pt>
                <c:pt idx="1">
                  <c:v>47.245614035087719</c:v>
                </c:pt>
                <c:pt idx="2">
                  <c:v>32.865771812080538</c:v>
                </c:pt>
                <c:pt idx="3">
                  <c:v>63.855421686746986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37</c:v>
                </c:pt>
                <c:pt idx="1">
                  <c:v>37</c:v>
                </c:pt>
                <c:pt idx="2">
                  <c:v>37</c:v>
                </c:pt>
                <c:pt idx="3">
                  <c:v>37</c:v>
                </c:pt>
                <c:pt idx="4">
                  <c:v>37</c:v>
                </c:pt>
                <c:pt idx="5">
                  <c:v>36</c:v>
                </c:pt>
                <c:pt idx="6">
                  <c:v>36</c:v>
                </c:pt>
                <c:pt idx="7">
                  <c:v>36</c:v>
                </c:pt>
                <c:pt idx="8">
                  <c:v>36</c:v>
                </c:pt>
                <c:pt idx="9">
                  <c:v>36</c:v>
                </c:pt>
                <c:pt idx="10">
                  <c:v>37</c:v>
                </c:pt>
                <c:pt idx="11">
                  <c:v>37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86</c:v>
                </c:pt>
                <c:pt idx="1">
                  <c:v>86</c:v>
                </c:pt>
                <c:pt idx="2">
                  <c:v>81</c:v>
                </c:pt>
                <c:pt idx="3">
                  <c:v>67</c:v>
                </c:pt>
                <c:pt idx="4">
                  <c:v>69</c:v>
                </c:pt>
                <c:pt idx="5">
                  <c:v>68</c:v>
                </c:pt>
                <c:pt idx="6">
                  <c:v>69</c:v>
                </c:pt>
                <c:pt idx="7">
                  <c:v>63</c:v>
                </c:pt>
                <c:pt idx="8">
                  <c:v>66</c:v>
                </c:pt>
                <c:pt idx="9">
                  <c:v>66</c:v>
                </c:pt>
                <c:pt idx="10">
                  <c:v>65</c:v>
                </c:pt>
                <c:pt idx="11">
                  <c:v>67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55</c:v>
                </c:pt>
                <c:pt idx="1">
                  <c:v>54</c:v>
                </c:pt>
                <c:pt idx="2">
                  <c:v>54</c:v>
                </c:pt>
                <c:pt idx="3">
                  <c:v>55</c:v>
                </c:pt>
                <c:pt idx="4">
                  <c:v>55</c:v>
                </c:pt>
                <c:pt idx="5">
                  <c:v>54</c:v>
                </c:pt>
                <c:pt idx="6">
                  <c:v>54</c:v>
                </c:pt>
                <c:pt idx="7">
                  <c:v>54</c:v>
                </c:pt>
                <c:pt idx="8">
                  <c:v>53</c:v>
                </c:pt>
                <c:pt idx="9">
                  <c:v>53</c:v>
                </c:pt>
                <c:pt idx="10">
                  <c:v>52</c:v>
                </c:pt>
                <c:pt idx="11">
                  <c:v>52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36</c:v>
                </c:pt>
                <c:pt idx="1">
                  <c:v>36</c:v>
                </c:pt>
                <c:pt idx="2">
                  <c:v>36</c:v>
                </c:pt>
                <c:pt idx="3">
                  <c:v>36</c:v>
                </c:pt>
                <c:pt idx="4">
                  <c:v>36</c:v>
                </c:pt>
                <c:pt idx="5">
                  <c:v>36</c:v>
                </c:pt>
                <c:pt idx="6">
                  <c:v>38</c:v>
                </c:pt>
                <c:pt idx="7">
                  <c:v>38</c:v>
                </c:pt>
                <c:pt idx="8">
                  <c:v>39</c:v>
                </c:pt>
                <c:pt idx="9">
                  <c:v>39</c:v>
                </c:pt>
                <c:pt idx="10">
                  <c:v>34</c:v>
                </c:pt>
                <c:pt idx="11">
                  <c:v>33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46.144721233689204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0.83036773428232502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41.992882562277579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2.7283511269276395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Sheet1!$F$2:$F$2</c:f>
              <c:numCache>
                <c:formatCode>General</c:formatCode>
                <c:ptCount val="1"/>
                <c:pt idx="0">
                  <c:v>8.3036773428232511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Sheet1!$A$2:$A$19</c:f>
              <c:strCache>
                <c:ptCount val="18"/>
                <c:pt idx="0">
                  <c:v>architecture</c:v>
                </c:pt>
                <c:pt idx="1">
                  <c:v>Utility Development</c:v>
                </c:pt>
                <c:pt idx="2">
                  <c:v>Unknown</c:v>
                </c:pt>
                <c:pt idx="3">
                  <c:v>Team Blue</c:v>
                </c:pt>
                <c:pt idx="4">
                  <c:v>Server Team</c:v>
                </c:pt>
                <c:pt idx="5">
                  <c:v>Retail Operations</c:v>
                </c:pt>
                <c:pt idx="6">
                  <c:v>Research</c:v>
                </c:pt>
                <c:pt idx="7">
                  <c:v>PowerFX Team</c:v>
                </c:pt>
                <c:pt idx="8">
                  <c:v>PLC</c:v>
                </c:pt>
                <c:pt idx="9">
                  <c:v>OS team</c:v>
                </c:pt>
                <c:pt idx="10">
                  <c:v>Logic Apps Team</c:v>
                </c:pt>
                <c:pt idx="11">
                  <c:v>Java Team</c:v>
                </c:pt>
                <c:pt idx="12">
                  <c:v>IT Department</c:v>
                </c:pt>
                <c:pt idx="13">
                  <c:v>Frontend Development</c:v>
                </c:pt>
                <c:pt idx="14">
                  <c:v>Development Tooling</c:v>
                </c:pt>
                <c:pt idx="15">
                  <c:v>Customer Experience</c:v>
                </c:pt>
                <c:pt idx="16">
                  <c:v>Backend Development</c:v>
                </c:pt>
                <c:pt idx="17">
                  <c:v>Analytics Team</c:v>
                </c:pt>
              </c:strCache>
            </c: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26.923076923076923</c:v>
                </c:pt>
                <c:pt idx="1">
                  <c:v>47.727272727272727</c:v>
                </c:pt>
                <c:pt idx="2">
                  <c:v>39.42307692307692</c:v>
                </c:pt>
                <c:pt idx="3">
                  <c:v>0</c:v>
                </c:pt>
                <c:pt idx="4">
                  <c:v>18.181818181818183</c:v>
                </c:pt>
                <c:pt idx="5">
                  <c:v>81.818181818181813</c:v>
                </c:pt>
                <c:pt idx="6">
                  <c:v>50</c:v>
                </c:pt>
                <c:pt idx="7">
                  <c:v>75.806451612903231</c:v>
                </c:pt>
                <c:pt idx="8">
                  <c:v>54.838709677419352</c:v>
                </c:pt>
                <c:pt idx="9">
                  <c:v>40.625</c:v>
                </c:pt>
                <c:pt idx="10">
                  <c:v>51.724137931034484</c:v>
                </c:pt>
                <c:pt idx="11">
                  <c:v>0</c:v>
                </c:pt>
                <c:pt idx="12">
                  <c:v>47.368421052631582</c:v>
                </c:pt>
                <c:pt idx="13">
                  <c:v>49.541284403669728</c:v>
                </c:pt>
                <c:pt idx="14">
                  <c:v>61.29032258064516</c:v>
                </c:pt>
                <c:pt idx="15">
                  <c:v>11.111111111111111</c:v>
                </c:pt>
                <c:pt idx="16">
                  <c:v>40.090090090090094</c:v>
                </c:pt>
                <c:pt idx="17">
                  <c:v>33.333333333333336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Sheet1!$A$2:$A$19</c:f>
              <c:strCache>
                <c:ptCount val="18"/>
                <c:pt idx="0">
                  <c:v>architecture</c:v>
                </c:pt>
                <c:pt idx="1">
                  <c:v>Utility Development</c:v>
                </c:pt>
                <c:pt idx="2">
                  <c:v>Unknown</c:v>
                </c:pt>
                <c:pt idx="3">
                  <c:v>Team Blue</c:v>
                </c:pt>
                <c:pt idx="4">
                  <c:v>Server Team</c:v>
                </c:pt>
                <c:pt idx="5">
                  <c:v>Retail Operations</c:v>
                </c:pt>
                <c:pt idx="6">
                  <c:v>Research</c:v>
                </c:pt>
                <c:pt idx="7">
                  <c:v>PowerFX Team</c:v>
                </c:pt>
                <c:pt idx="8">
                  <c:v>PLC</c:v>
                </c:pt>
                <c:pt idx="9">
                  <c:v>OS team</c:v>
                </c:pt>
                <c:pt idx="10">
                  <c:v>Logic Apps Team</c:v>
                </c:pt>
                <c:pt idx="11">
                  <c:v>Java Team</c:v>
                </c:pt>
                <c:pt idx="12">
                  <c:v>IT Department</c:v>
                </c:pt>
                <c:pt idx="13">
                  <c:v>Frontend Development</c:v>
                </c:pt>
                <c:pt idx="14">
                  <c:v>Development Tooling</c:v>
                </c:pt>
                <c:pt idx="15">
                  <c:v>Customer Experience</c:v>
                </c:pt>
                <c:pt idx="16">
                  <c:v>Backend Development</c:v>
                </c:pt>
                <c:pt idx="17">
                  <c:v>Analytics Team</c:v>
                </c:pt>
              </c:strCache>
            </c:strRef>
          </c:cat>
          <c:val>
            <c:numRef>
              <c:f>Sheet1!$C$2:$C$19</c:f>
              <c:numCache>
                <c:formatCode>General</c:formatCode>
                <c:ptCount val="18"/>
                <c:pt idx="0">
                  <c:v>3.8461538461538463</c:v>
                </c:pt>
                <c:pt idx="1">
                  <c:v>1.1363636363636365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12.5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0.91743119266055051</c:v>
                </c:pt>
                <c:pt idx="14">
                  <c:v>3.225806451612903</c:v>
                </c:pt>
                <c:pt idx="15">
                  <c:v>0</c:v>
                </c:pt>
                <c:pt idx="16">
                  <c:v>0.90090090090090091</c:v>
                </c:pt>
                <c:pt idx="17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Sheet1!$A$2:$A$19</c:f>
              <c:strCache>
                <c:ptCount val="18"/>
                <c:pt idx="0">
                  <c:v>architecture</c:v>
                </c:pt>
                <c:pt idx="1">
                  <c:v>Utility Development</c:v>
                </c:pt>
                <c:pt idx="2">
                  <c:v>Unknown</c:v>
                </c:pt>
                <c:pt idx="3">
                  <c:v>Team Blue</c:v>
                </c:pt>
                <c:pt idx="4">
                  <c:v>Server Team</c:v>
                </c:pt>
                <c:pt idx="5">
                  <c:v>Retail Operations</c:v>
                </c:pt>
                <c:pt idx="6">
                  <c:v>Research</c:v>
                </c:pt>
                <c:pt idx="7">
                  <c:v>PowerFX Team</c:v>
                </c:pt>
                <c:pt idx="8">
                  <c:v>PLC</c:v>
                </c:pt>
                <c:pt idx="9">
                  <c:v>OS team</c:v>
                </c:pt>
                <c:pt idx="10">
                  <c:v>Logic Apps Team</c:v>
                </c:pt>
                <c:pt idx="11">
                  <c:v>Java Team</c:v>
                </c:pt>
                <c:pt idx="12">
                  <c:v>IT Department</c:v>
                </c:pt>
                <c:pt idx="13">
                  <c:v>Frontend Development</c:v>
                </c:pt>
                <c:pt idx="14">
                  <c:v>Development Tooling</c:v>
                </c:pt>
                <c:pt idx="15">
                  <c:v>Customer Experience</c:v>
                </c:pt>
                <c:pt idx="16">
                  <c:v>Backend Development</c:v>
                </c:pt>
                <c:pt idx="17">
                  <c:v>Analytics Team</c:v>
                </c:pt>
              </c:strCache>
            </c:strRef>
          </c:cat>
          <c:val>
            <c:numRef>
              <c:f>Sheet1!$D$2:$D$19</c:f>
              <c:numCache>
                <c:formatCode>General</c:formatCode>
                <c:ptCount val="18"/>
                <c:pt idx="0">
                  <c:v>61.53846153846154</c:v>
                </c:pt>
                <c:pt idx="1">
                  <c:v>43.18181818181818</c:v>
                </c:pt>
                <c:pt idx="2">
                  <c:v>35.57692307692308</c:v>
                </c:pt>
                <c:pt idx="3">
                  <c:v>50</c:v>
                </c:pt>
                <c:pt idx="4">
                  <c:v>59.090909090909093</c:v>
                </c:pt>
                <c:pt idx="5">
                  <c:v>18.181818181818183</c:v>
                </c:pt>
                <c:pt idx="6">
                  <c:v>37.5</c:v>
                </c:pt>
                <c:pt idx="7">
                  <c:v>22.580645161290324</c:v>
                </c:pt>
                <c:pt idx="8">
                  <c:v>29.032258064516128</c:v>
                </c:pt>
                <c:pt idx="9">
                  <c:v>42.1875</c:v>
                </c:pt>
                <c:pt idx="10">
                  <c:v>48.275862068965516</c:v>
                </c:pt>
                <c:pt idx="11">
                  <c:v>50</c:v>
                </c:pt>
                <c:pt idx="12">
                  <c:v>52.631578947368418</c:v>
                </c:pt>
                <c:pt idx="13">
                  <c:v>34.862385321100916</c:v>
                </c:pt>
                <c:pt idx="14">
                  <c:v>25.806451612903224</c:v>
                </c:pt>
                <c:pt idx="15">
                  <c:v>88.888888888888886</c:v>
                </c:pt>
                <c:pt idx="16">
                  <c:v>51.801801801801801</c:v>
                </c:pt>
                <c:pt idx="17">
                  <c:v>59.25925925925926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Sheet1!$A$2:$A$19</c:f>
              <c:strCache>
                <c:ptCount val="18"/>
                <c:pt idx="0">
                  <c:v>architecture</c:v>
                </c:pt>
                <c:pt idx="1">
                  <c:v>Utility Development</c:v>
                </c:pt>
                <c:pt idx="2">
                  <c:v>Unknown</c:v>
                </c:pt>
                <c:pt idx="3">
                  <c:v>Team Blue</c:v>
                </c:pt>
                <c:pt idx="4">
                  <c:v>Server Team</c:v>
                </c:pt>
                <c:pt idx="5">
                  <c:v>Retail Operations</c:v>
                </c:pt>
                <c:pt idx="6">
                  <c:v>Research</c:v>
                </c:pt>
                <c:pt idx="7">
                  <c:v>PowerFX Team</c:v>
                </c:pt>
                <c:pt idx="8">
                  <c:v>PLC</c:v>
                </c:pt>
                <c:pt idx="9">
                  <c:v>OS team</c:v>
                </c:pt>
                <c:pt idx="10">
                  <c:v>Logic Apps Team</c:v>
                </c:pt>
                <c:pt idx="11">
                  <c:v>Java Team</c:v>
                </c:pt>
                <c:pt idx="12">
                  <c:v>IT Department</c:v>
                </c:pt>
                <c:pt idx="13">
                  <c:v>Frontend Development</c:v>
                </c:pt>
                <c:pt idx="14">
                  <c:v>Development Tooling</c:v>
                </c:pt>
                <c:pt idx="15">
                  <c:v>Customer Experience</c:v>
                </c:pt>
                <c:pt idx="16">
                  <c:v>Backend Development</c:v>
                </c:pt>
                <c:pt idx="17">
                  <c:v>Analytics Team</c:v>
                </c:pt>
              </c:strCache>
            </c:strRef>
          </c:cat>
          <c:val>
            <c:numRef>
              <c:f>Sheet1!$E$2:$E$19</c:f>
              <c:numCache>
                <c:formatCode>General</c:formatCode>
                <c:ptCount val="18"/>
                <c:pt idx="0">
                  <c:v>3.8461538461538463</c:v>
                </c:pt>
                <c:pt idx="1">
                  <c:v>2.2727272727272729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6.25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8.2568807339449535</c:v>
                </c:pt>
                <c:pt idx="14">
                  <c:v>6.4516129032258061</c:v>
                </c:pt>
                <c:pt idx="15">
                  <c:v>0</c:v>
                </c:pt>
                <c:pt idx="16">
                  <c:v>2.7027027027027026</c:v>
                </c:pt>
                <c:pt idx="17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Sheet1!$A$2:$A$19</c:f>
              <c:strCache>
                <c:ptCount val="18"/>
                <c:pt idx="0">
                  <c:v>architecture</c:v>
                </c:pt>
                <c:pt idx="1">
                  <c:v>Utility Development</c:v>
                </c:pt>
                <c:pt idx="2">
                  <c:v>Unknown</c:v>
                </c:pt>
                <c:pt idx="3">
                  <c:v>Team Blue</c:v>
                </c:pt>
                <c:pt idx="4">
                  <c:v>Server Team</c:v>
                </c:pt>
                <c:pt idx="5">
                  <c:v>Retail Operations</c:v>
                </c:pt>
                <c:pt idx="6">
                  <c:v>Research</c:v>
                </c:pt>
                <c:pt idx="7">
                  <c:v>PowerFX Team</c:v>
                </c:pt>
                <c:pt idx="8">
                  <c:v>PLC</c:v>
                </c:pt>
                <c:pt idx="9">
                  <c:v>OS team</c:v>
                </c:pt>
                <c:pt idx="10">
                  <c:v>Logic Apps Team</c:v>
                </c:pt>
                <c:pt idx="11">
                  <c:v>Java Team</c:v>
                </c:pt>
                <c:pt idx="12">
                  <c:v>IT Department</c:v>
                </c:pt>
                <c:pt idx="13">
                  <c:v>Frontend Development</c:v>
                </c:pt>
                <c:pt idx="14">
                  <c:v>Development Tooling</c:v>
                </c:pt>
                <c:pt idx="15">
                  <c:v>Customer Experience</c:v>
                </c:pt>
                <c:pt idx="16">
                  <c:v>Backend Development</c:v>
                </c:pt>
                <c:pt idx="17">
                  <c:v>Analytics Team</c:v>
                </c:pt>
              </c:strCache>
            </c:strRef>
          </c:cat>
          <c:val>
            <c:numRef>
              <c:f>Sheet1!$F$2:$F$19</c:f>
              <c:numCache>
                <c:formatCode>General</c:formatCode>
                <c:ptCount val="18"/>
                <c:pt idx="0">
                  <c:v>3.8461538461538463</c:v>
                </c:pt>
                <c:pt idx="1">
                  <c:v>5.6818181818181817</c:v>
                </c:pt>
                <c:pt idx="2">
                  <c:v>25</c:v>
                </c:pt>
                <c:pt idx="3">
                  <c:v>50</c:v>
                </c:pt>
                <c:pt idx="4">
                  <c:v>22.727272727272727</c:v>
                </c:pt>
                <c:pt idx="5">
                  <c:v>0</c:v>
                </c:pt>
                <c:pt idx="6">
                  <c:v>0</c:v>
                </c:pt>
                <c:pt idx="7">
                  <c:v>1.6129032258064515</c:v>
                </c:pt>
                <c:pt idx="8">
                  <c:v>16.129032258064516</c:v>
                </c:pt>
                <c:pt idx="9">
                  <c:v>10.9375</c:v>
                </c:pt>
                <c:pt idx="10">
                  <c:v>0</c:v>
                </c:pt>
                <c:pt idx="11">
                  <c:v>50</c:v>
                </c:pt>
                <c:pt idx="12">
                  <c:v>0</c:v>
                </c:pt>
                <c:pt idx="13">
                  <c:v>6.4220183486238529</c:v>
                </c:pt>
                <c:pt idx="14">
                  <c:v>3.225806451612903</c:v>
                </c:pt>
                <c:pt idx="15">
                  <c:v>0</c:v>
                </c:pt>
                <c:pt idx="16">
                  <c:v>4.5045045045045047</c:v>
                </c:pt>
                <c:pt idx="17">
                  <c:v>7.4074074074074074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53.191489361702125</c:v>
                </c:pt>
                <c:pt idx="1">
                  <c:v>34.865900383141764</c:v>
                </c:pt>
                <c:pt idx="2">
                  <c:v>48.559670781893004</c:v>
                </c:pt>
                <c:pt idx="3">
                  <c:v>32.89473684210526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2.6595744680851063</c:v>
                </c:pt>
                <c:pt idx="1">
                  <c:v>0.76628352490421459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17.553191489361701</c:v>
                </c:pt>
                <c:pt idx="1">
                  <c:v>58.620689655172413</c:v>
                </c:pt>
                <c:pt idx="2">
                  <c:v>44.032921810699591</c:v>
                </c:pt>
                <c:pt idx="3">
                  <c:v>56.578947368421055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5.8510638297872344</c:v>
                </c:pt>
                <c:pt idx="1">
                  <c:v>1.1494252873563218</c:v>
                </c:pt>
                <c:pt idx="2">
                  <c:v>1.2345679012345678</c:v>
                </c:pt>
                <c:pt idx="3">
                  <c:v>7.8947368421052628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20.74468085106383</c:v>
                </c:pt>
                <c:pt idx="1">
                  <c:v>4.5977011494252871</c:v>
                </c:pt>
                <c:pt idx="2">
                  <c:v>6.1728395061728394</c:v>
                </c:pt>
                <c:pt idx="3">
                  <c:v>2.6315789473684212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44.839857651245552</c:v>
                </c:pt>
                <c:pt idx="1">
                  <c:v>44.602609727164889</c:v>
                </c:pt>
                <c:pt idx="2">
                  <c:v>45.195729537366546</c:v>
                </c:pt>
                <c:pt idx="3">
                  <c:v>45.195729537366546</c:v>
                </c:pt>
                <c:pt idx="4">
                  <c:v>46.381969157769866</c:v>
                </c:pt>
                <c:pt idx="5">
                  <c:v>46.381969157769866</c:v>
                </c:pt>
                <c:pt idx="6">
                  <c:v>46.381969157769866</c:v>
                </c:pt>
                <c:pt idx="7">
                  <c:v>46.500593119810205</c:v>
                </c:pt>
                <c:pt idx="8">
                  <c:v>46.856465005931199</c:v>
                </c:pt>
                <c:pt idx="9">
                  <c:v>46.856465005931199</c:v>
                </c:pt>
                <c:pt idx="10">
                  <c:v>46.026097271648872</c:v>
                </c:pt>
                <c:pt idx="11">
                  <c:v>46.144721233689204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0.35587188612099646</c:v>
                </c:pt>
                <c:pt idx="1">
                  <c:v>0.47449584816132861</c:v>
                </c:pt>
                <c:pt idx="2">
                  <c:v>0.11862396204033215</c:v>
                </c:pt>
                <c:pt idx="3">
                  <c:v>1.4234875444839858</c:v>
                </c:pt>
                <c:pt idx="4">
                  <c:v>1.7793594306049823</c:v>
                </c:pt>
                <c:pt idx="5">
                  <c:v>0.83036773428232502</c:v>
                </c:pt>
                <c:pt idx="6">
                  <c:v>0.71174377224199292</c:v>
                </c:pt>
                <c:pt idx="7">
                  <c:v>2.6097271648873073</c:v>
                </c:pt>
                <c:pt idx="8">
                  <c:v>0.94899169632265723</c:v>
                </c:pt>
                <c:pt idx="9">
                  <c:v>1.0676156583629892</c:v>
                </c:pt>
                <c:pt idx="10">
                  <c:v>0.23724792408066431</c:v>
                </c:pt>
                <c:pt idx="11">
                  <c:v>0.94899169632265723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37.48517200474496</c:v>
                </c:pt>
                <c:pt idx="1">
                  <c:v>37.841043890865954</c:v>
                </c:pt>
                <c:pt idx="2">
                  <c:v>36.29893238434164</c:v>
                </c:pt>
                <c:pt idx="3">
                  <c:v>38.908659549228943</c:v>
                </c:pt>
                <c:pt idx="4">
                  <c:v>37.722419928825623</c:v>
                </c:pt>
                <c:pt idx="5">
                  <c:v>41.755634638196916</c:v>
                </c:pt>
                <c:pt idx="6">
                  <c:v>41.755634638196916</c:v>
                </c:pt>
                <c:pt idx="7">
                  <c:v>37.722419928825623</c:v>
                </c:pt>
                <c:pt idx="8">
                  <c:v>42.941874258600237</c:v>
                </c:pt>
                <c:pt idx="9">
                  <c:v>42.823250296559905</c:v>
                </c:pt>
                <c:pt idx="10">
                  <c:v>43.772241992882563</c:v>
                </c:pt>
                <c:pt idx="11">
                  <c:v>43.653618030842232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0.59311981020166071</c:v>
                </c:pt>
                <c:pt idx="1">
                  <c:v>0.35587188612099646</c:v>
                </c:pt>
                <c:pt idx="2">
                  <c:v>2.9655990510083039</c:v>
                </c:pt>
                <c:pt idx="3">
                  <c:v>1.66073546856465</c:v>
                </c:pt>
                <c:pt idx="4">
                  <c:v>3.3214709371293001</c:v>
                </c:pt>
                <c:pt idx="5">
                  <c:v>1.0676156583629892</c:v>
                </c:pt>
                <c:pt idx="6">
                  <c:v>0.94899169632265723</c:v>
                </c:pt>
                <c:pt idx="7">
                  <c:v>4.5077105575326213</c:v>
                </c:pt>
                <c:pt idx="8">
                  <c:v>0.83036773428232502</c:v>
                </c:pt>
                <c:pt idx="9">
                  <c:v>0.71174377224199292</c:v>
                </c:pt>
                <c:pt idx="10">
                  <c:v>1.66073546856465</c:v>
                </c:pt>
                <c:pt idx="11">
                  <c:v>1.4234875444839858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16.725978647686834</c:v>
                </c:pt>
                <c:pt idx="1">
                  <c:v>16.725978647686834</c:v>
                </c:pt>
                <c:pt idx="2">
                  <c:v>15.421115065243178</c:v>
                </c:pt>
                <c:pt idx="3">
                  <c:v>12.811387900355871</c:v>
                </c:pt>
                <c:pt idx="4">
                  <c:v>10.794780545670225</c:v>
                </c:pt>
                <c:pt idx="5">
                  <c:v>9.9644128113879002</c:v>
                </c:pt>
                <c:pt idx="6">
                  <c:v>10.201660735468565</c:v>
                </c:pt>
                <c:pt idx="7">
                  <c:v>8.6595492289442468</c:v>
                </c:pt>
                <c:pt idx="8">
                  <c:v>8.4223013048635824</c:v>
                </c:pt>
                <c:pt idx="9">
                  <c:v>8.5409252669039137</c:v>
                </c:pt>
                <c:pt idx="10">
                  <c:v>8.3036773428232511</c:v>
                </c:pt>
                <c:pt idx="11">
                  <c:v>7.8291814946619214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35.526315789473685</c:v>
                </c:pt>
                <c:pt idx="1">
                  <c:v>35.526315789473685</c:v>
                </c:pt>
                <c:pt idx="2">
                  <c:v>35.526315789473685</c:v>
                </c:pt>
                <c:pt idx="3">
                  <c:v>35.526315789473685</c:v>
                </c:pt>
                <c:pt idx="4">
                  <c:v>35.526315789473685</c:v>
                </c:pt>
                <c:pt idx="5">
                  <c:v>35.526315789473685</c:v>
                </c:pt>
                <c:pt idx="6">
                  <c:v>36.842105263157897</c:v>
                </c:pt>
                <c:pt idx="7">
                  <c:v>38.157894736842103</c:v>
                </c:pt>
                <c:pt idx="8">
                  <c:v>38.157894736842103</c:v>
                </c:pt>
                <c:pt idx="9">
                  <c:v>38.157894736842103</c:v>
                </c:pt>
                <c:pt idx="10">
                  <c:v>32.89473684210526</c:v>
                </c:pt>
                <c:pt idx="11">
                  <c:v>32.89473684210526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1.3157894736842106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63.157894736842103</c:v>
                </c:pt>
                <c:pt idx="1">
                  <c:v>63.157894736842103</c:v>
                </c:pt>
                <c:pt idx="2">
                  <c:v>63.157894736842103</c:v>
                </c:pt>
                <c:pt idx="3">
                  <c:v>63.157894736842103</c:v>
                </c:pt>
                <c:pt idx="4">
                  <c:v>63.157894736842103</c:v>
                </c:pt>
                <c:pt idx="5">
                  <c:v>63.157894736842103</c:v>
                </c:pt>
                <c:pt idx="6">
                  <c:v>61.842105263157897</c:v>
                </c:pt>
                <c:pt idx="7">
                  <c:v>57.89473684210526</c:v>
                </c:pt>
                <c:pt idx="8">
                  <c:v>59.210526315789473</c:v>
                </c:pt>
                <c:pt idx="9">
                  <c:v>60.526315789473685</c:v>
                </c:pt>
                <c:pt idx="10">
                  <c:v>56.578947368421055</c:v>
                </c:pt>
                <c:pt idx="11">
                  <c:v>67.10526315789474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2.6315789473684212</c:v>
                </c:pt>
                <c:pt idx="8">
                  <c:v>0</c:v>
                </c:pt>
                <c:pt idx="9">
                  <c:v>0</c:v>
                </c:pt>
                <c:pt idx="10">
                  <c:v>7.8947368421052628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1.3157894736842106</c:v>
                </c:pt>
                <c:pt idx="1">
                  <c:v>1.3157894736842106</c:v>
                </c:pt>
                <c:pt idx="2">
                  <c:v>1.3157894736842106</c:v>
                </c:pt>
                <c:pt idx="3">
                  <c:v>1.3157894736842106</c:v>
                </c:pt>
                <c:pt idx="4">
                  <c:v>1.3157894736842106</c:v>
                </c:pt>
                <c:pt idx="5">
                  <c:v>1.3157894736842106</c:v>
                </c:pt>
                <c:pt idx="6">
                  <c:v>1.3157894736842106</c:v>
                </c:pt>
                <c:pt idx="7">
                  <c:v>1.3157894736842106</c:v>
                </c:pt>
                <c:pt idx="8">
                  <c:v>1.3157894736842106</c:v>
                </c:pt>
                <c:pt idx="9">
                  <c:v>1.3157894736842106</c:v>
                </c:pt>
                <c:pt idx="10">
                  <c:v>2.6315789473684212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49.794238683127574</c:v>
                </c:pt>
                <c:pt idx="1">
                  <c:v>48.971193415637863</c:v>
                </c:pt>
                <c:pt idx="2">
                  <c:v>49.382716049382715</c:v>
                </c:pt>
                <c:pt idx="3">
                  <c:v>49.794238683127574</c:v>
                </c:pt>
                <c:pt idx="4">
                  <c:v>49.794238683127574</c:v>
                </c:pt>
                <c:pt idx="5">
                  <c:v>50.205761316872426</c:v>
                </c:pt>
                <c:pt idx="6">
                  <c:v>49.794238683127574</c:v>
                </c:pt>
                <c:pt idx="7">
                  <c:v>49.794238683127574</c:v>
                </c:pt>
                <c:pt idx="8">
                  <c:v>49.382716049382715</c:v>
                </c:pt>
                <c:pt idx="9">
                  <c:v>48.971193415637863</c:v>
                </c:pt>
                <c:pt idx="10">
                  <c:v>48.971193415637863</c:v>
                </c:pt>
                <c:pt idx="11">
                  <c:v>48.559670781893004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1.2345679012345678</c:v>
                </c:pt>
                <c:pt idx="8">
                  <c:v>0</c:v>
                </c:pt>
                <c:pt idx="9">
                  <c:v>0</c:v>
                </c:pt>
                <c:pt idx="10">
                  <c:v>0.41152263374485598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39.91769547325103</c:v>
                </c:pt>
                <c:pt idx="1">
                  <c:v>39.91769547325103</c:v>
                </c:pt>
                <c:pt idx="2">
                  <c:v>40.74074074074074</c:v>
                </c:pt>
                <c:pt idx="3">
                  <c:v>40.329218106995881</c:v>
                </c:pt>
                <c:pt idx="4">
                  <c:v>40.329218106995881</c:v>
                </c:pt>
                <c:pt idx="5">
                  <c:v>41.97530864197531</c:v>
                </c:pt>
                <c:pt idx="6">
                  <c:v>42.386831275720162</c:v>
                </c:pt>
                <c:pt idx="7">
                  <c:v>39.91769547325103</c:v>
                </c:pt>
                <c:pt idx="8">
                  <c:v>42.386831275720162</c:v>
                </c:pt>
                <c:pt idx="9">
                  <c:v>43.209876543209873</c:v>
                </c:pt>
                <c:pt idx="10">
                  <c:v>44.444444444444443</c:v>
                </c:pt>
                <c:pt idx="11">
                  <c:v>44.855967078189302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0.41152263374485598</c:v>
                </c:pt>
                <c:pt idx="1">
                  <c:v>1.2345679012345678</c:v>
                </c:pt>
                <c:pt idx="2">
                  <c:v>0</c:v>
                </c:pt>
                <c:pt idx="3">
                  <c:v>0</c:v>
                </c:pt>
                <c:pt idx="4">
                  <c:v>0.41152263374485598</c:v>
                </c:pt>
                <c:pt idx="5">
                  <c:v>0.41152263374485598</c:v>
                </c:pt>
                <c:pt idx="6">
                  <c:v>0.41152263374485598</c:v>
                </c:pt>
                <c:pt idx="7">
                  <c:v>1.6460905349794239</c:v>
                </c:pt>
                <c:pt idx="8">
                  <c:v>0.82304526748971196</c:v>
                </c:pt>
                <c:pt idx="9">
                  <c:v>0.41152263374485598</c:v>
                </c:pt>
                <c:pt idx="10">
                  <c:v>0</c:v>
                </c:pt>
                <c:pt idx="11">
                  <c:v>0.41152263374485598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9.8765432098765427</c:v>
                </c:pt>
                <c:pt idx="1">
                  <c:v>9.8765432098765427</c:v>
                </c:pt>
                <c:pt idx="2">
                  <c:v>9.8765432098765427</c:v>
                </c:pt>
                <c:pt idx="3">
                  <c:v>9.8765432098765427</c:v>
                </c:pt>
                <c:pt idx="4">
                  <c:v>9.4650205761316872</c:v>
                </c:pt>
                <c:pt idx="5">
                  <c:v>7.4074074074074074</c:v>
                </c:pt>
                <c:pt idx="6">
                  <c:v>7.4074074074074074</c:v>
                </c:pt>
                <c:pt idx="7">
                  <c:v>7.4074074074074074</c:v>
                </c:pt>
                <c:pt idx="8">
                  <c:v>7.4074074074074074</c:v>
                </c:pt>
                <c:pt idx="9">
                  <c:v>7.4074074074074074</c:v>
                </c:pt>
                <c:pt idx="10">
                  <c:v>6.1728395061728394</c:v>
                </c:pt>
                <c:pt idx="11">
                  <c:v>6.1728395061728394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33.333333333333336</c:v>
                </c:pt>
                <c:pt idx="1">
                  <c:v>33.333333333333336</c:v>
                </c:pt>
                <c:pt idx="2">
                  <c:v>33.333333333333336</c:v>
                </c:pt>
                <c:pt idx="3">
                  <c:v>33.333333333333336</c:v>
                </c:pt>
                <c:pt idx="4">
                  <c:v>34.099616858237546</c:v>
                </c:pt>
                <c:pt idx="5">
                  <c:v>33.716475095785441</c:v>
                </c:pt>
                <c:pt idx="6">
                  <c:v>33.716475095785441</c:v>
                </c:pt>
                <c:pt idx="7">
                  <c:v>34.099616858237546</c:v>
                </c:pt>
                <c:pt idx="8">
                  <c:v>34.482758620689658</c:v>
                </c:pt>
                <c:pt idx="9">
                  <c:v>34.865900383141764</c:v>
                </c:pt>
                <c:pt idx="10">
                  <c:v>34.865900383141764</c:v>
                </c:pt>
                <c:pt idx="11">
                  <c:v>34.865900383141764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0.76628352490421459</c:v>
                </c:pt>
                <c:pt idx="1">
                  <c:v>1.5325670498084292</c:v>
                </c:pt>
                <c:pt idx="2">
                  <c:v>0.38314176245210729</c:v>
                </c:pt>
                <c:pt idx="3">
                  <c:v>2.2988505747126435</c:v>
                </c:pt>
                <c:pt idx="4">
                  <c:v>4.5977011494252871</c:v>
                </c:pt>
                <c:pt idx="5">
                  <c:v>1.1494252873563218</c:v>
                </c:pt>
                <c:pt idx="6">
                  <c:v>1.1494252873563218</c:v>
                </c:pt>
                <c:pt idx="7">
                  <c:v>2.2988505747126435</c:v>
                </c:pt>
                <c:pt idx="8">
                  <c:v>0.38314176245210729</c:v>
                </c:pt>
                <c:pt idx="9">
                  <c:v>1.5325670498084292</c:v>
                </c:pt>
                <c:pt idx="10">
                  <c:v>0.38314176245210729</c:v>
                </c:pt>
                <c:pt idx="11">
                  <c:v>0.38314176245210729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54.022988505747129</c:v>
                </c:pt>
                <c:pt idx="1">
                  <c:v>54.406130268199234</c:v>
                </c:pt>
                <c:pt idx="2">
                  <c:v>54.022988505747129</c:v>
                </c:pt>
                <c:pt idx="3">
                  <c:v>52.107279693486589</c:v>
                </c:pt>
                <c:pt idx="4">
                  <c:v>45.21072796934866</c:v>
                </c:pt>
                <c:pt idx="5">
                  <c:v>56.70498084291188</c:v>
                </c:pt>
                <c:pt idx="6">
                  <c:v>56.321839080459768</c:v>
                </c:pt>
                <c:pt idx="7">
                  <c:v>52.490421455938694</c:v>
                </c:pt>
                <c:pt idx="8">
                  <c:v>59.003831417624518</c:v>
                </c:pt>
                <c:pt idx="9">
                  <c:v>57.47126436781609</c:v>
                </c:pt>
                <c:pt idx="10">
                  <c:v>58.620689655172413</c:v>
                </c:pt>
                <c:pt idx="11">
                  <c:v>59.38697318007663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1.1494252873563218</c:v>
                </c:pt>
                <c:pt idx="1">
                  <c:v>0</c:v>
                </c:pt>
                <c:pt idx="2">
                  <c:v>1.5325670498084292</c:v>
                </c:pt>
                <c:pt idx="3">
                  <c:v>1.5325670498084292</c:v>
                </c:pt>
                <c:pt idx="4">
                  <c:v>8.0459770114942533</c:v>
                </c:pt>
                <c:pt idx="5">
                  <c:v>1.1494252873563218</c:v>
                </c:pt>
                <c:pt idx="6">
                  <c:v>1.5325670498084292</c:v>
                </c:pt>
                <c:pt idx="7">
                  <c:v>4.5977011494252871</c:v>
                </c:pt>
                <c:pt idx="8">
                  <c:v>0.38314176245210729</c:v>
                </c:pt>
                <c:pt idx="9">
                  <c:v>0.76628352490421459</c:v>
                </c:pt>
                <c:pt idx="10">
                  <c:v>1.5325670498084292</c:v>
                </c:pt>
                <c:pt idx="11">
                  <c:v>0.76628352490421459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10.727969348659004</c:v>
                </c:pt>
                <c:pt idx="1">
                  <c:v>10.727969348659004</c:v>
                </c:pt>
                <c:pt idx="2">
                  <c:v>10.727969348659004</c:v>
                </c:pt>
                <c:pt idx="3">
                  <c:v>10.727969348659004</c:v>
                </c:pt>
                <c:pt idx="4">
                  <c:v>8.0459770114942533</c:v>
                </c:pt>
                <c:pt idx="5">
                  <c:v>7.2796934865900385</c:v>
                </c:pt>
                <c:pt idx="6">
                  <c:v>7.2796934865900385</c:v>
                </c:pt>
                <c:pt idx="7">
                  <c:v>6.5134099616858236</c:v>
                </c:pt>
                <c:pt idx="8">
                  <c:v>5.7471264367816088</c:v>
                </c:pt>
                <c:pt idx="9">
                  <c:v>5.3639846743295019</c:v>
                </c:pt>
                <c:pt idx="10">
                  <c:v>4.5977011494252871</c:v>
                </c:pt>
                <c:pt idx="11">
                  <c:v>4.5977011494252871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45.744680851063826</c:v>
                </c:pt>
                <c:pt idx="1">
                  <c:v>45.744680851063826</c:v>
                </c:pt>
                <c:pt idx="2">
                  <c:v>47.872340425531917</c:v>
                </c:pt>
                <c:pt idx="3">
                  <c:v>47.340425531914896</c:v>
                </c:pt>
                <c:pt idx="4">
                  <c:v>51.595744680851062</c:v>
                </c:pt>
                <c:pt idx="5">
                  <c:v>51.595744680851062</c:v>
                </c:pt>
                <c:pt idx="6">
                  <c:v>51.595744680851062</c:v>
                </c:pt>
                <c:pt idx="7">
                  <c:v>51.063829787234042</c:v>
                </c:pt>
                <c:pt idx="8">
                  <c:v>52.659574468085104</c:v>
                </c:pt>
                <c:pt idx="9">
                  <c:v>52.659574468085104</c:v>
                </c:pt>
                <c:pt idx="10">
                  <c:v>52.127659574468083</c:v>
                </c:pt>
                <c:pt idx="11">
                  <c:v>53.191489361702125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0.53191489361702127</c:v>
                </c:pt>
                <c:pt idx="1">
                  <c:v>0</c:v>
                </c:pt>
                <c:pt idx="2">
                  <c:v>0</c:v>
                </c:pt>
                <c:pt idx="3">
                  <c:v>3.1914893617021276</c:v>
                </c:pt>
                <c:pt idx="4">
                  <c:v>1.5957446808510638</c:v>
                </c:pt>
                <c:pt idx="5">
                  <c:v>2.1276595744680851</c:v>
                </c:pt>
                <c:pt idx="6">
                  <c:v>1.5957446808510638</c:v>
                </c:pt>
                <c:pt idx="7">
                  <c:v>6.9148936170212769</c:v>
                </c:pt>
                <c:pt idx="8">
                  <c:v>3.1914893617021276</c:v>
                </c:pt>
                <c:pt idx="9">
                  <c:v>2.6595744680851063</c:v>
                </c:pt>
                <c:pt idx="10">
                  <c:v>0</c:v>
                </c:pt>
                <c:pt idx="11">
                  <c:v>3.7234042553191489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6.3829787234042552</c:v>
                </c:pt>
                <c:pt idx="1">
                  <c:v>7.4468085106382977</c:v>
                </c:pt>
                <c:pt idx="2">
                  <c:v>0</c:v>
                </c:pt>
                <c:pt idx="3">
                  <c:v>14.893617021276595</c:v>
                </c:pt>
                <c:pt idx="4">
                  <c:v>19.148936170212767</c:v>
                </c:pt>
                <c:pt idx="5">
                  <c:v>19.148936170212767</c:v>
                </c:pt>
                <c:pt idx="6">
                  <c:v>19.680851063829788</c:v>
                </c:pt>
                <c:pt idx="7">
                  <c:v>12.23404255319149</c:v>
                </c:pt>
                <c:pt idx="8">
                  <c:v>22.340425531914892</c:v>
                </c:pt>
                <c:pt idx="9">
                  <c:v>22.340425531914892</c:v>
                </c:pt>
                <c:pt idx="10">
                  <c:v>25</c:v>
                </c:pt>
                <c:pt idx="11">
                  <c:v>17.553191489361701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0.53191489361702127</c:v>
                </c:pt>
                <c:pt idx="1">
                  <c:v>0</c:v>
                </c:pt>
                <c:pt idx="2">
                  <c:v>11.170212765957446</c:v>
                </c:pt>
                <c:pt idx="3">
                  <c:v>5.3191489361702127</c:v>
                </c:pt>
                <c:pt idx="4">
                  <c:v>3.1914893617021276</c:v>
                </c:pt>
                <c:pt idx="5">
                  <c:v>2.6595744680851063</c:v>
                </c:pt>
                <c:pt idx="6">
                  <c:v>1.5957446808510638</c:v>
                </c:pt>
                <c:pt idx="7">
                  <c:v>10.106382978723405</c:v>
                </c:pt>
                <c:pt idx="8">
                  <c:v>2.1276595744680851</c:v>
                </c:pt>
                <c:pt idx="9">
                  <c:v>1.5957446808510638</c:v>
                </c:pt>
                <c:pt idx="10">
                  <c:v>2.1276595744680851</c:v>
                </c:pt>
                <c:pt idx="11">
                  <c:v>4.7872340425531918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46.808510638297875</c:v>
                </c:pt>
                <c:pt idx="1">
                  <c:v>46.808510638297875</c:v>
                </c:pt>
                <c:pt idx="2">
                  <c:v>40.957446808510639</c:v>
                </c:pt>
                <c:pt idx="3">
                  <c:v>29.25531914893617</c:v>
                </c:pt>
                <c:pt idx="4">
                  <c:v>24.468085106382979</c:v>
                </c:pt>
                <c:pt idx="5">
                  <c:v>24.468085106382979</c:v>
                </c:pt>
                <c:pt idx="6">
                  <c:v>25.531914893617021</c:v>
                </c:pt>
                <c:pt idx="7">
                  <c:v>19.680851063829788</c:v>
                </c:pt>
                <c:pt idx="8">
                  <c:v>19.680851063829788</c:v>
                </c:pt>
                <c:pt idx="9">
                  <c:v>20.74468085106383</c:v>
                </c:pt>
                <c:pt idx="10">
                  <c:v>20.74468085106383</c:v>
                </c:pt>
                <c:pt idx="11">
                  <c:v>20.74468085106383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9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0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4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5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72B8B4-E227-994A-A2C0-477E986EF4F1}" type="datetimeFigureOut">
              <a:rPr lang="nl-NL" smtClean="0"/>
              <a:t>12-03-2026</a:t>
            </a:fld>
            <a:endParaRPr lang="nl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C65466-C581-7E43-9AE7-259D040BA751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127179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446859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4830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E62B7-BF97-0973-EDF4-48908FBE9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D3CEDA-8AB3-6AF0-70C6-E15C6FC8C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069262-B5A4-2FCE-7E08-7EAAD1DB39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B9485A-62C7-3089-C70F-6405456B24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5542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2D2F1-F27E-F008-D28F-A80C65A79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CFE20B-AC68-A715-1904-A8997A740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C90C4E-EA51-177C-42BA-46AF20D0BD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E6F7B-6012-765E-DCF5-2558BB00D9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238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77F13-6185-DA3A-E4BF-93AB08710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AAA878-4BCC-C37E-C60B-5C73D7AB75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91676A-8DB0-EB68-AFE3-4B5980881A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71DA36-1389-3F55-2F71-57DFDF61FB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8385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C86E9-8DBC-7315-34FD-58C7242D7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8AD624-4D2F-82F2-F904-1C760725E6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94E577-5C9F-05A6-2A63-85479AB3CA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DF337-03B5-BF71-3308-EB7914FE23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33015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2D0F5-8BBF-7EE5-13F5-9F0CF5DC7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B9B9BD-FD8B-6877-05B7-E767615347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3D1F4E-1948-87BC-0DC9-1B2643E769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F1974D-1303-6585-E51A-9BB4C09339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5330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2AC41-72C5-457E-68E0-ABA79431E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875686-AB67-CADF-5E29-F5A5E8D972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487485-085D-0D90-7A80-DA34DCDD1B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BB4E9A-7183-4A81-0FF4-A45C76293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37115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4830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63206-5A0F-6590-5CC2-8128E2972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635E41-5775-0107-E6CF-D4AEE682D0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CD9C8D-B649-9612-CD2B-DCF6CEA0A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4F1303-806E-A123-9657-CCEC8C32C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5205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2D2F1-F27E-F008-D28F-A80C65A79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CFE20B-AC68-A715-1904-A8997A740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C90C4E-EA51-177C-42BA-46AF20D0BD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E6F7B-6012-765E-DCF5-2558BB00D9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238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71DC2-F944-34DD-B764-85BED2F08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3AABBC-4283-B289-4871-B4E7AF2C71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0EA979-5454-3EEC-CBC8-37F698F314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55A1BD-6926-2626-8E5D-55F3DAC16D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58964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46A897-55A7-2447-F783-128B0CFBB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9104CF-C963-7F07-8CBB-81BC53752A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676AC3-E364-BACE-9255-7FEDBC1065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8BDFFB-1DE8-A17E-1199-64339F16E5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89461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72BE28-66CD-D44C-0C55-AC9782C01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EA4409-553C-FD5A-DFB7-7323806337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8D879E-AF06-1362-CB5F-F90FA68657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AFB8AC-ED1E-0E2E-5AF2-507128B54A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949250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3862A-F09F-91B5-B819-242958E8B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0E31BB-F827-E21D-B159-D85EAFD8E9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D7BD65-F7D4-27E5-1285-CD1B365EC4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5E97A5-3B47-5DA4-12BE-7F0013740B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38968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92525A-77B9-4F45-8B5F-B3F774D89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455FC7-AD94-D9A7-D34B-DADFAE57C9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E22277-C214-6DF7-231D-6BEE9F1E0B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992DA4-1468-1278-5185-5DACC01D12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87835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0933614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9E683-C9EC-1D45-88B8-5E84B5854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7B5CBF-3012-045D-BF54-6FE84596A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33B5E4-7175-81ED-5825-D28FF4AD05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7745D3-74FD-0ADA-5B6C-DC6DBDDF1C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3186810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DBAF86-B143-256F-A6DE-947386033F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25F102-ED15-0829-E661-51C4199886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E443AE-3F29-B710-BB72-3C5A9268F9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526D24-99AD-2305-5C33-E2F7A390DB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934422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B77980-1C59-BCBF-435E-2C9A6452DF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507D0A-AFE6-2745-BEC9-601C2FB443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32906F-F26B-760C-23AB-148118A7CF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897CA1-82AA-AB43-4653-AB12BB92AE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4710931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0383857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1172550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9055108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6495160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29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7444829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30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1889232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31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9604012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32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239508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33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9961442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34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822990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18DFC1-A092-39A6-01F6-D2F6F7EE4D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B55B31-A62C-50B3-929D-AFCAB21DFA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983540-5D23-2147-246A-6861D7E45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12-03-2026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F0B823-EE09-CCCD-AD82-235F371313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323649-355D-2EC3-C538-28DCFDDA8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443845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06EC1-BAD4-048B-DE60-365F66086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1434C8-5B1B-AAFE-5A88-035583DC47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850A86-A068-5667-0F21-95CD344C3F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12-03-2026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EAE3D6-BA23-05FB-E4A5-C476A8558F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1D2667-534A-8E1F-E7F9-874D705C6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58494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8F72FA-6831-D446-DAA6-ECB4EBABFD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AB2809-64C1-C78F-DED0-555454D70F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C57AD6-1027-472D-EFFA-642150187B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12-03-2026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6383D0-6645-F7DD-58D1-CEE36A3F76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09594D-0DCF-D1F7-02FA-ADEB7E55FF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726940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6F8BC2-E729-5CA7-A85D-B87D3C8993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469312-1F3B-CD00-4FE6-1BEC46249A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6208A2-3CD8-922C-368B-AC22417857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DE7EED-8EC8-DC93-6375-211201D1C9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12-03-2026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63E202-3E62-F1F5-AA8A-4DF23B5D0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0533DD-54BD-DF1A-BF91-014256CD4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675678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D267F-3834-145B-D726-8B1A36D7FC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EBA246-FDD1-ABC3-1967-33046C19BE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1C608E-9237-0ED4-43E0-3D0B788B9E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66FA3F-6CE9-C148-0C59-6F91CA0D47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2E70E57-ADFF-6A13-CE59-49AE43F8A2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C10CBC1-D140-DD3B-63FB-E123E4DFC0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12-03-2026</a:t>
            </a:fld>
            <a:endParaRPr lang="nl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844A1E-E8D3-5E40-DD0F-5313D9CBBB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954E296-AFD6-9148-7462-58922113EF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490921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48992D-D52C-8E25-3702-5E88F20F9B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5CD539-F339-2698-C282-23D615C992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12-03-2026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E9A67B4-CC38-B6E6-30FD-E5D968C5BC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45C68D-CD45-B0DD-55C5-A6F04B80C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714229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F484CB2-1819-B929-7CB4-4F5ADE4C67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12-03-2026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72B4E0D-5006-921D-1B83-674EE31FAD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063261-F0AD-00BB-494F-065135760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12340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AA695C-D390-7203-1264-8CA4F326CC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D80FB8-A98C-9D9B-96EF-0FC08B5D35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75051B-26E6-991C-2BF1-36EEEB3439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0C7D98-224A-925C-298C-B15F57AB17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12-03-2026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994ECD-A2D4-87F4-1621-19B2287583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44779C-C8FC-1B0E-7453-C4FE268B7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615212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DB926-55E1-35BE-B7AD-45510E6998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8CB0A1E-50F0-97C4-1E15-1515BC99EC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C8BA65E-56F7-639F-B3C5-6585D8CAD3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2BE9665-F72E-69FA-3CD5-EFC7AABFB4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12-03-2026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7FCA99-D2CA-1518-5B72-A3127DC66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7245A7-B6E7-5C5B-2A98-0A1062D7A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929479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2A00C0-A8A9-4299-F6BC-A9A4D1D2EF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AC950B-78FF-DBD3-956A-704427372F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6A5E70-0961-1783-39D0-F920697194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12-03-2026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5B0C4B-49E6-4E83-B38E-C5702A5897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EE0A6B-73CE-C5B8-57ED-10FCF34B2E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440102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A163D09-2DBE-222D-C11B-C988284F0DF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8A635D-3DF0-D555-E18D-E803069A8A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040FEB-D828-70C1-4E34-8AC4616312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12-03-2026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5EF7E4-703C-826B-BD71-BDA84A0B4F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01093A-4C95-CCB9-4F38-023203BC2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038523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General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4800" y="85637"/>
            <a:ext cx="11880000" cy="1325563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83834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General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6115631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0892F76-C81B-4467-B617-ACE6547936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6725CF-7581-4A48-ACBD-3890345A2D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06AE24-DF80-5A91-126D-F71EE96505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42F8156-3D1B-1047-9A3D-372BE84AD46C}" type="datetimeFigureOut">
              <a:rPr lang="nl-NL" smtClean="0"/>
              <a:t>12-03-2026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8A3FF1-3ADA-45D9-8076-20F3EC61B2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444382-98DF-26B3-68BE-FEAF5F1205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923481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9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0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1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2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3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4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5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0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0E1C48-4250-F014-A3F8-34661B4FC53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Portfolio overview</a:t>
            </a:r>
            <a:endParaRPr lang="nl-NL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A8A455-F547-606F-671C-0AC8D9917FD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err="1"/>
              <a:t>Opendemo</a:t>
            </a:r>
            <a:endParaRPr lang="en-US" dirty="0"/>
          </a:p>
          <a:p>
            <a:r>
              <a:rPr lang="en-US" i="1" dirty="0" err="1"/>
              <a:t>March 12, 2026</a:t>
            </a:r>
            <a:endParaRPr lang="nl-NL" i="1" dirty="0"/>
          </a:p>
        </p:txBody>
      </p:sp>
    </p:spTree>
    <p:extLst>
      <p:ext uri="{BB962C8B-B14F-4D97-AF65-F5344CB8AC3E}">
        <p14:creationId xmlns:p14="http://schemas.microsoft.com/office/powerpoint/2010/main" val="13360243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CA42B1-79CC-1E21-4639-E7E670166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FFC30FB-D319-2C0A-9F37-22FDBE06E5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208AD9-F8A2-F7B2-D9F1-70BCDD12FBB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717DAB3-373D-DCEC-7681-4A145CDFE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DA4B2A8-B773-91AF-217C-D5EE6ACFCD3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r>
              <a:rPr lang="en-US" sz="3200" b="1" dirty="0"/>
              <a:t>PROGRESS IN SIGRID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01EFB6F-BDEE-5ED9-3CD5-ECFE541AE10E}"/>
              </a:ext>
            </a:extLst>
          </p:cNvPr>
          <p:cNvSpPr/>
          <p:nvPr/>
        </p:nvSpPr>
        <p:spPr>
          <a:xfrm>
            <a:off x="1371600" y="0"/>
            <a:ext cx="10820400" cy="11862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38859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65B9EEB-750A-B63C-431E-C83D0FD7E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 between February 2026 and March 2026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9A17AFA3-FC96-B65B-0A6A-D4A1754157FE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CD0E6B1-41C3-CBAF-81A1-5291864E7E21}"/>
              </a:ext>
            </a:extLst>
          </p:cNvPr>
          <p:cNvSpPr txBox="1"/>
          <p:nvPr/>
        </p:nvSpPr>
        <p:spPr>
          <a:xfrm>
            <a:off x="3343684" y="3924001"/>
            <a:ext cx="5284288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>
                <a:solidFill>
                  <a:srgbClr val="0066FF"/>
                </a:solidFill>
              </a:rPr>
              <a:t>⬤</a:t>
            </a:r>
            <a:r>
              <a:rPr lang="en-US" sz="1600" dirty="0">
                <a:solidFill>
                  <a:schemeClr val="tx2"/>
                </a:solidFill>
              </a:rPr>
              <a:t> Complete    </a:t>
            </a:r>
            <a:r>
              <a:rPr lang="en-US" sz="1600" dirty="0">
                <a:solidFill>
                  <a:srgbClr val="67E77F"/>
                </a:solidFill>
              </a:rPr>
              <a:t>⬤</a:t>
            </a:r>
            <a:r>
              <a:rPr lang="en-US" sz="1600" dirty="0">
                <a:solidFill>
                  <a:schemeClr val="tx2"/>
                </a:solidFill>
              </a:rPr>
              <a:t> Increased    </a:t>
            </a:r>
            <a:r>
              <a:rPr lang="en-US" sz="1600" dirty="0">
                <a:solidFill>
                  <a:srgbClr val="F06241"/>
                </a:solidFill>
              </a:rPr>
              <a:t>⬤</a:t>
            </a:r>
            <a:r>
              <a:rPr lang="en-US" sz="1600" dirty="0">
                <a:solidFill>
                  <a:schemeClr val="tx2"/>
                </a:solidFill>
              </a:rPr>
              <a:t> Decreased    </a:t>
            </a:r>
            <a:r>
              <a:rPr lang="en-US" sz="1600" dirty="0">
                <a:solidFill>
                  <a:srgbClr val="BFC4CF"/>
                </a:solidFill>
              </a:rPr>
              <a:t>⬤</a:t>
            </a:r>
            <a:r>
              <a:rPr lang="en-US" sz="1600" dirty="0">
                <a:solidFill>
                  <a:schemeClr val="tx2"/>
                </a:solidFill>
              </a:rPr>
              <a:t> Incomplete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A08C5B-250B-FC47-1AD3-3C078984145A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5DB27D0-EDA4-3C43-0A09-967F11094A3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3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780981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FA7D2-16D5-A283-E5D3-02028E6C07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8EFB01E-7199-3087-1F83-52C1190C7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</a:t>
            </a:r>
            <a:r>
              <a:rPr lang="en-US" dirty="0"/>
              <a:t> over time</a:t>
            </a:r>
            <a:endParaRPr lang="en-US" sz="2400" dirty="0"/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52C16B72-396C-FACA-8BB0-F4504E8F3C3F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FA1C5AF-9085-C111-CACA-05BD3DAB557A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>
                <a:solidFill>
                  <a:srgbClr val="0066FF"/>
                </a:solidFill>
              </a:rPr>
              <a:t>⬤</a:t>
            </a:r>
            <a:r>
              <a:rPr lang="en-US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7F3C6A-7DFB-53D1-2356-25E4D5CBC43A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036A146-29BF-7CA2-2908-F2C86F33F1C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4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7335391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95A28-0797-82EC-8AAB-40E0AD48F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8F4B936-22AE-53AE-D47F-598EDA211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 per capability between February 2026 and March 2026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2774041C-71AE-0495-78BB-3253007E9E90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64208DC-0422-1C0A-F36A-3E68057F3E5B}"/>
              </a:ext>
            </a:extLst>
          </p:cNvPr>
          <p:cNvSpPr txBox="1"/>
          <p:nvPr/>
        </p:nvSpPr>
        <p:spPr>
          <a:xfrm>
            <a:off x="3352012" y="5941071"/>
            <a:ext cx="5284288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>
                <a:solidFill>
                  <a:srgbClr val="0066FF"/>
                </a:solidFill>
              </a:rPr>
              <a:t>⬤</a:t>
            </a:r>
            <a:r>
              <a:rPr lang="en-US" sz="1600" dirty="0">
                <a:solidFill>
                  <a:schemeClr val="tx2"/>
                </a:solidFill>
              </a:rPr>
              <a:t> Complete    </a:t>
            </a:r>
            <a:r>
              <a:rPr lang="en-US" sz="1600" dirty="0">
                <a:solidFill>
                  <a:srgbClr val="67E77F"/>
                </a:solidFill>
              </a:rPr>
              <a:t>⬤</a:t>
            </a:r>
            <a:r>
              <a:rPr lang="en-US" sz="1600" dirty="0">
                <a:solidFill>
                  <a:schemeClr val="tx2"/>
                </a:solidFill>
              </a:rPr>
              <a:t> Increased    </a:t>
            </a:r>
            <a:r>
              <a:rPr lang="en-US" sz="1600" dirty="0">
                <a:solidFill>
                  <a:srgbClr val="F06241"/>
                </a:solidFill>
              </a:rPr>
              <a:t>⬤</a:t>
            </a:r>
            <a:r>
              <a:rPr lang="en-US" sz="1600" dirty="0">
                <a:solidFill>
                  <a:schemeClr val="tx2"/>
                </a:solidFill>
              </a:rPr>
              <a:t> Decreased    </a:t>
            </a:r>
            <a:r>
              <a:rPr lang="en-US" sz="1600" dirty="0">
                <a:solidFill>
                  <a:srgbClr val="BFC4CF"/>
                </a:solidFill>
              </a:rPr>
              <a:t>⬤</a:t>
            </a:r>
            <a:r>
              <a:rPr lang="en-US" sz="1600" dirty="0">
                <a:solidFill>
                  <a:schemeClr val="tx2"/>
                </a:solidFill>
              </a:rPr>
              <a:t> Incomplete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77E27A-346A-7209-76CD-BF5DB2681082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458A9EA-AB86-5971-70BD-18746FED9BD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5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7090898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99A0F-B83A-EBEB-A808-30AD19FF0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346EF3-CD28-FFA0-169F-DB5D8A0CD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objectives: Maintainability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6A5764CB-E5B1-083A-A3BC-4B4C31D364C6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3CC9FF0-AB79-ABC8-F329-16AC81263C86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>
                <a:solidFill>
                  <a:srgbClr val="0066FF"/>
                </a:solidFill>
              </a:rPr>
              <a:t>⬤</a:t>
            </a:r>
            <a:r>
              <a:rPr lang="en-US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C2580F-B6CD-77C6-14B9-30EB83366C2E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7307F2D-FDB8-AC4C-ACFA-CDBAE3CD8F8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6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4061912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33548-AF8A-DB5D-1B63-77CE67683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BF2716D-9FE8-0CD3-81E1-C55968C5B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objectives: </a:t>
            </a:r>
            <a:r>
              <a:rPr lang="en-US" dirty="0"/>
              <a:t>Architecture</a:t>
            </a:r>
            <a:endParaRPr lang="en-US" sz="2400" dirty="0"/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7507C9AC-02D8-080E-E0DF-076B8886E4D4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71B99D-BF0F-6325-0317-FAF16C1BFC8E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>
                <a:solidFill>
                  <a:srgbClr val="0066FF"/>
                </a:solidFill>
              </a:rPr>
              <a:t>⬤</a:t>
            </a:r>
            <a:r>
              <a:rPr lang="en-US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EC1496-868F-E561-71C3-7A9DC6833873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77A2343E-4E3B-DE64-59CA-4672A9243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7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9395423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CDB560-0589-B274-3129-E2437CFA1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BE90226-C387-AD0E-CB48-3AC0D6BA8C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objectives: Open Source Health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EFBE414-6C0F-D888-D92A-8F4B1578B1E8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55F32ED1-229A-B9CF-7034-34B50F9DA34E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>
                <a:solidFill>
                  <a:srgbClr val="0066FF"/>
                </a:solidFill>
              </a:rPr>
              <a:t>⬤</a:t>
            </a:r>
            <a:r>
              <a:rPr lang="en-US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0B8231-088E-AD7D-64C5-DE763E94554E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07EFD069-A5E8-28E5-C656-D9092244E05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8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751062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53B19-00F5-BFA0-C36C-ACEB0F916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505556D-9CC2-9B0A-DDA8-9AF0AA5A6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objectives: Security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6FA88CE-DDBE-C10D-7439-48AFDF8BC931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B6152522-5061-5A0D-7288-66E187FB7C31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>
                <a:solidFill>
                  <a:srgbClr val="0066FF"/>
                </a:solidFill>
              </a:rPr>
              <a:t>⬤</a:t>
            </a:r>
            <a:r>
              <a:rPr lang="en-US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C72B87-2D1E-D2F1-65AB-69BA6680A392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7D7CB3C8-5FC1-63F4-9226-2151F828029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9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3433655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CA42B1-79CC-1E21-4639-E7E670166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FFC30FB-D319-2C0A-9F37-22FDBE06E5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208AD9-F8A2-F7B2-D9F1-70BCDD12FBB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717DAB3-373D-DCEC-7681-4A145CDFE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DA4B2A8-B773-91AF-217C-D5EE6ACFCD3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r>
              <a:rPr lang="en-US" sz="3200" b="1" dirty="0"/>
              <a:t>OBJECTIVES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01EFB6F-BDEE-5ED9-3CD5-ECFE541AE10E}"/>
              </a:ext>
            </a:extLst>
          </p:cNvPr>
          <p:cNvSpPr/>
          <p:nvPr/>
        </p:nvSpPr>
        <p:spPr>
          <a:xfrm>
            <a:off x="1371600" y="0"/>
            <a:ext cx="10820400" cy="11862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10778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65B9EEB-750A-B63C-431E-C83D0FD7E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 between February 2026 and March 2026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9A17AFA3-FC96-B65B-0A6A-D4A1754157FE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CD0E6B1-41C3-CBAF-81A1-5291864E7E21}"/>
              </a:ext>
            </a:extLst>
          </p:cNvPr>
          <p:cNvSpPr txBox="1"/>
          <p:nvPr/>
        </p:nvSpPr>
        <p:spPr>
          <a:xfrm>
            <a:off x="2791143" y="394977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A08C5B-250B-FC47-1AD3-3C078984145A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5DB27D0-EDA4-3C43-0A09-967F11094A3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11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5104348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257F2-BA89-4390-88ED-8FB60EF16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F47F5DA-4282-38F9-1499-DF6018168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 per team between February 2026 and March 2026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8EC5A35-9538-D995-065E-528B18F85DED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329A40A-AF83-BB5A-88A1-56A221C73FA2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AF4431-111B-9E39-96DA-E7355B3BFC0A}"/>
              </a:ext>
            </a:extLst>
          </p:cNvPr>
          <p:cNvSpPr txBox="1"/>
          <p:nvPr/>
        </p:nvSpPr>
        <p:spPr>
          <a:xfrm>
            <a:off x="9508826" y="1325702"/>
            <a:ext cx="2023844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team’s systems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F1AD40B4-54CF-E962-E2CD-DBA01BAF128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12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8077049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95A28-0797-82EC-8AAB-40E0AD48F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8F4B936-22AE-53AE-D47F-598EDA211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 per capability between February 2026 and March 2026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2774041C-71AE-0495-78BB-3253007E9E90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64208DC-0422-1C0A-F36A-3E68057F3E5B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77E27A-346A-7209-76CD-BF5DB2681082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458A9EA-AB86-5971-70BD-18746FED9BD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13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004005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F600E-1C52-CB46-5D36-227AF7C7B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39A4AB2-1C46-4914-7434-6FBDA68DD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 over time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ED42228-B917-5A3E-BB6B-9871F4C489AA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832C182B-21A7-0B3F-FD20-1EAE8DC0298E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18F0D0-4FE8-9F07-C0C1-9B71E7D05D3A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284A89CA-B332-7EC3-67B2-258E207222F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14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3975172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663A228-91DD-866A-C3BE-29D9BA0B02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7ED074-760A-27AF-25CE-E2511AFEA51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D810002-51D8-CFBC-BD3F-963973A8ED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D534E21-7EB0-8655-1FAF-0FBBAA97919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r>
              <a:rPr lang="en-US" sz="3200" b="1"/>
              <a:t>OBJECTIVES: TREND PER CAPABILITY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074427A-C727-A25F-00F6-6BA35F10855E}"/>
              </a:ext>
            </a:extLst>
          </p:cNvPr>
          <p:cNvSpPr/>
          <p:nvPr/>
        </p:nvSpPr>
        <p:spPr>
          <a:xfrm>
            <a:off x="1371600" y="0"/>
            <a:ext cx="10820400" cy="11862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56547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F07E0E-1EF7-93CB-AE93-58F5DBBBD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CF13107-CDB7-AC85-5C5F-E7555AB75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objectives: Security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EA804B61-8F8C-C6D5-94BB-B5CA583E7BE3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463D52BC-C3E2-2451-161B-F52A7FA9705A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BDB332-5B7A-58F8-1634-D547EFC67F5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F0C18547-BE89-EC61-7BC4-8E69B57A25F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16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166511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BEF245-3442-A171-4B71-8976E674B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23ACF5B-388E-198E-FD05-ADCFD0748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objectives: Open Source Health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1551057A-38E3-B1CD-A98D-FA6566BDC6A6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B5C2DE49-7433-6CBC-CA29-7C7939288C8E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31CF1D-7DAE-FF14-4371-2186B59208F0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494BABF-3857-C7F4-BDBD-8716AD63B7A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17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7741565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4EC71-BF20-1EC9-6B8D-E66363F24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BDABA6-F829-DABD-783E-014F92383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objectives: Maintainability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D309D7A3-6D2B-5238-FDCA-89277EA3E24A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D644A357-894B-360C-F02D-0E805F440A54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8BF43F-4B27-019F-F6AA-84146EA48A8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8FDDB53-DF23-E4D7-3B57-48245519662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18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6009490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EA77C-7A9E-2604-6B02-6FB6C57A3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EFC0CB5-4975-B41B-F265-6AE5A3F2AD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objectives: Architecture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FBB521E4-96ED-814A-B322-AFBA0633E84C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79FE74E7-A4E7-D99A-A30E-92E30405FE49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5E5897-263B-F75F-BB48-770410B9BCF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03F6258-6556-30B1-2DD0-5E65108A589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19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613540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53638-E7EA-6540-EB95-71AC99BB1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05C72F-BC02-E5AC-7875-697FD443A9D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9E30962-2823-732A-4055-DA798F204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7E713ED-C675-C9A6-C511-46A1453EFEE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r>
              <a:rPr lang="en-US" sz="3200" b="1" dirty="0"/>
              <a:t>PORTFOLIO TRENDS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AD5F29-E096-9FA6-116C-606DEF54A9DD}"/>
              </a:ext>
            </a:extLst>
          </p:cNvPr>
          <p:cNvSpPr/>
          <p:nvPr/>
        </p:nvSpPr>
        <p:spPr>
          <a:xfrm>
            <a:off x="1371600" y="0"/>
            <a:ext cx="10820400" cy="11862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17259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0D57D-D9E0-0D54-99BF-370236A4E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30CDF8-AD1F-BEA5-A3FB-DC88D9F9F97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21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3DBB2B9-0296-180F-567D-D9ECC883CD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>
            <a:noAutofit/>
          </a:bodyPr>
          <a:lstStyle/>
          <a:p>
            <a:r>
              <a:rPr lang="en-US" sz="2400" dirty="0" err="1"/>
              <a:t>About 45 (48%) systems score market average on maintainability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AC353E-E13C-926F-C3E1-D8C14E15D9C3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6FB33CD-972D-82BA-611A-BDA571B47A1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DE4CE2D8-AF36-1619-C271-9C435288998E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18111897-7224-E345-11E7-8002B34665CA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E67F5082-8E3E-9CEB-C965-361879865B49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7652D42D-90F6-85F9-FCD4-2DD65F491A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D27C6D0F-6AF5-D3CE-BBC9-7F26FA8F0628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C18D4CD3-AF18-2126-5C33-FCED98244135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6D59D4FF-397B-D59F-BB96-933FBC0EC31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B581278C-6E6C-659E-220E-2B07B65B204B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99A582B4-FE1C-8CB4-8D4D-8F52881C5DC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C8C408CA-DC9F-CBF6-3A69-A361C644E35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1C9D8453-6A78-2467-4740-DA4482730943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B95BF954-10CE-7360-6EAA-4F815EA5189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31383F2C-7A4B-9383-1735-CDB5649DB3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7D87164E-9BC4-E615-13C4-744FA6CD5AFA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A7FD47B3-E88D-A7C7-BC1A-4E7179A989D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C6D2AA28-6B9E-E433-FED0-0152B03BBEA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3" y="1472195"/>
            <a:ext cx="11233603" cy="4571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65178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800F3-3D18-CF63-16D4-96CA78393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D9EB6A-8DF6-69EE-B118-CBF9A8558A5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22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AFF12C5-E73A-8501-2BCE-9BD95E2EC9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>
            <a:noAutofit/>
          </a:bodyPr>
          <a:lstStyle/>
          <a:p>
            <a:r>
              <a:rPr lang="en-US" sz="2400" dirty="0" err="1"/>
              <a:t>About 45 (48%) systems score market average on maintainability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B9C8604-49B1-C79B-52E3-E11913D097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044EBA72-3AF3-C450-92C3-70B42255A7A7}"/>
              </a:ext>
            </a:extLst>
          </p:cNvPr>
          <p:cNvSpPr txBox="1"/>
          <p:nvPr/>
        </p:nvSpPr>
        <p:spPr>
          <a:xfrm>
            <a:off x="2643466" y="6054740"/>
            <a:ext cx="1520116" cy="22512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Lifecycle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6849045C-A3DB-D503-5F61-D4753A6B2ED2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5624AC01-AE32-E25C-2E9D-D62F1A546D56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E528D542-C236-FC7F-A86B-58E301E03F2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6C8A81E2-505A-2686-805D-D50F2ED4D58F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B6DC148D-262C-83BE-A7DB-4CEECDA9841D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73216D68-D9B6-5F6A-FBB5-3659B7899EE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5C52AC4-11B0-1D06-863D-8E95DF4FAEE5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3FCAE05B-9910-83DD-05A3-9ED3538CAB1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B02E6CFD-57D4-174C-07D0-383B813F680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F26E1917-406F-73B3-C93D-1D8325F31D6D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967C8CEE-6BFB-AD76-8318-6426CA6A5C12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8290A5E7-04EA-1335-3D95-D2A8C4CF3F1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9C1BB1CA-50D6-5754-E886-56DDDB6B630E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2AAE7018-A3D7-FF0D-2550-A7320B145E2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CDBAC6E5-512A-CB63-DCC5-44139D7EAC6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3" y="1472195"/>
            <a:ext cx="11233603" cy="4571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3457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22BE5-80A4-219C-185D-79D226A8C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C19CF67-67C1-196C-5212-CF782C6A30F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23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BE4F193-C6C7-64CA-EDCD-83C3007680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>
            <a:noAutofit/>
          </a:bodyPr>
          <a:lstStyle/>
          <a:p>
            <a:r>
              <a:rPr lang="en-US" sz="2400" dirty="0" err="1"/>
              <a:t>About 45 (48%) systems score market average on maintainability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9CEF1B-77C6-72C9-67A4-8FD590658B6F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BC0D6C20-4BB8-9E06-CFFC-01FE6D4594D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45F8E30B-5282-F591-81E5-38E8D28A4337}"/>
              </a:ext>
            </a:extLst>
          </p:cNvPr>
          <p:cNvSpPr txBox="1"/>
          <p:nvPr/>
        </p:nvSpPr>
        <p:spPr>
          <a:xfrm>
            <a:off x="2643466" y="6054740"/>
            <a:ext cx="1674005" cy="22512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Deployment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C06ABF7B-8E73-2773-8D86-94BF6C84D562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66FB4AA5-C460-7345-BEBF-85FF2EE62A22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0C3BD28F-97A2-7C56-93BD-B8B86388F8F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CEDE8EDA-EA43-0FC6-8954-90C03765339C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EF358481-B2A7-AF82-A99A-D3B4A57A41F1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D5949264-F1E4-0A92-81F8-09B85DD1906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FDAFB52F-1898-08E2-FC0A-500D6EA91D9B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310EB8E9-7ABA-5402-DB76-F7BBFE31C1D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578A0E16-4C86-C488-A308-2486BC6D369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CE2E24A2-9B55-A841-1DE1-138ECAEE1F24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30FB21F5-C359-44A4-B24D-9376625C819A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80764962-3621-93A5-DDF7-94704410F42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EDB1A6FF-ECE3-6EFB-C8D4-EE17491F84B4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B57F034E-9009-71D4-3402-5D134420E736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EFDA78C9-00C0-B5FB-B2CB-60301267206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3" y="1472195"/>
            <a:ext cx="11233603" cy="4571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03322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E94D2-F7AA-EF4D-559F-7794EA40A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7C3273-F2BA-D1EA-4E61-3EA1D0B80C7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24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BF031D1-1053-BDDF-7EF2-A38650905E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>
            <a:noAutofit/>
          </a:bodyPr>
          <a:lstStyle/>
          <a:p>
            <a:r>
              <a:rPr lang="en-US" sz="2400" dirty="0" err="1"/>
              <a:t>About 45 (48%) systems score market average on maintainability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746CE21-1A65-FFC9-9052-86A726EAFDDD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3B91C8CB-3AFC-3A73-F4FB-547FFD08F3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BEF8F457-6436-12D3-DAA3-61548A0AB661}"/>
              </a:ext>
            </a:extLst>
          </p:cNvPr>
          <p:cNvSpPr txBox="1"/>
          <p:nvPr/>
        </p:nvSpPr>
        <p:spPr>
          <a:xfrm>
            <a:off x="2643466" y="6054740"/>
            <a:ext cx="1988193" cy="22512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Business criticality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90C07D85-BA88-F1CB-544B-71B06F9567B3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89EE96DB-CBFB-81AC-F3AB-4D2312937C99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6849459F-628F-E580-D725-9F798DB080A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01E50964-86C8-02C0-CB39-04B40C2DB931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FD1FFFB3-BA2A-A8F8-CB77-3C0B353E8DC5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008754E8-3625-ED92-FE05-9E217662A7B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9E630F72-1B52-18AB-8AA7-2D160813740F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8394A134-866B-B751-7C04-8A572F0E956F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FCF02081-A2A3-1532-38DC-C4BBEA9219C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2E2F14B4-762F-A566-9713-8F642EB8718B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0939B51A-30A2-20E3-2BFA-46C58E10D47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118C8227-933C-05C6-3BF9-AFA7428F608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6F9CFC03-B411-D271-2B44-FD5CE1517FBB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86103C86-FF94-C4A1-A970-087240F20A99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8EDFC3D4-82AD-FF08-C317-7FCAD3C612C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3" y="1472195"/>
            <a:ext cx="11233603" cy="4571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314592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9A092B-3A98-114F-C2A0-DD62E3F46D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057243-FAB8-E039-D9A3-D54EC6EA8F7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25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684D56A-257C-C7BE-6375-A44CB8A5A4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>
            <a:noAutofit/>
          </a:bodyPr>
          <a:lstStyle/>
          <a:p>
            <a:r>
              <a:rPr lang="en-US" sz="2400" dirty="0" err="1"/>
              <a:t>The portfolio remained stable (2.5) during the measured period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ECF270-F885-64B6-46BF-241F241374B9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DAD7929-7B61-72A6-AA9F-B6798F4387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BAC6AA5-168E-F727-F6B3-8078A8F19EFB}"/>
              </a:ext>
            </a:extLst>
          </p:cNvPr>
          <p:cNvSpPr txBox="1"/>
          <p:nvPr/>
        </p:nvSpPr>
        <p:spPr>
          <a:xfrm>
            <a:off x="1996335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F8D49E38-6B3A-90E7-57E3-B03E0C49D5E3}"/>
              </a:ext>
            </a:extLst>
          </p:cNvPr>
          <p:cNvSpPr>
            <a:spLocks noChangeAspect="1"/>
          </p:cNvSpPr>
          <p:nvPr/>
        </p:nvSpPr>
        <p:spPr>
          <a:xfrm>
            <a:off x="879122" y="61185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95261DDD-E528-238B-3F1F-FDA7B2453D0A}"/>
              </a:ext>
            </a:extLst>
          </p:cNvPr>
          <p:cNvSpPr>
            <a:spLocks noChangeAspect="1"/>
          </p:cNvSpPr>
          <p:nvPr/>
        </p:nvSpPr>
        <p:spPr>
          <a:xfrm>
            <a:off x="1038992" y="61185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3B9A086-BD80-D521-433C-9FBA23A0C6D5}"/>
              </a:ext>
            </a:extLst>
          </p:cNvPr>
          <p:cNvSpPr>
            <a:spLocks noChangeAspect="1"/>
          </p:cNvSpPr>
          <p:nvPr/>
        </p:nvSpPr>
        <p:spPr>
          <a:xfrm>
            <a:off x="1198862" y="61185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BC1AEF0F-6590-B59B-788E-2855B27060D4}"/>
              </a:ext>
            </a:extLst>
          </p:cNvPr>
          <p:cNvSpPr>
            <a:spLocks noChangeAspect="1"/>
          </p:cNvSpPr>
          <p:nvPr/>
        </p:nvSpPr>
        <p:spPr>
          <a:xfrm>
            <a:off x="1358732" y="61185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075AAB98-B44C-90C2-26A8-D1BFC5D4393E}"/>
              </a:ext>
            </a:extLst>
          </p:cNvPr>
          <p:cNvSpPr>
            <a:spLocks noChangeAspect="1"/>
          </p:cNvSpPr>
          <p:nvPr/>
        </p:nvSpPr>
        <p:spPr>
          <a:xfrm>
            <a:off x="1518602" y="61185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9444EC0-D1F0-547F-4728-0516F25DCF5B}"/>
              </a:ext>
            </a:extLst>
          </p:cNvPr>
          <p:cNvSpPr txBox="1"/>
          <p:nvPr/>
        </p:nvSpPr>
        <p:spPr>
          <a:xfrm>
            <a:off x="1678471" y="6054740"/>
            <a:ext cx="317864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</a:rPr>
              <a:t>+</a:t>
            </a:r>
            <a:r>
              <a:rPr lang="en-US" sz="800" b="1" dirty="0">
                <a:solidFill>
                  <a:schemeClr val="tx2"/>
                </a:solidFill>
                <a:latin typeface="Sigsterren" pitchFamily="2" charset="0"/>
              </a:rPr>
              <a:t>H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96B688A-DD6B-5AFB-AC4D-56D97DE08695}"/>
              </a:ext>
            </a:extLst>
          </p:cNvPr>
          <p:cNvSpPr txBox="1"/>
          <p:nvPr/>
        </p:nvSpPr>
        <p:spPr>
          <a:xfrm>
            <a:off x="512064" y="6054740"/>
            <a:ext cx="298628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</a:rPr>
              <a:t>-</a:t>
            </a:r>
            <a:r>
              <a:rPr lang="en-US" sz="800" b="1" dirty="0">
                <a:solidFill>
                  <a:schemeClr val="tx2"/>
                </a:solidFill>
                <a:latin typeface="Sigsterren" pitchFamily="2" charset="0"/>
              </a:rPr>
              <a:t>H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3" y="1472195"/>
            <a:ext cx="11233603" cy="4571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89331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0D57D-D9E0-0D54-99BF-370236A4E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30CDF8-AD1F-BEA5-A3FB-DC88D9F9F97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26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3DBB2B9-0296-180F-567D-D9ECC883CD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Maintainability delta quality ratings of the portfolio between 2026-02-12 and 2026-03-12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AC353E-E13C-926F-C3E1-D8C14E15D9C3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6FB33CD-972D-82BA-611A-BDA571B47A1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DE4CE2D8-AF36-1619-C271-9C435288998E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18111897-7224-E345-11E7-8002B34665CA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E67F5082-8E3E-9CEB-C965-361879865B49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7652D42D-90F6-85F9-FCD4-2DD65F491A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D27C6D0F-6AF5-D3CE-BBC9-7F26FA8F0628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C18D4CD3-AF18-2126-5C33-FCED98244135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6D59D4FF-397B-D59F-BB96-933FBC0EC31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B581278C-6E6C-659E-220E-2B07B65B204B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99A582B4-FE1C-8CB4-8D4D-8F52881C5DC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C8C408CA-DC9F-CBF6-3A69-A361C644E35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1C9D8453-6A78-2467-4740-DA4482730943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B95BF954-10CE-7360-6EAA-4F815EA5189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31383F2C-7A4B-9383-1735-CDB5649DB3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7D87164E-9BC4-E615-13C4-744FA6CD5AFA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A7FD47B3-E88D-A7C7-BC1A-4E7179A989D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C6D2AA28-6B9E-E433-FED0-0152B03BBEA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31D16385-746F-021C-58FE-67A1E779E0FF}"/>
              </a:ext>
            </a:extLst>
          </p:cNvPr>
          <p:cNvSpPr txBox="1"/>
          <p:nvPr/>
        </p:nvSpPr>
        <p:spPr>
          <a:xfrm>
            <a:off x="1565977" y="1478241"/>
            <a:ext cx="1027546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b="1" dirty="0">
                <a:solidFill>
                  <a:schemeClr val="tx1"/>
                </a:solidFill>
              </a:rPr>
              <a:t>New code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905ABF-A6D7-FAC1-5B91-5CADF7955C81}"/>
              </a:ext>
            </a:extLst>
          </p:cNvPr>
          <p:cNvSpPr txBox="1"/>
          <p:nvPr/>
        </p:nvSpPr>
        <p:spPr>
          <a:xfrm>
            <a:off x="5406473" y="1478241"/>
            <a:ext cx="1379053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b="1" dirty="0"/>
              <a:t>Changed</a:t>
            </a:r>
            <a:r>
              <a:rPr lang="en-US" sz="1600" b="1" dirty="0">
                <a:solidFill>
                  <a:schemeClr val="tx1"/>
                </a:solidFill>
              </a:rPr>
              <a:t> code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918689B-E326-5F21-B8B6-92726D3378BB}"/>
              </a:ext>
            </a:extLst>
          </p:cNvPr>
          <p:cNvSpPr txBox="1"/>
          <p:nvPr/>
        </p:nvSpPr>
        <p:spPr>
          <a:xfrm>
            <a:off x="9032106" y="1478241"/>
            <a:ext cx="2160293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b="1" dirty="0">
                <a:solidFill>
                  <a:schemeClr val="tx1"/>
                </a:solidFill>
              </a:rPr>
              <a:t>New and changed code</a:t>
            </a:r>
          </a:p>
        </p:txBody>
      </p:sp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8499" y="1838036"/>
            <a:ext cx="3847501" cy="4145376"/>
          </a:xfrm>
          <a:prstGeom prst="rect">
            <a:avLst/>
          </a:prstGeom>
        </p:spPr>
      </p:pic>
      <p:pic>
        <p:nvPicPr>
          <p:cNvPr id="75" name="Picture 7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72248" y="1838036"/>
            <a:ext cx="3847501" cy="4145376"/>
          </a:xfrm>
          <a:prstGeom prst="rect">
            <a:avLst/>
          </a:prstGeom>
        </p:spPr>
      </p:pic>
      <p:pic>
        <p:nvPicPr>
          <p:cNvPr id="76" name="Picture 7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6000" y="1838036"/>
            <a:ext cx="3847501" cy="4145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063099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EBC13B-F586-F5BD-7A43-AC9714B78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C659FF-CBDC-CC70-F631-D315ACF4764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27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4AEBA7B-EC1B-0579-C38D-F8A91A0EEF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Change in volume (effort) of the portfolio between 2026-02-12 and 2026-03-12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1B5BA4-D487-BD86-4517-7C629B3F6BB1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24D27AA7-4FE9-C5A8-680C-7651241AD78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D26AC4F8-A612-A2C5-60EE-46C8EEB067C0}"/>
              </a:ext>
            </a:extLst>
          </p:cNvPr>
          <p:cNvSpPr txBox="1"/>
          <p:nvPr/>
        </p:nvSpPr>
        <p:spPr>
          <a:xfrm>
            <a:off x="1996335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BA22223E-D563-C733-7EB6-E554F9A409DC}"/>
              </a:ext>
            </a:extLst>
          </p:cNvPr>
          <p:cNvSpPr>
            <a:spLocks noChangeAspect="1"/>
          </p:cNvSpPr>
          <p:nvPr/>
        </p:nvSpPr>
        <p:spPr>
          <a:xfrm>
            <a:off x="879122" y="6118505"/>
            <a:ext cx="91440" cy="91440"/>
          </a:xfrm>
          <a:prstGeom prst="roundRect">
            <a:avLst/>
          </a:prstGeom>
          <a:solidFill>
            <a:srgbClr val="F69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A5FD4E83-3A51-8CEB-F1E7-B9AE6CF35E46}"/>
              </a:ext>
            </a:extLst>
          </p:cNvPr>
          <p:cNvSpPr>
            <a:spLocks noChangeAspect="1"/>
          </p:cNvSpPr>
          <p:nvPr/>
        </p:nvSpPr>
        <p:spPr>
          <a:xfrm>
            <a:off x="1038992" y="6118505"/>
            <a:ext cx="91440" cy="91440"/>
          </a:xfrm>
          <a:prstGeom prst="roundRect">
            <a:avLst/>
          </a:prstGeom>
          <a:solidFill>
            <a:srgbClr val="EFE6D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87B5994A-70B5-BDCF-5682-883A04BCCE42}"/>
              </a:ext>
            </a:extLst>
          </p:cNvPr>
          <p:cNvSpPr>
            <a:spLocks noChangeAspect="1"/>
          </p:cNvSpPr>
          <p:nvPr/>
        </p:nvSpPr>
        <p:spPr>
          <a:xfrm>
            <a:off x="1198862" y="61185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0BDB81E5-9879-BE81-8051-08CA6EF45B3E}"/>
              </a:ext>
            </a:extLst>
          </p:cNvPr>
          <p:cNvSpPr>
            <a:spLocks noChangeAspect="1"/>
          </p:cNvSpPr>
          <p:nvPr/>
        </p:nvSpPr>
        <p:spPr>
          <a:xfrm>
            <a:off x="1358732" y="6118505"/>
            <a:ext cx="91440" cy="91440"/>
          </a:xfrm>
          <a:prstGeom prst="roundRect">
            <a:avLst/>
          </a:prstGeom>
          <a:solidFill>
            <a:srgbClr val="D8E9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0D82FEF4-F9F5-6891-BDCC-7C48A7133F72}"/>
              </a:ext>
            </a:extLst>
          </p:cNvPr>
          <p:cNvSpPr>
            <a:spLocks noChangeAspect="1"/>
          </p:cNvSpPr>
          <p:nvPr/>
        </p:nvSpPr>
        <p:spPr>
          <a:xfrm>
            <a:off x="1518602" y="6118505"/>
            <a:ext cx="91440" cy="91440"/>
          </a:xfrm>
          <a:prstGeom prst="roundRect">
            <a:avLst/>
          </a:prstGeom>
          <a:solidFill>
            <a:srgbClr val="58B8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B6D5220-3415-91B8-276B-76F572C63818}"/>
              </a:ext>
            </a:extLst>
          </p:cNvPr>
          <p:cNvSpPr txBox="1"/>
          <p:nvPr/>
        </p:nvSpPr>
        <p:spPr>
          <a:xfrm>
            <a:off x="1678471" y="6054740"/>
            <a:ext cx="34191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+PY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B157733-65A2-2CA1-C3A1-6033C85CAB1E}"/>
              </a:ext>
            </a:extLst>
          </p:cNvPr>
          <p:cNvSpPr txBox="1"/>
          <p:nvPr/>
        </p:nvSpPr>
        <p:spPr>
          <a:xfrm>
            <a:off x="512064" y="6054740"/>
            <a:ext cx="322674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-PY</a:t>
            </a:r>
          </a:p>
        </p:txBody>
      </p:sp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3" y="1472195"/>
            <a:ext cx="11233603" cy="4571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834864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98B94-159B-948F-0AFF-57D21882A6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985621-2D28-9AB1-179A-D9D8366A58E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28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074F167-668D-210C-5C93-4EB801EF7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Architecture ratings of the portfolio between 2026-02-12 and 2026-03-12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93017EF-A386-CAA2-6A07-96E4B2D997B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58A3327-6118-370B-8363-D7ADF8B574C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06E37FC2-777A-0F60-ABC7-4621AE884476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A0A16E73-A1E0-4BC8-B4E4-7864C43FD26A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708D778-329C-D174-F5F1-CB9998DB4354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29" name="Rounded Rectangle 28">
              <a:extLst>
                <a:ext uri="{FF2B5EF4-FFF2-40B4-BE49-F238E27FC236}">
                  <a16:creationId xmlns:a16="http://schemas.microsoft.com/office/drawing/2014/main" id="{F23B0641-C51A-1164-1488-2D8351F2FD1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C6732EA-3CF8-4098-6A71-A4BE2C78F410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789F270-100E-1C90-D75E-ED070FC0D248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4B199232-2C7B-CE6C-8619-A4F13C65045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3F7B50A9-89F5-38A6-090B-1A0D014ACC31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CEBA535C-1218-320D-9DCA-E6AF1E198496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A1EE2939-67E0-7787-8275-C65C782E879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996BC872-D9CD-D7FC-CCB7-ACF73B3F05D4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4DB8CD9F-B8FA-0FB6-53F6-2D39B0364E1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186358DD-6C1D-C01B-4945-B1559CD65B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51D44E56-CC8C-DF72-8571-551DB39EFAD1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AE7CB3B9-DDE3-51DD-022A-D5103A71AD10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30004702-6D14-9BA1-7C29-10C5B9CA635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pic>
        <p:nvPicPr>
          <p:cNvPr id="48" name="Picture 4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3" y="1472195"/>
            <a:ext cx="11233603" cy="4571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235930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0D57D-D9E0-0D54-99BF-370236A4E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30CDF8-AD1F-BEA5-A3FB-DC88D9F9F97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29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3DBB2B9-0296-180F-567D-D9ECC883CD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Open-source health ratings of the portfolio between 2026-02-12 and 2026-03-12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AC353E-E13C-926F-C3E1-D8C14E15D9C3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6FB33CD-972D-82BA-611A-BDA571B47A1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DE4CE2D8-AF36-1619-C271-9C435288998E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18111897-7224-E345-11E7-8002B34665CA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E67F5082-8E3E-9CEB-C965-361879865B49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7652D42D-90F6-85F9-FCD4-2DD65F491A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D27C6D0F-6AF5-D3CE-BBC9-7F26FA8F0628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C18D4CD3-AF18-2126-5C33-FCED98244135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6D59D4FF-397B-D59F-BB96-933FBC0EC31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B581278C-6E6C-659E-220E-2B07B65B204B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99A582B4-FE1C-8CB4-8D4D-8F52881C5DC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C8C408CA-DC9F-CBF6-3A69-A361C644E35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1C9D8453-6A78-2467-4740-DA4482730943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B95BF954-10CE-7360-6EAA-4F815EA5189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31383F2C-7A4B-9383-1735-CDB5649DB3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7D87164E-9BC4-E615-13C4-744FA6CD5AFA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A7FD47B3-E88D-A7C7-BC1A-4E7179A989D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C6D2AA28-6B9E-E433-FED0-0152B03BBEA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3" y="1472195"/>
            <a:ext cx="11233603" cy="4571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22447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054897-76F9-AAFA-689E-859A05016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3DA84B-A8FF-561D-5BE5-472D23F8352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30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FB5966A-E6AD-D0AA-719E-91AAA59644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Security ratings of the portfolio between 2026-02-12 and 2026-03-12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B23437B-9103-F910-DA88-E786F4F1AC56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BE2BFF46-8C29-AB4B-F2B1-08C35741FFC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9D58A50D-967C-17A9-8826-8E857C0D09F7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1FCE37CD-D789-C9CC-B3F1-D822D13D9CB3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0AC2ED9-ED5D-C0F0-7FAC-89E92FE7A73E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27" name="Rounded Rectangle 26">
              <a:extLst>
                <a:ext uri="{FF2B5EF4-FFF2-40B4-BE49-F238E27FC236}">
                  <a16:creationId xmlns:a16="http://schemas.microsoft.com/office/drawing/2014/main" id="{3CC167F9-6790-48E2-A6D5-ACA7AD8416F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FC8B29D-F4DD-50C9-9017-75E022A12052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21E54D5-F91E-6B58-1C95-5A67CE07D6B2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A56CDE96-1671-BB45-8B37-A88B31C70E5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6359F7FC-54D0-2949-EE42-C602D24930BA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AE0DAA19-B5AD-7680-2494-B8BD9F03DED9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33E84355-AB6A-ED2E-EEDE-3A1F583F77F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659599C-679E-FE7D-111C-F951BA2325C9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7359069-73BD-1F86-2C2F-B6B4992F1CBE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EB9775F2-5461-C552-F938-B09422878B8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0FC952A4-81F7-5DB7-BC4A-7E7855D878E5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67A5F101-5D92-FA2B-F494-AFF1D0EB332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7EE8E326-D841-00CB-CDD0-5005C2C4CBC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3" y="1472195"/>
            <a:ext cx="11233603" cy="4571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496623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43F93-7952-EE6F-AB83-36D7C31DFF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97F46F4-FE2B-5585-3E4E-45ED2341A45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31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33EE222-E5BC-4470-AF2E-B90F56B77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Security findings of the portfolio of the last 12 months (ending at 2026-03-12) 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A159BC40-5B4C-795C-6FCB-FCA563A5AE0F}"/>
              </a:ext>
            </a:extLst>
          </p:cNvPr>
          <p:cNvSpPr/>
          <p:nvPr/>
        </p:nvSpPr>
        <p:spPr>
          <a:xfrm>
            <a:off x="525101" y="1411200"/>
            <a:ext cx="11141800" cy="4852800"/>
          </a:xfrm>
          <a:prstGeom prst="roundRect">
            <a:avLst>
              <a:gd name="adj" fmla="val 706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73152" rIns="0" bIns="73152" rtlCol="0" anchor="t"/>
          <a:lstStyle/>
          <a:p>
            <a:pPr algn="ctr"/>
            <a:r>
              <a:rPr lang="en-US" sz="1200" b="1" noProof="0" dirty="0">
                <a:solidFill>
                  <a:schemeClr val="tx1"/>
                </a:solidFill>
              </a:rPr>
              <a:t>Security findings</a:t>
            </a:r>
          </a:p>
        </p:txBody>
      </p:sp>
      <p:pic>
        <p:nvPicPr>
          <p:cNvPr id="32" name="Graphic 31">
            <a:extLst>
              <a:ext uri="{FF2B5EF4-FFF2-40B4-BE49-F238E27FC236}">
                <a16:creationId xmlns:a16="http://schemas.microsoft.com/office/drawing/2014/main" id="{284C6DD6-8200-16D2-9609-569E042945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5FC185B0-6CA0-A445-999A-8C89A24E3665}"/>
              </a:ext>
            </a:extLst>
          </p:cNvPr>
          <p:cNvSpPr/>
          <p:nvPr/>
        </p:nvSpPr>
        <p:spPr>
          <a:xfrm flipH="1">
            <a:off x="955163" y="1562933"/>
            <a:ext cx="5073966" cy="2305534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4C37EC38-873F-C0A8-F818-24FB209E2B8E}"/>
              </a:ext>
            </a:extLst>
          </p:cNvPr>
          <p:cNvSpPr/>
          <p:nvPr/>
        </p:nvSpPr>
        <p:spPr>
          <a:xfrm flipH="1">
            <a:off x="6165410" y="1562933"/>
            <a:ext cx="5070948" cy="230553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E329652B-628D-7B3F-5C6F-43469FA826A5}"/>
              </a:ext>
            </a:extLst>
          </p:cNvPr>
          <p:cNvSpPr/>
          <p:nvPr/>
        </p:nvSpPr>
        <p:spPr>
          <a:xfrm flipH="1">
            <a:off x="3560526" y="3939319"/>
            <a:ext cx="5070948" cy="2305534"/>
          </a:xfrm>
          <a:prstGeom prst="roundRect">
            <a:avLst>
              <a:gd name="adj" fmla="val 383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F09819"/>
                </a:solidFill>
              </a:rPr>
              <a:t>Medium</a:t>
            </a:r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6007" y="1798326"/>
            <a:ext cx="4832278" cy="2034624"/>
          </a:xfrm>
          <a:prstGeom prst="rect">
            <a:avLst/>
          </a:prstGeom>
        </p:spPr>
      </p:pic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79861" y="4174711"/>
            <a:ext cx="4832278" cy="2034624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4745" y="1798326"/>
            <a:ext cx="4832278" cy="2034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74065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7FC9EA-B8A7-1749-9437-CD803D33C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72D615-A071-5226-44B4-91F63CC8270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32</a:t>
            </a:fld>
            <a:endParaRPr lang="nl-NL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27BE383-7689-A77A-D28C-E114CEA9FE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Security resolution times of the portfolio of the last 12 months (ending at 2026-03-12) 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F5326C2D-C268-C6FA-1AC2-B751F98C3035}"/>
              </a:ext>
            </a:extLst>
          </p:cNvPr>
          <p:cNvSpPr/>
          <p:nvPr/>
        </p:nvSpPr>
        <p:spPr>
          <a:xfrm>
            <a:off x="525101" y="1411200"/>
            <a:ext cx="11141800" cy="4852800"/>
          </a:xfrm>
          <a:prstGeom prst="roundRect">
            <a:avLst>
              <a:gd name="adj" fmla="val 706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73152" rIns="0" bIns="73152" rtlCol="0" anchor="t"/>
          <a:lstStyle/>
          <a:p>
            <a:pPr algn="ctr"/>
            <a:r>
              <a:rPr lang="en-US" sz="1200" b="1" noProof="0" dirty="0">
                <a:solidFill>
                  <a:schemeClr val="tx1"/>
                </a:solidFill>
              </a:rPr>
              <a:t>Security resolution times</a:t>
            </a:r>
          </a:p>
        </p:txBody>
      </p:sp>
      <p:pic>
        <p:nvPicPr>
          <p:cNvPr id="32" name="Graphic 31">
            <a:extLst>
              <a:ext uri="{FF2B5EF4-FFF2-40B4-BE49-F238E27FC236}">
                <a16:creationId xmlns:a16="http://schemas.microsoft.com/office/drawing/2014/main" id="{23359F52-1E48-C168-CBD3-43791F34DD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E80C53A6-E87C-E89A-78B8-8F9537AA5D75}"/>
              </a:ext>
            </a:extLst>
          </p:cNvPr>
          <p:cNvSpPr/>
          <p:nvPr/>
        </p:nvSpPr>
        <p:spPr>
          <a:xfrm flipH="1">
            <a:off x="955163" y="1562933"/>
            <a:ext cx="5073966" cy="2305534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6F046E34-2126-0CA7-96AA-936FDE050854}"/>
              </a:ext>
            </a:extLst>
          </p:cNvPr>
          <p:cNvSpPr/>
          <p:nvPr/>
        </p:nvSpPr>
        <p:spPr>
          <a:xfrm flipH="1">
            <a:off x="6165410" y="1562933"/>
            <a:ext cx="5070948" cy="230553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374C7591-8B12-75FA-079B-AC6778FE65D8}"/>
              </a:ext>
            </a:extLst>
          </p:cNvPr>
          <p:cNvSpPr/>
          <p:nvPr/>
        </p:nvSpPr>
        <p:spPr>
          <a:xfrm flipH="1">
            <a:off x="3560526" y="3939319"/>
            <a:ext cx="5070948" cy="2305534"/>
          </a:xfrm>
          <a:prstGeom prst="roundRect">
            <a:avLst>
              <a:gd name="adj" fmla="val 383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F09819"/>
                </a:solidFill>
              </a:rPr>
              <a:t>Medium</a:t>
            </a:r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9861" y="4174711"/>
            <a:ext cx="4832278" cy="2034624"/>
          </a:xfrm>
          <a:prstGeom prst="rect">
            <a:avLst/>
          </a:prstGeom>
        </p:spPr>
      </p:pic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4745" y="1798326"/>
            <a:ext cx="4832278" cy="2034624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6007" y="1798326"/>
            <a:ext cx="4832278" cy="2034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310970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0F067-408F-718E-A79E-387537F67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7D659551-4F5A-10B8-7A41-CD926AF657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Test-to-production code ratios of the portfolio between 2026-02-12 and 2026-03-12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8BAA02-82E9-62FD-74CB-ED28CAAD4867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75A3EC73-629A-7947-7394-8587B21625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3C1A2112-78E6-8DCF-8E0E-78EEEF639D5D}"/>
              </a:ext>
            </a:extLst>
          </p:cNvPr>
          <p:cNvSpPr txBox="1"/>
          <p:nvPr/>
        </p:nvSpPr>
        <p:spPr>
          <a:xfrm>
            <a:off x="2899580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49C15F92-A072-4C90-549B-96EFABFB6B39}"/>
              </a:ext>
            </a:extLst>
          </p:cNvPr>
          <p:cNvGrpSpPr/>
          <p:nvPr/>
        </p:nvGrpSpPr>
        <p:grpSpPr>
          <a:xfrm>
            <a:off x="512064" y="6117354"/>
            <a:ext cx="273482" cy="98617"/>
            <a:chOff x="586253" y="6116391"/>
            <a:chExt cx="273482" cy="98617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53ED3970-91BA-7822-A0F7-EAB5D6D13CB6}"/>
                </a:ext>
              </a:extLst>
            </p:cNvPr>
            <p:cNvSpPr txBox="1"/>
            <p:nvPr/>
          </p:nvSpPr>
          <p:spPr>
            <a:xfrm>
              <a:off x="710655" y="6116391"/>
              <a:ext cx="14908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≤ 1%</a:t>
              </a:r>
            </a:p>
          </p:txBody>
        </p:sp>
        <p:sp>
          <p:nvSpPr>
            <p:cNvPr id="43" name="Rounded Rectangle 42">
              <a:extLst>
                <a:ext uri="{FF2B5EF4-FFF2-40B4-BE49-F238E27FC236}">
                  <a16:creationId xmlns:a16="http://schemas.microsoft.com/office/drawing/2014/main" id="{08113C03-CCC7-B779-788F-F5D6D85EFC0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C6CC743E-8F63-AC63-3A18-265A1EB5F6BF}"/>
              </a:ext>
            </a:extLst>
          </p:cNvPr>
          <p:cNvGrpSpPr/>
          <p:nvPr/>
        </p:nvGrpSpPr>
        <p:grpSpPr>
          <a:xfrm>
            <a:off x="877767" y="6117354"/>
            <a:ext cx="408134" cy="98617"/>
            <a:chOff x="961765" y="6117353"/>
            <a:chExt cx="408134" cy="98617"/>
          </a:xfrm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68D27BD3-6C63-DE79-BD7D-8FE61B9CB439}"/>
                </a:ext>
              </a:extLst>
            </p:cNvPr>
            <p:cNvSpPr txBox="1"/>
            <p:nvPr/>
          </p:nvSpPr>
          <p:spPr>
            <a:xfrm>
              <a:off x="1086167" y="6117353"/>
              <a:ext cx="283732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1% - 15%</a:t>
              </a:r>
            </a:p>
          </p:txBody>
        </p:sp>
        <p:sp>
          <p:nvSpPr>
            <p:cNvPr id="46" name="Rounded Rectangle 45">
              <a:extLst>
                <a:ext uri="{FF2B5EF4-FFF2-40B4-BE49-F238E27FC236}">
                  <a16:creationId xmlns:a16="http://schemas.microsoft.com/office/drawing/2014/main" id="{0E3F1D99-704B-7152-AB1F-CE5AC667B4C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8420E8A5-1463-6855-50FB-B5D9D8F4F76D}"/>
              </a:ext>
            </a:extLst>
          </p:cNvPr>
          <p:cNvGrpSpPr/>
          <p:nvPr/>
        </p:nvGrpSpPr>
        <p:grpSpPr>
          <a:xfrm>
            <a:off x="1378122" y="6117354"/>
            <a:ext cx="446606" cy="98617"/>
            <a:chOff x="1114165" y="6269753"/>
            <a:chExt cx="446606" cy="98617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8245A470-51DB-3A5C-8E03-2E85B80C9DCE}"/>
                </a:ext>
              </a:extLst>
            </p:cNvPr>
            <p:cNvSpPr txBox="1"/>
            <p:nvPr/>
          </p:nvSpPr>
          <p:spPr>
            <a:xfrm>
              <a:off x="1238567" y="6269753"/>
              <a:ext cx="32220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15% - 50%</a:t>
              </a:r>
            </a:p>
          </p:txBody>
        </p:sp>
        <p:sp>
          <p:nvSpPr>
            <p:cNvPr id="49" name="Rounded Rectangle 48">
              <a:extLst>
                <a:ext uri="{FF2B5EF4-FFF2-40B4-BE49-F238E27FC236}">
                  <a16:creationId xmlns:a16="http://schemas.microsoft.com/office/drawing/2014/main" id="{59331E72-3E06-2B97-C3E1-E67B3DAE6BA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F72D6356-4497-C5BE-E201-E65B37114D79}"/>
              </a:ext>
            </a:extLst>
          </p:cNvPr>
          <p:cNvGrpSpPr/>
          <p:nvPr/>
        </p:nvGrpSpPr>
        <p:grpSpPr>
          <a:xfrm>
            <a:off x="1916949" y="6117354"/>
            <a:ext cx="485078" cy="98617"/>
            <a:chOff x="1114165" y="6269753"/>
            <a:chExt cx="485078" cy="98617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BEC41104-3E63-7945-22F3-89A98EE94100}"/>
                </a:ext>
              </a:extLst>
            </p:cNvPr>
            <p:cNvSpPr txBox="1"/>
            <p:nvPr/>
          </p:nvSpPr>
          <p:spPr>
            <a:xfrm>
              <a:off x="1238567" y="6269753"/>
              <a:ext cx="360676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50% - 150%</a:t>
              </a:r>
            </a:p>
          </p:txBody>
        </p:sp>
        <p:sp>
          <p:nvSpPr>
            <p:cNvPr id="52" name="Rounded Rectangle 51">
              <a:extLst>
                <a:ext uri="{FF2B5EF4-FFF2-40B4-BE49-F238E27FC236}">
                  <a16:creationId xmlns:a16="http://schemas.microsoft.com/office/drawing/2014/main" id="{E6E16E22-F267-DC04-3A35-55E6FA5769B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93B5D263-83A1-D811-9B9F-30FF462DE916}"/>
              </a:ext>
            </a:extLst>
          </p:cNvPr>
          <p:cNvGrpSpPr/>
          <p:nvPr/>
        </p:nvGrpSpPr>
        <p:grpSpPr>
          <a:xfrm>
            <a:off x="2494246" y="6117354"/>
            <a:ext cx="350426" cy="98617"/>
            <a:chOff x="1114165" y="6269753"/>
            <a:chExt cx="350426" cy="98617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B21FB978-C82B-26CB-4C25-A74F8B4D4EA8}"/>
                </a:ext>
              </a:extLst>
            </p:cNvPr>
            <p:cNvSpPr txBox="1"/>
            <p:nvPr/>
          </p:nvSpPr>
          <p:spPr>
            <a:xfrm>
              <a:off x="1238567" y="6269753"/>
              <a:ext cx="22602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&gt; 150%</a:t>
              </a:r>
            </a:p>
          </p:txBody>
        </p:sp>
        <p:sp>
          <p:nvSpPr>
            <p:cNvPr id="55" name="Rounded Rectangle 54">
              <a:extLst>
                <a:ext uri="{FF2B5EF4-FFF2-40B4-BE49-F238E27FC236}">
                  <a16:creationId xmlns:a16="http://schemas.microsoft.com/office/drawing/2014/main" id="{A1A004E2-7DE9-C71A-5B23-87B428D5957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5F56B02A-D12E-FE41-BE32-DF93AD7E95C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33</a:t>
            </a:fld>
            <a:endParaRPr lang="nl-NL" dirty="0"/>
          </a:p>
        </p:txBody>
      </p:sp>
      <p:pic>
        <p:nvPicPr>
          <p:cNvPr id="56" name="Picture 5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3" y="1472195"/>
            <a:ext cx="11233603" cy="4571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713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361A8B-9CE3-C528-149D-E8A7ADE12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7832091-13CF-5084-EBA4-864AADBF72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Change in test-to-production code ratios of the portfolio between 2026-02-12 and 2026-03-12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F64E4A-782F-9ABB-D130-CD4267F278DD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B7349151-E545-23EA-2E4E-CC16B29D1B9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0B2695A3-7892-CBCD-CCC1-ED9F42D91537}"/>
              </a:ext>
            </a:extLst>
          </p:cNvPr>
          <p:cNvSpPr txBox="1"/>
          <p:nvPr/>
        </p:nvSpPr>
        <p:spPr>
          <a:xfrm>
            <a:off x="1996335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DAF1842-9F61-0CAE-02D3-77634C06083C}"/>
              </a:ext>
            </a:extLst>
          </p:cNvPr>
          <p:cNvSpPr txBox="1"/>
          <p:nvPr/>
        </p:nvSpPr>
        <p:spPr>
          <a:xfrm>
            <a:off x="1678471" y="6054740"/>
            <a:ext cx="309850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</a:rPr>
              <a:t>+%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10AE08C-5EA5-5C8C-2F1A-CBF2E0771A04}"/>
              </a:ext>
            </a:extLst>
          </p:cNvPr>
          <p:cNvSpPr txBox="1"/>
          <p:nvPr/>
        </p:nvSpPr>
        <p:spPr>
          <a:xfrm>
            <a:off x="512064" y="6054740"/>
            <a:ext cx="290614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</a:rPr>
              <a:t>-%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6E4FECE0-E33A-23A4-4934-65269E0185D8}"/>
              </a:ext>
            </a:extLst>
          </p:cNvPr>
          <p:cNvSpPr>
            <a:spLocks noChangeAspect="1"/>
          </p:cNvSpPr>
          <p:nvPr/>
        </p:nvSpPr>
        <p:spPr>
          <a:xfrm>
            <a:off x="879122" y="61185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9D641D25-FDBA-3ED6-8617-19EB8666B393}"/>
              </a:ext>
            </a:extLst>
          </p:cNvPr>
          <p:cNvSpPr>
            <a:spLocks noChangeAspect="1"/>
          </p:cNvSpPr>
          <p:nvPr/>
        </p:nvSpPr>
        <p:spPr>
          <a:xfrm>
            <a:off x="1038992" y="61185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8A41F6AF-8B56-B10D-E81C-5CCEDFB25F3F}"/>
              </a:ext>
            </a:extLst>
          </p:cNvPr>
          <p:cNvSpPr>
            <a:spLocks noChangeAspect="1"/>
          </p:cNvSpPr>
          <p:nvPr/>
        </p:nvSpPr>
        <p:spPr>
          <a:xfrm>
            <a:off x="1198862" y="61185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A773BFA5-4876-A7AF-1F5D-E3F4609F4980}"/>
              </a:ext>
            </a:extLst>
          </p:cNvPr>
          <p:cNvSpPr>
            <a:spLocks noChangeAspect="1"/>
          </p:cNvSpPr>
          <p:nvPr/>
        </p:nvSpPr>
        <p:spPr>
          <a:xfrm>
            <a:off x="1358732" y="61185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A31B2BBA-FA9A-5ACB-B596-BD2F8F7F13F2}"/>
              </a:ext>
            </a:extLst>
          </p:cNvPr>
          <p:cNvSpPr>
            <a:spLocks noChangeAspect="1"/>
          </p:cNvSpPr>
          <p:nvPr/>
        </p:nvSpPr>
        <p:spPr>
          <a:xfrm>
            <a:off x="1518602" y="61185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CAE36B7C-186E-9F19-6296-DBA2C5A15E7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34</a:t>
            </a:fld>
            <a:endParaRPr lang="nl-NL" dirty="0"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3" y="1472195"/>
            <a:ext cx="11233603" cy="4571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27340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697</Words>
  <Application>Microsoft Macintosh PowerPoint</Application>
  <PresentationFormat>Widescreen</PresentationFormat>
  <Paragraphs>217</Paragraphs>
  <Slides>34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1" baseType="lpstr">
      <vt:lpstr>Aptos</vt:lpstr>
      <vt:lpstr>Aptos Display</vt:lpstr>
      <vt:lpstr>Arial</vt:lpstr>
      <vt:lpstr>Calibri</vt:lpstr>
      <vt:lpstr>Sigsterren</vt:lpstr>
      <vt:lpstr>Wingdings</vt:lpstr>
      <vt:lpstr>Office Theme</vt:lpstr>
      <vt:lpstr>Portfolio overview</vt:lpstr>
      <vt:lpstr>PowerPoint Presentation</vt:lpstr>
      <vt:lpstr>Progress towards objectives between February 2026 and March 2026</vt:lpstr>
      <vt:lpstr>Progress towards objectives over time</vt:lpstr>
      <vt:lpstr>Progress towards objectives per capability between February 2026 and March 2026</vt:lpstr>
      <vt:lpstr>Progress towards objectives: Maintainability</vt:lpstr>
      <vt:lpstr>Progress towards objectives: Architecture</vt:lpstr>
      <vt:lpstr>Progress towards objectives: Open Source Health</vt:lpstr>
      <vt:lpstr>Progress towards objectives: Security</vt:lpstr>
      <vt:lpstr>PowerPoint Presentation</vt:lpstr>
      <vt:lpstr>Progress towards objectives between February 2026 and March 2026</vt:lpstr>
      <vt:lpstr>Progress towards objectives per team between February 2026 and March 2026</vt:lpstr>
      <vt:lpstr>Progress towards objectives per capability between February 2026 and March 2026</vt:lpstr>
      <vt:lpstr>Progress towards objectives over time</vt:lpstr>
      <vt:lpstr>PowerPoint Presentation</vt:lpstr>
      <vt:lpstr>Progress towards objectives: Security</vt:lpstr>
      <vt:lpstr>Progress towards objectives: Open Source Health</vt:lpstr>
      <vt:lpstr>Progress towards objectives: Maintainability</vt:lpstr>
      <vt:lpstr>Progress towards objectives: Architecture</vt:lpstr>
      <vt:lpstr>PowerPoint Presentation</vt:lpstr>
      <vt:lpstr>About 45 (48%) systems score market average on maintainability</vt:lpstr>
      <vt:lpstr>About 45 (48%) systems score market average on maintainability</vt:lpstr>
      <vt:lpstr>About 45 (48%) systems score market average on maintainability</vt:lpstr>
      <vt:lpstr>About 45 (48%) systems score market average on maintainability</vt:lpstr>
      <vt:lpstr>The portfolio remained stable (2.5) during the measured period</vt:lpstr>
      <vt:lpstr>Maintainability delta quality ratings of the portfolio between 2026-02-12 and 2026-03-12</vt:lpstr>
      <vt:lpstr>Change in volume (effort) of the portfolio between 2026-02-12 and 2026-03-12</vt:lpstr>
      <vt:lpstr>Architecture ratings of the portfolio between 2026-02-12 and 2026-03-12</vt:lpstr>
      <vt:lpstr>Open-source health ratings of the portfolio between 2026-02-12 and 2026-03-12</vt:lpstr>
      <vt:lpstr>Security ratings of the portfolio between 2026-02-12 and 2026-03-12</vt:lpstr>
      <vt:lpstr>Security findings of the portfolio of the last 12 months (ending at 2026-03-12) </vt:lpstr>
      <vt:lpstr>Security resolution times of the portfolio of the last 12 months (ending at 2026-03-12) </vt:lpstr>
      <vt:lpstr>Test-to-production code ratios of the portfolio between 2026-02-12 and 2026-03-12</vt:lpstr>
      <vt:lpstr>Change in test-to-production code ratios of the portfolio between 2026-02-12 and 2026-03-12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Floris van Leeuwen</dc:creator>
  <cp:lastModifiedBy>Floris van Leeuwen</cp:lastModifiedBy>
  <cp:revision>6</cp:revision>
  <dcterms:created xsi:type="dcterms:W3CDTF">2025-10-21T17:29:07Z</dcterms:created>
  <dcterms:modified xsi:type="dcterms:W3CDTF">2026-03-12T17:24:05Z</dcterms:modified>
</cp:coreProperties>
</file>