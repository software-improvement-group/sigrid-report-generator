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xml" ContentType="application/vnd.ms-office.chartcolorstyle+xml"/>
  <Override PartName="/ppt/charts/colors20.xml" ContentType="application/vnd.ms-office.chartcolorstyle+xml"/>
  <Override PartName="/ppt/charts/colors21.xml" ContentType="application/vnd.ms-office.chartcolorstyle+xml"/>
  <Override PartName="/ppt/charts/colors22.xml" ContentType="application/vnd.ms-office.chartcolorstyle+xml"/>
  <Override PartName="/ppt/charts/colors23.xml" ContentType="application/vnd.ms-office.chartcolorstyle+xml"/>
  <Override PartName="/ppt/charts/colors24.xml" ContentType="application/vnd.ms-office.chartcolorstyle+xml"/>
  <Override PartName="/ppt/charts/colors25.xml" ContentType="application/vnd.ms-office.chartcolorstyle+xml"/>
  <Override PartName="/ppt/charts/colors26.xml" ContentType="application/vnd.ms-office.chartcolorstyle+xml"/>
  <Override PartName="/ppt/charts/colors27.xml" ContentType="application/vnd.ms-office.chartcolorstyle+xml"/>
  <Override PartName="/ppt/charts/colors28.xml" ContentType="application/vnd.ms-office.chartcolorstyle+xml"/>
  <Override PartName="/ppt/charts/colors29.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xml" ContentType="application/vnd.ms-office.chartstyle+xml"/>
  <Override PartName="/ppt/charts/style20.xml" ContentType="application/vnd.ms-office.chartstyle+xml"/>
  <Override PartName="/ppt/charts/style21.xml" ContentType="application/vnd.ms-office.chartstyle+xml"/>
  <Override PartName="/ppt/charts/style22.xml" ContentType="application/vnd.ms-office.chartstyle+xml"/>
  <Override PartName="/ppt/charts/style23.xml" ContentType="application/vnd.ms-office.chartstyle+xml"/>
  <Override PartName="/ppt/charts/style24.xml" ContentType="application/vnd.ms-office.chartstyle+xml"/>
  <Override PartName="/ppt/charts/style25.xml" ContentType="application/vnd.ms-office.chartstyle+xml"/>
  <Override PartName="/ppt/charts/style26.xml" ContentType="application/vnd.ms-office.chartstyle+xml"/>
  <Override PartName="/ppt/charts/style27.xml" ContentType="application/vnd.ms-office.chartstyle+xml"/>
  <Override PartName="/ppt/charts/style28.xml" ContentType="application/vnd.ms-office.chartstyle+xml"/>
  <Override PartName="/ppt/charts/style29.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2"/>
  </p:notesMasterIdLst>
  <p:handoutMasterIdLst>
    <p:handoutMasterId r:id="rId43"/>
  </p:handoutMasterIdLst>
  <p:sldIdLst>
    <p:sldId id="1973" r:id="rId5"/>
    <p:sldId id="11390" r:id="rId6"/>
    <p:sldId id="10749" r:id="rId7"/>
    <p:sldId id="10751" r:id="rId8"/>
    <p:sldId id="10753" r:id="rId9"/>
    <p:sldId id="10750" r:id="rId10"/>
    <p:sldId id="10754" r:id="rId11"/>
    <p:sldId id="10755" r:id="rId12"/>
    <p:sldId id="10756" r:id="rId13"/>
    <p:sldId id="11363" r:id="rId14"/>
    <p:sldId id="11364" r:id="rId15"/>
    <p:sldId id="11365" r:id="rId16"/>
    <p:sldId id="11366" r:id="rId17"/>
    <p:sldId id="11367" r:id="rId18"/>
    <p:sldId id="11368" r:id="rId19"/>
    <p:sldId id="11369" r:id="rId20"/>
    <p:sldId id="11370" r:id="rId21"/>
    <p:sldId id="11389" r:id="rId22"/>
    <p:sldId id="11371" r:id="rId23"/>
    <p:sldId id="10757" r:id="rId24"/>
    <p:sldId id="11409" r:id="rId25"/>
    <p:sldId id="11410" r:id="rId26"/>
    <p:sldId id="11403" r:id="rId27"/>
    <p:sldId id="11404" r:id="rId28"/>
    <p:sldId id="11387" r:id="rId29"/>
    <p:sldId id="11384" r:id="rId30"/>
    <p:sldId id="11374" r:id="rId31"/>
    <p:sldId id="11405" r:id="rId32"/>
    <p:sldId id="11406" r:id="rId33"/>
    <p:sldId id="11402" r:id="rId34"/>
    <p:sldId id="11376" r:id="rId35"/>
    <p:sldId id="11284" r:id="rId36"/>
    <p:sldId id="11377" r:id="rId37"/>
    <p:sldId id="11415" r:id="rId38"/>
    <p:sldId id="11416" r:id="rId39"/>
    <p:sldId id="11417" r:id="rId40"/>
    <p:sldId id="1141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06"/>
    <p:restoredTop sz="96763"/>
  </p:normalViewPr>
  <p:slideViewPr>
    <p:cSldViewPr snapToGrid="0" snapToObjects="1" showGuides="1">
      <p:cViewPr varScale="1">
        <p:scale>
          <a:sx n="227" d="100"/>
          <a:sy n="227" d="100"/>
        </p:scale>
        <p:origin x="536" y="17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notesMaster" Target="notesMasters/notesMaster1.xml"/><Relationship Id="rId43" Type="http://schemas.openxmlformats.org/officeDocument/2006/relationships/handoutMaster" Target="handoutMasters/handout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microsoft.com/office/2011/relationships/chartStyle" Target="style22.xml"/><Relationship Id="rId2" Type="http://schemas.microsoft.com/office/2011/relationships/chartColorStyle" Target="colors22.xml"/><Relationship Id="rId3"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microsoft.com/office/2011/relationships/chartStyle" Target="style23.xml"/><Relationship Id="rId2" Type="http://schemas.microsoft.com/office/2011/relationships/chartColorStyle" Target="colors23.xml"/><Relationship Id="rId3"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microsoft.com/office/2011/relationships/chartStyle" Target="style24.xml"/><Relationship Id="rId2" Type="http://schemas.microsoft.com/office/2011/relationships/chartColorStyle" Target="colors24.xml"/><Relationship Id="rId3"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microsoft.com/office/2011/relationships/chartStyle" Target="style25.xml"/><Relationship Id="rId2" Type="http://schemas.microsoft.com/office/2011/relationships/chartColorStyle" Target="colors25.xml"/><Relationship Id="rId3"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microsoft.com/office/2011/relationships/chartStyle" Target="style26.xml"/><Relationship Id="rId2" Type="http://schemas.microsoft.com/office/2011/relationships/chartColorStyle" Target="colors26.xml"/><Relationship Id="rId3"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microsoft.com/office/2011/relationships/chartStyle" Target="style27.xml"/><Relationship Id="rId2" Type="http://schemas.microsoft.com/office/2011/relationships/chartColorStyle" Target="colors27.xml"/><Relationship Id="rId3"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microsoft.com/office/2011/relationships/chartStyle" Target="style28.xml"/><Relationship Id="rId2" Type="http://schemas.microsoft.com/office/2011/relationships/chartColorStyle" Target="colors28.xml"/><Relationship Id="rId3"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microsoft.com/office/2011/relationships/chartStyle" Target="style29.xml"/><Relationship Id="rId2" Type="http://schemas.microsoft.com/office/2011/relationships/chartColorStyle" Target="colors29.xml"/><Relationship Id="rId3" Type="http://schemas.openxmlformats.org/officeDocument/2006/relationships/package" Target="../embeddings/Microsoft_Excel_Worksheet2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dLbls>
            <c:dLbl>
              <c:idx val="0"/>
              <c:tx>
                <c:rich>
                  <a:bodyPr/>
                  <a:lstStyle/>
                  <a:p>
                    <a:fld id="{01A5FE6A-D37A-834F-B8C5-870900F9D163}" type="VALUE">
                      <a:rPr lang="en-US" sz="1400" b="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147-E74A-AA7B-5531F0E4EE0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Overall</c:v>
                </c:pt>
              </c:strCache>
            </c:strRef>
          </c:cat>
          <c:val>
            <c:numRef>
              <c:f>Sheet1!$B$2:$B$2</c:f>
              <c:numCache>
                <c:formatCode>General</c:formatCode>
                <c:ptCount val="1"/>
                <c:pt idx="0">
                  <c:v>41.0</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Percentage of portfolio</c:v>
                </c:pt>
              </c:strCache>
            </c:strRef>
          </c:tx>
          <c:spPr>
            <a:solidFill>
              <a:srgbClr val="67E77F"/>
            </a:solidFill>
            <a:ln w="19050">
              <a:noFill/>
            </a:ln>
            <a:effectLst/>
          </c:spPr>
          <c:invertIfNegative val="0"/>
          <c:dLbls>
            <c:dLbl>
              <c:idx val="0"/>
              <c:tx>
                <c:rich>
                  <a:bodyPr/>
                  <a:lstStyle/>
                  <a:p>
                    <a:fld id="{1A15AB0D-C73F-2F4E-B068-1138B91CEB95}"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Overall</c:v>
                </c:pt>
              </c:strCache>
            </c:strRef>
          </c:cat>
          <c:val>
            <c:numRef>
              <c:f>Sheet1!$C$2:$C$2</c:f>
              <c:numCache>
                <c:formatCode>General</c:formatCode>
                <c:ptCount val="1"/>
                <c:pt idx="0">
                  <c:v>9.0</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Percentage of portfolio</c:v>
                </c:pt>
              </c:strCache>
            </c:strRef>
          </c:tx>
          <c:spPr>
            <a:solidFill>
              <a:srgbClr val="F06241"/>
            </a:solidFill>
            <a:ln w="19050">
              <a:noFill/>
            </a:ln>
            <a:effectLst/>
          </c:spPr>
          <c:invertIfNegative val="0"/>
          <c:dLbls>
            <c:dLbl>
              <c:idx val="0"/>
              <c:tx>
                <c:rich>
                  <a:bodyPr/>
                  <a:lstStyle/>
                  <a:p>
                    <a:fld id="{834D244C-CE32-A046-8143-A59D5CA86E7E}"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Overall</c:v>
                </c:pt>
              </c:strCache>
            </c:strRef>
          </c:cat>
          <c:val>
            <c:numRef>
              <c:f>Sheet1!$D$2:$D$2</c:f>
              <c:numCache>
                <c:formatCode>General</c:formatCode>
                <c:ptCount val="1"/>
                <c:pt idx="0">
                  <c:v>0.0</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Percentage of portfolio</c:v>
                </c:pt>
              </c:strCache>
            </c:strRef>
          </c:tx>
          <c:spPr>
            <a:solidFill>
              <a:srgbClr val="BFC4D0"/>
            </a:solidFill>
            <a:ln w="19050">
              <a:noFill/>
            </a:ln>
            <a:effectLst/>
          </c:spPr>
          <c:invertIfNegative val="0"/>
          <c:dLbls>
            <c:delete val="1"/>
          </c:dLbls>
          <c:cat>
            <c:strRef>
              <c:f>Sheet1!$A$2:$A$2</c:f>
              <c:strCache>
                <c:ptCount val="1"/>
                <c:pt idx="0">
                  <c:v>Overall</c:v>
                </c:pt>
              </c:strCache>
            </c:strRef>
          </c:cat>
          <c:val>
            <c:numRef>
              <c:f>Sheet1!$E$2:$E$2</c:f>
              <c:numCache>
                <c:formatCode>General</c:formatCode>
                <c:ptCount val="1"/>
                <c:pt idx="0">
                  <c:v>49.99094437257438</c:v>
                </c:pt>
              </c:numCache>
            </c:numRef>
          </c:val>
          <c:extLst>
            <c:ext xmlns:c16="http://schemas.microsoft.com/office/drawing/2014/chart" uri="{C3380CC4-5D6E-409C-BE32-E72D297353CC}">
              <c16:uniqueId val="{00000005-6147-E74A-AA7B-5531F0E4EE0C}"/>
            </c:ext>
          </c:extLst>
        </c:ser>
        <c:dLbls>
          <c:dLblPos val="ctr"/>
          <c:showLegendKey val="0"/>
          <c:showVal val="1"/>
          <c:showCatName val="0"/>
          <c:showSerName val="0"/>
          <c:showPercent val="0"/>
          <c:showBubbleSize val="0"/>
        </c:dLbls>
        <c:gapWidth val="20"/>
        <c:overlap val="100"/>
        <c:axId val="476387520"/>
        <c:axId val="477616192"/>
      </c:barChart>
      <c:catAx>
        <c:axId val="476387520"/>
        <c:scaling>
          <c:orientation val="minMax"/>
        </c:scaling>
        <c:delete val="1"/>
        <c:axPos val="l"/>
        <c:numFmt formatCode="General" sourceLinked="1"/>
        <c:majorTickMark val="out"/>
        <c:minorTickMark val="none"/>
        <c:tickLblPos val="nextTo"/>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Percentage of portfolio</c:v>
                </c:pt>
              </c:strCache>
            </c:strRef>
          </c:tx>
          <c:spPr>
            <a:ln w="28575" cap="rnd">
              <a:solidFill>
                <a:srgbClr val="0066FF"/>
              </a:solidFill>
              <a:round/>
            </a:ln>
            <a:effectLst>
              <a:outerShdw blurRad="241300" dist="38100" dir="2700000" algn="tl" rotWithShape="0">
                <a:prstClr val="black">
                  <a:alpha val="15000"/>
                </a:prstClr>
              </a:outerShdw>
            </a:effectLst>
          </c:spPr>
          <c:marker>
            <c:symbol val="circle"/>
            <c:size val="5"/>
            <c:spPr>
              <a:solidFill>
                <a:srgbClr val="0066FF"/>
              </a:solidFill>
              <a:ln w="9525">
                <a:solidFill>
                  <a:srgbClr val="0066FF"/>
                </a:solidFill>
              </a:ln>
              <a:effectLst/>
            </c:spPr>
          </c:marker>
          <c:dPt>
            <c:idx val="0"/>
            <c:marker>
              <c:symbol val="circle"/>
              <c:size val="5"/>
              <c:spPr>
                <a:solidFill>
                  <a:srgbClr val="0066FF"/>
                </a:solidFill>
                <a:ln w="9525">
                  <a:solidFill>
                    <a:srgbClr val="0066FF"/>
                  </a:solidFill>
                </a:ln>
                <a:effectLst/>
              </c:spPr>
            </c:marker>
            <c:bubble3D val="0"/>
            <c:explosion val="6"/>
            <c:spPr>
              <a:ln w="28575" cap="rnd">
                <a:solidFill>
                  <a:srgbClr val="0066FF"/>
                </a:solidFill>
                <a:round/>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dLbls>
            <c:spPr>
              <a:noFill/>
              <a:ln>
                <a:noFill/>
              </a:ln>
              <a:effectLst/>
            </c:spPr>
            <c:txPr>
              <a:bodyPr rot="0" spcFirstLastPara="1" vertOverflow="clip" horzOverflow="clip"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Sheet1!$B$2:$B$13</c:f>
              <c:numCache>
                <c:formatCode>General</c:formatCode>
                <c:ptCount val="12"/>
                <c:pt idx="0">
                  <c:v>54.0</c:v>
                </c:pt>
                <c:pt idx="1">
                  <c:v>53.0</c:v>
                </c:pt>
                <c:pt idx="2">
                  <c:v>53.0</c:v>
                </c:pt>
                <c:pt idx="3">
                  <c:v>52.0</c:v>
                </c:pt>
                <c:pt idx="4">
                  <c:v>52.0</c:v>
                </c:pt>
                <c:pt idx="5">
                  <c:v>52.0</c:v>
                </c:pt>
                <c:pt idx="6">
                  <c:v>52.0</c:v>
                </c:pt>
                <c:pt idx="7">
                  <c:v>51.0</c:v>
                </c:pt>
                <c:pt idx="8">
                  <c:v>51.0</c:v>
                </c:pt>
                <c:pt idx="9">
                  <c:v>51.0</c:v>
                </c:pt>
                <c:pt idx="10">
                  <c:v>50.0</c:v>
                </c:pt>
                <c:pt idx="11">
                  <c:v>50.0</c:v>
                </c:pt>
              </c:numCache>
            </c:numRef>
          </c:val>
          <c:smooth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dLbls>
          <c:showLegendKey val="0"/>
          <c:showVal val="0"/>
          <c:showCatName val="0"/>
          <c:showSerName val="0"/>
          <c:showPercent val="0"/>
          <c:showBubbleSize val="0"/>
        </c:dLbls>
        <c:marker val="1"/>
        <c:smooth val="0"/>
        <c:axId val="476387520"/>
        <c:axId val="477616192"/>
      </c:line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Security</c:v>
                </c:pt>
                <c:pt idx="1">
                  <c:v>Open Source Health</c:v>
                </c:pt>
                <c:pt idx="2">
                  <c:v>Architecture Quality</c:v>
                </c:pt>
                <c:pt idx="3">
                  <c:v>Maintainability</c:v>
                </c:pt>
              </c:strCache>
            </c:strRef>
          </c:cat>
          <c:val>
            <c:numRef>
              <c:f>Sheet1!$B$2:$B$5</c:f>
              <c:numCache>
                <c:formatCode>General</c:formatCode>
                <c:ptCount val="4"/>
                <c:pt idx="0">
                  <c:v>34.0</c:v>
                </c:pt>
                <c:pt idx="1">
                  <c:v>52.0</c:v>
                </c:pt>
                <c:pt idx="2">
                  <c:v>20.0</c:v>
                </c:pt>
                <c:pt idx="3">
                  <c:v>36.0</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Percentage of portfolio</c:v>
                </c:pt>
              </c:strCache>
            </c:strRef>
          </c:tx>
          <c:spPr>
            <a:solidFill>
              <a:srgbClr val="67E77F"/>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Security</c:v>
                </c:pt>
                <c:pt idx="1">
                  <c:v>Open Source Health</c:v>
                </c:pt>
                <c:pt idx="2">
                  <c:v>Architecture Quality</c:v>
                </c:pt>
                <c:pt idx="3">
                  <c:v>Maintainability</c:v>
                </c:pt>
              </c:strCache>
            </c:strRef>
          </c:cat>
          <c:val>
            <c:numRef>
              <c:f>Sheet1!$C$2:$C$5</c:f>
              <c:numCache>
                <c:formatCode>General</c:formatCode>
                <c:ptCount val="4"/>
                <c:pt idx="0">
                  <c:v>0.0</c:v>
                </c:pt>
                <c:pt idx="1">
                  <c:v>0.0</c:v>
                </c:pt>
                <c:pt idx="2">
                  <c:v>47.0</c:v>
                </c:pt>
                <c:pt idx="3">
                  <c:v>0.0</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Percentage of portfolio</c:v>
                </c:pt>
              </c:strCache>
            </c:strRef>
          </c:tx>
          <c:spPr>
            <a:solidFill>
              <a:srgbClr val="F06241"/>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Security</c:v>
                </c:pt>
                <c:pt idx="1">
                  <c:v>Open Source Health</c:v>
                </c:pt>
                <c:pt idx="2">
                  <c:v>Architecture Quality</c:v>
                </c:pt>
                <c:pt idx="3">
                  <c:v>Maintainability</c:v>
                </c:pt>
              </c:strCache>
            </c:strRef>
          </c:cat>
          <c:val>
            <c:numRef>
              <c:f>Sheet1!$D$2:$D$5</c:f>
              <c:numCache>
                <c:formatCode>General</c:formatCode>
                <c:ptCount val="4"/>
                <c:pt idx="0">
                  <c:v>3.0</c:v>
                </c:pt>
                <c:pt idx="1">
                  <c:v>1.0</c:v>
                </c:pt>
                <c:pt idx="2">
                  <c:v>0.0</c:v>
                </c:pt>
                <c:pt idx="3">
                  <c:v>0.0</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Percentage of portfolio</c:v>
                </c:pt>
              </c:strCache>
            </c:strRef>
          </c:tx>
          <c:spPr>
            <a:solidFill>
              <a:srgbClr val="BFC4D0"/>
            </a:solidFill>
            <a:ln w="19050">
              <a:noFill/>
            </a:ln>
            <a:effectLst/>
          </c:spPr>
          <c:invertIfNegative val="0"/>
          <c:cat>
            <c:strRef>
              <c:f>Sheet1!$A$2:$A$5</c:f>
              <c:strCache>
                <c:ptCount val="4"/>
                <c:pt idx="0">
                  <c:v>Security</c:v>
                </c:pt>
                <c:pt idx="1">
                  <c:v>Open Source Health</c:v>
                </c:pt>
                <c:pt idx="2">
                  <c:v>Architecture Quality</c:v>
                </c:pt>
                <c:pt idx="3">
                  <c:v>Maintainability</c:v>
                </c:pt>
              </c:strCache>
            </c:strRef>
          </c:cat>
          <c:val>
            <c:numRef>
              <c:f>Sheet1!$E$2:$E$5</c:f>
              <c:numCache>
                <c:formatCode>General</c:formatCode>
                <c:ptCount val="4"/>
                <c:pt idx="0">
                  <c:v>63.216216216216225</c:v>
                </c:pt>
                <c:pt idx="1">
                  <c:v>47.24561403508772</c:v>
                </c:pt>
                <c:pt idx="2">
                  <c:v>32.86577181208054</c:v>
                </c:pt>
                <c:pt idx="3">
                  <c:v>63.855421686746986</c:v>
                </c:pt>
              </c:numCache>
            </c:numRef>
          </c:val>
          <c:extLst>
            <c:ext xmlns:c16="http://schemas.microsoft.com/office/drawing/2014/chart" uri="{C3380CC4-5D6E-409C-BE32-E72D297353CC}">
              <c16:uniqueId val="{00000005-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Percentage of portfolio</c:v>
                </c:pt>
              </c:strCache>
            </c:strRef>
          </c:tx>
          <c:spPr>
            <a:ln w="28575" cap="rnd">
              <a:solidFill>
                <a:srgbClr val="0066FF"/>
              </a:solidFill>
              <a:round/>
            </a:ln>
            <a:effectLst>
              <a:outerShdw blurRad="241300" dist="38100" dir="2700000" algn="tl" rotWithShape="0">
                <a:prstClr val="black">
                  <a:alpha val="15000"/>
                </a:prstClr>
              </a:outerShdw>
            </a:effectLst>
          </c:spPr>
          <c:marker>
            <c:symbol val="circle"/>
            <c:size val="5"/>
            <c:spPr>
              <a:solidFill>
                <a:srgbClr val="0066FF"/>
              </a:solidFill>
              <a:ln w="9525">
                <a:solidFill>
                  <a:srgbClr val="0066FF"/>
                </a:solidFill>
              </a:ln>
              <a:effectLst/>
            </c:spPr>
          </c:marker>
          <c:dPt>
            <c:idx val="0"/>
            <c:marker>
              <c:symbol val="circle"/>
              <c:size val="5"/>
              <c:spPr>
                <a:solidFill>
                  <a:srgbClr val="0066FF"/>
                </a:solidFill>
                <a:ln w="9525">
                  <a:solidFill>
                    <a:srgbClr val="0066FF"/>
                  </a:solidFill>
                </a:ln>
                <a:effectLst/>
              </c:spPr>
            </c:marker>
            <c:bubble3D val="0"/>
            <c:explosion val="6"/>
            <c:spPr>
              <a:ln w="28575" cap="rnd">
                <a:solidFill>
                  <a:srgbClr val="0066FF"/>
                </a:solidFill>
                <a:round/>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dLbls>
            <c:spPr>
              <a:noFill/>
              <a:ln>
                <a:noFill/>
              </a:ln>
              <a:effectLst/>
            </c:spPr>
            <c:txPr>
              <a:bodyPr rot="0" spcFirstLastPara="1" vertOverflow="clip" horzOverflow="clip"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Sheet1!$B$2:$B$13</c:f>
              <c:numCache>
                <c:formatCode>General</c:formatCode>
                <c:ptCount val="12"/>
                <c:pt idx="0">
                  <c:v>37.0</c:v>
                </c:pt>
                <c:pt idx="1">
                  <c:v>37.0</c:v>
                </c:pt>
                <c:pt idx="2">
                  <c:v>37.0</c:v>
                </c:pt>
                <c:pt idx="3">
                  <c:v>37.0</c:v>
                </c:pt>
                <c:pt idx="4">
                  <c:v>37.0</c:v>
                </c:pt>
                <c:pt idx="5">
                  <c:v>36.0</c:v>
                </c:pt>
                <c:pt idx="6">
                  <c:v>36.0</c:v>
                </c:pt>
                <c:pt idx="7">
                  <c:v>36.0</c:v>
                </c:pt>
                <c:pt idx="8">
                  <c:v>36.0</c:v>
                </c:pt>
                <c:pt idx="9">
                  <c:v>36.0</c:v>
                </c:pt>
                <c:pt idx="10">
                  <c:v>37.0</c:v>
                </c:pt>
                <c:pt idx="11">
                  <c:v>37.0</c:v>
                </c:pt>
              </c:numCache>
            </c:numRef>
          </c:val>
          <c:smooth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dLbls>
          <c:showLegendKey val="0"/>
          <c:showVal val="0"/>
          <c:showCatName val="0"/>
          <c:showSerName val="0"/>
          <c:showPercent val="0"/>
          <c:showBubbleSize val="0"/>
        </c:dLbls>
        <c:marker val="1"/>
        <c:smooth val="0"/>
        <c:axId val="476387520"/>
        <c:axId val="477616192"/>
      </c:line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Percentage of portfolio</c:v>
                </c:pt>
              </c:strCache>
            </c:strRef>
          </c:tx>
          <c:spPr>
            <a:ln w="28575" cap="rnd">
              <a:solidFill>
                <a:srgbClr val="0066FF"/>
              </a:solidFill>
              <a:round/>
            </a:ln>
            <a:effectLst>
              <a:outerShdw blurRad="241300" dist="38100" dir="2700000" algn="tl" rotWithShape="0">
                <a:prstClr val="black">
                  <a:alpha val="15000"/>
                </a:prstClr>
              </a:outerShdw>
            </a:effectLst>
          </c:spPr>
          <c:marker>
            <c:symbol val="circle"/>
            <c:size val="5"/>
            <c:spPr>
              <a:solidFill>
                <a:srgbClr val="0066FF"/>
              </a:solidFill>
              <a:ln w="9525">
                <a:solidFill>
                  <a:srgbClr val="0066FF"/>
                </a:solidFill>
              </a:ln>
              <a:effectLst/>
            </c:spPr>
          </c:marker>
          <c:dPt>
            <c:idx val="0"/>
            <c:marker>
              <c:symbol val="circle"/>
              <c:size val="5"/>
              <c:spPr>
                <a:solidFill>
                  <a:srgbClr val="0066FF"/>
                </a:solidFill>
                <a:ln w="9525">
                  <a:solidFill>
                    <a:srgbClr val="0066FF"/>
                  </a:solidFill>
                </a:ln>
                <a:effectLst/>
              </c:spPr>
            </c:marker>
            <c:bubble3D val="0"/>
            <c:explosion val="6"/>
            <c:spPr>
              <a:ln w="28575" cap="rnd">
                <a:solidFill>
                  <a:srgbClr val="0066FF"/>
                </a:solidFill>
                <a:round/>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dLbls>
            <c:spPr>
              <a:noFill/>
              <a:ln>
                <a:noFill/>
              </a:ln>
              <a:effectLst/>
            </c:spPr>
            <c:txPr>
              <a:bodyPr rot="0" spcFirstLastPara="1" vertOverflow="clip" horzOverflow="clip"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Sheet1!$B$2:$B$13</c:f>
              <c:numCache>
                <c:formatCode>General</c:formatCode>
                <c:ptCount val="12"/>
                <c:pt idx="0">
                  <c:v>86.0</c:v>
                </c:pt>
                <c:pt idx="1">
                  <c:v>86.0</c:v>
                </c:pt>
                <c:pt idx="2">
                  <c:v>81.0</c:v>
                </c:pt>
                <c:pt idx="3">
                  <c:v>67.0</c:v>
                </c:pt>
                <c:pt idx="4">
                  <c:v>69.0</c:v>
                </c:pt>
                <c:pt idx="5">
                  <c:v>68.0</c:v>
                </c:pt>
                <c:pt idx="6">
                  <c:v>69.0</c:v>
                </c:pt>
                <c:pt idx="7">
                  <c:v>63.0</c:v>
                </c:pt>
                <c:pt idx="8">
                  <c:v>66.0</c:v>
                </c:pt>
                <c:pt idx="9">
                  <c:v>66.0</c:v>
                </c:pt>
                <c:pt idx="10">
                  <c:v>65.0</c:v>
                </c:pt>
                <c:pt idx="11">
                  <c:v>67.0</c:v>
                </c:pt>
              </c:numCache>
            </c:numRef>
          </c:val>
          <c:smooth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dLbls>
          <c:showLegendKey val="0"/>
          <c:showVal val="0"/>
          <c:showCatName val="0"/>
          <c:showSerName val="0"/>
          <c:showPercent val="0"/>
          <c:showBubbleSize val="0"/>
        </c:dLbls>
        <c:marker val="1"/>
        <c:smooth val="0"/>
        <c:axId val="476387520"/>
        <c:axId val="477616192"/>
      </c:line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Percentage of portfolio</c:v>
                </c:pt>
              </c:strCache>
            </c:strRef>
          </c:tx>
          <c:spPr>
            <a:ln w="28575" cap="rnd">
              <a:solidFill>
                <a:srgbClr val="0066FF"/>
              </a:solidFill>
              <a:round/>
            </a:ln>
            <a:effectLst>
              <a:outerShdw blurRad="241300" dist="38100" dir="2700000" algn="tl" rotWithShape="0">
                <a:prstClr val="black">
                  <a:alpha val="15000"/>
                </a:prstClr>
              </a:outerShdw>
            </a:effectLst>
          </c:spPr>
          <c:marker>
            <c:symbol val="circle"/>
            <c:size val="5"/>
            <c:spPr>
              <a:solidFill>
                <a:srgbClr val="0066FF"/>
              </a:solidFill>
              <a:ln w="9525">
                <a:solidFill>
                  <a:srgbClr val="0066FF"/>
                </a:solidFill>
              </a:ln>
              <a:effectLst/>
            </c:spPr>
          </c:marker>
          <c:dPt>
            <c:idx val="0"/>
            <c:marker>
              <c:symbol val="circle"/>
              <c:size val="5"/>
              <c:spPr>
                <a:solidFill>
                  <a:srgbClr val="0066FF"/>
                </a:solidFill>
                <a:ln w="9525">
                  <a:solidFill>
                    <a:srgbClr val="0066FF"/>
                  </a:solidFill>
                </a:ln>
                <a:effectLst/>
              </c:spPr>
            </c:marker>
            <c:bubble3D val="0"/>
            <c:explosion val="6"/>
            <c:spPr>
              <a:ln w="28575" cap="rnd">
                <a:solidFill>
                  <a:srgbClr val="0066FF"/>
                </a:solidFill>
                <a:round/>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dLbls>
            <c:spPr>
              <a:noFill/>
              <a:ln>
                <a:noFill/>
              </a:ln>
              <a:effectLst/>
            </c:spPr>
            <c:txPr>
              <a:bodyPr rot="0" spcFirstLastPara="1" vertOverflow="clip" horzOverflow="clip"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Sheet1!$B$2:$B$13</c:f>
              <c:numCache>
                <c:formatCode>General</c:formatCode>
                <c:ptCount val="12"/>
                <c:pt idx="0">
                  <c:v>55.0</c:v>
                </c:pt>
                <c:pt idx="1">
                  <c:v>54.0</c:v>
                </c:pt>
                <c:pt idx="2">
                  <c:v>54.0</c:v>
                </c:pt>
                <c:pt idx="3">
                  <c:v>55.0</c:v>
                </c:pt>
                <c:pt idx="4">
                  <c:v>55.0</c:v>
                </c:pt>
                <c:pt idx="5">
                  <c:v>54.0</c:v>
                </c:pt>
                <c:pt idx="6">
                  <c:v>54.0</c:v>
                </c:pt>
                <c:pt idx="7">
                  <c:v>54.0</c:v>
                </c:pt>
                <c:pt idx="8">
                  <c:v>53.0</c:v>
                </c:pt>
                <c:pt idx="9">
                  <c:v>53.0</c:v>
                </c:pt>
                <c:pt idx="10">
                  <c:v>52.0</c:v>
                </c:pt>
                <c:pt idx="11">
                  <c:v>52.0</c:v>
                </c:pt>
              </c:numCache>
            </c:numRef>
          </c:val>
          <c:smooth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dLbls>
          <c:showLegendKey val="0"/>
          <c:showVal val="0"/>
          <c:showCatName val="0"/>
          <c:showSerName val="0"/>
          <c:showPercent val="0"/>
          <c:showBubbleSize val="0"/>
        </c:dLbls>
        <c:marker val="1"/>
        <c:smooth val="0"/>
        <c:axId val="476387520"/>
        <c:axId val="477616192"/>
      </c:line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Percentage of portfolio</c:v>
                </c:pt>
              </c:strCache>
            </c:strRef>
          </c:tx>
          <c:spPr>
            <a:ln w="28575" cap="rnd">
              <a:solidFill>
                <a:srgbClr val="0066FF"/>
              </a:solidFill>
              <a:round/>
            </a:ln>
            <a:effectLst>
              <a:outerShdw blurRad="241300" dist="38100" dir="2700000" algn="tl" rotWithShape="0">
                <a:prstClr val="black">
                  <a:alpha val="15000"/>
                </a:prstClr>
              </a:outerShdw>
            </a:effectLst>
          </c:spPr>
          <c:marker>
            <c:symbol val="circle"/>
            <c:size val="5"/>
            <c:spPr>
              <a:solidFill>
                <a:srgbClr val="0066FF"/>
              </a:solidFill>
              <a:ln w="9525">
                <a:solidFill>
                  <a:srgbClr val="0066FF"/>
                </a:solidFill>
              </a:ln>
              <a:effectLst/>
            </c:spPr>
          </c:marker>
          <c:dPt>
            <c:idx val="0"/>
            <c:marker>
              <c:symbol val="circle"/>
              <c:size val="5"/>
              <c:spPr>
                <a:solidFill>
                  <a:srgbClr val="0066FF"/>
                </a:solidFill>
                <a:ln w="9525">
                  <a:solidFill>
                    <a:srgbClr val="0066FF"/>
                  </a:solidFill>
                </a:ln>
                <a:effectLst/>
              </c:spPr>
            </c:marker>
            <c:bubble3D val="0"/>
            <c:explosion val="6"/>
            <c:spPr>
              <a:ln w="28575" cap="rnd">
                <a:solidFill>
                  <a:srgbClr val="0066FF"/>
                </a:solidFill>
                <a:round/>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dLbls>
            <c:spPr>
              <a:noFill/>
              <a:ln>
                <a:noFill/>
              </a:ln>
              <a:effectLst/>
            </c:spPr>
            <c:txPr>
              <a:bodyPr rot="0" spcFirstLastPara="1" vertOverflow="clip" horzOverflow="clip"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Sheet1!$B$2:$B$13</c:f>
              <c:numCache>
                <c:formatCode>General</c:formatCode>
                <c:ptCount val="12"/>
                <c:pt idx="0">
                  <c:v>36.0</c:v>
                </c:pt>
                <c:pt idx="1">
                  <c:v>36.0</c:v>
                </c:pt>
                <c:pt idx="2">
                  <c:v>36.0</c:v>
                </c:pt>
                <c:pt idx="3">
                  <c:v>36.0</c:v>
                </c:pt>
                <c:pt idx="4">
                  <c:v>36.0</c:v>
                </c:pt>
                <c:pt idx="5">
                  <c:v>36.0</c:v>
                </c:pt>
                <c:pt idx="6">
                  <c:v>38.0</c:v>
                </c:pt>
                <c:pt idx="7">
                  <c:v>38.0</c:v>
                </c:pt>
                <c:pt idx="8">
                  <c:v>39.0</c:v>
                </c:pt>
                <c:pt idx="9">
                  <c:v>39.0</c:v>
                </c:pt>
                <c:pt idx="10">
                  <c:v>34.0</c:v>
                </c:pt>
                <c:pt idx="11">
                  <c:v>33.0</c:v>
                </c:pt>
              </c:numCache>
            </c:numRef>
          </c:val>
          <c:smooth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dLbls>
          <c:showLegendKey val="0"/>
          <c:showVal val="0"/>
          <c:showCatName val="0"/>
          <c:showSerName val="0"/>
          <c:showPercent val="0"/>
          <c:showBubbleSize val="0"/>
        </c:dLbls>
        <c:marker val="1"/>
        <c:smooth val="0"/>
        <c:axId val="476387520"/>
        <c:axId val="477616192"/>
      </c:line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75D5-D342-BCFC-56747FBB812F}"/>
              </c:ext>
            </c:extLst>
          </c:dPt>
          <c:cat>
            <c:strRef>
              <c:f>Sheet1!$A$2:$A$2</c:f>
              <c:strCache>
                <c:ptCount val="1"/>
                <c:pt idx="0">
                  <c:v>Overall</c:v>
                </c:pt>
              </c:strCache>
            </c:strRef>
          </c:cat>
          <c:val>
            <c:numRef>
              <c:f>Sheet1!$B$2:$B$2</c:f>
              <c:numCache>
                <c:formatCode>General</c:formatCode>
                <c:ptCount val="1"/>
                <c:pt idx="0">
                  <c:v>46.144721233689204</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75D5-D342-BCFC-56747FBB812F}"/>
            </c:ext>
          </c:extLst>
        </c:ser>
        <c:ser>
          <c:idx val="1"/>
          <c:order val="1"/>
          <c:tx>
            <c:strRef>
              <c:f>Sheet1!$C$1</c:f>
              <c:strCache>
                <c:ptCount val="1"/>
                <c:pt idx="0">
                  <c:v>Percentage of portfolio</c:v>
                </c:pt>
              </c:strCache>
            </c:strRef>
          </c:tx>
          <c:spPr>
            <a:solidFill>
              <a:srgbClr val="67E77F"/>
            </a:solidFill>
            <a:ln w="19050">
              <a:noFill/>
            </a:ln>
            <a:effectLst/>
          </c:spPr>
          <c:invertIfNegative val="0"/>
          <c:cat>
            <c:strRef>
              <c:f>Sheet1!$A$2:$A$2</c:f>
              <c:strCache>
                <c:ptCount val="1"/>
                <c:pt idx="0">
                  <c:v>Overall</c:v>
                </c:pt>
              </c:strCache>
            </c:strRef>
          </c:cat>
          <c:val>
            <c:numRef>
              <c:f>Sheet1!$C$2:$C$2</c:f>
              <c:numCache>
                <c:formatCode>General</c:formatCode>
                <c:ptCount val="1"/>
                <c:pt idx="0">
                  <c:v>0.830367734282325</c:v>
                </c:pt>
              </c:numCache>
            </c:numRef>
          </c:val>
          <c:extLst>
            <c:ext xmlns:c16="http://schemas.microsoft.com/office/drawing/2014/chart" uri="{C3380CC4-5D6E-409C-BE32-E72D297353CC}">
              <c16:uniqueId val="{00000003-75D5-D342-BCFC-56747FBB812F}"/>
            </c:ext>
          </c:extLst>
        </c:ser>
        <c:ser>
          <c:idx val="2"/>
          <c:order val="2"/>
          <c:tx>
            <c:strRef>
              <c:f>Sheet1!$D$1</c:f>
              <c:strCache>
                <c:ptCount val="1"/>
                <c:pt idx="0">
                  <c:v>Percentage of portfolio</c:v>
                </c:pt>
              </c:strCache>
            </c:strRef>
          </c:tx>
          <c:spPr>
            <a:solidFill>
              <a:srgbClr val="BFC4CF"/>
            </a:solidFill>
            <a:ln w="19050">
              <a:noFill/>
            </a:ln>
            <a:effectLst/>
          </c:spPr>
          <c:invertIfNegative val="0"/>
          <c:cat>
            <c:strRef>
              <c:f>Sheet1!$A$2:$A$2</c:f>
              <c:strCache>
                <c:ptCount val="1"/>
                <c:pt idx="0">
                  <c:v>Overall</c:v>
                </c:pt>
              </c:strCache>
            </c:strRef>
          </c:cat>
          <c:val>
            <c:numRef>
              <c:f>Sheet1!$D$2:$D$2</c:f>
              <c:numCache>
                <c:formatCode>General</c:formatCode>
                <c:ptCount val="1"/>
                <c:pt idx="0">
                  <c:v>41.99288256227758</c:v>
                </c:pt>
              </c:numCache>
            </c:numRef>
          </c:val>
          <c:extLst>
            <c:ext xmlns:c16="http://schemas.microsoft.com/office/drawing/2014/chart" uri="{C3380CC4-5D6E-409C-BE32-E72D297353CC}">
              <c16:uniqueId val="{00000004-75D5-D342-BCFC-56747FBB812F}"/>
            </c:ext>
          </c:extLst>
        </c:ser>
        <c:ser>
          <c:idx val="3"/>
          <c:order val="3"/>
          <c:tx>
            <c:strRef>
              <c:f>Sheet1!$E$1</c:f>
              <c:strCache>
                <c:ptCount val="1"/>
                <c:pt idx="0">
                  <c:v>Percentage of portfolio</c:v>
                </c:pt>
              </c:strCache>
            </c:strRef>
          </c:tx>
          <c:spPr>
            <a:solidFill>
              <a:srgbClr val="F06241"/>
            </a:solidFill>
            <a:ln w="19050">
              <a:noFill/>
            </a:ln>
            <a:effectLst/>
          </c:spPr>
          <c:invertIfNegative val="0"/>
          <c:cat>
            <c:strRef>
              <c:f>Sheet1!$A$2:$A$2</c:f>
              <c:strCache>
                <c:ptCount val="1"/>
                <c:pt idx="0">
                  <c:v>Overall</c:v>
                </c:pt>
              </c:strCache>
            </c:strRef>
          </c:cat>
          <c:val>
            <c:numRef>
              <c:f>Sheet1!$E$2:$E$2</c:f>
              <c:numCache>
                <c:formatCode>General</c:formatCode>
                <c:ptCount val="1"/>
                <c:pt idx="0">
                  <c:v>2.7283511269276395</c:v>
                </c:pt>
              </c:numCache>
            </c:numRef>
          </c:val>
          <c:extLst>
            <c:ext xmlns:c16="http://schemas.microsoft.com/office/drawing/2014/chart" uri="{C3380CC4-5D6E-409C-BE32-E72D297353CC}">
              <c16:uniqueId val="{00000005-75D5-D342-BCFC-56747FBB812F}"/>
            </c:ext>
          </c:extLst>
        </c:ser>
        <c:ser>
          <c:idx val="4"/>
          <c:order val="4"/>
          <c:tx>
            <c:strRef>
              <c:f>Sheet1!$F$1</c:f>
              <c:strCache>
                <c:ptCount val="1"/>
                <c:pt idx="0">
                  <c:v>Percentage of portfolio</c:v>
                </c:pt>
              </c:strCache>
            </c:strRef>
          </c:tx>
          <c:spPr>
            <a:solidFill>
              <a:schemeClr val="bg1"/>
            </a:solidFill>
            <a:ln w="19050">
              <a:solidFill>
                <a:schemeClr val="lt1"/>
              </a:solidFill>
            </a:ln>
            <a:effectLst/>
          </c:spPr>
          <c:invertIfNegative val="0"/>
          <c:cat>
            <c:strRef>
              <c:f>Sheet1!$A$2:$A$2</c:f>
              <c:strCache>
                <c:ptCount val="1"/>
                <c:pt idx="0">
                  <c:v>Overall</c:v>
                </c:pt>
              </c:strCache>
            </c:strRef>
          </c:cat>
          <c:val>
            <c:numRef>
              <c:f>Sheet1!$F$2:$F$2</c:f>
              <c:numCache>
                <c:formatCode>General</c:formatCode>
                <c:ptCount val="1"/>
                <c:pt idx="0">
                  <c:v>8.303677342823251</c:v>
                </c:pt>
              </c:numCache>
            </c:numRef>
          </c:val>
          <c:extLst>
            <c:ext xmlns:c16="http://schemas.microsoft.com/office/drawing/2014/chart" uri="{C3380CC4-5D6E-409C-BE32-E72D297353CC}">
              <c16:uniqueId val="{00000006-75D5-D342-BCFC-56747FBB812F}"/>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1"/>
        <c:axPos val="l"/>
        <c:numFmt formatCode="General" sourceLinked="1"/>
        <c:majorTickMark val="out"/>
        <c:minorTickMark val="none"/>
        <c:tickLblPos val="nextTo"/>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189D-224A-BCD3-20CC2B33F5C5}"/>
              </c:ext>
            </c:extLst>
          </c:dPt>
          <c:cat>
            <c:strRef>
              <c:f>Sheet1!$A$2:$A$19</c:f>
              <c:strCache>
                <c:ptCount val="18"/>
                <c:pt idx="0">
                  <c:v>architecture</c:v>
                </c:pt>
                <c:pt idx="1">
                  <c:v>Utility Development</c:v>
                </c:pt>
                <c:pt idx="2">
                  <c:v>Unknown</c:v>
                </c:pt>
                <c:pt idx="3">
                  <c:v>Team Blue</c:v>
                </c:pt>
                <c:pt idx="4">
                  <c:v>Server Team</c:v>
                </c:pt>
                <c:pt idx="5">
                  <c:v>Retail Operations</c:v>
                </c:pt>
                <c:pt idx="6">
                  <c:v>Research</c:v>
                </c:pt>
                <c:pt idx="7">
                  <c:v>PowerFX Team</c:v>
                </c:pt>
                <c:pt idx="8">
                  <c:v>PLC</c:v>
                </c:pt>
                <c:pt idx="9">
                  <c:v>OS team</c:v>
                </c:pt>
                <c:pt idx="10">
                  <c:v>Logic Apps Team</c:v>
                </c:pt>
                <c:pt idx="11">
                  <c:v>Java Team</c:v>
                </c:pt>
                <c:pt idx="12">
                  <c:v>IT Department</c:v>
                </c:pt>
                <c:pt idx="13">
                  <c:v>Frontend Development</c:v>
                </c:pt>
                <c:pt idx="14">
                  <c:v>Development Tooling</c:v>
                </c:pt>
                <c:pt idx="15">
                  <c:v>Customer Experience</c:v>
                </c:pt>
                <c:pt idx="16">
                  <c:v>Backend Development</c:v>
                </c:pt>
                <c:pt idx="17">
                  <c:v>Analytics Team</c:v>
                </c:pt>
              </c:strCache>
            </c:strRef>
          </c:cat>
          <c:val>
            <c:numRef>
              <c:f>Sheet1!$B$2:$B$19</c:f>
              <c:numCache>
                <c:formatCode>General</c:formatCode>
                <c:ptCount val="18"/>
                <c:pt idx="0">
                  <c:v>26.923076923076923</c:v>
                </c:pt>
                <c:pt idx="1">
                  <c:v>47.72727272727273</c:v>
                </c:pt>
                <c:pt idx="2">
                  <c:v>39.42307692307692</c:v>
                </c:pt>
                <c:pt idx="3">
                  <c:v>0.0</c:v>
                </c:pt>
                <c:pt idx="4">
                  <c:v>18.181818181818183</c:v>
                </c:pt>
                <c:pt idx="5">
                  <c:v>81.81818181818181</c:v>
                </c:pt>
                <c:pt idx="6">
                  <c:v>50.0</c:v>
                </c:pt>
                <c:pt idx="7">
                  <c:v>75.80645161290323</c:v>
                </c:pt>
                <c:pt idx="8">
                  <c:v>54.83870967741935</c:v>
                </c:pt>
                <c:pt idx="9">
                  <c:v>40.625</c:v>
                </c:pt>
                <c:pt idx="10">
                  <c:v>51.724137931034484</c:v>
                </c:pt>
                <c:pt idx="11">
                  <c:v>0.0</c:v>
                </c:pt>
                <c:pt idx="12">
                  <c:v>47.36842105263158</c:v>
                </c:pt>
                <c:pt idx="13">
                  <c:v>49.54128440366973</c:v>
                </c:pt>
                <c:pt idx="14">
                  <c:v>61.29032258064516</c:v>
                </c:pt>
                <c:pt idx="15">
                  <c:v>11.11111111111111</c:v>
                </c:pt>
                <c:pt idx="16">
                  <c:v>40.090090090090094</c:v>
                </c:pt>
                <c:pt idx="17">
                  <c:v>33.333333333333336</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189D-224A-BCD3-20CC2B33F5C5}"/>
            </c:ext>
          </c:extLst>
        </c:ser>
        <c:ser>
          <c:idx val="1"/>
          <c:order val="1"/>
          <c:tx>
            <c:strRef>
              <c:f>Sheet1!$C$1</c:f>
              <c:strCache>
                <c:ptCount val="1"/>
                <c:pt idx="0">
                  <c:v>Percentage of portfolio</c:v>
                </c:pt>
              </c:strCache>
            </c:strRef>
          </c:tx>
          <c:spPr>
            <a:solidFill>
              <a:srgbClr val="67E77F"/>
            </a:solidFill>
            <a:ln w="19050">
              <a:noFill/>
            </a:ln>
            <a:effectLst/>
          </c:spPr>
          <c:invertIfNegative val="0"/>
          <c:cat>
            <c:strRef>
              <c:f>Sheet1!$A$2:$A$19</c:f>
              <c:strCache>
                <c:ptCount val="18"/>
                <c:pt idx="0">
                  <c:v>architecture</c:v>
                </c:pt>
                <c:pt idx="1">
                  <c:v>Utility Development</c:v>
                </c:pt>
                <c:pt idx="2">
                  <c:v>Unknown</c:v>
                </c:pt>
                <c:pt idx="3">
                  <c:v>Team Blue</c:v>
                </c:pt>
                <c:pt idx="4">
                  <c:v>Server Team</c:v>
                </c:pt>
                <c:pt idx="5">
                  <c:v>Retail Operations</c:v>
                </c:pt>
                <c:pt idx="6">
                  <c:v>Research</c:v>
                </c:pt>
                <c:pt idx="7">
                  <c:v>PowerFX Team</c:v>
                </c:pt>
                <c:pt idx="8">
                  <c:v>PLC</c:v>
                </c:pt>
                <c:pt idx="9">
                  <c:v>OS team</c:v>
                </c:pt>
                <c:pt idx="10">
                  <c:v>Logic Apps Team</c:v>
                </c:pt>
                <c:pt idx="11">
                  <c:v>Java Team</c:v>
                </c:pt>
                <c:pt idx="12">
                  <c:v>IT Department</c:v>
                </c:pt>
                <c:pt idx="13">
                  <c:v>Frontend Development</c:v>
                </c:pt>
                <c:pt idx="14">
                  <c:v>Development Tooling</c:v>
                </c:pt>
                <c:pt idx="15">
                  <c:v>Customer Experience</c:v>
                </c:pt>
                <c:pt idx="16">
                  <c:v>Backend Development</c:v>
                </c:pt>
                <c:pt idx="17">
                  <c:v>Analytics Team</c:v>
                </c:pt>
              </c:strCache>
            </c:strRef>
          </c:cat>
          <c:val>
            <c:numRef>
              <c:f>Sheet1!$C$2:$C$19</c:f>
              <c:numCache>
                <c:formatCode>General</c:formatCode>
                <c:ptCount val="18"/>
                <c:pt idx="0">
                  <c:v>3.8461538461538463</c:v>
                </c:pt>
                <c:pt idx="1">
                  <c:v>1.1363636363636365</c:v>
                </c:pt>
                <c:pt idx="2">
                  <c:v>0.0</c:v>
                </c:pt>
                <c:pt idx="3">
                  <c:v>0.0</c:v>
                </c:pt>
                <c:pt idx="4">
                  <c:v>0.0</c:v>
                </c:pt>
                <c:pt idx="5">
                  <c:v>0.0</c:v>
                </c:pt>
                <c:pt idx="6">
                  <c:v>12.5</c:v>
                </c:pt>
                <c:pt idx="7">
                  <c:v>0.0</c:v>
                </c:pt>
                <c:pt idx="8">
                  <c:v>0.0</c:v>
                </c:pt>
                <c:pt idx="9">
                  <c:v>0.0</c:v>
                </c:pt>
                <c:pt idx="10">
                  <c:v>0.0</c:v>
                </c:pt>
                <c:pt idx="11">
                  <c:v>0.0</c:v>
                </c:pt>
                <c:pt idx="12">
                  <c:v>0.0</c:v>
                </c:pt>
                <c:pt idx="13">
                  <c:v>0.9174311926605505</c:v>
                </c:pt>
                <c:pt idx="14">
                  <c:v>3.225806451612903</c:v>
                </c:pt>
                <c:pt idx="15">
                  <c:v>0.0</c:v>
                </c:pt>
                <c:pt idx="16">
                  <c:v>0.9009009009009009</c:v>
                </c:pt>
                <c:pt idx="17">
                  <c:v>0.0</c:v>
                </c:pt>
              </c:numCache>
            </c:numRef>
          </c:val>
          <c:extLst>
            <c:ext xmlns:c16="http://schemas.microsoft.com/office/drawing/2014/chart" uri="{C3380CC4-5D6E-409C-BE32-E72D297353CC}">
              <c16:uniqueId val="{00000003-189D-224A-BCD3-20CC2B33F5C5}"/>
            </c:ext>
          </c:extLst>
        </c:ser>
        <c:ser>
          <c:idx val="2"/>
          <c:order val="2"/>
          <c:tx>
            <c:strRef>
              <c:f>Sheet1!$D$1</c:f>
              <c:strCache>
                <c:ptCount val="1"/>
                <c:pt idx="0">
                  <c:v>Percentage of portfolio</c:v>
                </c:pt>
              </c:strCache>
            </c:strRef>
          </c:tx>
          <c:spPr>
            <a:solidFill>
              <a:srgbClr val="BFC4CF"/>
            </a:solidFill>
            <a:ln w="19050">
              <a:noFill/>
            </a:ln>
            <a:effectLst/>
          </c:spPr>
          <c:invertIfNegative val="0"/>
          <c:cat>
            <c:strRef>
              <c:f>Sheet1!$A$2:$A$19</c:f>
              <c:strCache>
                <c:ptCount val="18"/>
                <c:pt idx="0">
                  <c:v>architecture</c:v>
                </c:pt>
                <c:pt idx="1">
                  <c:v>Utility Development</c:v>
                </c:pt>
                <c:pt idx="2">
                  <c:v>Unknown</c:v>
                </c:pt>
                <c:pt idx="3">
                  <c:v>Team Blue</c:v>
                </c:pt>
                <c:pt idx="4">
                  <c:v>Server Team</c:v>
                </c:pt>
                <c:pt idx="5">
                  <c:v>Retail Operations</c:v>
                </c:pt>
                <c:pt idx="6">
                  <c:v>Research</c:v>
                </c:pt>
                <c:pt idx="7">
                  <c:v>PowerFX Team</c:v>
                </c:pt>
                <c:pt idx="8">
                  <c:v>PLC</c:v>
                </c:pt>
                <c:pt idx="9">
                  <c:v>OS team</c:v>
                </c:pt>
                <c:pt idx="10">
                  <c:v>Logic Apps Team</c:v>
                </c:pt>
                <c:pt idx="11">
                  <c:v>Java Team</c:v>
                </c:pt>
                <c:pt idx="12">
                  <c:v>IT Department</c:v>
                </c:pt>
                <c:pt idx="13">
                  <c:v>Frontend Development</c:v>
                </c:pt>
                <c:pt idx="14">
                  <c:v>Development Tooling</c:v>
                </c:pt>
                <c:pt idx="15">
                  <c:v>Customer Experience</c:v>
                </c:pt>
                <c:pt idx="16">
                  <c:v>Backend Development</c:v>
                </c:pt>
                <c:pt idx="17">
                  <c:v>Analytics Team</c:v>
                </c:pt>
              </c:strCache>
            </c:strRef>
          </c:cat>
          <c:val>
            <c:numRef>
              <c:f>Sheet1!$D$2:$D$19</c:f>
              <c:numCache>
                <c:formatCode>General</c:formatCode>
                <c:ptCount val="18"/>
                <c:pt idx="0">
                  <c:v>61.53846153846154</c:v>
                </c:pt>
                <c:pt idx="1">
                  <c:v>43.18181818181818</c:v>
                </c:pt>
                <c:pt idx="2">
                  <c:v>35.57692307692308</c:v>
                </c:pt>
                <c:pt idx="3">
                  <c:v>50.0</c:v>
                </c:pt>
                <c:pt idx="4">
                  <c:v>59.09090909090909</c:v>
                </c:pt>
                <c:pt idx="5">
                  <c:v>18.181818181818183</c:v>
                </c:pt>
                <c:pt idx="6">
                  <c:v>37.5</c:v>
                </c:pt>
                <c:pt idx="7">
                  <c:v>22.580645161290324</c:v>
                </c:pt>
                <c:pt idx="8">
                  <c:v>29.032258064516128</c:v>
                </c:pt>
                <c:pt idx="9">
                  <c:v>42.1875</c:v>
                </c:pt>
                <c:pt idx="10">
                  <c:v>48.275862068965516</c:v>
                </c:pt>
                <c:pt idx="11">
                  <c:v>50.0</c:v>
                </c:pt>
                <c:pt idx="12">
                  <c:v>52.63157894736842</c:v>
                </c:pt>
                <c:pt idx="13">
                  <c:v>34.862385321100916</c:v>
                </c:pt>
                <c:pt idx="14">
                  <c:v>25.806451612903224</c:v>
                </c:pt>
                <c:pt idx="15">
                  <c:v>88.88888888888889</c:v>
                </c:pt>
                <c:pt idx="16">
                  <c:v>51.8018018018018</c:v>
                </c:pt>
                <c:pt idx="17">
                  <c:v>59.25925925925926</c:v>
                </c:pt>
              </c:numCache>
            </c:numRef>
          </c:val>
          <c:extLst>
            <c:ext xmlns:c16="http://schemas.microsoft.com/office/drawing/2014/chart" uri="{C3380CC4-5D6E-409C-BE32-E72D297353CC}">
              <c16:uniqueId val="{00000004-189D-224A-BCD3-20CC2B33F5C5}"/>
            </c:ext>
          </c:extLst>
        </c:ser>
        <c:ser>
          <c:idx val="3"/>
          <c:order val="3"/>
          <c:tx>
            <c:strRef>
              <c:f>Sheet1!$E$1</c:f>
              <c:strCache>
                <c:ptCount val="1"/>
                <c:pt idx="0">
                  <c:v>Percentage of portfolio</c:v>
                </c:pt>
              </c:strCache>
            </c:strRef>
          </c:tx>
          <c:spPr>
            <a:solidFill>
              <a:srgbClr val="F06241"/>
            </a:solidFill>
            <a:ln w="19050">
              <a:noFill/>
            </a:ln>
            <a:effectLst/>
          </c:spPr>
          <c:invertIfNegative val="0"/>
          <c:cat>
            <c:strRef>
              <c:f>Sheet1!$A$2:$A$19</c:f>
              <c:strCache>
                <c:ptCount val="18"/>
                <c:pt idx="0">
                  <c:v>architecture</c:v>
                </c:pt>
                <c:pt idx="1">
                  <c:v>Utility Development</c:v>
                </c:pt>
                <c:pt idx="2">
                  <c:v>Unknown</c:v>
                </c:pt>
                <c:pt idx="3">
                  <c:v>Team Blue</c:v>
                </c:pt>
                <c:pt idx="4">
                  <c:v>Server Team</c:v>
                </c:pt>
                <c:pt idx="5">
                  <c:v>Retail Operations</c:v>
                </c:pt>
                <c:pt idx="6">
                  <c:v>Research</c:v>
                </c:pt>
                <c:pt idx="7">
                  <c:v>PowerFX Team</c:v>
                </c:pt>
                <c:pt idx="8">
                  <c:v>PLC</c:v>
                </c:pt>
                <c:pt idx="9">
                  <c:v>OS team</c:v>
                </c:pt>
                <c:pt idx="10">
                  <c:v>Logic Apps Team</c:v>
                </c:pt>
                <c:pt idx="11">
                  <c:v>Java Team</c:v>
                </c:pt>
                <c:pt idx="12">
                  <c:v>IT Department</c:v>
                </c:pt>
                <c:pt idx="13">
                  <c:v>Frontend Development</c:v>
                </c:pt>
                <c:pt idx="14">
                  <c:v>Development Tooling</c:v>
                </c:pt>
                <c:pt idx="15">
                  <c:v>Customer Experience</c:v>
                </c:pt>
                <c:pt idx="16">
                  <c:v>Backend Development</c:v>
                </c:pt>
                <c:pt idx="17">
                  <c:v>Analytics Team</c:v>
                </c:pt>
              </c:strCache>
            </c:strRef>
          </c:cat>
          <c:val>
            <c:numRef>
              <c:f>Sheet1!$E$2:$E$19</c:f>
              <c:numCache>
                <c:formatCode>General</c:formatCode>
                <c:ptCount val="18"/>
                <c:pt idx="0">
                  <c:v>3.8461538461538463</c:v>
                </c:pt>
                <c:pt idx="1">
                  <c:v>2.272727272727273</c:v>
                </c:pt>
                <c:pt idx="2">
                  <c:v>0.0</c:v>
                </c:pt>
                <c:pt idx="3">
                  <c:v>0.0</c:v>
                </c:pt>
                <c:pt idx="4">
                  <c:v>0.0</c:v>
                </c:pt>
                <c:pt idx="5">
                  <c:v>0.0</c:v>
                </c:pt>
                <c:pt idx="6">
                  <c:v>0.0</c:v>
                </c:pt>
                <c:pt idx="7">
                  <c:v>0.0</c:v>
                </c:pt>
                <c:pt idx="8">
                  <c:v>0.0</c:v>
                </c:pt>
                <c:pt idx="9">
                  <c:v>6.25</c:v>
                </c:pt>
                <c:pt idx="10">
                  <c:v>0.0</c:v>
                </c:pt>
                <c:pt idx="11">
                  <c:v>0.0</c:v>
                </c:pt>
                <c:pt idx="12">
                  <c:v>0.0</c:v>
                </c:pt>
                <c:pt idx="13">
                  <c:v>8.256880733944953</c:v>
                </c:pt>
                <c:pt idx="14">
                  <c:v>6.451612903225806</c:v>
                </c:pt>
                <c:pt idx="15">
                  <c:v>0.0</c:v>
                </c:pt>
                <c:pt idx="16">
                  <c:v>2.7027027027027026</c:v>
                </c:pt>
                <c:pt idx="17">
                  <c:v>0.0</c:v>
                </c:pt>
              </c:numCache>
            </c:numRef>
          </c:val>
          <c:extLst>
            <c:ext xmlns:c16="http://schemas.microsoft.com/office/drawing/2014/chart" uri="{C3380CC4-5D6E-409C-BE32-E72D297353CC}">
              <c16:uniqueId val="{00000005-189D-224A-BCD3-20CC2B33F5C5}"/>
            </c:ext>
          </c:extLst>
        </c:ser>
        <c:ser>
          <c:idx val="4"/>
          <c:order val="4"/>
          <c:tx>
            <c:strRef>
              <c:f>Sheet1!$F$1</c:f>
              <c:strCache>
                <c:ptCount val="1"/>
                <c:pt idx="0">
                  <c:v>Percentage of portfolio</c:v>
                </c:pt>
              </c:strCache>
            </c:strRef>
          </c:tx>
          <c:spPr>
            <a:solidFill>
              <a:schemeClr val="bg1"/>
            </a:solidFill>
            <a:ln w="19050">
              <a:solidFill>
                <a:schemeClr val="lt1"/>
              </a:solidFill>
            </a:ln>
            <a:effectLst/>
          </c:spPr>
          <c:invertIfNegative val="0"/>
          <c:cat>
            <c:strRef>
              <c:f>Sheet1!$A$2:$A$19</c:f>
              <c:strCache>
                <c:ptCount val="18"/>
                <c:pt idx="0">
                  <c:v>architecture</c:v>
                </c:pt>
                <c:pt idx="1">
                  <c:v>Utility Development</c:v>
                </c:pt>
                <c:pt idx="2">
                  <c:v>Unknown</c:v>
                </c:pt>
                <c:pt idx="3">
                  <c:v>Team Blue</c:v>
                </c:pt>
                <c:pt idx="4">
                  <c:v>Server Team</c:v>
                </c:pt>
                <c:pt idx="5">
                  <c:v>Retail Operations</c:v>
                </c:pt>
                <c:pt idx="6">
                  <c:v>Research</c:v>
                </c:pt>
                <c:pt idx="7">
                  <c:v>PowerFX Team</c:v>
                </c:pt>
                <c:pt idx="8">
                  <c:v>PLC</c:v>
                </c:pt>
                <c:pt idx="9">
                  <c:v>OS team</c:v>
                </c:pt>
                <c:pt idx="10">
                  <c:v>Logic Apps Team</c:v>
                </c:pt>
                <c:pt idx="11">
                  <c:v>Java Team</c:v>
                </c:pt>
                <c:pt idx="12">
                  <c:v>IT Department</c:v>
                </c:pt>
                <c:pt idx="13">
                  <c:v>Frontend Development</c:v>
                </c:pt>
                <c:pt idx="14">
                  <c:v>Development Tooling</c:v>
                </c:pt>
                <c:pt idx="15">
                  <c:v>Customer Experience</c:v>
                </c:pt>
                <c:pt idx="16">
                  <c:v>Backend Development</c:v>
                </c:pt>
                <c:pt idx="17">
                  <c:v>Analytics Team</c:v>
                </c:pt>
              </c:strCache>
            </c:strRef>
          </c:cat>
          <c:val>
            <c:numRef>
              <c:f>Sheet1!$F$2:$F$19</c:f>
              <c:numCache>
                <c:formatCode>General</c:formatCode>
                <c:ptCount val="18"/>
                <c:pt idx="0">
                  <c:v>3.8461538461538463</c:v>
                </c:pt>
                <c:pt idx="1">
                  <c:v>5.681818181818182</c:v>
                </c:pt>
                <c:pt idx="2">
                  <c:v>25.0</c:v>
                </c:pt>
                <c:pt idx="3">
                  <c:v>50.0</c:v>
                </c:pt>
                <c:pt idx="4">
                  <c:v>22.727272727272727</c:v>
                </c:pt>
                <c:pt idx="5">
                  <c:v>0.0</c:v>
                </c:pt>
                <c:pt idx="6">
                  <c:v>0.0</c:v>
                </c:pt>
                <c:pt idx="7">
                  <c:v>1.6129032258064515</c:v>
                </c:pt>
                <c:pt idx="8">
                  <c:v>16.129032258064516</c:v>
                </c:pt>
                <c:pt idx="9">
                  <c:v>10.9375</c:v>
                </c:pt>
                <c:pt idx="10">
                  <c:v>0.0</c:v>
                </c:pt>
                <c:pt idx="11">
                  <c:v>50.0</c:v>
                </c:pt>
                <c:pt idx="12">
                  <c:v>0.0</c:v>
                </c:pt>
                <c:pt idx="13">
                  <c:v>6.422018348623853</c:v>
                </c:pt>
                <c:pt idx="14">
                  <c:v>3.225806451612903</c:v>
                </c:pt>
                <c:pt idx="15">
                  <c:v>0.0</c:v>
                </c:pt>
                <c:pt idx="16">
                  <c:v>4.504504504504505</c:v>
                </c:pt>
                <c:pt idx="17">
                  <c:v>7.407407407407407</c:v>
                </c:pt>
              </c:numCache>
            </c:numRef>
          </c:val>
          <c:extLst>
            <c:ext xmlns:c16="http://schemas.microsoft.com/office/drawing/2014/chart" uri="{C3380CC4-5D6E-409C-BE32-E72D297353CC}">
              <c16:uniqueId val="{00000006-189D-224A-BCD3-20CC2B33F5C5}"/>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E98D-4640-8B14-A67FDFDE3FF3}"/>
              </c:ext>
            </c:extLst>
          </c:dPt>
          <c:cat>
            <c:strRef>
              <c:f>Sheet1!$A$2:$A$5</c:f>
              <c:strCache>
                <c:ptCount val="4"/>
                <c:pt idx="0">
                  <c:v>Architecture Quality</c:v>
                </c:pt>
                <c:pt idx="1">
                  <c:v>Maintainability</c:v>
                </c:pt>
                <c:pt idx="2">
                  <c:v>Open Source Health</c:v>
                </c:pt>
                <c:pt idx="3">
                  <c:v>Security</c:v>
                </c:pt>
              </c:strCache>
            </c:strRef>
          </c:cat>
          <c:val>
            <c:numRef>
              <c:f>Sheet1!$B$2:$B$5</c:f>
              <c:numCache>
                <c:formatCode>General</c:formatCode>
                <c:ptCount val="4"/>
                <c:pt idx="0">
                  <c:v>53.191489361702125</c:v>
                </c:pt>
                <c:pt idx="1">
                  <c:v>34.86590038314176</c:v>
                </c:pt>
                <c:pt idx="2">
                  <c:v>48.559670781893004</c:v>
                </c:pt>
                <c:pt idx="3">
                  <c:v>32.89473684210526</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E98D-4640-8B14-A67FDFDE3FF3}"/>
            </c:ext>
          </c:extLst>
        </c:ser>
        <c:ser>
          <c:idx val="1"/>
          <c:order val="1"/>
          <c:tx>
            <c:strRef>
              <c:f>Sheet1!$C$1</c:f>
              <c:strCache>
                <c:ptCount val="1"/>
                <c:pt idx="0">
                  <c:v>Percentage of portfolio</c:v>
                </c:pt>
              </c:strCache>
            </c:strRef>
          </c:tx>
          <c:spPr>
            <a:solidFill>
              <a:srgbClr val="67E77F"/>
            </a:solidFill>
            <a:ln w="19050">
              <a:noFill/>
            </a:ln>
            <a:effectLst/>
          </c:spPr>
          <c:invertIfNegative val="0"/>
          <c:cat>
            <c:strRef>
              <c:f>Sheet1!$A$2:$A$5</c:f>
              <c:strCache>
                <c:ptCount val="4"/>
                <c:pt idx="0">
                  <c:v>Architecture Quality</c:v>
                </c:pt>
                <c:pt idx="1">
                  <c:v>Maintainability</c:v>
                </c:pt>
                <c:pt idx="2">
                  <c:v>Open Source Health</c:v>
                </c:pt>
                <c:pt idx="3">
                  <c:v>Security</c:v>
                </c:pt>
              </c:strCache>
            </c:strRef>
          </c:cat>
          <c:val>
            <c:numRef>
              <c:f>Sheet1!$C$2:$C$5</c:f>
              <c:numCache>
                <c:formatCode>General</c:formatCode>
                <c:ptCount val="4"/>
                <c:pt idx="0">
                  <c:v>2.6595744680851063</c:v>
                </c:pt>
                <c:pt idx="1">
                  <c:v>0.7662835249042146</c:v>
                </c:pt>
                <c:pt idx="2">
                  <c:v>0.0</c:v>
                </c:pt>
                <c:pt idx="3">
                  <c:v>0.0</c:v>
                </c:pt>
              </c:numCache>
            </c:numRef>
          </c:val>
          <c:extLst>
            <c:ext xmlns:c16="http://schemas.microsoft.com/office/drawing/2014/chart" uri="{C3380CC4-5D6E-409C-BE32-E72D297353CC}">
              <c16:uniqueId val="{00000003-E98D-4640-8B14-A67FDFDE3FF3}"/>
            </c:ext>
          </c:extLst>
        </c:ser>
        <c:ser>
          <c:idx val="2"/>
          <c:order val="2"/>
          <c:tx>
            <c:strRef>
              <c:f>Sheet1!$D$1</c:f>
              <c:strCache>
                <c:ptCount val="1"/>
                <c:pt idx="0">
                  <c:v>Percentage of portfolio</c:v>
                </c:pt>
              </c:strCache>
            </c:strRef>
          </c:tx>
          <c:spPr>
            <a:solidFill>
              <a:srgbClr val="BFC4CF"/>
            </a:solidFill>
            <a:ln w="19050">
              <a:noFill/>
            </a:ln>
            <a:effectLst/>
          </c:spPr>
          <c:invertIfNegative val="0"/>
          <c:cat>
            <c:strRef>
              <c:f>Sheet1!$A$2:$A$5</c:f>
              <c:strCache>
                <c:ptCount val="4"/>
                <c:pt idx="0">
                  <c:v>Architecture Quality</c:v>
                </c:pt>
                <c:pt idx="1">
                  <c:v>Maintainability</c:v>
                </c:pt>
                <c:pt idx="2">
                  <c:v>Open Source Health</c:v>
                </c:pt>
                <c:pt idx="3">
                  <c:v>Security</c:v>
                </c:pt>
              </c:strCache>
            </c:strRef>
          </c:cat>
          <c:val>
            <c:numRef>
              <c:f>Sheet1!$D$2:$D$5</c:f>
              <c:numCache>
                <c:formatCode>General</c:formatCode>
                <c:ptCount val="4"/>
                <c:pt idx="0">
                  <c:v>17.5531914893617</c:v>
                </c:pt>
                <c:pt idx="1">
                  <c:v>58.62068965517241</c:v>
                </c:pt>
                <c:pt idx="2">
                  <c:v>44.03292181069959</c:v>
                </c:pt>
                <c:pt idx="3">
                  <c:v>56.578947368421055</c:v>
                </c:pt>
              </c:numCache>
            </c:numRef>
          </c:val>
          <c:extLst>
            <c:ext xmlns:c16="http://schemas.microsoft.com/office/drawing/2014/chart" uri="{C3380CC4-5D6E-409C-BE32-E72D297353CC}">
              <c16:uniqueId val="{00000004-E98D-4640-8B14-A67FDFDE3FF3}"/>
            </c:ext>
          </c:extLst>
        </c:ser>
        <c:ser>
          <c:idx val="3"/>
          <c:order val="3"/>
          <c:tx>
            <c:strRef>
              <c:f>Sheet1!$E$1</c:f>
              <c:strCache>
                <c:ptCount val="1"/>
                <c:pt idx="0">
                  <c:v>Percentage of portfolio</c:v>
                </c:pt>
              </c:strCache>
            </c:strRef>
          </c:tx>
          <c:spPr>
            <a:solidFill>
              <a:srgbClr val="F06241"/>
            </a:solidFill>
            <a:ln w="19050">
              <a:noFill/>
            </a:ln>
            <a:effectLst/>
          </c:spPr>
          <c:invertIfNegative val="0"/>
          <c:cat>
            <c:strRef>
              <c:f>Sheet1!$A$2:$A$5</c:f>
              <c:strCache>
                <c:ptCount val="4"/>
                <c:pt idx="0">
                  <c:v>Architecture Quality</c:v>
                </c:pt>
                <c:pt idx="1">
                  <c:v>Maintainability</c:v>
                </c:pt>
                <c:pt idx="2">
                  <c:v>Open Source Health</c:v>
                </c:pt>
                <c:pt idx="3">
                  <c:v>Security</c:v>
                </c:pt>
              </c:strCache>
            </c:strRef>
          </c:cat>
          <c:val>
            <c:numRef>
              <c:f>Sheet1!$E$2:$E$5</c:f>
              <c:numCache>
                <c:formatCode>General</c:formatCode>
                <c:ptCount val="4"/>
                <c:pt idx="0">
                  <c:v>5.851063829787234</c:v>
                </c:pt>
                <c:pt idx="1">
                  <c:v>1.1494252873563218</c:v>
                </c:pt>
                <c:pt idx="2">
                  <c:v>1.2345679012345678</c:v>
                </c:pt>
                <c:pt idx="3">
                  <c:v>7.894736842105263</c:v>
                </c:pt>
              </c:numCache>
            </c:numRef>
          </c:val>
          <c:extLst>
            <c:ext xmlns:c16="http://schemas.microsoft.com/office/drawing/2014/chart" uri="{C3380CC4-5D6E-409C-BE32-E72D297353CC}">
              <c16:uniqueId val="{00000005-E98D-4640-8B14-A67FDFDE3FF3}"/>
            </c:ext>
          </c:extLst>
        </c:ser>
        <c:ser>
          <c:idx val="4"/>
          <c:order val="4"/>
          <c:tx>
            <c:strRef>
              <c:f>Sheet1!$F$1</c:f>
              <c:strCache>
                <c:ptCount val="1"/>
                <c:pt idx="0">
                  <c:v>Percentage of portfolio</c:v>
                </c:pt>
              </c:strCache>
            </c:strRef>
          </c:tx>
          <c:spPr>
            <a:solidFill>
              <a:schemeClr val="bg1"/>
            </a:solidFill>
            <a:ln w="19050">
              <a:solidFill>
                <a:schemeClr val="lt1"/>
              </a:solidFill>
            </a:ln>
            <a:effectLst/>
          </c:spPr>
          <c:invertIfNegative val="0"/>
          <c:cat>
            <c:strRef>
              <c:f>Sheet1!$A$2:$A$5</c:f>
              <c:strCache>
                <c:ptCount val="4"/>
                <c:pt idx="0">
                  <c:v>Architecture Quality</c:v>
                </c:pt>
                <c:pt idx="1">
                  <c:v>Maintainability</c:v>
                </c:pt>
                <c:pt idx="2">
                  <c:v>Open Source Health</c:v>
                </c:pt>
                <c:pt idx="3">
                  <c:v>Security</c:v>
                </c:pt>
              </c:strCache>
            </c:strRef>
          </c:cat>
          <c:val>
            <c:numRef>
              <c:f>Sheet1!$F$2:$F$5</c:f>
              <c:numCache>
                <c:formatCode>General</c:formatCode>
                <c:ptCount val="4"/>
                <c:pt idx="0">
                  <c:v>20.74468085106383</c:v>
                </c:pt>
                <c:pt idx="1">
                  <c:v>4.597701149425287</c:v>
                </c:pt>
                <c:pt idx="2">
                  <c:v>6.172839506172839</c:v>
                </c:pt>
                <c:pt idx="3">
                  <c:v>2.6315789473684212</c:v>
                </c:pt>
              </c:numCache>
            </c:numRef>
          </c:val>
          <c:extLst>
            <c:ext xmlns:c16="http://schemas.microsoft.com/office/drawing/2014/chart" uri="{C3380CC4-5D6E-409C-BE32-E72D297353CC}">
              <c16:uniqueId val="{00000006-E98D-4640-8B14-A67FDFDE3FF3}"/>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5343-2840-AF35-77DE56009DF9}"/>
              </c:ext>
            </c:extLst>
          </c:dPt>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Sheet1!$B$2:$B$13</c:f>
              <c:numCache>
                <c:formatCode>General</c:formatCode>
                <c:ptCount val="12"/>
                <c:pt idx="0">
                  <c:v>44.83985765124555</c:v>
                </c:pt>
                <c:pt idx="1">
                  <c:v>44.60260972716489</c:v>
                </c:pt>
                <c:pt idx="2">
                  <c:v>45.195729537366546</c:v>
                </c:pt>
                <c:pt idx="3">
                  <c:v>45.195729537366546</c:v>
                </c:pt>
                <c:pt idx="4">
                  <c:v>46.381969157769866</c:v>
                </c:pt>
                <c:pt idx="5">
                  <c:v>46.381969157769866</c:v>
                </c:pt>
                <c:pt idx="6">
                  <c:v>46.381969157769866</c:v>
                </c:pt>
                <c:pt idx="7">
                  <c:v>46.500593119810205</c:v>
                </c:pt>
                <c:pt idx="8">
                  <c:v>46.8564650059312</c:v>
                </c:pt>
                <c:pt idx="9">
                  <c:v>46.8564650059312</c:v>
                </c:pt>
                <c:pt idx="10">
                  <c:v>46.02609727164887</c:v>
                </c:pt>
                <c:pt idx="11">
                  <c:v>46.144721233689204</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5343-2840-AF35-77DE56009DF9}"/>
            </c:ext>
          </c:extLst>
        </c:ser>
        <c:ser>
          <c:idx val="1"/>
          <c:order val="1"/>
          <c:tx>
            <c:strRef>
              <c:f>Sheet1!$C$1</c:f>
              <c:strCache>
                <c:ptCount val="1"/>
                <c:pt idx="0">
                  <c:v>Percentage of portfolio</c:v>
                </c:pt>
              </c:strCache>
            </c:strRef>
          </c:tx>
          <c:spPr>
            <a:solidFill>
              <a:srgbClr val="67E77F"/>
            </a:solidFill>
            <a:ln w="19050">
              <a:no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Sheet1!$C$2:$C$13</c:f>
              <c:numCache>
                <c:formatCode>General</c:formatCode>
                <c:ptCount val="12"/>
                <c:pt idx="0">
                  <c:v>0.35587188612099646</c:v>
                </c:pt>
                <c:pt idx="1">
                  <c:v>0.4744958481613286</c:v>
                </c:pt>
                <c:pt idx="2">
                  <c:v>0.11862396204033215</c:v>
                </c:pt>
                <c:pt idx="3">
                  <c:v>1.4234875444839858</c:v>
                </c:pt>
                <c:pt idx="4">
                  <c:v>1.7793594306049823</c:v>
                </c:pt>
                <c:pt idx="5">
                  <c:v>0.830367734282325</c:v>
                </c:pt>
                <c:pt idx="6">
                  <c:v>0.7117437722419929</c:v>
                </c:pt>
                <c:pt idx="7">
                  <c:v>2.6097271648873073</c:v>
                </c:pt>
                <c:pt idx="8">
                  <c:v>0.9489916963226572</c:v>
                </c:pt>
                <c:pt idx="9">
                  <c:v>1.0676156583629892</c:v>
                </c:pt>
                <c:pt idx="10">
                  <c:v>0.2372479240806643</c:v>
                </c:pt>
                <c:pt idx="11">
                  <c:v>0.9489916963226572</c:v>
                </c:pt>
              </c:numCache>
            </c:numRef>
          </c:val>
          <c:extLst>
            <c:ext xmlns:c16="http://schemas.microsoft.com/office/drawing/2014/chart" uri="{C3380CC4-5D6E-409C-BE32-E72D297353CC}">
              <c16:uniqueId val="{00000003-5343-2840-AF35-77DE56009DF9}"/>
            </c:ext>
          </c:extLst>
        </c:ser>
        <c:ser>
          <c:idx val="2"/>
          <c:order val="2"/>
          <c:tx>
            <c:strRef>
              <c:f>Sheet1!$D$1</c:f>
              <c:strCache>
                <c:ptCount val="1"/>
                <c:pt idx="0">
                  <c:v>Percentage of portfolio</c:v>
                </c:pt>
              </c:strCache>
            </c:strRef>
          </c:tx>
          <c:spPr>
            <a:solidFill>
              <a:srgbClr val="BFC4CF"/>
            </a:solidFill>
            <a:ln w="19050">
              <a:no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Sheet1!$D$2:$D$13</c:f>
              <c:numCache>
                <c:formatCode>General</c:formatCode>
                <c:ptCount val="12"/>
                <c:pt idx="0">
                  <c:v>37.48517200474496</c:v>
                </c:pt>
                <c:pt idx="1">
                  <c:v>37.841043890865954</c:v>
                </c:pt>
                <c:pt idx="2">
                  <c:v>36.29893238434164</c:v>
                </c:pt>
                <c:pt idx="3">
                  <c:v>38.90865954922894</c:v>
                </c:pt>
                <c:pt idx="4">
                  <c:v>37.72241992882562</c:v>
                </c:pt>
                <c:pt idx="5">
                  <c:v>41.755634638196916</c:v>
                </c:pt>
                <c:pt idx="6">
                  <c:v>41.755634638196916</c:v>
                </c:pt>
                <c:pt idx="7">
                  <c:v>37.72241992882562</c:v>
                </c:pt>
                <c:pt idx="8">
                  <c:v>42.94187425860024</c:v>
                </c:pt>
                <c:pt idx="9">
                  <c:v>42.823250296559905</c:v>
                </c:pt>
                <c:pt idx="10">
                  <c:v>43.77224199288256</c:v>
                </c:pt>
                <c:pt idx="11">
                  <c:v>43.65361803084223</c:v>
                </c:pt>
              </c:numCache>
            </c:numRef>
          </c:val>
          <c:extLst>
            <c:ext xmlns:c16="http://schemas.microsoft.com/office/drawing/2014/chart" uri="{C3380CC4-5D6E-409C-BE32-E72D297353CC}">
              <c16:uniqueId val="{00000004-5343-2840-AF35-77DE56009DF9}"/>
            </c:ext>
          </c:extLst>
        </c:ser>
        <c:ser>
          <c:idx val="3"/>
          <c:order val="3"/>
          <c:tx>
            <c:strRef>
              <c:f>Sheet1!$E$1</c:f>
              <c:strCache>
                <c:ptCount val="1"/>
                <c:pt idx="0">
                  <c:v>Percentage of portfolio</c:v>
                </c:pt>
              </c:strCache>
            </c:strRef>
          </c:tx>
          <c:spPr>
            <a:solidFill>
              <a:srgbClr val="F06241"/>
            </a:solidFill>
            <a:ln w="19050">
              <a:no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Sheet1!$E$2:$E$13</c:f>
              <c:numCache>
                <c:formatCode>General</c:formatCode>
                <c:ptCount val="12"/>
                <c:pt idx="0">
                  <c:v>0.5931198102016607</c:v>
                </c:pt>
                <c:pt idx="1">
                  <c:v>0.35587188612099646</c:v>
                </c:pt>
                <c:pt idx="2">
                  <c:v>2.965599051008304</c:v>
                </c:pt>
                <c:pt idx="3">
                  <c:v>1.66073546856465</c:v>
                </c:pt>
                <c:pt idx="4">
                  <c:v>3.3214709371293</c:v>
                </c:pt>
                <c:pt idx="5">
                  <c:v>1.0676156583629892</c:v>
                </c:pt>
                <c:pt idx="6">
                  <c:v>0.9489916963226572</c:v>
                </c:pt>
                <c:pt idx="7">
                  <c:v>4.507710557532621</c:v>
                </c:pt>
                <c:pt idx="8">
                  <c:v>0.830367734282325</c:v>
                </c:pt>
                <c:pt idx="9">
                  <c:v>0.7117437722419929</c:v>
                </c:pt>
                <c:pt idx="10">
                  <c:v>1.66073546856465</c:v>
                </c:pt>
                <c:pt idx="11">
                  <c:v>1.4234875444839858</c:v>
                </c:pt>
              </c:numCache>
            </c:numRef>
          </c:val>
          <c:extLst>
            <c:ext xmlns:c16="http://schemas.microsoft.com/office/drawing/2014/chart" uri="{C3380CC4-5D6E-409C-BE32-E72D297353CC}">
              <c16:uniqueId val="{00000005-5343-2840-AF35-77DE56009DF9}"/>
            </c:ext>
          </c:extLst>
        </c:ser>
        <c:ser>
          <c:idx val="4"/>
          <c:order val="4"/>
          <c:tx>
            <c:strRef>
              <c:f>Sheet1!$F$1</c:f>
              <c:strCache>
                <c:ptCount val="1"/>
                <c:pt idx="0">
                  <c:v>Percentage of portfolio</c:v>
                </c:pt>
              </c:strCache>
            </c:strRef>
          </c:tx>
          <c:spPr>
            <a:solidFill>
              <a:schemeClr val="bg1"/>
            </a:solidFill>
            <a:ln w="19050">
              <a:solidFill>
                <a:schemeClr val="lt1"/>
              </a:solid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Sheet1!$F$2:$F$13</c:f>
              <c:numCache>
                <c:formatCode>General</c:formatCode>
                <c:ptCount val="12"/>
                <c:pt idx="0">
                  <c:v>16.725978647686834</c:v>
                </c:pt>
                <c:pt idx="1">
                  <c:v>16.725978647686834</c:v>
                </c:pt>
                <c:pt idx="2">
                  <c:v>15.421115065243178</c:v>
                </c:pt>
                <c:pt idx="3">
                  <c:v>12.811387900355871</c:v>
                </c:pt>
                <c:pt idx="4">
                  <c:v>10.794780545670225</c:v>
                </c:pt>
                <c:pt idx="5">
                  <c:v>9.9644128113879</c:v>
                </c:pt>
                <c:pt idx="6">
                  <c:v>10.201660735468565</c:v>
                </c:pt>
                <c:pt idx="7">
                  <c:v>8.659549228944247</c:v>
                </c:pt>
                <c:pt idx="8">
                  <c:v>8.422301304863582</c:v>
                </c:pt>
                <c:pt idx="9">
                  <c:v>8.540925266903914</c:v>
                </c:pt>
                <c:pt idx="10">
                  <c:v>8.303677342823251</c:v>
                </c:pt>
                <c:pt idx="11">
                  <c:v>7.829181494661921</c:v>
                </c:pt>
              </c:numCache>
            </c:numRef>
          </c:val>
          <c:extLst>
            <c:ext xmlns:c16="http://schemas.microsoft.com/office/drawing/2014/chart" uri="{C3380CC4-5D6E-409C-BE32-E72D297353CC}">
              <c16:uniqueId val="{00000006-5343-2840-AF35-77DE56009DF9}"/>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5A7D-2A41-8E40-3CF6BA9EF6C8}"/>
              </c:ext>
            </c:extLst>
          </c:dPt>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Sheet1!$B$2:$B$13</c:f>
              <c:numCache>
                <c:formatCode>General</c:formatCode>
                <c:ptCount val="12"/>
                <c:pt idx="0">
                  <c:v>35.526315789473685</c:v>
                </c:pt>
                <c:pt idx="1">
                  <c:v>35.526315789473685</c:v>
                </c:pt>
                <c:pt idx="2">
                  <c:v>35.526315789473685</c:v>
                </c:pt>
                <c:pt idx="3">
                  <c:v>35.526315789473685</c:v>
                </c:pt>
                <c:pt idx="4">
                  <c:v>35.526315789473685</c:v>
                </c:pt>
                <c:pt idx="5">
                  <c:v>35.526315789473685</c:v>
                </c:pt>
                <c:pt idx="6">
                  <c:v>36.8421052631579</c:v>
                </c:pt>
                <c:pt idx="7">
                  <c:v>38.1578947368421</c:v>
                </c:pt>
                <c:pt idx="8">
                  <c:v>38.1578947368421</c:v>
                </c:pt>
                <c:pt idx="9">
                  <c:v>38.1578947368421</c:v>
                </c:pt>
                <c:pt idx="10">
                  <c:v>32.89473684210526</c:v>
                </c:pt>
                <c:pt idx="11">
                  <c:v>32.89473684210526</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5A7D-2A41-8E40-3CF6BA9EF6C8}"/>
            </c:ext>
          </c:extLst>
        </c:ser>
        <c:ser>
          <c:idx val="1"/>
          <c:order val="1"/>
          <c:tx>
            <c:strRef>
              <c:f>Sheet1!$C$1</c:f>
              <c:strCache>
                <c:ptCount val="1"/>
                <c:pt idx="0">
                  <c:v>Percentage of portfolio</c:v>
                </c:pt>
              </c:strCache>
            </c:strRef>
          </c:tx>
          <c:spPr>
            <a:solidFill>
              <a:srgbClr val="67E77F"/>
            </a:solidFill>
            <a:ln w="19050">
              <a:no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Sheet1!$C$2:$C$13</c:f>
              <c:numCache>
                <c:formatCode>General</c:formatCode>
                <c:ptCount val="12"/>
                <c:pt idx="0">
                  <c:v>0.0</c:v>
                </c:pt>
                <c:pt idx="1">
                  <c:v>0.0</c:v>
                </c:pt>
                <c:pt idx="2">
                  <c:v>0.0</c:v>
                </c:pt>
                <c:pt idx="3">
                  <c:v>0.0</c:v>
                </c:pt>
                <c:pt idx="4">
                  <c:v>0.0</c:v>
                </c:pt>
                <c:pt idx="5">
                  <c:v>0.0</c:v>
                </c:pt>
                <c:pt idx="6">
                  <c:v>0.0</c:v>
                </c:pt>
                <c:pt idx="7">
                  <c:v>0.0</c:v>
                </c:pt>
                <c:pt idx="8">
                  <c:v>1.3157894736842106</c:v>
                </c:pt>
                <c:pt idx="9">
                  <c:v>0.0</c:v>
                </c:pt>
                <c:pt idx="10">
                  <c:v>0.0</c:v>
                </c:pt>
                <c:pt idx="11">
                  <c:v>0.0</c:v>
                </c:pt>
              </c:numCache>
            </c:numRef>
          </c:val>
          <c:extLst>
            <c:ext xmlns:c16="http://schemas.microsoft.com/office/drawing/2014/chart" uri="{C3380CC4-5D6E-409C-BE32-E72D297353CC}">
              <c16:uniqueId val="{00000003-5A7D-2A41-8E40-3CF6BA9EF6C8}"/>
            </c:ext>
          </c:extLst>
        </c:ser>
        <c:ser>
          <c:idx val="2"/>
          <c:order val="2"/>
          <c:tx>
            <c:strRef>
              <c:f>Sheet1!$D$1</c:f>
              <c:strCache>
                <c:ptCount val="1"/>
                <c:pt idx="0">
                  <c:v>Percentage of portfolio</c:v>
                </c:pt>
              </c:strCache>
            </c:strRef>
          </c:tx>
          <c:spPr>
            <a:solidFill>
              <a:srgbClr val="BFC4CF"/>
            </a:solidFill>
            <a:ln w="19050">
              <a:no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Sheet1!$D$2:$D$13</c:f>
              <c:numCache>
                <c:formatCode>General</c:formatCode>
                <c:ptCount val="12"/>
                <c:pt idx="0">
                  <c:v>63.1578947368421</c:v>
                </c:pt>
                <c:pt idx="1">
                  <c:v>63.1578947368421</c:v>
                </c:pt>
                <c:pt idx="2">
                  <c:v>63.1578947368421</c:v>
                </c:pt>
                <c:pt idx="3">
                  <c:v>63.1578947368421</c:v>
                </c:pt>
                <c:pt idx="4">
                  <c:v>63.1578947368421</c:v>
                </c:pt>
                <c:pt idx="5">
                  <c:v>63.1578947368421</c:v>
                </c:pt>
                <c:pt idx="6">
                  <c:v>61.8421052631579</c:v>
                </c:pt>
                <c:pt idx="7">
                  <c:v>57.89473684210526</c:v>
                </c:pt>
                <c:pt idx="8">
                  <c:v>59.21052631578947</c:v>
                </c:pt>
                <c:pt idx="9">
                  <c:v>60.526315789473685</c:v>
                </c:pt>
                <c:pt idx="10">
                  <c:v>56.578947368421055</c:v>
                </c:pt>
                <c:pt idx="11">
                  <c:v>67.10526315789474</c:v>
                </c:pt>
              </c:numCache>
            </c:numRef>
          </c:val>
          <c:extLst>
            <c:ext xmlns:c16="http://schemas.microsoft.com/office/drawing/2014/chart" uri="{C3380CC4-5D6E-409C-BE32-E72D297353CC}">
              <c16:uniqueId val="{00000004-5A7D-2A41-8E40-3CF6BA9EF6C8}"/>
            </c:ext>
          </c:extLst>
        </c:ser>
        <c:ser>
          <c:idx val="3"/>
          <c:order val="3"/>
          <c:tx>
            <c:strRef>
              <c:f>Sheet1!$E$1</c:f>
              <c:strCache>
                <c:ptCount val="1"/>
                <c:pt idx="0">
                  <c:v>Percentage of portfolio</c:v>
                </c:pt>
              </c:strCache>
            </c:strRef>
          </c:tx>
          <c:spPr>
            <a:solidFill>
              <a:srgbClr val="F06241"/>
            </a:solidFill>
            <a:ln w="19050">
              <a:no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Sheet1!$E$2:$E$13</c:f>
              <c:numCache>
                <c:formatCode>General</c:formatCode>
                <c:ptCount val="12"/>
                <c:pt idx="0">
                  <c:v>0.0</c:v>
                </c:pt>
                <c:pt idx="1">
                  <c:v>0.0</c:v>
                </c:pt>
                <c:pt idx="2">
                  <c:v>0.0</c:v>
                </c:pt>
                <c:pt idx="3">
                  <c:v>0.0</c:v>
                </c:pt>
                <c:pt idx="4">
                  <c:v>0.0</c:v>
                </c:pt>
                <c:pt idx="5">
                  <c:v>0.0</c:v>
                </c:pt>
                <c:pt idx="6">
                  <c:v>0.0</c:v>
                </c:pt>
                <c:pt idx="7">
                  <c:v>2.6315789473684212</c:v>
                </c:pt>
                <c:pt idx="8">
                  <c:v>0.0</c:v>
                </c:pt>
                <c:pt idx="9">
                  <c:v>0.0</c:v>
                </c:pt>
                <c:pt idx="10">
                  <c:v>7.894736842105263</c:v>
                </c:pt>
                <c:pt idx="11">
                  <c:v>0.0</c:v>
                </c:pt>
              </c:numCache>
            </c:numRef>
          </c:val>
          <c:extLst>
            <c:ext xmlns:c16="http://schemas.microsoft.com/office/drawing/2014/chart" uri="{C3380CC4-5D6E-409C-BE32-E72D297353CC}">
              <c16:uniqueId val="{00000005-5A7D-2A41-8E40-3CF6BA9EF6C8}"/>
            </c:ext>
          </c:extLst>
        </c:ser>
        <c:ser>
          <c:idx val="4"/>
          <c:order val="4"/>
          <c:tx>
            <c:strRef>
              <c:f>Sheet1!$F$1</c:f>
              <c:strCache>
                <c:ptCount val="1"/>
                <c:pt idx="0">
                  <c:v>Percentage of portfolio</c:v>
                </c:pt>
              </c:strCache>
            </c:strRef>
          </c:tx>
          <c:spPr>
            <a:solidFill>
              <a:schemeClr val="bg1"/>
            </a:solidFill>
            <a:ln w="19050">
              <a:solidFill>
                <a:schemeClr val="lt1"/>
              </a:solid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Sheet1!$F$2:$F$13</c:f>
              <c:numCache>
                <c:formatCode>General</c:formatCode>
                <c:ptCount val="12"/>
                <c:pt idx="0">
                  <c:v>1.3157894736842106</c:v>
                </c:pt>
                <c:pt idx="1">
                  <c:v>1.3157894736842106</c:v>
                </c:pt>
                <c:pt idx="2">
                  <c:v>1.3157894736842106</c:v>
                </c:pt>
                <c:pt idx="3">
                  <c:v>1.3157894736842106</c:v>
                </c:pt>
                <c:pt idx="4">
                  <c:v>1.3157894736842106</c:v>
                </c:pt>
                <c:pt idx="5">
                  <c:v>1.3157894736842106</c:v>
                </c:pt>
                <c:pt idx="6">
                  <c:v>1.3157894736842106</c:v>
                </c:pt>
                <c:pt idx="7">
                  <c:v>1.3157894736842106</c:v>
                </c:pt>
                <c:pt idx="8">
                  <c:v>1.3157894736842106</c:v>
                </c:pt>
                <c:pt idx="9">
                  <c:v>1.3157894736842106</c:v>
                </c:pt>
                <c:pt idx="10">
                  <c:v>2.6315789473684212</c:v>
                </c:pt>
                <c:pt idx="11">
                  <c:v>0.0</c:v>
                </c:pt>
              </c:numCache>
            </c:numRef>
          </c:val>
          <c:extLst>
            <c:ext xmlns:c16="http://schemas.microsoft.com/office/drawing/2014/chart" uri="{C3380CC4-5D6E-409C-BE32-E72D297353CC}">
              <c16:uniqueId val="{00000006-5A7D-2A41-8E40-3CF6BA9EF6C8}"/>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2F9E-3B4D-B259-782ED914E23F}"/>
              </c:ext>
            </c:extLst>
          </c:dPt>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Sheet1!$B$2:$B$13</c:f>
              <c:numCache>
                <c:formatCode>General</c:formatCode>
                <c:ptCount val="12"/>
                <c:pt idx="0">
                  <c:v>49.794238683127574</c:v>
                </c:pt>
                <c:pt idx="1">
                  <c:v>48.97119341563786</c:v>
                </c:pt>
                <c:pt idx="2">
                  <c:v>49.382716049382715</c:v>
                </c:pt>
                <c:pt idx="3">
                  <c:v>49.794238683127574</c:v>
                </c:pt>
                <c:pt idx="4">
                  <c:v>49.794238683127574</c:v>
                </c:pt>
                <c:pt idx="5">
                  <c:v>50.205761316872426</c:v>
                </c:pt>
                <c:pt idx="6">
                  <c:v>49.794238683127574</c:v>
                </c:pt>
                <c:pt idx="7">
                  <c:v>49.794238683127574</c:v>
                </c:pt>
                <c:pt idx="8">
                  <c:v>49.382716049382715</c:v>
                </c:pt>
                <c:pt idx="9">
                  <c:v>48.97119341563786</c:v>
                </c:pt>
                <c:pt idx="10">
                  <c:v>48.97119341563786</c:v>
                </c:pt>
                <c:pt idx="11">
                  <c:v>48.559670781893004</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2F9E-3B4D-B259-782ED914E23F}"/>
            </c:ext>
          </c:extLst>
        </c:ser>
        <c:ser>
          <c:idx val="1"/>
          <c:order val="1"/>
          <c:tx>
            <c:strRef>
              <c:f>Sheet1!$C$1</c:f>
              <c:strCache>
                <c:ptCount val="1"/>
                <c:pt idx="0">
                  <c:v>Percentage of portfolio</c:v>
                </c:pt>
              </c:strCache>
            </c:strRef>
          </c:tx>
          <c:spPr>
            <a:solidFill>
              <a:srgbClr val="67E77F"/>
            </a:solidFill>
            <a:ln w="19050">
              <a:no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Sheet1!$C$2:$C$13</c:f>
              <c:numCache>
                <c:formatCode>General</c:formatCode>
                <c:ptCount val="12"/>
                <c:pt idx="0">
                  <c:v>0.0</c:v>
                </c:pt>
                <c:pt idx="1">
                  <c:v>0.0</c:v>
                </c:pt>
                <c:pt idx="2">
                  <c:v>0.0</c:v>
                </c:pt>
                <c:pt idx="3">
                  <c:v>0.0</c:v>
                </c:pt>
                <c:pt idx="4">
                  <c:v>0.0</c:v>
                </c:pt>
                <c:pt idx="5">
                  <c:v>0.0</c:v>
                </c:pt>
                <c:pt idx="6">
                  <c:v>0.0</c:v>
                </c:pt>
                <c:pt idx="7">
                  <c:v>1.2345679012345678</c:v>
                </c:pt>
                <c:pt idx="8">
                  <c:v>0.0</c:v>
                </c:pt>
                <c:pt idx="9">
                  <c:v>0.0</c:v>
                </c:pt>
                <c:pt idx="10">
                  <c:v>0.411522633744856</c:v>
                </c:pt>
                <c:pt idx="11">
                  <c:v>0.0</c:v>
                </c:pt>
              </c:numCache>
            </c:numRef>
          </c:val>
          <c:extLst>
            <c:ext xmlns:c16="http://schemas.microsoft.com/office/drawing/2014/chart" uri="{C3380CC4-5D6E-409C-BE32-E72D297353CC}">
              <c16:uniqueId val="{00000003-2F9E-3B4D-B259-782ED914E23F}"/>
            </c:ext>
          </c:extLst>
        </c:ser>
        <c:ser>
          <c:idx val="2"/>
          <c:order val="2"/>
          <c:tx>
            <c:strRef>
              <c:f>Sheet1!$D$1</c:f>
              <c:strCache>
                <c:ptCount val="1"/>
                <c:pt idx="0">
                  <c:v>Percentage of portfolio</c:v>
                </c:pt>
              </c:strCache>
            </c:strRef>
          </c:tx>
          <c:spPr>
            <a:solidFill>
              <a:srgbClr val="BFC4CF"/>
            </a:solidFill>
            <a:ln w="19050">
              <a:no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Sheet1!$D$2:$D$13</c:f>
              <c:numCache>
                <c:formatCode>General</c:formatCode>
                <c:ptCount val="12"/>
                <c:pt idx="0">
                  <c:v>39.91769547325103</c:v>
                </c:pt>
                <c:pt idx="1">
                  <c:v>39.91769547325103</c:v>
                </c:pt>
                <c:pt idx="2">
                  <c:v>40.74074074074074</c:v>
                </c:pt>
                <c:pt idx="3">
                  <c:v>40.32921810699588</c:v>
                </c:pt>
                <c:pt idx="4">
                  <c:v>40.32921810699588</c:v>
                </c:pt>
                <c:pt idx="5">
                  <c:v>41.97530864197531</c:v>
                </c:pt>
                <c:pt idx="6">
                  <c:v>42.38683127572016</c:v>
                </c:pt>
                <c:pt idx="7">
                  <c:v>39.91769547325103</c:v>
                </c:pt>
                <c:pt idx="8">
                  <c:v>42.38683127572016</c:v>
                </c:pt>
                <c:pt idx="9">
                  <c:v>43.20987654320987</c:v>
                </c:pt>
                <c:pt idx="10">
                  <c:v>44.44444444444444</c:v>
                </c:pt>
                <c:pt idx="11">
                  <c:v>44.8559670781893</c:v>
                </c:pt>
              </c:numCache>
            </c:numRef>
          </c:val>
          <c:extLst>
            <c:ext xmlns:c16="http://schemas.microsoft.com/office/drawing/2014/chart" uri="{C3380CC4-5D6E-409C-BE32-E72D297353CC}">
              <c16:uniqueId val="{00000004-2F9E-3B4D-B259-782ED914E23F}"/>
            </c:ext>
          </c:extLst>
        </c:ser>
        <c:ser>
          <c:idx val="3"/>
          <c:order val="3"/>
          <c:tx>
            <c:strRef>
              <c:f>Sheet1!$E$1</c:f>
              <c:strCache>
                <c:ptCount val="1"/>
                <c:pt idx="0">
                  <c:v>Percentage of portfolio</c:v>
                </c:pt>
              </c:strCache>
            </c:strRef>
          </c:tx>
          <c:spPr>
            <a:solidFill>
              <a:srgbClr val="F06241"/>
            </a:solidFill>
            <a:ln w="19050">
              <a:no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Sheet1!$E$2:$E$13</c:f>
              <c:numCache>
                <c:formatCode>General</c:formatCode>
                <c:ptCount val="12"/>
                <c:pt idx="0">
                  <c:v>0.411522633744856</c:v>
                </c:pt>
                <c:pt idx="1">
                  <c:v>1.2345679012345678</c:v>
                </c:pt>
                <c:pt idx="2">
                  <c:v>0.0</c:v>
                </c:pt>
                <c:pt idx="3">
                  <c:v>0.0</c:v>
                </c:pt>
                <c:pt idx="4">
                  <c:v>0.411522633744856</c:v>
                </c:pt>
                <c:pt idx="5">
                  <c:v>0.411522633744856</c:v>
                </c:pt>
                <c:pt idx="6">
                  <c:v>0.411522633744856</c:v>
                </c:pt>
                <c:pt idx="7">
                  <c:v>1.646090534979424</c:v>
                </c:pt>
                <c:pt idx="8">
                  <c:v>0.823045267489712</c:v>
                </c:pt>
                <c:pt idx="9">
                  <c:v>0.411522633744856</c:v>
                </c:pt>
                <c:pt idx="10">
                  <c:v>0.0</c:v>
                </c:pt>
                <c:pt idx="11">
                  <c:v>0.411522633744856</c:v>
                </c:pt>
              </c:numCache>
            </c:numRef>
          </c:val>
          <c:extLst>
            <c:ext xmlns:c16="http://schemas.microsoft.com/office/drawing/2014/chart" uri="{C3380CC4-5D6E-409C-BE32-E72D297353CC}">
              <c16:uniqueId val="{00000005-2F9E-3B4D-B259-782ED914E23F}"/>
            </c:ext>
          </c:extLst>
        </c:ser>
        <c:ser>
          <c:idx val="4"/>
          <c:order val="4"/>
          <c:tx>
            <c:strRef>
              <c:f>Sheet1!$F$1</c:f>
              <c:strCache>
                <c:ptCount val="1"/>
                <c:pt idx="0">
                  <c:v>Percentage of portfolio</c:v>
                </c:pt>
              </c:strCache>
            </c:strRef>
          </c:tx>
          <c:spPr>
            <a:solidFill>
              <a:schemeClr val="bg1"/>
            </a:solidFill>
            <a:ln w="19050">
              <a:solidFill>
                <a:schemeClr val="lt1"/>
              </a:solid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Sheet1!$F$2:$F$13</c:f>
              <c:numCache>
                <c:formatCode>General</c:formatCode>
                <c:ptCount val="12"/>
                <c:pt idx="0">
                  <c:v>9.876543209876543</c:v>
                </c:pt>
                <c:pt idx="1">
                  <c:v>9.876543209876543</c:v>
                </c:pt>
                <c:pt idx="2">
                  <c:v>9.876543209876543</c:v>
                </c:pt>
                <c:pt idx="3">
                  <c:v>9.876543209876543</c:v>
                </c:pt>
                <c:pt idx="4">
                  <c:v>9.465020576131687</c:v>
                </c:pt>
                <c:pt idx="5">
                  <c:v>7.407407407407407</c:v>
                </c:pt>
                <c:pt idx="6">
                  <c:v>7.407407407407407</c:v>
                </c:pt>
                <c:pt idx="7">
                  <c:v>7.407407407407407</c:v>
                </c:pt>
                <c:pt idx="8">
                  <c:v>7.407407407407407</c:v>
                </c:pt>
                <c:pt idx="9">
                  <c:v>7.407407407407407</c:v>
                </c:pt>
                <c:pt idx="10">
                  <c:v>6.172839506172839</c:v>
                </c:pt>
                <c:pt idx="11">
                  <c:v>6.172839506172839</c:v>
                </c:pt>
              </c:numCache>
            </c:numRef>
          </c:val>
          <c:extLst>
            <c:ext xmlns:c16="http://schemas.microsoft.com/office/drawing/2014/chart" uri="{C3380CC4-5D6E-409C-BE32-E72D297353CC}">
              <c16:uniqueId val="{00000006-2F9E-3B4D-B259-782ED914E23F}"/>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BA9D-A148-A366-632DBB31698B}"/>
              </c:ext>
            </c:extLst>
          </c:dPt>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Sheet1!$B$2:$B$13</c:f>
              <c:numCache>
                <c:formatCode>General</c:formatCode>
                <c:ptCount val="12"/>
                <c:pt idx="0">
                  <c:v>33.333333333333336</c:v>
                </c:pt>
                <c:pt idx="1">
                  <c:v>33.333333333333336</c:v>
                </c:pt>
                <c:pt idx="2">
                  <c:v>33.333333333333336</c:v>
                </c:pt>
                <c:pt idx="3">
                  <c:v>33.333333333333336</c:v>
                </c:pt>
                <c:pt idx="4">
                  <c:v>34.099616858237546</c:v>
                </c:pt>
                <c:pt idx="5">
                  <c:v>33.71647509578544</c:v>
                </c:pt>
                <c:pt idx="6">
                  <c:v>33.71647509578544</c:v>
                </c:pt>
                <c:pt idx="7">
                  <c:v>34.099616858237546</c:v>
                </c:pt>
                <c:pt idx="8">
                  <c:v>34.48275862068966</c:v>
                </c:pt>
                <c:pt idx="9">
                  <c:v>34.86590038314176</c:v>
                </c:pt>
                <c:pt idx="10">
                  <c:v>34.86590038314176</c:v>
                </c:pt>
                <c:pt idx="11">
                  <c:v>34.86590038314176</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BA9D-A148-A366-632DBB31698B}"/>
            </c:ext>
          </c:extLst>
        </c:ser>
        <c:ser>
          <c:idx val="1"/>
          <c:order val="1"/>
          <c:tx>
            <c:strRef>
              <c:f>Sheet1!$C$1</c:f>
              <c:strCache>
                <c:ptCount val="1"/>
                <c:pt idx="0">
                  <c:v>Percentage of portfolio</c:v>
                </c:pt>
              </c:strCache>
            </c:strRef>
          </c:tx>
          <c:spPr>
            <a:solidFill>
              <a:srgbClr val="67E77F"/>
            </a:solidFill>
            <a:ln w="19050">
              <a:no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Sheet1!$C$2:$C$13</c:f>
              <c:numCache>
                <c:formatCode>General</c:formatCode>
                <c:ptCount val="12"/>
                <c:pt idx="0">
                  <c:v>0.7662835249042146</c:v>
                </c:pt>
                <c:pt idx="1">
                  <c:v>1.5325670498084292</c:v>
                </c:pt>
                <c:pt idx="2">
                  <c:v>0.3831417624521073</c:v>
                </c:pt>
                <c:pt idx="3">
                  <c:v>2.2988505747126435</c:v>
                </c:pt>
                <c:pt idx="4">
                  <c:v>4.597701149425287</c:v>
                </c:pt>
                <c:pt idx="5">
                  <c:v>1.1494252873563218</c:v>
                </c:pt>
                <c:pt idx="6">
                  <c:v>1.1494252873563218</c:v>
                </c:pt>
                <c:pt idx="7">
                  <c:v>2.2988505747126435</c:v>
                </c:pt>
                <c:pt idx="8">
                  <c:v>0.3831417624521073</c:v>
                </c:pt>
                <c:pt idx="9">
                  <c:v>1.5325670498084292</c:v>
                </c:pt>
                <c:pt idx="10">
                  <c:v>0.3831417624521073</c:v>
                </c:pt>
                <c:pt idx="11">
                  <c:v>0.3831417624521073</c:v>
                </c:pt>
              </c:numCache>
            </c:numRef>
          </c:val>
          <c:extLst>
            <c:ext xmlns:c16="http://schemas.microsoft.com/office/drawing/2014/chart" uri="{C3380CC4-5D6E-409C-BE32-E72D297353CC}">
              <c16:uniqueId val="{00000003-BA9D-A148-A366-632DBB31698B}"/>
            </c:ext>
          </c:extLst>
        </c:ser>
        <c:ser>
          <c:idx val="2"/>
          <c:order val="2"/>
          <c:tx>
            <c:strRef>
              <c:f>Sheet1!$D$1</c:f>
              <c:strCache>
                <c:ptCount val="1"/>
                <c:pt idx="0">
                  <c:v>Percentage of portfolio</c:v>
                </c:pt>
              </c:strCache>
            </c:strRef>
          </c:tx>
          <c:spPr>
            <a:solidFill>
              <a:srgbClr val="BFC4CF"/>
            </a:solidFill>
            <a:ln w="19050">
              <a:no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Sheet1!$D$2:$D$13</c:f>
              <c:numCache>
                <c:formatCode>General</c:formatCode>
                <c:ptCount val="12"/>
                <c:pt idx="0">
                  <c:v>54.02298850574713</c:v>
                </c:pt>
                <c:pt idx="1">
                  <c:v>54.406130268199234</c:v>
                </c:pt>
                <c:pt idx="2">
                  <c:v>54.02298850574713</c:v>
                </c:pt>
                <c:pt idx="3">
                  <c:v>52.10727969348659</c:v>
                </c:pt>
                <c:pt idx="4">
                  <c:v>45.21072796934866</c:v>
                </c:pt>
                <c:pt idx="5">
                  <c:v>56.70498084291188</c:v>
                </c:pt>
                <c:pt idx="6">
                  <c:v>56.32183908045977</c:v>
                </c:pt>
                <c:pt idx="7">
                  <c:v>52.490421455938694</c:v>
                </c:pt>
                <c:pt idx="8">
                  <c:v>59.00383141762452</c:v>
                </c:pt>
                <c:pt idx="9">
                  <c:v>57.47126436781609</c:v>
                </c:pt>
                <c:pt idx="10">
                  <c:v>58.62068965517241</c:v>
                </c:pt>
                <c:pt idx="11">
                  <c:v>59.38697318007663</c:v>
                </c:pt>
              </c:numCache>
            </c:numRef>
          </c:val>
          <c:extLst>
            <c:ext xmlns:c16="http://schemas.microsoft.com/office/drawing/2014/chart" uri="{C3380CC4-5D6E-409C-BE32-E72D297353CC}">
              <c16:uniqueId val="{00000004-BA9D-A148-A366-632DBB31698B}"/>
            </c:ext>
          </c:extLst>
        </c:ser>
        <c:ser>
          <c:idx val="3"/>
          <c:order val="3"/>
          <c:tx>
            <c:strRef>
              <c:f>Sheet1!$E$1</c:f>
              <c:strCache>
                <c:ptCount val="1"/>
                <c:pt idx="0">
                  <c:v>Percentage of portfolio</c:v>
                </c:pt>
              </c:strCache>
            </c:strRef>
          </c:tx>
          <c:spPr>
            <a:solidFill>
              <a:srgbClr val="F06241"/>
            </a:solidFill>
            <a:ln w="19050">
              <a:no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Sheet1!$E$2:$E$13</c:f>
              <c:numCache>
                <c:formatCode>General</c:formatCode>
                <c:ptCount val="12"/>
                <c:pt idx="0">
                  <c:v>1.1494252873563218</c:v>
                </c:pt>
                <c:pt idx="1">
                  <c:v>0.0</c:v>
                </c:pt>
                <c:pt idx="2">
                  <c:v>1.5325670498084292</c:v>
                </c:pt>
                <c:pt idx="3">
                  <c:v>1.5325670498084292</c:v>
                </c:pt>
                <c:pt idx="4">
                  <c:v>8.045977011494253</c:v>
                </c:pt>
                <c:pt idx="5">
                  <c:v>1.1494252873563218</c:v>
                </c:pt>
                <c:pt idx="6">
                  <c:v>1.5325670498084292</c:v>
                </c:pt>
                <c:pt idx="7">
                  <c:v>4.597701149425287</c:v>
                </c:pt>
                <c:pt idx="8">
                  <c:v>0.3831417624521073</c:v>
                </c:pt>
                <c:pt idx="9">
                  <c:v>0.7662835249042146</c:v>
                </c:pt>
                <c:pt idx="10">
                  <c:v>1.5325670498084292</c:v>
                </c:pt>
                <c:pt idx="11">
                  <c:v>0.7662835249042146</c:v>
                </c:pt>
              </c:numCache>
            </c:numRef>
          </c:val>
          <c:extLst>
            <c:ext xmlns:c16="http://schemas.microsoft.com/office/drawing/2014/chart" uri="{C3380CC4-5D6E-409C-BE32-E72D297353CC}">
              <c16:uniqueId val="{00000005-BA9D-A148-A366-632DBB31698B}"/>
            </c:ext>
          </c:extLst>
        </c:ser>
        <c:ser>
          <c:idx val="4"/>
          <c:order val="4"/>
          <c:tx>
            <c:strRef>
              <c:f>Sheet1!$F$1</c:f>
              <c:strCache>
                <c:ptCount val="1"/>
                <c:pt idx="0">
                  <c:v>Percentage of portfolio</c:v>
                </c:pt>
              </c:strCache>
            </c:strRef>
          </c:tx>
          <c:spPr>
            <a:solidFill>
              <a:schemeClr val="bg1"/>
            </a:solidFill>
            <a:ln w="19050">
              <a:solidFill>
                <a:schemeClr val="lt1"/>
              </a:solid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Sheet1!$F$2:$F$13</c:f>
              <c:numCache>
                <c:formatCode>General</c:formatCode>
                <c:ptCount val="12"/>
                <c:pt idx="0">
                  <c:v>10.727969348659004</c:v>
                </c:pt>
                <c:pt idx="1">
                  <c:v>10.727969348659004</c:v>
                </c:pt>
                <c:pt idx="2">
                  <c:v>10.727969348659004</c:v>
                </c:pt>
                <c:pt idx="3">
                  <c:v>10.727969348659004</c:v>
                </c:pt>
                <c:pt idx="4">
                  <c:v>8.045977011494253</c:v>
                </c:pt>
                <c:pt idx="5">
                  <c:v>7.2796934865900385</c:v>
                </c:pt>
                <c:pt idx="6">
                  <c:v>7.2796934865900385</c:v>
                </c:pt>
                <c:pt idx="7">
                  <c:v>6.513409961685824</c:v>
                </c:pt>
                <c:pt idx="8">
                  <c:v>5.747126436781609</c:v>
                </c:pt>
                <c:pt idx="9">
                  <c:v>5.363984674329502</c:v>
                </c:pt>
                <c:pt idx="10">
                  <c:v>4.597701149425287</c:v>
                </c:pt>
                <c:pt idx="11">
                  <c:v>4.597701149425287</c:v>
                </c:pt>
              </c:numCache>
            </c:numRef>
          </c:val>
          <c:extLst>
            <c:ext xmlns:c16="http://schemas.microsoft.com/office/drawing/2014/chart" uri="{C3380CC4-5D6E-409C-BE32-E72D297353CC}">
              <c16:uniqueId val="{00000006-BA9D-A148-A366-632DBB31698B}"/>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9CDF-4B43-A58B-3C03F478D7BE}"/>
              </c:ext>
            </c:extLst>
          </c:dPt>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Sheet1!$B$2:$B$13</c:f>
              <c:numCache>
                <c:formatCode>General</c:formatCode>
                <c:ptCount val="12"/>
                <c:pt idx="0">
                  <c:v>45.744680851063826</c:v>
                </c:pt>
                <c:pt idx="1">
                  <c:v>45.744680851063826</c:v>
                </c:pt>
                <c:pt idx="2">
                  <c:v>47.87234042553192</c:v>
                </c:pt>
                <c:pt idx="3">
                  <c:v>47.340425531914896</c:v>
                </c:pt>
                <c:pt idx="4">
                  <c:v>51.59574468085106</c:v>
                </c:pt>
                <c:pt idx="5">
                  <c:v>51.59574468085106</c:v>
                </c:pt>
                <c:pt idx="6">
                  <c:v>51.59574468085106</c:v>
                </c:pt>
                <c:pt idx="7">
                  <c:v>51.06382978723404</c:v>
                </c:pt>
                <c:pt idx="8">
                  <c:v>52.659574468085104</c:v>
                </c:pt>
                <c:pt idx="9">
                  <c:v>52.659574468085104</c:v>
                </c:pt>
                <c:pt idx="10">
                  <c:v>52.12765957446808</c:v>
                </c:pt>
                <c:pt idx="11">
                  <c:v>53.191489361702125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9CDF-4B43-A58B-3C03F478D7BE}"/>
            </c:ext>
          </c:extLst>
        </c:ser>
        <c:ser>
          <c:idx val="1"/>
          <c:order val="1"/>
          <c:tx>
            <c:strRef>
              <c:f>Sheet1!$C$1</c:f>
              <c:strCache>
                <c:ptCount val="1"/>
                <c:pt idx="0">
                  <c:v>Percentage of portfolio</c:v>
                </c:pt>
              </c:strCache>
            </c:strRef>
          </c:tx>
          <c:spPr>
            <a:solidFill>
              <a:srgbClr val="67E77F"/>
            </a:solidFill>
            <a:ln w="19050">
              <a:no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Sheet1!$C$2:$C$13</c:f>
              <c:numCache>
                <c:formatCode>General</c:formatCode>
                <c:ptCount val="12"/>
                <c:pt idx="0">
                  <c:v>0.5319148936170213</c:v>
                </c:pt>
                <c:pt idx="1">
                  <c:v>0.0</c:v>
                </c:pt>
                <c:pt idx="2">
                  <c:v>0.0</c:v>
                </c:pt>
                <c:pt idx="3">
                  <c:v>3.1914893617021276</c:v>
                </c:pt>
                <c:pt idx="4">
                  <c:v>1.5957446808510638</c:v>
                </c:pt>
                <c:pt idx="5">
                  <c:v>2.127659574468085</c:v>
                </c:pt>
                <c:pt idx="6">
                  <c:v>1.5957446808510638</c:v>
                </c:pt>
                <c:pt idx="7">
                  <c:v>6.914893617021277</c:v>
                </c:pt>
                <c:pt idx="8">
                  <c:v>3.1914893617021276</c:v>
                </c:pt>
                <c:pt idx="9">
                  <c:v>2.6595744680851063</c:v>
                </c:pt>
                <c:pt idx="10">
                  <c:v>0.0</c:v>
                </c:pt>
                <c:pt idx="11">
                  <c:v>3.723404255319149</c:v>
                </c:pt>
              </c:numCache>
            </c:numRef>
          </c:val>
          <c:extLst>
            <c:ext xmlns:c16="http://schemas.microsoft.com/office/drawing/2014/chart" uri="{C3380CC4-5D6E-409C-BE32-E72D297353CC}">
              <c16:uniqueId val="{00000003-9CDF-4B43-A58B-3C03F478D7BE}"/>
            </c:ext>
          </c:extLst>
        </c:ser>
        <c:ser>
          <c:idx val="2"/>
          <c:order val="2"/>
          <c:tx>
            <c:strRef>
              <c:f>Sheet1!$D$1</c:f>
              <c:strCache>
                <c:ptCount val="1"/>
                <c:pt idx="0">
                  <c:v>Percentage of portfolio</c:v>
                </c:pt>
              </c:strCache>
            </c:strRef>
          </c:tx>
          <c:spPr>
            <a:solidFill>
              <a:srgbClr val="BFC4CF"/>
            </a:solidFill>
            <a:ln w="19050">
              <a:no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Sheet1!$D$2:$D$13</c:f>
              <c:numCache>
                <c:formatCode>General</c:formatCode>
                <c:ptCount val="12"/>
                <c:pt idx="0">
                  <c:v>6.382978723404255</c:v>
                </c:pt>
                <c:pt idx="1">
                  <c:v>7.446808510638298</c:v>
                </c:pt>
                <c:pt idx="2">
                  <c:v>0.0</c:v>
                </c:pt>
                <c:pt idx="3">
                  <c:v>14.893617021276595</c:v>
                </c:pt>
                <c:pt idx="4">
                  <c:v>19.148936170212767</c:v>
                </c:pt>
                <c:pt idx="5">
                  <c:v>19.148936170212767</c:v>
                </c:pt>
                <c:pt idx="6">
                  <c:v>19.680851063829788</c:v>
                </c:pt>
                <c:pt idx="7">
                  <c:v>12.23404255319149</c:v>
                </c:pt>
                <c:pt idx="8">
                  <c:v>22.340425531914892</c:v>
                </c:pt>
                <c:pt idx="9">
                  <c:v>22.340425531914892</c:v>
                </c:pt>
                <c:pt idx="10">
                  <c:v>25.0</c:v>
                </c:pt>
                <c:pt idx="11">
                  <c:v>17.5531914893617</c:v>
                </c:pt>
              </c:numCache>
            </c:numRef>
          </c:val>
          <c:extLst>
            <c:ext xmlns:c16="http://schemas.microsoft.com/office/drawing/2014/chart" uri="{C3380CC4-5D6E-409C-BE32-E72D297353CC}">
              <c16:uniqueId val="{00000004-9CDF-4B43-A58B-3C03F478D7BE}"/>
            </c:ext>
          </c:extLst>
        </c:ser>
        <c:ser>
          <c:idx val="3"/>
          <c:order val="3"/>
          <c:tx>
            <c:strRef>
              <c:f>Sheet1!$E$1</c:f>
              <c:strCache>
                <c:ptCount val="1"/>
                <c:pt idx="0">
                  <c:v>Percentage of portfolio</c:v>
                </c:pt>
              </c:strCache>
            </c:strRef>
          </c:tx>
          <c:spPr>
            <a:solidFill>
              <a:srgbClr val="F06241"/>
            </a:solidFill>
            <a:ln w="19050">
              <a:no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Sheet1!$E$2:$E$13</c:f>
              <c:numCache>
                <c:formatCode>General</c:formatCode>
                <c:ptCount val="12"/>
                <c:pt idx="0">
                  <c:v>0.5319148936170213</c:v>
                </c:pt>
                <c:pt idx="1">
                  <c:v>0.0</c:v>
                </c:pt>
                <c:pt idx="2">
                  <c:v>11.170212765957446</c:v>
                </c:pt>
                <c:pt idx="3">
                  <c:v>5.319148936170213</c:v>
                </c:pt>
                <c:pt idx="4">
                  <c:v>3.1914893617021276</c:v>
                </c:pt>
                <c:pt idx="5">
                  <c:v>2.6595744680851063</c:v>
                </c:pt>
                <c:pt idx="6">
                  <c:v>1.5957446808510638</c:v>
                </c:pt>
                <c:pt idx="7">
                  <c:v>10.106382978723405</c:v>
                </c:pt>
                <c:pt idx="8">
                  <c:v>2.127659574468085</c:v>
                </c:pt>
                <c:pt idx="9">
                  <c:v>1.5957446808510638</c:v>
                </c:pt>
                <c:pt idx="10">
                  <c:v>2.127659574468085</c:v>
                </c:pt>
                <c:pt idx="11">
                  <c:v>4.787234042553192</c:v>
                </c:pt>
              </c:numCache>
            </c:numRef>
          </c:val>
          <c:extLst>
            <c:ext xmlns:c16="http://schemas.microsoft.com/office/drawing/2014/chart" uri="{C3380CC4-5D6E-409C-BE32-E72D297353CC}">
              <c16:uniqueId val="{00000005-9CDF-4B43-A58B-3C03F478D7BE}"/>
            </c:ext>
          </c:extLst>
        </c:ser>
        <c:ser>
          <c:idx val="4"/>
          <c:order val="4"/>
          <c:tx>
            <c:strRef>
              <c:f>Sheet1!$F$1</c:f>
              <c:strCache>
                <c:ptCount val="1"/>
                <c:pt idx="0">
                  <c:v>Percentage of portfolio</c:v>
                </c:pt>
              </c:strCache>
            </c:strRef>
          </c:tx>
          <c:spPr>
            <a:solidFill>
              <a:schemeClr val="bg1"/>
            </a:solidFill>
            <a:ln w="19050">
              <a:solidFill>
                <a:schemeClr val="lt1"/>
              </a:solidFill>
            </a:ln>
            <a:effectLst/>
          </c:spPr>
          <c:invertIfNegative val="0"/>
          <c:cat>
            <c:strRef>
              <c:f>Sheet1!$A$2:$A$13</c:f>
              <c:strCache>
                <c:ptCount val="12"/>
                <c:pt idx="0">
                  <c:v>04/2025</c:v>
                </c:pt>
                <c:pt idx="1">
                  <c:v>05/2025</c:v>
                </c:pt>
                <c:pt idx="2">
                  <c:v>06/2025</c:v>
                </c:pt>
                <c:pt idx="3">
                  <c:v>07/2025</c:v>
                </c:pt>
                <c:pt idx="4">
                  <c:v>08/2025</c:v>
                </c:pt>
                <c:pt idx="5">
                  <c:v>09/2025</c:v>
                </c:pt>
                <c:pt idx="6">
                  <c:v>10/2025</c:v>
                </c:pt>
                <c:pt idx="7">
                  <c:v>11/2025</c:v>
                </c:pt>
                <c:pt idx="8">
                  <c:v>12/2025</c:v>
                </c:pt>
                <c:pt idx="9">
                  <c:v>01/2026</c:v>
                </c:pt>
                <c:pt idx="10">
                  <c:v>02/2026</c:v>
                </c:pt>
                <c:pt idx="11">
                  <c:v>03/2026</c:v>
                </c:pt>
              </c:strCache>
            </c:strRef>
          </c:cat>
          <c:val>
            <c:numRef>
              <c:f>Sheet1!$F$2:$F$13</c:f>
              <c:numCache>
                <c:formatCode>General</c:formatCode>
                <c:ptCount val="12"/>
                <c:pt idx="0">
                  <c:v>46.808510638297875</c:v>
                </c:pt>
                <c:pt idx="1">
                  <c:v>46.808510638297875</c:v>
                </c:pt>
                <c:pt idx="2">
                  <c:v>40.95744680851064</c:v>
                </c:pt>
                <c:pt idx="3">
                  <c:v>29.25531914893617</c:v>
                </c:pt>
                <c:pt idx="4">
                  <c:v>24.46808510638298</c:v>
                </c:pt>
                <c:pt idx="5">
                  <c:v>24.46808510638298</c:v>
                </c:pt>
                <c:pt idx="6">
                  <c:v>25.53191489361702</c:v>
                </c:pt>
                <c:pt idx="7">
                  <c:v>19.680851063829788</c:v>
                </c:pt>
                <c:pt idx="8">
                  <c:v>19.680851063829788</c:v>
                </c:pt>
                <c:pt idx="9">
                  <c:v>20.74468085106383</c:v>
                </c:pt>
                <c:pt idx="10">
                  <c:v>20.74468085106383</c:v>
                </c:pt>
                <c:pt idx="11">
                  <c:v>20.74468085106383</c:v>
                </c:pt>
              </c:numCache>
            </c:numRef>
          </c:val>
          <c:extLst>
            <c:ext xmlns:c16="http://schemas.microsoft.com/office/drawing/2014/chart" uri="{C3380CC4-5D6E-409C-BE32-E72D297353CC}">
              <c16:uniqueId val="{00000006-9CDF-4B43-A58B-3C03F478D7BE}"/>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1280</c:v>
                </c:pt>
                <c:pt idx="1">
                  <c:v>0</c:v>
                </c:pt>
                <c:pt idx="2">
                  <c:v>0</c:v>
                </c:pt>
                <c:pt idx="3">
                  <c:v>518</c:v>
                </c:pt>
              </c:numCache>
            </c:numRef>
          </c:val>
          <c:extLst>
            <c:ext xmlns:c16="http://schemas.microsoft.com/office/drawing/2014/chart" uri="{C3380CC4-5D6E-409C-BE32-E72D297353CC}">
              <c16:uniqueId val="{00000000-983E-B549-A770-4B561453C6BF}"/>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983E-B549-A770-4B561453C6BF}"/>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983E-B549-A770-4B561453C6BF}"/>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983E-B549-A770-4B561453C6BF}"/>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983E-B549-A770-4B561453C6BF}"/>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522</c:v>
                </c:pt>
                <c:pt idx="1">
                  <c:v>0</c:v>
                </c:pt>
                <c:pt idx="2">
                  <c:v>0</c:v>
                </c:pt>
                <c:pt idx="3">
                  <c:v>198</c:v>
                </c:pt>
              </c:numCache>
            </c:numRef>
          </c:val>
          <c:extLst>
            <c:ext xmlns:c16="http://schemas.microsoft.com/office/drawing/2014/chart" uri="{C3380CC4-5D6E-409C-BE32-E72D297353CC}">
              <c16:uniqueId val="{00000009-983E-B549-A770-4B561453C6BF}"/>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983E-B549-A770-4B561453C6BF}"/>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983E-B549-A770-4B561453C6BF}"/>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706</c:v>
                </c:pt>
                <c:pt idx="1">
                  <c:v>411</c:v>
                </c:pt>
                <c:pt idx="2">
                  <c:v>736</c:v>
                </c:pt>
                <c:pt idx="3">
                  <c:v>478</c:v>
                </c:pt>
              </c:numCache>
            </c:numRef>
          </c:val>
          <c:extLst>
            <c:ext xmlns:c16="http://schemas.microsoft.com/office/drawing/2014/chart" uri="{C3380CC4-5D6E-409C-BE32-E72D297353CC}">
              <c16:uniqueId val="{0000000E-983E-B549-A770-4B561453C6BF}"/>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667</c:v>
                </c:pt>
                <c:pt idx="1">
                  <c:v>0</c:v>
                </c:pt>
                <c:pt idx="2">
                  <c:v>0</c:v>
                </c:pt>
                <c:pt idx="3">
                  <c:v>583</c:v>
                </c:pt>
              </c:numCache>
            </c:numRef>
          </c:val>
          <c:extLst>
            <c:ext xmlns:c16="http://schemas.microsoft.com/office/drawing/2014/chart" uri="{C3380CC4-5D6E-409C-BE32-E72D297353CC}">
              <c16:uniqueId val="{0000000F-983E-B549-A770-4B561453C6BF}"/>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492.5000000000005"/>
          <c:min val="0.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9604363196085568"/>
          <c:w val="1"/>
          <c:h val="6.86886807385664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pt idx="0">
                  <c:v>109</c:v>
                </c:pt>
                <c:pt idx="1">
                  <c:v>1</c:v>
                </c:pt>
              </c:numCache>
            </c:numRef>
          </c:val>
          <c:extLst>
            <c:ext xmlns:c16="http://schemas.microsoft.com/office/drawing/2014/chart" uri="{C3380CC4-5D6E-409C-BE32-E72D297353CC}">
              <c16:uniqueId val="{00000000-6308-9C42-B1E9-65C8973ABF79}"/>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6308-9C42-B1E9-65C8973ABF79}"/>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6308-9C42-B1E9-65C8973ABF79}"/>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6308-9C42-B1E9-65C8973ABF79}"/>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6308-9C42-B1E9-65C8973ABF79}"/>
              </c:ext>
            </c:extLst>
          </c:dPt>
          <c:cat>
            <c:strRef>
              <c:f>Sheet1!$A$2:$A$3</c:f>
              <c:strCache>
                <c:ptCount val="2"/>
                <c:pt idx="0">
                  <c:v>Vulnerability risk</c:v>
                </c:pt>
                <c:pt idx="1">
                  <c:v>Legal risk</c:v>
                </c:pt>
              </c:strCache>
            </c:strRef>
          </c:cat>
          <c:val>
            <c:numRef>
              <c:f>Sheet1!$C$2:$C$3</c:f>
              <c:numCache>
                <c:formatCode>General</c:formatCode>
                <c:ptCount val="2"/>
                <c:pt idx="0">
                  <c:v>171</c:v>
                </c:pt>
                <c:pt idx="1">
                  <c:v>1</c:v>
                </c:pt>
              </c:numCache>
            </c:numRef>
          </c:val>
          <c:extLst>
            <c:ext xmlns:c16="http://schemas.microsoft.com/office/drawing/2014/chart" uri="{C3380CC4-5D6E-409C-BE32-E72D297353CC}">
              <c16:uniqueId val="{00000009-6308-9C42-B1E9-65C8973ABF79}"/>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6308-9C42-B1E9-65C8973ABF79}"/>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6308-9C42-B1E9-65C8973ABF79}"/>
              </c:ext>
            </c:extLst>
          </c:dPt>
          <c:cat>
            <c:strRef>
              <c:f>Sheet1!$A$2:$A$3</c:f>
              <c:strCache>
                <c:ptCount val="2"/>
                <c:pt idx="0">
                  <c:v>Vulnerability risk</c:v>
                </c:pt>
                <c:pt idx="1">
                  <c:v>Legal risk</c:v>
                </c:pt>
              </c:strCache>
            </c:strRef>
          </c:cat>
          <c:val>
            <c:numRef>
              <c:f>Sheet1!$D$2:$D$3</c:f>
              <c:numCache>
                <c:formatCode>General</c:formatCode>
                <c:ptCount val="2"/>
                <c:pt idx="0">
                  <c:v>196</c:v>
                </c:pt>
                <c:pt idx="1">
                  <c:v>39</c:v>
                </c:pt>
              </c:numCache>
            </c:numRef>
          </c:val>
          <c:extLst>
            <c:ext xmlns:c16="http://schemas.microsoft.com/office/drawing/2014/chart" uri="{C3380CC4-5D6E-409C-BE32-E72D297353CC}">
              <c16:uniqueId val="{0000000E-6308-9C42-B1E9-65C8973ABF79}"/>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pt idx="0">
                  <c:v>13</c:v>
                </c:pt>
                <c:pt idx="1">
                  <c:v>159</c:v>
                </c:pt>
              </c:numCache>
            </c:numRef>
          </c:val>
          <c:extLst>
            <c:ext xmlns:c16="http://schemas.microsoft.com/office/drawing/2014/chart" uri="{C3380CC4-5D6E-409C-BE32-E72D297353CC}">
              <c16:uniqueId val="{0000000F-6308-9C42-B1E9-65C8973ABF79}"/>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492.5000000000005"/>
          <c:min val="0.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New</c:v>
                </c:pt>
              </c:strCache>
            </c:strRef>
          </c:tx>
          <c:spPr>
            <a:solidFill>
              <a:srgbClr val="2D6BFF"/>
            </a:solidFill>
            <a:ln>
              <a:noFill/>
            </a:ln>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Sheet1!$B$2:$B$36</c:f>
              <c:numCache>
                <c:formatCode>General</c:formatCode>
                <c:ptCount val="35"/>
                <c:pt idx="0">
                  <c:v>216</c:v>
                </c:pt>
                <c:pt idx="1">
                  <c:v>0</c:v>
                </c:pt>
                <c:pt idx="2">
                  <c:v>0</c:v>
                </c:pt>
                <c:pt idx="3">
                  <c:v>2</c:v>
                </c:pt>
                <c:pt idx="4">
                  <c:v>0</c:v>
                </c:pt>
                <c:pt idx="5">
                  <c:v>0</c:v>
                </c:pt>
                <c:pt idx="6">
                  <c:v>8</c:v>
                </c:pt>
                <c:pt idx="7">
                  <c:v>0</c:v>
                </c:pt>
                <c:pt idx="8">
                  <c:v>0</c:v>
                </c:pt>
                <c:pt idx="9">
                  <c:v>179</c:v>
                </c:pt>
                <c:pt idx="10">
                  <c:v>0</c:v>
                </c:pt>
                <c:pt idx="11">
                  <c:v>0</c:v>
                </c:pt>
                <c:pt idx="12">
                  <c:v>109</c:v>
                </c:pt>
                <c:pt idx="13">
                  <c:v>0</c:v>
                </c:pt>
                <c:pt idx="14">
                  <c:v>0</c:v>
                </c:pt>
                <c:pt idx="15">
                  <c:v>5</c:v>
                </c:pt>
                <c:pt idx="16">
                  <c:v>0</c:v>
                </c:pt>
                <c:pt idx="17">
                  <c:v>0</c:v>
                </c:pt>
                <c:pt idx="18">
                  <c:v>17</c:v>
                </c:pt>
                <c:pt idx="19">
                  <c:v>0</c:v>
                </c:pt>
                <c:pt idx="20">
                  <c:v>0</c:v>
                </c:pt>
                <c:pt idx="21">
                  <c:v>139</c:v>
                </c:pt>
                <c:pt idx="22">
                  <c:v>0</c:v>
                </c:pt>
                <c:pt idx="23">
                  <c:v>0</c:v>
                </c:pt>
                <c:pt idx="24">
                  <c:v>25</c:v>
                </c:pt>
                <c:pt idx="25">
                  <c:v>0</c:v>
                </c:pt>
                <c:pt idx="26">
                  <c:v>0</c:v>
                </c:pt>
                <c:pt idx="27">
                  <c:v>15</c:v>
                </c:pt>
                <c:pt idx="28">
                  <c:v>0</c:v>
                </c:pt>
                <c:pt idx="29">
                  <c:v>0</c:v>
                </c:pt>
                <c:pt idx="30">
                  <c:v>657</c:v>
                </c:pt>
                <c:pt idx="31">
                  <c:v>0</c:v>
                </c:pt>
                <c:pt idx="32">
                  <c:v>0</c:v>
                </c:pt>
                <c:pt idx="33">
                  <c:v>15</c:v>
                </c:pt>
                <c:pt idx="34">
                  <c:v>0</c:v>
                </c:pt>
              </c:numCache>
            </c:numRef>
          </c:val>
          <c:extLst>
            <c:ext xmlns:c16="http://schemas.microsoft.com/office/drawing/2014/chart" uri="{C3380CC4-5D6E-409C-BE32-E72D297353CC}">
              <c16:uniqueId val="{00000000-171D-B549-A7DE-EF4D33711D1D}"/>
            </c:ext>
          </c:extLst>
        </c:ser>
        <c:ser>
          <c:idx val="1"/>
          <c:order val="1"/>
          <c:tx>
            <c:strRef>
              <c:f>Sheet1!$C$1</c:f>
              <c:strCache>
                <c:ptCount val="1"/>
                <c:pt idx="0">
                  <c:v>Existing</c:v>
                </c:pt>
              </c:strCache>
            </c:strRef>
          </c:tx>
          <c:spPr>
            <a:solidFill>
              <a:srgbClr val="B6C4FF"/>
            </a:solidFill>
            <a:ln>
              <a:noFill/>
            </a:ln>
            <a:effectLst>
              <a:outerShdw blurRad="50800" dist="50800" dir="5400000" algn="ctr" rotWithShape="0">
                <a:srgbClr val="B6C4FF"/>
              </a:outerShdw>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Sheet1!$C$2:$C$36</c:f>
              <c:numCache>
                <c:formatCode>General</c:formatCode>
                <c:ptCount val="35"/>
                <c:pt idx="0">
                  <c:v>2001</c:v>
                </c:pt>
                <c:pt idx="1">
                  <c:v>0</c:v>
                </c:pt>
                <c:pt idx="2">
                  <c:v>0</c:v>
                </c:pt>
                <c:pt idx="3">
                  <c:v>2214</c:v>
                </c:pt>
                <c:pt idx="4">
                  <c:v>0</c:v>
                </c:pt>
                <c:pt idx="5">
                  <c:v>0</c:v>
                </c:pt>
                <c:pt idx="6">
                  <c:v>2213</c:v>
                </c:pt>
                <c:pt idx="7">
                  <c:v>0</c:v>
                </c:pt>
                <c:pt idx="8">
                  <c:v>0</c:v>
                </c:pt>
                <c:pt idx="9">
                  <c:v>2038</c:v>
                </c:pt>
                <c:pt idx="10">
                  <c:v>0</c:v>
                </c:pt>
                <c:pt idx="11">
                  <c:v>0</c:v>
                </c:pt>
                <c:pt idx="12">
                  <c:v>2189</c:v>
                </c:pt>
                <c:pt idx="13">
                  <c:v>0</c:v>
                </c:pt>
                <c:pt idx="14">
                  <c:v>0</c:v>
                </c:pt>
                <c:pt idx="15">
                  <c:v>2288</c:v>
                </c:pt>
                <c:pt idx="16">
                  <c:v>0</c:v>
                </c:pt>
                <c:pt idx="17">
                  <c:v>0</c:v>
                </c:pt>
                <c:pt idx="18">
                  <c:v>2263</c:v>
                </c:pt>
                <c:pt idx="19">
                  <c:v>0</c:v>
                </c:pt>
                <c:pt idx="20">
                  <c:v>0</c:v>
                </c:pt>
                <c:pt idx="21">
                  <c:v>2274</c:v>
                </c:pt>
                <c:pt idx="22">
                  <c:v>0</c:v>
                </c:pt>
                <c:pt idx="23">
                  <c:v>0</c:v>
                </c:pt>
                <c:pt idx="24">
                  <c:v>2400</c:v>
                </c:pt>
                <c:pt idx="25">
                  <c:v>0</c:v>
                </c:pt>
                <c:pt idx="26">
                  <c:v>0</c:v>
                </c:pt>
                <c:pt idx="27">
                  <c:v>2408</c:v>
                </c:pt>
                <c:pt idx="28">
                  <c:v>0</c:v>
                </c:pt>
                <c:pt idx="29">
                  <c:v>0</c:v>
                </c:pt>
                <c:pt idx="30">
                  <c:v>2111</c:v>
                </c:pt>
                <c:pt idx="31">
                  <c:v>0</c:v>
                </c:pt>
                <c:pt idx="32">
                  <c:v>0</c:v>
                </c:pt>
                <c:pt idx="33">
                  <c:v>2756</c:v>
                </c:pt>
                <c:pt idx="34">
                  <c:v>0</c:v>
                </c:pt>
              </c:numCache>
            </c:numRef>
          </c:val>
          <c:extLst>
            <c:ext xmlns:c16="http://schemas.microsoft.com/office/drawing/2014/chart" uri="{C3380CC4-5D6E-409C-BE32-E72D297353CC}">
              <c16:uniqueId val="{00000001-171D-B549-A7DE-EF4D33711D1D}"/>
            </c:ext>
          </c:extLst>
        </c:ser>
        <c:ser>
          <c:idx val="2"/>
          <c:order val="2"/>
          <c:tx>
            <c:strRef>
              <c:f>Sheet1!$D$1</c:f>
              <c:strCache>
                <c:ptCount val="1"/>
                <c:pt idx="0">
                  <c:v>Resolved</c:v>
                </c:pt>
              </c:strCache>
            </c:strRef>
          </c:tx>
          <c:spPr>
            <a:solidFill>
              <a:srgbClr val="40C360"/>
            </a:solidFill>
            <a:ln>
              <a:noFill/>
            </a:ln>
            <a:effectLst>
              <a:outerShdw blurRad="50800" dist="50800" dir="5400000" algn="ctr" rotWithShape="0">
                <a:srgbClr val="40C360"/>
              </a:outerShdw>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Sheet1!$D$2:$D$36</c:f>
              <c:numCache>
                <c:formatCode>General</c:formatCode>
                <c:ptCount val="35"/>
                <c:pt idx="0">
                  <c:v>0</c:v>
                </c:pt>
                <c:pt idx="1">
                  <c:v>228</c:v>
                </c:pt>
                <c:pt idx="2">
                  <c:v>0</c:v>
                </c:pt>
                <c:pt idx="3">
                  <c:v>0</c:v>
                </c:pt>
                <c:pt idx="4">
                  <c:v>5</c:v>
                </c:pt>
                <c:pt idx="5">
                  <c:v>0</c:v>
                </c:pt>
                <c:pt idx="6">
                  <c:v>0</c:v>
                </c:pt>
                <c:pt idx="7">
                  <c:v>3</c:v>
                </c:pt>
                <c:pt idx="8">
                  <c:v>0</c:v>
                </c:pt>
                <c:pt idx="9">
                  <c:v>0</c:v>
                </c:pt>
                <c:pt idx="10">
                  <c:v>271</c:v>
                </c:pt>
                <c:pt idx="11">
                  <c:v>0</c:v>
                </c:pt>
                <c:pt idx="12">
                  <c:v>0</c:v>
                </c:pt>
                <c:pt idx="13">
                  <c:v>61</c:v>
                </c:pt>
                <c:pt idx="14">
                  <c:v>0</c:v>
                </c:pt>
                <c:pt idx="15">
                  <c:v>0</c:v>
                </c:pt>
                <c:pt idx="16">
                  <c:v>11</c:v>
                </c:pt>
                <c:pt idx="17">
                  <c:v>0</c:v>
                </c:pt>
                <c:pt idx="18">
                  <c:v>0</c:v>
                </c:pt>
                <c:pt idx="19">
                  <c:v>30</c:v>
                </c:pt>
                <c:pt idx="20">
                  <c:v>0</c:v>
                </c:pt>
                <c:pt idx="21">
                  <c:v>0</c:v>
                </c:pt>
                <c:pt idx="22">
                  <c:v>22</c:v>
                </c:pt>
                <c:pt idx="23">
                  <c:v>0</c:v>
                </c:pt>
                <c:pt idx="24">
                  <c:v>0</c:v>
                </c:pt>
                <c:pt idx="25">
                  <c:v>13</c:v>
                </c:pt>
                <c:pt idx="26">
                  <c:v>0</c:v>
                </c:pt>
                <c:pt idx="27">
                  <c:v>0</c:v>
                </c:pt>
                <c:pt idx="28">
                  <c:v>17</c:v>
                </c:pt>
                <c:pt idx="29">
                  <c:v>0</c:v>
                </c:pt>
                <c:pt idx="30">
                  <c:v>0</c:v>
                </c:pt>
                <c:pt idx="31">
                  <c:v>312</c:v>
                </c:pt>
                <c:pt idx="32">
                  <c:v>0</c:v>
                </c:pt>
                <c:pt idx="33">
                  <c:v>0</c:v>
                </c:pt>
                <c:pt idx="34">
                  <c:v>14</c:v>
                </c:pt>
              </c:numCache>
            </c:numRef>
          </c:val>
          <c:extLst>
            <c:ext xmlns:c16="http://schemas.microsoft.com/office/drawing/2014/chart" uri="{C3380CC4-5D6E-409C-BE32-E72D297353CC}">
              <c16:uniqueId val="{00000002-171D-B549-A7DE-EF4D33711D1D}"/>
            </c:ext>
          </c:extLst>
        </c:ser>
        <c:dLbls>
          <c:showLegendKey val="0"/>
          <c:showVal val="0"/>
          <c:showCatName val="0"/>
          <c:showSerName val="0"/>
          <c:showPercent val="0"/>
          <c:showBubbleSize val="0"/>
        </c:dLbls>
        <c:gapWidth val="20"/>
        <c:overlap val="100"/>
        <c:axId val="1696374703"/>
        <c:axId val="1696344063"/>
      </c:barChart>
      <c:lineChart>
        <c:grouping val="standard"/>
        <c:varyColors val="0"/>
        <c:ser>
          <c:idx val="4"/>
          <c:order val="3"/>
          <c:tx>
            <c:strRef>
              <c:f>Sheet1!$E$1</c:f>
              <c:strCache>
                <c:ptCount val="1"/>
                <c:pt idx="0">
                  <c:v>Total</c:v>
                </c:pt>
              </c:strCache>
            </c:strRef>
          </c:tx>
          <c:spPr>
            <a:ln w="28575" cap="rnd">
              <a:noFill/>
              <a:round/>
            </a:ln>
            <a:effectLst/>
          </c:spPr>
          <c:marker>
            <c:symbol val="none"/>
          </c:marker>
          <c:dLbls>
            <c:dLbl>
              <c:idx val="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71D-B549-A7DE-EF4D33711D1D}"/>
                </c:ext>
              </c:extLst>
            </c:dLbl>
            <c:dLbl>
              <c:idx val="2"/>
              <c:delete val="1"/>
              <c:extLst>
                <c:ext xmlns:c15="http://schemas.microsoft.com/office/drawing/2012/chart" uri="{CE6537A1-D6FC-4f65-9D91-7224C49458BB}"/>
                <c:ext xmlns:c16="http://schemas.microsoft.com/office/drawing/2014/chart" uri="{C3380CC4-5D6E-409C-BE32-E72D297353CC}">
                  <c16:uniqueId val="{00000004-171D-B549-A7DE-EF4D33711D1D}"/>
                </c:ext>
              </c:extLst>
            </c:dLbl>
            <c:dLbl>
              <c:idx val="5"/>
              <c:delete val="1"/>
              <c:extLst>
                <c:ext xmlns:c15="http://schemas.microsoft.com/office/drawing/2012/chart" uri="{CE6537A1-D6FC-4f65-9D91-7224C49458BB}"/>
                <c:ext xmlns:c16="http://schemas.microsoft.com/office/drawing/2014/chart" uri="{C3380CC4-5D6E-409C-BE32-E72D297353CC}">
                  <c16:uniqueId val="{00000005-171D-B549-A7DE-EF4D33711D1D}"/>
                </c:ext>
              </c:extLst>
            </c:dLbl>
            <c:dLbl>
              <c:idx val="8"/>
              <c:delete val="1"/>
              <c:extLst>
                <c:ext xmlns:c15="http://schemas.microsoft.com/office/drawing/2012/chart" uri="{CE6537A1-D6FC-4f65-9D91-7224C49458BB}"/>
                <c:ext xmlns:c16="http://schemas.microsoft.com/office/drawing/2014/chart" uri="{C3380CC4-5D6E-409C-BE32-E72D297353CC}">
                  <c16:uniqueId val="{00000006-171D-B549-A7DE-EF4D33711D1D}"/>
                </c:ext>
              </c:extLst>
            </c:dLbl>
            <c:dLbl>
              <c:idx val="11"/>
              <c:delete val="1"/>
              <c:extLst>
                <c:ext xmlns:c15="http://schemas.microsoft.com/office/drawing/2012/chart" uri="{CE6537A1-D6FC-4f65-9D91-7224C49458BB}"/>
                <c:ext xmlns:c16="http://schemas.microsoft.com/office/drawing/2014/chart" uri="{C3380CC4-5D6E-409C-BE32-E72D297353CC}">
                  <c16:uniqueId val="{00000007-171D-B549-A7DE-EF4D33711D1D}"/>
                </c:ext>
              </c:extLst>
            </c:dLbl>
            <c:dLbl>
              <c:idx val="14"/>
              <c:delete val="1"/>
              <c:extLst>
                <c:ext xmlns:c15="http://schemas.microsoft.com/office/drawing/2012/chart" uri="{CE6537A1-D6FC-4f65-9D91-7224C49458BB}"/>
                <c:ext xmlns:c16="http://schemas.microsoft.com/office/drawing/2014/chart" uri="{C3380CC4-5D6E-409C-BE32-E72D297353CC}">
                  <c16:uniqueId val="{00000008-171D-B549-A7DE-EF4D33711D1D}"/>
                </c:ext>
              </c:extLst>
            </c:dLbl>
            <c:dLbl>
              <c:idx val="17"/>
              <c:delete val="1"/>
              <c:extLst>
                <c:ext xmlns:c15="http://schemas.microsoft.com/office/drawing/2012/chart" uri="{CE6537A1-D6FC-4f65-9D91-7224C49458BB}"/>
                <c:ext xmlns:c16="http://schemas.microsoft.com/office/drawing/2014/chart" uri="{C3380CC4-5D6E-409C-BE32-E72D297353CC}">
                  <c16:uniqueId val="{00000009-171D-B549-A7DE-EF4D33711D1D}"/>
                </c:ext>
              </c:extLst>
            </c:dLbl>
            <c:dLbl>
              <c:idx val="20"/>
              <c:delete val="1"/>
              <c:extLst>
                <c:ext xmlns:c15="http://schemas.microsoft.com/office/drawing/2012/chart" uri="{CE6537A1-D6FC-4f65-9D91-7224C49458BB}"/>
                <c:ext xmlns:c16="http://schemas.microsoft.com/office/drawing/2014/chart" uri="{C3380CC4-5D6E-409C-BE32-E72D297353CC}">
                  <c16:uniqueId val="{0000000A-171D-B549-A7DE-EF4D33711D1D}"/>
                </c:ext>
              </c:extLst>
            </c:dLbl>
            <c:dLbl>
              <c:idx val="23"/>
              <c:delete val="1"/>
              <c:extLst>
                <c:ext xmlns:c15="http://schemas.microsoft.com/office/drawing/2012/chart" uri="{CE6537A1-D6FC-4f65-9D91-7224C49458BB}"/>
                <c:ext xmlns:c16="http://schemas.microsoft.com/office/drawing/2014/chart" uri="{C3380CC4-5D6E-409C-BE32-E72D297353CC}">
                  <c16:uniqueId val="{0000000B-171D-B549-A7DE-EF4D33711D1D}"/>
                </c:ext>
              </c:extLst>
            </c:dLbl>
            <c:dLbl>
              <c:idx val="26"/>
              <c:delete val="1"/>
              <c:extLst>
                <c:ext xmlns:c15="http://schemas.microsoft.com/office/drawing/2012/chart" uri="{CE6537A1-D6FC-4f65-9D91-7224C49458BB}"/>
                <c:ext xmlns:c16="http://schemas.microsoft.com/office/drawing/2014/chart" uri="{C3380CC4-5D6E-409C-BE32-E72D297353CC}">
                  <c16:uniqueId val="{0000000C-171D-B549-A7DE-EF4D33711D1D}"/>
                </c:ext>
              </c:extLst>
            </c:dLbl>
            <c:dLbl>
              <c:idx val="29"/>
              <c:delete val="1"/>
              <c:extLst>
                <c:ext xmlns:c15="http://schemas.microsoft.com/office/drawing/2012/chart" uri="{CE6537A1-D6FC-4f65-9D91-7224C49458BB}"/>
                <c:ext xmlns:c16="http://schemas.microsoft.com/office/drawing/2014/chart" uri="{C3380CC4-5D6E-409C-BE32-E72D297353CC}">
                  <c16:uniqueId val="{0000000D-171D-B549-A7DE-EF4D33711D1D}"/>
                </c:ext>
              </c:extLst>
            </c:dLbl>
            <c:dLbl>
              <c:idx val="32"/>
              <c:delete val="1"/>
              <c:extLst>
                <c:ext xmlns:c15="http://schemas.microsoft.com/office/drawing/2012/chart" uri="{CE6537A1-D6FC-4f65-9D91-7224C49458BB}"/>
                <c:ext xmlns:c16="http://schemas.microsoft.com/office/drawing/2014/chart" uri="{C3380CC4-5D6E-409C-BE32-E72D297353CC}">
                  <c16:uniqueId val="{0000000E-171D-B549-A7DE-EF4D33711D1D}"/>
                </c:ext>
              </c:extLst>
            </c:dLbl>
            <c:spPr>
              <a:noFill/>
              <a:ln>
                <a:noFill/>
              </a:ln>
              <a:effectLst/>
            </c:spPr>
            <c:txPr>
              <a:bodyPr rot="0" spcFirstLastPara="1" vertOverflow="overflow" horzOverflow="overflow" vert="horz" wrap="none" lIns="36576" tIns="18288" rIns="36576" bIns="18288" anchor="ctr" anchorCtr="1">
                <a:spAutoFit/>
              </a:bodyPr>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flowChartAlternateProcess">
                    <a:avLst/>
                  </a:prstGeom>
                  <a:noFill/>
                  <a:ln>
                    <a:noFill/>
                  </a:ln>
                </c15:spPr>
                <c15:showLeaderLines val="0"/>
              </c:ext>
            </c:extLst>
          </c:dLbls>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Sheet1!$E$2:$E$36</c:f>
              <c:numCache>
                <c:formatCode>General</c:formatCode>
                <c:ptCount val="35"/>
                <c:pt idx="0">
                  <c:v>2217</c:v>
                </c:pt>
                <c:pt idx="1">
                  <c:v>228</c:v>
                </c:pt>
                <c:pt idx="2">
                  <c:v>0</c:v>
                </c:pt>
                <c:pt idx="3">
                  <c:v>2216</c:v>
                </c:pt>
                <c:pt idx="4">
                  <c:v>5</c:v>
                </c:pt>
                <c:pt idx="5">
                  <c:v>0</c:v>
                </c:pt>
                <c:pt idx="6">
                  <c:v>2221</c:v>
                </c:pt>
                <c:pt idx="7">
                  <c:v>3</c:v>
                </c:pt>
                <c:pt idx="8">
                  <c:v>0</c:v>
                </c:pt>
                <c:pt idx="9">
                  <c:v>2217</c:v>
                </c:pt>
                <c:pt idx="10">
                  <c:v>271</c:v>
                </c:pt>
                <c:pt idx="11">
                  <c:v>0</c:v>
                </c:pt>
                <c:pt idx="12">
                  <c:v>2298</c:v>
                </c:pt>
                <c:pt idx="13">
                  <c:v>61</c:v>
                </c:pt>
                <c:pt idx="14">
                  <c:v>0</c:v>
                </c:pt>
                <c:pt idx="15">
                  <c:v>2293</c:v>
                </c:pt>
                <c:pt idx="16">
                  <c:v>11</c:v>
                </c:pt>
                <c:pt idx="17">
                  <c:v>0</c:v>
                </c:pt>
                <c:pt idx="18">
                  <c:v>2280</c:v>
                </c:pt>
                <c:pt idx="19">
                  <c:v>30</c:v>
                </c:pt>
                <c:pt idx="20">
                  <c:v>0</c:v>
                </c:pt>
                <c:pt idx="21">
                  <c:v>2413</c:v>
                </c:pt>
                <c:pt idx="22">
                  <c:v>22</c:v>
                </c:pt>
                <c:pt idx="23">
                  <c:v>0</c:v>
                </c:pt>
                <c:pt idx="24">
                  <c:v>2425</c:v>
                </c:pt>
                <c:pt idx="25">
                  <c:v>13</c:v>
                </c:pt>
                <c:pt idx="26">
                  <c:v>0</c:v>
                </c:pt>
                <c:pt idx="27">
                  <c:v>2423</c:v>
                </c:pt>
                <c:pt idx="28">
                  <c:v>17</c:v>
                </c:pt>
                <c:pt idx="29">
                  <c:v>0</c:v>
                </c:pt>
                <c:pt idx="30">
                  <c:v>2768</c:v>
                </c:pt>
                <c:pt idx="31">
                  <c:v>312</c:v>
                </c:pt>
                <c:pt idx="32">
                  <c:v>0</c:v>
                </c:pt>
                <c:pt idx="33">
                  <c:v>2771</c:v>
                </c:pt>
                <c:pt idx="34">
                  <c:v>14</c:v>
                </c:pt>
              </c:numCache>
            </c:numRef>
          </c:val>
          <c:smooth val="0"/>
          <c:extLst>
            <c:ext xmlns:c16="http://schemas.microsoft.com/office/drawing/2014/chart" uri="{C3380CC4-5D6E-409C-BE32-E72D297353CC}">
              <c16:uniqueId val="{0000000F-171D-B549-A7DE-EF4D33711D1D}"/>
            </c:ext>
          </c:extLst>
        </c:ser>
        <c:dLbls>
          <c:showLegendKey val="0"/>
          <c:showVal val="0"/>
          <c:showCatName val="0"/>
          <c:showSerName val="0"/>
          <c:showPercent val="0"/>
          <c:showBubbleSize val="0"/>
        </c:dLbls>
        <c:marker val="1"/>
        <c:smooth val="0"/>
        <c:axId val="1696374703"/>
        <c:axId val="1696344063"/>
      </c:lineChart>
      <c:catAx>
        <c:axId val="1696374703"/>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0" spcFirstLastPara="1" vertOverflow="ellipsis" wrap="square" anchor="ctr" anchorCtr="1"/>
          <a:lstStyle/>
          <a:p>
            <a:pPr>
              <a:defRPr sz="1197" b="0" i="0" u="none" strike="noStrike" kern="1200" baseline="0">
                <a:solidFill>
                  <a:schemeClr val="tx2"/>
                </a:solidFill>
                <a:latin typeface="+mn-lt"/>
                <a:ea typeface="+mn-ea"/>
                <a:cs typeface="+mn-cs"/>
              </a:defRPr>
            </a:pPr>
            <a:endParaRPr lang="en-NL"/>
          </a:p>
        </c:txPr>
        <c:crossAx val="1696344063"/>
        <c:crosses val="autoZero"/>
        <c:auto val="1"/>
        <c:lblAlgn val="ctr"/>
        <c:lblOffset val="10"/>
        <c:noMultiLvlLbl val="0"/>
      </c:catAx>
      <c:valAx>
        <c:axId val="1696344063"/>
        <c:scaling>
          <c:orientation val="minMax"/>
        </c:scaling>
        <c:delete val="1"/>
        <c:axPos val="l"/>
        <c:numFmt formatCode="General" sourceLinked="1"/>
        <c:majorTickMark val="none"/>
        <c:minorTickMark val="none"/>
        <c:tickLblPos val="nextTo"/>
        <c:crossAx val="1696374703"/>
        <c:crosses val="autoZero"/>
        <c:crossBetween val="between"/>
      </c:valAx>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8909766555187129E-2"/>
          <c:y val="6.0220552925546358E-2"/>
          <c:w val="0.94218046688962576"/>
          <c:h val="0.67221095212272064"/>
        </c:manualLayout>
      </c:layout>
      <c:barChart>
        <c:barDir val="col"/>
        <c:grouping val="stacked"/>
        <c:varyColors val="0"/>
        <c:ser>
          <c:idx val="0"/>
          <c:order val="0"/>
          <c:tx>
            <c:strRef>
              <c:f>Sheet1!$B$1</c:f>
              <c:strCache>
                <c:ptCount val="1"/>
                <c:pt idx="0">
                  <c:v>at most 7 days</c:v>
                </c:pt>
              </c:strCache>
            </c:strRef>
          </c:tx>
          <c:spPr>
            <a:solidFill>
              <a:srgbClr val="40C360"/>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Sheet1!$B$2:$B$13</c:f>
              <c:numCache>
                <c:formatCode>General</c:formatCode>
                <c:ptCount val="12"/>
                <c:pt idx="0">
                  <c:v>0</c:v>
                </c:pt>
                <c:pt idx="1">
                  <c:v>0</c:v>
                </c:pt>
                <c:pt idx="2">
                  <c:v>0</c:v>
                </c:pt>
                <c:pt idx="3">
                  <c:v>0</c:v>
                </c:pt>
                <c:pt idx="4">
                  <c:v>23</c:v>
                </c:pt>
                <c:pt idx="5">
                  <c:v>0</c:v>
                </c:pt>
                <c:pt idx="6">
                  <c:v>0</c:v>
                </c:pt>
                <c:pt idx="7">
                  <c:v>14</c:v>
                </c:pt>
                <c:pt idx="8">
                  <c:v>0</c:v>
                </c:pt>
                <c:pt idx="9">
                  <c:v>0</c:v>
                </c:pt>
                <c:pt idx="10">
                  <c:v>0</c:v>
                </c:pt>
                <c:pt idx="11">
                  <c:v>0</c:v>
                </c:pt>
              </c:numCache>
            </c:numRef>
          </c:val>
          <c:extLst>
            <c:ext xmlns:c16="http://schemas.microsoft.com/office/drawing/2014/chart" uri="{C3380CC4-5D6E-409C-BE32-E72D297353CC}">
              <c16:uniqueId val="{00000000-980E-0B4B-A8CF-968C5F8B2D40}"/>
            </c:ext>
          </c:extLst>
        </c:ser>
        <c:ser>
          <c:idx val="1"/>
          <c:order val="1"/>
          <c:tx>
            <c:strRef>
              <c:f>Sheet1!$C$1</c:f>
              <c:strCache>
                <c:ptCount val="1"/>
                <c:pt idx="0">
                  <c:v>between 7 and 14 days</c:v>
                </c:pt>
              </c:strCache>
            </c:strRef>
          </c:tx>
          <c:spPr>
            <a:solidFill>
              <a:srgbClr val="39A498"/>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Sheet1!$C$2:$C$13</c:f>
              <c:numCache>
                <c:formatCode>General</c:formatCode>
                <c:ptCount val="12"/>
                <c:pt idx="0">
                  <c:v>1</c:v>
                </c:pt>
                <c:pt idx="1">
                  <c:v>0</c:v>
                </c:pt>
                <c:pt idx="2">
                  <c:v>0</c:v>
                </c:pt>
                <c:pt idx="3">
                  <c:v>2</c:v>
                </c:pt>
                <c:pt idx="4">
                  <c:v>0</c:v>
                </c:pt>
                <c:pt idx="5">
                  <c:v>1</c:v>
                </c:pt>
                <c:pt idx="6">
                  <c:v>0</c:v>
                </c:pt>
                <c:pt idx="7">
                  <c:v>2</c:v>
                </c:pt>
                <c:pt idx="8">
                  <c:v>0</c:v>
                </c:pt>
                <c:pt idx="9">
                  <c:v>0</c:v>
                </c:pt>
                <c:pt idx="10">
                  <c:v>0</c:v>
                </c:pt>
                <c:pt idx="11">
                  <c:v>10</c:v>
                </c:pt>
              </c:numCache>
            </c:numRef>
          </c:val>
          <c:extLst>
            <c:ext xmlns:c16="http://schemas.microsoft.com/office/drawing/2014/chart" uri="{C3380CC4-5D6E-409C-BE32-E72D297353CC}">
              <c16:uniqueId val="{00000001-980E-0B4B-A8CF-968C5F8B2D40}"/>
            </c:ext>
          </c:extLst>
        </c:ser>
        <c:ser>
          <c:idx val="2"/>
          <c:order val="2"/>
          <c:tx>
            <c:strRef>
              <c:f>Sheet1!$D$1</c:f>
              <c:strCache>
                <c:ptCount val="1"/>
                <c:pt idx="0">
                  <c:v>between 14 and 30 days</c:v>
                </c:pt>
              </c:strCache>
            </c:strRef>
          </c:tx>
          <c:spPr>
            <a:solidFill>
              <a:srgbClr val="358AC7"/>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Sheet1!$D$2:$D$13</c:f>
              <c:numCache>
                <c:formatCode>General</c:formatCode>
                <c:ptCount val="12"/>
                <c:pt idx="0">
                  <c:v>10</c:v>
                </c:pt>
                <c:pt idx="1">
                  <c:v>3</c:v>
                </c:pt>
                <c:pt idx="2">
                  <c:v>1</c:v>
                </c:pt>
                <c:pt idx="3">
                  <c:v>86</c:v>
                </c:pt>
                <c:pt idx="4">
                  <c:v>10</c:v>
                </c:pt>
                <c:pt idx="5">
                  <c:v>0</c:v>
                </c:pt>
                <c:pt idx="6">
                  <c:v>0</c:v>
                </c:pt>
                <c:pt idx="7">
                  <c:v>0</c:v>
                </c:pt>
                <c:pt idx="8">
                  <c:v>0</c:v>
                </c:pt>
                <c:pt idx="9">
                  <c:v>0</c:v>
                </c:pt>
                <c:pt idx="10">
                  <c:v>0</c:v>
                </c:pt>
                <c:pt idx="11">
                  <c:v>1</c:v>
                </c:pt>
              </c:numCache>
            </c:numRef>
          </c:val>
          <c:extLst>
            <c:ext xmlns:c16="http://schemas.microsoft.com/office/drawing/2014/chart" uri="{C3380CC4-5D6E-409C-BE32-E72D297353CC}">
              <c16:uniqueId val="{00000002-980E-0B4B-A8CF-968C5F8B2D40}"/>
            </c:ext>
          </c:extLst>
        </c:ser>
        <c:ser>
          <c:idx val="3"/>
          <c:order val="3"/>
          <c:tx>
            <c:strRef>
              <c:f>Sheet1!$E$1</c:f>
              <c:strCache>
                <c:ptCount val="1"/>
                <c:pt idx="0">
                  <c:v>at least 30 days</c:v>
                </c:pt>
              </c:strCache>
            </c:strRef>
          </c:tx>
          <c:spPr>
            <a:solidFill>
              <a:srgbClr val="2D6BFF"/>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Sheet1!$E$2:$E$13</c:f>
              <c:numCache>
                <c:formatCode>General</c:formatCode>
                <c:ptCount val="12"/>
                <c:pt idx="0">
                  <c:v>217</c:v>
                </c:pt>
                <c:pt idx="1">
                  <c:v>2</c:v>
                </c:pt>
                <c:pt idx="2">
                  <c:v>2</c:v>
                </c:pt>
                <c:pt idx="3">
                  <c:v>183</c:v>
                </c:pt>
                <c:pt idx="4">
                  <c:v>28</c:v>
                </c:pt>
                <c:pt idx="5">
                  <c:v>10</c:v>
                </c:pt>
                <c:pt idx="6">
                  <c:v>30</c:v>
                </c:pt>
                <c:pt idx="7">
                  <c:v>6</c:v>
                </c:pt>
                <c:pt idx="8">
                  <c:v>13</c:v>
                </c:pt>
                <c:pt idx="9">
                  <c:v>17</c:v>
                </c:pt>
                <c:pt idx="10">
                  <c:v>312</c:v>
                </c:pt>
                <c:pt idx="11">
                  <c:v>3</c:v>
                </c:pt>
              </c:numCache>
            </c:numRef>
          </c:val>
          <c:extLst>
            <c:ext xmlns:c16="http://schemas.microsoft.com/office/drawing/2014/chart" uri="{C3380CC4-5D6E-409C-BE32-E72D297353CC}">
              <c16:uniqueId val="{00000003-980E-0B4B-A8CF-968C5F8B2D40}"/>
            </c:ext>
          </c:extLst>
        </c:ser>
        <c:dLbls>
          <c:showLegendKey val="0"/>
          <c:showVal val="0"/>
          <c:showCatName val="0"/>
          <c:showSerName val="0"/>
          <c:showPercent val="0"/>
          <c:showBubbleSize val="0"/>
        </c:dLbls>
        <c:gapWidth val="30"/>
        <c:overlap val="100"/>
        <c:axId val="1696374703"/>
        <c:axId val="1696344063"/>
      </c:barChart>
      <c:lineChart>
        <c:grouping val="standard"/>
        <c:varyColors val="0"/>
        <c:ser>
          <c:idx val="4"/>
          <c:order val="4"/>
          <c:tx>
            <c:strRef>
              <c:f>Sheet1!$F$1</c:f>
              <c:strCache>
                <c:ptCount val="1"/>
                <c:pt idx="0">
                  <c:v>Total</c:v>
                </c:pt>
              </c:strCache>
            </c:strRef>
          </c:tx>
          <c:spPr>
            <a:ln w="28575" cap="rnd">
              <a:noFill/>
              <a:round/>
            </a:ln>
            <a:effectLst/>
          </c:spPr>
          <c:marker>
            <c:symbol val="none"/>
          </c:marker>
          <c:dLbls>
            <c:spPr>
              <a:noFill/>
              <a:ln>
                <a:noFill/>
              </a:ln>
              <a:effectLst/>
            </c:spPr>
            <c:txPr>
              <a:bodyPr rot="0" spcFirstLastPara="1" vertOverflow="overflow" horzOverflow="overflow" vert="horz" wrap="none" lIns="36576" tIns="18288" rIns="36576" bIns="18288" anchor="ctr" anchorCtr="1">
                <a:spAutoFit/>
              </a:bodyPr>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flowChartAlternateProcess">
                    <a:avLst/>
                  </a:prstGeom>
                  <a:noFill/>
                  <a:ln>
                    <a:noFill/>
                  </a:ln>
                </c15:spPr>
                <c15:showLeaderLines val="0"/>
              </c:ext>
            </c:extLst>
          </c:dLbls>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Sheet1!$F$2:$F$13</c:f>
              <c:numCache>
                <c:formatCode>General</c:formatCode>
                <c:ptCount val="12"/>
                <c:pt idx="0">
                  <c:v>228</c:v>
                </c:pt>
                <c:pt idx="1">
                  <c:v>5</c:v>
                </c:pt>
                <c:pt idx="2">
                  <c:v>3</c:v>
                </c:pt>
                <c:pt idx="3">
                  <c:v>271</c:v>
                </c:pt>
                <c:pt idx="4">
                  <c:v>61</c:v>
                </c:pt>
                <c:pt idx="5">
                  <c:v>11</c:v>
                </c:pt>
                <c:pt idx="6">
                  <c:v>30</c:v>
                </c:pt>
                <c:pt idx="7">
                  <c:v>22</c:v>
                </c:pt>
                <c:pt idx="8">
                  <c:v>13</c:v>
                </c:pt>
                <c:pt idx="9">
                  <c:v>17</c:v>
                </c:pt>
                <c:pt idx="10">
                  <c:v>312</c:v>
                </c:pt>
                <c:pt idx="11">
                  <c:v>14</c:v>
                </c:pt>
              </c:numCache>
            </c:numRef>
          </c:val>
          <c:smooth val="0"/>
          <c:extLst>
            <c:ext xmlns:c16="http://schemas.microsoft.com/office/drawing/2014/chart" uri="{C3380CC4-5D6E-409C-BE32-E72D297353CC}">
              <c16:uniqueId val="{00000004-980E-0B4B-A8CF-968C5F8B2D40}"/>
            </c:ext>
          </c:extLst>
        </c:ser>
        <c:dLbls>
          <c:showLegendKey val="0"/>
          <c:showVal val="0"/>
          <c:showCatName val="0"/>
          <c:showSerName val="0"/>
          <c:showPercent val="0"/>
          <c:showBubbleSize val="0"/>
        </c:dLbls>
        <c:marker val="1"/>
        <c:smooth val="0"/>
        <c:axId val="1696374703"/>
        <c:axId val="1696344063"/>
      </c:lineChart>
      <c:catAx>
        <c:axId val="1696374703"/>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0" spcFirstLastPara="1" vertOverflow="ellipsis" wrap="square" anchor="ctr" anchorCtr="1"/>
          <a:lstStyle/>
          <a:p>
            <a:pPr>
              <a:defRPr sz="1197" b="0" i="0" u="none" strike="noStrike" kern="1200" baseline="0">
                <a:solidFill>
                  <a:schemeClr val="tx2"/>
                </a:solidFill>
                <a:latin typeface="+mn-lt"/>
                <a:ea typeface="+mn-ea"/>
                <a:cs typeface="+mn-cs"/>
              </a:defRPr>
            </a:pPr>
            <a:endParaRPr lang="en-NL"/>
          </a:p>
        </c:txPr>
        <c:crossAx val="1696344063"/>
        <c:crosses val="autoZero"/>
        <c:auto val="1"/>
        <c:lblAlgn val="ctr"/>
        <c:lblOffset val="10"/>
        <c:noMultiLvlLbl val="0"/>
      </c:catAx>
      <c:valAx>
        <c:axId val="1696344063"/>
        <c:scaling>
          <c:orientation val="minMax"/>
        </c:scaling>
        <c:delete val="1"/>
        <c:axPos val="l"/>
        <c:numFmt formatCode="General" sourceLinked="1"/>
        <c:majorTickMark val="none"/>
        <c:minorTickMark val="none"/>
        <c:tickLblPos val="nextTo"/>
        <c:crossAx val="1696374703"/>
        <c:crosses val="autoZero"/>
        <c:crossBetween val="between"/>
      </c:valAx>
      <c:spPr>
        <a:noFill/>
        <a:ln>
          <a:noFill/>
        </a:ln>
        <a:effectLst/>
      </c:spPr>
    </c:plotArea>
    <c:legend>
      <c:legendPos val="b"/>
      <c:legendEntry>
        <c:idx val="4"/>
        <c:delete val="1"/>
      </c:legendEntry>
      <c:layout>
        <c:manualLayout>
          <c:xMode val="edge"/>
          <c:yMode val="edge"/>
          <c:x val="0"/>
          <c:y val="0.85514823222286696"/>
          <c:w val="0.99682530616518883"/>
          <c:h val="0.144851767777133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951134644002104E-2"/>
          <c:y val="6.0593337595541856E-2"/>
          <c:w val="0.91209773071199585"/>
          <c:h val="0.64516723674428567"/>
        </c:manualLayout>
      </c:layout>
      <c:barChart>
        <c:barDir val="col"/>
        <c:grouping val="stacked"/>
        <c:varyColors val="0"/>
        <c:ser>
          <c:idx val="0"/>
          <c:order val="0"/>
          <c:tx>
            <c:strRef>
              <c:f>Sheet1!$B$1</c:f>
              <c:strCache>
                <c:ptCount val="1"/>
                <c:pt idx="0">
                  <c:v>at most 14 days</c:v>
                </c:pt>
              </c:strCache>
            </c:strRef>
          </c:tx>
          <c:spPr>
            <a:solidFill>
              <a:srgbClr val="40C360"/>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Sheet1!$B$2:$B$13</c:f>
              <c:numCache>
                <c:formatCode>General</c:formatCode>
                <c:ptCount val="12"/>
                <c:pt idx="0">
                  <c:v>3</c:v>
                </c:pt>
                <c:pt idx="1">
                  <c:v>1</c:v>
                </c:pt>
                <c:pt idx="2">
                  <c:v>1</c:v>
                </c:pt>
                <c:pt idx="3">
                  <c:v>2</c:v>
                </c:pt>
                <c:pt idx="4">
                  <c:v>70</c:v>
                </c:pt>
                <c:pt idx="5">
                  <c:v>4</c:v>
                </c:pt>
                <c:pt idx="6">
                  <c:v>0</c:v>
                </c:pt>
                <c:pt idx="7">
                  <c:v>18</c:v>
                </c:pt>
                <c:pt idx="8">
                  <c:v>0</c:v>
                </c:pt>
                <c:pt idx="9">
                  <c:v>16</c:v>
                </c:pt>
                <c:pt idx="10">
                  <c:v>2</c:v>
                </c:pt>
                <c:pt idx="11">
                  <c:v>4</c:v>
                </c:pt>
              </c:numCache>
            </c:numRef>
          </c:val>
          <c:extLst>
            <c:ext xmlns:c16="http://schemas.microsoft.com/office/drawing/2014/chart" uri="{C3380CC4-5D6E-409C-BE32-E72D297353CC}">
              <c16:uniqueId val="{00000000-0E27-A747-9927-F7F0E1E987CA}"/>
            </c:ext>
          </c:extLst>
        </c:ser>
        <c:ser>
          <c:idx val="1"/>
          <c:order val="1"/>
          <c:tx>
            <c:strRef>
              <c:f>Sheet1!$C$1</c:f>
              <c:strCache>
                <c:ptCount val="1"/>
                <c:pt idx="0">
                  <c:v>between 14 and 30 days</c:v>
                </c:pt>
              </c:strCache>
            </c:strRef>
          </c:tx>
          <c:spPr>
            <a:solidFill>
              <a:srgbClr val="39A498"/>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Sheet1!$C$2:$C$13</c:f>
              <c:numCache>
                <c:formatCode>General</c:formatCode>
                <c:ptCount val="12"/>
                <c:pt idx="0">
                  <c:v>39</c:v>
                </c:pt>
                <c:pt idx="1">
                  <c:v>0</c:v>
                </c:pt>
                <c:pt idx="2">
                  <c:v>0</c:v>
                </c:pt>
                <c:pt idx="3">
                  <c:v>24</c:v>
                </c:pt>
                <c:pt idx="4">
                  <c:v>147</c:v>
                </c:pt>
                <c:pt idx="5">
                  <c:v>3</c:v>
                </c:pt>
                <c:pt idx="6">
                  <c:v>6</c:v>
                </c:pt>
                <c:pt idx="7">
                  <c:v>2</c:v>
                </c:pt>
                <c:pt idx="8">
                  <c:v>3</c:v>
                </c:pt>
                <c:pt idx="9">
                  <c:v>1</c:v>
                </c:pt>
                <c:pt idx="10">
                  <c:v>0</c:v>
                </c:pt>
                <c:pt idx="11">
                  <c:v>0</c:v>
                </c:pt>
              </c:numCache>
            </c:numRef>
          </c:val>
          <c:extLst>
            <c:ext xmlns:c16="http://schemas.microsoft.com/office/drawing/2014/chart" uri="{C3380CC4-5D6E-409C-BE32-E72D297353CC}">
              <c16:uniqueId val="{00000001-0E27-A747-9927-F7F0E1E987CA}"/>
            </c:ext>
          </c:extLst>
        </c:ser>
        <c:ser>
          <c:idx val="2"/>
          <c:order val="2"/>
          <c:tx>
            <c:strRef>
              <c:f>Sheet1!$D$1</c:f>
              <c:strCache>
                <c:ptCount val="1"/>
                <c:pt idx="0">
                  <c:v>between 30 and 180 days</c:v>
                </c:pt>
              </c:strCache>
            </c:strRef>
          </c:tx>
          <c:spPr>
            <a:solidFill>
              <a:srgbClr val="358AC7"/>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Sheet1!$D$2:$D$13</c:f>
              <c:numCache>
                <c:formatCode>General</c:formatCode>
                <c:ptCount val="12"/>
                <c:pt idx="0">
                  <c:v>84</c:v>
                </c:pt>
                <c:pt idx="1">
                  <c:v>11</c:v>
                </c:pt>
                <c:pt idx="2">
                  <c:v>2</c:v>
                </c:pt>
                <c:pt idx="3">
                  <c:v>106</c:v>
                </c:pt>
                <c:pt idx="4">
                  <c:v>7</c:v>
                </c:pt>
                <c:pt idx="5">
                  <c:v>11</c:v>
                </c:pt>
                <c:pt idx="6">
                  <c:v>13</c:v>
                </c:pt>
                <c:pt idx="7">
                  <c:v>16</c:v>
                </c:pt>
                <c:pt idx="8">
                  <c:v>13</c:v>
                </c:pt>
                <c:pt idx="9">
                  <c:v>23</c:v>
                </c:pt>
                <c:pt idx="10">
                  <c:v>13</c:v>
                </c:pt>
                <c:pt idx="11">
                  <c:v>16</c:v>
                </c:pt>
              </c:numCache>
            </c:numRef>
          </c:val>
          <c:extLst>
            <c:ext xmlns:c16="http://schemas.microsoft.com/office/drawing/2014/chart" uri="{C3380CC4-5D6E-409C-BE32-E72D297353CC}">
              <c16:uniqueId val="{00000002-0E27-A747-9927-F7F0E1E987CA}"/>
            </c:ext>
          </c:extLst>
        </c:ser>
        <c:ser>
          <c:idx val="3"/>
          <c:order val="3"/>
          <c:tx>
            <c:strRef>
              <c:f>Sheet1!$E$1</c:f>
              <c:strCache>
                <c:ptCount val="1"/>
                <c:pt idx="0">
                  <c:v>at least 180 days</c:v>
                </c:pt>
              </c:strCache>
            </c:strRef>
          </c:tx>
          <c:spPr>
            <a:solidFill>
              <a:srgbClr val="2D6BFF"/>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Sheet1!$E$2:$E$13</c:f>
              <c:numCache>
                <c:formatCode>General</c:formatCode>
                <c:ptCount val="12"/>
                <c:pt idx="0">
                  <c:v>64</c:v>
                </c:pt>
                <c:pt idx="1">
                  <c:v>11</c:v>
                </c:pt>
                <c:pt idx="2">
                  <c:v>3</c:v>
                </c:pt>
                <c:pt idx="3">
                  <c:v>6</c:v>
                </c:pt>
                <c:pt idx="4">
                  <c:v>24</c:v>
                </c:pt>
                <c:pt idx="5">
                  <c:v>17</c:v>
                </c:pt>
                <c:pt idx="6">
                  <c:v>15</c:v>
                </c:pt>
                <c:pt idx="7">
                  <c:v>30</c:v>
                </c:pt>
                <c:pt idx="8">
                  <c:v>51</c:v>
                </c:pt>
                <c:pt idx="9">
                  <c:v>4</c:v>
                </c:pt>
                <c:pt idx="10">
                  <c:v>932</c:v>
                </c:pt>
                <c:pt idx="11">
                  <c:v>12</c:v>
                </c:pt>
              </c:numCache>
            </c:numRef>
          </c:val>
          <c:extLst>
            <c:ext xmlns:c16="http://schemas.microsoft.com/office/drawing/2014/chart" uri="{C3380CC4-5D6E-409C-BE32-E72D297353CC}">
              <c16:uniqueId val="{00000003-0E27-A747-9927-F7F0E1E987CA}"/>
            </c:ext>
          </c:extLst>
        </c:ser>
        <c:dLbls>
          <c:showLegendKey val="0"/>
          <c:showVal val="0"/>
          <c:showCatName val="0"/>
          <c:showSerName val="0"/>
          <c:showPercent val="0"/>
          <c:showBubbleSize val="0"/>
        </c:dLbls>
        <c:gapWidth val="30"/>
        <c:overlap val="100"/>
        <c:axId val="1696374703"/>
        <c:axId val="1696344063"/>
      </c:barChart>
      <c:lineChart>
        <c:grouping val="standard"/>
        <c:varyColors val="0"/>
        <c:ser>
          <c:idx val="4"/>
          <c:order val="4"/>
          <c:tx>
            <c:strRef>
              <c:f>Sheet1!$F$1</c:f>
              <c:strCache>
                <c:ptCount val="1"/>
                <c:pt idx="0">
                  <c:v>Total</c:v>
                </c:pt>
              </c:strCache>
            </c:strRef>
          </c:tx>
          <c:spPr>
            <a:ln w="28575" cap="rnd">
              <a:noFill/>
              <a:round/>
            </a:ln>
            <a:effectLst/>
          </c:spPr>
          <c:marker>
            <c:symbol val="none"/>
          </c:marker>
          <c:dLbls>
            <c:spPr>
              <a:noFill/>
              <a:ln>
                <a:noFill/>
              </a:ln>
              <a:effectLst/>
            </c:spPr>
            <c:txPr>
              <a:bodyPr rot="0" spcFirstLastPara="1" vertOverflow="overflow" horzOverflow="overflow" vert="horz" wrap="none" lIns="36576" tIns="18288" rIns="36576" bIns="18288" anchor="ctr" anchorCtr="1">
                <a:spAutoFit/>
              </a:bodyPr>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flowChartAlternateProcess">
                    <a:avLst/>
                  </a:prstGeom>
                  <a:noFill/>
                  <a:ln>
                    <a:noFill/>
                  </a:ln>
                </c15:spPr>
                <c15:showLeaderLines val="0"/>
              </c:ext>
            </c:extLst>
          </c:dLbls>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Sheet1!$F$2:$F$13</c:f>
              <c:numCache>
                <c:formatCode>General</c:formatCode>
                <c:ptCount val="12"/>
                <c:pt idx="0">
                  <c:v>190</c:v>
                </c:pt>
                <c:pt idx="1">
                  <c:v>23</c:v>
                </c:pt>
                <c:pt idx="2">
                  <c:v>6</c:v>
                </c:pt>
                <c:pt idx="3">
                  <c:v>138</c:v>
                </c:pt>
                <c:pt idx="4">
                  <c:v>248</c:v>
                </c:pt>
                <c:pt idx="5">
                  <c:v>35</c:v>
                </c:pt>
                <c:pt idx="6">
                  <c:v>34</c:v>
                </c:pt>
                <c:pt idx="7">
                  <c:v>66</c:v>
                </c:pt>
                <c:pt idx="8">
                  <c:v>67</c:v>
                </c:pt>
                <c:pt idx="9">
                  <c:v>44</c:v>
                </c:pt>
                <c:pt idx="10">
                  <c:v>947</c:v>
                </c:pt>
                <c:pt idx="11">
                  <c:v>32</c:v>
                </c:pt>
              </c:numCache>
            </c:numRef>
          </c:val>
          <c:smooth val="0"/>
          <c:extLst>
            <c:ext xmlns:c16="http://schemas.microsoft.com/office/drawing/2014/chart" uri="{C3380CC4-5D6E-409C-BE32-E72D297353CC}">
              <c16:uniqueId val="{00000004-0E27-A747-9927-F7F0E1E987CA}"/>
            </c:ext>
          </c:extLst>
        </c:ser>
        <c:dLbls>
          <c:showLegendKey val="0"/>
          <c:showVal val="0"/>
          <c:showCatName val="0"/>
          <c:showSerName val="0"/>
          <c:showPercent val="0"/>
          <c:showBubbleSize val="0"/>
        </c:dLbls>
        <c:marker val="1"/>
        <c:smooth val="0"/>
        <c:axId val="1696374703"/>
        <c:axId val="1696344063"/>
      </c:lineChart>
      <c:catAx>
        <c:axId val="1696374703"/>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0" spcFirstLastPara="1" vertOverflow="ellipsis" wrap="square" anchor="ctr" anchorCtr="1"/>
          <a:lstStyle/>
          <a:p>
            <a:pPr>
              <a:defRPr sz="1197" b="0" i="0" u="none" strike="noStrike" kern="1200" baseline="0">
                <a:solidFill>
                  <a:schemeClr val="tx2"/>
                </a:solidFill>
                <a:latin typeface="+mn-lt"/>
                <a:ea typeface="+mn-ea"/>
                <a:cs typeface="+mn-cs"/>
              </a:defRPr>
            </a:pPr>
            <a:endParaRPr lang="en-NL"/>
          </a:p>
        </c:txPr>
        <c:crossAx val="1696344063"/>
        <c:crosses val="autoZero"/>
        <c:auto val="1"/>
        <c:lblAlgn val="ctr"/>
        <c:lblOffset val="10"/>
        <c:noMultiLvlLbl val="0"/>
      </c:catAx>
      <c:valAx>
        <c:axId val="1696344063"/>
        <c:scaling>
          <c:orientation val="minMax"/>
        </c:scaling>
        <c:delete val="1"/>
        <c:axPos val="l"/>
        <c:numFmt formatCode="General" sourceLinked="1"/>
        <c:majorTickMark val="none"/>
        <c:minorTickMark val="none"/>
        <c:tickLblPos val="nextTo"/>
        <c:crossAx val="1696374703"/>
        <c:crosses val="autoZero"/>
        <c:crossBetween val="between"/>
      </c:valAx>
      <c:spPr>
        <a:noFill/>
        <a:ln>
          <a:noFill/>
        </a:ln>
        <a:effectLst/>
      </c:spPr>
    </c:plotArea>
    <c:legend>
      <c:legendPos val="b"/>
      <c:legendEntry>
        <c:idx val="4"/>
        <c:delete val="1"/>
      </c:legendEntry>
      <c:layout>
        <c:manualLayout>
          <c:xMode val="edge"/>
          <c:yMode val="edge"/>
          <c:x val="0"/>
          <c:y val="0.82878023052360095"/>
          <c:w val="0.99589338467782274"/>
          <c:h val="0.1381688580606488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New</c:v>
                </c:pt>
              </c:strCache>
            </c:strRef>
          </c:tx>
          <c:spPr>
            <a:solidFill>
              <a:srgbClr val="2D6BFF"/>
            </a:solidFill>
            <a:ln>
              <a:noFill/>
            </a:ln>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Sheet1!$B$2:$B$36</c:f>
              <c:numCache>
                <c:formatCode>General</c:formatCode>
                <c:ptCount val="35"/>
                <c:pt idx="0">
                  <c:v>146</c:v>
                </c:pt>
                <c:pt idx="1">
                  <c:v>0</c:v>
                </c:pt>
                <c:pt idx="2">
                  <c:v>0</c:v>
                </c:pt>
                <c:pt idx="3">
                  <c:v>34</c:v>
                </c:pt>
                <c:pt idx="4">
                  <c:v>0</c:v>
                </c:pt>
                <c:pt idx="5">
                  <c:v>0</c:v>
                </c:pt>
                <c:pt idx="6">
                  <c:v>9</c:v>
                </c:pt>
                <c:pt idx="7">
                  <c:v>0</c:v>
                </c:pt>
                <c:pt idx="8">
                  <c:v>0</c:v>
                </c:pt>
                <c:pt idx="9">
                  <c:v>111</c:v>
                </c:pt>
                <c:pt idx="10">
                  <c:v>0</c:v>
                </c:pt>
                <c:pt idx="11">
                  <c:v>0</c:v>
                </c:pt>
                <c:pt idx="12">
                  <c:v>146</c:v>
                </c:pt>
                <c:pt idx="13">
                  <c:v>0</c:v>
                </c:pt>
                <c:pt idx="14">
                  <c:v>0</c:v>
                </c:pt>
                <c:pt idx="15">
                  <c:v>20</c:v>
                </c:pt>
                <c:pt idx="16">
                  <c:v>0</c:v>
                </c:pt>
                <c:pt idx="17">
                  <c:v>0</c:v>
                </c:pt>
                <c:pt idx="18">
                  <c:v>35</c:v>
                </c:pt>
                <c:pt idx="19">
                  <c:v>0</c:v>
                </c:pt>
                <c:pt idx="20">
                  <c:v>0</c:v>
                </c:pt>
                <c:pt idx="21">
                  <c:v>559</c:v>
                </c:pt>
                <c:pt idx="22">
                  <c:v>0</c:v>
                </c:pt>
                <c:pt idx="23">
                  <c:v>0</c:v>
                </c:pt>
                <c:pt idx="24">
                  <c:v>72</c:v>
                </c:pt>
                <c:pt idx="25">
                  <c:v>0</c:v>
                </c:pt>
                <c:pt idx="26">
                  <c:v>0</c:v>
                </c:pt>
                <c:pt idx="27">
                  <c:v>39</c:v>
                </c:pt>
                <c:pt idx="28">
                  <c:v>0</c:v>
                </c:pt>
                <c:pt idx="29">
                  <c:v>0</c:v>
                </c:pt>
                <c:pt idx="30">
                  <c:v>1451</c:v>
                </c:pt>
                <c:pt idx="31">
                  <c:v>0</c:v>
                </c:pt>
                <c:pt idx="32">
                  <c:v>0</c:v>
                </c:pt>
                <c:pt idx="33">
                  <c:v>79</c:v>
                </c:pt>
                <c:pt idx="34">
                  <c:v>0</c:v>
                </c:pt>
              </c:numCache>
            </c:numRef>
          </c:val>
          <c:extLst>
            <c:ext xmlns:c16="http://schemas.microsoft.com/office/drawing/2014/chart" uri="{C3380CC4-5D6E-409C-BE32-E72D297353CC}">
              <c16:uniqueId val="{00000000-96F4-9648-A147-F9769DAF7605}"/>
            </c:ext>
          </c:extLst>
        </c:ser>
        <c:ser>
          <c:idx val="1"/>
          <c:order val="1"/>
          <c:tx>
            <c:strRef>
              <c:f>Sheet1!$C$1</c:f>
              <c:strCache>
                <c:ptCount val="1"/>
                <c:pt idx="0">
                  <c:v>Existing</c:v>
                </c:pt>
              </c:strCache>
            </c:strRef>
          </c:tx>
          <c:spPr>
            <a:solidFill>
              <a:srgbClr val="B6C4FF"/>
            </a:solidFill>
            <a:ln>
              <a:noFill/>
            </a:ln>
            <a:effectLst>
              <a:outerShdw blurRad="50800" dist="50800" dir="5400000" algn="ctr" rotWithShape="0">
                <a:srgbClr val="B6C4FF"/>
              </a:outerShdw>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Sheet1!$C$2:$C$36</c:f>
              <c:numCache>
                <c:formatCode>General</c:formatCode>
                <c:ptCount val="35"/>
                <c:pt idx="0">
                  <c:v>6323</c:v>
                </c:pt>
                <c:pt idx="1">
                  <c:v>0</c:v>
                </c:pt>
                <c:pt idx="2">
                  <c:v>0</c:v>
                </c:pt>
                <c:pt idx="3">
                  <c:v>6447</c:v>
                </c:pt>
                <c:pt idx="4">
                  <c:v>0</c:v>
                </c:pt>
                <c:pt idx="5">
                  <c:v>0</c:v>
                </c:pt>
                <c:pt idx="6">
                  <c:v>6476</c:v>
                </c:pt>
                <c:pt idx="7">
                  <c:v>0</c:v>
                </c:pt>
                <c:pt idx="8">
                  <c:v>0</c:v>
                </c:pt>
                <c:pt idx="9">
                  <c:v>6372</c:v>
                </c:pt>
                <c:pt idx="10">
                  <c:v>0</c:v>
                </c:pt>
                <c:pt idx="11">
                  <c:v>0</c:v>
                </c:pt>
                <c:pt idx="12">
                  <c:v>6449</c:v>
                </c:pt>
                <c:pt idx="13">
                  <c:v>0</c:v>
                </c:pt>
                <c:pt idx="14">
                  <c:v>0</c:v>
                </c:pt>
                <c:pt idx="15">
                  <c:v>6566</c:v>
                </c:pt>
                <c:pt idx="16">
                  <c:v>0</c:v>
                </c:pt>
                <c:pt idx="17">
                  <c:v>0</c:v>
                </c:pt>
                <c:pt idx="18">
                  <c:v>6552</c:v>
                </c:pt>
                <c:pt idx="19">
                  <c:v>0</c:v>
                </c:pt>
                <c:pt idx="20">
                  <c:v>0</c:v>
                </c:pt>
                <c:pt idx="21">
                  <c:v>6541</c:v>
                </c:pt>
                <c:pt idx="22">
                  <c:v>0</c:v>
                </c:pt>
                <c:pt idx="23">
                  <c:v>0</c:v>
                </c:pt>
                <c:pt idx="24">
                  <c:v>7033</c:v>
                </c:pt>
                <c:pt idx="25">
                  <c:v>0</c:v>
                </c:pt>
                <c:pt idx="26">
                  <c:v>0</c:v>
                </c:pt>
                <c:pt idx="27">
                  <c:v>7077</c:v>
                </c:pt>
                <c:pt idx="28">
                  <c:v>0</c:v>
                </c:pt>
                <c:pt idx="29">
                  <c:v>0</c:v>
                </c:pt>
                <c:pt idx="30">
                  <c:v>6171</c:v>
                </c:pt>
                <c:pt idx="31">
                  <c:v>0</c:v>
                </c:pt>
                <c:pt idx="32">
                  <c:v>0</c:v>
                </c:pt>
                <c:pt idx="33">
                  <c:v>7590</c:v>
                </c:pt>
                <c:pt idx="34">
                  <c:v>0</c:v>
                </c:pt>
              </c:numCache>
            </c:numRef>
          </c:val>
          <c:extLst>
            <c:ext xmlns:c16="http://schemas.microsoft.com/office/drawing/2014/chart" uri="{C3380CC4-5D6E-409C-BE32-E72D297353CC}">
              <c16:uniqueId val="{00000001-96F4-9648-A147-F9769DAF7605}"/>
            </c:ext>
          </c:extLst>
        </c:ser>
        <c:ser>
          <c:idx val="2"/>
          <c:order val="2"/>
          <c:tx>
            <c:strRef>
              <c:f>Sheet1!$D$1</c:f>
              <c:strCache>
                <c:ptCount val="1"/>
                <c:pt idx="0">
                  <c:v>Resolved</c:v>
                </c:pt>
              </c:strCache>
            </c:strRef>
          </c:tx>
          <c:spPr>
            <a:solidFill>
              <a:srgbClr val="40C360"/>
            </a:solidFill>
            <a:ln>
              <a:noFill/>
            </a:ln>
            <a:effectLst>
              <a:outerShdw blurRad="50800" dist="50800" dir="5400000" algn="ctr" rotWithShape="0">
                <a:srgbClr val="40C360"/>
              </a:outerShdw>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Sheet1!$D$2:$D$36</c:f>
              <c:numCache>
                <c:formatCode>General</c:formatCode>
                <c:ptCount val="35"/>
                <c:pt idx="0">
                  <c:v>0</c:v>
                </c:pt>
                <c:pt idx="1">
                  <c:v>190</c:v>
                </c:pt>
                <c:pt idx="2">
                  <c:v>0</c:v>
                </c:pt>
                <c:pt idx="3">
                  <c:v>0</c:v>
                </c:pt>
                <c:pt idx="4">
                  <c:v>23</c:v>
                </c:pt>
                <c:pt idx="5">
                  <c:v>0</c:v>
                </c:pt>
                <c:pt idx="6">
                  <c:v>0</c:v>
                </c:pt>
                <c:pt idx="7">
                  <c:v>6</c:v>
                </c:pt>
                <c:pt idx="8">
                  <c:v>0</c:v>
                </c:pt>
                <c:pt idx="9">
                  <c:v>0</c:v>
                </c:pt>
                <c:pt idx="10">
                  <c:v>138</c:v>
                </c:pt>
                <c:pt idx="11">
                  <c:v>0</c:v>
                </c:pt>
                <c:pt idx="12">
                  <c:v>0</c:v>
                </c:pt>
                <c:pt idx="13">
                  <c:v>248</c:v>
                </c:pt>
                <c:pt idx="14">
                  <c:v>0</c:v>
                </c:pt>
                <c:pt idx="15">
                  <c:v>0</c:v>
                </c:pt>
                <c:pt idx="16">
                  <c:v>35</c:v>
                </c:pt>
                <c:pt idx="17">
                  <c:v>0</c:v>
                </c:pt>
                <c:pt idx="18">
                  <c:v>0</c:v>
                </c:pt>
                <c:pt idx="19">
                  <c:v>34</c:v>
                </c:pt>
                <c:pt idx="20">
                  <c:v>0</c:v>
                </c:pt>
                <c:pt idx="21">
                  <c:v>0</c:v>
                </c:pt>
                <c:pt idx="22">
                  <c:v>66</c:v>
                </c:pt>
                <c:pt idx="23">
                  <c:v>0</c:v>
                </c:pt>
                <c:pt idx="24">
                  <c:v>0</c:v>
                </c:pt>
                <c:pt idx="25">
                  <c:v>67</c:v>
                </c:pt>
                <c:pt idx="26">
                  <c:v>0</c:v>
                </c:pt>
                <c:pt idx="27">
                  <c:v>0</c:v>
                </c:pt>
                <c:pt idx="28">
                  <c:v>44</c:v>
                </c:pt>
                <c:pt idx="29">
                  <c:v>0</c:v>
                </c:pt>
                <c:pt idx="30">
                  <c:v>0</c:v>
                </c:pt>
                <c:pt idx="31">
                  <c:v>947</c:v>
                </c:pt>
                <c:pt idx="32">
                  <c:v>0</c:v>
                </c:pt>
                <c:pt idx="33">
                  <c:v>0</c:v>
                </c:pt>
                <c:pt idx="34">
                  <c:v>32</c:v>
                </c:pt>
              </c:numCache>
            </c:numRef>
          </c:val>
          <c:extLst>
            <c:ext xmlns:c16="http://schemas.microsoft.com/office/drawing/2014/chart" uri="{C3380CC4-5D6E-409C-BE32-E72D297353CC}">
              <c16:uniqueId val="{00000002-96F4-9648-A147-F9769DAF7605}"/>
            </c:ext>
          </c:extLst>
        </c:ser>
        <c:dLbls>
          <c:showLegendKey val="0"/>
          <c:showVal val="0"/>
          <c:showCatName val="0"/>
          <c:showSerName val="0"/>
          <c:showPercent val="0"/>
          <c:showBubbleSize val="0"/>
        </c:dLbls>
        <c:gapWidth val="20"/>
        <c:overlap val="100"/>
        <c:axId val="1696374703"/>
        <c:axId val="1696344063"/>
      </c:barChart>
      <c:lineChart>
        <c:grouping val="standard"/>
        <c:varyColors val="0"/>
        <c:ser>
          <c:idx val="4"/>
          <c:order val="3"/>
          <c:tx>
            <c:strRef>
              <c:f>Sheet1!$E$1</c:f>
              <c:strCache>
                <c:ptCount val="1"/>
                <c:pt idx="0">
                  <c:v>Total</c:v>
                </c:pt>
              </c:strCache>
            </c:strRef>
          </c:tx>
          <c:spPr>
            <a:ln w="28575" cap="rnd">
              <a:noFill/>
              <a:round/>
            </a:ln>
            <a:effectLst/>
          </c:spPr>
          <c:marker>
            <c:symbol val="none"/>
          </c:marker>
          <c:dLbls>
            <c:dLbl>
              <c:idx val="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6F4-9648-A147-F9769DAF7605}"/>
                </c:ext>
              </c:extLst>
            </c:dLbl>
            <c:dLbl>
              <c:idx val="2"/>
              <c:delete val="1"/>
              <c:extLst>
                <c:ext xmlns:c15="http://schemas.microsoft.com/office/drawing/2012/chart" uri="{CE6537A1-D6FC-4f65-9D91-7224C49458BB}"/>
                <c:ext xmlns:c16="http://schemas.microsoft.com/office/drawing/2014/chart" uri="{C3380CC4-5D6E-409C-BE32-E72D297353CC}">
                  <c16:uniqueId val="{00000004-96F4-9648-A147-F9769DAF7605}"/>
                </c:ext>
              </c:extLst>
            </c:dLbl>
            <c:dLbl>
              <c:idx val="5"/>
              <c:delete val="1"/>
              <c:extLst>
                <c:ext xmlns:c15="http://schemas.microsoft.com/office/drawing/2012/chart" uri="{CE6537A1-D6FC-4f65-9D91-7224C49458BB}"/>
                <c:ext xmlns:c16="http://schemas.microsoft.com/office/drawing/2014/chart" uri="{C3380CC4-5D6E-409C-BE32-E72D297353CC}">
                  <c16:uniqueId val="{00000005-96F4-9648-A147-F9769DAF7605}"/>
                </c:ext>
              </c:extLst>
            </c:dLbl>
            <c:dLbl>
              <c:idx val="8"/>
              <c:delete val="1"/>
              <c:extLst>
                <c:ext xmlns:c15="http://schemas.microsoft.com/office/drawing/2012/chart" uri="{CE6537A1-D6FC-4f65-9D91-7224C49458BB}"/>
                <c:ext xmlns:c16="http://schemas.microsoft.com/office/drawing/2014/chart" uri="{C3380CC4-5D6E-409C-BE32-E72D297353CC}">
                  <c16:uniqueId val="{00000006-96F4-9648-A147-F9769DAF7605}"/>
                </c:ext>
              </c:extLst>
            </c:dLbl>
            <c:dLbl>
              <c:idx val="11"/>
              <c:delete val="1"/>
              <c:extLst>
                <c:ext xmlns:c15="http://schemas.microsoft.com/office/drawing/2012/chart" uri="{CE6537A1-D6FC-4f65-9D91-7224C49458BB}"/>
                <c:ext xmlns:c16="http://schemas.microsoft.com/office/drawing/2014/chart" uri="{C3380CC4-5D6E-409C-BE32-E72D297353CC}">
                  <c16:uniqueId val="{00000007-96F4-9648-A147-F9769DAF7605}"/>
                </c:ext>
              </c:extLst>
            </c:dLbl>
            <c:dLbl>
              <c:idx val="14"/>
              <c:delete val="1"/>
              <c:extLst>
                <c:ext xmlns:c15="http://schemas.microsoft.com/office/drawing/2012/chart" uri="{CE6537A1-D6FC-4f65-9D91-7224C49458BB}"/>
                <c:ext xmlns:c16="http://schemas.microsoft.com/office/drawing/2014/chart" uri="{C3380CC4-5D6E-409C-BE32-E72D297353CC}">
                  <c16:uniqueId val="{00000008-96F4-9648-A147-F9769DAF7605}"/>
                </c:ext>
              </c:extLst>
            </c:dLbl>
            <c:dLbl>
              <c:idx val="17"/>
              <c:delete val="1"/>
              <c:extLst>
                <c:ext xmlns:c15="http://schemas.microsoft.com/office/drawing/2012/chart" uri="{CE6537A1-D6FC-4f65-9D91-7224C49458BB}"/>
                <c:ext xmlns:c16="http://schemas.microsoft.com/office/drawing/2014/chart" uri="{C3380CC4-5D6E-409C-BE32-E72D297353CC}">
                  <c16:uniqueId val="{00000009-96F4-9648-A147-F9769DAF7605}"/>
                </c:ext>
              </c:extLst>
            </c:dLbl>
            <c:dLbl>
              <c:idx val="20"/>
              <c:delete val="1"/>
              <c:extLst>
                <c:ext xmlns:c15="http://schemas.microsoft.com/office/drawing/2012/chart" uri="{CE6537A1-D6FC-4f65-9D91-7224C49458BB}"/>
                <c:ext xmlns:c16="http://schemas.microsoft.com/office/drawing/2014/chart" uri="{C3380CC4-5D6E-409C-BE32-E72D297353CC}">
                  <c16:uniqueId val="{0000000A-96F4-9648-A147-F9769DAF7605}"/>
                </c:ext>
              </c:extLst>
            </c:dLbl>
            <c:dLbl>
              <c:idx val="23"/>
              <c:delete val="1"/>
              <c:extLst>
                <c:ext xmlns:c15="http://schemas.microsoft.com/office/drawing/2012/chart" uri="{CE6537A1-D6FC-4f65-9D91-7224C49458BB}"/>
                <c:ext xmlns:c16="http://schemas.microsoft.com/office/drawing/2014/chart" uri="{C3380CC4-5D6E-409C-BE32-E72D297353CC}">
                  <c16:uniqueId val="{0000000B-96F4-9648-A147-F9769DAF7605}"/>
                </c:ext>
              </c:extLst>
            </c:dLbl>
            <c:dLbl>
              <c:idx val="26"/>
              <c:delete val="1"/>
              <c:extLst>
                <c:ext xmlns:c15="http://schemas.microsoft.com/office/drawing/2012/chart" uri="{CE6537A1-D6FC-4f65-9D91-7224C49458BB}"/>
                <c:ext xmlns:c16="http://schemas.microsoft.com/office/drawing/2014/chart" uri="{C3380CC4-5D6E-409C-BE32-E72D297353CC}">
                  <c16:uniqueId val="{0000000C-96F4-9648-A147-F9769DAF7605}"/>
                </c:ext>
              </c:extLst>
            </c:dLbl>
            <c:dLbl>
              <c:idx val="29"/>
              <c:delete val="1"/>
              <c:extLst>
                <c:ext xmlns:c15="http://schemas.microsoft.com/office/drawing/2012/chart" uri="{CE6537A1-D6FC-4f65-9D91-7224C49458BB}"/>
                <c:ext xmlns:c16="http://schemas.microsoft.com/office/drawing/2014/chart" uri="{C3380CC4-5D6E-409C-BE32-E72D297353CC}">
                  <c16:uniqueId val="{0000000D-96F4-9648-A147-F9769DAF7605}"/>
                </c:ext>
              </c:extLst>
            </c:dLbl>
            <c:dLbl>
              <c:idx val="32"/>
              <c:delete val="1"/>
              <c:extLst>
                <c:ext xmlns:c15="http://schemas.microsoft.com/office/drawing/2012/chart" uri="{CE6537A1-D6FC-4f65-9D91-7224C49458BB}"/>
                <c:ext xmlns:c16="http://schemas.microsoft.com/office/drawing/2014/chart" uri="{C3380CC4-5D6E-409C-BE32-E72D297353CC}">
                  <c16:uniqueId val="{0000000E-96F4-9648-A147-F9769DAF7605}"/>
                </c:ext>
              </c:extLst>
            </c:dLbl>
            <c:spPr>
              <a:noFill/>
              <a:ln>
                <a:noFill/>
              </a:ln>
              <a:effectLst/>
            </c:spPr>
            <c:txPr>
              <a:bodyPr rot="0" spcFirstLastPara="1" vertOverflow="overflow" horzOverflow="overflow" vert="horz" wrap="none" lIns="36576" tIns="18288" rIns="36576" bIns="18288" anchor="ctr" anchorCtr="1">
                <a:spAutoFit/>
              </a:bodyPr>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flowChartAlternateProcess">
                    <a:avLst/>
                  </a:prstGeom>
                  <a:noFill/>
                  <a:ln>
                    <a:noFill/>
                  </a:ln>
                </c15:spPr>
                <c15:showLeaderLines val="0"/>
              </c:ext>
            </c:extLst>
          </c:dLbls>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Sheet1!$E$2:$E$36</c:f>
              <c:numCache>
                <c:formatCode>General</c:formatCode>
                <c:ptCount val="35"/>
                <c:pt idx="0">
                  <c:v>6469</c:v>
                </c:pt>
                <c:pt idx="1">
                  <c:v>190</c:v>
                </c:pt>
                <c:pt idx="2">
                  <c:v>0</c:v>
                </c:pt>
                <c:pt idx="3">
                  <c:v>6481</c:v>
                </c:pt>
                <c:pt idx="4">
                  <c:v>23</c:v>
                </c:pt>
                <c:pt idx="5">
                  <c:v>0</c:v>
                </c:pt>
                <c:pt idx="6">
                  <c:v>6485</c:v>
                </c:pt>
                <c:pt idx="7">
                  <c:v>6</c:v>
                </c:pt>
                <c:pt idx="8">
                  <c:v>0</c:v>
                </c:pt>
                <c:pt idx="9">
                  <c:v>6483</c:v>
                </c:pt>
                <c:pt idx="10">
                  <c:v>138</c:v>
                </c:pt>
                <c:pt idx="11">
                  <c:v>0</c:v>
                </c:pt>
                <c:pt idx="12">
                  <c:v>6595</c:v>
                </c:pt>
                <c:pt idx="13">
                  <c:v>248</c:v>
                </c:pt>
                <c:pt idx="14">
                  <c:v>0</c:v>
                </c:pt>
                <c:pt idx="15">
                  <c:v>6586</c:v>
                </c:pt>
                <c:pt idx="16">
                  <c:v>35</c:v>
                </c:pt>
                <c:pt idx="17">
                  <c:v>0</c:v>
                </c:pt>
                <c:pt idx="18">
                  <c:v>6587</c:v>
                </c:pt>
                <c:pt idx="19">
                  <c:v>34</c:v>
                </c:pt>
                <c:pt idx="20">
                  <c:v>0</c:v>
                </c:pt>
                <c:pt idx="21">
                  <c:v>7100</c:v>
                </c:pt>
                <c:pt idx="22">
                  <c:v>66</c:v>
                </c:pt>
                <c:pt idx="23">
                  <c:v>0</c:v>
                </c:pt>
                <c:pt idx="24">
                  <c:v>7105</c:v>
                </c:pt>
                <c:pt idx="25">
                  <c:v>67</c:v>
                </c:pt>
                <c:pt idx="26">
                  <c:v>0</c:v>
                </c:pt>
                <c:pt idx="27">
                  <c:v>7116</c:v>
                </c:pt>
                <c:pt idx="28">
                  <c:v>44</c:v>
                </c:pt>
                <c:pt idx="29">
                  <c:v>0</c:v>
                </c:pt>
                <c:pt idx="30">
                  <c:v>7622</c:v>
                </c:pt>
                <c:pt idx="31">
                  <c:v>947</c:v>
                </c:pt>
                <c:pt idx="32">
                  <c:v>0</c:v>
                </c:pt>
                <c:pt idx="33">
                  <c:v>7669</c:v>
                </c:pt>
                <c:pt idx="34">
                  <c:v>32</c:v>
                </c:pt>
              </c:numCache>
            </c:numRef>
          </c:val>
          <c:smooth val="0"/>
          <c:extLst>
            <c:ext xmlns:c16="http://schemas.microsoft.com/office/drawing/2014/chart" uri="{C3380CC4-5D6E-409C-BE32-E72D297353CC}">
              <c16:uniqueId val="{0000000F-96F4-9648-A147-F9769DAF7605}"/>
            </c:ext>
          </c:extLst>
        </c:ser>
        <c:dLbls>
          <c:showLegendKey val="0"/>
          <c:showVal val="0"/>
          <c:showCatName val="0"/>
          <c:showSerName val="0"/>
          <c:showPercent val="0"/>
          <c:showBubbleSize val="0"/>
        </c:dLbls>
        <c:marker val="1"/>
        <c:smooth val="0"/>
        <c:axId val="1696374703"/>
        <c:axId val="1696344063"/>
      </c:lineChart>
      <c:catAx>
        <c:axId val="1696374703"/>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0" spcFirstLastPara="1" vertOverflow="ellipsis" wrap="square" anchor="ctr" anchorCtr="1"/>
          <a:lstStyle/>
          <a:p>
            <a:pPr>
              <a:defRPr sz="1197" b="0" i="0" u="none" strike="noStrike" kern="1200" baseline="0">
                <a:solidFill>
                  <a:schemeClr val="tx2"/>
                </a:solidFill>
                <a:latin typeface="+mn-lt"/>
                <a:ea typeface="+mn-ea"/>
                <a:cs typeface="+mn-cs"/>
              </a:defRPr>
            </a:pPr>
            <a:endParaRPr lang="en-NL"/>
          </a:p>
        </c:txPr>
        <c:crossAx val="1696344063"/>
        <c:crosses val="autoZero"/>
        <c:auto val="1"/>
        <c:lblAlgn val="ctr"/>
        <c:lblOffset val="10"/>
        <c:noMultiLvlLbl val="0"/>
      </c:catAx>
      <c:valAx>
        <c:axId val="1696344063"/>
        <c:scaling>
          <c:orientation val="minMax"/>
        </c:scaling>
        <c:delete val="1"/>
        <c:axPos val="l"/>
        <c:numFmt formatCode="General" sourceLinked="1"/>
        <c:majorTickMark val="none"/>
        <c:minorTickMark val="none"/>
        <c:tickLblPos val="nextTo"/>
        <c:crossAx val="1696374703"/>
        <c:crosses val="autoZero"/>
        <c:crossBetween val="between"/>
      </c:valAx>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951134644002104E-2"/>
          <c:y val="6.0593337595541856E-2"/>
          <c:w val="0.91209773071199585"/>
          <c:h val="0.6561842072162023"/>
        </c:manualLayout>
      </c:layout>
      <c:barChart>
        <c:barDir val="col"/>
        <c:grouping val="stacked"/>
        <c:varyColors val="0"/>
        <c:ser>
          <c:idx val="0"/>
          <c:order val="0"/>
          <c:tx>
            <c:strRef>
              <c:f>Sheet1!$B$1</c:f>
              <c:strCache>
                <c:ptCount val="1"/>
                <c:pt idx="0">
                  <c:v>at most 30 days</c:v>
                </c:pt>
              </c:strCache>
            </c:strRef>
          </c:tx>
          <c:spPr>
            <a:solidFill>
              <a:srgbClr val="40C360"/>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Sheet1!$B$2:$B$13</c:f>
              <c:numCache>
                <c:formatCode>General</c:formatCode>
                <c:ptCount val="12"/>
                <c:pt idx="0">
                  <c:v>7</c:v>
                </c:pt>
                <c:pt idx="1">
                  <c:v>1</c:v>
                </c:pt>
                <c:pt idx="2">
                  <c:v>2</c:v>
                </c:pt>
                <c:pt idx="3">
                  <c:v>24</c:v>
                </c:pt>
                <c:pt idx="4">
                  <c:v>39</c:v>
                </c:pt>
                <c:pt idx="5">
                  <c:v>5</c:v>
                </c:pt>
                <c:pt idx="6">
                  <c:v>5</c:v>
                </c:pt>
                <c:pt idx="7">
                  <c:v>11</c:v>
                </c:pt>
                <c:pt idx="8">
                  <c:v>2</c:v>
                </c:pt>
                <c:pt idx="9">
                  <c:v>11</c:v>
                </c:pt>
                <c:pt idx="10">
                  <c:v>6</c:v>
                </c:pt>
                <c:pt idx="11">
                  <c:v>104</c:v>
                </c:pt>
              </c:numCache>
            </c:numRef>
          </c:val>
          <c:extLst>
            <c:ext xmlns:c16="http://schemas.microsoft.com/office/drawing/2014/chart" uri="{C3380CC4-5D6E-409C-BE32-E72D297353CC}">
              <c16:uniqueId val="{00000000-1F71-2347-B18D-6B630A307332}"/>
            </c:ext>
          </c:extLst>
        </c:ser>
        <c:ser>
          <c:idx val="1"/>
          <c:order val="1"/>
          <c:tx>
            <c:strRef>
              <c:f>Sheet1!$C$1</c:f>
              <c:strCache>
                <c:ptCount val="1"/>
                <c:pt idx="0">
                  <c:v>between 30 and 180 days</c:v>
                </c:pt>
              </c:strCache>
            </c:strRef>
          </c:tx>
          <c:spPr>
            <a:solidFill>
              <a:srgbClr val="39A498"/>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Sheet1!$C$2:$C$13</c:f>
              <c:numCache>
                <c:formatCode>General</c:formatCode>
                <c:ptCount val="12"/>
                <c:pt idx="0">
                  <c:v>72</c:v>
                </c:pt>
                <c:pt idx="1">
                  <c:v>35</c:v>
                </c:pt>
                <c:pt idx="2">
                  <c:v>117</c:v>
                </c:pt>
                <c:pt idx="3">
                  <c:v>54</c:v>
                </c:pt>
                <c:pt idx="4">
                  <c:v>9</c:v>
                </c:pt>
                <c:pt idx="5">
                  <c:v>14</c:v>
                </c:pt>
                <c:pt idx="6">
                  <c:v>12</c:v>
                </c:pt>
                <c:pt idx="7">
                  <c:v>121</c:v>
                </c:pt>
                <c:pt idx="8">
                  <c:v>13</c:v>
                </c:pt>
                <c:pt idx="9">
                  <c:v>27</c:v>
                </c:pt>
                <c:pt idx="10">
                  <c:v>63</c:v>
                </c:pt>
                <c:pt idx="11">
                  <c:v>4</c:v>
                </c:pt>
              </c:numCache>
            </c:numRef>
          </c:val>
          <c:extLst>
            <c:ext xmlns:c16="http://schemas.microsoft.com/office/drawing/2014/chart" uri="{C3380CC4-5D6E-409C-BE32-E72D297353CC}">
              <c16:uniqueId val="{00000001-1F71-2347-B18D-6B630A307332}"/>
            </c:ext>
          </c:extLst>
        </c:ser>
        <c:ser>
          <c:idx val="2"/>
          <c:order val="2"/>
          <c:tx>
            <c:strRef>
              <c:f>Sheet1!$D$1</c:f>
              <c:strCache>
                <c:ptCount val="1"/>
                <c:pt idx="0">
                  <c:v>between 180 and 270 days</c:v>
                </c:pt>
              </c:strCache>
            </c:strRef>
          </c:tx>
          <c:spPr>
            <a:solidFill>
              <a:srgbClr val="358AC7"/>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Sheet1!$D$2:$D$13</c:f>
              <c:numCache>
                <c:formatCode>General</c:formatCode>
                <c:ptCount val="12"/>
                <c:pt idx="0">
                  <c:v>9</c:v>
                </c:pt>
                <c:pt idx="1">
                  <c:v>1</c:v>
                </c:pt>
                <c:pt idx="2">
                  <c:v>3</c:v>
                </c:pt>
                <c:pt idx="3">
                  <c:v>1</c:v>
                </c:pt>
                <c:pt idx="4">
                  <c:v>12</c:v>
                </c:pt>
                <c:pt idx="5">
                  <c:v>50</c:v>
                </c:pt>
                <c:pt idx="6">
                  <c:v>4</c:v>
                </c:pt>
                <c:pt idx="7">
                  <c:v>10</c:v>
                </c:pt>
                <c:pt idx="8">
                  <c:v>0</c:v>
                </c:pt>
                <c:pt idx="9">
                  <c:v>0</c:v>
                </c:pt>
                <c:pt idx="10">
                  <c:v>3</c:v>
                </c:pt>
                <c:pt idx="11">
                  <c:v>1</c:v>
                </c:pt>
              </c:numCache>
            </c:numRef>
          </c:val>
          <c:extLst>
            <c:ext xmlns:c16="http://schemas.microsoft.com/office/drawing/2014/chart" uri="{C3380CC4-5D6E-409C-BE32-E72D297353CC}">
              <c16:uniqueId val="{00000002-1F71-2347-B18D-6B630A307332}"/>
            </c:ext>
          </c:extLst>
        </c:ser>
        <c:ser>
          <c:idx val="3"/>
          <c:order val="3"/>
          <c:tx>
            <c:strRef>
              <c:f>Sheet1!$E$1</c:f>
              <c:strCache>
                <c:ptCount val="1"/>
                <c:pt idx="0">
                  <c:v>at least 270 days</c:v>
                </c:pt>
              </c:strCache>
            </c:strRef>
          </c:tx>
          <c:spPr>
            <a:solidFill>
              <a:srgbClr val="2D6BFF"/>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Sheet1!$E$2:$E$13</c:f>
              <c:numCache>
                <c:formatCode>General</c:formatCode>
                <c:ptCount val="12"/>
                <c:pt idx="0">
                  <c:v>48</c:v>
                </c:pt>
                <c:pt idx="1">
                  <c:v>59</c:v>
                </c:pt>
                <c:pt idx="2">
                  <c:v>18</c:v>
                </c:pt>
                <c:pt idx="3">
                  <c:v>24</c:v>
                </c:pt>
                <c:pt idx="4">
                  <c:v>31</c:v>
                </c:pt>
                <c:pt idx="5">
                  <c:v>113</c:v>
                </c:pt>
                <c:pt idx="6">
                  <c:v>53</c:v>
                </c:pt>
                <c:pt idx="7">
                  <c:v>143</c:v>
                </c:pt>
                <c:pt idx="8">
                  <c:v>29</c:v>
                </c:pt>
                <c:pt idx="9">
                  <c:v>14</c:v>
                </c:pt>
                <c:pt idx="10">
                  <c:v>176</c:v>
                </c:pt>
                <c:pt idx="11">
                  <c:v>13</c:v>
                </c:pt>
              </c:numCache>
            </c:numRef>
          </c:val>
          <c:extLst>
            <c:ext xmlns:c16="http://schemas.microsoft.com/office/drawing/2014/chart" uri="{C3380CC4-5D6E-409C-BE32-E72D297353CC}">
              <c16:uniqueId val="{00000003-1F71-2347-B18D-6B630A307332}"/>
            </c:ext>
          </c:extLst>
        </c:ser>
        <c:dLbls>
          <c:showLegendKey val="0"/>
          <c:showVal val="0"/>
          <c:showCatName val="0"/>
          <c:showSerName val="0"/>
          <c:showPercent val="0"/>
          <c:showBubbleSize val="0"/>
        </c:dLbls>
        <c:gapWidth val="30"/>
        <c:overlap val="100"/>
        <c:axId val="1696374703"/>
        <c:axId val="1696344063"/>
      </c:barChart>
      <c:lineChart>
        <c:grouping val="standard"/>
        <c:varyColors val="0"/>
        <c:ser>
          <c:idx val="4"/>
          <c:order val="4"/>
          <c:tx>
            <c:strRef>
              <c:f>Sheet1!$F$1</c:f>
              <c:strCache>
                <c:ptCount val="1"/>
                <c:pt idx="0">
                  <c:v>Total</c:v>
                </c:pt>
              </c:strCache>
            </c:strRef>
          </c:tx>
          <c:spPr>
            <a:ln w="28575" cap="rnd">
              <a:noFill/>
              <a:round/>
            </a:ln>
            <a:effectLst/>
          </c:spPr>
          <c:marker>
            <c:symbol val="none"/>
          </c:marker>
          <c:dLbls>
            <c:spPr>
              <a:noFill/>
              <a:ln>
                <a:noFill/>
              </a:ln>
              <a:effectLst/>
            </c:spPr>
            <c:txPr>
              <a:bodyPr rot="0" spcFirstLastPara="1" vertOverflow="overflow" horzOverflow="overflow" vert="horz" wrap="none" lIns="36576" tIns="18288" rIns="36576" bIns="18288" anchor="ctr" anchorCtr="1">
                <a:spAutoFit/>
              </a:bodyPr>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flowChartAlternateProcess">
                    <a:avLst/>
                  </a:prstGeom>
                  <a:noFill/>
                  <a:ln>
                    <a:noFill/>
                  </a:ln>
                </c15:spPr>
                <c15:showLeaderLines val="0"/>
              </c:ext>
            </c:extLst>
          </c:dLbls>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Sheet1!$F$2:$F$13</c:f>
              <c:numCache>
                <c:formatCode>General</c:formatCode>
                <c:ptCount val="12"/>
                <c:pt idx="0">
                  <c:v>136</c:v>
                </c:pt>
                <c:pt idx="1">
                  <c:v>96</c:v>
                </c:pt>
                <c:pt idx="2">
                  <c:v>140</c:v>
                </c:pt>
                <c:pt idx="3">
                  <c:v>103</c:v>
                </c:pt>
                <c:pt idx="4">
                  <c:v>91</c:v>
                </c:pt>
                <c:pt idx="5">
                  <c:v>182</c:v>
                </c:pt>
                <c:pt idx="6">
                  <c:v>74</c:v>
                </c:pt>
                <c:pt idx="7">
                  <c:v>285</c:v>
                </c:pt>
                <c:pt idx="8">
                  <c:v>44</c:v>
                </c:pt>
                <c:pt idx="9">
                  <c:v>52</c:v>
                </c:pt>
                <c:pt idx="10">
                  <c:v>248</c:v>
                </c:pt>
                <c:pt idx="11">
                  <c:v>122</c:v>
                </c:pt>
              </c:numCache>
            </c:numRef>
          </c:val>
          <c:smooth val="0"/>
          <c:extLst>
            <c:ext xmlns:c16="http://schemas.microsoft.com/office/drawing/2014/chart" uri="{C3380CC4-5D6E-409C-BE32-E72D297353CC}">
              <c16:uniqueId val="{00000004-1F71-2347-B18D-6B630A307332}"/>
            </c:ext>
          </c:extLst>
        </c:ser>
        <c:dLbls>
          <c:showLegendKey val="0"/>
          <c:showVal val="0"/>
          <c:showCatName val="0"/>
          <c:showSerName val="0"/>
          <c:showPercent val="0"/>
          <c:showBubbleSize val="0"/>
        </c:dLbls>
        <c:marker val="1"/>
        <c:smooth val="0"/>
        <c:axId val="1696374703"/>
        <c:axId val="1696344063"/>
      </c:lineChart>
      <c:catAx>
        <c:axId val="1696374703"/>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0" spcFirstLastPara="1" vertOverflow="ellipsis" wrap="square" anchor="ctr" anchorCtr="1"/>
          <a:lstStyle/>
          <a:p>
            <a:pPr>
              <a:defRPr sz="1197" b="0" i="0" u="none" strike="noStrike" kern="1200" baseline="0">
                <a:solidFill>
                  <a:schemeClr val="tx2"/>
                </a:solidFill>
                <a:latin typeface="+mn-lt"/>
                <a:ea typeface="+mn-ea"/>
                <a:cs typeface="+mn-cs"/>
              </a:defRPr>
            </a:pPr>
            <a:endParaRPr lang="en-NL"/>
          </a:p>
        </c:txPr>
        <c:crossAx val="1696344063"/>
        <c:crosses val="autoZero"/>
        <c:auto val="1"/>
        <c:lblAlgn val="ctr"/>
        <c:lblOffset val="10"/>
        <c:noMultiLvlLbl val="0"/>
      </c:catAx>
      <c:valAx>
        <c:axId val="1696344063"/>
        <c:scaling>
          <c:orientation val="minMax"/>
        </c:scaling>
        <c:delete val="1"/>
        <c:axPos val="l"/>
        <c:numFmt formatCode="General" sourceLinked="1"/>
        <c:majorTickMark val="none"/>
        <c:minorTickMark val="none"/>
        <c:tickLblPos val="nextTo"/>
        <c:crossAx val="1696374703"/>
        <c:crosses val="autoZero"/>
        <c:crossBetween val="between"/>
      </c:valAx>
      <c:spPr>
        <a:noFill/>
        <a:ln>
          <a:noFill/>
        </a:ln>
        <a:effectLst/>
      </c:spPr>
    </c:plotArea>
    <c:legend>
      <c:legendPos val="b"/>
      <c:legendEntry>
        <c:idx val="4"/>
        <c:delete val="1"/>
      </c:legendEntry>
      <c:layout>
        <c:manualLayout>
          <c:xMode val="edge"/>
          <c:yMode val="edge"/>
          <c:x val="0"/>
          <c:y val="0.83428871575955932"/>
          <c:w val="0.99589338467782274"/>
          <c:h val="0.1326603728246904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New</c:v>
                </c:pt>
              </c:strCache>
            </c:strRef>
          </c:tx>
          <c:spPr>
            <a:solidFill>
              <a:srgbClr val="2D6BFF"/>
            </a:solidFill>
            <a:ln>
              <a:noFill/>
            </a:ln>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Sheet1!$B$2:$B$36</c:f>
              <c:numCache>
                <c:formatCode>General</c:formatCode>
                <c:ptCount val="35"/>
                <c:pt idx="0">
                  <c:v>112</c:v>
                </c:pt>
                <c:pt idx="1">
                  <c:v>0</c:v>
                </c:pt>
                <c:pt idx="2">
                  <c:v>0</c:v>
                </c:pt>
                <c:pt idx="3">
                  <c:v>28</c:v>
                </c:pt>
                <c:pt idx="4">
                  <c:v>0</c:v>
                </c:pt>
                <c:pt idx="5">
                  <c:v>0</c:v>
                </c:pt>
                <c:pt idx="6">
                  <c:v>154</c:v>
                </c:pt>
                <c:pt idx="7">
                  <c:v>0</c:v>
                </c:pt>
                <c:pt idx="8">
                  <c:v>0</c:v>
                </c:pt>
                <c:pt idx="9">
                  <c:v>92</c:v>
                </c:pt>
                <c:pt idx="10">
                  <c:v>0</c:v>
                </c:pt>
                <c:pt idx="11">
                  <c:v>0</c:v>
                </c:pt>
                <c:pt idx="12">
                  <c:v>220</c:v>
                </c:pt>
                <c:pt idx="13">
                  <c:v>0</c:v>
                </c:pt>
                <c:pt idx="14">
                  <c:v>0</c:v>
                </c:pt>
                <c:pt idx="15">
                  <c:v>34</c:v>
                </c:pt>
                <c:pt idx="16">
                  <c:v>0</c:v>
                </c:pt>
                <c:pt idx="17">
                  <c:v>0</c:v>
                </c:pt>
                <c:pt idx="18">
                  <c:v>169</c:v>
                </c:pt>
                <c:pt idx="19">
                  <c:v>0</c:v>
                </c:pt>
                <c:pt idx="20">
                  <c:v>0</c:v>
                </c:pt>
                <c:pt idx="21">
                  <c:v>808</c:v>
                </c:pt>
                <c:pt idx="22">
                  <c:v>0</c:v>
                </c:pt>
                <c:pt idx="23">
                  <c:v>0</c:v>
                </c:pt>
                <c:pt idx="24">
                  <c:v>36</c:v>
                </c:pt>
                <c:pt idx="25">
                  <c:v>0</c:v>
                </c:pt>
                <c:pt idx="26">
                  <c:v>0</c:v>
                </c:pt>
                <c:pt idx="27">
                  <c:v>149</c:v>
                </c:pt>
                <c:pt idx="28">
                  <c:v>0</c:v>
                </c:pt>
                <c:pt idx="29">
                  <c:v>0</c:v>
                </c:pt>
                <c:pt idx="30">
                  <c:v>1490</c:v>
                </c:pt>
                <c:pt idx="31">
                  <c:v>0</c:v>
                </c:pt>
                <c:pt idx="32">
                  <c:v>0</c:v>
                </c:pt>
                <c:pt idx="33">
                  <c:v>81</c:v>
                </c:pt>
                <c:pt idx="34">
                  <c:v>0</c:v>
                </c:pt>
              </c:numCache>
            </c:numRef>
          </c:val>
          <c:extLst>
            <c:ext xmlns:c16="http://schemas.microsoft.com/office/drawing/2014/chart" uri="{C3380CC4-5D6E-409C-BE32-E72D297353CC}">
              <c16:uniqueId val="{00000000-3E51-4E42-8C00-A948DC2E75DF}"/>
            </c:ext>
          </c:extLst>
        </c:ser>
        <c:ser>
          <c:idx val="1"/>
          <c:order val="1"/>
          <c:tx>
            <c:strRef>
              <c:f>Sheet1!$C$1</c:f>
              <c:strCache>
                <c:ptCount val="1"/>
                <c:pt idx="0">
                  <c:v>Existing</c:v>
                </c:pt>
              </c:strCache>
            </c:strRef>
          </c:tx>
          <c:spPr>
            <a:solidFill>
              <a:srgbClr val="B6C4FF"/>
            </a:solidFill>
            <a:ln>
              <a:noFill/>
            </a:ln>
            <a:effectLst>
              <a:outerShdw blurRad="50800" dist="50800" dir="5400000" algn="ctr" rotWithShape="0">
                <a:srgbClr val="B6C4FF"/>
              </a:outerShdw>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Sheet1!$C$2:$C$36</c:f>
              <c:numCache>
                <c:formatCode>General</c:formatCode>
                <c:ptCount val="35"/>
                <c:pt idx="0">
                  <c:v>7680</c:v>
                </c:pt>
                <c:pt idx="1">
                  <c:v>0</c:v>
                </c:pt>
                <c:pt idx="2">
                  <c:v>0</c:v>
                </c:pt>
                <c:pt idx="3">
                  <c:v>7696</c:v>
                </c:pt>
                <c:pt idx="4">
                  <c:v>0</c:v>
                </c:pt>
                <c:pt idx="5">
                  <c:v>0</c:v>
                </c:pt>
                <c:pt idx="6">
                  <c:v>7585</c:v>
                </c:pt>
                <c:pt idx="7">
                  <c:v>0</c:v>
                </c:pt>
                <c:pt idx="8">
                  <c:v>0</c:v>
                </c:pt>
                <c:pt idx="9">
                  <c:v>7658</c:v>
                </c:pt>
                <c:pt idx="10">
                  <c:v>0</c:v>
                </c:pt>
                <c:pt idx="11">
                  <c:v>0</c:v>
                </c:pt>
                <c:pt idx="12">
                  <c:v>7682</c:v>
                </c:pt>
                <c:pt idx="13">
                  <c:v>0</c:v>
                </c:pt>
                <c:pt idx="14">
                  <c:v>0</c:v>
                </c:pt>
                <c:pt idx="15">
                  <c:v>7723</c:v>
                </c:pt>
                <c:pt idx="16">
                  <c:v>0</c:v>
                </c:pt>
                <c:pt idx="17">
                  <c:v>0</c:v>
                </c:pt>
                <c:pt idx="18">
                  <c:v>7688</c:v>
                </c:pt>
                <c:pt idx="19">
                  <c:v>0</c:v>
                </c:pt>
                <c:pt idx="20">
                  <c:v>0</c:v>
                </c:pt>
                <c:pt idx="21">
                  <c:v>7581</c:v>
                </c:pt>
                <c:pt idx="22">
                  <c:v>0</c:v>
                </c:pt>
                <c:pt idx="23">
                  <c:v>0</c:v>
                </c:pt>
                <c:pt idx="24">
                  <c:v>8347</c:v>
                </c:pt>
                <c:pt idx="25">
                  <c:v>0</c:v>
                </c:pt>
                <c:pt idx="26">
                  <c:v>0</c:v>
                </c:pt>
                <c:pt idx="27">
                  <c:v>8341</c:v>
                </c:pt>
                <c:pt idx="28">
                  <c:v>0</c:v>
                </c:pt>
                <c:pt idx="29">
                  <c:v>0</c:v>
                </c:pt>
                <c:pt idx="30">
                  <c:v>8247</c:v>
                </c:pt>
                <c:pt idx="31">
                  <c:v>0</c:v>
                </c:pt>
                <c:pt idx="32">
                  <c:v>0</c:v>
                </c:pt>
                <c:pt idx="33">
                  <c:v>9626</c:v>
                </c:pt>
                <c:pt idx="34">
                  <c:v>0</c:v>
                </c:pt>
              </c:numCache>
            </c:numRef>
          </c:val>
          <c:extLst>
            <c:ext xmlns:c16="http://schemas.microsoft.com/office/drawing/2014/chart" uri="{C3380CC4-5D6E-409C-BE32-E72D297353CC}">
              <c16:uniqueId val="{00000001-3E51-4E42-8C00-A948DC2E75DF}"/>
            </c:ext>
          </c:extLst>
        </c:ser>
        <c:ser>
          <c:idx val="2"/>
          <c:order val="2"/>
          <c:tx>
            <c:strRef>
              <c:f>Sheet1!$D$1</c:f>
              <c:strCache>
                <c:ptCount val="1"/>
                <c:pt idx="0">
                  <c:v>Resolved</c:v>
                </c:pt>
              </c:strCache>
            </c:strRef>
          </c:tx>
          <c:spPr>
            <a:solidFill>
              <a:srgbClr val="40C360"/>
            </a:solidFill>
            <a:ln>
              <a:noFill/>
            </a:ln>
            <a:effectLst>
              <a:outerShdw blurRad="50800" dist="50800" dir="5400000" algn="ctr" rotWithShape="0">
                <a:srgbClr val="40C360"/>
              </a:outerShdw>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Sheet1!$D$2:$D$36</c:f>
              <c:numCache>
                <c:formatCode>General</c:formatCode>
                <c:ptCount val="35"/>
                <c:pt idx="0">
                  <c:v>0</c:v>
                </c:pt>
                <c:pt idx="1">
                  <c:v>136</c:v>
                </c:pt>
                <c:pt idx="2">
                  <c:v>0</c:v>
                </c:pt>
                <c:pt idx="3">
                  <c:v>0</c:v>
                </c:pt>
                <c:pt idx="4">
                  <c:v>96</c:v>
                </c:pt>
                <c:pt idx="5">
                  <c:v>0</c:v>
                </c:pt>
                <c:pt idx="6">
                  <c:v>0</c:v>
                </c:pt>
                <c:pt idx="7">
                  <c:v>140</c:v>
                </c:pt>
                <c:pt idx="8">
                  <c:v>0</c:v>
                </c:pt>
                <c:pt idx="9">
                  <c:v>0</c:v>
                </c:pt>
                <c:pt idx="10">
                  <c:v>103</c:v>
                </c:pt>
                <c:pt idx="11">
                  <c:v>0</c:v>
                </c:pt>
                <c:pt idx="12">
                  <c:v>0</c:v>
                </c:pt>
                <c:pt idx="13">
                  <c:v>91</c:v>
                </c:pt>
                <c:pt idx="14">
                  <c:v>0</c:v>
                </c:pt>
                <c:pt idx="15">
                  <c:v>0</c:v>
                </c:pt>
                <c:pt idx="16">
                  <c:v>182</c:v>
                </c:pt>
                <c:pt idx="17">
                  <c:v>0</c:v>
                </c:pt>
                <c:pt idx="18">
                  <c:v>0</c:v>
                </c:pt>
                <c:pt idx="19">
                  <c:v>74</c:v>
                </c:pt>
                <c:pt idx="20">
                  <c:v>0</c:v>
                </c:pt>
                <c:pt idx="21">
                  <c:v>0</c:v>
                </c:pt>
                <c:pt idx="22">
                  <c:v>285</c:v>
                </c:pt>
                <c:pt idx="23">
                  <c:v>0</c:v>
                </c:pt>
                <c:pt idx="24">
                  <c:v>0</c:v>
                </c:pt>
                <c:pt idx="25">
                  <c:v>44</c:v>
                </c:pt>
                <c:pt idx="26">
                  <c:v>0</c:v>
                </c:pt>
                <c:pt idx="27">
                  <c:v>0</c:v>
                </c:pt>
                <c:pt idx="28">
                  <c:v>52</c:v>
                </c:pt>
                <c:pt idx="29">
                  <c:v>0</c:v>
                </c:pt>
                <c:pt idx="30">
                  <c:v>0</c:v>
                </c:pt>
                <c:pt idx="31">
                  <c:v>248</c:v>
                </c:pt>
                <c:pt idx="32">
                  <c:v>0</c:v>
                </c:pt>
                <c:pt idx="33">
                  <c:v>0</c:v>
                </c:pt>
                <c:pt idx="34">
                  <c:v>122</c:v>
                </c:pt>
              </c:numCache>
            </c:numRef>
          </c:val>
          <c:extLst>
            <c:ext xmlns:c16="http://schemas.microsoft.com/office/drawing/2014/chart" uri="{C3380CC4-5D6E-409C-BE32-E72D297353CC}">
              <c16:uniqueId val="{00000002-3E51-4E42-8C00-A948DC2E75DF}"/>
            </c:ext>
          </c:extLst>
        </c:ser>
        <c:dLbls>
          <c:showLegendKey val="0"/>
          <c:showVal val="0"/>
          <c:showCatName val="0"/>
          <c:showSerName val="0"/>
          <c:showPercent val="0"/>
          <c:showBubbleSize val="0"/>
        </c:dLbls>
        <c:gapWidth val="20"/>
        <c:overlap val="100"/>
        <c:axId val="1696374703"/>
        <c:axId val="1696344063"/>
      </c:barChart>
      <c:lineChart>
        <c:grouping val="standard"/>
        <c:varyColors val="0"/>
        <c:ser>
          <c:idx val="4"/>
          <c:order val="3"/>
          <c:tx>
            <c:strRef>
              <c:f>Sheet1!$E$1</c:f>
              <c:strCache>
                <c:ptCount val="1"/>
                <c:pt idx="0">
                  <c:v>Total</c:v>
                </c:pt>
              </c:strCache>
            </c:strRef>
          </c:tx>
          <c:spPr>
            <a:ln w="28575" cap="rnd">
              <a:noFill/>
              <a:round/>
            </a:ln>
            <a:effectLst/>
          </c:spPr>
          <c:marker>
            <c:symbol val="none"/>
          </c:marker>
          <c:dLbls>
            <c:dLbl>
              <c:idx val="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E51-4E42-8C00-A948DC2E75DF}"/>
                </c:ext>
              </c:extLst>
            </c:dLbl>
            <c:dLbl>
              <c:idx val="2"/>
              <c:delete val="1"/>
              <c:extLst>
                <c:ext xmlns:c15="http://schemas.microsoft.com/office/drawing/2012/chart" uri="{CE6537A1-D6FC-4f65-9D91-7224C49458BB}"/>
                <c:ext xmlns:c16="http://schemas.microsoft.com/office/drawing/2014/chart" uri="{C3380CC4-5D6E-409C-BE32-E72D297353CC}">
                  <c16:uniqueId val="{00000004-3E51-4E42-8C00-A948DC2E75DF}"/>
                </c:ext>
              </c:extLst>
            </c:dLbl>
            <c:dLbl>
              <c:idx val="5"/>
              <c:delete val="1"/>
              <c:extLst>
                <c:ext xmlns:c15="http://schemas.microsoft.com/office/drawing/2012/chart" uri="{CE6537A1-D6FC-4f65-9D91-7224C49458BB}"/>
                <c:ext xmlns:c16="http://schemas.microsoft.com/office/drawing/2014/chart" uri="{C3380CC4-5D6E-409C-BE32-E72D297353CC}">
                  <c16:uniqueId val="{00000005-3E51-4E42-8C00-A948DC2E75DF}"/>
                </c:ext>
              </c:extLst>
            </c:dLbl>
            <c:dLbl>
              <c:idx val="8"/>
              <c:delete val="1"/>
              <c:extLst>
                <c:ext xmlns:c15="http://schemas.microsoft.com/office/drawing/2012/chart" uri="{CE6537A1-D6FC-4f65-9D91-7224C49458BB}"/>
                <c:ext xmlns:c16="http://schemas.microsoft.com/office/drawing/2014/chart" uri="{C3380CC4-5D6E-409C-BE32-E72D297353CC}">
                  <c16:uniqueId val="{00000006-3E51-4E42-8C00-A948DC2E75DF}"/>
                </c:ext>
              </c:extLst>
            </c:dLbl>
            <c:dLbl>
              <c:idx val="11"/>
              <c:delete val="1"/>
              <c:extLst>
                <c:ext xmlns:c15="http://schemas.microsoft.com/office/drawing/2012/chart" uri="{CE6537A1-D6FC-4f65-9D91-7224C49458BB}"/>
                <c:ext xmlns:c16="http://schemas.microsoft.com/office/drawing/2014/chart" uri="{C3380CC4-5D6E-409C-BE32-E72D297353CC}">
                  <c16:uniqueId val="{00000007-3E51-4E42-8C00-A948DC2E75DF}"/>
                </c:ext>
              </c:extLst>
            </c:dLbl>
            <c:dLbl>
              <c:idx val="14"/>
              <c:delete val="1"/>
              <c:extLst>
                <c:ext xmlns:c15="http://schemas.microsoft.com/office/drawing/2012/chart" uri="{CE6537A1-D6FC-4f65-9D91-7224C49458BB}"/>
                <c:ext xmlns:c16="http://schemas.microsoft.com/office/drawing/2014/chart" uri="{C3380CC4-5D6E-409C-BE32-E72D297353CC}">
                  <c16:uniqueId val="{00000008-3E51-4E42-8C00-A948DC2E75DF}"/>
                </c:ext>
              </c:extLst>
            </c:dLbl>
            <c:dLbl>
              <c:idx val="17"/>
              <c:delete val="1"/>
              <c:extLst>
                <c:ext xmlns:c15="http://schemas.microsoft.com/office/drawing/2012/chart" uri="{CE6537A1-D6FC-4f65-9D91-7224C49458BB}"/>
                <c:ext xmlns:c16="http://schemas.microsoft.com/office/drawing/2014/chart" uri="{C3380CC4-5D6E-409C-BE32-E72D297353CC}">
                  <c16:uniqueId val="{00000009-3E51-4E42-8C00-A948DC2E75DF}"/>
                </c:ext>
              </c:extLst>
            </c:dLbl>
            <c:dLbl>
              <c:idx val="20"/>
              <c:delete val="1"/>
              <c:extLst>
                <c:ext xmlns:c15="http://schemas.microsoft.com/office/drawing/2012/chart" uri="{CE6537A1-D6FC-4f65-9D91-7224C49458BB}"/>
                <c:ext xmlns:c16="http://schemas.microsoft.com/office/drawing/2014/chart" uri="{C3380CC4-5D6E-409C-BE32-E72D297353CC}">
                  <c16:uniqueId val="{0000000A-3E51-4E42-8C00-A948DC2E75DF}"/>
                </c:ext>
              </c:extLst>
            </c:dLbl>
            <c:dLbl>
              <c:idx val="23"/>
              <c:delete val="1"/>
              <c:extLst>
                <c:ext xmlns:c15="http://schemas.microsoft.com/office/drawing/2012/chart" uri="{CE6537A1-D6FC-4f65-9D91-7224C49458BB}"/>
                <c:ext xmlns:c16="http://schemas.microsoft.com/office/drawing/2014/chart" uri="{C3380CC4-5D6E-409C-BE32-E72D297353CC}">
                  <c16:uniqueId val="{0000000B-3E51-4E42-8C00-A948DC2E75DF}"/>
                </c:ext>
              </c:extLst>
            </c:dLbl>
            <c:dLbl>
              <c:idx val="26"/>
              <c:delete val="1"/>
              <c:extLst>
                <c:ext xmlns:c15="http://schemas.microsoft.com/office/drawing/2012/chart" uri="{CE6537A1-D6FC-4f65-9D91-7224C49458BB}"/>
                <c:ext xmlns:c16="http://schemas.microsoft.com/office/drawing/2014/chart" uri="{C3380CC4-5D6E-409C-BE32-E72D297353CC}">
                  <c16:uniqueId val="{0000000C-3E51-4E42-8C00-A948DC2E75DF}"/>
                </c:ext>
              </c:extLst>
            </c:dLbl>
            <c:dLbl>
              <c:idx val="29"/>
              <c:delete val="1"/>
              <c:extLst>
                <c:ext xmlns:c15="http://schemas.microsoft.com/office/drawing/2012/chart" uri="{CE6537A1-D6FC-4f65-9D91-7224C49458BB}"/>
                <c:ext xmlns:c16="http://schemas.microsoft.com/office/drawing/2014/chart" uri="{C3380CC4-5D6E-409C-BE32-E72D297353CC}">
                  <c16:uniqueId val="{0000000D-3E51-4E42-8C00-A948DC2E75DF}"/>
                </c:ext>
              </c:extLst>
            </c:dLbl>
            <c:dLbl>
              <c:idx val="32"/>
              <c:delete val="1"/>
              <c:extLst>
                <c:ext xmlns:c15="http://schemas.microsoft.com/office/drawing/2012/chart" uri="{CE6537A1-D6FC-4f65-9D91-7224C49458BB}"/>
                <c:ext xmlns:c16="http://schemas.microsoft.com/office/drawing/2014/chart" uri="{C3380CC4-5D6E-409C-BE32-E72D297353CC}">
                  <c16:uniqueId val="{0000000E-3E51-4E42-8C00-A948DC2E75DF}"/>
                </c:ext>
              </c:extLst>
            </c:dLbl>
            <c:spPr>
              <a:noFill/>
              <a:ln>
                <a:noFill/>
              </a:ln>
              <a:effectLst/>
            </c:spPr>
            <c:txPr>
              <a:bodyPr rot="0" spcFirstLastPara="1" vertOverflow="overflow" horzOverflow="overflow" vert="horz" wrap="none" lIns="36576" tIns="18288" rIns="36576" bIns="18288" anchor="ctr" anchorCtr="1">
                <a:spAutoFit/>
              </a:bodyPr>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flowChartAlternateProcess">
                    <a:avLst/>
                  </a:prstGeom>
                  <a:noFill/>
                  <a:ln>
                    <a:noFill/>
                  </a:ln>
                </c15:spPr>
                <c15:showLeaderLines val="0"/>
              </c:ext>
            </c:extLst>
          </c:dLbls>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Sheet1!$E$2:$E$36</c:f>
              <c:numCache>
                <c:formatCode>General</c:formatCode>
                <c:ptCount val="35"/>
                <c:pt idx="0">
                  <c:v>7792</c:v>
                </c:pt>
                <c:pt idx="1">
                  <c:v>136</c:v>
                </c:pt>
                <c:pt idx="2">
                  <c:v>0</c:v>
                </c:pt>
                <c:pt idx="3">
                  <c:v>7724</c:v>
                </c:pt>
                <c:pt idx="4">
                  <c:v>96</c:v>
                </c:pt>
                <c:pt idx="5">
                  <c:v>0</c:v>
                </c:pt>
                <c:pt idx="6">
                  <c:v>7739</c:v>
                </c:pt>
                <c:pt idx="7">
                  <c:v>140</c:v>
                </c:pt>
                <c:pt idx="8">
                  <c:v>0</c:v>
                </c:pt>
                <c:pt idx="9">
                  <c:v>7750</c:v>
                </c:pt>
                <c:pt idx="10">
                  <c:v>103</c:v>
                </c:pt>
                <c:pt idx="11">
                  <c:v>0</c:v>
                </c:pt>
                <c:pt idx="12">
                  <c:v>7902</c:v>
                </c:pt>
                <c:pt idx="13">
                  <c:v>91</c:v>
                </c:pt>
                <c:pt idx="14">
                  <c:v>0</c:v>
                </c:pt>
                <c:pt idx="15">
                  <c:v>7757</c:v>
                </c:pt>
                <c:pt idx="16">
                  <c:v>182</c:v>
                </c:pt>
                <c:pt idx="17">
                  <c:v>0</c:v>
                </c:pt>
                <c:pt idx="18">
                  <c:v>7857</c:v>
                </c:pt>
                <c:pt idx="19">
                  <c:v>74</c:v>
                </c:pt>
                <c:pt idx="20">
                  <c:v>0</c:v>
                </c:pt>
                <c:pt idx="21">
                  <c:v>8389</c:v>
                </c:pt>
                <c:pt idx="22">
                  <c:v>285</c:v>
                </c:pt>
                <c:pt idx="23">
                  <c:v>0</c:v>
                </c:pt>
                <c:pt idx="24">
                  <c:v>8383</c:v>
                </c:pt>
                <c:pt idx="25">
                  <c:v>44</c:v>
                </c:pt>
                <c:pt idx="26">
                  <c:v>0</c:v>
                </c:pt>
                <c:pt idx="27">
                  <c:v>8490</c:v>
                </c:pt>
                <c:pt idx="28">
                  <c:v>52</c:v>
                </c:pt>
                <c:pt idx="29">
                  <c:v>0</c:v>
                </c:pt>
                <c:pt idx="30">
                  <c:v>9737</c:v>
                </c:pt>
                <c:pt idx="31">
                  <c:v>248</c:v>
                </c:pt>
                <c:pt idx="32">
                  <c:v>0</c:v>
                </c:pt>
                <c:pt idx="33">
                  <c:v>9707</c:v>
                </c:pt>
                <c:pt idx="34">
                  <c:v>122</c:v>
                </c:pt>
              </c:numCache>
            </c:numRef>
          </c:val>
          <c:smooth val="0"/>
          <c:extLst>
            <c:ext xmlns:c16="http://schemas.microsoft.com/office/drawing/2014/chart" uri="{C3380CC4-5D6E-409C-BE32-E72D297353CC}">
              <c16:uniqueId val="{0000000F-3E51-4E42-8C00-A948DC2E75DF}"/>
            </c:ext>
          </c:extLst>
        </c:ser>
        <c:dLbls>
          <c:showLegendKey val="0"/>
          <c:showVal val="0"/>
          <c:showCatName val="0"/>
          <c:showSerName val="0"/>
          <c:showPercent val="0"/>
          <c:showBubbleSize val="0"/>
        </c:dLbls>
        <c:marker val="1"/>
        <c:smooth val="0"/>
        <c:axId val="1696374703"/>
        <c:axId val="1696344063"/>
      </c:lineChart>
      <c:catAx>
        <c:axId val="1696374703"/>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0" spcFirstLastPara="1" vertOverflow="ellipsis" wrap="square" anchor="ctr" anchorCtr="1"/>
          <a:lstStyle/>
          <a:p>
            <a:pPr>
              <a:defRPr sz="1197" b="0" i="0" u="none" strike="noStrike" kern="1200" baseline="0">
                <a:solidFill>
                  <a:schemeClr val="tx2"/>
                </a:solidFill>
                <a:latin typeface="+mn-lt"/>
                <a:ea typeface="+mn-ea"/>
                <a:cs typeface="+mn-cs"/>
              </a:defRPr>
            </a:pPr>
            <a:endParaRPr lang="en-NL"/>
          </a:p>
        </c:txPr>
        <c:crossAx val="1696344063"/>
        <c:crosses val="autoZero"/>
        <c:auto val="1"/>
        <c:lblAlgn val="ctr"/>
        <c:lblOffset val="10"/>
        <c:noMultiLvlLbl val="0"/>
      </c:catAx>
      <c:valAx>
        <c:axId val="1696344063"/>
        <c:scaling>
          <c:orientation val="minMax"/>
        </c:scaling>
        <c:delete val="1"/>
        <c:axPos val="l"/>
        <c:numFmt formatCode="General" sourceLinked="1"/>
        <c:majorTickMark val="none"/>
        <c:minorTickMark val="none"/>
        <c:tickLblPos val="nextTo"/>
        <c:crossAx val="1696374703"/>
        <c:crosses val="autoZero"/>
        <c:crossBetween val="between"/>
      </c:valAx>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New</c:v>
                </c:pt>
              </c:strCache>
            </c:strRef>
          </c:tx>
          <c:spPr>
            <a:solidFill>
              <a:srgbClr val="2D6BFF"/>
            </a:solidFill>
            <a:ln>
              <a:noFill/>
            </a:ln>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Sheet1!$B$2:$B$36</c:f>
              <c:numCache>
                <c:formatCode>General</c:formatCode>
                <c:ptCount val="35"/>
                <c:pt idx="0">
                  <c:v>216</c:v>
                </c:pt>
                <c:pt idx="1">
                  <c:v>0</c:v>
                </c:pt>
                <c:pt idx="2">
                  <c:v>0</c:v>
                </c:pt>
                <c:pt idx="3">
                  <c:v>2</c:v>
                </c:pt>
                <c:pt idx="4">
                  <c:v>0</c:v>
                </c:pt>
                <c:pt idx="5">
                  <c:v>0</c:v>
                </c:pt>
                <c:pt idx="6">
                  <c:v>8</c:v>
                </c:pt>
                <c:pt idx="7">
                  <c:v>0</c:v>
                </c:pt>
                <c:pt idx="8">
                  <c:v>0</c:v>
                </c:pt>
                <c:pt idx="9">
                  <c:v>179</c:v>
                </c:pt>
                <c:pt idx="10">
                  <c:v>0</c:v>
                </c:pt>
                <c:pt idx="11">
                  <c:v>0</c:v>
                </c:pt>
                <c:pt idx="12">
                  <c:v>109</c:v>
                </c:pt>
                <c:pt idx="13">
                  <c:v>0</c:v>
                </c:pt>
                <c:pt idx="14">
                  <c:v>0</c:v>
                </c:pt>
                <c:pt idx="15">
                  <c:v>5</c:v>
                </c:pt>
                <c:pt idx="16">
                  <c:v>0</c:v>
                </c:pt>
                <c:pt idx="17">
                  <c:v>0</c:v>
                </c:pt>
                <c:pt idx="18">
                  <c:v>17</c:v>
                </c:pt>
                <c:pt idx="19">
                  <c:v>0</c:v>
                </c:pt>
                <c:pt idx="20">
                  <c:v>0</c:v>
                </c:pt>
                <c:pt idx="21">
                  <c:v>139</c:v>
                </c:pt>
                <c:pt idx="22">
                  <c:v>0</c:v>
                </c:pt>
                <c:pt idx="23">
                  <c:v>0</c:v>
                </c:pt>
                <c:pt idx="24">
                  <c:v>25</c:v>
                </c:pt>
                <c:pt idx="25">
                  <c:v>0</c:v>
                </c:pt>
                <c:pt idx="26">
                  <c:v>0</c:v>
                </c:pt>
                <c:pt idx="27">
                  <c:v>15</c:v>
                </c:pt>
                <c:pt idx="28">
                  <c:v>0</c:v>
                </c:pt>
                <c:pt idx="29">
                  <c:v>0</c:v>
                </c:pt>
                <c:pt idx="30">
                  <c:v>657</c:v>
                </c:pt>
                <c:pt idx="31">
                  <c:v>0</c:v>
                </c:pt>
                <c:pt idx="32">
                  <c:v>0</c:v>
                </c:pt>
                <c:pt idx="33">
                  <c:v>15</c:v>
                </c:pt>
                <c:pt idx="34">
                  <c:v>0</c:v>
                </c:pt>
              </c:numCache>
            </c:numRef>
          </c:val>
          <c:extLst>
            <c:ext xmlns:c16="http://schemas.microsoft.com/office/drawing/2014/chart" uri="{C3380CC4-5D6E-409C-BE32-E72D297353CC}">
              <c16:uniqueId val="{00000000-B586-A04E-8798-76AFBDCDFE8A}"/>
            </c:ext>
          </c:extLst>
        </c:ser>
        <c:ser>
          <c:idx val="1"/>
          <c:order val="1"/>
          <c:tx>
            <c:strRef>
              <c:f>Sheet1!$C$1</c:f>
              <c:strCache>
                <c:ptCount val="1"/>
                <c:pt idx="0">
                  <c:v>Existing</c:v>
                </c:pt>
              </c:strCache>
            </c:strRef>
          </c:tx>
          <c:spPr>
            <a:solidFill>
              <a:srgbClr val="B6C4FF"/>
            </a:solidFill>
            <a:ln>
              <a:noFill/>
            </a:ln>
            <a:effectLst>
              <a:outerShdw blurRad="50800" dist="50800" dir="5400000" algn="ctr" rotWithShape="0">
                <a:srgbClr val="B6C4FF"/>
              </a:outerShdw>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Sheet1!$C$2:$C$36</c:f>
              <c:numCache>
                <c:formatCode>General</c:formatCode>
                <c:ptCount val="35"/>
                <c:pt idx="0">
                  <c:v>2001</c:v>
                </c:pt>
                <c:pt idx="1">
                  <c:v>0</c:v>
                </c:pt>
                <c:pt idx="2">
                  <c:v>0</c:v>
                </c:pt>
                <c:pt idx="3">
                  <c:v>2214</c:v>
                </c:pt>
                <c:pt idx="4">
                  <c:v>0</c:v>
                </c:pt>
                <c:pt idx="5">
                  <c:v>0</c:v>
                </c:pt>
                <c:pt idx="6">
                  <c:v>2213</c:v>
                </c:pt>
                <c:pt idx="7">
                  <c:v>0</c:v>
                </c:pt>
                <c:pt idx="8">
                  <c:v>0</c:v>
                </c:pt>
                <c:pt idx="9">
                  <c:v>2038</c:v>
                </c:pt>
                <c:pt idx="10">
                  <c:v>0</c:v>
                </c:pt>
                <c:pt idx="11">
                  <c:v>0</c:v>
                </c:pt>
                <c:pt idx="12">
                  <c:v>2189</c:v>
                </c:pt>
                <c:pt idx="13">
                  <c:v>0</c:v>
                </c:pt>
                <c:pt idx="14">
                  <c:v>0</c:v>
                </c:pt>
                <c:pt idx="15">
                  <c:v>2288</c:v>
                </c:pt>
                <c:pt idx="16">
                  <c:v>0</c:v>
                </c:pt>
                <c:pt idx="17">
                  <c:v>0</c:v>
                </c:pt>
                <c:pt idx="18">
                  <c:v>2263</c:v>
                </c:pt>
                <c:pt idx="19">
                  <c:v>0</c:v>
                </c:pt>
                <c:pt idx="20">
                  <c:v>0</c:v>
                </c:pt>
                <c:pt idx="21">
                  <c:v>2274</c:v>
                </c:pt>
                <c:pt idx="22">
                  <c:v>0</c:v>
                </c:pt>
                <c:pt idx="23">
                  <c:v>0</c:v>
                </c:pt>
                <c:pt idx="24">
                  <c:v>2400</c:v>
                </c:pt>
                <c:pt idx="25">
                  <c:v>0</c:v>
                </c:pt>
                <c:pt idx="26">
                  <c:v>0</c:v>
                </c:pt>
                <c:pt idx="27">
                  <c:v>2408</c:v>
                </c:pt>
                <c:pt idx="28">
                  <c:v>0</c:v>
                </c:pt>
                <c:pt idx="29">
                  <c:v>0</c:v>
                </c:pt>
                <c:pt idx="30">
                  <c:v>2111</c:v>
                </c:pt>
                <c:pt idx="31">
                  <c:v>0</c:v>
                </c:pt>
                <c:pt idx="32">
                  <c:v>0</c:v>
                </c:pt>
                <c:pt idx="33">
                  <c:v>2756</c:v>
                </c:pt>
                <c:pt idx="34">
                  <c:v>0</c:v>
                </c:pt>
              </c:numCache>
            </c:numRef>
          </c:val>
          <c:extLst>
            <c:ext xmlns:c16="http://schemas.microsoft.com/office/drawing/2014/chart" uri="{C3380CC4-5D6E-409C-BE32-E72D297353CC}">
              <c16:uniqueId val="{00000001-B586-A04E-8798-76AFBDCDFE8A}"/>
            </c:ext>
          </c:extLst>
        </c:ser>
        <c:ser>
          <c:idx val="2"/>
          <c:order val="2"/>
          <c:tx>
            <c:strRef>
              <c:f>Sheet1!$D$1</c:f>
              <c:strCache>
                <c:ptCount val="1"/>
                <c:pt idx="0">
                  <c:v>Resolved</c:v>
                </c:pt>
              </c:strCache>
            </c:strRef>
          </c:tx>
          <c:spPr>
            <a:solidFill>
              <a:srgbClr val="40C360"/>
            </a:solidFill>
            <a:ln>
              <a:noFill/>
            </a:ln>
            <a:effectLst>
              <a:outerShdw blurRad="50800" dist="50800" dir="5400000" algn="ctr" rotWithShape="0">
                <a:srgbClr val="40C360"/>
              </a:outerShdw>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Sheet1!$D$2:$D$36</c:f>
              <c:numCache>
                <c:formatCode>General</c:formatCode>
                <c:ptCount val="35"/>
                <c:pt idx="0">
                  <c:v>0</c:v>
                </c:pt>
                <c:pt idx="1">
                  <c:v>228</c:v>
                </c:pt>
                <c:pt idx="2">
                  <c:v>0</c:v>
                </c:pt>
                <c:pt idx="3">
                  <c:v>0</c:v>
                </c:pt>
                <c:pt idx="4">
                  <c:v>5</c:v>
                </c:pt>
                <c:pt idx="5">
                  <c:v>0</c:v>
                </c:pt>
                <c:pt idx="6">
                  <c:v>0</c:v>
                </c:pt>
                <c:pt idx="7">
                  <c:v>3</c:v>
                </c:pt>
                <c:pt idx="8">
                  <c:v>0</c:v>
                </c:pt>
                <c:pt idx="9">
                  <c:v>0</c:v>
                </c:pt>
                <c:pt idx="10">
                  <c:v>271</c:v>
                </c:pt>
                <c:pt idx="11">
                  <c:v>0</c:v>
                </c:pt>
                <c:pt idx="12">
                  <c:v>0</c:v>
                </c:pt>
                <c:pt idx="13">
                  <c:v>61</c:v>
                </c:pt>
                <c:pt idx="14">
                  <c:v>0</c:v>
                </c:pt>
                <c:pt idx="15">
                  <c:v>0</c:v>
                </c:pt>
                <c:pt idx="16">
                  <c:v>11</c:v>
                </c:pt>
                <c:pt idx="17">
                  <c:v>0</c:v>
                </c:pt>
                <c:pt idx="18">
                  <c:v>0</c:v>
                </c:pt>
                <c:pt idx="19">
                  <c:v>30</c:v>
                </c:pt>
                <c:pt idx="20">
                  <c:v>0</c:v>
                </c:pt>
                <c:pt idx="21">
                  <c:v>0</c:v>
                </c:pt>
                <c:pt idx="22">
                  <c:v>22</c:v>
                </c:pt>
                <c:pt idx="23">
                  <c:v>0</c:v>
                </c:pt>
                <c:pt idx="24">
                  <c:v>0</c:v>
                </c:pt>
                <c:pt idx="25">
                  <c:v>13</c:v>
                </c:pt>
                <c:pt idx="26">
                  <c:v>0</c:v>
                </c:pt>
                <c:pt idx="27">
                  <c:v>0</c:v>
                </c:pt>
                <c:pt idx="28">
                  <c:v>17</c:v>
                </c:pt>
                <c:pt idx="29">
                  <c:v>0</c:v>
                </c:pt>
                <c:pt idx="30">
                  <c:v>0</c:v>
                </c:pt>
                <c:pt idx="31">
                  <c:v>312</c:v>
                </c:pt>
                <c:pt idx="32">
                  <c:v>0</c:v>
                </c:pt>
                <c:pt idx="33">
                  <c:v>0</c:v>
                </c:pt>
                <c:pt idx="34">
                  <c:v>14</c:v>
                </c:pt>
              </c:numCache>
            </c:numRef>
          </c:val>
          <c:extLst>
            <c:ext xmlns:c16="http://schemas.microsoft.com/office/drawing/2014/chart" uri="{C3380CC4-5D6E-409C-BE32-E72D297353CC}">
              <c16:uniqueId val="{00000002-B586-A04E-8798-76AFBDCDFE8A}"/>
            </c:ext>
          </c:extLst>
        </c:ser>
        <c:dLbls>
          <c:showLegendKey val="0"/>
          <c:showVal val="0"/>
          <c:showCatName val="0"/>
          <c:showSerName val="0"/>
          <c:showPercent val="0"/>
          <c:showBubbleSize val="0"/>
        </c:dLbls>
        <c:gapWidth val="20"/>
        <c:overlap val="100"/>
        <c:axId val="1696374703"/>
        <c:axId val="1696344063"/>
      </c:barChart>
      <c:lineChart>
        <c:grouping val="standard"/>
        <c:varyColors val="0"/>
        <c:ser>
          <c:idx val="4"/>
          <c:order val="3"/>
          <c:tx>
            <c:strRef>
              <c:f>Sheet1!$E$1</c:f>
              <c:strCache>
                <c:ptCount val="1"/>
                <c:pt idx="0">
                  <c:v>Total</c:v>
                </c:pt>
              </c:strCache>
            </c:strRef>
          </c:tx>
          <c:spPr>
            <a:ln w="28575" cap="rnd">
              <a:noFill/>
              <a:round/>
            </a:ln>
            <a:effectLst/>
          </c:spPr>
          <c:marker>
            <c:symbol val="none"/>
          </c:marker>
          <c:dLbls>
            <c:dLbl>
              <c:idx val="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586-A04E-8798-76AFBDCDFE8A}"/>
                </c:ext>
              </c:extLst>
            </c:dLbl>
            <c:dLbl>
              <c:idx val="2"/>
              <c:delete val="1"/>
              <c:extLst>
                <c:ext xmlns:c15="http://schemas.microsoft.com/office/drawing/2012/chart" uri="{CE6537A1-D6FC-4f65-9D91-7224C49458BB}"/>
                <c:ext xmlns:c16="http://schemas.microsoft.com/office/drawing/2014/chart" uri="{C3380CC4-5D6E-409C-BE32-E72D297353CC}">
                  <c16:uniqueId val="{00000004-B586-A04E-8798-76AFBDCDFE8A}"/>
                </c:ext>
              </c:extLst>
            </c:dLbl>
            <c:dLbl>
              <c:idx val="5"/>
              <c:delete val="1"/>
              <c:extLst>
                <c:ext xmlns:c15="http://schemas.microsoft.com/office/drawing/2012/chart" uri="{CE6537A1-D6FC-4f65-9D91-7224C49458BB}"/>
                <c:ext xmlns:c16="http://schemas.microsoft.com/office/drawing/2014/chart" uri="{C3380CC4-5D6E-409C-BE32-E72D297353CC}">
                  <c16:uniqueId val="{00000005-B586-A04E-8798-76AFBDCDFE8A}"/>
                </c:ext>
              </c:extLst>
            </c:dLbl>
            <c:dLbl>
              <c:idx val="8"/>
              <c:delete val="1"/>
              <c:extLst>
                <c:ext xmlns:c15="http://schemas.microsoft.com/office/drawing/2012/chart" uri="{CE6537A1-D6FC-4f65-9D91-7224C49458BB}"/>
                <c:ext xmlns:c16="http://schemas.microsoft.com/office/drawing/2014/chart" uri="{C3380CC4-5D6E-409C-BE32-E72D297353CC}">
                  <c16:uniqueId val="{00000006-B586-A04E-8798-76AFBDCDFE8A}"/>
                </c:ext>
              </c:extLst>
            </c:dLbl>
            <c:dLbl>
              <c:idx val="11"/>
              <c:delete val="1"/>
              <c:extLst>
                <c:ext xmlns:c15="http://schemas.microsoft.com/office/drawing/2012/chart" uri="{CE6537A1-D6FC-4f65-9D91-7224C49458BB}"/>
                <c:ext xmlns:c16="http://schemas.microsoft.com/office/drawing/2014/chart" uri="{C3380CC4-5D6E-409C-BE32-E72D297353CC}">
                  <c16:uniqueId val="{00000007-B586-A04E-8798-76AFBDCDFE8A}"/>
                </c:ext>
              </c:extLst>
            </c:dLbl>
            <c:dLbl>
              <c:idx val="14"/>
              <c:delete val="1"/>
              <c:extLst>
                <c:ext xmlns:c15="http://schemas.microsoft.com/office/drawing/2012/chart" uri="{CE6537A1-D6FC-4f65-9D91-7224C49458BB}"/>
                <c:ext xmlns:c16="http://schemas.microsoft.com/office/drawing/2014/chart" uri="{C3380CC4-5D6E-409C-BE32-E72D297353CC}">
                  <c16:uniqueId val="{00000008-B586-A04E-8798-76AFBDCDFE8A}"/>
                </c:ext>
              </c:extLst>
            </c:dLbl>
            <c:dLbl>
              <c:idx val="17"/>
              <c:delete val="1"/>
              <c:extLst>
                <c:ext xmlns:c15="http://schemas.microsoft.com/office/drawing/2012/chart" uri="{CE6537A1-D6FC-4f65-9D91-7224C49458BB}"/>
                <c:ext xmlns:c16="http://schemas.microsoft.com/office/drawing/2014/chart" uri="{C3380CC4-5D6E-409C-BE32-E72D297353CC}">
                  <c16:uniqueId val="{00000009-B586-A04E-8798-76AFBDCDFE8A}"/>
                </c:ext>
              </c:extLst>
            </c:dLbl>
            <c:dLbl>
              <c:idx val="20"/>
              <c:delete val="1"/>
              <c:extLst>
                <c:ext xmlns:c15="http://schemas.microsoft.com/office/drawing/2012/chart" uri="{CE6537A1-D6FC-4f65-9D91-7224C49458BB}"/>
                <c:ext xmlns:c16="http://schemas.microsoft.com/office/drawing/2014/chart" uri="{C3380CC4-5D6E-409C-BE32-E72D297353CC}">
                  <c16:uniqueId val="{0000000A-B586-A04E-8798-76AFBDCDFE8A}"/>
                </c:ext>
              </c:extLst>
            </c:dLbl>
            <c:dLbl>
              <c:idx val="23"/>
              <c:delete val="1"/>
              <c:extLst>
                <c:ext xmlns:c15="http://schemas.microsoft.com/office/drawing/2012/chart" uri="{CE6537A1-D6FC-4f65-9D91-7224C49458BB}"/>
                <c:ext xmlns:c16="http://schemas.microsoft.com/office/drawing/2014/chart" uri="{C3380CC4-5D6E-409C-BE32-E72D297353CC}">
                  <c16:uniqueId val="{0000000B-B586-A04E-8798-76AFBDCDFE8A}"/>
                </c:ext>
              </c:extLst>
            </c:dLbl>
            <c:dLbl>
              <c:idx val="26"/>
              <c:delete val="1"/>
              <c:extLst>
                <c:ext xmlns:c15="http://schemas.microsoft.com/office/drawing/2012/chart" uri="{CE6537A1-D6FC-4f65-9D91-7224C49458BB}"/>
                <c:ext xmlns:c16="http://schemas.microsoft.com/office/drawing/2014/chart" uri="{C3380CC4-5D6E-409C-BE32-E72D297353CC}">
                  <c16:uniqueId val="{0000000C-B586-A04E-8798-76AFBDCDFE8A}"/>
                </c:ext>
              </c:extLst>
            </c:dLbl>
            <c:dLbl>
              <c:idx val="29"/>
              <c:delete val="1"/>
              <c:extLst>
                <c:ext xmlns:c15="http://schemas.microsoft.com/office/drawing/2012/chart" uri="{CE6537A1-D6FC-4f65-9D91-7224C49458BB}"/>
                <c:ext xmlns:c16="http://schemas.microsoft.com/office/drawing/2014/chart" uri="{C3380CC4-5D6E-409C-BE32-E72D297353CC}">
                  <c16:uniqueId val="{0000000D-B586-A04E-8798-76AFBDCDFE8A}"/>
                </c:ext>
              </c:extLst>
            </c:dLbl>
            <c:dLbl>
              <c:idx val="32"/>
              <c:delete val="1"/>
              <c:extLst>
                <c:ext xmlns:c15="http://schemas.microsoft.com/office/drawing/2012/chart" uri="{CE6537A1-D6FC-4f65-9D91-7224C49458BB}"/>
                <c:ext xmlns:c16="http://schemas.microsoft.com/office/drawing/2014/chart" uri="{C3380CC4-5D6E-409C-BE32-E72D297353CC}">
                  <c16:uniqueId val="{0000000E-B586-A04E-8798-76AFBDCDFE8A}"/>
                </c:ext>
              </c:extLst>
            </c:dLbl>
            <c:spPr>
              <a:noFill/>
              <a:ln>
                <a:noFill/>
              </a:ln>
              <a:effectLst/>
            </c:spPr>
            <c:txPr>
              <a:bodyPr rot="0" spcFirstLastPara="1" vertOverflow="overflow" horzOverflow="overflow" vert="horz" wrap="none" lIns="36576" tIns="18288" rIns="36576" bIns="18288" anchor="ctr" anchorCtr="1">
                <a:spAutoFit/>
              </a:bodyPr>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flowChartAlternateProcess">
                    <a:avLst/>
                  </a:prstGeom>
                  <a:noFill/>
                  <a:ln>
                    <a:noFill/>
                  </a:ln>
                </c15:spPr>
                <c15:showLeaderLines val="0"/>
              </c:ext>
            </c:extLst>
          </c:dLbls>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Sheet1!$E$2:$E$36</c:f>
              <c:numCache>
                <c:formatCode>General</c:formatCode>
                <c:ptCount val="35"/>
                <c:pt idx="0">
                  <c:v>2217</c:v>
                </c:pt>
                <c:pt idx="1">
                  <c:v>228</c:v>
                </c:pt>
                <c:pt idx="2">
                  <c:v>0</c:v>
                </c:pt>
                <c:pt idx="3">
                  <c:v>2216</c:v>
                </c:pt>
                <c:pt idx="4">
                  <c:v>5</c:v>
                </c:pt>
                <c:pt idx="5">
                  <c:v>0</c:v>
                </c:pt>
                <c:pt idx="6">
                  <c:v>2221</c:v>
                </c:pt>
                <c:pt idx="7">
                  <c:v>3</c:v>
                </c:pt>
                <c:pt idx="8">
                  <c:v>0</c:v>
                </c:pt>
                <c:pt idx="9">
                  <c:v>2217</c:v>
                </c:pt>
                <c:pt idx="10">
                  <c:v>271</c:v>
                </c:pt>
                <c:pt idx="11">
                  <c:v>0</c:v>
                </c:pt>
                <c:pt idx="12">
                  <c:v>2298</c:v>
                </c:pt>
                <c:pt idx="13">
                  <c:v>61</c:v>
                </c:pt>
                <c:pt idx="14">
                  <c:v>0</c:v>
                </c:pt>
                <c:pt idx="15">
                  <c:v>2293</c:v>
                </c:pt>
                <c:pt idx="16">
                  <c:v>11</c:v>
                </c:pt>
                <c:pt idx="17">
                  <c:v>0</c:v>
                </c:pt>
                <c:pt idx="18">
                  <c:v>2280</c:v>
                </c:pt>
                <c:pt idx="19">
                  <c:v>30</c:v>
                </c:pt>
                <c:pt idx="20">
                  <c:v>0</c:v>
                </c:pt>
                <c:pt idx="21">
                  <c:v>2413</c:v>
                </c:pt>
                <c:pt idx="22">
                  <c:v>22</c:v>
                </c:pt>
                <c:pt idx="23">
                  <c:v>0</c:v>
                </c:pt>
                <c:pt idx="24">
                  <c:v>2425</c:v>
                </c:pt>
                <c:pt idx="25">
                  <c:v>13</c:v>
                </c:pt>
                <c:pt idx="26">
                  <c:v>0</c:v>
                </c:pt>
                <c:pt idx="27">
                  <c:v>2423</c:v>
                </c:pt>
                <c:pt idx="28">
                  <c:v>17</c:v>
                </c:pt>
                <c:pt idx="29">
                  <c:v>0</c:v>
                </c:pt>
                <c:pt idx="30">
                  <c:v>2768</c:v>
                </c:pt>
                <c:pt idx="31">
                  <c:v>312</c:v>
                </c:pt>
                <c:pt idx="32">
                  <c:v>0</c:v>
                </c:pt>
                <c:pt idx="33">
                  <c:v>2771</c:v>
                </c:pt>
                <c:pt idx="34">
                  <c:v>14</c:v>
                </c:pt>
              </c:numCache>
            </c:numRef>
          </c:val>
          <c:smooth val="0"/>
          <c:extLst>
            <c:ext xmlns:c16="http://schemas.microsoft.com/office/drawing/2014/chart" uri="{C3380CC4-5D6E-409C-BE32-E72D297353CC}">
              <c16:uniqueId val="{0000000F-B586-A04E-8798-76AFBDCDFE8A}"/>
            </c:ext>
          </c:extLst>
        </c:ser>
        <c:dLbls>
          <c:showLegendKey val="0"/>
          <c:showVal val="0"/>
          <c:showCatName val="0"/>
          <c:showSerName val="0"/>
          <c:showPercent val="0"/>
          <c:showBubbleSize val="0"/>
        </c:dLbls>
        <c:marker val="1"/>
        <c:smooth val="0"/>
        <c:axId val="1696374703"/>
        <c:axId val="1696344063"/>
      </c:lineChart>
      <c:catAx>
        <c:axId val="1696374703"/>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0" spcFirstLastPara="1" vertOverflow="ellipsis" wrap="square" anchor="ctr" anchorCtr="1"/>
          <a:lstStyle/>
          <a:p>
            <a:pPr>
              <a:defRPr sz="1197" b="0" i="0" u="none" strike="noStrike" kern="1200" baseline="0">
                <a:solidFill>
                  <a:schemeClr val="tx2"/>
                </a:solidFill>
                <a:latin typeface="+mn-lt"/>
                <a:ea typeface="+mn-ea"/>
                <a:cs typeface="+mn-cs"/>
              </a:defRPr>
            </a:pPr>
            <a:endParaRPr lang="en-NL"/>
          </a:p>
        </c:txPr>
        <c:crossAx val="1696344063"/>
        <c:crosses val="autoZero"/>
        <c:auto val="1"/>
        <c:lblAlgn val="ctr"/>
        <c:lblOffset val="10"/>
        <c:noMultiLvlLbl val="0"/>
      </c:catAx>
      <c:valAx>
        <c:axId val="1696344063"/>
        <c:scaling>
          <c:orientation val="minMax"/>
        </c:scaling>
        <c:delete val="1"/>
        <c:axPos val="l"/>
        <c:numFmt formatCode="General" sourceLinked="1"/>
        <c:majorTickMark val="none"/>
        <c:minorTickMark val="none"/>
        <c:tickLblPos val="nextTo"/>
        <c:crossAx val="1696374703"/>
        <c:crosses val="autoZero"/>
        <c:crossBetween val="between"/>
      </c:valAx>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New</c:v>
                </c:pt>
              </c:strCache>
            </c:strRef>
          </c:tx>
          <c:spPr>
            <a:solidFill>
              <a:srgbClr val="2D6BFF"/>
            </a:solidFill>
            <a:ln>
              <a:noFill/>
            </a:ln>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Sheet1!$B$2:$B$36</c:f>
              <c:numCache>
                <c:formatCode>General</c:formatCode>
                <c:ptCount val="35"/>
                <c:pt idx="0">
                  <c:v>146</c:v>
                </c:pt>
                <c:pt idx="1">
                  <c:v>0</c:v>
                </c:pt>
                <c:pt idx="2">
                  <c:v>0</c:v>
                </c:pt>
                <c:pt idx="3">
                  <c:v>34</c:v>
                </c:pt>
                <c:pt idx="4">
                  <c:v>0</c:v>
                </c:pt>
                <c:pt idx="5">
                  <c:v>0</c:v>
                </c:pt>
                <c:pt idx="6">
                  <c:v>9</c:v>
                </c:pt>
                <c:pt idx="7">
                  <c:v>0</c:v>
                </c:pt>
                <c:pt idx="8">
                  <c:v>0</c:v>
                </c:pt>
                <c:pt idx="9">
                  <c:v>111</c:v>
                </c:pt>
                <c:pt idx="10">
                  <c:v>0</c:v>
                </c:pt>
                <c:pt idx="11">
                  <c:v>0</c:v>
                </c:pt>
                <c:pt idx="12">
                  <c:v>146</c:v>
                </c:pt>
                <c:pt idx="13">
                  <c:v>0</c:v>
                </c:pt>
                <c:pt idx="14">
                  <c:v>0</c:v>
                </c:pt>
                <c:pt idx="15">
                  <c:v>20</c:v>
                </c:pt>
                <c:pt idx="16">
                  <c:v>0</c:v>
                </c:pt>
                <c:pt idx="17">
                  <c:v>0</c:v>
                </c:pt>
                <c:pt idx="18">
                  <c:v>35</c:v>
                </c:pt>
                <c:pt idx="19">
                  <c:v>0</c:v>
                </c:pt>
                <c:pt idx="20">
                  <c:v>0</c:v>
                </c:pt>
                <c:pt idx="21">
                  <c:v>559</c:v>
                </c:pt>
                <c:pt idx="22">
                  <c:v>0</c:v>
                </c:pt>
                <c:pt idx="23">
                  <c:v>0</c:v>
                </c:pt>
                <c:pt idx="24">
                  <c:v>72</c:v>
                </c:pt>
                <c:pt idx="25">
                  <c:v>0</c:v>
                </c:pt>
                <c:pt idx="26">
                  <c:v>0</c:v>
                </c:pt>
                <c:pt idx="27">
                  <c:v>39</c:v>
                </c:pt>
                <c:pt idx="28">
                  <c:v>0</c:v>
                </c:pt>
                <c:pt idx="29">
                  <c:v>0</c:v>
                </c:pt>
                <c:pt idx="30">
                  <c:v>1451</c:v>
                </c:pt>
                <c:pt idx="31">
                  <c:v>0</c:v>
                </c:pt>
                <c:pt idx="32">
                  <c:v>0</c:v>
                </c:pt>
                <c:pt idx="33">
                  <c:v>79</c:v>
                </c:pt>
                <c:pt idx="34">
                  <c:v>0</c:v>
                </c:pt>
              </c:numCache>
            </c:numRef>
          </c:val>
          <c:extLst>
            <c:ext xmlns:c16="http://schemas.microsoft.com/office/drawing/2014/chart" uri="{C3380CC4-5D6E-409C-BE32-E72D297353CC}">
              <c16:uniqueId val="{00000000-9C7F-D847-A4AD-44605D3AD5C5}"/>
            </c:ext>
          </c:extLst>
        </c:ser>
        <c:ser>
          <c:idx val="1"/>
          <c:order val="1"/>
          <c:tx>
            <c:strRef>
              <c:f>Sheet1!$C$1</c:f>
              <c:strCache>
                <c:ptCount val="1"/>
                <c:pt idx="0">
                  <c:v>Existing</c:v>
                </c:pt>
              </c:strCache>
            </c:strRef>
          </c:tx>
          <c:spPr>
            <a:solidFill>
              <a:srgbClr val="B6C4FF"/>
            </a:solidFill>
            <a:ln>
              <a:noFill/>
            </a:ln>
            <a:effectLst>
              <a:outerShdw blurRad="50800" dist="50800" dir="5400000" algn="ctr" rotWithShape="0">
                <a:srgbClr val="B6C4FF"/>
              </a:outerShdw>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Sheet1!$C$2:$C$36</c:f>
              <c:numCache>
                <c:formatCode>General</c:formatCode>
                <c:ptCount val="35"/>
                <c:pt idx="0">
                  <c:v>6323</c:v>
                </c:pt>
                <c:pt idx="1">
                  <c:v>0</c:v>
                </c:pt>
                <c:pt idx="2">
                  <c:v>0</c:v>
                </c:pt>
                <c:pt idx="3">
                  <c:v>6447</c:v>
                </c:pt>
                <c:pt idx="4">
                  <c:v>0</c:v>
                </c:pt>
                <c:pt idx="5">
                  <c:v>0</c:v>
                </c:pt>
                <c:pt idx="6">
                  <c:v>6476</c:v>
                </c:pt>
                <c:pt idx="7">
                  <c:v>0</c:v>
                </c:pt>
                <c:pt idx="8">
                  <c:v>0</c:v>
                </c:pt>
                <c:pt idx="9">
                  <c:v>6372</c:v>
                </c:pt>
                <c:pt idx="10">
                  <c:v>0</c:v>
                </c:pt>
                <c:pt idx="11">
                  <c:v>0</c:v>
                </c:pt>
                <c:pt idx="12">
                  <c:v>6449</c:v>
                </c:pt>
                <c:pt idx="13">
                  <c:v>0</c:v>
                </c:pt>
                <c:pt idx="14">
                  <c:v>0</c:v>
                </c:pt>
                <c:pt idx="15">
                  <c:v>6566</c:v>
                </c:pt>
                <c:pt idx="16">
                  <c:v>0</c:v>
                </c:pt>
                <c:pt idx="17">
                  <c:v>0</c:v>
                </c:pt>
                <c:pt idx="18">
                  <c:v>6552</c:v>
                </c:pt>
                <c:pt idx="19">
                  <c:v>0</c:v>
                </c:pt>
                <c:pt idx="20">
                  <c:v>0</c:v>
                </c:pt>
                <c:pt idx="21">
                  <c:v>6541</c:v>
                </c:pt>
                <c:pt idx="22">
                  <c:v>0</c:v>
                </c:pt>
                <c:pt idx="23">
                  <c:v>0</c:v>
                </c:pt>
                <c:pt idx="24">
                  <c:v>7033</c:v>
                </c:pt>
                <c:pt idx="25">
                  <c:v>0</c:v>
                </c:pt>
                <c:pt idx="26">
                  <c:v>0</c:v>
                </c:pt>
                <c:pt idx="27">
                  <c:v>7077</c:v>
                </c:pt>
                <c:pt idx="28">
                  <c:v>0</c:v>
                </c:pt>
                <c:pt idx="29">
                  <c:v>0</c:v>
                </c:pt>
                <c:pt idx="30">
                  <c:v>6171</c:v>
                </c:pt>
                <c:pt idx="31">
                  <c:v>0</c:v>
                </c:pt>
                <c:pt idx="32">
                  <c:v>0</c:v>
                </c:pt>
                <c:pt idx="33">
                  <c:v>7590</c:v>
                </c:pt>
                <c:pt idx="34">
                  <c:v>0</c:v>
                </c:pt>
              </c:numCache>
            </c:numRef>
          </c:val>
          <c:extLst>
            <c:ext xmlns:c16="http://schemas.microsoft.com/office/drawing/2014/chart" uri="{C3380CC4-5D6E-409C-BE32-E72D297353CC}">
              <c16:uniqueId val="{00000001-9C7F-D847-A4AD-44605D3AD5C5}"/>
            </c:ext>
          </c:extLst>
        </c:ser>
        <c:ser>
          <c:idx val="2"/>
          <c:order val="2"/>
          <c:tx>
            <c:strRef>
              <c:f>Sheet1!$D$1</c:f>
              <c:strCache>
                <c:ptCount val="1"/>
                <c:pt idx="0">
                  <c:v>Resolved</c:v>
                </c:pt>
              </c:strCache>
            </c:strRef>
          </c:tx>
          <c:spPr>
            <a:solidFill>
              <a:srgbClr val="40C360"/>
            </a:solidFill>
            <a:ln>
              <a:noFill/>
            </a:ln>
            <a:effectLst>
              <a:outerShdw blurRad="50800" dist="50800" dir="5400000" algn="ctr" rotWithShape="0">
                <a:srgbClr val="40C360"/>
              </a:outerShdw>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Sheet1!$D$2:$D$36</c:f>
              <c:numCache>
                <c:formatCode>General</c:formatCode>
                <c:ptCount val="35"/>
                <c:pt idx="0">
                  <c:v>0</c:v>
                </c:pt>
                <c:pt idx="1">
                  <c:v>190</c:v>
                </c:pt>
                <c:pt idx="2">
                  <c:v>0</c:v>
                </c:pt>
                <c:pt idx="3">
                  <c:v>0</c:v>
                </c:pt>
                <c:pt idx="4">
                  <c:v>23</c:v>
                </c:pt>
                <c:pt idx="5">
                  <c:v>0</c:v>
                </c:pt>
                <c:pt idx="6">
                  <c:v>0</c:v>
                </c:pt>
                <c:pt idx="7">
                  <c:v>6</c:v>
                </c:pt>
                <c:pt idx="8">
                  <c:v>0</c:v>
                </c:pt>
                <c:pt idx="9">
                  <c:v>0</c:v>
                </c:pt>
                <c:pt idx="10">
                  <c:v>138</c:v>
                </c:pt>
                <c:pt idx="11">
                  <c:v>0</c:v>
                </c:pt>
                <c:pt idx="12">
                  <c:v>0</c:v>
                </c:pt>
                <c:pt idx="13">
                  <c:v>248</c:v>
                </c:pt>
                <c:pt idx="14">
                  <c:v>0</c:v>
                </c:pt>
                <c:pt idx="15">
                  <c:v>0</c:v>
                </c:pt>
                <c:pt idx="16">
                  <c:v>35</c:v>
                </c:pt>
                <c:pt idx="17">
                  <c:v>0</c:v>
                </c:pt>
                <c:pt idx="18">
                  <c:v>0</c:v>
                </c:pt>
                <c:pt idx="19">
                  <c:v>34</c:v>
                </c:pt>
                <c:pt idx="20">
                  <c:v>0</c:v>
                </c:pt>
                <c:pt idx="21">
                  <c:v>0</c:v>
                </c:pt>
                <c:pt idx="22">
                  <c:v>66</c:v>
                </c:pt>
                <c:pt idx="23">
                  <c:v>0</c:v>
                </c:pt>
                <c:pt idx="24">
                  <c:v>0</c:v>
                </c:pt>
                <c:pt idx="25">
                  <c:v>67</c:v>
                </c:pt>
                <c:pt idx="26">
                  <c:v>0</c:v>
                </c:pt>
                <c:pt idx="27">
                  <c:v>0</c:v>
                </c:pt>
                <c:pt idx="28">
                  <c:v>44</c:v>
                </c:pt>
                <c:pt idx="29">
                  <c:v>0</c:v>
                </c:pt>
                <c:pt idx="30">
                  <c:v>0</c:v>
                </c:pt>
                <c:pt idx="31">
                  <c:v>947</c:v>
                </c:pt>
                <c:pt idx="32">
                  <c:v>0</c:v>
                </c:pt>
                <c:pt idx="33">
                  <c:v>0</c:v>
                </c:pt>
                <c:pt idx="34">
                  <c:v>32</c:v>
                </c:pt>
              </c:numCache>
            </c:numRef>
          </c:val>
          <c:extLst>
            <c:ext xmlns:c16="http://schemas.microsoft.com/office/drawing/2014/chart" uri="{C3380CC4-5D6E-409C-BE32-E72D297353CC}">
              <c16:uniqueId val="{00000002-9C7F-D847-A4AD-44605D3AD5C5}"/>
            </c:ext>
          </c:extLst>
        </c:ser>
        <c:dLbls>
          <c:showLegendKey val="0"/>
          <c:showVal val="0"/>
          <c:showCatName val="0"/>
          <c:showSerName val="0"/>
          <c:showPercent val="0"/>
          <c:showBubbleSize val="0"/>
        </c:dLbls>
        <c:gapWidth val="20"/>
        <c:overlap val="100"/>
        <c:axId val="1696374703"/>
        <c:axId val="1696344063"/>
      </c:barChart>
      <c:lineChart>
        <c:grouping val="standard"/>
        <c:varyColors val="0"/>
        <c:ser>
          <c:idx val="4"/>
          <c:order val="3"/>
          <c:tx>
            <c:strRef>
              <c:f>Sheet1!$E$1</c:f>
              <c:strCache>
                <c:ptCount val="1"/>
                <c:pt idx="0">
                  <c:v>Total</c:v>
                </c:pt>
              </c:strCache>
            </c:strRef>
          </c:tx>
          <c:spPr>
            <a:ln w="28575" cap="rnd">
              <a:noFill/>
              <a:round/>
            </a:ln>
            <a:effectLst/>
          </c:spPr>
          <c:marker>
            <c:symbol val="none"/>
          </c:marker>
          <c:dLbls>
            <c:dLbl>
              <c:idx val="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C7F-D847-A4AD-44605D3AD5C5}"/>
                </c:ext>
              </c:extLst>
            </c:dLbl>
            <c:dLbl>
              <c:idx val="2"/>
              <c:delete val="1"/>
              <c:extLst>
                <c:ext xmlns:c15="http://schemas.microsoft.com/office/drawing/2012/chart" uri="{CE6537A1-D6FC-4f65-9D91-7224C49458BB}"/>
                <c:ext xmlns:c16="http://schemas.microsoft.com/office/drawing/2014/chart" uri="{C3380CC4-5D6E-409C-BE32-E72D297353CC}">
                  <c16:uniqueId val="{00000004-9C7F-D847-A4AD-44605D3AD5C5}"/>
                </c:ext>
              </c:extLst>
            </c:dLbl>
            <c:dLbl>
              <c:idx val="5"/>
              <c:delete val="1"/>
              <c:extLst>
                <c:ext xmlns:c15="http://schemas.microsoft.com/office/drawing/2012/chart" uri="{CE6537A1-D6FC-4f65-9D91-7224C49458BB}"/>
                <c:ext xmlns:c16="http://schemas.microsoft.com/office/drawing/2014/chart" uri="{C3380CC4-5D6E-409C-BE32-E72D297353CC}">
                  <c16:uniqueId val="{00000005-9C7F-D847-A4AD-44605D3AD5C5}"/>
                </c:ext>
              </c:extLst>
            </c:dLbl>
            <c:dLbl>
              <c:idx val="8"/>
              <c:delete val="1"/>
              <c:extLst>
                <c:ext xmlns:c15="http://schemas.microsoft.com/office/drawing/2012/chart" uri="{CE6537A1-D6FC-4f65-9D91-7224C49458BB}"/>
                <c:ext xmlns:c16="http://schemas.microsoft.com/office/drawing/2014/chart" uri="{C3380CC4-5D6E-409C-BE32-E72D297353CC}">
                  <c16:uniqueId val="{00000006-9C7F-D847-A4AD-44605D3AD5C5}"/>
                </c:ext>
              </c:extLst>
            </c:dLbl>
            <c:dLbl>
              <c:idx val="11"/>
              <c:delete val="1"/>
              <c:extLst>
                <c:ext xmlns:c15="http://schemas.microsoft.com/office/drawing/2012/chart" uri="{CE6537A1-D6FC-4f65-9D91-7224C49458BB}"/>
                <c:ext xmlns:c16="http://schemas.microsoft.com/office/drawing/2014/chart" uri="{C3380CC4-5D6E-409C-BE32-E72D297353CC}">
                  <c16:uniqueId val="{00000007-9C7F-D847-A4AD-44605D3AD5C5}"/>
                </c:ext>
              </c:extLst>
            </c:dLbl>
            <c:dLbl>
              <c:idx val="14"/>
              <c:delete val="1"/>
              <c:extLst>
                <c:ext xmlns:c15="http://schemas.microsoft.com/office/drawing/2012/chart" uri="{CE6537A1-D6FC-4f65-9D91-7224C49458BB}"/>
                <c:ext xmlns:c16="http://schemas.microsoft.com/office/drawing/2014/chart" uri="{C3380CC4-5D6E-409C-BE32-E72D297353CC}">
                  <c16:uniqueId val="{00000008-9C7F-D847-A4AD-44605D3AD5C5}"/>
                </c:ext>
              </c:extLst>
            </c:dLbl>
            <c:dLbl>
              <c:idx val="17"/>
              <c:delete val="1"/>
              <c:extLst>
                <c:ext xmlns:c15="http://schemas.microsoft.com/office/drawing/2012/chart" uri="{CE6537A1-D6FC-4f65-9D91-7224C49458BB}"/>
                <c:ext xmlns:c16="http://schemas.microsoft.com/office/drawing/2014/chart" uri="{C3380CC4-5D6E-409C-BE32-E72D297353CC}">
                  <c16:uniqueId val="{00000009-9C7F-D847-A4AD-44605D3AD5C5}"/>
                </c:ext>
              </c:extLst>
            </c:dLbl>
            <c:dLbl>
              <c:idx val="20"/>
              <c:delete val="1"/>
              <c:extLst>
                <c:ext xmlns:c15="http://schemas.microsoft.com/office/drawing/2012/chart" uri="{CE6537A1-D6FC-4f65-9D91-7224C49458BB}"/>
                <c:ext xmlns:c16="http://schemas.microsoft.com/office/drawing/2014/chart" uri="{C3380CC4-5D6E-409C-BE32-E72D297353CC}">
                  <c16:uniqueId val="{0000000A-9C7F-D847-A4AD-44605D3AD5C5}"/>
                </c:ext>
              </c:extLst>
            </c:dLbl>
            <c:dLbl>
              <c:idx val="23"/>
              <c:delete val="1"/>
              <c:extLst>
                <c:ext xmlns:c15="http://schemas.microsoft.com/office/drawing/2012/chart" uri="{CE6537A1-D6FC-4f65-9D91-7224C49458BB}"/>
                <c:ext xmlns:c16="http://schemas.microsoft.com/office/drawing/2014/chart" uri="{C3380CC4-5D6E-409C-BE32-E72D297353CC}">
                  <c16:uniqueId val="{0000000B-9C7F-D847-A4AD-44605D3AD5C5}"/>
                </c:ext>
              </c:extLst>
            </c:dLbl>
            <c:dLbl>
              <c:idx val="26"/>
              <c:delete val="1"/>
              <c:extLst>
                <c:ext xmlns:c15="http://schemas.microsoft.com/office/drawing/2012/chart" uri="{CE6537A1-D6FC-4f65-9D91-7224C49458BB}"/>
                <c:ext xmlns:c16="http://schemas.microsoft.com/office/drawing/2014/chart" uri="{C3380CC4-5D6E-409C-BE32-E72D297353CC}">
                  <c16:uniqueId val="{0000000C-9C7F-D847-A4AD-44605D3AD5C5}"/>
                </c:ext>
              </c:extLst>
            </c:dLbl>
            <c:dLbl>
              <c:idx val="29"/>
              <c:delete val="1"/>
              <c:extLst>
                <c:ext xmlns:c15="http://schemas.microsoft.com/office/drawing/2012/chart" uri="{CE6537A1-D6FC-4f65-9D91-7224C49458BB}"/>
                <c:ext xmlns:c16="http://schemas.microsoft.com/office/drawing/2014/chart" uri="{C3380CC4-5D6E-409C-BE32-E72D297353CC}">
                  <c16:uniqueId val="{0000000D-9C7F-D847-A4AD-44605D3AD5C5}"/>
                </c:ext>
              </c:extLst>
            </c:dLbl>
            <c:dLbl>
              <c:idx val="32"/>
              <c:delete val="1"/>
              <c:extLst>
                <c:ext xmlns:c15="http://schemas.microsoft.com/office/drawing/2012/chart" uri="{CE6537A1-D6FC-4f65-9D91-7224C49458BB}"/>
                <c:ext xmlns:c16="http://schemas.microsoft.com/office/drawing/2014/chart" uri="{C3380CC4-5D6E-409C-BE32-E72D297353CC}">
                  <c16:uniqueId val="{0000000E-9C7F-D847-A4AD-44605D3AD5C5}"/>
                </c:ext>
              </c:extLst>
            </c:dLbl>
            <c:spPr>
              <a:noFill/>
              <a:ln>
                <a:noFill/>
              </a:ln>
              <a:effectLst/>
            </c:spPr>
            <c:txPr>
              <a:bodyPr rot="0" spcFirstLastPara="1" vertOverflow="overflow" horzOverflow="overflow" vert="horz" wrap="none" lIns="36576" tIns="18288" rIns="36576" bIns="18288" anchor="ctr" anchorCtr="1">
                <a:spAutoFit/>
              </a:bodyPr>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flowChartAlternateProcess">
                    <a:avLst/>
                  </a:prstGeom>
                  <a:noFill/>
                  <a:ln>
                    <a:noFill/>
                  </a:ln>
                </c15:spPr>
                <c15:showLeaderLines val="0"/>
              </c:ext>
            </c:extLst>
          </c:dLbls>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Sheet1!$E$2:$E$36</c:f>
              <c:numCache>
                <c:formatCode>General</c:formatCode>
                <c:ptCount val="35"/>
                <c:pt idx="0">
                  <c:v>6469</c:v>
                </c:pt>
                <c:pt idx="1">
                  <c:v>190</c:v>
                </c:pt>
                <c:pt idx="2">
                  <c:v>0</c:v>
                </c:pt>
                <c:pt idx="3">
                  <c:v>6481</c:v>
                </c:pt>
                <c:pt idx="4">
                  <c:v>23</c:v>
                </c:pt>
                <c:pt idx="5">
                  <c:v>0</c:v>
                </c:pt>
                <c:pt idx="6">
                  <c:v>6485</c:v>
                </c:pt>
                <c:pt idx="7">
                  <c:v>6</c:v>
                </c:pt>
                <c:pt idx="8">
                  <c:v>0</c:v>
                </c:pt>
                <c:pt idx="9">
                  <c:v>6483</c:v>
                </c:pt>
                <c:pt idx="10">
                  <c:v>138</c:v>
                </c:pt>
                <c:pt idx="11">
                  <c:v>0</c:v>
                </c:pt>
                <c:pt idx="12">
                  <c:v>6595</c:v>
                </c:pt>
                <c:pt idx="13">
                  <c:v>248</c:v>
                </c:pt>
                <c:pt idx="14">
                  <c:v>0</c:v>
                </c:pt>
                <c:pt idx="15">
                  <c:v>6586</c:v>
                </c:pt>
                <c:pt idx="16">
                  <c:v>35</c:v>
                </c:pt>
                <c:pt idx="17">
                  <c:v>0</c:v>
                </c:pt>
                <c:pt idx="18">
                  <c:v>6587</c:v>
                </c:pt>
                <c:pt idx="19">
                  <c:v>34</c:v>
                </c:pt>
                <c:pt idx="20">
                  <c:v>0</c:v>
                </c:pt>
                <c:pt idx="21">
                  <c:v>7100</c:v>
                </c:pt>
                <c:pt idx="22">
                  <c:v>66</c:v>
                </c:pt>
                <c:pt idx="23">
                  <c:v>0</c:v>
                </c:pt>
                <c:pt idx="24">
                  <c:v>7105</c:v>
                </c:pt>
                <c:pt idx="25">
                  <c:v>67</c:v>
                </c:pt>
                <c:pt idx="26">
                  <c:v>0</c:v>
                </c:pt>
                <c:pt idx="27">
                  <c:v>7116</c:v>
                </c:pt>
                <c:pt idx="28">
                  <c:v>44</c:v>
                </c:pt>
                <c:pt idx="29">
                  <c:v>0</c:v>
                </c:pt>
                <c:pt idx="30">
                  <c:v>7622</c:v>
                </c:pt>
                <c:pt idx="31">
                  <c:v>947</c:v>
                </c:pt>
                <c:pt idx="32">
                  <c:v>0</c:v>
                </c:pt>
                <c:pt idx="33">
                  <c:v>7669</c:v>
                </c:pt>
                <c:pt idx="34">
                  <c:v>32</c:v>
                </c:pt>
              </c:numCache>
            </c:numRef>
          </c:val>
          <c:smooth val="0"/>
          <c:extLst>
            <c:ext xmlns:c16="http://schemas.microsoft.com/office/drawing/2014/chart" uri="{C3380CC4-5D6E-409C-BE32-E72D297353CC}">
              <c16:uniqueId val="{0000000F-9C7F-D847-A4AD-44605D3AD5C5}"/>
            </c:ext>
          </c:extLst>
        </c:ser>
        <c:dLbls>
          <c:showLegendKey val="0"/>
          <c:showVal val="0"/>
          <c:showCatName val="0"/>
          <c:showSerName val="0"/>
          <c:showPercent val="0"/>
          <c:showBubbleSize val="0"/>
        </c:dLbls>
        <c:marker val="1"/>
        <c:smooth val="0"/>
        <c:axId val="1696374703"/>
        <c:axId val="1696344063"/>
      </c:lineChart>
      <c:catAx>
        <c:axId val="1696374703"/>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0" spcFirstLastPara="1" vertOverflow="ellipsis" wrap="square" anchor="ctr" anchorCtr="1"/>
          <a:lstStyle/>
          <a:p>
            <a:pPr>
              <a:defRPr sz="1197" b="0" i="0" u="none" strike="noStrike" kern="1200" baseline="0">
                <a:solidFill>
                  <a:schemeClr val="tx2"/>
                </a:solidFill>
                <a:latin typeface="+mn-lt"/>
                <a:ea typeface="+mn-ea"/>
                <a:cs typeface="+mn-cs"/>
              </a:defRPr>
            </a:pPr>
            <a:endParaRPr lang="en-NL"/>
          </a:p>
        </c:txPr>
        <c:crossAx val="1696344063"/>
        <c:crosses val="autoZero"/>
        <c:auto val="1"/>
        <c:lblAlgn val="ctr"/>
        <c:lblOffset val="10"/>
        <c:noMultiLvlLbl val="0"/>
      </c:catAx>
      <c:valAx>
        <c:axId val="1696344063"/>
        <c:scaling>
          <c:orientation val="minMax"/>
        </c:scaling>
        <c:delete val="1"/>
        <c:axPos val="l"/>
        <c:numFmt formatCode="General" sourceLinked="1"/>
        <c:majorTickMark val="none"/>
        <c:minorTickMark val="none"/>
        <c:tickLblPos val="nextTo"/>
        <c:crossAx val="1696374703"/>
        <c:crosses val="autoZero"/>
        <c:crossBetween val="between"/>
      </c:valAx>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New</c:v>
                </c:pt>
              </c:strCache>
            </c:strRef>
          </c:tx>
          <c:spPr>
            <a:solidFill>
              <a:srgbClr val="2D6BFF"/>
            </a:solidFill>
            <a:ln>
              <a:noFill/>
            </a:ln>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Sheet1!$B$2:$B$36</c:f>
              <c:numCache>
                <c:formatCode>General</c:formatCode>
                <c:ptCount val="35"/>
                <c:pt idx="0">
                  <c:v>112</c:v>
                </c:pt>
                <c:pt idx="1">
                  <c:v>0</c:v>
                </c:pt>
                <c:pt idx="2">
                  <c:v>0</c:v>
                </c:pt>
                <c:pt idx="3">
                  <c:v>28</c:v>
                </c:pt>
                <c:pt idx="4">
                  <c:v>0</c:v>
                </c:pt>
                <c:pt idx="5">
                  <c:v>0</c:v>
                </c:pt>
                <c:pt idx="6">
                  <c:v>154</c:v>
                </c:pt>
                <c:pt idx="7">
                  <c:v>0</c:v>
                </c:pt>
                <c:pt idx="8">
                  <c:v>0</c:v>
                </c:pt>
                <c:pt idx="9">
                  <c:v>92</c:v>
                </c:pt>
                <c:pt idx="10">
                  <c:v>0</c:v>
                </c:pt>
                <c:pt idx="11">
                  <c:v>0</c:v>
                </c:pt>
                <c:pt idx="12">
                  <c:v>220</c:v>
                </c:pt>
                <c:pt idx="13">
                  <c:v>0</c:v>
                </c:pt>
                <c:pt idx="14">
                  <c:v>0</c:v>
                </c:pt>
                <c:pt idx="15">
                  <c:v>34</c:v>
                </c:pt>
                <c:pt idx="16">
                  <c:v>0</c:v>
                </c:pt>
                <c:pt idx="17">
                  <c:v>0</c:v>
                </c:pt>
                <c:pt idx="18">
                  <c:v>169</c:v>
                </c:pt>
                <c:pt idx="19">
                  <c:v>0</c:v>
                </c:pt>
                <c:pt idx="20">
                  <c:v>0</c:v>
                </c:pt>
                <c:pt idx="21">
                  <c:v>808</c:v>
                </c:pt>
                <c:pt idx="22">
                  <c:v>0</c:v>
                </c:pt>
                <c:pt idx="23">
                  <c:v>0</c:v>
                </c:pt>
                <c:pt idx="24">
                  <c:v>36</c:v>
                </c:pt>
                <c:pt idx="25">
                  <c:v>0</c:v>
                </c:pt>
                <c:pt idx="26">
                  <c:v>0</c:v>
                </c:pt>
                <c:pt idx="27">
                  <c:v>149</c:v>
                </c:pt>
                <c:pt idx="28">
                  <c:v>0</c:v>
                </c:pt>
                <c:pt idx="29">
                  <c:v>0</c:v>
                </c:pt>
                <c:pt idx="30">
                  <c:v>1490</c:v>
                </c:pt>
                <c:pt idx="31">
                  <c:v>0</c:v>
                </c:pt>
                <c:pt idx="32">
                  <c:v>0</c:v>
                </c:pt>
                <c:pt idx="33">
                  <c:v>81</c:v>
                </c:pt>
                <c:pt idx="34">
                  <c:v>0</c:v>
                </c:pt>
              </c:numCache>
            </c:numRef>
          </c:val>
          <c:extLst>
            <c:ext xmlns:c16="http://schemas.microsoft.com/office/drawing/2014/chart" uri="{C3380CC4-5D6E-409C-BE32-E72D297353CC}">
              <c16:uniqueId val="{00000000-8F19-F14D-B63F-8C5F7A032322}"/>
            </c:ext>
          </c:extLst>
        </c:ser>
        <c:ser>
          <c:idx val="1"/>
          <c:order val="1"/>
          <c:tx>
            <c:strRef>
              <c:f>Sheet1!$C$1</c:f>
              <c:strCache>
                <c:ptCount val="1"/>
                <c:pt idx="0">
                  <c:v>Existing</c:v>
                </c:pt>
              </c:strCache>
            </c:strRef>
          </c:tx>
          <c:spPr>
            <a:solidFill>
              <a:srgbClr val="B6C4FF"/>
            </a:solidFill>
            <a:ln>
              <a:noFill/>
            </a:ln>
            <a:effectLst>
              <a:outerShdw blurRad="50800" dist="50800" dir="5400000" algn="ctr" rotWithShape="0">
                <a:srgbClr val="B6C4FF"/>
              </a:outerShdw>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Sheet1!$C$2:$C$36</c:f>
              <c:numCache>
                <c:formatCode>General</c:formatCode>
                <c:ptCount val="35"/>
                <c:pt idx="0">
                  <c:v>7680</c:v>
                </c:pt>
                <c:pt idx="1">
                  <c:v>0</c:v>
                </c:pt>
                <c:pt idx="2">
                  <c:v>0</c:v>
                </c:pt>
                <c:pt idx="3">
                  <c:v>7696</c:v>
                </c:pt>
                <c:pt idx="4">
                  <c:v>0</c:v>
                </c:pt>
                <c:pt idx="5">
                  <c:v>0</c:v>
                </c:pt>
                <c:pt idx="6">
                  <c:v>7585</c:v>
                </c:pt>
                <c:pt idx="7">
                  <c:v>0</c:v>
                </c:pt>
                <c:pt idx="8">
                  <c:v>0</c:v>
                </c:pt>
                <c:pt idx="9">
                  <c:v>7658</c:v>
                </c:pt>
                <c:pt idx="10">
                  <c:v>0</c:v>
                </c:pt>
                <c:pt idx="11">
                  <c:v>0</c:v>
                </c:pt>
                <c:pt idx="12">
                  <c:v>7682</c:v>
                </c:pt>
                <c:pt idx="13">
                  <c:v>0</c:v>
                </c:pt>
                <c:pt idx="14">
                  <c:v>0</c:v>
                </c:pt>
                <c:pt idx="15">
                  <c:v>7723</c:v>
                </c:pt>
                <c:pt idx="16">
                  <c:v>0</c:v>
                </c:pt>
                <c:pt idx="17">
                  <c:v>0</c:v>
                </c:pt>
                <c:pt idx="18">
                  <c:v>7688</c:v>
                </c:pt>
                <c:pt idx="19">
                  <c:v>0</c:v>
                </c:pt>
                <c:pt idx="20">
                  <c:v>0</c:v>
                </c:pt>
                <c:pt idx="21">
                  <c:v>7581</c:v>
                </c:pt>
                <c:pt idx="22">
                  <c:v>0</c:v>
                </c:pt>
                <c:pt idx="23">
                  <c:v>0</c:v>
                </c:pt>
                <c:pt idx="24">
                  <c:v>8347</c:v>
                </c:pt>
                <c:pt idx="25">
                  <c:v>0</c:v>
                </c:pt>
                <c:pt idx="26">
                  <c:v>0</c:v>
                </c:pt>
                <c:pt idx="27">
                  <c:v>8341</c:v>
                </c:pt>
                <c:pt idx="28">
                  <c:v>0</c:v>
                </c:pt>
                <c:pt idx="29">
                  <c:v>0</c:v>
                </c:pt>
                <c:pt idx="30">
                  <c:v>8247</c:v>
                </c:pt>
                <c:pt idx="31">
                  <c:v>0</c:v>
                </c:pt>
                <c:pt idx="32">
                  <c:v>0</c:v>
                </c:pt>
                <c:pt idx="33">
                  <c:v>9626</c:v>
                </c:pt>
                <c:pt idx="34">
                  <c:v>0</c:v>
                </c:pt>
              </c:numCache>
            </c:numRef>
          </c:val>
          <c:extLst>
            <c:ext xmlns:c16="http://schemas.microsoft.com/office/drawing/2014/chart" uri="{C3380CC4-5D6E-409C-BE32-E72D297353CC}">
              <c16:uniqueId val="{00000001-8F19-F14D-B63F-8C5F7A032322}"/>
            </c:ext>
          </c:extLst>
        </c:ser>
        <c:ser>
          <c:idx val="2"/>
          <c:order val="2"/>
          <c:tx>
            <c:strRef>
              <c:f>Sheet1!$D$1</c:f>
              <c:strCache>
                <c:ptCount val="1"/>
                <c:pt idx="0">
                  <c:v>Resolved</c:v>
                </c:pt>
              </c:strCache>
            </c:strRef>
          </c:tx>
          <c:spPr>
            <a:solidFill>
              <a:srgbClr val="40C360"/>
            </a:solidFill>
            <a:ln>
              <a:noFill/>
            </a:ln>
            <a:effectLst>
              <a:outerShdw blurRad="50800" dist="50800" dir="5400000" algn="ctr" rotWithShape="0">
                <a:srgbClr val="40C360"/>
              </a:outerShdw>
            </a:effectLst>
          </c:spPr>
          <c:invertIfNegative val="0"/>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Sheet1!$D$2:$D$36</c:f>
              <c:numCache>
                <c:formatCode>General</c:formatCode>
                <c:ptCount val="35"/>
                <c:pt idx="0">
                  <c:v>0</c:v>
                </c:pt>
                <c:pt idx="1">
                  <c:v>136</c:v>
                </c:pt>
                <c:pt idx="2">
                  <c:v>0</c:v>
                </c:pt>
                <c:pt idx="3">
                  <c:v>0</c:v>
                </c:pt>
                <c:pt idx="4">
                  <c:v>96</c:v>
                </c:pt>
                <c:pt idx="5">
                  <c:v>0</c:v>
                </c:pt>
                <c:pt idx="6">
                  <c:v>0</c:v>
                </c:pt>
                <c:pt idx="7">
                  <c:v>140</c:v>
                </c:pt>
                <c:pt idx="8">
                  <c:v>0</c:v>
                </c:pt>
                <c:pt idx="9">
                  <c:v>0</c:v>
                </c:pt>
                <c:pt idx="10">
                  <c:v>103</c:v>
                </c:pt>
                <c:pt idx="11">
                  <c:v>0</c:v>
                </c:pt>
                <c:pt idx="12">
                  <c:v>0</c:v>
                </c:pt>
                <c:pt idx="13">
                  <c:v>91</c:v>
                </c:pt>
                <c:pt idx="14">
                  <c:v>0</c:v>
                </c:pt>
                <c:pt idx="15">
                  <c:v>0</c:v>
                </c:pt>
                <c:pt idx="16">
                  <c:v>182</c:v>
                </c:pt>
                <c:pt idx="17">
                  <c:v>0</c:v>
                </c:pt>
                <c:pt idx="18">
                  <c:v>0</c:v>
                </c:pt>
                <c:pt idx="19">
                  <c:v>74</c:v>
                </c:pt>
                <c:pt idx="20">
                  <c:v>0</c:v>
                </c:pt>
                <c:pt idx="21">
                  <c:v>0</c:v>
                </c:pt>
                <c:pt idx="22">
                  <c:v>285</c:v>
                </c:pt>
                <c:pt idx="23">
                  <c:v>0</c:v>
                </c:pt>
                <c:pt idx="24">
                  <c:v>0</c:v>
                </c:pt>
                <c:pt idx="25">
                  <c:v>44</c:v>
                </c:pt>
                <c:pt idx="26">
                  <c:v>0</c:v>
                </c:pt>
                <c:pt idx="27">
                  <c:v>0</c:v>
                </c:pt>
                <c:pt idx="28">
                  <c:v>52</c:v>
                </c:pt>
                <c:pt idx="29">
                  <c:v>0</c:v>
                </c:pt>
                <c:pt idx="30">
                  <c:v>0</c:v>
                </c:pt>
                <c:pt idx="31">
                  <c:v>248</c:v>
                </c:pt>
                <c:pt idx="32">
                  <c:v>0</c:v>
                </c:pt>
                <c:pt idx="33">
                  <c:v>0</c:v>
                </c:pt>
                <c:pt idx="34">
                  <c:v>122</c:v>
                </c:pt>
              </c:numCache>
            </c:numRef>
          </c:val>
          <c:extLst>
            <c:ext xmlns:c16="http://schemas.microsoft.com/office/drawing/2014/chart" uri="{C3380CC4-5D6E-409C-BE32-E72D297353CC}">
              <c16:uniqueId val="{00000002-8F19-F14D-B63F-8C5F7A032322}"/>
            </c:ext>
          </c:extLst>
        </c:ser>
        <c:dLbls>
          <c:showLegendKey val="0"/>
          <c:showVal val="0"/>
          <c:showCatName val="0"/>
          <c:showSerName val="0"/>
          <c:showPercent val="0"/>
          <c:showBubbleSize val="0"/>
        </c:dLbls>
        <c:gapWidth val="20"/>
        <c:overlap val="100"/>
        <c:axId val="1696374703"/>
        <c:axId val="1696344063"/>
      </c:barChart>
      <c:lineChart>
        <c:grouping val="standard"/>
        <c:varyColors val="0"/>
        <c:ser>
          <c:idx val="4"/>
          <c:order val="3"/>
          <c:tx>
            <c:strRef>
              <c:f>Sheet1!$E$1</c:f>
              <c:strCache>
                <c:ptCount val="1"/>
                <c:pt idx="0">
                  <c:v>Total</c:v>
                </c:pt>
              </c:strCache>
            </c:strRef>
          </c:tx>
          <c:spPr>
            <a:ln w="28575" cap="rnd">
              <a:noFill/>
              <a:round/>
            </a:ln>
            <a:effectLst/>
          </c:spPr>
          <c:marker>
            <c:symbol val="none"/>
          </c:marker>
          <c:dLbls>
            <c:dLbl>
              <c:idx val="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F19-F14D-B63F-8C5F7A032322}"/>
                </c:ext>
              </c:extLst>
            </c:dLbl>
            <c:dLbl>
              <c:idx val="2"/>
              <c:delete val="1"/>
              <c:extLst>
                <c:ext xmlns:c15="http://schemas.microsoft.com/office/drawing/2012/chart" uri="{CE6537A1-D6FC-4f65-9D91-7224C49458BB}"/>
                <c:ext xmlns:c16="http://schemas.microsoft.com/office/drawing/2014/chart" uri="{C3380CC4-5D6E-409C-BE32-E72D297353CC}">
                  <c16:uniqueId val="{00000004-8F19-F14D-B63F-8C5F7A032322}"/>
                </c:ext>
              </c:extLst>
            </c:dLbl>
            <c:dLbl>
              <c:idx val="5"/>
              <c:delete val="1"/>
              <c:extLst>
                <c:ext xmlns:c15="http://schemas.microsoft.com/office/drawing/2012/chart" uri="{CE6537A1-D6FC-4f65-9D91-7224C49458BB}"/>
                <c:ext xmlns:c16="http://schemas.microsoft.com/office/drawing/2014/chart" uri="{C3380CC4-5D6E-409C-BE32-E72D297353CC}">
                  <c16:uniqueId val="{00000005-8F19-F14D-B63F-8C5F7A032322}"/>
                </c:ext>
              </c:extLst>
            </c:dLbl>
            <c:dLbl>
              <c:idx val="8"/>
              <c:delete val="1"/>
              <c:extLst>
                <c:ext xmlns:c15="http://schemas.microsoft.com/office/drawing/2012/chart" uri="{CE6537A1-D6FC-4f65-9D91-7224C49458BB}"/>
                <c:ext xmlns:c16="http://schemas.microsoft.com/office/drawing/2014/chart" uri="{C3380CC4-5D6E-409C-BE32-E72D297353CC}">
                  <c16:uniqueId val="{00000006-8F19-F14D-B63F-8C5F7A032322}"/>
                </c:ext>
              </c:extLst>
            </c:dLbl>
            <c:dLbl>
              <c:idx val="11"/>
              <c:delete val="1"/>
              <c:extLst>
                <c:ext xmlns:c15="http://schemas.microsoft.com/office/drawing/2012/chart" uri="{CE6537A1-D6FC-4f65-9D91-7224C49458BB}"/>
                <c:ext xmlns:c16="http://schemas.microsoft.com/office/drawing/2014/chart" uri="{C3380CC4-5D6E-409C-BE32-E72D297353CC}">
                  <c16:uniqueId val="{00000007-8F19-F14D-B63F-8C5F7A032322}"/>
                </c:ext>
              </c:extLst>
            </c:dLbl>
            <c:dLbl>
              <c:idx val="14"/>
              <c:delete val="1"/>
              <c:extLst>
                <c:ext xmlns:c15="http://schemas.microsoft.com/office/drawing/2012/chart" uri="{CE6537A1-D6FC-4f65-9D91-7224C49458BB}"/>
                <c:ext xmlns:c16="http://schemas.microsoft.com/office/drawing/2014/chart" uri="{C3380CC4-5D6E-409C-BE32-E72D297353CC}">
                  <c16:uniqueId val="{00000008-8F19-F14D-B63F-8C5F7A032322}"/>
                </c:ext>
              </c:extLst>
            </c:dLbl>
            <c:dLbl>
              <c:idx val="17"/>
              <c:delete val="1"/>
              <c:extLst>
                <c:ext xmlns:c15="http://schemas.microsoft.com/office/drawing/2012/chart" uri="{CE6537A1-D6FC-4f65-9D91-7224C49458BB}"/>
                <c:ext xmlns:c16="http://schemas.microsoft.com/office/drawing/2014/chart" uri="{C3380CC4-5D6E-409C-BE32-E72D297353CC}">
                  <c16:uniqueId val="{00000009-8F19-F14D-B63F-8C5F7A032322}"/>
                </c:ext>
              </c:extLst>
            </c:dLbl>
            <c:dLbl>
              <c:idx val="20"/>
              <c:delete val="1"/>
              <c:extLst>
                <c:ext xmlns:c15="http://schemas.microsoft.com/office/drawing/2012/chart" uri="{CE6537A1-D6FC-4f65-9D91-7224C49458BB}"/>
                <c:ext xmlns:c16="http://schemas.microsoft.com/office/drawing/2014/chart" uri="{C3380CC4-5D6E-409C-BE32-E72D297353CC}">
                  <c16:uniqueId val="{0000000A-8F19-F14D-B63F-8C5F7A032322}"/>
                </c:ext>
              </c:extLst>
            </c:dLbl>
            <c:dLbl>
              <c:idx val="23"/>
              <c:delete val="1"/>
              <c:extLst>
                <c:ext xmlns:c15="http://schemas.microsoft.com/office/drawing/2012/chart" uri="{CE6537A1-D6FC-4f65-9D91-7224C49458BB}"/>
                <c:ext xmlns:c16="http://schemas.microsoft.com/office/drawing/2014/chart" uri="{C3380CC4-5D6E-409C-BE32-E72D297353CC}">
                  <c16:uniqueId val="{0000000B-8F19-F14D-B63F-8C5F7A032322}"/>
                </c:ext>
              </c:extLst>
            </c:dLbl>
            <c:dLbl>
              <c:idx val="26"/>
              <c:delete val="1"/>
              <c:extLst>
                <c:ext xmlns:c15="http://schemas.microsoft.com/office/drawing/2012/chart" uri="{CE6537A1-D6FC-4f65-9D91-7224C49458BB}"/>
                <c:ext xmlns:c16="http://schemas.microsoft.com/office/drawing/2014/chart" uri="{C3380CC4-5D6E-409C-BE32-E72D297353CC}">
                  <c16:uniqueId val="{0000000C-8F19-F14D-B63F-8C5F7A032322}"/>
                </c:ext>
              </c:extLst>
            </c:dLbl>
            <c:dLbl>
              <c:idx val="29"/>
              <c:delete val="1"/>
              <c:extLst>
                <c:ext xmlns:c15="http://schemas.microsoft.com/office/drawing/2012/chart" uri="{CE6537A1-D6FC-4f65-9D91-7224C49458BB}"/>
                <c:ext xmlns:c16="http://schemas.microsoft.com/office/drawing/2014/chart" uri="{C3380CC4-5D6E-409C-BE32-E72D297353CC}">
                  <c16:uniqueId val="{0000000D-8F19-F14D-B63F-8C5F7A032322}"/>
                </c:ext>
              </c:extLst>
            </c:dLbl>
            <c:dLbl>
              <c:idx val="32"/>
              <c:delete val="1"/>
              <c:extLst>
                <c:ext xmlns:c15="http://schemas.microsoft.com/office/drawing/2012/chart" uri="{CE6537A1-D6FC-4f65-9D91-7224C49458BB}"/>
                <c:ext xmlns:c16="http://schemas.microsoft.com/office/drawing/2014/chart" uri="{C3380CC4-5D6E-409C-BE32-E72D297353CC}">
                  <c16:uniqueId val="{0000000E-8F19-F14D-B63F-8C5F7A032322}"/>
                </c:ext>
              </c:extLst>
            </c:dLbl>
            <c:spPr>
              <a:noFill/>
              <a:ln>
                <a:noFill/>
              </a:ln>
              <a:effectLst/>
            </c:spPr>
            <c:txPr>
              <a:bodyPr rot="0" spcFirstLastPara="1" vertOverflow="overflow" horzOverflow="overflow" vert="horz" wrap="none" lIns="36576" tIns="18288" rIns="36576" bIns="18288" anchor="ctr" anchorCtr="1">
                <a:spAutoFit/>
              </a:bodyPr>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flowChartAlternateProcess">
                    <a:avLst/>
                  </a:prstGeom>
                  <a:noFill/>
                  <a:ln>
                    <a:noFill/>
                  </a:ln>
                </c15:spPr>
                <c15:showLeaderLines val="0"/>
              </c:ext>
            </c:extLst>
          </c:dLbls>
          <c:cat>
            <c:strRef>
              <c:f>Sheet1!$A$2:$A$36</c:f>
              <c:strCache>
                <c:ptCount val="35"/>
                <c:pt idx="0">
                  <c:v>Apr</c:v>
                </c:pt>
                <c:pt idx="1">
                  <c:v/>
                </c:pt>
                <c:pt idx="2">
                  <c:v/>
                </c:pt>
                <c:pt idx="3">
                  <c:v>May</c:v>
                </c:pt>
                <c:pt idx="4">
                  <c:v/>
                </c:pt>
                <c:pt idx="5">
                  <c:v/>
                </c:pt>
                <c:pt idx="6">
                  <c:v>Jun</c:v>
                </c:pt>
                <c:pt idx="7">
                  <c:v/>
                </c:pt>
                <c:pt idx="8">
                  <c:v/>
                </c:pt>
                <c:pt idx="9">
                  <c:v>Jul</c:v>
                </c:pt>
                <c:pt idx="10">
                  <c:v/>
                </c:pt>
                <c:pt idx="11">
                  <c:v/>
                </c:pt>
                <c:pt idx="12">
                  <c:v>Aug</c:v>
                </c:pt>
                <c:pt idx="13">
                  <c:v/>
                </c:pt>
                <c:pt idx="14">
                  <c:v/>
                </c:pt>
                <c:pt idx="15">
                  <c:v>Sep</c:v>
                </c:pt>
                <c:pt idx="16">
                  <c:v/>
                </c:pt>
                <c:pt idx="17">
                  <c:v/>
                </c:pt>
                <c:pt idx="18">
                  <c:v>Oct</c:v>
                </c:pt>
                <c:pt idx="19">
                  <c:v/>
                </c:pt>
                <c:pt idx="20">
                  <c:v/>
                </c:pt>
                <c:pt idx="21">
                  <c:v>Nov</c:v>
                </c:pt>
                <c:pt idx="22">
                  <c:v/>
                </c:pt>
                <c:pt idx="23">
                  <c:v/>
                </c:pt>
                <c:pt idx="24">
                  <c:v>Dec</c:v>
                </c:pt>
                <c:pt idx="25">
                  <c:v/>
                </c:pt>
                <c:pt idx="26">
                  <c:v/>
                </c:pt>
                <c:pt idx="27">
                  <c:v>Jan</c:v>
                </c:pt>
                <c:pt idx="28">
                  <c:v/>
                </c:pt>
                <c:pt idx="29">
                  <c:v/>
                </c:pt>
                <c:pt idx="30">
                  <c:v>Feb</c:v>
                </c:pt>
                <c:pt idx="31">
                  <c:v/>
                </c:pt>
                <c:pt idx="32">
                  <c:v/>
                </c:pt>
                <c:pt idx="33">
                  <c:v>Mar</c:v>
                </c:pt>
                <c:pt idx="34">
                  <c:v/>
                </c:pt>
              </c:strCache>
            </c:strRef>
          </c:cat>
          <c:val>
            <c:numRef>
              <c:f>Sheet1!$E$2:$E$36</c:f>
              <c:numCache>
                <c:formatCode>General</c:formatCode>
                <c:ptCount val="35"/>
                <c:pt idx="0">
                  <c:v>7792</c:v>
                </c:pt>
                <c:pt idx="1">
                  <c:v>136</c:v>
                </c:pt>
                <c:pt idx="2">
                  <c:v>0</c:v>
                </c:pt>
                <c:pt idx="3">
                  <c:v>7724</c:v>
                </c:pt>
                <c:pt idx="4">
                  <c:v>96</c:v>
                </c:pt>
                <c:pt idx="5">
                  <c:v>0</c:v>
                </c:pt>
                <c:pt idx="6">
                  <c:v>7739</c:v>
                </c:pt>
                <c:pt idx="7">
                  <c:v>140</c:v>
                </c:pt>
                <c:pt idx="8">
                  <c:v>0</c:v>
                </c:pt>
                <c:pt idx="9">
                  <c:v>7750</c:v>
                </c:pt>
                <c:pt idx="10">
                  <c:v>103</c:v>
                </c:pt>
                <c:pt idx="11">
                  <c:v>0</c:v>
                </c:pt>
                <c:pt idx="12">
                  <c:v>7902</c:v>
                </c:pt>
                <c:pt idx="13">
                  <c:v>91</c:v>
                </c:pt>
                <c:pt idx="14">
                  <c:v>0</c:v>
                </c:pt>
                <c:pt idx="15">
                  <c:v>7757</c:v>
                </c:pt>
                <c:pt idx="16">
                  <c:v>182</c:v>
                </c:pt>
                <c:pt idx="17">
                  <c:v>0</c:v>
                </c:pt>
                <c:pt idx="18">
                  <c:v>7857</c:v>
                </c:pt>
                <c:pt idx="19">
                  <c:v>74</c:v>
                </c:pt>
                <c:pt idx="20">
                  <c:v>0</c:v>
                </c:pt>
                <c:pt idx="21">
                  <c:v>8389</c:v>
                </c:pt>
                <c:pt idx="22">
                  <c:v>285</c:v>
                </c:pt>
                <c:pt idx="23">
                  <c:v>0</c:v>
                </c:pt>
                <c:pt idx="24">
                  <c:v>8383</c:v>
                </c:pt>
                <c:pt idx="25">
                  <c:v>44</c:v>
                </c:pt>
                <c:pt idx="26">
                  <c:v>0</c:v>
                </c:pt>
                <c:pt idx="27">
                  <c:v>8490</c:v>
                </c:pt>
                <c:pt idx="28">
                  <c:v>52</c:v>
                </c:pt>
                <c:pt idx="29">
                  <c:v>0</c:v>
                </c:pt>
                <c:pt idx="30">
                  <c:v>9737</c:v>
                </c:pt>
                <c:pt idx="31">
                  <c:v>248</c:v>
                </c:pt>
                <c:pt idx="32">
                  <c:v>0</c:v>
                </c:pt>
                <c:pt idx="33">
                  <c:v>9707</c:v>
                </c:pt>
                <c:pt idx="34">
                  <c:v>122</c:v>
                </c:pt>
              </c:numCache>
            </c:numRef>
          </c:val>
          <c:smooth val="0"/>
          <c:extLst>
            <c:ext xmlns:c16="http://schemas.microsoft.com/office/drawing/2014/chart" uri="{C3380CC4-5D6E-409C-BE32-E72D297353CC}">
              <c16:uniqueId val="{0000000F-8F19-F14D-B63F-8C5F7A032322}"/>
            </c:ext>
          </c:extLst>
        </c:ser>
        <c:dLbls>
          <c:showLegendKey val="0"/>
          <c:showVal val="0"/>
          <c:showCatName val="0"/>
          <c:showSerName val="0"/>
          <c:showPercent val="0"/>
          <c:showBubbleSize val="0"/>
        </c:dLbls>
        <c:marker val="1"/>
        <c:smooth val="0"/>
        <c:axId val="1696374703"/>
        <c:axId val="1696344063"/>
      </c:lineChart>
      <c:catAx>
        <c:axId val="1696374703"/>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0" spcFirstLastPara="1" vertOverflow="ellipsis" wrap="square" anchor="ctr" anchorCtr="1"/>
          <a:lstStyle/>
          <a:p>
            <a:pPr>
              <a:defRPr sz="1197" b="0" i="0" u="none" strike="noStrike" kern="1200" baseline="0">
                <a:solidFill>
                  <a:schemeClr val="tx2"/>
                </a:solidFill>
                <a:latin typeface="+mn-lt"/>
                <a:ea typeface="+mn-ea"/>
                <a:cs typeface="+mn-cs"/>
              </a:defRPr>
            </a:pPr>
            <a:endParaRPr lang="en-NL"/>
          </a:p>
        </c:txPr>
        <c:crossAx val="1696344063"/>
        <c:crosses val="autoZero"/>
        <c:auto val="1"/>
        <c:lblAlgn val="ctr"/>
        <c:lblOffset val="10"/>
        <c:noMultiLvlLbl val="0"/>
      </c:catAx>
      <c:valAx>
        <c:axId val="1696344063"/>
        <c:scaling>
          <c:orientation val="minMax"/>
        </c:scaling>
        <c:delete val="1"/>
        <c:axPos val="l"/>
        <c:numFmt formatCode="General" sourceLinked="1"/>
        <c:majorTickMark val="none"/>
        <c:minorTickMark val="none"/>
        <c:tickLblPos val="nextTo"/>
        <c:crossAx val="1696374703"/>
        <c:crosses val="autoZero"/>
        <c:crossBetween val="between"/>
      </c:valAx>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8909766555187129E-2"/>
          <c:y val="6.0220552925546358E-2"/>
          <c:w val="0.94218046688962576"/>
          <c:h val="0.67221095212272064"/>
        </c:manualLayout>
      </c:layout>
      <c:barChart>
        <c:barDir val="col"/>
        <c:grouping val="stacked"/>
        <c:varyColors val="0"/>
        <c:ser>
          <c:idx val="0"/>
          <c:order val="0"/>
          <c:tx>
            <c:strRef>
              <c:f>Sheet1!$B$1</c:f>
              <c:strCache>
                <c:ptCount val="1"/>
                <c:pt idx="0">
                  <c:v>at most 7 days</c:v>
                </c:pt>
              </c:strCache>
            </c:strRef>
          </c:tx>
          <c:spPr>
            <a:solidFill>
              <a:srgbClr val="40C360"/>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Sheet1!$B$2:$B$13</c:f>
              <c:numCache>
                <c:formatCode>General</c:formatCode>
                <c:ptCount val="12"/>
                <c:pt idx="0">
                  <c:v>0</c:v>
                </c:pt>
                <c:pt idx="1">
                  <c:v>0</c:v>
                </c:pt>
                <c:pt idx="2">
                  <c:v>0</c:v>
                </c:pt>
                <c:pt idx="3">
                  <c:v>0</c:v>
                </c:pt>
                <c:pt idx="4">
                  <c:v>23</c:v>
                </c:pt>
                <c:pt idx="5">
                  <c:v>0</c:v>
                </c:pt>
                <c:pt idx="6">
                  <c:v>0</c:v>
                </c:pt>
                <c:pt idx="7">
                  <c:v>14</c:v>
                </c:pt>
                <c:pt idx="8">
                  <c:v>0</c:v>
                </c:pt>
                <c:pt idx="9">
                  <c:v>0</c:v>
                </c:pt>
                <c:pt idx="10">
                  <c:v>0</c:v>
                </c:pt>
                <c:pt idx="11">
                  <c:v>0</c:v>
                </c:pt>
              </c:numCache>
            </c:numRef>
          </c:val>
          <c:extLst>
            <c:ext xmlns:c16="http://schemas.microsoft.com/office/drawing/2014/chart" uri="{C3380CC4-5D6E-409C-BE32-E72D297353CC}">
              <c16:uniqueId val="{00000000-613A-144D-9198-B504C851AC66}"/>
            </c:ext>
          </c:extLst>
        </c:ser>
        <c:ser>
          <c:idx val="1"/>
          <c:order val="1"/>
          <c:tx>
            <c:strRef>
              <c:f>Sheet1!$C$1</c:f>
              <c:strCache>
                <c:ptCount val="1"/>
                <c:pt idx="0">
                  <c:v>between 7 and 14 days</c:v>
                </c:pt>
              </c:strCache>
            </c:strRef>
          </c:tx>
          <c:spPr>
            <a:solidFill>
              <a:srgbClr val="39A498"/>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Sheet1!$C$2:$C$13</c:f>
              <c:numCache>
                <c:formatCode>General</c:formatCode>
                <c:ptCount val="12"/>
                <c:pt idx="0">
                  <c:v>1</c:v>
                </c:pt>
                <c:pt idx="1">
                  <c:v>0</c:v>
                </c:pt>
                <c:pt idx="2">
                  <c:v>0</c:v>
                </c:pt>
                <c:pt idx="3">
                  <c:v>2</c:v>
                </c:pt>
                <c:pt idx="4">
                  <c:v>0</c:v>
                </c:pt>
                <c:pt idx="5">
                  <c:v>1</c:v>
                </c:pt>
                <c:pt idx="6">
                  <c:v>0</c:v>
                </c:pt>
                <c:pt idx="7">
                  <c:v>2</c:v>
                </c:pt>
                <c:pt idx="8">
                  <c:v>0</c:v>
                </c:pt>
                <c:pt idx="9">
                  <c:v>0</c:v>
                </c:pt>
                <c:pt idx="10">
                  <c:v>0</c:v>
                </c:pt>
                <c:pt idx="11">
                  <c:v>10</c:v>
                </c:pt>
              </c:numCache>
            </c:numRef>
          </c:val>
          <c:extLst>
            <c:ext xmlns:c16="http://schemas.microsoft.com/office/drawing/2014/chart" uri="{C3380CC4-5D6E-409C-BE32-E72D297353CC}">
              <c16:uniqueId val="{00000001-613A-144D-9198-B504C851AC66}"/>
            </c:ext>
          </c:extLst>
        </c:ser>
        <c:ser>
          <c:idx val="2"/>
          <c:order val="2"/>
          <c:tx>
            <c:strRef>
              <c:f>Sheet1!$D$1</c:f>
              <c:strCache>
                <c:ptCount val="1"/>
                <c:pt idx="0">
                  <c:v>between 14 and 30 days</c:v>
                </c:pt>
              </c:strCache>
            </c:strRef>
          </c:tx>
          <c:spPr>
            <a:solidFill>
              <a:srgbClr val="358AC7"/>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Sheet1!$D$2:$D$13</c:f>
              <c:numCache>
                <c:formatCode>General</c:formatCode>
                <c:ptCount val="12"/>
                <c:pt idx="0">
                  <c:v>10</c:v>
                </c:pt>
                <c:pt idx="1">
                  <c:v>3</c:v>
                </c:pt>
                <c:pt idx="2">
                  <c:v>1</c:v>
                </c:pt>
                <c:pt idx="3">
                  <c:v>86</c:v>
                </c:pt>
                <c:pt idx="4">
                  <c:v>10</c:v>
                </c:pt>
                <c:pt idx="5">
                  <c:v>0</c:v>
                </c:pt>
                <c:pt idx="6">
                  <c:v>0</c:v>
                </c:pt>
                <c:pt idx="7">
                  <c:v>0</c:v>
                </c:pt>
                <c:pt idx="8">
                  <c:v>0</c:v>
                </c:pt>
                <c:pt idx="9">
                  <c:v>0</c:v>
                </c:pt>
                <c:pt idx="10">
                  <c:v>0</c:v>
                </c:pt>
                <c:pt idx="11">
                  <c:v>1</c:v>
                </c:pt>
              </c:numCache>
            </c:numRef>
          </c:val>
          <c:extLst>
            <c:ext xmlns:c16="http://schemas.microsoft.com/office/drawing/2014/chart" uri="{C3380CC4-5D6E-409C-BE32-E72D297353CC}">
              <c16:uniqueId val="{00000002-613A-144D-9198-B504C851AC66}"/>
            </c:ext>
          </c:extLst>
        </c:ser>
        <c:ser>
          <c:idx val="3"/>
          <c:order val="3"/>
          <c:tx>
            <c:strRef>
              <c:f>Sheet1!$E$1</c:f>
              <c:strCache>
                <c:ptCount val="1"/>
                <c:pt idx="0">
                  <c:v>at least 30 days</c:v>
                </c:pt>
              </c:strCache>
            </c:strRef>
          </c:tx>
          <c:spPr>
            <a:solidFill>
              <a:srgbClr val="2D6BFF"/>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Sheet1!$E$2:$E$13</c:f>
              <c:numCache>
                <c:formatCode>General</c:formatCode>
                <c:ptCount val="12"/>
                <c:pt idx="0">
                  <c:v>217</c:v>
                </c:pt>
                <c:pt idx="1">
                  <c:v>2</c:v>
                </c:pt>
                <c:pt idx="2">
                  <c:v>2</c:v>
                </c:pt>
                <c:pt idx="3">
                  <c:v>183</c:v>
                </c:pt>
                <c:pt idx="4">
                  <c:v>28</c:v>
                </c:pt>
                <c:pt idx="5">
                  <c:v>10</c:v>
                </c:pt>
                <c:pt idx="6">
                  <c:v>30</c:v>
                </c:pt>
                <c:pt idx="7">
                  <c:v>6</c:v>
                </c:pt>
                <c:pt idx="8">
                  <c:v>13</c:v>
                </c:pt>
                <c:pt idx="9">
                  <c:v>17</c:v>
                </c:pt>
                <c:pt idx="10">
                  <c:v>312</c:v>
                </c:pt>
                <c:pt idx="11">
                  <c:v>3</c:v>
                </c:pt>
              </c:numCache>
            </c:numRef>
          </c:val>
          <c:extLst>
            <c:ext xmlns:c16="http://schemas.microsoft.com/office/drawing/2014/chart" uri="{C3380CC4-5D6E-409C-BE32-E72D297353CC}">
              <c16:uniqueId val="{00000003-613A-144D-9198-B504C851AC66}"/>
            </c:ext>
          </c:extLst>
        </c:ser>
        <c:dLbls>
          <c:showLegendKey val="0"/>
          <c:showVal val="0"/>
          <c:showCatName val="0"/>
          <c:showSerName val="0"/>
          <c:showPercent val="0"/>
          <c:showBubbleSize val="0"/>
        </c:dLbls>
        <c:gapWidth val="30"/>
        <c:overlap val="100"/>
        <c:axId val="1696374703"/>
        <c:axId val="1696344063"/>
      </c:barChart>
      <c:lineChart>
        <c:grouping val="standard"/>
        <c:varyColors val="0"/>
        <c:ser>
          <c:idx val="4"/>
          <c:order val="4"/>
          <c:tx>
            <c:strRef>
              <c:f>Sheet1!$F$1</c:f>
              <c:strCache>
                <c:ptCount val="1"/>
                <c:pt idx="0">
                  <c:v>Total</c:v>
                </c:pt>
              </c:strCache>
            </c:strRef>
          </c:tx>
          <c:spPr>
            <a:ln w="28575" cap="rnd">
              <a:noFill/>
              <a:round/>
            </a:ln>
            <a:effectLst/>
          </c:spPr>
          <c:marker>
            <c:symbol val="none"/>
          </c:marker>
          <c:dLbls>
            <c:spPr>
              <a:noFill/>
              <a:ln>
                <a:noFill/>
              </a:ln>
              <a:effectLst/>
            </c:spPr>
            <c:txPr>
              <a:bodyPr rot="0" spcFirstLastPara="1" vertOverflow="overflow" horzOverflow="overflow" vert="horz" wrap="none" lIns="36576" tIns="18288" rIns="36576" bIns="18288" anchor="ctr" anchorCtr="1">
                <a:spAutoFit/>
              </a:bodyPr>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flowChartAlternateProcess">
                    <a:avLst/>
                  </a:prstGeom>
                  <a:noFill/>
                  <a:ln>
                    <a:noFill/>
                  </a:ln>
                </c15:spPr>
                <c15:showLeaderLines val="0"/>
              </c:ext>
            </c:extLst>
          </c:dLbls>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Sheet1!$F$2:$F$13</c:f>
              <c:numCache>
                <c:formatCode>General</c:formatCode>
                <c:ptCount val="12"/>
                <c:pt idx="0">
                  <c:v>228</c:v>
                </c:pt>
                <c:pt idx="1">
                  <c:v>5</c:v>
                </c:pt>
                <c:pt idx="2">
                  <c:v>3</c:v>
                </c:pt>
                <c:pt idx="3">
                  <c:v>271</c:v>
                </c:pt>
                <c:pt idx="4">
                  <c:v>61</c:v>
                </c:pt>
                <c:pt idx="5">
                  <c:v>11</c:v>
                </c:pt>
                <c:pt idx="6">
                  <c:v>30</c:v>
                </c:pt>
                <c:pt idx="7">
                  <c:v>22</c:v>
                </c:pt>
                <c:pt idx="8">
                  <c:v>13</c:v>
                </c:pt>
                <c:pt idx="9">
                  <c:v>17</c:v>
                </c:pt>
                <c:pt idx="10">
                  <c:v>312</c:v>
                </c:pt>
                <c:pt idx="11">
                  <c:v>14</c:v>
                </c:pt>
              </c:numCache>
            </c:numRef>
          </c:val>
          <c:smooth val="0"/>
          <c:extLst>
            <c:ext xmlns:c16="http://schemas.microsoft.com/office/drawing/2014/chart" uri="{C3380CC4-5D6E-409C-BE32-E72D297353CC}">
              <c16:uniqueId val="{00000004-613A-144D-9198-B504C851AC66}"/>
            </c:ext>
          </c:extLst>
        </c:ser>
        <c:dLbls>
          <c:showLegendKey val="0"/>
          <c:showVal val="0"/>
          <c:showCatName val="0"/>
          <c:showSerName val="0"/>
          <c:showPercent val="0"/>
          <c:showBubbleSize val="0"/>
        </c:dLbls>
        <c:marker val="1"/>
        <c:smooth val="0"/>
        <c:axId val="1696374703"/>
        <c:axId val="1696344063"/>
      </c:lineChart>
      <c:catAx>
        <c:axId val="1696374703"/>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0" spcFirstLastPara="1" vertOverflow="ellipsis" wrap="square" anchor="ctr" anchorCtr="1"/>
          <a:lstStyle/>
          <a:p>
            <a:pPr>
              <a:defRPr sz="1197" b="0" i="0" u="none" strike="noStrike" kern="1200" baseline="0">
                <a:solidFill>
                  <a:schemeClr val="tx2"/>
                </a:solidFill>
                <a:latin typeface="+mn-lt"/>
                <a:ea typeface="+mn-ea"/>
                <a:cs typeface="+mn-cs"/>
              </a:defRPr>
            </a:pPr>
            <a:endParaRPr lang="en-NL"/>
          </a:p>
        </c:txPr>
        <c:crossAx val="1696344063"/>
        <c:crosses val="autoZero"/>
        <c:auto val="1"/>
        <c:lblAlgn val="ctr"/>
        <c:lblOffset val="10"/>
        <c:noMultiLvlLbl val="0"/>
      </c:catAx>
      <c:valAx>
        <c:axId val="1696344063"/>
        <c:scaling>
          <c:orientation val="minMax"/>
        </c:scaling>
        <c:delete val="1"/>
        <c:axPos val="l"/>
        <c:numFmt formatCode="General" sourceLinked="1"/>
        <c:majorTickMark val="none"/>
        <c:minorTickMark val="none"/>
        <c:tickLblPos val="nextTo"/>
        <c:crossAx val="1696374703"/>
        <c:crosses val="autoZero"/>
        <c:crossBetween val="between"/>
      </c:valAx>
      <c:spPr>
        <a:noFill/>
        <a:ln>
          <a:noFill/>
        </a:ln>
        <a:effectLst/>
      </c:spPr>
    </c:plotArea>
    <c:legend>
      <c:legendPos val="b"/>
      <c:legendEntry>
        <c:idx val="4"/>
        <c:delete val="1"/>
      </c:legendEntry>
      <c:layout>
        <c:manualLayout>
          <c:xMode val="edge"/>
          <c:yMode val="edge"/>
          <c:x val="0"/>
          <c:y val="0.85514823222286696"/>
          <c:w val="0.99682530616518883"/>
          <c:h val="0.144851767777133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8909766555187129E-2"/>
          <c:y val="6.0220552925546358E-2"/>
          <c:w val="0.94218046688962576"/>
          <c:h val="0.67221095212272064"/>
        </c:manualLayout>
      </c:layout>
      <c:barChart>
        <c:barDir val="col"/>
        <c:grouping val="stacked"/>
        <c:varyColors val="0"/>
        <c:ser>
          <c:idx val="0"/>
          <c:order val="0"/>
          <c:tx>
            <c:strRef>
              <c:f>Sheet1!$B$1</c:f>
              <c:strCache>
                <c:ptCount val="1"/>
                <c:pt idx="0">
                  <c:v>at most 14 days</c:v>
                </c:pt>
              </c:strCache>
            </c:strRef>
          </c:tx>
          <c:spPr>
            <a:solidFill>
              <a:srgbClr val="40C360"/>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Sheet1!$B$2:$B$13</c:f>
              <c:numCache>
                <c:formatCode>General</c:formatCode>
                <c:ptCount val="12"/>
                <c:pt idx="0">
                  <c:v>3</c:v>
                </c:pt>
                <c:pt idx="1">
                  <c:v>1</c:v>
                </c:pt>
                <c:pt idx="2">
                  <c:v>1</c:v>
                </c:pt>
                <c:pt idx="3">
                  <c:v>2</c:v>
                </c:pt>
                <c:pt idx="4">
                  <c:v>70</c:v>
                </c:pt>
                <c:pt idx="5">
                  <c:v>4</c:v>
                </c:pt>
                <c:pt idx="6">
                  <c:v>0</c:v>
                </c:pt>
                <c:pt idx="7">
                  <c:v>18</c:v>
                </c:pt>
                <c:pt idx="8">
                  <c:v>0</c:v>
                </c:pt>
                <c:pt idx="9">
                  <c:v>16</c:v>
                </c:pt>
                <c:pt idx="10">
                  <c:v>2</c:v>
                </c:pt>
                <c:pt idx="11">
                  <c:v>4</c:v>
                </c:pt>
              </c:numCache>
            </c:numRef>
          </c:val>
          <c:extLst>
            <c:ext xmlns:c16="http://schemas.microsoft.com/office/drawing/2014/chart" uri="{C3380CC4-5D6E-409C-BE32-E72D297353CC}">
              <c16:uniqueId val="{00000000-BFBC-094D-8877-0309CBC0B0DB}"/>
            </c:ext>
          </c:extLst>
        </c:ser>
        <c:ser>
          <c:idx val="1"/>
          <c:order val="1"/>
          <c:tx>
            <c:strRef>
              <c:f>Sheet1!$C$1</c:f>
              <c:strCache>
                <c:ptCount val="1"/>
                <c:pt idx="0">
                  <c:v>between 14 and 30 days</c:v>
                </c:pt>
              </c:strCache>
            </c:strRef>
          </c:tx>
          <c:spPr>
            <a:solidFill>
              <a:srgbClr val="39A498"/>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Sheet1!$C$2:$C$13</c:f>
              <c:numCache>
                <c:formatCode>General</c:formatCode>
                <c:ptCount val="12"/>
                <c:pt idx="0">
                  <c:v>39</c:v>
                </c:pt>
                <c:pt idx="1">
                  <c:v>0</c:v>
                </c:pt>
                <c:pt idx="2">
                  <c:v>0</c:v>
                </c:pt>
                <c:pt idx="3">
                  <c:v>24</c:v>
                </c:pt>
                <c:pt idx="4">
                  <c:v>147</c:v>
                </c:pt>
                <c:pt idx="5">
                  <c:v>3</c:v>
                </c:pt>
                <c:pt idx="6">
                  <c:v>6</c:v>
                </c:pt>
                <c:pt idx="7">
                  <c:v>2</c:v>
                </c:pt>
                <c:pt idx="8">
                  <c:v>3</c:v>
                </c:pt>
                <c:pt idx="9">
                  <c:v>1</c:v>
                </c:pt>
                <c:pt idx="10">
                  <c:v>0</c:v>
                </c:pt>
                <c:pt idx="11">
                  <c:v>0</c:v>
                </c:pt>
              </c:numCache>
            </c:numRef>
          </c:val>
          <c:extLst>
            <c:ext xmlns:c16="http://schemas.microsoft.com/office/drawing/2014/chart" uri="{C3380CC4-5D6E-409C-BE32-E72D297353CC}">
              <c16:uniqueId val="{00000001-BFBC-094D-8877-0309CBC0B0DB}"/>
            </c:ext>
          </c:extLst>
        </c:ser>
        <c:ser>
          <c:idx val="2"/>
          <c:order val="2"/>
          <c:tx>
            <c:strRef>
              <c:f>Sheet1!$D$1</c:f>
              <c:strCache>
                <c:ptCount val="1"/>
                <c:pt idx="0">
                  <c:v>between 30 and 180 days</c:v>
                </c:pt>
              </c:strCache>
            </c:strRef>
          </c:tx>
          <c:spPr>
            <a:solidFill>
              <a:srgbClr val="358AC7"/>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Sheet1!$D$2:$D$13</c:f>
              <c:numCache>
                <c:formatCode>General</c:formatCode>
                <c:ptCount val="12"/>
                <c:pt idx="0">
                  <c:v>84</c:v>
                </c:pt>
                <c:pt idx="1">
                  <c:v>11</c:v>
                </c:pt>
                <c:pt idx="2">
                  <c:v>2</c:v>
                </c:pt>
                <c:pt idx="3">
                  <c:v>106</c:v>
                </c:pt>
                <c:pt idx="4">
                  <c:v>7</c:v>
                </c:pt>
                <c:pt idx="5">
                  <c:v>11</c:v>
                </c:pt>
                <c:pt idx="6">
                  <c:v>13</c:v>
                </c:pt>
                <c:pt idx="7">
                  <c:v>16</c:v>
                </c:pt>
                <c:pt idx="8">
                  <c:v>13</c:v>
                </c:pt>
                <c:pt idx="9">
                  <c:v>23</c:v>
                </c:pt>
                <c:pt idx="10">
                  <c:v>13</c:v>
                </c:pt>
                <c:pt idx="11">
                  <c:v>16</c:v>
                </c:pt>
              </c:numCache>
            </c:numRef>
          </c:val>
          <c:extLst>
            <c:ext xmlns:c16="http://schemas.microsoft.com/office/drawing/2014/chart" uri="{C3380CC4-5D6E-409C-BE32-E72D297353CC}">
              <c16:uniqueId val="{00000002-BFBC-094D-8877-0309CBC0B0DB}"/>
            </c:ext>
          </c:extLst>
        </c:ser>
        <c:ser>
          <c:idx val="3"/>
          <c:order val="3"/>
          <c:tx>
            <c:strRef>
              <c:f>Sheet1!$E$1</c:f>
              <c:strCache>
                <c:ptCount val="1"/>
                <c:pt idx="0">
                  <c:v>at least 180 days</c:v>
                </c:pt>
              </c:strCache>
            </c:strRef>
          </c:tx>
          <c:spPr>
            <a:solidFill>
              <a:srgbClr val="2D6BFF"/>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Sheet1!$E$2:$E$13</c:f>
              <c:numCache>
                <c:formatCode>General</c:formatCode>
                <c:ptCount val="12"/>
                <c:pt idx="0">
                  <c:v>64</c:v>
                </c:pt>
                <c:pt idx="1">
                  <c:v>11</c:v>
                </c:pt>
                <c:pt idx="2">
                  <c:v>3</c:v>
                </c:pt>
                <c:pt idx="3">
                  <c:v>6</c:v>
                </c:pt>
                <c:pt idx="4">
                  <c:v>24</c:v>
                </c:pt>
                <c:pt idx="5">
                  <c:v>17</c:v>
                </c:pt>
                <c:pt idx="6">
                  <c:v>15</c:v>
                </c:pt>
                <c:pt idx="7">
                  <c:v>30</c:v>
                </c:pt>
                <c:pt idx="8">
                  <c:v>51</c:v>
                </c:pt>
                <c:pt idx="9">
                  <c:v>4</c:v>
                </c:pt>
                <c:pt idx="10">
                  <c:v>932</c:v>
                </c:pt>
                <c:pt idx="11">
                  <c:v>12</c:v>
                </c:pt>
              </c:numCache>
            </c:numRef>
          </c:val>
          <c:extLst>
            <c:ext xmlns:c16="http://schemas.microsoft.com/office/drawing/2014/chart" uri="{C3380CC4-5D6E-409C-BE32-E72D297353CC}">
              <c16:uniqueId val="{00000003-BFBC-094D-8877-0309CBC0B0DB}"/>
            </c:ext>
          </c:extLst>
        </c:ser>
        <c:dLbls>
          <c:showLegendKey val="0"/>
          <c:showVal val="0"/>
          <c:showCatName val="0"/>
          <c:showSerName val="0"/>
          <c:showPercent val="0"/>
          <c:showBubbleSize val="0"/>
        </c:dLbls>
        <c:gapWidth val="30"/>
        <c:overlap val="100"/>
        <c:axId val="1696374703"/>
        <c:axId val="1696344063"/>
      </c:barChart>
      <c:lineChart>
        <c:grouping val="standard"/>
        <c:varyColors val="0"/>
        <c:ser>
          <c:idx val="4"/>
          <c:order val="4"/>
          <c:tx>
            <c:strRef>
              <c:f>Sheet1!$F$1</c:f>
              <c:strCache>
                <c:ptCount val="1"/>
                <c:pt idx="0">
                  <c:v>Total</c:v>
                </c:pt>
              </c:strCache>
            </c:strRef>
          </c:tx>
          <c:spPr>
            <a:ln w="28575" cap="rnd">
              <a:noFill/>
              <a:round/>
            </a:ln>
            <a:effectLst/>
          </c:spPr>
          <c:marker>
            <c:symbol val="none"/>
          </c:marker>
          <c:dLbls>
            <c:spPr>
              <a:noFill/>
              <a:ln>
                <a:noFill/>
              </a:ln>
              <a:effectLst/>
            </c:spPr>
            <c:txPr>
              <a:bodyPr rot="0" spcFirstLastPara="1" vertOverflow="overflow" horzOverflow="overflow" vert="horz" wrap="none" lIns="36576" tIns="18288" rIns="36576" bIns="18288" anchor="ctr" anchorCtr="1">
                <a:spAutoFit/>
              </a:bodyPr>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flowChartAlternateProcess">
                    <a:avLst/>
                  </a:prstGeom>
                  <a:noFill/>
                  <a:ln>
                    <a:noFill/>
                  </a:ln>
                </c15:spPr>
                <c15:showLeaderLines val="0"/>
              </c:ext>
            </c:extLst>
          </c:dLbls>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Sheet1!$F$2:$F$13</c:f>
              <c:numCache>
                <c:formatCode>General</c:formatCode>
                <c:ptCount val="12"/>
                <c:pt idx="0">
                  <c:v>190</c:v>
                </c:pt>
                <c:pt idx="1">
                  <c:v>23</c:v>
                </c:pt>
                <c:pt idx="2">
                  <c:v>6</c:v>
                </c:pt>
                <c:pt idx="3">
                  <c:v>138</c:v>
                </c:pt>
                <c:pt idx="4">
                  <c:v>248</c:v>
                </c:pt>
                <c:pt idx="5">
                  <c:v>35</c:v>
                </c:pt>
                <c:pt idx="6">
                  <c:v>34</c:v>
                </c:pt>
                <c:pt idx="7">
                  <c:v>66</c:v>
                </c:pt>
                <c:pt idx="8">
                  <c:v>67</c:v>
                </c:pt>
                <c:pt idx="9">
                  <c:v>44</c:v>
                </c:pt>
                <c:pt idx="10">
                  <c:v>947</c:v>
                </c:pt>
                <c:pt idx="11">
                  <c:v>32</c:v>
                </c:pt>
              </c:numCache>
            </c:numRef>
          </c:val>
          <c:smooth val="0"/>
          <c:extLst>
            <c:ext xmlns:c16="http://schemas.microsoft.com/office/drawing/2014/chart" uri="{C3380CC4-5D6E-409C-BE32-E72D297353CC}">
              <c16:uniqueId val="{00000004-BFBC-094D-8877-0309CBC0B0DB}"/>
            </c:ext>
          </c:extLst>
        </c:ser>
        <c:dLbls>
          <c:showLegendKey val="0"/>
          <c:showVal val="0"/>
          <c:showCatName val="0"/>
          <c:showSerName val="0"/>
          <c:showPercent val="0"/>
          <c:showBubbleSize val="0"/>
        </c:dLbls>
        <c:marker val="1"/>
        <c:smooth val="0"/>
        <c:axId val="1696374703"/>
        <c:axId val="1696344063"/>
      </c:lineChart>
      <c:catAx>
        <c:axId val="1696374703"/>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0" spcFirstLastPara="1" vertOverflow="ellipsis" wrap="square" anchor="ctr" anchorCtr="1"/>
          <a:lstStyle/>
          <a:p>
            <a:pPr>
              <a:defRPr sz="1197" b="0" i="0" u="none" strike="noStrike" kern="1200" baseline="0">
                <a:solidFill>
                  <a:schemeClr val="tx2"/>
                </a:solidFill>
                <a:latin typeface="+mn-lt"/>
                <a:ea typeface="+mn-ea"/>
                <a:cs typeface="+mn-cs"/>
              </a:defRPr>
            </a:pPr>
            <a:endParaRPr lang="en-NL"/>
          </a:p>
        </c:txPr>
        <c:crossAx val="1696344063"/>
        <c:crosses val="autoZero"/>
        <c:auto val="1"/>
        <c:lblAlgn val="ctr"/>
        <c:lblOffset val="10"/>
        <c:noMultiLvlLbl val="0"/>
      </c:catAx>
      <c:valAx>
        <c:axId val="1696344063"/>
        <c:scaling>
          <c:orientation val="minMax"/>
        </c:scaling>
        <c:delete val="1"/>
        <c:axPos val="l"/>
        <c:numFmt formatCode="General" sourceLinked="1"/>
        <c:majorTickMark val="none"/>
        <c:minorTickMark val="none"/>
        <c:tickLblPos val="nextTo"/>
        <c:crossAx val="1696374703"/>
        <c:crosses val="autoZero"/>
        <c:crossBetween val="between"/>
      </c:valAx>
      <c:spPr>
        <a:noFill/>
        <a:ln>
          <a:noFill/>
        </a:ln>
        <a:effectLst/>
      </c:spPr>
    </c:plotArea>
    <c:legend>
      <c:legendPos val="b"/>
      <c:legendEntry>
        <c:idx val="4"/>
        <c:delete val="1"/>
      </c:legendEntry>
      <c:layout>
        <c:manualLayout>
          <c:xMode val="edge"/>
          <c:yMode val="edge"/>
          <c:x val="0"/>
          <c:y val="0.85514823222286696"/>
          <c:w val="0.99682530616518883"/>
          <c:h val="0.144851767777133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8909766555187129E-2"/>
          <c:y val="6.0220552925546358E-2"/>
          <c:w val="0.94218046688962576"/>
          <c:h val="0.67221095212272064"/>
        </c:manualLayout>
      </c:layout>
      <c:barChart>
        <c:barDir val="col"/>
        <c:grouping val="stacked"/>
        <c:varyColors val="0"/>
        <c:ser>
          <c:idx val="0"/>
          <c:order val="0"/>
          <c:tx>
            <c:strRef>
              <c:f>Sheet1!$B$1</c:f>
              <c:strCache>
                <c:ptCount val="1"/>
                <c:pt idx="0">
                  <c:v>at most 30 days</c:v>
                </c:pt>
              </c:strCache>
            </c:strRef>
          </c:tx>
          <c:spPr>
            <a:solidFill>
              <a:srgbClr val="40C360"/>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Sheet1!$B$2:$B$13</c:f>
              <c:numCache>
                <c:formatCode>General</c:formatCode>
                <c:ptCount val="12"/>
                <c:pt idx="0">
                  <c:v>7</c:v>
                </c:pt>
                <c:pt idx="1">
                  <c:v>1</c:v>
                </c:pt>
                <c:pt idx="2">
                  <c:v>2</c:v>
                </c:pt>
                <c:pt idx="3">
                  <c:v>24</c:v>
                </c:pt>
                <c:pt idx="4">
                  <c:v>39</c:v>
                </c:pt>
                <c:pt idx="5">
                  <c:v>5</c:v>
                </c:pt>
                <c:pt idx="6">
                  <c:v>5</c:v>
                </c:pt>
                <c:pt idx="7">
                  <c:v>11</c:v>
                </c:pt>
                <c:pt idx="8">
                  <c:v>2</c:v>
                </c:pt>
                <c:pt idx="9">
                  <c:v>11</c:v>
                </c:pt>
                <c:pt idx="10">
                  <c:v>6</c:v>
                </c:pt>
                <c:pt idx="11">
                  <c:v>104</c:v>
                </c:pt>
              </c:numCache>
            </c:numRef>
          </c:val>
          <c:extLst>
            <c:ext xmlns:c16="http://schemas.microsoft.com/office/drawing/2014/chart" uri="{C3380CC4-5D6E-409C-BE32-E72D297353CC}">
              <c16:uniqueId val="{00000000-BFBC-094D-8877-0309CBC0B0DB}"/>
            </c:ext>
          </c:extLst>
        </c:ser>
        <c:ser>
          <c:idx val="1"/>
          <c:order val="1"/>
          <c:tx>
            <c:strRef>
              <c:f>Sheet1!$C$1</c:f>
              <c:strCache>
                <c:ptCount val="1"/>
                <c:pt idx="0">
                  <c:v>between 30 and 180 days</c:v>
                </c:pt>
              </c:strCache>
            </c:strRef>
          </c:tx>
          <c:spPr>
            <a:solidFill>
              <a:srgbClr val="39A498"/>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Sheet1!$C$2:$C$13</c:f>
              <c:numCache>
                <c:formatCode>General</c:formatCode>
                <c:ptCount val="12"/>
                <c:pt idx="0">
                  <c:v>72</c:v>
                </c:pt>
                <c:pt idx="1">
                  <c:v>35</c:v>
                </c:pt>
                <c:pt idx="2">
                  <c:v>117</c:v>
                </c:pt>
                <c:pt idx="3">
                  <c:v>54</c:v>
                </c:pt>
                <c:pt idx="4">
                  <c:v>9</c:v>
                </c:pt>
                <c:pt idx="5">
                  <c:v>14</c:v>
                </c:pt>
                <c:pt idx="6">
                  <c:v>12</c:v>
                </c:pt>
                <c:pt idx="7">
                  <c:v>121</c:v>
                </c:pt>
                <c:pt idx="8">
                  <c:v>13</c:v>
                </c:pt>
                <c:pt idx="9">
                  <c:v>27</c:v>
                </c:pt>
                <c:pt idx="10">
                  <c:v>63</c:v>
                </c:pt>
                <c:pt idx="11">
                  <c:v>4</c:v>
                </c:pt>
              </c:numCache>
            </c:numRef>
          </c:val>
          <c:extLst>
            <c:ext xmlns:c16="http://schemas.microsoft.com/office/drawing/2014/chart" uri="{C3380CC4-5D6E-409C-BE32-E72D297353CC}">
              <c16:uniqueId val="{00000001-BFBC-094D-8877-0309CBC0B0DB}"/>
            </c:ext>
          </c:extLst>
        </c:ser>
        <c:ser>
          <c:idx val="2"/>
          <c:order val="2"/>
          <c:tx>
            <c:strRef>
              <c:f>Sheet1!$D$1</c:f>
              <c:strCache>
                <c:ptCount val="1"/>
                <c:pt idx="0">
                  <c:v>between 180 and 270 days</c:v>
                </c:pt>
              </c:strCache>
            </c:strRef>
          </c:tx>
          <c:spPr>
            <a:solidFill>
              <a:srgbClr val="358AC7"/>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Sheet1!$D$2:$D$13</c:f>
              <c:numCache>
                <c:formatCode>General</c:formatCode>
                <c:ptCount val="12"/>
                <c:pt idx="0">
                  <c:v>9</c:v>
                </c:pt>
                <c:pt idx="1">
                  <c:v>1</c:v>
                </c:pt>
                <c:pt idx="2">
                  <c:v>3</c:v>
                </c:pt>
                <c:pt idx="3">
                  <c:v>1</c:v>
                </c:pt>
                <c:pt idx="4">
                  <c:v>12</c:v>
                </c:pt>
                <c:pt idx="5">
                  <c:v>50</c:v>
                </c:pt>
                <c:pt idx="6">
                  <c:v>4</c:v>
                </c:pt>
                <c:pt idx="7">
                  <c:v>10</c:v>
                </c:pt>
                <c:pt idx="8">
                  <c:v>0</c:v>
                </c:pt>
                <c:pt idx="9">
                  <c:v>0</c:v>
                </c:pt>
                <c:pt idx="10">
                  <c:v>3</c:v>
                </c:pt>
                <c:pt idx="11">
                  <c:v>1</c:v>
                </c:pt>
              </c:numCache>
            </c:numRef>
          </c:val>
          <c:extLst>
            <c:ext xmlns:c16="http://schemas.microsoft.com/office/drawing/2014/chart" uri="{C3380CC4-5D6E-409C-BE32-E72D297353CC}">
              <c16:uniqueId val="{00000002-BFBC-094D-8877-0309CBC0B0DB}"/>
            </c:ext>
          </c:extLst>
        </c:ser>
        <c:ser>
          <c:idx val="3"/>
          <c:order val="3"/>
          <c:tx>
            <c:strRef>
              <c:f>Sheet1!$E$1</c:f>
              <c:strCache>
                <c:ptCount val="1"/>
                <c:pt idx="0">
                  <c:v>at least 270 days</c:v>
                </c:pt>
              </c:strCache>
            </c:strRef>
          </c:tx>
          <c:spPr>
            <a:solidFill>
              <a:srgbClr val="2D6BFF"/>
            </a:solidFill>
            <a:ln>
              <a:noFill/>
            </a:ln>
            <a:effectLst/>
          </c:spPr>
          <c:invertIfNegative val="0"/>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Sheet1!$E$2:$E$13</c:f>
              <c:numCache>
                <c:formatCode>General</c:formatCode>
                <c:ptCount val="12"/>
                <c:pt idx="0">
                  <c:v>48</c:v>
                </c:pt>
                <c:pt idx="1">
                  <c:v>59</c:v>
                </c:pt>
                <c:pt idx="2">
                  <c:v>18</c:v>
                </c:pt>
                <c:pt idx="3">
                  <c:v>24</c:v>
                </c:pt>
                <c:pt idx="4">
                  <c:v>31</c:v>
                </c:pt>
                <c:pt idx="5">
                  <c:v>113</c:v>
                </c:pt>
                <c:pt idx="6">
                  <c:v>53</c:v>
                </c:pt>
                <c:pt idx="7">
                  <c:v>143</c:v>
                </c:pt>
                <c:pt idx="8">
                  <c:v>29</c:v>
                </c:pt>
                <c:pt idx="9">
                  <c:v>14</c:v>
                </c:pt>
                <c:pt idx="10">
                  <c:v>176</c:v>
                </c:pt>
                <c:pt idx="11">
                  <c:v>13</c:v>
                </c:pt>
              </c:numCache>
            </c:numRef>
          </c:val>
          <c:extLst>
            <c:ext xmlns:c16="http://schemas.microsoft.com/office/drawing/2014/chart" uri="{C3380CC4-5D6E-409C-BE32-E72D297353CC}">
              <c16:uniqueId val="{00000003-BFBC-094D-8877-0309CBC0B0DB}"/>
            </c:ext>
          </c:extLst>
        </c:ser>
        <c:dLbls>
          <c:showLegendKey val="0"/>
          <c:showVal val="0"/>
          <c:showCatName val="0"/>
          <c:showSerName val="0"/>
          <c:showPercent val="0"/>
          <c:showBubbleSize val="0"/>
        </c:dLbls>
        <c:gapWidth val="30"/>
        <c:overlap val="100"/>
        <c:axId val="1696374703"/>
        <c:axId val="1696344063"/>
      </c:barChart>
      <c:lineChart>
        <c:grouping val="standard"/>
        <c:varyColors val="0"/>
        <c:ser>
          <c:idx val="4"/>
          <c:order val="4"/>
          <c:tx>
            <c:strRef>
              <c:f>Sheet1!$F$1</c:f>
              <c:strCache>
                <c:ptCount val="1"/>
                <c:pt idx="0">
                  <c:v>Total</c:v>
                </c:pt>
              </c:strCache>
            </c:strRef>
          </c:tx>
          <c:spPr>
            <a:ln w="28575" cap="rnd">
              <a:noFill/>
              <a:round/>
            </a:ln>
            <a:effectLst/>
          </c:spPr>
          <c:marker>
            <c:symbol val="none"/>
          </c:marker>
          <c:dLbls>
            <c:spPr>
              <a:noFill/>
              <a:ln>
                <a:noFill/>
              </a:ln>
              <a:effectLst/>
            </c:spPr>
            <c:txPr>
              <a:bodyPr rot="0" spcFirstLastPara="1" vertOverflow="overflow" horzOverflow="overflow" vert="horz" wrap="none" lIns="36576" tIns="18288" rIns="36576" bIns="18288" anchor="ctr" anchorCtr="1">
                <a:spAutoFit/>
              </a:bodyPr>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flowChartAlternateProcess">
                    <a:avLst/>
                  </a:prstGeom>
                  <a:noFill/>
                  <a:ln>
                    <a:noFill/>
                  </a:ln>
                </c15:spPr>
                <c15:showLeaderLines val="0"/>
              </c:ext>
            </c:extLst>
          </c:dLbls>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Sheet1!$F$2:$F$13</c:f>
              <c:numCache>
                <c:formatCode>General</c:formatCode>
                <c:ptCount val="12"/>
                <c:pt idx="0">
                  <c:v>136</c:v>
                </c:pt>
                <c:pt idx="1">
                  <c:v>96</c:v>
                </c:pt>
                <c:pt idx="2">
                  <c:v>140</c:v>
                </c:pt>
                <c:pt idx="3">
                  <c:v>103</c:v>
                </c:pt>
                <c:pt idx="4">
                  <c:v>91</c:v>
                </c:pt>
                <c:pt idx="5">
                  <c:v>182</c:v>
                </c:pt>
                <c:pt idx="6">
                  <c:v>74</c:v>
                </c:pt>
                <c:pt idx="7">
                  <c:v>285</c:v>
                </c:pt>
                <c:pt idx="8">
                  <c:v>44</c:v>
                </c:pt>
                <c:pt idx="9">
                  <c:v>52</c:v>
                </c:pt>
                <c:pt idx="10">
                  <c:v>248</c:v>
                </c:pt>
                <c:pt idx="11">
                  <c:v>122</c:v>
                </c:pt>
              </c:numCache>
            </c:numRef>
          </c:val>
          <c:smooth val="0"/>
          <c:extLst>
            <c:ext xmlns:c16="http://schemas.microsoft.com/office/drawing/2014/chart" uri="{C3380CC4-5D6E-409C-BE32-E72D297353CC}">
              <c16:uniqueId val="{00000004-BFBC-094D-8877-0309CBC0B0DB}"/>
            </c:ext>
          </c:extLst>
        </c:ser>
        <c:dLbls>
          <c:showLegendKey val="0"/>
          <c:showVal val="0"/>
          <c:showCatName val="0"/>
          <c:showSerName val="0"/>
          <c:showPercent val="0"/>
          <c:showBubbleSize val="0"/>
        </c:dLbls>
        <c:marker val="1"/>
        <c:smooth val="0"/>
        <c:axId val="1696374703"/>
        <c:axId val="1696344063"/>
      </c:lineChart>
      <c:catAx>
        <c:axId val="1696374703"/>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0" spcFirstLastPara="1" vertOverflow="ellipsis" wrap="square" anchor="ctr" anchorCtr="1"/>
          <a:lstStyle/>
          <a:p>
            <a:pPr>
              <a:defRPr sz="1197" b="0" i="0" u="none" strike="noStrike" kern="1200" baseline="0">
                <a:solidFill>
                  <a:schemeClr val="tx2"/>
                </a:solidFill>
                <a:latin typeface="+mn-lt"/>
                <a:ea typeface="+mn-ea"/>
                <a:cs typeface="+mn-cs"/>
              </a:defRPr>
            </a:pPr>
            <a:endParaRPr lang="en-NL"/>
          </a:p>
        </c:txPr>
        <c:crossAx val="1696344063"/>
        <c:crosses val="autoZero"/>
        <c:auto val="1"/>
        <c:lblAlgn val="ctr"/>
        <c:lblOffset val="10"/>
        <c:noMultiLvlLbl val="0"/>
      </c:catAx>
      <c:valAx>
        <c:axId val="1696344063"/>
        <c:scaling>
          <c:orientation val="minMax"/>
        </c:scaling>
        <c:delete val="1"/>
        <c:axPos val="l"/>
        <c:numFmt formatCode="General" sourceLinked="1"/>
        <c:majorTickMark val="none"/>
        <c:minorTickMark val="none"/>
        <c:tickLblPos val="nextTo"/>
        <c:crossAx val="1696374703"/>
        <c:crosses val="autoZero"/>
        <c:crossBetween val="between"/>
      </c:valAx>
      <c:spPr>
        <a:noFill/>
        <a:ln>
          <a:noFill/>
        </a:ln>
        <a:effectLst/>
      </c:spPr>
    </c:plotArea>
    <c:legend>
      <c:legendPos val="b"/>
      <c:legendEntry>
        <c:idx val="4"/>
        <c:delete val="1"/>
      </c:legendEntry>
      <c:layout>
        <c:manualLayout>
          <c:xMode val="edge"/>
          <c:yMode val="edge"/>
          <c:x val="0"/>
          <c:y val="0.85514823222286696"/>
          <c:w val="0.99682530616518883"/>
          <c:h val="0.144851767777133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withinLinear" id="15">
  <a:schemeClr val="accent2"/>
</cs:colorStyle>
</file>

<file path=ppt/charts/colors9.xml><?xml version="1.0" encoding="utf-8"?>
<cs:colorStyle xmlns:cs="http://schemas.microsoft.com/office/drawing/2012/chartStyle" xmlns:a="http://schemas.openxmlformats.org/drawingml/2006/main" meth="withinLinear" id="15">
  <a:schemeClr val="accent2"/>
</cs:colorStyle>
</file>

<file path=ppt/charts/colors10.xml><?xml version="1.0" encoding="utf-8"?>
<cs:colorStyle xmlns:cs="http://schemas.microsoft.com/office/drawing/2012/chartStyle" xmlns:a="http://schemas.openxmlformats.org/drawingml/2006/main" meth="withinLinear" id="15">
  <a:schemeClr val="accent2"/>
</cs:colorStyle>
</file>

<file path=ppt/charts/colors11.xml><?xml version="1.0" encoding="utf-8"?>
<cs:colorStyle xmlns:cs="http://schemas.microsoft.com/office/drawing/2012/chartStyle" xmlns:a="http://schemas.openxmlformats.org/drawingml/2006/main" meth="withinLinear" id="15">
  <a:schemeClr val="accent2"/>
</cs:colorStyle>
</file>

<file path=ppt/charts/colors12.xml><?xml version="1.0" encoding="utf-8"?>
<cs:colorStyle xmlns:cs="http://schemas.microsoft.com/office/drawing/2012/chartStyle" xmlns:a="http://schemas.openxmlformats.org/drawingml/2006/main" meth="withinLinear" id="15">
  <a:schemeClr val="accent2"/>
</cs:colorStyle>
</file>

<file path=ppt/charts/colors13.xml><?xml version="1.0" encoding="utf-8"?>
<cs:colorStyle xmlns:cs="http://schemas.microsoft.com/office/drawing/2012/chartStyle" xmlns:a="http://schemas.openxmlformats.org/drawingml/2006/main" meth="withinLinear" id="15">
  <a:schemeClr val="accent2"/>
</cs:colorStyle>
</file>

<file path=ppt/charts/colors14.xml><?xml version="1.0" encoding="utf-8"?>
<cs:colorStyle xmlns:cs="http://schemas.microsoft.com/office/drawing/2012/chartStyle" xmlns:a="http://schemas.openxmlformats.org/drawingml/2006/main" meth="withinLinear" id="15">
  <a:schemeClr val="accent2"/>
</cs:colorStyle>
</file>

<file path=ppt/charts/colors15.xml><?xml version="1.0" encoding="utf-8"?>
<cs:colorStyle xmlns:cs="http://schemas.microsoft.com/office/drawing/2012/chartStyle" xmlns:a="http://schemas.openxmlformats.org/drawingml/2006/main" meth="withinLinear" id="15">
  <a:schemeClr val="accent2"/>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2/23/26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2/23/26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E62B7-BF97-0973-EDF4-48908FBE9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D3CEDA-8AB3-6AF0-70C6-E15C6FC8C2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069262-B5A4-2FCE-7E08-7EAAD1DB39B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B9485A-62C7-3089-C70F-6405456B244F}"/>
              </a:ext>
            </a:extLst>
          </p:cNvPr>
          <p:cNvSpPr>
            <a:spLocks noGrp="1"/>
          </p:cNvSpPr>
          <p:nvPr>
            <p:ph type="sldNum" sz="quarter" idx="5"/>
          </p:nvPr>
        </p:nvSpPr>
        <p:spPr/>
        <p:txBody>
          <a:bodyPr/>
          <a:lstStyle/>
          <a:p>
            <a:fld id="{4408DED6-61EF-5240-95D8-926F20A98C89}" type="slidenum">
              <a:rPr lang="en-US" smtClean="0"/>
              <a:t>4</a:t>
            </a:fld>
            <a:endParaRPr lang="en-US"/>
          </a:p>
        </p:txBody>
      </p:sp>
    </p:spTree>
    <p:extLst>
      <p:ext uri="{BB962C8B-B14F-4D97-AF65-F5344CB8AC3E}">
        <p14:creationId xmlns:p14="http://schemas.microsoft.com/office/powerpoint/2010/main" val="2483554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2D2F1-F27E-F008-D28F-A80C65A79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FE20B-AC68-A715-1904-A8997A740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90C4E-EA51-177C-42BA-46AF20D0BD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9E6F7B-6012-765E-DCF5-2558BB00D944}"/>
              </a:ext>
            </a:extLst>
          </p:cNvPr>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186323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77F13-6185-DA3A-E4BF-93AB08710E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AA878-4BCC-C37E-C60B-5C73D7AB7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91676A-8DB0-EB68-AFE3-4B5980881A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71DA36-1389-3F55-2F71-57DFDF61FB82}"/>
              </a:ext>
            </a:extLst>
          </p:cNvPr>
          <p:cNvSpPr>
            <a:spLocks noGrp="1"/>
          </p:cNvSpPr>
          <p:nvPr>
            <p:ph type="sldNum" sz="quarter" idx="5"/>
          </p:nvPr>
        </p:nvSpPr>
        <p:spPr/>
        <p:txBody>
          <a:bodyPr/>
          <a:lstStyle/>
          <a:p>
            <a:fld id="{4408DED6-61EF-5240-95D8-926F20A98C89}" type="slidenum">
              <a:rPr lang="en-US" smtClean="0"/>
              <a:t>6</a:t>
            </a:fld>
            <a:endParaRPr lang="en-US"/>
          </a:p>
        </p:txBody>
      </p:sp>
    </p:spTree>
    <p:extLst>
      <p:ext uri="{BB962C8B-B14F-4D97-AF65-F5344CB8AC3E}">
        <p14:creationId xmlns:p14="http://schemas.microsoft.com/office/powerpoint/2010/main" val="1577838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C86E9-8DBC-7315-34FD-58C7242D7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AD624-4D2F-82F2-F904-1C760725E6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94E577-5C9F-05A6-2A63-85479AB3CA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F9DF337-03B5-BF71-3308-EB7914FE237B}"/>
              </a:ext>
            </a:extLst>
          </p:cNvPr>
          <p:cNvSpPr>
            <a:spLocks noGrp="1"/>
          </p:cNvSpPr>
          <p:nvPr>
            <p:ph type="sldNum" sz="quarter" idx="5"/>
          </p:nvPr>
        </p:nvSpPr>
        <p:spPr/>
        <p:txBody>
          <a:bodyPr/>
          <a:lstStyle/>
          <a:p>
            <a:fld id="{4408DED6-61EF-5240-95D8-926F20A98C89}" type="slidenum">
              <a:rPr lang="en-US" smtClean="0"/>
              <a:t>7</a:t>
            </a:fld>
            <a:endParaRPr lang="en-US"/>
          </a:p>
        </p:txBody>
      </p:sp>
    </p:spTree>
    <p:extLst>
      <p:ext uri="{BB962C8B-B14F-4D97-AF65-F5344CB8AC3E}">
        <p14:creationId xmlns:p14="http://schemas.microsoft.com/office/powerpoint/2010/main" val="3076330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2D0F5-8BBF-7EE5-13F5-9F0CF5DC73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9B9BD-FD8B-6877-05B7-E767615347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3D1F4E-1948-87BC-0DC9-1B2643E769D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F1974D-1303-6585-E51A-9BB4C093391B}"/>
              </a:ext>
            </a:extLst>
          </p:cNvPr>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22635330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2AC41-72C5-457E-68E0-ABA79431E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875686-AB67-CADF-5E29-F5A5E8D972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487485-085D-0D90-7A80-DA34DCDD1B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BB4E9A-7183-4A81-0FF4-A45C762933E3}"/>
              </a:ext>
            </a:extLst>
          </p:cNvPr>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6713711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19</a:t>
            </a:fld>
            <a:endParaRPr lang="en-US"/>
          </a:p>
        </p:txBody>
      </p:sp>
    </p:spTree>
    <p:extLst>
      <p:ext uri="{BB962C8B-B14F-4D97-AF65-F5344CB8AC3E}">
        <p14:creationId xmlns:p14="http://schemas.microsoft.com/office/powerpoint/2010/main" val="507022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9E683-C9EC-1D45-88B8-5E84B58549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B5CBF-3012-045D-BF54-6FE84596A0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33B5E4-7175-81ED-5825-D28FF4AD053C}"/>
              </a:ext>
            </a:extLst>
          </p:cNvPr>
          <p:cNvSpPr>
            <a:spLocks noGrp="1"/>
          </p:cNvSpPr>
          <p:nvPr>
            <p:ph type="body" idx="1"/>
          </p:nvPr>
        </p:nvSpPr>
        <p:spPr/>
        <p:txBody>
          <a:bodyPr/>
          <a:lstStyle/>
          <a:p>
            <a:endParaRPr lang="nl-NL"/>
          </a:p>
        </p:txBody>
      </p:sp>
      <p:sp>
        <p:nvSpPr>
          <p:cNvPr id="4" name="Slide Number Placeholder 3">
            <a:extLst>
              <a:ext uri="{FF2B5EF4-FFF2-40B4-BE49-F238E27FC236}">
                <a16:creationId xmlns:a16="http://schemas.microsoft.com/office/drawing/2014/main" id="{A17745D3-74FD-0ADA-5B6C-DC6DBDDF1CBA}"/>
              </a:ext>
            </a:extLst>
          </p:cNvPr>
          <p:cNvSpPr>
            <a:spLocks noGrp="1"/>
          </p:cNvSpPr>
          <p:nvPr>
            <p:ph type="sldNum" sz="quarter" idx="5"/>
          </p:nvPr>
        </p:nvSpPr>
        <p:spPr/>
        <p:txBody>
          <a:bodyPr/>
          <a:lstStyle/>
          <a:p>
            <a:fld id="{87C65466-C581-7E43-9AE7-259D040BA751}" type="slidenum">
              <a:rPr lang="nl-NL" smtClean="0"/>
              <a:t>20</a:t>
            </a:fld>
            <a:endParaRPr lang="nl-NL"/>
          </a:p>
        </p:txBody>
      </p:sp>
    </p:spTree>
    <p:extLst>
      <p:ext uri="{BB962C8B-B14F-4D97-AF65-F5344CB8AC3E}">
        <p14:creationId xmlns:p14="http://schemas.microsoft.com/office/powerpoint/2010/main" val="1031868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A74F8-E8A1-04EC-B454-288A2CC88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6F02B9-A2E5-ED61-3237-42E0AC4BBB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B8B389-453E-3433-6FA3-9E9724AFA981}"/>
              </a:ext>
            </a:extLst>
          </p:cNvPr>
          <p:cNvSpPr>
            <a:spLocks noGrp="1"/>
          </p:cNvSpPr>
          <p:nvPr>
            <p:ph type="body" idx="1"/>
          </p:nvPr>
        </p:nvSpPr>
        <p:spPr/>
        <p:txBody>
          <a:bodyPr/>
          <a:lstStyle/>
          <a:p>
            <a:endParaRPr lang="nl-NL"/>
          </a:p>
        </p:txBody>
      </p:sp>
      <p:sp>
        <p:nvSpPr>
          <p:cNvPr id="4" name="Slide Number Placeholder 3">
            <a:extLst>
              <a:ext uri="{FF2B5EF4-FFF2-40B4-BE49-F238E27FC236}">
                <a16:creationId xmlns:a16="http://schemas.microsoft.com/office/drawing/2014/main" id="{23E964E3-FBDC-C133-4E72-F1AAC73304DF}"/>
              </a:ext>
            </a:extLst>
          </p:cNvPr>
          <p:cNvSpPr>
            <a:spLocks noGrp="1"/>
          </p:cNvSpPr>
          <p:nvPr>
            <p:ph type="sldNum" sz="quarter" idx="5"/>
          </p:nvPr>
        </p:nvSpPr>
        <p:spPr/>
        <p:txBody>
          <a:bodyPr/>
          <a:lstStyle/>
          <a:p>
            <a:fld id="{87C65466-C581-7E43-9AE7-259D040BA751}" type="slidenum">
              <a:rPr lang="nl-NL" smtClean="0"/>
              <a:t>21</a:t>
            </a:fld>
            <a:endParaRPr lang="nl-NL"/>
          </a:p>
        </p:txBody>
      </p:sp>
    </p:spTree>
    <p:extLst>
      <p:ext uri="{BB962C8B-B14F-4D97-AF65-F5344CB8AC3E}">
        <p14:creationId xmlns:p14="http://schemas.microsoft.com/office/powerpoint/2010/main" val="32756031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440C3-8B77-A987-276E-F1D31C851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65009-84BF-8836-E818-4EE4D95DB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97E46-BEF0-F40D-55DD-BD10F77479EA}"/>
              </a:ext>
            </a:extLst>
          </p:cNvPr>
          <p:cNvSpPr>
            <a:spLocks noGrp="1"/>
          </p:cNvSpPr>
          <p:nvPr>
            <p:ph type="body" idx="1"/>
          </p:nvPr>
        </p:nvSpPr>
        <p:spPr/>
        <p:txBody>
          <a:bodyPr/>
          <a:lstStyle/>
          <a:p>
            <a:endParaRPr lang="nl-NL"/>
          </a:p>
        </p:txBody>
      </p:sp>
      <p:sp>
        <p:nvSpPr>
          <p:cNvPr id="4" name="Slide Number Placeholder 3">
            <a:extLst>
              <a:ext uri="{FF2B5EF4-FFF2-40B4-BE49-F238E27FC236}">
                <a16:creationId xmlns:a16="http://schemas.microsoft.com/office/drawing/2014/main" id="{D166F44B-8DFA-7FEC-E0BE-04E5455D626F}"/>
              </a:ext>
            </a:extLst>
          </p:cNvPr>
          <p:cNvSpPr>
            <a:spLocks noGrp="1"/>
          </p:cNvSpPr>
          <p:nvPr>
            <p:ph type="sldNum" sz="quarter" idx="5"/>
          </p:nvPr>
        </p:nvSpPr>
        <p:spPr/>
        <p:txBody>
          <a:bodyPr/>
          <a:lstStyle/>
          <a:p>
            <a:fld id="{87C65466-C581-7E43-9AE7-259D040BA751}" type="slidenum">
              <a:rPr lang="nl-NL" smtClean="0"/>
              <a:t>22</a:t>
            </a:fld>
            <a:endParaRPr lang="nl-NL"/>
          </a:p>
        </p:txBody>
      </p:sp>
    </p:spTree>
    <p:extLst>
      <p:ext uri="{BB962C8B-B14F-4D97-AF65-F5344CB8AC3E}">
        <p14:creationId xmlns:p14="http://schemas.microsoft.com/office/powerpoint/2010/main" val="4023927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31</a:t>
            </a:fld>
            <a:endParaRPr lang="en-US"/>
          </a:p>
        </p:txBody>
      </p:sp>
    </p:spTree>
    <p:extLst>
      <p:ext uri="{BB962C8B-B14F-4D97-AF65-F5344CB8AC3E}">
        <p14:creationId xmlns:p14="http://schemas.microsoft.com/office/powerpoint/2010/main" val="2057237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9.png"/><Relationship Id="rId9" Type="http://schemas.openxmlformats.org/officeDocument/2006/relationships/image" Target="../media/image10.svg"/><Relationship Id="rId10" Type="http://schemas.openxmlformats.org/officeDocument/2006/relationships/image" Target="../media/image11.png"/><Relationship Id="rId11" Type="http://schemas.openxmlformats.org/officeDocument/2006/relationships/image" Target="../media/image12.svg"/><Relationship Id="rId12" Type="http://schemas.openxmlformats.org/officeDocument/2006/relationships/image" Target="../media/image13.png"/><Relationship Id="rId13" Type="http://schemas.openxmlformats.org/officeDocument/2006/relationships/image" Target="../media/image1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jdelijke aanduiding voor voettekst 1">
            <a:extLst>
              <a:ext uri="{FF2B5EF4-FFF2-40B4-BE49-F238E27FC236}">
                <a16:creationId xmlns:a16="http://schemas.microsoft.com/office/drawing/2014/main" id="{D962B193-53CA-0D19-0118-C61D7DEBCFE8}"/>
              </a:ext>
            </a:extLst>
          </p:cNvPr>
          <p:cNvSpPr>
            <a:spLocks noGrp="1"/>
          </p:cNvSpPr>
          <p:nvPr>
            <p:ph type="ftr" sz="quarter" idx="14"/>
          </p:nvPr>
        </p:nvSpPr>
        <p:spPr>
          <a:xfrm>
            <a:off x="849600" y="6462000"/>
            <a:ext cx="1085851" cy="231923"/>
          </a:xfrm>
          <a:prstGeom prst="rect">
            <a:avLst/>
          </a:prstGeom>
        </p:spPr>
        <p:txBody>
          <a:bodyPr/>
          <a:lstStyle>
            <a:lvl1pPr>
              <a:defRPr>
                <a:solidFill>
                  <a:srgbClr val="FFFFFF"/>
                </a:solidFill>
              </a:defRPr>
            </a:lvl1pPr>
          </a:lstStyle>
          <a:p>
            <a:r>
              <a:rPr lang="nl-NL"/>
              <a:t>Confidential</a:t>
            </a:r>
            <a:endParaRPr lang="nl-NL" dirty="0"/>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r:embed="rId2">
            <a:alphaModFix amt="80000"/>
            <a:lum bright="-100000"/>
            <a:extLst>
              <a:ext uri="{96DAC541-7B7A-43D3-8B79-37D633B846F1}">
                <asvg:svgBlip xmlns:asvg="http://schemas.microsoft.com/office/drawing/2016/SVG/main" r:embed="rId3"/>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r:embed="rId4">
            <a:alphaModFix amt="80000"/>
            <a:lum bright="-100000"/>
            <a:extLst>
              <a:ext uri="{96DAC541-7B7A-43D3-8B79-37D633B846F1}">
                <asvg:svgBlip xmlns:asvg="http://schemas.microsoft.com/office/drawing/2016/SVG/main" r:embed="rId5"/>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r:embed="rId6">
            <a:alphaModFix amt="80000"/>
            <a:lum bright="-100000"/>
            <a:extLst>
              <a:ext uri="{96DAC541-7B7A-43D3-8B79-37D633B846F1}">
                <asvg:svgBlip xmlns:asvg="http://schemas.microsoft.com/office/drawing/2016/SVG/main" r:embed="rId7"/>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r:embed="rId8">
            <a:alphaModFix amt="80000"/>
            <a:lum bright="-100000"/>
            <a:extLst>
              <a:ext uri="{96DAC541-7B7A-43D3-8B79-37D633B846F1}">
                <asvg:svgBlip xmlns:asvg="http://schemas.microsoft.com/office/drawing/2016/SVG/main" r:embed="rId9"/>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0" i="0" dirty="0">
                <a:solidFill>
                  <a:schemeClr val="tx1"/>
                </a:solidFill>
                <a:latin typeface="☞NOIR PRO MEDIUM" pitchFamily="2"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rgbClr val="88ADF5"/>
              </a:gs>
              <a:gs pos="76000">
                <a:schemeClr val="accent3">
                  <a:alpha val="25000"/>
                </a:schemeClr>
              </a:gs>
              <a:gs pos="0">
                <a:schemeClr val="accent3">
                  <a:alpha val="0"/>
                </a:schemeClr>
              </a:gs>
            </a:gsLst>
            <a:lin ang="2700000" scaled="0"/>
          </a:gradFill>
          <a:ln w="9525">
            <a:solidFill>
              <a:schemeClr val="accent3">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accent2"/>
                </a:solidFill>
                <a:latin typeface="Calibri" panose="020F0502020204030204" pitchFamily="34" charset="0"/>
                <a:cs typeface="Calibri" panose="020F0502020204030204" pitchFamily="34" charset="0"/>
              </a:rPr>
              <a:t>external</a:t>
            </a:r>
            <a:br>
              <a:rPr lang="en-US" sz="1100" dirty="0">
                <a:solidFill>
                  <a:schemeClr val="accent2"/>
                </a:solidFill>
                <a:latin typeface="Calibri" panose="020F0502020204030204" pitchFamily="34" charset="0"/>
                <a:cs typeface="Calibri" panose="020F0502020204030204" pitchFamily="34" charset="0"/>
              </a:rPr>
            </a:br>
            <a:r>
              <a:rPr lang="en-US" sz="1100" dirty="0">
                <a:solidFill>
                  <a:schemeClr val="accent2"/>
                </a:solidFill>
                <a:latin typeface="Calibri" panose="020F0502020204030204" pitchFamily="34" charset="0"/>
                <a:cs typeface="Calibri" panose="020F0502020204030204" pitchFamily="34" charset="0"/>
              </a:rPr>
              <a:t>dependencies</a:t>
            </a:r>
            <a:endParaRPr lang="en-US" sz="1200" spc="-50" noProof="1">
              <a:solidFill>
                <a:schemeClr val="accent2"/>
              </a:solidFill>
              <a:cs typeface="TheSansMono M5"/>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dirty="0">
                <a:solidFill>
                  <a:schemeClr val="tx1">
                    <a:alpha val="50000"/>
                  </a:schemeClr>
                </a:solidFill>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dirty="0">
                <a:solidFill>
                  <a:schemeClr val="tx1"/>
                </a:solidFill>
              </a:rPr>
              <a:t>Libraries with </a:t>
            </a:r>
            <a:r>
              <a:rPr lang="en-US" sz="1200" b="1" dirty="0">
                <a:solidFill>
                  <a:schemeClr val="tx1"/>
                </a:solidFill>
              </a:rPr>
              <a:t>vulnerability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legal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freshness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stability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management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activity </a:t>
            </a:r>
            <a:r>
              <a:rPr lang="en-US" sz="1200" dirty="0">
                <a:solidFill>
                  <a:schemeClr val="tx1"/>
                </a:solidFill>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421846"/>
            <a:ext cx="5614794" cy="4896154"/>
          </a:xfrm>
        </p:spPr>
        <p:txBody>
          <a:bodyPr>
            <a:noAutofit/>
          </a:bodyPr>
          <a:lstStyle>
            <a:lvl1pPr marL="285750" indent="-279400">
              <a:buFont typeface="Arial" panose="020B0604020202020204" pitchFamily="34" charset="0"/>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accent2"/>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2" name="Titel 1">
            <a:extLst>
              <a:ext uri="{FF2B5EF4-FFF2-40B4-BE49-F238E27FC236}">
                <a16:creationId xmlns:a16="http://schemas.microsoft.com/office/drawing/2014/main" id="{85F2A81F-5932-87E7-D36E-A48D21EE92CB}"/>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3" name="Tijdelijke aanduiding voor voettekst 2">
            <a:extLst>
              <a:ext uri="{FF2B5EF4-FFF2-40B4-BE49-F238E27FC236}">
                <a16:creationId xmlns:a16="http://schemas.microsoft.com/office/drawing/2014/main" id="{894A2A75-3145-2B40-BD84-D3A76CD6FFAD}"/>
              </a:ext>
            </a:extLst>
          </p:cNvPr>
          <p:cNvSpPr>
            <a:spLocks noGrp="1"/>
          </p:cNvSpPr>
          <p:nvPr>
            <p:ph type="ftr" sz="quarter" idx="20"/>
          </p:nvPr>
        </p:nvSpPr>
        <p:spPr/>
        <p:txBody>
          <a:bodyPr/>
          <a:lstStyle/>
          <a:p>
            <a:r>
              <a:rPr lang="nl-NL"/>
              <a:t>Confidential</a:t>
            </a:r>
          </a:p>
        </p:txBody>
      </p:sp>
      <p:sp>
        <p:nvSpPr>
          <p:cNvPr id="4" name="Tijdelijke aanduiding voor dianummer 3">
            <a:extLst>
              <a:ext uri="{FF2B5EF4-FFF2-40B4-BE49-F238E27FC236}">
                <a16:creationId xmlns:a16="http://schemas.microsoft.com/office/drawing/2014/main" id="{C4399855-F056-C1EA-96E3-8F6B2FE87A89}"/>
              </a:ext>
            </a:extLst>
          </p:cNvPr>
          <p:cNvSpPr>
            <a:spLocks noGrp="1"/>
          </p:cNvSpPr>
          <p:nvPr>
            <p:ph type="sldNum" sz="quarter" idx="21"/>
          </p:nvPr>
        </p:nvSpPr>
        <p:spPr/>
        <p:txBody>
          <a:bodyPr/>
          <a:lstStyle/>
          <a:p>
            <a:fld id="{E242BD21-9B61-2246-BCB1-4BE5E1BEBE1C}" type="slidenum">
              <a:rPr lang="nl-NL" smtClean="0"/>
              <a:pPr/>
              <a:t>‹#›</a:t>
            </a:fld>
            <a:endParaRPr lang="nl-NL"/>
          </a:p>
        </p:txBody>
      </p:sp>
      <p:sp>
        <p:nvSpPr>
          <p:cNvPr id="5" name="Text Placeholder 4">
            <a:extLst>
              <a:ext uri="{FF2B5EF4-FFF2-40B4-BE49-F238E27FC236}">
                <a16:creationId xmlns:a16="http://schemas.microsoft.com/office/drawing/2014/main" id="{B55AD1E1-E49C-07DA-9E88-2A64DC932614}"/>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r:embed="rId12">
            <a:alphaModFix amt="80000"/>
            <a:lum bright="-100000"/>
            <a:extLst>
              <a:ext uri="{96DAC541-7B7A-43D3-8B79-37D633B846F1}">
                <asvg:svgBlip xmlns:asvg="http://schemas.microsoft.com/office/drawing/2016/SVG/main" r:embed="rId13"/>
              </a:ext>
            </a:extLst>
          </a:blip>
          <a:stretch>
            <a:fillRect/>
          </a:stretch>
        </p:blipFill>
        <p:spPr>
          <a:xfrm>
            <a:off x="2608465" y="5199916"/>
            <a:ext cx="228600" cy="228600"/>
          </a:xfrm>
          <a:prstGeom prst="rect">
            <a:avLst/>
          </a:prstGeom>
        </p:spPr>
      </p:pic>
    </p:spTree>
    <p:extLst>
      <p:ext uri="{BB962C8B-B14F-4D97-AF65-F5344CB8AC3E}">
        <p14:creationId xmlns:p14="http://schemas.microsoft.com/office/powerpoint/2010/main" val="65897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a:t>Confidential</a:t>
            </a:r>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7"/>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 id="2147483793" r:id="rId5"/>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hart" Target="../charts/char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hart" Target="../charts/char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hart" Target="../charts/char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24.png"/><Relationship Id="rId5" Type="http://schemas.openxmlformats.org/officeDocument/2006/relationships/image" Target="../media/image29.png"/><Relationship Id="rId6"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6.xml"/><Relationship Id="rId3" Type="http://schemas.openxmlformats.org/officeDocument/2006/relationships/chart" Target="../charts/char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8.xml"/><Relationship Id="rId3" Type="http://schemas.openxmlformats.org/officeDocument/2006/relationships/chart" Target="../charts/char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chart" Target="../charts/chart20.xml"/><Relationship Id="rId5" Type="http://schemas.openxmlformats.org/officeDocument/2006/relationships/chart" Target="../charts/chart21.xml"/><Relationship Id="rId6" Type="http://schemas.openxmlformats.org/officeDocument/2006/relationships/chart" Target="../charts/chart22.xml"/><Relationship Id="rId7" Type="http://schemas.openxmlformats.org/officeDocument/2006/relationships/chart" Target="../charts/chart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chart" Target="../charts/chart24.xml"/><Relationship Id="rId5" Type="http://schemas.openxmlformats.org/officeDocument/2006/relationships/chart" Target="../charts/chart25.xml"/><Relationship Id="rId6" Type="http://schemas.openxmlformats.org/officeDocument/2006/relationships/chart" Target="../charts/char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chart" Target="../charts/chart27.xml"/><Relationship Id="rId5" Type="http://schemas.openxmlformats.org/officeDocument/2006/relationships/chart" Target="../charts/chart28.xml"/><Relationship Id="rId6" Type="http://schemas.openxmlformats.org/officeDocument/2006/relationships/chart" Target="../charts/char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GB" dirty="0"/>
              <a:t>Opendemo</a:t>
            </a:r>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GB" dirty="0"/>
              <a:t>Portfolio Overview</a:t>
            </a:r>
          </a:p>
        </p:txBody>
      </p:sp>
      <p:sp>
        <p:nvSpPr>
          <p:cNvPr id="7" name="Tijdelijke aanduiding voor voettekst 6">
            <a:extLst>
              <a:ext uri="{FF2B5EF4-FFF2-40B4-BE49-F238E27FC236}">
                <a16:creationId xmlns:a16="http://schemas.microsoft.com/office/drawing/2014/main" id="{F8AE1EA7-9945-5054-6361-8E1EAAA9FC90}"/>
              </a:ext>
            </a:extLst>
          </p:cNvPr>
          <p:cNvSpPr>
            <a:spLocks noGrp="1"/>
          </p:cNvSpPr>
          <p:nvPr>
            <p:ph type="ftr" sz="quarter" idx="44"/>
          </p:nvPr>
        </p:nvSpPr>
        <p:spPr/>
        <p:txBody>
          <a:bodyPr/>
          <a:lstStyle/>
          <a:p>
            <a:r>
              <a:rPr lang="en-GB" dirty="0"/>
              <a:t>Confidential</a:t>
            </a:r>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996AB135-5D98-6CB2-2236-27FA6BFF1DF8}"/>
              </a:ext>
            </a:extLst>
          </p:cNvPr>
          <p:cNvSpPr/>
          <p:nvPr/>
        </p:nvSpPr>
        <p:spPr>
          <a:xfrm>
            <a:off x="4454347" y="754749"/>
            <a:ext cx="7567201" cy="14065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2" name="Tijdelijke aanduiding voor voettekst 1">
            <a:extLst>
              <a:ext uri="{FF2B5EF4-FFF2-40B4-BE49-F238E27FC236}">
                <a16:creationId xmlns:a16="http://schemas.microsoft.com/office/drawing/2014/main" id="{6C2F1336-0E3A-77B1-7FED-5097E0B73E27}"/>
              </a:ext>
            </a:extLst>
          </p:cNvPr>
          <p:cNvSpPr>
            <a:spLocks noGrp="1"/>
          </p:cNvSpPr>
          <p:nvPr>
            <p:ph type="ftr" sz="quarter" idx="14"/>
          </p:nvPr>
        </p:nvSpPr>
        <p:spPr/>
        <p:txBody>
          <a:bodyPr/>
          <a:lstStyle/>
          <a:p>
            <a:r>
              <a:rPr lang="en-GB" dirty="0"/>
              <a:t>Confidential</a:t>
            </a:r>
          </a:p>
        </p:txBody>
      </p:sp>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2</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8B9E1154-CDD8-EB91-949B-479B334BF674}"/>
              </a:ext>
            </a:extLst>
          </p:cNvPr>
          <p:cNvSpPr>
            <a:spLocks noGrp="1"/>
          </p:cNvSpPr>
          <p:nvPr>
            <p:ph sz="quarter" idx="16"/>
          </p:nvPr>
        </p:nvSpPr>
        <p:spPr>
          <a:xfrm>
            <a:off x="4467600" y="738000"/>
            <a:ext cx="7092000" cy="2073007"/>
          </a:xfrm>
        </p:spPr>
        <p:txBody>
          <a:bodyPr/>
          <a:lstStyle/>
          <a:p>
            <a:r>
              <a:rPr lang="en-GB" dirty="0"/>
              <a:t>Objectives</a:t>
            </a:r>
          </a:p>
          <a:p>
            <a:endParaRPr lang="en-GB" dirty="0"/>
          </a:p>
          <a:p>
            <a:r>
              <a:rPr lang="en-GB" dirty="0"/>
              <a:t>Portfolio trends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grpSp>
        <p:nvGrpSpPr>
          <p:cNvPr id="26" name="Group 25">
            <a:extLst>
              <a:ext uri="{FF2B5EF4-FFF2-40B4-BE49-F238E27FC236}">
                <a16:creationId xmlns:a16="http://schemas.microsoft.com/office/drawing/2014/main" id="{378A9620-EABF-7EE8-9AD9-DC016D1A3074}"/>
              </a:ext>
            </a:extLst>
          </p:cNvPr>
          <p:cNvGrpSpPr/>
          <p:nvPr/>
        </p:nvGrpSpPr>
        <p:grpSpPr>
          <a:xfrm>
            <a:off x="5682921" y="1563345"/>
            <a:ext cx="5119353" cy="332898"/>
            <a:chOff x="5682921" y="2898499"/>
            <a:chExt cx="5119353" cy="332898"/>
          </a:xfrm>
        </p:grpSpPr>
        <p:sp>
          <p:nvSpPr>
            <p:cNvPr id="8" name="Rectangle 5">
              <a:extLst>
                <a:ext uri="{FF2B5EF4-FFF2-40B4-BE49-F238E27FC236}">
                  <a16:creationId xmlns:a16="http://schemas.microsoft.com/office/drawing/2014/main" id="{E96D49B4-3075-D523-A87B-34907DB1D635}"/>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11" name="Rectangle 12">
              <a:extLst>
                <a:ext uri="{FF2B5EF4-FFF2-40B4-BE49-F238E27FC236}">
                  <a16:creationId xmlns:a16="http://schemas.microsoft.com/office/drawing/2014/main" id="{12943039-BE55-8114-7DAD-5D4EF8731FF6}"/>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15" name="TextBox 6">
              <a:extLst>
                <a:ext uri="{FF2B5EF4-FFF2-40B4-BE49-F238E27FC236}">
                  <a16:creationId xmlns:a16="http://schemas.microsoft.com/office/drawing/2014/main" id="{B5A5871D-7343-4BC4-31A9-01F0CD087096}"/>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Objectives</a:t>
              </a:r>
            </a:p>
          </p:txBody>
        </p:sp>
        <p:sp>
          <p:nvSpPr>
            <p:cNvPr id="18" name="TextBox 18">
              <a:extLst>
                <a:ext uri="{FF2B5EF4-FFF2-40B4-BE49-F238E27FC236}">
                  <a16:creationId xmlns:a16="http://schemas.microsoft.com/office/drawing/2014/main" id="{2F51B979-8832-1084-DED6-F0BE94169ECE}"/>
                </a:ext>
              </a:extLst>
            </p:cNvPr>
            <p:cNvSpPr txBox="1"/>
            <p:nvPr/>
          </p:nvSpPr>
          <p:spPr>
            <a:xfrm>
              <a:off x="8364857" y="2909129"/>
              <a:ext cx="2437417" cy="322268"/>
            </a:xfrm>
            <a:prstGeom prst="rect">
              <a:avLst/>
            </a:prstGeom>
            <a:noFill/>
          </p:spPr>
          <p:txBody>
            <a:bodyPr wrap="square" lIns="90000" rtlCol="0" anchor="ctr">
              <a:spAutoFit/>
            </a:bodyPr>
            <a:lstStyle/>
            <a:p>
              <a:pPr algn="l">
                <a:lnSpc>
                  <a:spcPct val="113000"/>
                </a:lnSpc>
              </a:pPr>
              <a:r>
                <a:rPr lang="en-GB" sz="1400" dirty="0">
                  <a:solidFill>
                    <a:schemeClr val="tx2"/>
                  </a:solidFill>
                </a:rPr>
                <a:t>Objective trends per capability</a:t>
              </a:r>
            </a:p>
          </p:txBody>
        </p:sp>
      </p:grpSp>
    </p:spTree>
    <p:extLst>
      <p:ext uri="{BB962C8B-B14F-4D97-AF65-F5344CB8AC3E}">
        <p14:creationId xmlns:p14="http://schemas.microsoft.com/office/powerpoint/2010/main" val="1249905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600"/>
            <a:ext cx="1916084" cy="228145"/>
          </a:xfrm>
        </p:spPr>
        <p:txBody>
          <a:bodyPr/>
          <a:lstStyle/>
          <a:p>
            <a:r>
              <a:rPr lang="en-GB" dirty="0"/>
              <a:t>Objectives - Progress</a:t>
            </a:r>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3</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dirty="0"/>
              <a:t>Progress towards objectives between February 2026 and March 2026</a:t>
            </a:r>
          </a:p>
        </p:txBody>
      </p:sp>
      <p:graphicFrame>
        <p:nvGraphicFramePr>
          <p:cNvPr id="6" name="Chart 5">
            <a:extLst>
              <a:ext uri="{FF2B5EF4-FFF2-40B4-BE49-F238E27FC236}">
                <a16:creationId xmlns:a16="http://schemas.microsoft.com/office/drawing/2014/main" id="{9A17AFA3-FC96-B65B-0A6A-D4A1754157FE}"/>
              </a:ext>
            </a:extLst>
          </p:cNvPr>
          <p:cNvGraphicFramePr/>
          <p:nvPr/>
        </p:nvGraphicFramePr>
        <p:xfrm>
          <a:off x="478224" y="2116469"/>
          <a:ext cx="11267443" cy="145781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1352F2E2-69B9-D866-7D75-24F10BB85A60}"/>
              </a:ext>
            </a:extLst>
          </p:cNvPr>
          <p:cNvSpPr txBox="1"/>
          <p:nvPr/>
        </p:nvSpPr>
        <p:spPr>
          <a:xfrm>
            <a:off x="8958648" y="-525758"/>
            <a:ext cx="3191728" cy="369332"/>
          </a:xfrm>
          <a:prstGeom prst="rect">
            <a:avLst/>
          </a:prstGeom>
          <a:noFill/>
        </p:spPr>
        <p:txBody>
          <a:bodyPr wrap="none" lIns="90000" rtlCol="0" anchor="t">
            <a:spAutoFit/>
          </a:bodyPr>
          <a:lstStyle/>
          <a:p>
            <a:r>
              <a:rPr lang="en-GB" b="1" dirty="0"/>
              <a:t>PROGRESS_STATUS_CHART</a:t>
            </a:r>
            <a:endParaRPr lang="en-GB" dirty="0"/>
          </a:p>
        </p:txBody>
      </p:sp>
      <p:sp>
        <p:nvSpPr>
          <p:cNvPr id="8" name="TextBox 7">
            <a:extLst>
              <a:ext uri="{FF2B5EF4-FFF2-40B4-BE49-F238E27FC236}">
                <a16:creationId xmlns:a16="http://schemas.microsoft.com/office/drawing/2014/main" id="{1CD0E6B1-41C3-CBAF-81A1-5291864E7E21}"/>
              </a:ext>
            </a:extLst>
          </p:cNvPr>
          <p:cNvSpPr txBox="1"/>
          <p:nvPr/>
        </p:nvSpPr>
        <p:spPr>
          <a:xfrm>
            <a:off x="3343684" y="3924001"/>
            <a:ext cx="5284288" cy="355547"/>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67E77F"/>
                </a:solidFill>
              </a:rPr>
              <a:t>⬤</a:t>
            </a:r>
            <a:r>
              <a:rPr lang="en-GB" sz="1600" dirty="0">
                <a:solidFill>
                  <a:schemeClr val="tx2"/>
                </a:solidFill>
              </a:rPr>
              <a:t> Increased    </a:t>
            </a:r>
            <a:r>
              <a:rPr lang="en-GB" sz="1600" dirty="0">
                <a:solidFill>
                  <a:srgbClr val="F06241"/>
                </a:solidFill>
              </a:rPr>
              <a:t>⬤</a:t>
            </a:r>
            <a:r>
              <a:rPr lang="en-GB" sz="1600" dirty="0">
                <a:solidFill>
                  <a:schemeClr val="tx2"/>
                </a:solidFill>
              </a:rPr>
              <a:t> Decreased    </a:t>
            </a:r>
            <a:r>
              <a:rPr lang="en-GB" sz="1600" dirty="0">
                <a:solidFill>
                  <a:srgbClr val="BFC4CF"/>
                </a:solidFill>
              </a:rPr>
              <a:t>⬤</a:t>
            </a:r>
            <a:r>
              <a:rPr lang="en-GB" sz="1600" dirty="0">
                <a:solidFill>
                  <a:schemeClr val="tx2"/>
                </a:solidFill>
              </a:rPr>
              <a:t> Incomplete</a:t>
            </a:r>
          </a:p>
        </p:txBody>
      </p:sp>
      <p:sp>
        <p:nvSpPr>
          <p:cNvPr id="9" name="TextBox 8">
            <a:extLst>
              <a:ext uri="{FF2B5EF4-FFF2-40B4-BE49-F238E27FC236}">
                <a16:creationId xmlns:a16="http://schemas.microsoft.com/office/drawing/2014/main" id="{D9A08C5B-250B-FC47-1AD3-3C078984145A}"/>
              </a:ext>
            </a:extLst>
          </p:cNvPr>
          <p:cNvSpPr txBox="1"/>
          <p:nvPr/>
        </p:nvSpPr>
        <p:spPr>
          <a:xfrm>
            <a:off x="681046" y="1888751"/>
            <a:ext cx="1622452"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a:t>
            </a:r>
          </a:p>
        </p:txBody>
      </p:sp>
    </p:spTree>
    <p:extLst>
      <p:ext uri="{BB962C8B-B14F-4D97-AF65-F5344CB8AC3E}">
        <p14:creationId xmlns:p14="http://schemas.microsoft.com/office/powerpoint/2010/main" val="1780981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FA7D2-16D5-A283-E5D3-02028E6C079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4002B0A-CA08-2984-487D-E204E8438520}"/>
              </a:ext>
            </a:extLst>
          </p:cNvPr>
          <p:cNvSpPr>
            <a:spLocks noGrp="1"/>
          </p:cNvSpPr>
          <p:nvPr>
            <p:ph type="body" sz="quarter" idx="12"/>
          </p:nvPr>
        </p:nvSpPr>
        <p:spPr>
          <a:xfrm>
            <a:off x="381600" y="129600"/>
            <a:ext cx="1916084" cy="228145"/>
          </a:xfrm>
        </p:spPr>
        <p:txBody>
          <a:bodyPr/>
          <a:lstStyle/>
          <a:p>
            <a:r>
              <a:rPr lang="en-GB" dirty="0"/>
              <a:t>Objectives - Progress</a:t>
            </a:r>
          </a:p>
        </p:txBody>
      </p:sp>
      <p:sp>
        <p:nvSpPr>
          <p:cNvPr id="11" name="Slide Number Placeholder 4">
            <a:extLst>
              <a:ext uri="{FF2B5EF4-FFF2-40B4-BE49-F238E27FC236}">
                <a16:creationId xmlns:a16="http://schemas.microsoft.com/office/drawing/2014/main" id="{D036A146-29BF-7CA2-2908-F2C86F33F1C2}"/>
              </a:ext>
            </a:extLst>
          </p:cNvPr>
          <p:cNvSpPr>
            <a:spLocks noGrp="1"/>
          </p:cNvSpPr>
          <p:nvPr>
            <p:ph type="sldNum" sz="quarter" idx="15"/>
          </p:nvPr>
        </p:nvSpPr>
        <p:spPr/>
        <p:txBody>
          <a:bodyPr/>
          <a:lstStyle/>
          <a:p>
            <a:fld id="{E242BD21-9B61-2246-BCB1-4BE5E1BEBE1C}" type="slidenum">
              <a:rPr lang="en-GB" smtClean="0"/>
              <a:pPr/>
              <a:t>4</a:t>
            </a:fld>
            <a:endParaRPr lang="en-GB" dirty="0"/>
          </a:p>
        </p:txBody>
      </p:sp>
      <p:sp>
        <p:nvSpPr>
          <p:cNvPr id="4" name="Title 3">
            <a:extLst>
              <a:ext uri="{FF2B5EF4-FFF2-40B4-BE49-F238E27FC236}">
                <a16:creationId xmlns:a16="http://schemas.microsoft.com/office/drawing/2014/main" id="{A8EFB01E-7199-3087-1F83-52C1190C7663}"/>
              </a:ext>
            </a:extLst>
          </p:cNvPr>
          <p:cNvSpPr>
            <a:spLocks noGrp="1"/>
          </p:cNvSpPr>
          <p:nvPr>
            <p:ph type="title"/>
          </p:nvPr>
        </p:nvSpPr>
        <p:spPr/>
        <p:txBody>
          <a:bodyPr>
            <a:normAutofit/>
          </a:bodyPr>
          <a:lstStyle/>
          <a:p>
            <a:r>
              <a:rPr lang="en-GB" dirty="0"/>
              <a:t>Progress towards objectives over time</a:t>
            </a:r>
          </a:p>
        </p:txBody>
      </p:sp>
      <p:graphicFrame>
        <p:nvGraphicFramePr>
          <p:cNvPr id="6" name="Chart 5">
            <a:extLst>
              <a:ext uri="{FF2B5EF4-FFF2-40B4-BE49-F238E27FC236}">
                <a16:creationId xmlns:a16="http://schemas.microsoft.com/office/drawing/2014/main" id="{52C16B72-396C-FACA-8BB0-F4504E8F3C3F}"/>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58D2C92C-F3B6-0645-618B-6712BD3DC864}"/>
              </a:ext>
            </a:extLst>
          </p:cNvPr>
          <p:cNvSpPr txBox="1"/>
          <p:nvPr/>
        </p:nvSpPr>
        <p:spPr>
          <a:xfrm>
            <a:off x="8958648" y="-525758"/>
            <a:ext cx="2911716" cy="369332"/>
          </a:xfrm>
          <a:prstGeom prst="rect">
            <a:avLst/>
          </a:prstGeom>
          <a:noFill/>
        </p:spPr>
        <p:txBody>
          <a:bodyPr wrap="none" lIns="90000" rtlCol="0" anchor="t">
            <a:spAutoFit/>
          </a:bodyPr>
          <a:lstStyle/>
          <a:p>
            <a:r>
              <a:rPr lang="en-GB" b="1" dirty="0"/>
              <a:t>PROGRESS_TIME_CHART</a:t>
            </a:r>
            <a:endParaRPr lang="en-GB" dirty="0"/>
          </a:p>
        </p:txBody>
      </p:sp>
      <p:sp>
        <p:nvSpPr>
          <p:cNvPr id="8" name="TextBox 7">
            <a:extLst>
              <a:ext uri="{FF2B5EF4-FFF2-40B4-BE49-F238E27FC236}">
                <a16:creationId xmlns:a16="http://schemas.microsoft.com/office/drawing/2014/main" id="{1FA1C5AF-9085-C111-CACA-05BD3DAB557A}"/>
              </a:ext>
            </a:extLst>
          </p:cNvPr>
          <p:cNvSpPr txBox="1"/>
          <p:nvPr/>
        </p:nvSpPr>
        <p:spPr>
          <a:xfrm>
            <a:off x="5277226" y="5921762"/>
            <a:ext cx="2345855" cy="355547"/>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Objectives completed</a:t>
            </a:r>
          </a:p>
        </p:txBody>
      </p:sp>
      <p:sp>
        <p:nvSpPr>
          <p:cNvPr id="9" name="TextBox 8">
            <a:extLst>
              <a:ext uri="{FF2B5EF4-FFF2-40B4-BE49-F238E27FC236}">
                <a16:creationId xmlns:a16="http://schemas.microsoft.com/office/drawing/2014/main" id="{917F3C6A-7DFB-53D1-2356-25E4D5CBC43A}"/>
              </a:ext>
            </a:extLst>
          </p:cNvPr>
          <p:cNvSpPr txBox="1"/>
          <p:nvPr/>
        </p:nvSpPr>
        <p:spPr>
          <a:xfrm>
            <a:off x="470981" y="1293279"/>
            <a:ext cx="1938179" cy="291490"/>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 (%)</a:t>
            </a:r>
          </a:p>
        </p:txBody>
      </p:sp>
    </p:spTree>
    <p:extLst>
      <p:ext uri="{BB962C8B-B14F-4D97-AF65-F5344CB8AC3E}">
        <p14:creationId xmlns:p14="http://schemas.microsoft.com/office/powerpoint/2010/main" val="733539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5A28-0797-82EC-8AAB-40E0AD48F10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67376D-DF88-6D74-9C9C-4F16D33E792C}"/>
              </a:ext>
            </a:extLst>
          </p:cNvPr>
          <p:cNvSpPr>
            <a:spLocks noGrp="1"/>
          </p:cNvSpPr>
          <p:nvPr>
            <p:ph type="body" sz="quarter" idx="12"/>
          </p:nvPr>
        </p:nvSpPr>
        <p:spPr>
          <a:xfrm>
            <a:off x="381600" y="129600"/>
            <a:ext cx="1916084" cy="228145"/>
          </a:xfrm>
        </p:spPr>
        <p:txBody>
          <a:bodyPr/>
          <a:lstStyle/>
          <a:p>
            <a:r>
              <a:rPr lang="en-GB" dirty="0"/>
              <a:t>Objectives - Progress</a:t>
            </a:r>
          </a:p>
        </p:txBody>
      </p:sp>
      <p:sp>
        <p:nvSpPr>
          <p:cNvPr id="11" name="Slide Number Placeholder 4">
            <a:extLst>
              <a:ext uri="{FF2B5EF4-FFF2-40B4-BE49-F238E27FC236}">
                <a16:creationId xmlns:a16="http://schemas.microsoft.com/office/drawing/2014/main" id="{4458A9EA-AB86-5971-70BD-18746FED9BD6}"/>
              </a:ext>
            </a:extLst>
          </p:cNvPr>
          <p:cNvSpPr>
            <a:spLocks noGrp="1"/>
          </p:cNvSpPr>
          <p:nvPr>
            <p:ph type="sldNum" sz="quarter" idx="15"/>
          </p:nvPr>
        </p:nvSpPr>
        <p:spPr/>
        <p:txBody>
          <a:bodyPr/>
          <a:lstStyle/>
          <a:p>
            <a:fld id="{E242BD21-9B61-2246-BCB1-4BE5E1BEBE1C}" type="slidenum">
              <a:rPr lang="en-GB" smtClean="0"/>
              <a:pPr/>
              <a:t>5</a:t>
            </a:fld>
            <a:endParaRPr lang="en-GB" dirty="0"/>
          </a:p>
        </p:txBody>
      </p:sp>
      <p:sp>
        <p:nvSpPr>
          <p:cNvPr id="4" name="Title 3">
            <a:extLst>
              <a:ext uri="{FF2B5EF4-FFF2-40B4-BE49-F238E27FC236}">
                <a16:creationId xmlns:a16="http://schemas.microsoft.com/office/drawing/2014/main" id="{28F4B936-22AE-53AE-D47F-598EDA21157C}"/>
              </a:ext>
            </a:extLst>
          </p:cNvPr>
          <p:cNvSpPr>
            <a:spLocks noGrp="1"/>
          </p:cNvSpPr>
          <p:nvPr>
            <p:ph type="title"/>
          </p:nvPr>
        </p:nvSpPr>
        <p:spPr/>
        <p:txBody>
          <a:bodyPr>
            <a:noAutofit/>
          </a:bodyPr>
          <a:lstStyle/>
          <a:p>
            <a:r>
              <a:rPr lang="en-GB" dirty="0"/>
              <a:t>Progress towards objectives per capability between February 2026 and March 2026</a:t>
            </a:r>
          </a:p>
        </p:txBody>
      </p:sp>
      <p:graphicFrame>
        <p:nvGraphicFramePr>
          <p:cNvPr id="6" name="Chart 5">
            <a:extLst>
              <a:ext uri="{FF2B5EF4-FFF2-40B4-BE49-F238E27FC236}">
                <a16:creationId xmlns:a16="http://schemas.microsoft.com/office/drawing/2014/main" id="{2774041C-71AE-0495-78BB-3253007E9E90}"/>
              </a:ext>
            </a:extLst>
          </p:cNvPr>
          <p:cNvGraphicFramePr/>
          <p:nvPr/>
        </p:nvGraphicFramePr>
        <p:xfrm>
          <a:off x="478224" y="1507525"/>
          <a:ext cx="11267443" cy="4337221"/>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E75AA9D8-EEB6-8709-C209-D32FF5C291E0}"/>
              </a:ext>
            </a:extLst>
          </p:cNvPr>
          <p:cNvSpPr txBox="1"/>
          <p:nvPr/>
        </p:nvSpPr>
        <p:spPr>
          <a:xfrm>
            <a:off x="8958648" y="-525758"/>
            <a:ext cx="3627681" cy="369332"/>
          </a:xfrm>
          <a:prstGeom prst="rect">
            <a:avLst/>
          </a:prstGeom>
          <a:noFill/>
        </p:spPr>
        <p:txBody>
          <a:bodyPr wrap="none" lIns="90000" rtlCol="0" anchor="t">
            <a:spAutoFit/>
          </a:bodyPr>
          <a:lstStyle/>
          <a:p>
            <a:r>
              <a:rPr lang="en-GB" b="1" dirty="0"/>
              <a:t>PROGRESS_CAPABILITY_CHART</a:t>
            </a:r>
            <a:endParaRPr lang="en-GB" dirty="0"/>
          </a:p>
        </p:txBody>
      </p:sp>
      <p:sp>
        <p:nvSpPr>
          <p:cNvPr id="8" name="TextBox 7">
            <a:extLst>
              <a:ext uri="{FF2B5EF4-FFF2-40B4-BE49-F238E27FC236}">
                <a16:creationId xmlns:a16="http://schemas.microsoft.com/office/drawing/2014/main" id="{E64208DC-0422-1C0A-F36A-3E68057F3E5B}"/>
              </a:ext>
            </a:extLst>
          </p:cNvPr>
          <p:cNvSpPr txBox="1"/>
          <p:nvPr/>
        </p:nvSpPr>
        <p:spPr>
          <a:xfrm>
            <a:off x="3352012" y="5941071"/>
            <a:ext cx="5284288" cy="355547"/>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67E77F"/>
                </a:solidFill>
              </a:rPr>
              <a:t>⬤</a:t>
            </a:r>
            <a:r>
              <a:rPr lang="en-GB" sz="1600" dirty="0">
                <a:solidFill>
                  <a:schemeClr val="tx2"/>
                </a:solidFill>
              </a:rPr>
              <a:t> Increased    </a:t>
            </a:r>
            <a:r>
              <a:rPr lang="en-GB" sz="1600" dirty="0">
                <a:solidFill>
                  <a:srgbClr val="F06241"/>
                </a:solidFill>
              </a:rPr>
              <a:t>⬤</a:t>
            </a:r>
            <a:r>
              <a:rPr lang="en-GB" sz="1600" dirty="0">
                <a:solidFill>
                  <a:schemeClr val="tx2"/>
                </a:solidFill>
              </a:rPr>
              <a:t> Decreased    </a:t>
            </a:r>
            <a:r>
              <a:rPr lang="en-GB" sz="1600" dirty="0">
                <a:solidFill>
                  <a:srgbClr val="BFC4CF"/>
                </a:solidFill>
              </a:rPr>
              <a:t>⬤</a:t>
            </a:r>
            <a:r>
              <a:rPr lang="en-GB" sz="1600" dirty="0">
                <a:solidFill>
                  <a:schemeClr val="tx2"/>
                </a:solidFill>
              </a:rPr>
              <a:t> Incomplete</a:t>
            </a:r>
          </a:p>
        </p:txBody>
      </p:sp>
      <p:sp>
        <p:nvSpPr>
          <p:cNvPr id="9" name="TextBox 8">
            <a:extLst>
              <a:ext uri="{FF2B5EF4-FFF2-40B4-BE49-F238E27FC236}">
                <a16:creationId xmlns:a16="http://schemas.microsoft.com/office/drawing/2014/main" id="{C377E27A-346A-7209-76CD-BF5DB2681082}"/>
              </a:ext>
            </a:extLst>
          </p:cNvPr>
          <p:cNvSpPr txBox="1"/>
          <p:nvPr/>
        </p:nvSpPr>
        <p:spPr>
          <a:xfrm>
            <a:off x="9905465" y="1325702"/>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Tree>
    <p:extLst>
      <p:ext uri="{BB962C8B-B14F-4D97-AF65-F5344CB8AC3E}">
        <p14:creationId xmlns:p14="http://schemas.microsoft.com/office/powerpoint/2010/main" val="3709089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99A0F-B83A-EBEB-A808-30AD19FF043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26DF103-9A84-4CFA-15FA-0BD904F9B389}"/>
              </a:ext>
            </a:extLst>
          </p:cNvPr>
          <p:cNvSpPr>
            <a:spLocks noGrp="1"/>
          </p:cNvSpPr>
          <p:nvPr>
            <p:ph type="body" sz="quarter" idx="12"/>
          </p:nvPr>
        </p:nvSpPr>
        <p:spPr>
          <a:xfrm>
            <a:off x="381600" y="129600"/>
            <a:ext cx="2506309" cy="228145"/>
          </a:xfrm>
        </p:spPr>
        <p:txBody>
          <a:bodyPr/>
          <a:lstStyle/>
          <a:p>
            <a:r>
              <a:rPr lang="en-GB" dirty="0"/>
              <a:t>Objectives – Maintainability</a:t>
            </a:r>
          </a:p>
        </p:txBody>
      </p:sp>
      <p:sp>
        <p:nvSpPr>
          <p:cNvPr id="11" name="Slide Number Placeholder 4">
            <a:extLst>
              <a:ext uri="{FF2B5EF4-FFF2-40B4-BE49-F238E27FC236}">
                <a16:creationId xmlns:a16="http://schemas.microsoft.com/office/drawing/2014/main" id="{47307F2D-FDB8-AC4C-ACFA-CDBAE3CD8F8E}"/>
              </a:ext>
            </a:extLst>
          </p:cNvPr>
          <p:cNvSpPr>
            <a:spLocks noGrp="1"/>
          </p:cNvSpPr>
          <p:nvPr>
            <p:ph type="sldNum" sz="quarter" idx="15"/>
          </p:nvPr>
        </p:nvSpPr>
        <p:spPr/>
        <p:txBody>
          <a:bodyPr/>
          <a:lstStyle/>
          <a:p>
            <a:fld id="{E242BD21-9B61-2246-BCB1-4BE5E1BEBE1C}" type="slidenum">
              <a:rPr lang="en-GB" smtClean="0"/>
              <a:pPr/>
              <a:t>6</a:t>
            </a:fld>
            <a:endParaRPr lang="en-GB" dirty="0"/>
          </a:p>
        </p:txBody>
      </p:sp>
      <p:sp>
        <p:nvSpPr>
          <p:cNvPr id="4" name="Title 3">
            <a:extLst>
              <a:ext uri="{FF2B5EF4-FFF2-40B4-BE49-F238E27FC236}">
                <a16:creationId xmlns:a16="http://schemas.microsoft.com/office/drawing/2014/main" id="{C1346EF3-CD28-FFA0-169F-DB5D8A0CD48C}"/>
              </a:ext>
            </a:extLst>
          </p:cNvPr>
          <p:cNvSpPr>
            <a:spLocks noGrp="1"/>
          </p:cNvSpPr>
          <p:nvPr>
            <p:ph type="title"/>
          </p:nvPr>
        </p:nvSpPr>
        <p:spPr/>
        <p:txBody>
          <a:bodyPr>
            <a:normAutofit/>
          </a:bodyPr>
          <a:lstStyle/>
          <a:p>
            <a:r>
              <a:rPr lang="en-GB" dirty="0"/>
              <a:t>Progress towards objectives: Maintainability</a:t>
            </a:r>
          </a:p>
        </p:txBody>
      </p:sp>
      <p:graphicFrame>
        <p:nvGraphicFramePr>
          <p:cNvPr id="6" name="Chart 5">
            <a:extLst>
              <a:ext uri="{FF2B5EF4-FFF2-40B4-BE49-F238E27FC236}">
                <a16:creationId xmlns:a16="http://schemas.microsoft.com/office/drawing/2014/main" id="{6A5764CB-E5B1-083A-A3BC-4B4C31D364C6}"/>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634A4DD1-8E2E-2463-DEA2-A080991AFFDD}"/>
              </a:ext>
            </a:extLst>
          </p:cNvPr>
          <p:cNvSpPr txBox="1"/>
          <p:nvPr/>
        </p:nvSpPr>
        <p:spPr>
          <a:xfrm>
            <a:off x="8958648" y="-525758"/>
            <a:ext cx="4856222" cy="369332"/>
          </a:xfrm>
          <a:prstGeom prst="rect">
            <a:avLst/>
          </a:prstGeom>
          <a:noFill/>
        </p:spPr>
        <p:txBody>
          <a:bodyPr wrap="none" lIns="90000" rtlCol="0" anchor="t">
            <a:spAutoFit/>
          </a:bodyPr>
          <a:lstStyle/>
          <a:p>
            <a:r>
              <a:rPr lang="en-GB" b="1" dirty="0"/>
              <a:t>PROGRESS_MAINTAINABILITY_TIME_CHART</a:t>
            </a:r>
            <a:endParaRPr lang="en-GB" dirty="0"/>
          </a:p>
        </p:txBody>
      </p:sp>
      <p:sp>
        <p:nvSpPr>
          <p:cNvPr id="8" name="TextBox 7">
            <a:extLst>
              <a:ext uri="{FF2B5EF4-FFF2-40B4-BE49-F238E27FC236}">
                <a16:creationId xmlns:a16="http://schemas.microsoft.com/office/drawing/2014/main" id="{13CC9FF0-AB79-ABC8-F329-16AC81263C86}"/>
              </a:ext>
            </a:extLst>
          </p:cNvPr>
          <p:cNvSpPr txBox="1"/>
          <p:nvPr/>
        </p:nvSpPr>
        <p:spPr>
          <a:xfrm>
            <a:off x="5277226" y="5921762"/>
            <a:ext cx="2345855" cy="355547"/>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Objectives completed</a:t>
            </a:r>
          </a:p>
        </p:txBody>
      </p:sp>
      <p:sp>
        <p:nvSpPr>
          <p:cNvPr id="9" name="TextBox 8">
            <a:extLst>
              <a:ext uri="{FF2B5EF4-FFF2-40B4-BE49-F238E27FC236}">
                <a16:creationId xmlns:a16="http://schemas.microsoft.com/office/drawing/2014/main" id="{DEC2580F-B6CD-77C6-14B9-30EB83366C2E}"/>
              </a:ext>
            </a:extLst>
          </p:cNvPr>
          <p:cNvSpPr txBox="1"/>
          <p:nvPr/>
        </p:nvSpPr>
        <p:spPr>
          <a:xfrm>
            <a:off x="470981" y="1293279"/>
            <a:ext cx="1938179" cy="291490"/>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 (%)</a:t>
            </a:r>
          </a:p>
        </p:txBody>
      </p:sp>
    </p:spTree>
    <p:extLst>
      <p:ext uri="{BB962C8B-B14F-4D97-AF65-F5344CB8AC3E}">
        <p14:creationId xmlns:p14="http://schemas.microsoft.com/office/powerpoint/2010/main" val="2406191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33548-AF8A-DB5D-1B63-77CE67683F8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742CA01-A950-E39F-CC0E-94DE74A9CADB}"/>
              </a:ext>
            </a:extLst>
          </p:cNvPr>
          <p:cNvSpPr>
            <a:spLocks noGrp="1"/>
          </p:cNvSpPr>
          <p:nvPr>
            <p:ph type="body" sz="quarter" idx="12"/>
          </p:nvPr>
        </p:nvSpPr>
        <p:spPr>
          <a:xfrm>
            <a:off x="381600" y="129600"/>
            <a:ext cx="2253356" cy="228145"/>
          </a:xfrm>
        </p:spPr>
        <p:txBody>
          <a:bodyPr/>
          <a:lstStyle/>
          <a:p>
            <a:r>
              <a:rPr lang="en-GB" dirty="0"/>
              <a:t>Objectives – Architecture</a:t>
            </a:r>
          </a:p>
        </p:txBody>
      </p:sp>
      <p:sp>
        <p:nvSpPr>
          <p:cNvPr id="11" name="Slide Number Placeholder 4">
            <a:extLst>
              <a:ext uri="{FF2B5EF4-FFF2-40B4-BE49-F238E27FC236}">
                <a16:creationId xmlns:a16="http://schemas.microsoft.com/office/drawing/2014/main" id="{77A2343E-4E3B-DE64-59CA-4672A92430FA}"/>
              </a:ext>
            </a:extLst>
          </p:cNvPr>
          <p:cNvSpPr>
            <a:spLocks noGrp="1"/>
          </p:cNvSpPr>
          <p:nvPr>
            <p:ph type="sldNum" sz="quarter" idx="15"/>
          </p:nvPr>
        </p:nvSpPr>
        <p:spPr/>
        <p:txBody>
          <a:bodyPr/>
          <a:lstStyle/>
          <a:p>
            <a:fld id="{E242BD21-9B61-2246-BCB1-4BE5E1BEBE1C}" type="slidenum">
              <a:rPr lang="en-GB" smtClean="0"/>
              <a:pPr/>
              <a:t>7</a:t>
            </a:fld>
            <a:endParaRPr lang="en-GB" dirty="0"/>
          </a:p>
        </p:txBody>
      </p:sp>
      <p:sp>
        <p:nvSpPr>
          <p:cNvPr id="4" name="Title 3">
            <a:extLst>
              <a:ext uri="{FF2B5EF4-FFF2-40B4-BE49-F238E27FC236}">
                <a16:creationId xmlns:a16="http://schemas.microsoft.com/office/drawing/2014/main" id="{6BF2716D-9FE8-0CD3-81E1-C55968C5B364}"/>
              </a:ext>
            </a:extLst>
          </p:cNvPr>
          <p:cNvSpPr>
            <a:spLocks noGrp="1"/>
          </p:cNvSpPr>
          <p:nvPr>
            <p:ph type="title"/>
          </p:nvPr>
        </p:nvSpPr>
        <p:spPr/>
        <p:txBody>
          <a:bodyPr>
            <a:normAutofit/>
          </a:bodyPr>
          <a:lstStyle/>
          <a:p>
            <a:r>
              <a:rPr lang="en-GB" dirty="0"/>
              <a:t>Progress towards objectives: Architecture</a:t>
            </a:r>
          </a:p>
        </p:txBody>
      </p:sp>
      <p:graphicFrame>
        <p:nvGraphicFramePr>
          <p:cNvPr id="6" name="Chart 5">
            <a:extLst>
              <a:ext uri="{FF2B5EF4-FFF2-40B4-BE49-F238E27FC236}">
                <a16:creationId xmlns:a16="http://schemas.microsoft.com/office/drawing/2014/main" id="{7507C9AC-02D8-080E-E0DF-076B8886E4D4}"/>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5F3F2DA5-DB91-036B-8084-E06A04533789}"/>
              </a:ext>
            </a:extLst>
          </p:cNvPr>
          <p:cNvSpPr txBox="1"/>
          <p:nvPr/>
        </p:nvSpPr>
        <p:spPr>
          <a:xfrm>
            <a:off x="8958648" y="-525758"/>
            <a:ext cx="4664952" cy="369332"/>
          </a:xfrm>
          <a:prstGeom prst="rect">
            <a:avLst/>
          </a:prstGeom>
          <a:noFill/>
        </p:spPr>
        <p:txBody>
          <a:bodyPr wrap="none" lIns="90000" rtlCol="0" anchor="t">
            <a:spAutoFit/>
          </a:bodyPr>
          <a:lstStyle/>
          <a:p>
            <a:r>
              <a:rPr lang="en-GB" b="1" dirty="0"/>
              <a:t>PROGRESS_ARCHITECTURE_TIME_CHART</a:t>
            </a:r>
            <a:endParaRPr lang="en-GB" dirty="0"/>
          </a:p>
        </p:txBody>
      </p:sp>
      <p:sp>
        <p:nvSpPr>
          <p:cNvPr id="8" name="TextBox 7">
            <a:extLst>
              <a:ext uri="{FF2B5EF4-FFF2-40B4-BE49-F238E27FC236}">
                <a16:creationId xmlns:a16="http://schemas.microsoft.com/office/drawing/2014/main" id="{0271B99D-BF0F-6325-0317-FAF16C1BFC8E}"/>
              </a:ext>
            </a:extLst>
          </p:cNvPr>
          <p:cNvSpPr txBox="1"/>
          <p:nvPr/>
        </p:nvSpPr>
        <p:spPr>
          <a:xfrm>
            <a:off x="5277226" y="5921762"/>
            <a:ext cx="2345855" cy="355547"/>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Objectives completed</a:t>
            </a:r>
          </a:p>
        </p:txBody>
      </p:sp>
      <p:sp>
        <p:nvSpPr>
          <p:cNvPr id="9" name="TextBox 8">
            <a:extLst>
              <a:ext uri="{FF2B5EF4-FFF2-40B4-BE49-F238E27FC236}">
                <a16:creationId xmlns:a16="http://schemas.microsoft.com/office/drawing/2014/main" id="{B9EC1496-868F-E561-71C3-7A9DC6833873}"/>
              </a:ext>
            </a:extLst>
          </p:cNvPr>
          <p:cNvSpPr txBox="1"/>
          <p:nvPr/>
        </p:nvSpPr>
        <p:spPr>
          <a:xfrm>
            <a:off x="470981" y="1293279"/>
            <a:ext cx="1938179" cy="291490"/>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 (%)</a:t>
            </a:r>
          </a:p>
        </p:txBody>
      </p:sp>
    </p:spTree>
    <p:extLst>
      <p:ext uri="{BB962C8B-B14F-4D97-AF65-F5344CB8AC3E}">
        <p14:creationId xmlns:p14="http://schemas.microsoft.com/office/powerpoint/2010/main" val="3939542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DB560-0589-B274-3129-E2437CFA134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29B3573-6428-0E36-04D1-823E45CA0824}"/>
              </a:ext>
            </a:extLst>
          </p:cNvPr>
          <p:cNvSpPr>
            <a:spLocks noGrp="1"/>
          </p:cNvSpPr>
          <p:nvPr>
            <p:ph type="body" sz="quarter" idx="12"/>
          </p:nvPr>
        </p:nvSpPr>
        <p:spPr>
          <a:xfrm>
            <a:off x="381600" y="129600"/>
            <a:ext cx="2759263" cy="228145"/>
          </a:xfrm>
        </p:spPr>
        <p:txBody>
          <a:bodyPr/>
          <a:lstStyle/>
          <a:p>
            <a:r>
              <a:rPr lang="en-GB" dirty="0"/>
              <a:t>Objectives – Open Source Health</a:t>
            </a:r>
          </a:p>
        </p:txBody>
      </p:sp>
      <p:sp>
        <p:nvSpPr>
          <p:cNvPr id="11" name="Slide Number Placeholder 4">
            <a:extLst>
              <a:ext uri="{FF2B5EF4-FFF2-40B4-BE49-F238E27FC236}">
                <a16:creationId xmlns:a16="http://schemas.microsoft.com/office/drawing/2014/main" id="{07EFD069-A5E8-28E5-C656-D9092244E05B}"/>
              </a:ext>
            </a:extLst>
          </p:cNvPr>
          <p:cNvSpPr>
            <a:spLocks noGrp="1"/>
          </p:cNvSpPr>
          <p:nvPr>
            <p:ph type="sldNum" sz="quarter" idx="15"/>
          </p:nvPr>
        </p:nvSpPr>
        <p:spPr/>
        <p:txBody>
          <a:bodyPr/>
          <a:lstStyle/>
          <a:p>
            <a:fld id="{E242BD21-9B61-2246-BCB1-4BE5E1BEBE1C}" type="slidenum">
              <a:rPr lang="en-GB" smtClean="0"/>
              <a:pPr/>
              <a:t>8</a:t>
            </a:fld>
            <a:endParaRPr lang="en-GB" dirty="0"/>
          </a:p>
        </p:txBody>
      </p:sp>
      <p:sp>
        <p:nvSpPr>
          <p:cNvPr id="4" name="Title 3">
            <a:extLst>
              <a:ext uri="{FF2B5EF4-FFF2-40B4-BE49-F238E27FC236}">
                <a16:creationId xmlns:a16="http://schemas.microsoft.com/office/drawing/2014/main" id="{9BE90226-C387-AD0E-CB48-3AC0D6BA8C16}"/>
              </a:ext>
            </a:extLst>
          </p:cNvPr>
          <p:cNvSpPr>
            <a:spLocks noGrp="1"/>
          </p:cNvSpPr>
          <p:nvPr>
            <p:ph type="title"/>
          </p:nvPr>
        </p:nvSpPr>
        <p:spPr/>
        <p:txBody>
          <a:bodyPr>
            <a:normAutofit/>
          </a:bodyPr>
          <a:lstStyle/>
          <a:p>
            <a:r>
              <a:rPr lang="en-GB" dirty="0"/>
              <a:t>Progress towards objectives: Open Source Health</a:t>
            </a:r>
          </a:p>
        </p:txBody>
      </p:sp>
      <p:graphicFrame>
        <p:nvGraphicFramePr>
          <p:cNvPr id="6" name="Chart 5">
            <a:extLst>
              <a:ext uri="{FF2B5EF4-FFF2-40B4-BE49-F238E27FC236}">
                <a16:creationId xmlns:a16="http://schemas.microsoft.com/office/drawing/2014/main" id="{CEFBE414-6C0F-D888-D92A-8F4B1578B1E8}"/>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ABC168E2-17AD-9DBA-6B84-1C144E1C9C60}"/>
              </a:ext>
            </a:extLst>
          </p:cNvPr>
          <p:cNvSpPr txBox="1"/>
          <p:nvPr/>
        </p:nvSpPr>
        <p:spPr>
          <a:xfrm>
            <a:off x="8958648" y="-525758"/>
            <a:ext cx="3493605" cy="369332"/>
          </a:xfrm>
          <a:prstGeom prst="rect">
            <a:avLst/>
          </a:prstGeom>
          <a:noFill/>
        </p:spPr>
        <p:txBody>
          <a:bodyPr wrap="none" lIns="90000" rtlCol="0" anchor="t">
            <a:spAutoFit/>
          </a:bodyPr>
          <a:lstStyle/>
          <a:p>
            <a:r>
              <a:rPr lang="en-GB" b="1" dirty="0"/>
              <a:t>PROGRESS_OSH_TIME_CHART</a:t>
            </a:r>
            <a:endParaRPr lang="en-GB" dirty="0"/>
          </a:p>
        </p:txBody>
      </p:sp>
      <p:sp>
        <p:nvSpPr>
          <p:cNvPr id="8" name="TextBox 7">
            <a:extLst>
              <a:ext uri="{FF2B5EF4-FFF2-40B4-BE49-F238E27FC236}">
                <a16:creationId xmlns:a16="http://schemas.microsoft.com/office/drawing/2014/main" id="{55F32ED1-229A-B9CF-7034-34B50F9DA34E}"/>
              </a:ext>
            </a:extLst>
          </p:cNvPr>
          <p:cNvSpPr txBox="1"/>
          <p:nvPr/>
        </p:nvSpPr>
        <p:spPr>
          <a:xfrm>
            <a:off x="5277226" y="5921762"/>
            <a:ext cx="2345855" cy="355547"/>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Objectives completed</a:t>
            </a:r>
          </a:p>
        </p:txBody>
      </p:sp>
      <p:sp>
        <p:nvSpPr>
          <p:cNvPr id="9" name="TextBox 8">
            <a:extLst>
              <a:ext uri="{FF2B5EF4-FFF2-40B4-BE49-F238E27FC236}">
                <a16:creationId xmlns:a16="http://schemas.microsoft.com/office/drawing/2014/main" id="{020B8231-088E-AD7D-64C5-DE763E94554E}"/>
              </a:ext>
            </a:extLst>
          </p:cNvPr>
          <p:cNvSpPr txBox="1"/>
          <p:nvPr/>
        </p:nvSpPr>
        <p:spPr>
          <a:xfrm>
            <a:off x="470981" y="1293279"/>
            <a:ext cx="1938179" cy="291490"/>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 (%)</a:t>
            </a:r>
          </a:p>
        </p:txBody>
      </p:sp>
    </p:spTree>
    <p:extLst>
      <p:ext uri="{BB962C8B-B14F-4D97-AF65-F5344CB8AC3E}">
        <p14:creationId xmlns:p14="http://schemas.microsoft.com/office/powerpoint/2010/main" val="3675106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53B19-00F5-BFA0-C36C-ACEB0F91680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033F2A3-DC2A-0CBF-4932-AEA088FF9D34}"/>
              </a:ext>
            </a:extLst>
          </p:cNvPr>
          <p:cNvSpPr>
            <a:spLocks noGrp="1"/>
          </p:cNvSpPr>
          <p:nvPr>
            <p:ph type="body" sz="quarter" idx="12"/>
          </p:nvPr>
        </p:nvSpPr>
        <p:spPr>
          <a:xfrm>
            <a:off x="381600" y="129600"/>
            <a:ext cx="1916084" cy="228145"/>
          </a:xfrm>
        </p:spPr>
        <p:txBody>
          <a:bodyPr/>
          <a:lstStyle/>
          <a:p>
            <a:r>
              <a:rPr lang="en-GB" dirty="0"/>
              <a:t>Objectives – Security</a:t>
            </a:r>
          </a:p>
        </p:txBody>
      </p:sp>
      <p:sp>
        <p:nvSpPr>
          <p:cNvPr id="11" name="Slide Number Placeholder 4">
            <a:extLst>
              <a:ext uri="{FF2B5EF4-FFF2-40B4-BE49-F238E27FC236}">
                <a16:creationId xmlns:a16="http://schemas.microsoft.com/office/drawing/2014/main" id="{7D7CB3C8-5FC1-63F4-9226-2151F8280294}"/>
              </a:ext>
            </a:extLst>
          </p:cNvPr>
          <p:cNvSpPr>
            <a:spLocks noGrp="1"/>
          </p:cNvSpPr>
          <p:nvPr>
            <p:ph type="sldNum" sz="quarter" idx="15"/>
          </p:nvPr>
        </p:nvSpPr>
        <p:spPr/>
        <p:txBody>
          <a:bodyPr/>
          <a:lstStyle/>
          <a:p>
            <a:fld id="{E242BD21-9B61-2246-BCB1-4BE5E1BEBE1C}" type="slidenum">
              <a:rPr lang="en-GB" smtClean="0"/>
              <a:pPr/>
              <a:t>9</a:t>
            </a:fld>
            <a:endParaRPr lang="en-GB" dirty="0"/>
          </a:p>
        </p:txBody>
      </p:sp>
      <p:sp>
        <p:nvSpPr>
          <p:cNvPr id="4" name="Title 3">
            <a:extLst>
              <a:ext uri="{FF2B5EF4-FFF2-40B4-BE49-F238E27FC236}">
                <a16:creationId xmlns:a16="http://schemas.microsoft.com/office/drawing/2014/main" id="{5505556D-9CC2-9B0A-DDA8-9AF0AA5A67C5}"/>
              </a:ext>
            </a:extLst>
          </p:cNvPr>
          <p:cNvSpPr>
            <a:spLocks noGrp="1"/>
          </p:cNvSpPr>
          <p:nvPr>
            <p:ph type="title"/>
          </p:nvPr>
        </p:nvSpPr>
        <p:spPr/>
        <p:txBody>
          <a:bodyPr>
            <a:normAutofit/>
          </a:bodyPr>
          <a:lstStyle/>
          <a:p>
            <a:r>
              <a:rPr lang="en-GB" dirty="0"/>
              <a:t>Progress towards objectives: Security</a:t>
            </a:r>
          </a:p>
        </p:txBody>
      </p:sp>
      <p:graphicFrame>
        <p:nvGraphicFramePr>
          <p:cNvPr id="6" name="Chart 5">
            <a:extLst>
              <a:ext uri="{FF2B5EF4-FFF2-40B4-BE49-F238E27FC236}">
                <a16:creationId xmlns:a16="http://schemas.microsoft.com/office/drawing/2014/main" id="{C6FA88CE-DDBE-C10D-7439-48AFDF8BC931}"/>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5BFA34CA-8C78-239B-7E53-B3D03983749C}"/>
              </a:ext>
            </a:extLst>
          </p:cNvPr>
          <p:cNvSpPr txBox="1"/>
          <p:nvPr/>
        </p:nvSpPr>
        <p:spPr>
          <a:xfrm>
            <a:off x="8958648" y="-525758"/>
            <a:ext cx="4074855" cy="369332"/>
          </a:xfrm>
          <a:prstGeom prst="rect">
            <a:avLst/>
          </a:prstGeom>
          <a:noFill/>
        </p:spPr>
        <p:txBody>
          <a:bodyPr wrap="none" lIns="90000" rtlCol="0" anchor="t">
            <a:spAutoFit/>
          </a:bodyPr>
          <a:lstStyle/>
          <a:p>
            <a:r>
              <a:rPr lang="en-GB" b="1" dirty="0"/>
              <a:t>PROGRESS_SECURITY_TIME_CHART</a:t>
            </a:r>
            <a:endParaRPr lang="en-GB" dirty="0"/>
          </a:p>
        </p:txBody>
      </p:sp>
      <p:sp>
        <p:nvSpPr>
          <p:cNvPr id="8" name="TextBox 7">
            <a:extLst>
              <a:ext uri="{FF2B5EF4-FFF2-40B4-BE49-F238E27FC236}">
                <a16:creationId xmlns:a16="http://schemas.microsoft.com/office/drawing/2014/main" id="{B6152522-5061-5A0D-7288-66E187FB7C31}"/>
              </a:ext>
            </a:extLst>
          </p:cNvPr>
          <p:cNvSpPr txBox="1"/>
          <p:nvPr/>
        </p:nvSpPr>
        <p:spPr>
          <a:xfrm>
            <a:off x="5277226" y="5921762"/>
            <a:ext cx="2345855" cy="355547"/>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Objectives completed</a:t>
            </a:r>
          </a:p>
        </p:txBody>
      </p:sp>
      <p:sp>
        <p:nvSpPr>
          <p:cNvPr id="9" name="TextBox 8">
            <a:extLst>
              <a:ext uri="{FF2B5EF4-FFF2-40B4-BE49-F238E27FC236}">
                <a16:creationId xmlns:a16="http://schemas.microsoft.com/office/drawing/2014/main" id="{82C72B87-2D1E-D2F1-65AB-69BA6680A392}"/>
              </a:ext>
            </a:extLst>
          </p:cNvPr>
          <p:cNvSpPr txBox="1"/>
          <p:nvPr/>
        </p:nvSpPr>
        <p:spPr>
          <a:xfrm>
            <a:off x="470981" y="1293279"/>
            <a:ext cx="1938179" cy="291490"/>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 (%)</a:t>
            </a:r>
          </a:p>
        </p:txBody>
      </p:sp>
    </p:spTree>
    <p:extLst>
      <p:ext uri="{BB962C8B-B14F-4D97-AF65-F5344CB8AC3E}">
        <p14:creationId xmlns:p14="http://schemas.microsoft.com/office/powerpoint/2010/main" val="1343365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888B32-26A7-257B-DDDE-599EEC4CEC1C}"/>
              </a:ext>
            </a:extLst>
          </p:cNvPr>
          <p:cNvSpPr>
            <a:spLocks noGrp="1"/>
          </p:cNvSpPr>
          <p:nvPr>
            <p:ph type="body" sz="quarter" idx="12"/>
          </p:nvPr>
        </p:nvSpPr>
        <p:spPr>
          <a:xfrm>
            <a:off x="381600" y="129600"/>
            <a:ext cx="1747448" cy="228145"/>
          </a:xfrm>
        </p:spPr>
        <p:txBody>
          <a:bodyPr/>
          <a:lstStyle/>
          <a:p>
            <a:r>
              <a:rPr lang="en-GB" dirty="0"/>
              <a:t>Objectives – Status</a:t>
            </a:r>
          </a:p>
        </p:txBody>
      </p:sp>
      <p:sp>
        <p:nvSpPr>
          <p:cNvPr id="4" name="Footer Placeholder 3">
            <a:extLst>
              <a:ext uri="{FF2B5EF4-FFF2-40B4-BE49-F238E27FC236}">
                <a16:creationId xmlns:a16="http://schemas.microsoft.com/office/drawing/2014/main" id="{71FCD154-723A-2909-18F9-136A88A427FA}"/>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CC4773B6-825A-4167-35E1-B39EF2B94361}"/>
              </a:ext>
            </a:extLst>
          </p:cNvPr>
          <p:cNvSpPr>
            <a:spLocks noGrp="1"/>
          </p:cNvSpPr>
          <p:nvPr>
            <p:ph type="sldNum" sz="quarter" idx="15"/>
          </p:nvPr>
        </p:nvSpPr>
        <p:spPr/>
        <p:txBody>
          <a:bodyPr/>
          <a:lstStyle/>
          <a:p>
            <a:fld id="{E242BD21-9B61-2246-BCB1-4BE5E1BEBE1C}" type="slidenum">
              <a:rPr lang="en-GB" smtClean="0"/>
              <a:pPr/>
              <a:t>10</a:t>
            </a:fld>
            <a:endParaRPr lang="en-GB" dirty="0"/>
          </a:p>
        </p:txBody>
      </p:sp>
      <p:sp>
        <p:nvSpPr>
          <p:cNvPr id="6" name="Title 5">
            <a:extLst>
              <a:ext uri="{FF2B5EF4-FFF2-40B4-BE49-F238E27FC236}">
                <a16:creationId xmlns:a16="http://schemas.microsoft.com/office/drawing/2014/main" id="{E216A0FA-E540-B347-F0E6-078404ED9D26}"/>
              </a:ext>
            </a:extLst>
          </p:cNvPr>
          <p:cNvSpPr>
            <a:spLocks noGrp="1"/>
          </p:cNvSpPr>
          <p:nvPr>
            <p:ph type="title"/>
          </p:nvPr>
        </p:nvSpPr>
        <p:spPr/>
        <p:txBody>
          <a:bodyPr/>
          <a:lstStyle/>
          <a:p>
            <a:r>
              <a:rPr lang="en-GB" dirty="0"/>
              <a:t>Progress towards objectives between February 2026 and March 2026</a:t>
            </a:r>
          </a:p>
        </p:txBody>
      </p:sp>
      <p:graphicFrame>
        <p:nvGraphicFramePr>
          <p:cNvPr id="7" name="Chart 6">
            <a:extLst>
              <a:ext uri="{FF2B5EF4-FFF2-40B4-BE49-F238E27FC236}">
                <a16:creationId xmlns:a16="http://schemas.microsoft.com/office/drawing/2014/main" id="{2EDB28D6-D893-2834-1452-760EA34FA080}"/>
              </a:ext>
            </a:extLst>
          </p:cNvPr>
          <p:cNvGraphicFramePr/>
          <p:nvPr/>
        </p:nvGraphicFramePr>
        <p:xfrm>
          <a:off x="478224" y="2116469"/>
          <a:ext cx="11267443" cy="145781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37CF6F7A-28F4-82F4-BD9F-05E947064F24}"/>
              </a:ext>
            </a:extLst>
          </p:cNvPr>
          <p:cNvSpPr txBox="1"/>
          <p:nvPr/>
        </p:nvSpPr>
        <p:spPr>
          <a:xfrm>
            <a:off x="2791143" y="3949770"/>
            <a:ext cx="6609715"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Objective met    </a:t>
            </a:r>
            <a:r>
              <a:rPr lang="en-GB" sz="1600" dirty="0">
                <a:solidFill>
                  <a:srgbClr val="67E77F"/>
                </a:solidFill>
              </a:rPr>
              <a:t>⬤</a:t>
            </a:r>
            <a:r>
              <a:rPr lang="en-GB" sz="1600" dirty="0">
                <a:solidFill>
                  <a:schemeClr val="tx2"/>
                </a:solidFill>
              </a:rPr>
              <a:t> Improved    </a:t>
            </a:r>
            <a:r>
              <a:rPr lang="en-GB" sz="1600" dirty="0">
                <a:solidFill>
                  <a:srgbClr val="BFC4CF"/>
                </a:solidFill>
              </a:rPr>
              <a:t>⬤</a:t>
            </a:r>
            <a:r>
              <a:rPr lang="en-GB" sz="1600" dirty="0">
                <a:solidFill>
                  <a:schemeClr val="tx2"/>
                </a:solidFill>
              </a:rPr>
              <a:t> Unchanged    </a:t>
            </a:r>
            <a:r>
              <a:rPr lang="en-GB" sz="1600" dirty="0">
                <a:solidFill>
                  <a:srgbClr val="F06241"/>
                </a:solidFill>
              </a:rPr>
              <a:t>⬤</a:t>
            </a:r>
            <a:r>
              <a:rPr lang="en-GB" sz="1600" dirty="0">
                <a:solidFill>
                  <a:schemeClr val="tx2"/>
                </a:solidFill>
              </a:rPr>
              <a:t> Worsened    </a:t>
            </a:r>
            <a:r>
              <a:rPr lang="en-GB" sz="1600" dirty="0">
                <a:solidFill>
                  <a:schemeClr val="bg1"/>
                </a:solidFill>
              </a:rPr>
              <a:t>⬤</a:t>
            </a:r>
            <a:r>
              <a:rPr lang="en-GB" sz="1600" dirty="0">
                <a:solidFill>
                  <a:schemeClr val="tx2"/>
                </a:solidFill>
              </a:rPr>
              <a:t> Unknown</a:t>
            </a:r>
          </a:p>
        </p:txBody>
      </p:sp>
      <p:sp>
        <p:nvSpPr>
          <p:cNvPr id="9" name="TextBox 8">
            <a:extLst>
              <a:ext uri="{FF2B5EF4-FFF2-40B4-BE49-F238E27FC236}">
                <a16:creationId xmlns:a16="http://schemas.microsoft.com/office/drawing/2014/main" id="{DCA64C5C-AD9F-1F4B-55E5-F3377812A35C}"/>
              </a:ext>
            </a:extLst>
          </p:cNvPr>
          <p:cNvSpPr txBox="1"/>
          <p:nvPr/>
        </p:nvSpPr>
        <p:spPr>
          <a:xfrm>
            <a:off x="681046" y="1888751"/>
            <a:ext cx="1622452"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a:t>
            </a:r>
          </a:p>
        </p:txBody>
      </p:sp>
      <p:sp>
        <p:nvSpPr>
          <p:cNvPr id="10" name="TextBox 9">
            <a:extLst>
              <a:ext uri="{FF2B5EF4-FFF2-40B4-BE49-F238E27FC236}">
                <a16:creationId xmlns:a16="http://schemas.microsoft.com/office/drawing/2014/main" id="{E4839E27-D90F-E20C-49BD-FB57BABEFAC9}"/>
              </a:ext>
            </a:extLst>
          </p:cNvPr>
          <p:cNvSpPr txBox="1"/>
          <p:nvPr/>
        </p:nvSpPr>
        <p:spPr>
          <a:xfrm>
            <a:off x="8958648" y="-525758"/>
            <a:ext cx="2884016" cy="369332"/>
          </a:xfrm>
          <a:prstGeom prst="rect">
            <a:avLst/>
          </a:prstGeom>
          <a:noFill/>
        </p:spPr>
        <p:txBody>
          <a:bodyPr wrap="none" lIns="90000" rtlCol="0" anchor="t">
            <a:spAutoFit/>
          </a:bodyPr>
          <a:lstStyle/>
          <a:p>
            <a:r>
              <a:rPr lang="en-GB" b="1" dirty="0"/>
              <a:t>OBJECTIVES_STATUS_CHART</a:t>
            </a:r>
            <a:endParaRPr lang="en-GB" dirty="0"/>
          </a:p>
        </p:txBody>
      </p:sp>
    </p:spTree>
    <p:extLst>
      <p:ext uri="{BB962C8B-B14F-4D97-AF65-F5344CB8AC3E}">
        <p14:creationId xmlns:p14="http://schemas.microsoft.com/office/powerpoint/2010/main" val="1624414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576D7E-6A52-4C14-1626-F436107D18CC}"/>
              </a:ext>
            </a:extLst>
          </p:cNvPr>
          <p:cNvSpPr>
            <a:spLocks noGrp="1"/>
          </p:cNvSpPr>
          <p:nvPr>
            <p:ph type="body" sz="quarter" idx="12"/>
          </p:nvPr>
        </p:nvSpPr>
        <p:spPr>
          <a:xfrm>
            <a:off x="381600" y="129600"/>
            <a:ext cx="1578812" cy="228145"/>
          </a:xfrm>
        </p:spPr>
        <p:txBody>
          <a:bodyPr/>
          <a:lstStyle/>
          <a:p>
            <a:r>
              <a:rPr lang="en-GB" dirty="0"/>
              <a:t>Objectives – Team</a:t>
            </a:r>
          </a:p>
        </p:txBody>
      </p:sp>
      <p:sp>
        <p:nvSpPr>
          <p:cNvPr id="4" name="Footer Placeholder 3">
            <a:extLst>
              <a:ext uri="{FF2B5EF4-FFF2-40B4-BE49-F238E27FC236}">
                <a16:creationId xmlns:a16="http://schemas.microsoft.com/office/drawing/2014/main" id="{861C7CD8-F0E2-3AA8-5650-3D8DA4191EF7}"/>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E6CDA563-94D2-2769-14DD-8932B8AF8DC4}"/>
              </a:ext>
            </a:extLst>
          </p:cNvPr>
          <p:cNvSpPr>
            <a:spLocks noGrp="1"/>
          </p:cNvSpPr>
          <p:nvPr>
            <p:ph type="sldNum" sz="quarter" idx="15"/>
          </p:nvPr>
        </p:nvSpPr>
        <p:spPr/>
        <p:txBody>
          <a:bodyPr/>
          <a:lstStyle/>
          <a:p>
            <a:fld id="{E242BD21-9B61-2246-BCB1-4BE5E1BEBE1C}" type="slidenum">
              <a:rPr lang="en-GB" smtClean="0"/>
              <a:pPr/>
              <a:t>11</a:t>
            </a:fld>
            <a:endParaRPr lang="en-GB" dirty="0"/>
          </a:p>
        </p:txBody>
      </p:sp>
      <p:sp>
        <p:nvSpPr>
          <p:cNvPr id="6" name="Title 5">
            <a:extLst>
              <a:ext uri="{FF2B5EF4-FFF2-40B4-BE49-F238E27FC236}">
                <a16:creationId xmlns:a16="http://schemas.microsoft.com/office/drawing/2014/main" id="{11CF856C-82D4-2AD8-52DB-B4AC6587376E}"/>
              </a:ext>
            </a:extLst>
          </p:cNvPr>
          <p:cNvSpPr>
            <a:spLocks noGrp="1"/>
          </p:cNvSpPr>
          <p:nvPr>
            <p:ph type="title"/>
          </p:nvPr>
        </p:nvSpPr>
        <p:spPr/>
        <p:txBody>
          <a:bodyPr/>
          <a:lstStyle/>
          <a:p>
            <a:r>
              <a:rPr lang="en-GB" dirty="0"/>
              <a:t>Progress towards objectives per team between February 2026 and March 2026</a:t>
            </a:r>
          </a:p>
        </p:txBody>
      </p:sp>
      <p:graphicFrame>
        <p:nvGraphicFramePr>
          <p:cNvPr id="11" name="Chart 10">
            <a:extLst>
              <a:ext uri="{FF2B5EF4-FFF2-40B4-BE49-F238E27FC236}">
                <a16:creationId xmlns:a16="http://schemas.microsoft.com/office/drawing/2014/main" id="{90D37655-7D68-97A1-42BD-3EA9E53215FD}"/>
              </a:ext>
            </a:extLst>
          </p:cNvPr>
          <p:cNvGraphicFramePr/>
          <p:nvPr/>
        </p:nvGraphicFramePr>
        <p:xfrm>
          <a:off x="478224" y="1507525"/>
          <a:ext cx="11267443" cy="4337221"/>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58BFEBBE-782F-5949-61DC-BFDB2677CFC4}"/>
              </a:ext>
            </a:extLst>
          </p:cNvPr>
          <p:cNvSpPr txBox="1"/>
          <p:nvPr/>
        </p:nvSpPr>
        <p:spPr>
          <a:xfrm>
            <a:off x="8958648" y="-525758"/>
            <a:ext cx="2751287" cy="369332"/>
          </a:xfrm>
          <a:prstGeom prst="rect">
            <a:avLst/>
          </a:prstGeom>
          <a:noFill/>
        </p:spPr>
        <p:txBody>
          <a:bodyPr wrap="none" lIns="90000" rtlCol="0" anchor="t">
            <a:spAutoFit/>
          </a:bodyPr>
          <a:lstStyle/>
          <a:p>
            <a:r>
              <a:rPr lang="en-GB" b="1" dirty="0"/>
              <a:t>OBJECTIVES_TEAM_CHART</a:t>
            </a:r>
            <a:endParaRPr lang="en-GB" dirty="0"/>
          </a:p>
        </p:txBody>
      </p:sp>
      <p:sp>
        <p:nvSpPr>
          <p:cNvPr id="13" name="TextBox 12">
            <a:extLst>
              <a:ext uri="{FF2B5EF4-FFF2-40B4-BE49-F238E27FC236}">
                <a16:creationId xmlns:a16="http://schemas.microsoft.com/office/drawing/2014/main" id="{8D842B39-F206-50DB-DCE4-FBFE6B59063D}"/>
              </a:ext>
            </a:extLst>
          </p:cNvPr>
          <p:cNvSpPr txBox="1"/>
          <p:nvPr/>
        </p:nvSpPr>
        <p:spPr>
          <a:xfrm>
            <a:off x="2791143" y="5988637"/>
            <a:ext cx="6609715"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Objective met    </a:t>
            </a:r>
            <a:r>
              <a:rPr lang="en-GB" sz="1600" dirty="0">
                <a:solidFill>
                  <a:srgbClr val="67E77F"/>
                </a:solidFill>
              </a:rPr>
              <a:t>⬤</a:t>
            </a:r>
            <a:r>
              <a:rPr lang="en-GB" sz="1600" dirty="0">
                <a:solidFill>
                  <a:schemeClr val="tx2"/>
                </a:solidFill>
              </a:rPr>
              <a:t> Improved    </a:t>
            </a:r>
            <a:r>
              <a:rPr lang="en-GB" sz="1600" dirty="0">
                <a:solidFill>
                  <a:srgbClr val="BFC4CF"/>
                </a:solidFill>
              </a:rPr>
              <a:t>⬤</a:t>
            </a:r>
            <a:r>
              <a:rPr lang="en-GB" sz="1600" dirty="0">
                <a:solidFill>
                  <a:schemeClr val="tx2"/>
                </a:solidFill>
              </a:rPr>
              <a:t> Unchanged    </a:t>
            </a:r>
            <a:r>
              <a:rPr lang="en-GB" sz="1600" dirty="0">
                <a:solidFill>
                  <a:srgbClr val="F06241"/>
                </a:solidFill>
              </a:rPr>
              <a:t>⬤</a:t>
            </a:r>
            <a:r>
              <a:rPr lang="en-GB" sz="1600" dirty="0">
                <a:solidFill>
                  <a:schemeClr val="tx2"/>
                </a:solidFill>
              </a:rPr>
              <a:t> Worsened    </a:t>
            </a:r>
            <a:r>
              <a:rPr lang="en-GB" sz="1600" dirty="0">
                <a:solidFill>
                  <a:schemeClr val="bg1"/>
                </a:solidFill>
              </a:rPr>
              <a:t>⬤</a:t>
            </a:r>
            <a:r>
              <a:rPr lang="en-GB" sz="1600" dirty="0">
                <a:solidFill>
                  <a:schemeClr val="tx2"/>
                </a:solidFill>
              </a:rPr>
              <a:t> Unknown</a:t>
            </a:r>
          </a:p>
        </p:txBody>
      </p:sp>
      <p:sp>
        <p:nvSpPr>
          <p:cNvPr id="14" name="TextBox 13">
            <a:extLst>
              <a:ext uri="{FF2B5EF4-FFF2-40B4-BE49-F238E27FC236}">
                <a16:creationId xmlns:a16="http://schemas.microsoft.com/office/drawing/2014/main" id="{AECFE085-67E8-695F-F564-B8C48BE4ECD4}"/>
              </a:ext>
            </a:extLst>
          </p:cNvPr>
          <p:cNvSpPr txBox="1"/>
          <p:nvPr/>
        </p:nvSpPr>
        <p:spPr>
          <a:xfrm>
            <a:off x="9508826" y="1325702"/>
            <a:ext cx="2023844"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team’s systems</a:t>
            </a:r>
          </a:p>
        </p:txBody>
      </p:sp>
    </p:spTree>
    <p:extLst>
      <p:ext uri="{BB962C8B-B14F-4D97-AF65-F5344CB8AC3E}">
        <p14:creationId xmlns:p14="http://schemas.microsoft.com/office/powerpoint/2010/main" val="1250334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E287AD-36A0-DD07-3A6C-318F5D2B12FE}"/>
              </a:ext>
            </a:extLst>
          </p:cNvPr>
          <p:cNvSpPr>
            <a:spLocks noGrp="1"/>
          </p:cNvSpPr>
          <p:nvPr>
            <p:ph type="body" sz="quarter" idx="12"/>
          </p:nvPr>
        </p:nvSpPr>
        <p:spPr>
          <a:xfrm>
            <a:off x="381600" y="129600"/>
            <a:ext cx="2084720" cy="228145"/>
          </a:xfrm>
        </p:spPr>
        <p:txBody>
          <a:bodyPr/>
          <a:lstStyle/>
          <a:p>
            <a:r>
              <a:rPr lang="en-GB" dirty="0"/>
              <a:t>Objectives – Capability</a:t>
            </a:r>
          </a:p>
        </p:txBody>
      </p:sp>
      <p:sp>
        <p:nvSpPr>
          <p:cNvPr id="4" name="Footer Placeholder 3">
            <a:extLst>
              <a:ext uri="{FF2B5EF4-FFF2-40B4-BE49-F238E27FC236}">
                <a16:creationId xmlns:a16="http://schemas.microsoft.com/office/drawing/2014/main" id="{5B819CDB-F8BA-4683-92D5-E4255AE0D106}"/>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A9CB7156-CCFF-605D-4D31-9506947FE0B5}"/>
              </a:ext>
            </a:extLst>
          </p:cNvPr>
          <p:cNvSpPr>
            <a:spLocks noGrp="1"/>
          </p:cNvSpPr>
          <p:nvPr>
            <p:ph type="sldNum" sz="quarter" idx="15"/>
          </p:nvPr>
        </p:nvSpPr>
        <p:spPr/>
        <p:txBody>
          <a:bodyPr/>
          <a:lstStyle/>
          <a:p>
            <a:fld id="{E242BD21-9B61-2246-BCB1-4BE5E1BEBE1C}" type="slidenum">
              <a:rPr lang="en-GB" smtClean="0"/>
              <a:pPr/>
              <a:t>12</a:t>
            </a:fld>
            <a:endParaRPr lang="en-GB" dirty="0"/>
          </a:p>
        </p:txBody>
      </p:sp>
      <p:sp>
        <p:nvSpPr>
          <p:cNvPr id="6" name="Title 5">
            <a:extLst>
              <a:ext uri="{FF2B5EF4-FFF2-40B4-BE49-F238E27FC236}">
                <a16:creationId xmlns:a16="http://schemas.microsoft.com/office/drawing/2014/main" id="{D97C09E9-29E6-1EC3-4D1D-7D72EF930B52}"/>
              </a:ext>
            </a:extLst>
          </p:cNvPr>
          <p:cNvSpPr>
            <a:spLocks noGrp="1"/>
          </p:cNvSpPr>
          <p:nvPr>
            <p:ph type="title"/>
          </p:nvPr>
        </p:nvSpPr>
        <p:spPr/>
        <p:txBody>
          <a:bodyPr/>
          <a:lstStyle/>
          <a:p>
            <a:r>
              <a:rPr lang="en-GB" dirty="0"/>
              <a:t>Progress towards objectives per capability between February 2026 and March 2026</a:t>
            </a:r>
          </a:p>
        </p:txBody>
      </p:sp>
      <p:graphicFrame>
        <p:nvGraphicFramePr>
          <p:cNvPr id="7" name="Chart 6">
            <a:extLst>
              <a:ext uri="{FF2B5EF4-FFF2-40B4-BE49-F238E27FC236}">
                <a16:creationId xmlns:a16="http://schemas.microsoft.com/office/drawing/2014/main" id="{F7EC7942-12DF-47CD-7568-513CF44E5D19}"/>
              </a:ext>
            </a:extLst>
          </p:cNvPr>
          <p:cNvGraphicFramePr/>
          <p:nvPr/>
        </p:nvGraphicFramePr>
        <p:xfrm>
          <a:off x="478224" y="1507525"/>
          <a:ext cx="11267443" cy="4337221"/>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AC118AE4-B9DA-B3FE-EEDD-1BDB04D2F462}"/>
              </a:ext>
            </a:extLst>
          </p:cNvPr>
          <p:cNvSpPr txBox="1"/>
          <p:nvPr/>
        </p:nvSpPr>
        <p:spPr>
          <a:xfrm>
            <a:off x="8958648" y="-525758"/>
            <a:ext cx="3278675" cy="369332"/>
          </a:xfrm>
          <a:prstGeom prst="rect">
            <a:avLst/>
          </a:prstGeom>
          <a:noFill/>
        </p:spPr>
        <p:txBody>
          <a:bodyPr wrap="none" lIns="90000" rtlCol="0" anchor="t">
            <a:spAutoFit/>
          </a:bodyPr>
          <a:lstStyle/>
          <a:p>
            <a:r>
              <a:rPr lang="en-GB" b="1" dirty="0"/>
              <a:t>OBJECTIVES_CAPABILITY_CHART</a:t>
            </a:r>
            <a:endParaRPr lang="en-GB" dirty="0"/>
          </a:p>
        </p:txBody>
      </p:sp>
      <p:sp>
        <p:nvSpPr>
          <p:cNvPr id="9" name="TextBox 8">
            <a:extLst>
              <a:ext uri="{FF2B5EF4-FFF2-40B4-BE49-F238E27FC236}">
                <a16:creationId xmlns:a16="http://schemas.microsoft.com/office/drawing/2014/main" id="{E90E694A-649F-7E3D-3A63-6F6D6F81E40E}"/>
              </a:ext>
            </a:extLst>
          </p:cNvPr>
          <p:cNvSpPr txBox="1"/>
          <p:nvPr/>
        </p:nvSpPr>
        <p:spPr>
          <a:xfrm>
            <a:off x="2791143" y="5988637"/>
            <a:ext cx="6609715"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Objective met    </a:t>
            </a:r>
            <a:r>
              <a:rPr lang="en-GB" sz="1600" dirty="0">
                <a:solidFill>
                  <a:srgbClr val="67E77F"/>
                </a:solidFill>
              </a:rPr>
              <a:t>⬤</a:t>
            </a:r>
            <a:r>
              <a:rPr lang="en-GB" sz="1600" dirty="0">
                <a:solidFill>
                  <a:schemeClr val="tx2"/>
                </a:solidFill>
              </a:rPr>
              <a:t> Improved    </a:t>
            </a:r>
            <a:r>
              <a:rPr lang="en-GB" sz="1600" dirty="0">
                <a:solidFill>
                  <a:srgbClr val="BFC4CF"/>
                </a:solidFill>
              </a:rPr>
              <a:t>⬤</a:t>
            </a:r>
            <a:r>
              <a:rPr lang="en-GB" sz="1600" dirty="0">
                <a:solidFill>
                  <a:schemeClr val="tx2"/>
                </a:solidFill>
              </a:rPr>
              <a:t> Unchanged    </a:t>
            </a:r>
            <a:r>
              <a:rPr lang="en-GB" sz="1600" dirty="0">
                <a:solidFill>
                  <a:srgbClr val="F06241"/>
                </a:solidFill>
              </a:rPr>
              <a:t>⬤</a:t>
            </a:r>
            <a:r>
              <a:rPr lang="en-GB" sz="1600" dirty="0">
                <a:solidFill>
                  <a:schemeClr val="tx2"/>
                </a:solidFill>
              </a:rPr>
              <a:t> Worsened    </a:t>
            </a:r>
            <a:r>
              <a:rPr lang="en-GB" sz="1600" dirty="0">
                <a:solidFill>
                  <a:schemeClr val="bg1"/>
                </a:solidFill>
              </a:rPr>
              <a:t>⬤</a:t>
            </a:r>
            <a:r>
              <a:rPr lang="en-GB" sz="1600" dirty="0">
                <a:solidFill>
                  <a:schemeClr val="tx2"/>
                </a:solidFill>
              </a:rPr>
              <a:t> Unknown</a:t>
            </a:r>
          </a:p>
        </p:txBody>
      </p:sp>
      <p:sp>
        <p:nvSpPr>
          <p:cNvPr id="10" name="TextBox 9">
            <a:extLst>
              <a:ext uri="{FF2B5EF4-FFF2-40B4-BE49-F238E27FC236}">
                <a16:creationId xmlns:a16="http://schemas.microsoft.com/office/drawing/2014/main" id="{4BFE8EC1-BCA9-D803-2F62-A8F5EF7DDCDA}"/>
              </a:ext>
            </a:extLst>
          </p:cNvPr>
          <p:cNvSpPr txBox="1"/>
          <p:nvPr/>
        </p:nvSpPr>
        <p:spPr>
          <a:xfrm>
            <a:off x="9905465" y="1325702"/>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Tree>
    <p:extLst>
      <p:ext uri="{BB962C8B-B14F-4D97-AF65-F5344CB8AC3E}">
        <p14:creationId xmlns:p14="http://schemas.microsoft.com/office/powerpoint/2010/main" val="963466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481FAE-4A75-47A8-A91D-55F888E11908}"/>
              </a:ext>
            </a:extLst>
          </p:cNvPr>
          <p:cNvSpPr>
            <a:spLocks noGrp="1"/>
          </p:cNvSpPr>
          <p:nvPr>
            <p:ph type="body" sz="quarter" idx="12"/>
          </p:nvPr>
        </p:nvSpPr>
        <p:spPr>
          <a:xfrm>
            <a:off x="381600" y="129600"/>
            <a:ext cx="1831765" cy="228145"/>
          </a:xfrm>
        </p:spPr>
        <p:txBody>
          <a:bodyPr/>
          <a:lstStyle/>
          <a:p>
            <a:r>
              <a:rPr lang="en-GB" dirty="0"/>
              <a:t>Objectives – Overall</a:t>
            </a:r>
          </a:p>
        </p:txBody>
      </p:sp>
      <p:sp>
        <p:nvSpPr>
          <p:cNvPr id="4" name="Footer Placeholder 3">
            <a:extLst>
              <a:ext uri="{FF2B5EF4-FFF2-40B4-BE49-F238E27FC236}">
                <a16:creationId xmlns:a16="http://schemas.microsoft.com/office/drawing/2014/main" id="{4D6FB6BB-5502-6059-F44F-990FF73C4353}"/>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D5CF516E-D9DE-46A4-39EC-49C4A7E4D718}"/>
              </a:ext>
            </a:extLst>
          </p:cNvPr>
          <p:cNvSpPr>
            <a:spLocks noGrp="1"/>
          </p:cNvSpPr>
          <p:nvPr>
            <p:ph type="sldNum" sz="quarter" idx="15"/>
          </p:nvPr>
        </p:nvSpPr>
        <p:spPr/>
        <p:txBody>
          <a:bodyPr/>
          <a:lstStyle/>
          <a:p>
            <a:fld id="{E242BD21-9B61-2246-BCB1-4BE5E1BEBE1C}" type="slidenum">
              <a:rPr lang="en-GB" smtClean="0"/>
              <a:pPr/>
              <a:t>13</a:t>
            </a:fld>
            <a:endParaRPr lang="en-GB" dirty="0"/>
          </a:p>
        </p:txBody>
      </p:sp>
      <p:sp>
        <p:nvSpPr>
          <p:cNvPr id="6" name="Title 5">
            <a:extLst>
              <a:ext uri="{FF2B5EF4-FFF2-40B4-BE49-F238E27FC236}">
                <a16:creationId xmlns:a16="http://schemas.microsoft.com/office/drawing/2014/main" id="{A068BC10-5510-3D83-FFE3-706AA2FBC62B}"/>
              </a:ext>
            </a:extLst>
          </p:cNvPr>
          <p:cNvSpPr>
            <a:spLocks noGrp="1"/>
          </p:cNvSpPr>
          <p:nvPr>
            <p:ph type="title"/>
          </p:nvPr>
        </p:nvSpPr>
        <p:spPr/>
        <p:txBody>
          <a:bodyPr/>
          <a:lstStyle/>
          <a:p>
            <a:r>
              <a:rPr lang="en-GB" dirty="0"/>
              <a:t>Progress towards objectives over time</a:t>
            </a:r>
          </a:p>
        </p:txBody>
      </p:sp>
      <p:graphicFrame>
        <p:nvGraphicFramePr>
          <p:cNvPr id="7" name="Chart 6">
            <a:extLst>
              <a:ext uri="{FF2B5EF4-FFF2-40B4-BE49-F238E27FC236}">
                <a16:creationId xmlns:a16="http://schemas.microsoft.com/office/drawing/2014/main" id="{717088A6-F703-E509-DF51-C3923B3A0757}"/>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ED29FE66-4BB3-5D2F-A3C4-C8B49FF32A98}"/>
              </a:ext>
            </a:extLst>
          </p:cNvPr>
          <p:cNvSpPr txBox="1"/>
          <p:nvPr/>
        </p:nvSpPr>
        <p:spPr>
          <a:xfrm>
            <a:off x="8958648" y="-525758"/>
            <a:ext cx="3051498" cy="369332"/>
          </a:xfrm>
          <a:prstGeom prst="rect">
            <a:avLst/>
          </a:prstGeom>
          <a:noFill/>
        </p:spPr>
        <p:txBody>
          <a:bodyPr wrap="none" lIns="90000" rtlCol="0" anchor="t">
            <a:spAutoFit/>
          </a:bodyPr>
          <a:lstStyle/>
          <a:p>
            <a:r>
              <a:rPr lang="en-GB" b="1" dirty="0"/>
              <a:t>OBJECTIVES_OVERALL_CHART</a:t>
            </a:r>
            <a:endParaRPr lang="en-GB" dirty="0"/>
          </a:p>
        </p:txBody>
      </p:sp>
      <p:sp>
        <p:nvSpPr>
          <p:cNvPr id="9" name="TextBox 8">
            <a:extLst>
              <a:ext uri="{FF2B5EF4-FFF2-40B4-BE49-F238E27FC236}">
                <a16:creationId xmlns:a16="http://schemas.microsoft.com/office/drawing/2014/main" id="{3330F4B4-9201-428C-E53A-F1AEFD8E5616}"/>
              </a:ext>
            </a:extLst>
          </p:cNvPr>
          <p:cNvSpPr txBox="1"/>
          <p:nvPr/>
        </p:nvSpPr>
        <p:spPr>
          <a:xfrm>
            <a:off x="2791143" y="6026120"/>
            <a:ext cx="6609715"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Objective met    </a:t>
            </a:r>
            <a:r>
              <a:rPr lang="en-GB" sz="1600" dirty="0">
                <a:solidFill>
                  <a:srgbClr val="67E77F"/>
                </a:solidFill>
              </a:rPr>
              <a:t>⬤</a:t>
            </a:r>
            <a:r>
              <a:rPr lang="en-GB" sz="1600" dirty="0">
                <a:solidFill>
                  <a:schemeClr val="tx2"/>
                </a:solidFill>
              </a:rPr>
              <a:t> Improved    </a:t>
            </a:r>
            <a:r>
              <a:rPr lang="en-GB" sz="1600" dirty="0">
                <a:solidFill>
                  <a:srgbClr val="BFC4CF"/>
                </a:solidFill>
              </a:rPr>
              <a:t>⬤</a:t>
            </a:r>
            <a:r>
              <a:rPr lang="en-GB" sz="1600" dirty="0">
                <a:solidFill>
                  <a:schemeClr val="tx2"/>
                </a:solidFill>
              </a:rPr>
              <a:t> Unchanged    </a:t>
            </a:r>
            <a:r>
              <a:rPr lang="en-GB" sz="1600" dirty="0">
                <a:solidFill>
                  <a:srgbClr val="F06241"/>
                </a:solidFill>
              </a:rPr>
              <a:t>⬤</a:t>
            </a:r>
            <a:r>
              <a:rPr lang="en-GB" sz="1600" dirty="0">
                <a:solidFill>
                  <a:schemeClr val="tx2"/>
                </a:solidFill>
              </a:rPr>
              <a:t> Worsened    </a:t>
            </a:r>
            <a:r>
              <a:rPr lang="en-GB" sz="1600" dirty="0">
                <a:solidFill>
                  <a:schemeClr val="bg1"/>
                </a:solidFill>
              </a:rPr>
              <a:t>⬤</a:t>
            </a:r>
            <a:r>
              <a:rPr lang="en-GB" sz="1600" dirty="0">
                <a:solidFill>
                  <a:schemeClr val="tx2"/>
                </a:solidFill>
              </a:rPr>
              <a:t> Unknown</a:t>
            </a:r>
          </a:p>
        </p:txBody>
      </p:sp>
      <p:sp>
        <p:nvSpPr>
          <p:cNvPr id="10" name="TextBox 9">
            <a:extLst>
              <a:ext uri="{FF2B5EF4-FFF2-40B4-BE49-F238E27FC236}">
                <a16:creationId xmlns:a16="http://schemas.microsoft.com/office/drawing/2014/main" id="{AF3D3893-DC86-A976-1AB5-AE31EF208FC8}"/>
              </a:ext>
            </a:extLst>
          </p:cNvPr>
          <p:cNvSpPr txBox="1"/>
          <p:nvPr/>
        </p:nvSpPr>
        <p:spPr>
          <a:xfrm>
            <a:off x="470981" y="1293279"/>
            <a:ext cx="1622452"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a:t>
            </a:r>
          </a:p>
        </p:txBody>
      </p:sp>
    </p:spTree>
    <p:extLst>
      <p:ext uri="{BB962C8B-B14F-4D97-AF65-F5344CB8AC3E}">
        <p14:creationId xmlns:p14="http://schemas.microsoft.com/office/powerpoint/2010/main" val="1388232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51F31D-6F2E-DFE6-587E-A78BD8E88161}"/>
              </a:ext>
            </a:extLst>
          </p:cNvPr>
          <p:cNvSpPr>
            <a:spLocks noGrp="1"/>
          </p:cNvSpPr>
          <p:nvPr>
            <p:ph type="body" sz="quarter" idx="12"/>
          </p:nvPr>
        </p:nvSpPr>
        <p:spPr>
          <a:xfrm>
            <a:off x="381600" y="129600"/>
            <a:ext cx="1916084" cy="228145"/>
          </a:xfrm>
        </p:spPr>
        <p:txBody>
          <a:bodyPr/>
          <a:lstStyle/>
          <a:p>
            <a:r>
              <a:rPr lang="en-GB" dirty="0"/>
              <a:t>Objectives – Security</a:t>
            </a:r>
          </a:p>
        </p:txBody>
      </p:sp>
      <p:sp>
        <p:nvSpPr>
          <p:cNvPr id="4" name="Footer Placeholder 3">
            <a:extLst>
              <a:ext uri="{FF2B5EF4-FFF2-40B4-BE49-F238E27FC236}">
                <a16:creationId xmlns:a16="http://schemas.microsoft.com/office/drawing/2014/main" id="{34C895C3-ED96-7EAA-081E-E246ABA2BFE9}"/>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0AFE7E0D-EF19-08C9-4FF3-D41903669091}"/>
              </a:ext>
            </a:extLst>
          </p:cNvPr>
          <p:cNvSpPr>
            <a:spLocks noGrp="1"/>
          </p:cNvSpPr>
          <p:nvPr>
            <p:ph type="sldNum" sz="quarter" idx="15"/>
          </p:nvPr>
        </p:nvSpPr>
        <p:spPr/>
        <p:txBody>
          <a:bodyPr/>
          <a:lstStyle/>
          <a:p>
            <a:fld id="{E242BD21-9B61-2246-BCB1-4BE5E1BEBE1C}" type="slidenum">
              <a:rPr lang="en-GB" smtClean="0"/>
              <a:pPr/>
              <a:t>14</a:t>
            </a:fld>
            <a:endParaRPr lang="en-GB" dirty="0"/>
          </a:p>
        </p:txBody>
      </p:sp>
      <p:sp>
        <p:nvSpPr>
          <p:cNvPr id="6" name="Title 5">
            <a:extLst>
              <a:ext uri="{FF2B5EF4-FFF2-40B4-BE49-F238E27FC236}">
                <a16:creationId xmlns:a16="http://schemas.microsoft.com/office/drawing/2014/main" id="{D8977723-C726-4DFE-2330-B77DBE26A32B}"/>
              </a:ext>
            </a:extLst>
          </p:cNvPr>
          <p:cNvSpPr>
            <a:spLocks noGrp="1"/>
          </p:cNvSpPr>
          <p:nvPr>
            <p:ph type="title"/>
          </p:nvPr>
        </p:nvSpPr>
        <p:spPr/>
        <p:txBody>
          <a:bodyPr/>
          <a:lstStyle/>
          <a:p>
            <a:r>
              <a:rPr lang="en-GB" dirty="0"/>
              <a:t>Progress towards objectives: Security</a:t>
            </a:r>
          </a:p>
        </p:txBody>
      </p:sp>
      <p:graphicFrame>
        <p:nvGraphicFramePr>
          <p:cNvPr id="7" name="Chart 6">
            <a:extLst>
              <a:ext uri="{FF2B5EF4-FFF2-40B4-BE49-F238E27FC236}">
                <a16:creationId xmlns:a16="http://schemas.microsoft.com/office/drawing/2014/main" id="{FE1E4419-38A2-FC5F-E723-8277D7239FCE}"/>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7BA44144-1546-C60D-08A3-3BA8963BD131}"/>
              </a:ext>
            </a:extLst>
          </p:cNvPr>
          <p:cNvSpPr txBox="1"/>
          <p:nvPr/>
        </p:nvSpPr>
        <p:spPr>
          <a:xfrm>
            <a:off x="8958648" y="-525758"/>
            <a:ext cx="3101768" cy="369332"/>
          </a:xfrm>
          <a:prstGeom prst="rect">
            <a:avLst/>
          </a:prstGeom>
          <a:noFill/>
        </p:spPr>
        <p:txBody>
          <a:bodyPr wrap="none" lIns="90000" rtlCol="0" anchor="t">
            <a:spAutoFit/>
          </a:bodyPr>
          <a:lstStyle/>
          <a:p>
            <a:r>
              <a:rPr lang="en-GB" b="1" dirty="0"/>
              <a:t>OBJECTIVES_SECURITY_CHART</a:t>
            </a:r>
            <a:endParaRPr lang="en-GB" dirty="0"/>
          </a:p>
        </p:txBody>
      </p:sp>
      <p:sp>
        <p:nvSpPr>
          <p:cNvPr id="9" name="TextBox 8">
            <a:extLst>
              <a:ext uri="{FF2B5EF4-FFF2-40B4-BE49-F238E27FC236}">
                <a16:creationId xmlns:a16="http://schemas.microsoft.com/office/drawing/2014/main" id="{5E2DC61A-F9F3-987F-31AE-C332F7F54B24}"/>
              </a:ext>
            </a:extLst>
          </p:cNvPr>
          <p:cNvSpPr txBox="1"/>
          <p:nvPr/>
        </p:nvSpPr>
        <p:spPr>
          <a:xfrm>
            <a:off x="2791143" y="6026120"/>
            <a:ext cx="6609715"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Objective met    </a:t>
            </a:r>
            <a:r>
              <a:rPr lang="en-GB" sz="1600" dirty="0">
                <a:solidFill>
                  <a:srgbClr val="67E77F"/>
                </a:solidFill>
              </a:rPr>
              <a:t>⬤</a:t>
            </a:r>
            <a:r>
              <a:rPr lang="en-GB" sz="1600" dirty="0">
                <a:solidFill>
                  <a:schemeClr val="tx2"/>
                </a:solidFill>
              </a:rPr>
              <a:t> Improved    </a:t>
            </a:r>
            <a:r>
              <a:rPr lang="en-GB" sz="1600" dirty="0">
                <a:solidFill>
                  <a:srgbClr val="BFC4CF"/>
                </a:solidFill>
              </a:rPr>
              <a:t>⬤</a:t>
            </a:r>
            <a:r>
              <a:rPr lang="en-GB" sz="1600" dirty="0">
                <a:solidFill>
                  <a:schemeClr val="tx2"/>
                </a:solidFill>
              </a:rPr>
              <a:t> Unchanged    </a:t>
            </a:r>
            <a:r>
              <a:rPr lang="en-GB" sz="1600" dirty="0">
                <a:solidFill>
                  <a:srgbClr val="F06241"/>
                </a:solidFill>
              </a:rPr>
              <a:t>⬤</a:t>
            </a:r>
            <a:r>
              <a:rPr lang="en-GB" sz="1600" dirty="0">
                <a:solidFill>
                  <a:schemeClr val="tx2"/>
                </a:solidFill>
              </a:rPr>
              <a:t> Worsened    </a:t>
            </a:r>
            <a:r>
              <a:rPr lang="en-GB" sz="1600" dirty="0">
                <a:solidFill>
                  <a:schemeClr val="bg1"/>
                </a:solidFill>
              </a:rPr>
              <a:t>⬤</a:t>
            </a:r>
            <a:r>
              <a:rPr lang="en-GB" sz="1600" dirty="0">
                <a:solidFill>
                  <a:schemeClr val="tx2"/>
                </a:solidFill>
              </a:rPr>
              <a:t> Unknown</a:t>
            </a:r>
          </a:p>
        </p:txBody>
      </p:sp>
      <p:sp>
        <p:nvSpPr>
          <p:cNvPr id="10" name="TextBox 9">
            <a:extLst>
              <a:ext uri="{FF2B5EF4-FFF2-40B4-BE49-F238E27FC236}">
                <a16:creationId xmlns:a16="http://schemas.microsoft.com/office/drawing/2014/main" id="{AAC7B2F6-4CBE-9108-1F8E-D799C529DCCF}"/>
              </a:ext>
            </a:extLst>
          </p:cNvPr>
          <p:cNvSpPr txBox="1"/>
          <p:nvPr/>
        </p:nvSpPr>
        <p:spPr>
          <a:xfrm>
            <a:off x="470981" y="1293279"/>
            <a:ext cx="1622452"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a:t>
            </a:r>
          </a:p>
        </p:txBody>
      </p:sp>
    </p:spTree>
    <p:extLst>
      <p:ext uri="{BB962C8B-B14F-4D97-AF65-F5344CB8AC3E}">
        <p14:creationId xmlns:p14="http://schemas.microsoft.com/office/powerpoint/2010/main" val="3006469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6A2875A-8544-1533-7916-43BBF6E82974}"/>
              </a:ext>
            </a:extLst>
          </p:cNvPr>
          <p:cNvSpPr>
            <a:spLocks noGrp="1"/>
          </p:cNvSpPr>
          <p:nvPr>
            <p:ph type="body" sz="quarter" idx="12"/>
          </p:nvPr>
        </p:nvSpPr>
        <p:spPr>
          <a:xfrm>
            <a:off x="381600" y="129600"/>
            <a:ext cx="2843581" cy="228145"/>
          </a:xfrm>
        </p:spPr>
        <p:txBody>
          <a:bodyPr/>
          <a:lstStyle/>
          <a:p>
            <a:r>
              <a:rPr lang="en-GB" dirty="0"/>
              <a:t>Objectives – Open-Source Health</a:t>
            </a:r>
          </a:p>
        </p:txBody>
      </p:sp>
      <p:sp>
        <p:nvSpPr>
          <p:cNvPr id="4" name="Footer Placeholder 3">
            <a:extLst>
              <a:ext uri="{FF2B5EF4-FFF2-40B4-BE49-F238E27FC236}">
                <a16:creationId xmlns:a16="http://schemas.microsoft.com/office/drawing/2014/main" id="{215FEB5E-6597-18A4-BEEB-888581F95658}"/>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DB29A5E5-D48A-3B03-A54D-B02E30DC0301}"/>
              </a:ext>
            </a:extLst>
          </p:cNvPr>
          <p:cNvSpPr>
            <a:spLocks noGrp="1"/>
          </p:cNvSpPr>
          <p:nvPr>
            <p:ph type="sldNum" sz="quarter" idx="15"/>
          </p:nvPr>
        </p:nvSpPr>
        <p:spPr/>
        <p:txBody>
          <a:bodyPr/>
          <a:lstStyle/>
          <a:p>
            <a:fld id="{E242BD21-9B61-2246-BCB1-4BE5E1BEBE1C}" type="slidenum">
              <a:rPr lang="en-GB" smtClean="0"/>
              <a:pPr/>
              <a:t>15</a:t>
            </a:fld>
            <a:endParaRPr lang="en-GB" dirty="0"/>
          </a:p>
        </p:txBody>
      </p:sp>
      <p:sp>
        <p:nvSpPr>
          <p:cNvPr id="6" name="Title 5">
            <a:extLst>
              <a:ext uri="{FF2B5EF4-FFF2-40B4-BE49-F238E27FC236}">
                <a16:creationId xmlns:a16="http://schemas.microsoft.com/office/drawing/2014/main" id="{70495C68-B12D-B774-99A2-0D8AD051F46F}"/>
              </a:ext>
            </a:extLst>
          </p:cNvPr>
          <p:cNvSpPr>
            <a:spLocks noGrp="1"/>
          </p:cNvSpPr>
          <p:nvPr>
            <p:ph type="title"/>
          </p:nvPr>
        </p:nvSpPr>
        <p:spPr/>
        <p:txBody>
          <a:bodyPr/>
          <a:lstStyle/>
          <a:p>
            <a:r>
              <a:rPr lang="en-GB" dirty="0"/>
              <a:t>Progress towards objectives: Open Source Health</a:t>
            </a:r>
          </a:p>
        </p:txBody>
      </p:sp>
      <p:graphicFrame>
        <p:nvGraphicFramePr>
          <p:cNvPr id="7" name="Chart 6">
            <a:extLst>
              <a:ext uri="{FF2B5EF4-FFF2-40B4-BE49-F238E27FC236}">
                <a16:creationId xmlns:a16="http://schemas.microsoft.com/office/drawing/2014/main" id="{0EBCAFE5-E641-00DD-A9BA-54DDF716F8A7}"/>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1A9FCBC9-E8E9-8172-ED03-E01AFEA3D080}"/>
              </a:ext>
            </a:extLst>
          </p:cNvPr>
          <p:cNvSpPr txBox="1"/>
          <p:nvPr/>
        </p:nvSpPr>
        <p:spPr>
          <a:xfrm>
            <a:off x="8958648" y="-525758"/>
            <a:ext cx="2597014" cy="369332"/>
          </a:xfrm>
          <a:prstGeom prst="rect">
            <a:avLst/>
          </a:prstGeom>
          <a:noFill/>
        </p:spPr>
        <p:txBody>
          <a:bodyPr wrap="none" lIns="90000" rtlCol="0" anchor="t">
            <a:spAutoFit/>
          </a:bodyPr>
          <a:lstStyle/>
          <a:p>
            <a:r>
              <a:rPr lang="en-GB" b="1" dirty="0"/>
              <a:t>OBJECTIVES_OSH_CHART</a:t>
            </a:r>
            <a:endParaRPr lang="en-GB" dirty="0"/>
          </a:p>
        </p:txBody>
      </p:sp>
      <p:sp>
        <p:nvSpPr>
          <p:cNvPr id="9" name="TextBox 8">
            <a:extLst>
              <a:ext uri="{FF2B5EF4-FFF2-40B4-BE49-F238E27FC236}">
                <a16:creationId xmlns:a16="http://schemas.microsoft.com/office/drawing/2014/main" id="{7D2A8387-99CF-53E7-C02C-0F47937D0583}"/>
              </a:ext>
            </a:extLst>
          </p:cNvPr>
          <p:cNvSpPr txBox="1"/>
          <p:nvPr/>
        </p:nvSpPr>
        <p:spPr>
          <a:xfrm>
            <a:off x="2791143" y="6026120"/>
            <a:ext cx="6609715"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Objective met    </a:t>
            </a:r>
            <a:r>
              <a:rPr lang="en-GB" sz="1600" dirty="0">
                <a:solidFill>
                  <a:srgbClr val="67E77F"/>
                </a:solidFill>
              </a:rPr>
              <a:t>⬤</a:t>
            </a:r>
            <a:r>
              <a:rPr lang="en-GB" sz="1600" dirty="0">
                <a:solidFill>
                  <a:schemeClr val="tx2"/>
                </a:solidFill>
              </a:rPr>
              <a:t> Improved    </a:t>
            </a:r>
            <a:r>
              <a:rPr lang="en-GB" sz="1600" dirty="0">
                <a:solidFill>
                  <a:srgbClr val="BFC4CF"/>
                </a:solidFill>
              </a:rPr>
              <a:t>⬤</a:t>
            </a:r>
            <a:r>
              <a:rPr lang="en-GB" sz="1600" dirty="0">
                <a:solidFill>
                  <a:schemeClr val="tx2"/>
                </a:solidFill>
              </a:rPr>
              <a:t> Unchanged    </a:t>
            </a:r>
            <a:r>
              <a:rPr lang="en-GB" sz="1600" dirty="0">
                <a:solidFill>
                  <a:srgbClr val="F06241"/>
                </a:solidFill>
              </a:rPr>
              <a:t>⬤</a:t>
            </a:r>
            <a:r>
              <a:rPr lang="en-GB" sz="1600" dirty="0">
                <a:solidFill>
                  <a:schemeClr val="tx2"/>
                </a:solidFill>
              </a:rPr>
              <a:t> Worsened    </a:t>
            </a:r>
            <a:r>
              <a:rPr lang="en-GB" sz="1600" dirty="0">
                <a:solidFill>
                  <a:schemeClr val="bg1"/>
                </a:solidFill>
              </a:rPr>
              <a:t>⬤</a:t>
            </a:r>
            <a:r>
              <a:rPr lang="en-GB" sz="1600" dirty="0">
                <a:solidFill>
                  <a:schemeClr val="tx2"/>
                </a:solidFill>
              </a:rPr>
              <a:t> Unknown</a:t>
            </a:r>
          </a:p>
        </p:txBody>
      </p:sp>
      <p:sp>
        <p:nvSpPr>
          <p:cNvPr id="10" name="TextBox 9">
            <a:extLst>
              <a:ext uri="{FF2B5EF4-FFF2-40B4-BE49-F238E27FC236}">
                <a16:creationId xmlns:a16="http://schemas.microsoft.com/office/drawing/2014/main" id="{C69B4172-3DFC-6A98-8387-0A5860FF68EC}"/>
              </a:ext>
            </a:extLst>
          </p:cNvPr>
          <p:cNvSpPr txBox="1"/>
          <p:nvPr/>
        </p:nvSpPr>
        <p:spPr>
          <a:xfrm>
            <a:off x="470981" y="1293279"/>
            <a:ext cx="1622452"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a:t>
            </a:r>
          </a:p>
        </p:txBody>
      </p:sp>
    </p:spTree>
    <p:extLst>
      <p:ext uri="{BB962C8B-B14F-4D97-AF65-F5344CB8AC3E}">
        <p14:creationId xmlns:p14="http://schemas.microsoft.com/office/powerpoint/2010/main" val="3617045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3FBCFC-165E-6074-D295-7213C886B065}"/>
              </a:ext>
            </a:extLst>
          </p:cNvPr>
          <p:cNvSpPr>
            <a:spLocks noGrp="1"/>
          </p:cNvSpPr>
          <p:nvPr>
            <p:ph type="body" sz="quarter" idx="12"/>
          </p:nvPr>
        </p:nvSpPr>
        <p:spPr>
          <a:xfrm>
            <a:off x="381600" y="129600"/>
            <a:ext cx="2590627" cy="228145"/>
          </a:xfrm>
        </p:spPr>
        <p:txBody>
          <a:bodyPr/>
          <a:lstStyle/>
          <a:p>
            <a:r>
              <a:rPr lang="en-GB" dirty="0"/>
              <a:t>Objectives – Maintainability</a:t>
            </a:r>
          </a:p>
        </p:txBody>
      </p:sp>
      <p:sp>
        <p:nvSpPr>
          <p:cNvPr id="4" name="Footer Placeholder 3">
            <a:extLst>
              <a:ext uri="{FF2B5EF4-FFF2-40B4-BE49-F238E27FC236}">
                <a16:creationId xmlns:a16="http://schemas.microsoft.com/office/drawing/2014/main" id="{09DB2143-4E69-C9AB-EF61-72293A1BC149}"/>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0622AA93-DDC2-222A-347A-F3D1A30F094F}"/>
              </a:ext>
            </a:extLst>
          </p:cNvPr>
          <p:cNvSpPr>
            <a:spLocks noGrp="1"/>
          </p:cNvSpPr>
          <p:nvPr>
            <p:ph type="sldNum" sz="quarter" idx="15"/>
          </p:nvPr>
        </p:nvSpPr>
        <p:spPr/>
        <p:txBody>
          <a:bodyPr/>
          <a:lstStyle/>
          <a:p>
            <a:fld id="{E242BD21-9B61-2246-BCB1-4BE5E1BEBE1C}" type="slidenum">
              <a:rPr lang="en-GB" smtClean="0"/>
              <a:pPr/>
              <a:t>16</a:t>
            </a:fld>
            <a:endParaRPr lang="en-GB" dirty="0"/>
          </a:p>
        </p:txBody>
      </p:sp>
      <p:sp>
        <p:nvSpPr>
          <p:cNvPr id="6" name="Title 5">
            <a:extLst>
              <a:ext uri="{FF2B5EF4-FFF2-40B4-BE49-F238E27FC236}">
                <a16:creationId xmlns:a16="http://schemas.microsoft.com/office/drawing/2014/main" id="{B21FF725-8BE2-FFE6-09CA-89427E9C309D}"/>
              </a:ext>
            </a:extLst>
          </p:cNvPr>
          <p:cNvSpPr>
            <a:spLocks noGrp="1"/>
          </p:cNvSpPr>
          <p:nvPr>
            <p:ph type="title"/>
          </p:nvPr>
        </p:nvSpPr>
        <p:spPr/>
        <p:txBody>
          <a:bodyPr/>
          <a:lstStyle/>
          <a:p>
            <a:r>
              <a:rPr lang="en-GB" dirty="0"/>
              <a:t>Progress towards objectives: Maintainability</a:t>
            </a:r>
          </a:p>
        </p:txBody>
      </p:sp>
      <p:graphicFrame>
        <p:nvGraphicFramePr>
          <p:cNvPr id="7" name="Chart 6">
            <a:extLst>
              <a:ext uri="{FF2B5EF4-FFF2-40B4-BE49-F238E27FC236}">
                <a16:creationId xmlns:a16="http://schemas.microsoft.com/office/drawing/2014/main" id="{B1D17370-4289-2EDA-3CF4-CDE176E45E7F}"/>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BAF101A0-D2C5-ABB6-3561-D791839A8F45}"/>
              </a:ext>
            </a:extLst>
          </p:cNvPr>
          <p:cNvSpPr txBox="1"/>
          <p:nvPr/>
        </p:nvSpPr>
        <p:spPr>
          <a:xfrm>
            <a:off x="8958648" y="-525758"/>
            <a:ext cx="3912566" cy="369332"/>
          </a:xfrm>
          <a:prstGeom prst="rect">
            <a:avLst/>
          </a:prstGeom>
          <a:noFill/>
        </p:spPr>
        <p:txBody>
          <a:bodyPr wrap="none" lIns="90000" rtlCol="0" anchor="t">
            <a:spAutoFit/>
          </a:bodyPr>
          <a:lstStyle/>
          <a:p>
            <a:r>
              <a:rPr lang="en-GB" b="1" dirty="0"/>
              <a:t>OBJECTIVES_MAINTAINABILITY_CHART</a:t>
            </a:r>
            <a:endParaRPr lang="en-GB" dirty="0"/>
          </a:p>
        </p:txBody>
      </p:sp>
      <p:sp>
        <p:nvSpPr>
          <p:cNvPr id="9" name="TextBox 8">
            <a:extLst>
              <a:ext uri="{FF2B5EF4-FFF2-40B4-BE49-F238E27FC236}">
                <a16:creationId xmlns:a16="http://schemas.microsoft.com/office/drawing/2014/main" id="{05D94812-AFF9-6320-FC55-9DFAD9E49F53}"/>
              </a:ext>
            </a:extLst>
          </p:cNvPr>
          <p:cNvSpPr txBox="1"/>
          <p:nvPr/>
        </p:nvSpPr>
        <p:spPr>
          <a:xfrm>
            <a:off x="2791143" y="6026120"/>
            <a:ext cx="6609715"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Objective met    </a:t>
            </a:r>
            <a:r>
              <a:rPr lang="en-GB" sz="1600" dirty="0">
                <a:solidFill>
                  <a:srgbClr val="67E77F"/>
                </a:solidFill>
              </a:rPr>
              <a:t>⬤</a:t>
            </a:r>
            <a:r>
              <a:rPr lang="en-GB" sz="1600" dirty="0">
                <a:solidFill>
                  <a:schemeClr val="tx2"/>
                </a:solidFill>
              </a:rPr>
              <a:t> Improved    </a:t>
            </a:r>
            <a:r>
              <a:rPr lang="en-GB" sz="1600" dirty="0">
                <a:solidFill>
                  <a:srgbClr val="BFC4CF"/>
                </a:solidFill>
              </a:rPr>
              <a:t>⬤</a:t>
            </a:r>
            <a:r>
              <a:rPr lang="en-GB" sz="1600" dirty="0">
                <a:solidFill>
                  <a:schemeClr val="tx2"/>
                </a:solidFill>
              </a:rPr>
              <a:t> Unchanged    </a:t>
            </a:r>
            <a:r>
              <a:rPr lang="en-GB" sz="1600" dirty="0">
                <a:solidFill>
                  <a:srgbClr val="F06241"/>
                </a:solidFill>
              </a:rPr>
              <a:t>⬤</a:t>
            </a:r>
            <a:r>
              <a:rPr lang="en-GB" sz="1600" dirty="0">
                <a:solidFill>
                  <a:schemeClr val="tx2"/>
                </a:solidFill>
              </a:rPr>
              <a:t> Worsened    </a:t>
            </a:r>
            <a:r>
              <a:rPr lang="en-GB" sz="1600" dirty="0">
                <a:solidFill>
                  <a:schemeClr val="bg1"/>
                </a:solidFill>
              </a:rPr>
              <a:t>⬤</a:t>
            </a:r>
            <a:r>
              <a:rPr lang="en-GB" sz="1600" dirty="0">
                <a:solidFill>
                  <a:schemeClr val="tx2"/>
                </a:solidFill>
              </a:rPr>
              <a:t> Unknown</a:t>
            </a:r>
          </a:p>
        </p:txBody>
      </p:sp>
      <p:sp>
        <p:nvSpPr>
          <p:cNvPr id="10" name="TextBox 9">
            <a:extLst>
              <a:ext uri="{FF2B5EF4-FFF2-40B4-BE49-F238E27FC236}">
                <a16:creationId xmlns:a16="http://schemas.microsoft.com/office/drawing/2014/main" id="{1F85A181-CE4E-BF8F-1749-76DA5E7EB5F5}"/>
              </a:ext>
            </a:extLst>
          </p:cNvPr>
          <p:cNvSpPr txBox="1"/>
          <p:nvPr/>
        </p:nvSpPr>
        <p:spPr>
          <a:xfrm>
            <a:off x="470981" y="1293279"/>
            <a:ext cx="1622452"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a:t>
            </a:r>
          </a:p>
        </p:txBody>
      </p:sp>
    </p:spTree>
    <p:extLst>
      <p:ext uri="{BB962C8B-B14F-4D97-AF65-F5344CB8AC3E}">
        <p14:creationId xmlns:p14="http://schemas.microsoft.com/office/powerpoint/2010/main" val="3386941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35B8-EE82-608B-22C4-A627436D3621}"/>
              </a:ext>
            </a:extLst>
          </p:cNvPr>
          <p:cNvSpPr>
            <a:spLocks noGrp="1"/>
          </p:cNvSpPr>
          <p:nvPr>
            <p:ph type="body" sz="quarter" idx="12"/>
          </p:nvPr>
        </p:nvSpPr>
        <p:spPr>
          <a:xfrm>
            <a:off x="381600" y="129600"/>
            <a:ext cx="2253356" cy="228145"/>
          </a:xfrm>
        </p:spPr>
        <p:txBody>
          <a:bodyPr/>
          <a:lstStyle/>
          <a:p>
            <a:r>
              <a:rPr lang="en-GB" dirty="0"/>
              <a:t>Objectives – Architecture</a:t>
            </a:r>
          </a:p>
        </p:txBody>
      </p:sp>
      <p:sp>
        <p:nvSpPr>
          <p:cNvPr id="4" name="Footer Placeholder 3">
            <a:extLst>
              <a:ext uri="{FF2B5EF4-FFF2-40B4-BE49-F238E27FC236}">
                <a16:creationId xmlns:a16="http://schemas.microsoft.com/office/drawing/2014/main" id="{F19E40D1-0E68-7E25-1B05-ACD30948CCED}"/>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D71A783F-27CE-A200-297F-D46B148F6537}"/>
              </a:ext>
            </a:extLst>
          </p:cNvPr>
          <p:cNvSpPr>
            <a:spLocks noGrp="1"/>
          </p:cNvSpPr>
          <p:nvPr>
            <p:ph type="sldNum" sz="quarter" idx="15"/>
          </p:nvPr>
        </p:nvSpPr>
        <p:spPr/>
        <p:txBody>
          <a:bodyPr/>
          <a:lstStyle/>
          <a:p>
            <a:fld id="{E242BD21-9B61-2246-BCB1-4BE5E1BEBE1C}" type="slidenum">
              <a:rPr lang="en-GB" smtClean="0"/>
              <a:pPr/>
              <a:t>17</a:t>
            </a:fld>
            <a:endParaRPr lang="en-GB" dirty="0"/>
          </a:p>
        </p:txBody>
      </p:sp>
      <p:sp>
        <p:nvSpPr>
          <p:cNvPr id="6" name="Title 5">
            <a:extLst>
              <a:ext uri="{FF2B5EF4-FFF2-40B4-BE49-F238E27FC236}">
                <a16:creationId xmlns:a16="http://schemas.microsoft.com/office/drawing/2014/main" id="{D6D9A223-DF60-A573-9531-80EE0F5E6DEA}"/>
              </a:ext>
            </a:extLst>
          </p:cNvPr>
          <p:cNvSpPr>
            <a:spLocks noGrp="1"/>
          </p:cNvSpPr>
          <p:nvPr>
            <p:ph type="title"/>
          </p:nvPr>
        </p:nvSpPr>
        <p:spPr/>
        <p:txBody>
          <a:bodyPr/>
          <a:lstStyle/>
          <a:p>
            <a:r>
              <a:rPr lang="en-GB" dirty="0"/>
              <a:t>Progress towards objectives: Architecture</a:t>
            </a:r>
          </a:p>
        </p:txBody>
      </p:sp>
      <p:graphicFrame>
        <p:nvGraphicFramePr>
          <p:cNvPr id="7" name="Chart 6">
            <a:extLst>
              <a:ext uri="{FF2B5EF4-FFF2-40B4-BE49-F238E27FC236}">
                <a16:creationId xmlns:a16="http://schemas.microsoft.com/office/drawing/2014/main" id="{160E225E-2E69-5802-F5E6-34A8D5119A38}"/>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B6B94DF9-0680-0BC8-EEFA-8DEBE0564A3D}"/>
              </a:ext>
            </a:extLst>
          </p:cNvPr>
          <p:cNvSpPr txBox="1"/>
          <p:nvPr/>
        </p:nvSpPr>
        <p:spPr>
          <a:xfrm>
            <a:off x="8958648" y="-525758"/>
            <a:ext cx="3635054" cy="369332"/>
          </a:xfrm>
          <a:prstGeom prst="rect">
            <a:avLst/>
          </a:prstGeom>
          <a:noFill/>
        </p:spPr>
        <p:txBody>
          <a:bodyPr wrap="none" lIns="90000" rtlCol="0" anchor="t">
            <a:spAutoFit/>
          </a:bodyPr>
          <a:lstStyle/>
          <a:p>
            <a:r>
              <a:rPr lang="en-GB" b="1" dirty="0"/>
              <a:t>OBJECTIVES_ARCHITECTURE_CHART</a:t>
            </a:r>
            <a:endParaRPr lang="en-GB" dirty="0"/>
          </a:p>
        </p:txBody>
      </p:sp>
      <p:sp>
        <p:nvSpPr>
          <p:cNvPr id="9" name="TextBox 8">
            <a:extLst>
              <a:ext uri="{FF2B5EF4-FFF2-40B4-BE49-F238E27FC236}">
                <a16:creationId xmlns:a16="http://schemas.microsoft.com/office/drawing/2014/main" id="{0CE47C19-C293-E59B-609F-8B720AE9857C}"/>
              </a:ext>
            </a:extLst>
          </p:cNvPr>
          <p:cNvSpPr txBox="1"/>
          <p:nvPr/>
        </p:nvSpPr>
        <p:spPr>
          <a:xfrm>
            <a:off x="2791143" y="6026120"/>
            <a:ext cx="6609715"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Objective met    </a:t>
            </a:r>
            <a:r>
              <a:rPr lang="en-GB" sz="1600" dirty="0">
                <a:solidFill>
                  <a:srgbClr val="67E77F"/>
                </a:solidFill>
              </a:rPr>
              <a:t>⬤</a:t>
            </a:r>
            <a:r>
              <a:rPr lang="en-GB" sz="1600" dirty="0">
                <a:solidFill>
                  <a:schemeClr val="tx2"/>
                </a:solidFill>
              </a:rPr>
              <a:t> Improved    </a:t>
            </a:r>
            <a:r>
              <a:rPr lang="en-GB" sz="1600" dirty="0">
                <a:solidFill>
                  <a:srgbClr val="BFC4CF"/>
                </a:solidFill>
              </a:rPr>
              <a:t>⬤</a:t>
            </a:r>
            <a:r>
              <a:rPr lang="en-GB" sz="1600" dirty="0">
                <a:solidFill>
                  <a:schemeClr val="tx2"/>
                </a:solidFill>
              </a:rPr>
              <a:t> Unchanged    </a:t>
            </a:r>
            <a:r>
              <a:rPr lang="en-GB" sz="1600" dirty="0">
                <a:solidFill>
                  <a:srgbClr val="F06241"/>
                </a:solidFill>
              </a:rPr>
              <a:t>⬤</a:t>
            </a:r>
            <a:r>
              <a:rPr lang="en-GB" sz="1600" dirty="0">
                <a:solidFill>
                  <a:schemeClr val="tx2"/>
                </a:solidFill>
              </a:rPr>
              <a:t> Worsened    </a:t>
            </a:r>
            <a:r>
              <a:rPr lang="en-GB" sz="1600" dirty="0">
                <a:solidFill>
                  <a:schemeClr val="bg1"/>
                </a:solidFill>
              </a:rPr>
              <a:t>⬤</a:t>
            </a:r>
            <a:r>
              <a:rPr lang="en-GB" sz="1600" dirty="0">
                <a:solidFill>
                  <a:schemeClr val="tx2"/>
                </a:solidFill>
              </a:rPr>
              <a:t> Unknown</a:t>
            </a:r>
          </a:p>
        </p:txBody>
      </p:sp>
      <p:sp>
        <p:nvSpPr>
          <p:cNvPr id="10" name="TextBox 9">
            <a:extLst>
              <a:ext uri="{FF2B5EF4-FFF2-40B4-BE49-F238E27FC236}">
                <a16:creationId xmlns:a16="http://schemas.microsoft.com/office/drawing/2014/main" id="{0EF4C6F2-6589-ECFC-76DC-423AFBC2B33A}"/>
              </a:ext>
            </a:extLst>
          </p:cNvPr>
          <p:cNvSpPr txBox="1"/>
          <p:nvPr/>
        </p:nvSpPr>
        <p:spPr>
          <a:xfrm>
            <a:off x="470981" y="1293279"/>
            <a:ext cx="1622452"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a:t>
            </a:r>
          </a:p>
        </p:txBody>
      </p:sp>
    </p:spTree>
    <p:extLst>
      <p:ext uri="{BB962C8B-B14F-4D97-AF65-F5344CB8AC3E}">
        <p14:creationId xmlns:p14="http://schemas.microsoft.com/office/powerpoint/2010/main" val="3543429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fgeronde rechthoek 33">
            <a:extLst>
              <a:ext uri="{FF2B5EF4-FFF2-40B4-BE49-F238E27FC236}">
                <a16:creationId xmlns:a16="http://schemas.microsoft.com/office/drawing/2014/main" id="{5C67D71A-21D5-7B62-C401-C5338679DFE0}"/>
              </a:ext>
            </a:extLst>
          </p:cNvPr>
          <p:cNvSpPr/>
          <p:nvPr/>
        </p:nvSpPr>
        <p:spPr>
          <a:xfrm>
            <a:off x="4454347" y="1406584"/>
            <a:ext cx="7567201" cy="20333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2" name="Tijdelijke aanduiding voor voettekst 1">
            <a:extLst>
              <a:ext uri="{FF2B5EF4-FFF2-40B4-BE49-F238E27FC236}">
                <a16:creationId xmlns:a16="http://schemas.microsoft.com/office/drawing/2014/main" id="{B159244B-2E65-D403-B5EA-9ABB5CA8CB92}"/>
              </a:ext>
            </a:extLst>
          </p:cNvPr>
          <p:cNvSpPr>
            <a:spLocks noGrp="1"/>
          </p:cNvSpPr>
          <p:nvPr>
            <p:ph type="ftr" sz="quarter" idx="14"/>
          </p:nvPr>
        </p:nvSpPr>
        <p:spPr>
          <a:xfrm>
            <a:off x="849600" y="6462000"/>
            <a:ext cx="1085851" cy="231923"/>
          </a:xfrm>
        </p:spPr>
        <p:txBody>
          <a:bodyPr/>
          <a:lstStyle/>
          <a:p>
            <a:r>
              <a:rPr lang="en-GB" dirty="0"/>
              <a:t>Confidential</a:t>
            </a:r>
          </a:p>
        </p:txBody>
      </p:sp>
      <p:sp>
        <p:nvSpPr>
          <p:cNvPr id="3" name="Tijdelijke aanduiding voor dianummer 2">
            <a:extLst>
              <a:ext uri="{FF2B5EF4-FFF2-40B4-BE49-F238E27FC236}">
                <a16:creationId xmlns:a16="http://schemas.microsoft.com/office/drawing/2014/main" id="{727C3B66-2BB8-6651-49B3-C22404EF5657}"/>
              </a:ext>
            </a:extLst>
          </p:cNvPr>
          <p:cNvSpPr>
            <a:spLocks noGrp="1"/>
          </p:cNvSpPr>
          <p:nvPr>
            <p:ph type="sldNum" sz="quarter" idx="15"/>
          </p:nvPr>
        </p:nvSpPr>
        <p:spPr/>
        <p:txBody>
          <a:bodyPr/>
          <a:lstStyle/>
          <a:p>
            <a:fld id="{E242BD21-9B61-2246-BCB1-4BE5E1BEBE1C}" type="slidenum">
              <a:rPr lang="en-GB" smtClean="0"/>
              <a:pPr/>
              <a:t>18</a:t>
            </a:fld>
            <a:endParaRPr lang="en-GB" dirty="0"/>
          </a:p>
        </p:txBody>
      </p:sp>
      <p:sp>
        <p:nvSpPr>
          <p:cNvPr id="4" name="Titel 3">
            <a:extLst>
              <a:ext uri="{FF2B5EF4-FFF2-40B4-BE49-F238E27FC236}">
                <a16:creationId xmlns:a16="http://schemas.microsoft.com/office/drawing/2014/main" id="{D7D0FD1C-DD8F-FA69-E8D5-51EBF8A0085B}"/>
              </a:ext>
            </a:extLst>
          </p:cNvPr>
          <p:cNvSpPr>
            <a:spLocks noGrp="1"/>
          </p:cNvSpPr>
          <p:nvPr>
            <p:ph type="title"/>
          </p:nvPr>
        </p:nvSpPr>
        <p:spPr/>
        <p:txBody>
          <a:bodyPr/>
          <a:lstStyle/>
          <a:p>
            <a:r>
              <a:rPr lang="en-GB" dirty="0"/>
              <a:t>Index</a:t>
            </a:r>
          </a:p>
        </p:txBody>
      </p:sp>
      <p:sp>
        <p:nvSpPr>
          <p:cNvPr id="5" name="Tijdelijke aanduiding voor inhoud 4">
            <a:extLst>
              <a:ext uri="{FF2B5EF4-FFF2-40B4-BE49-F238E27FC236}">
                <a16:creationId xmlns:a16="http://schemas.microsoft.com/office/drawing/2014/main" id="{B8640D79-73F3-DDBF-46E3-A770D0CE4F85}"/>
              </a:ext>
            </a:extLst>
          </p:cNvPr>
          <p:cNvSpPr>
            <a:spLocks noGrp="1"/>
          </p:cNvSpPr>
          <p:nvPr>
            <p:ph sz="quarter" idx="16"/>
          </p:nvPr>
        </p:nvSpPr>
        <p:spPr>
          <a:xfrm>
            <a:off x="4467600" y="737999"/>
            <a:ext cx="7092000" cy="2734727"/>
          </a:xfrm>
        </p:spPr>
        <p:txBody>
          <a:bodyPr/>
          <a:lstStyle/>
          <a:p>
            <a:r>
              <a:rPr lang="en-GB" dirty="0"/>
              <a:t>Objectives</a:t>
            </a:r>
          </a:p>
          <a:p>
            <a:r>
              <a:rPr lang="en-GB" dirty="0"/>
              <a:t>Portfolio trends</a:t>
            </a:r>
          </a:p>
          <a:p>
            <a:endParaRPr lang="en-GB" dirty="0"/>
          </a:p>
          <a:p>
            <a:endParaRPr lang="en-GB" dirty="0"/>
          </a:p>
        </p:txBody>
      </p:sp>
      <p:grpSp>
        <p:nvGrpSpPr>
          <p:cNvPr id="13" name="Group 12">
            <a:extLst>
              <a:ext uri="{FF2B5EF4-FFF2-40B4-BE49-F238E27FC236}">
                <a16:creationId xmlns:a16="http://schemas.microsoft.com/office/drawing/2014/main" id="{B564DC9F-CC1F-F90B-BAEE-7FE68259B0A0}"/>
              </a:ext>
            </a:extLst>
          </p:cNvPr>
          <p:cNvGrpSpPr/>
          <p:nvPr/>
        </p:nvGrpSpPr>
        <p:grpSpPr>
          <a:xfrm>
            <a:off x="5678270" y="2777977"/>
            <a:ext cx="2396827" cy="332897"/>
            <a:chOff x="5682921" y="2898500"/>
            <a:chExt cx="2396827" cy="332897"/>
          </a:xfrm>
        </p:grpSpPr>
        <p:sp>
          <p:nvSpPr>
            <p:cNvPr id="14" name="Rectangle 5">
              <a:extLst>
                <a:ext uri="{FF2B5EF4-FFF2-40B4-BE49-F238E27FC236}">
                  <a16:creationId xmlns:a16="http://schemas.microsoft.com/office/drawing/2014/main" id="{164776AD-70C4-808F-74DD-3C14795FF549}"/>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3</a:t>
              </a:r>
            </a:p>
          </p:txBody>
        </p:sp>
        <p:sp>
          <p:nvSpPr>
            <p:cNvPr id="16" name="TextBox 6">
              <a:extLst>
                <a:ext uri="{FF2B5EF4-FFF2-40B4-BE49-F238E27FC236}">
                  <a16:creationId xmlns:a16="http://schemas.microsoft.com/office/drawing/2014/main" id="{26E313BE-4539-951D-39B6-8270E8E286F4}"/>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Security</a:t>
              </a:r>
            </a:p>
          </p:txBody>
        </p:sp>
      </p:grpSp>
      <p:grpSp>
        <p:nvGrpSpPr>
          <p:cNvPr id="32" name="Group 31">
            <a:extLst>
              <a:ext uri="{FF2B5EF4-FFF2-40B4-BE49-F238E27FC236}">
                <a16:creationId xmlns:a16="http://schemas.microsoft.com/office/drawing/2014/main" id="{63AEFF71-AFAA-2A9B-1B52-69C00DF203AA}"/>
              </a:ext>
            </a:extLst>
          </p:cNvPr>
          <p:cNvGrpSpPr/>
          <p:nvPr/>
        </p:nvGrpSpPr>
        <p:grpSpPr>
          <a:xfrm>
            <a:off x="5682921" y="2128093"/>
            <a:ext cx="5119353" cy="332898"/>
            <a:chOff x="5682921" y="2898499"/>
            <a:chExt cx="5119353" cy="332898"/>
          </a:xfrm>
        </p:grpSpPr>
        <p:sp>
          <p:nvSpPr>
            <p:cNvPr id="33" name="Rectangle 5">
              <a:extLst>
                <a:ext uri="{FF2B5EF4-FFF2-40B4-BE49-F238E27FC236}">
                  <a16:creationId xmlns:a16="http://schemas.microsoft.com/office/drawing/2014/main" id="{CF5648A5-989D-607F-8E33-BE663B334A22}"/>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34" name="Rectangle 12">
              <a:extLst>
                <a:ext uri="{FF2B5EF4-FFF2-40B4-BE49-F238E27FC236}">
                  <a16:creationId xmlns:a16="http://schemas.microsoft.com/office/drawing/2014/main" id="{6199A04C-EC60-FB43-DB8D-97CCBCA311F4}"/>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35" name="TextBox 6">
              <a:extLst>
                <a:ext uri="{FF2B5EF4-FFF2-40B4-BE49-F238E27FC236}">
                  <a16:creationId xmlns:a16="http://schemas.microsoft.com/office/drawing/2014/main" id="{277D7F99-1C55-864A-511F-89B598866BE7}"/>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Maintainability</a:t>
              </a:r>
            </a:p>
          </p:txBody>
        </p:sp>
        <p:sp>
          <p:nvSpPr>
            <p:cNvPr id="36" name="TextBox 18">
              <a:extLst>
                <a:ext uri="{FF2B5EF4-FFF2-40B4-BE49-F238E27FC236}">
                  <a16:creationId xmlns:a16="http://schemas.microsoft.com/office/drawing/2014/main" id="{E7FB80B6-7D6D-E1C4-A31F-209945D62AC9}"/>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Open Source Health</a:t>
              </a:r>
            </a:p>
          </p:txBody>
        </p:sp>
      </p:grpSp>
    </p:spTree>
    <p:extLst>
      <p:ext uri="{BB962C8B-B14F-4D97-AF65-F5344CB8AC3E}">
        <p14:creationId xmlns:p14="http://schemas.microsoft.com/office/powerpoint/2010/main" val="1413604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A601DF-C4A8-2D87-FD83-478449C52321}"/>
              </a:ext>
            </a:extLst>
          </p:cNvPr>
          <p:cNvSpPr>
            <a:spLocks noGrp="1"/>
          </p:cNvSpPr>
          <p:nvPr>
            <p:ph type="body" sz="quarter" idx="12"/>
          </p:nvPr>
        </p:nvSpPr>
        <p:spPr>
          <a:xfrm>
            <a:off x="381600" y="129568"/>
            <a:ext cx="3012217" cy="228209"/>
          </a:xfrm>
        </p:spPr>
        <p:txBody>
          <a:bodyPr/>
          <a:lstStyle/>
          <a:p>
            <a:r>
              <a:rPr lang="en-GB" dirty="0"/>
              <a:t>Portfolio trends – Maintainability</a:t>
            </a:r>
          </a:p>
        </p:txBody>
      </p:sp>
      <p:sp>
        <p:nvSpPr>
          <p:cNvPr id="4" name="Footer Placeholder 3">
            <a:extLst>
              <a:ext uri="{FF2B5EF4-FFF2-40B4-BE49-F238E27FC236}">
                <a16:creationId xmlns:a16="http://schemas.microsoft.com/office/drawing/2014/main" id="{616C63DE-00A7-4FC0-4AEC-0B46C34CBF3A}"/>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CC8973F4-BD90-5319-109B-46FFDE9337A1}"/>
              </a:ext>
            </a:extLst>
          </p:cNvPr>
          <p:cNvSpPr>
            <a:spLocks noGrp="1"/>
          </p:cNvSpPr>
          <p:nvPr>
            <p:ph type="sldNum" sz="quarter" idx="15"/>
          </p:nvPr>
        </p:nvSpPr>
        <p:spPr/>
        <p:txBody>
          <a:bodyPr/>
          <a:lstStyle/>
          <a:p>
            <a:fld id="{E242BD21-9B61-2246-BCB1-4BE5E1BEBE1C}" type="slidenum">
              <a:rPr lang="en-GB" smtClean="0"/>
              <a:pPr/>
              <a:t>19</a:t>
            </a:fld>
            <a:endParaRPr lang="en-GB" dirty="0"/>
          </a:p>
        </p:txBody>
      </p:sp>
      <p:sp>
        <p:nvSpPr>
          <p:cNvPr id="6" name="Title 5">
            <a:extLst>
              <a:ext uri="{FF2B5EF4-FFF2-40B4-BE49-F238E27FC236}">
                <a16:creationId xmlns:a16="http://schemas.microsoft.com/office/drawing/2014/main" id="{30EF4FCE-16C7-AAE8-D773-A8EA61868F96}"/>
              </a:ext>
            </a:extLst>
          </p:cNvPr>
          <p:cNvSpPr>
            <a:spLocks noGrp="1"/>
          </p:cNvSpPr>
          <p:nvPr>
            <p:ph type="title"/>
          </p:nvPr>
        </p:nvSpPr>
        <p:spPr/>
        <p:txBody>
          <a:bodyPr/>
          <a:lstStyle/>
          <a:p>
            <a:r>
              <a:rPr lang="en-GB" dirty="0"/>
              <a:t>About 45 (48%) systems score market average on maintainability</a:t>
            </a:r>
          </a:p>
        </p:txBody>
      </p:sp>
      <p:pic>
        <p:nvPicPr>
          <p:cNvPr id="27" name="Graphic 26">
            <a:extLst>
              <a:ext uri="{FF2B5EF4-FFF2-40B4-BE49-F238E27FC236}">
                <a16:creationId xmlns:a16="http://schemas.microsoft.com/office/drawing/2014/main" id="{1B8A7248-F03C-088E-C008-987A5B232F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57565" y="5907042"/>
            <a:ext cx="371130" cy="206558"/>
          </a:xfrm>
          <a:prstGeom prst="rect">
            <a:avLst/>
          </a:prstGeom>
        </p:spPr>
      </p:pic>
      <p:sp>
        <p:nvSpPr>
          <p:cNvPr id="29" name="TextBox 28">
            <a:extLst>
              <a:ext uri="{FF2B5EF4-FFF2-40B4-BE49-F238E27FC236}">
                <a16:creationId xmlns:a16="http://schemas.microsoft.com/office/drawing/2014/main" id="{46CDA2AA-8345-4B77-9D19-3B6B6B682D6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30" name="Group 29">
            <a:extLst>
              <a:ext uri="{FF2B5EF4-FFF2-40B4-BE49-F238E27FC236}">
                <a16:creationId xmlns:a16="http://schemas.microsoft.com/office/drawing/2014/main" id="{E0D9E6FA-490C-7A76-F042-C6CBE8EC8CC9}"/>
              </a:ext>
            </a:extLst>
          </p:cNvPr>
          <p:cNvGrpSpPr/>
          <p:nvPr/>
        </p:nvGrpSpPr>
        <p:grpSpPr>
          <a:xfrm>
            <a:off x="690538" y="5907042"/>
            <a:ext cx="300732" cy="98617"/>
            <a:chOff x="586253" y="6116391"/>
            <a:chExt cx="300732" cy="98617"/>
          </a:xfrm>
        </p:grpSpPr>
        <p:sp>
          <p:nvSpPr>
            <p:cNvPr id="31" name="TextBox 30">
              <a:extLst>
                <a:ext uri="{FF2B5EF4-FFF2-40B4-BE49-F238E27FC236}">
                  <a16:creationId xmlns:a16="http://schemas.microsoft.com/office/drawing/2014/main" id="{AFCC85E8-4CEE-1443-5223-4D50EF70486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2" name="Rounded Rectangle 31">
              <a:extLst>
                <a:ext uri="{FF2B5EF4-FFF2-40B4-BE49-F238E27FC236}">
                  <a16:creationId xmlns:a16="http://schemas.microsoft.com/office/drawing/2014/main" id="{C9B90DD7-4FB9-2883-E7AE-08032D550CCB}"/>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3" name="Group 32">
            <a:extLst>
              <a:ext uri="{FF2B5EF4-FFF2-40B4-BE49-F238E27FC236}">
                <a16:creationId xmlns:a16="http://schemas.microsoft.com/office/drawing/2014/main" id="{5CB124ED-E704-12AA-C864-811D9D5670BD}"/>
              </a:ext>
            </a:extLst>
          </p:cNvPr>
          <p:cNvGrpSpPr/>
          <p:nvPr/>
        </p:nvGrpSpPr>
        <p:grpSpPr>
          <a:xfrm>
            <a:off x="1107915" y="5907042"/>
            <a:ext cx="331190" cy="98617"/>
            <a:chOff x="961765" y="6117353"/>
            <a:chExt cx="331190" cy="98617"/>
          </a:xfrm>
        </p:grpSpPr>
        <p:sp>
          <p:nvSpPr>
            <p:cNvPr id="34" name="TextBox 33">
              <a:extLst>
                <a:ext uri="{FF2B5EF4-FFF2-40B4-BE49-F238E27FC236}">
                  <a16:creationId xmlns:a16="http://schemas.microsoft.com/office/drawing/2014/main" id="{AC0E027F-C043-85D4-8A7D-8FB2639DA35A}"/>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5" name="Rounded Rectangle 34">
              <a:extLst>
                <a:ext uri="{FF2B5EF4-FFF2-40B4-BE49-F238E27FC236}">
                  <a16:creationId xmlns:a16="http://schemas.microsoft.com/office/drawing/2014/main" id="{321A6AD1-50D4-60BA-DA82-432C012CDE3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6" name="Group 35">
            <a:extLst>
              <a:ext uri="{FF2B5EF4-FFF2-40B4-BE49-F238E27FC236}">
                <a16:creationId xmlns:a16="http://schemas.microsoft.com/office/drawing/2014/main" id="{76D7359A-F9B0-6788-C6F6-1FD4C4F59016}"/>
              </a:ext>
            </a:extLst>
          </p:cNvPr>
          <p:cNvGrpSpPr/>
          <p:nvPr/>
        </p:nvGrpSpPr>
        <p:grpSpPr>
          <a:xfrm>
            <a:off x="1555751" y="5907042"/>
            <a:ext cx="331190" cy="98617"/>
            <a:chOff x="1114165" y="6269753"/>
            <a:chExt cx="331190" cy="98617"/>
          </a:xfrm>
        </p:grpSpPr>
        <p:sp>
          <p:nvSpPr>
            <p:cNvPr id="37" name="TextBox 36">
              <a:extLst>
                <a:ext uri="{FF2B5EF4-FFF2-40B4-BE49-F238E27FC236}">
                  <a16:creationId xmlns:a16="http://schemas.microsoft.com/office/drawing/2014/main" id="{8A42E839-1AC6-A973-B2D6-FE03C7A2EAA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8" name="Rounded Rectangle 37">
              <a:extLst>
                <a:ext uri="{FF2B5EF4-FFF2-40B4-BE49-F238E27FC236}">
                  <a16:creationId xmlns:a16="http://schemas.microsoft.com/office/drawing/2014/main" id="{574C697C-D5E2-1EC6-E364-0363EB8D95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9" name="Group 38">
            <a:extLst>
              <a:ext uri="{FF2B5EF4-FFF2-40B4-BE49-F238E27FC236}">
                <a16:creationId xmlns:a16="http://schemas.microsoft.com/office/drawing/2014/main" id="{546AB6F5-8F91-2462-9FB2-89399076ED14}"/>
              </a:ext>
            </a:extLst>
          </p:cNvPr>
          <p:cNvGrpSpPr/>
          <p:nvPr/>
        </p:nvGrpSpPr>
        <p:grpSpPr>
          <a:xfrm>
            <a:off x="2003587" y="5907042"/>
            <a:ext cx="331190" cy="98617"/>
            <a:chOff x="1114165" y="6269753"/>
            <a:chExt cx="331190" cy="98617"/>
          </a:xfrm>
        </p:grpSpPr>
        <p:sp>
          <p:nvSpPr>
            <p:cNvPr id="40" name="TextBox 39">
              <a:extLst>
                <a:ext uri="{FF2B5EF4-FFF2-40B4-BE49-F238E27FC236}">
                  <a16:creationId xmlns:a16="http://schemas.microsoft.com/office/drawing/2014/main" id="{21B966A2-CD6E-43B3-1B35-574D340193A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41" name="Rounded Rectangle 40">
              <a:extLst>
                <a:ext uri="{FF2B5EF4-FFF2-40B4-BE49-F238E27FC236}">
                  <a16:creationId xmlns:a16="http://schemas.microsoft.com/office/drawing/2014/main" id="{EBB239A8-7183-B922-0F96-5ECD20AD38D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2" name="Group 41">
            <a:extLst>
              <a:ext uri="{FF2B5EF4-FFF2-40B4-BE49-F238E27FC236}">
                <a16:creationId xmlns:a16="http://schemas.microsoft.com/office/drawing/2014/main" id="{58E13405-55E4-337C-0075-F5940C9366AF}"/>
              </a:ext>
            </a:extLst>
          </p:cNvPr>
          <p:cNvGrpSpPr/>
          <p:nvPr/>
        </p:nvGrpSpPr>
        <p:grpSpPr>
          <a:xfrm>
            <a:off x="2451422" y="5907042"/>
            <a:ext cx="331190" cy="98617"/>
            <a:chOff x="1114165" y="6269753"/>
            <a:chExt cx="331190" cy="98617"/>
          </a:xfrm>
        </p:grpSpPr>
        <p:sp>
          <p:nvSpPr>
            <p:cNvPr id="43" name="TextBox 42">
              <a:extLst>
                <a:ext uri="{FF2B5EF4-FFF2-40B4-BE49-F238E27FC236}">
                  <a16:creationId xmlns:a16="http://schemas.microsoft.com/office/drawing/2014/main" id="{EB9F2CE7-8B0B-523F-B2D6-B2F5B8E1AF5C}"/>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4" name="Rounded Rectangle 43">
              <a:extLst>
                <a:ext uri="{FF2B5EF4-FFF2-40B4-BE49-F238E27FC236}">
                  <a16:creationId xmlns:a16="http://schemas.microsoft.com/office/drawing/2014/main" id="{B9C71E9A-6525-560E-1410-76D0C3A6297F}"/>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7" name="Content Placeholder 2">
            <a:extLst>
              <a:ext uri="{FF2B5EF4-FFF2-40B4-BE49-F238E27FC236}">
                <a16:creationId xmlns:a16="http://schemas.microsoft.com/office/drawing/2014/main" id="{D48E06C3-DD1E-DA61-E312-484DB2CB23C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maintainability rating for the portfolio is 2.5</a:t>
            </a:r>
            <a:r>
              <a:rPr lang="en-US" sz="100" dirty="0"/>
              <a:t> </a:t>
            </a:r>
            <a:r>
              <a:rPr lang="en-US" dirty="0"/>
              <a:t>★.</a:t>
            </a:r>
          </a:p>
          <a:p>
            <a:pPr indent="-283845"/>
            <a:r>
              <a:rPr lang="en-US" dirty="0"/>
              <a:t>32</a:t>
            </a:r>
            <a:r>
              <a:rPr lang="en-GB" sz="1550" noProof="0" dirty="0"/>
              <a:t>% of systems score above market average (≥3.5</a:t>
            </a:r>
            <a:r>
              <a:rPr lang="en-US" sz="1400" dirty="0"/>
              <a:t>★</a:t>
            </a:r>
            <a:r>
              <a:rPr lang="en-GB" sz="1550" noProof="0" dirty="0"/>
              <a:t>).</a:t>
            </a:r>
          </a:p>
          <a:p>
            <a:pPr indent="-283845"/>
            <a:r>
              <a:rPr lang="en-US" dirty="0"/>
              <a:t>48</a:t>
            </a:r>
            <a:r>
              <a:rPr lang="en-GB" sz="1550" dirty="0">
                <a:ea typeface="Calibri"/>
                <a:cs typeface="Calibri"/>
              </a:rPr>
              <a:t>% of systems score market average (3</a:t>
            </a:r>
            <a:r>
              <a:rPr lang="en-US" sz="1400" dirty="0"/>
              <a:t>★</a:t>
            </a:r>
            <a:r>
              <a:rPr lang="en-GB" sz="1550" dirty="0">
                <a:ea typeface="Calibri"/>
                <a:cs typeface="Calibri"/>
              </a:rPr>
              <a:t>).</a:t>
            </a:r>
          </a:p>
          <a:p>
            <a:pPr indent="-283845"/>
            <a:r>
              <a:rPr lang="en-US" dirty="0"/>
              <a:t>19</a:t>
            </a:r>
            <a:r>
              <a:rPr lang="en-GB" sz="1550" dirty="0">
                <a:ea typeface="Calibri"/>
                <a:cs typeface="Calibri"/>
              </a:rPr>
              <a:t>% of systems score below market average (≤2.5</a:t>
            </a:r>
            <a:r>
              <a:rPr lang="en-US" sz="1400" dirty="0"/>
              <a:t>★</a:t>
            </a:r>
            <a:r>
              <a:rPr lang="en-GB" sz="1550" dirty="0">
                <a:ea typeface="Calibri"/>
                <a:cs typeface="Calibri"/>
              </a:rPr>
              <a:t>).</a:t>
            </a:r>
          </a:p>
        </p:txBody>
      </p:sp>
      <p:pic>
        <p:nvPicPr>
          <p:cNvPr id="45" name="Picture 44" descr="image.png"/>
          <p:cNvPicPr>
            <a:picLocks noChangeAspect="1"/>
          </p:cNvPicPr>
          <p:nvPr/>
        </p:nvPicPr>
        <p:blipFill>
          <a:blip r:embed="rId5"/>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2753497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800F3-3D18-CF63-16D4-96CA783932AB}"/>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8B14AA8-0AD7-EDFF-9986-B230DB557AA0}"/>
              </a:ext>
            </a:extLst>
          </p:cNvPr>
          <p:cNvSpPr>
            <a:spLocks noGrp="1"/>
          </p:cNvSpPr>
          <p:nvPr>
            <p:ph type="body" sz="quarter" idx="12"/>
          </p:nvPr>
        </p:nvSpPr>
        <p:spPr>
          <a:xfrm>
            <a:off x="381600" y="129600"/>
            <a:ext cx="3012217" cy="228145"/>
          </a:xfrm>
        </p:spPr>
        <p:txBody>
          <a:bodyPr/>
          <a:lstStyle/>
          <a:p>
            <a:r>
              <a:rPr lang="en-GB" dirty="0"/>
              <a:t>Portfolio trends – Maintainability</a:t>
            </a:r>
          </a:p>
        </p:txBody>
      </p:sp>
      <p:sp>
        <p:nvSpPr>
          <p:cNvPr id="9" name="Content Placeholder 8">
            <a:extLst>
              <a:ext uri="{FF2B5EF4-FFF2-40B4-BE49-F238E27FC236}">
                <a16:creationId xmlns:a16="http://schemas.microsoft.com/office/drawing/2014/main" id="{DF1BFF63-C4B5-7AB9-E5D9-E74391AFD97B}"/>
              </a:ext>
            </a:extLst>
          </p:cNvPr>
          <p:cNvSpPr>
            <a:spLocks noGrp="1"/>
          </p:cNvSpPr>
          <p:nvPr>
            <p:ph sz="quarter" idx="13"/>
          </p:nvPr>
        </p:nvSpPr>
        <p:spPr/>
        <p:txBody>
          <a:bodyPr/>
          <a:lstStyle/>
          <a:p>
            <a:endParaRPr lang="en-US"/>
          </a:p>
        </p:txBody>
      </p:sp>
      <p:sp>
        <p:nvSpPr>
          <p:cNvPr id="5" name="Slide Number Placeholder 4">
            <a:extLst>
              <a:ext uri="{FF2B5EF4-FFF2-40B4-BE49-F238E27FC236}">
                <a16:creationId xmlns:a16="http://schemas.microsoft.com/office/drawing/2014/main" id="{F9D9EB6A-8DF6-69EE-B118-CBF9A8558A5E}"/>
              </a:ext>
            </a:extLst>
          </p:cNvPr>
          <p:cNvSpPr>
            <a:spLocks noGrp="1"/>
          </p:cNvSpPr>
          <p:nvPr>
            <p:ph type="sldNum" sz="quarter" idx="15"/>
          </p:nvPr>
        </p:nvSpPr>
        <p:spPr/>
        <p:txBody>
          <a:bodyPr/>
          <a:lstStyle/>
          <a:p>
            <a:fld id="{E242BD21-9B61-2246-BCB1-4BE5E1BEBE1C}" type="slidenum">
              <a:rPr lang="nl-NL" smtClean="0"/>
              <a:pPr/>
              <a:t>20</a:t>
            </a:fld>
            <a:endParaRPr lang="nl-NL"/>
          </a:p>
        </p:txBody>
      </p:sp>
      <p:sp>
        <p:nvSpPr>
          <p:cNvPr id="6" name="Title 5">
            <a:extLst>
              <a:ext uri="{FF2B5EF4-FFF2-40B4-BE49-F238E27FC236}">
                <a16:creationId xmlns:a16="http://schemas.microsoft.com/office/drawing/2014/main" id="{EAFF12C5-E73A-8501-2BCE-9BD95E2EC90B}"/>
              </a:ext>
            </a:extLst>
          </p:cNvPr>
          <p:cNvSpPr>
            <a:spLocks noGrp="1"/>
          </p:cNvSpPr>
          <p:nvPr>
            <p:ph type="title"/>
          </p:nvPr>
        </p:nvSpPr>
        <p:spPr/>
        <p:txBody>
          <a:bodyPr>
            <a:noAutofit/>
          </a:bodyPr>
          <a:lstStyle/>
          <a:p>
            <a:r>
              <a:rPr lang="en-US" sz="2400" dirty="0"/>
              <a:t>Maintainability Grouped by Lifecycle</a:t>
            </a:r>
          </a:p>
        </p:txBody>
      </p:sp>
      <p:sp>
        <p:nvSpPr>
          <p:cNvPr id="7" name="Rectangle 6">
            <a:extLst>
              <a:ext uri="{FF2B5EF4-FFF2-40B4-BE49-F238E27FC236}">
                <a16:creationId xmlns:a16="http://schemas.microsoft.com/office/drawing/2014/main" id="{4D956AE0-666A-B966-0B15-61A5E6C88F75}"/>
              </a:ext>
            </a:extLst>
          </p:cNvPr>
          <p:cNvSpPr/>
          <p:nvPr/>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DB9C8604-49B1-C79B-52E3-E11913D097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4536" y="6071736"/>
            <a:ext cx="371130" cy="206558"/>
          </a:xfrm>
          <a:prstGeom prst="rect">
            <a:avLst/>
          </a:prstGeom>
        </p:spPr>
      </p:pic>
      <p:sp>
        <p:nvSpPr>
          <p:cNvPr id="58" name="TextBox 57">
            <a:extLst>
              <a:ext uri="{FF2B5EF4-FFF2-40B4-BE49-F238E27FC236}">
                <a16:creationId xmlns:a16="http://schemas.microsoft.com/office/drawing/2014/main" id="{044EBA72-3AF3-C450-92C3-70B42255A7A7}"/>
              </a:ext>
            </a:extLst>
          </p:cNvPr>
          <p:cNvSpPr txBox="1"/>
          <p:nvPr/>
        </p:nvSpPr>
        <p:spPr>
          <a:xfrm>
            <a:off x="2643466" y="6054740"/>
            <a:ext cx="1520116" cy="225126"/>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Lifecycle</a:t>
            </a:r>
          </a:p>
        </p:txBody>
      </p:sp>
      <p:grpSp>
        <p:nvGrpSpPr>
          <p:cNvPr id="59" name="Group 58">
            <a:extLst>
              <a:ext uri="{FF2B5EF4-FFF2-40B4-BE49-F238E27FC236}">
                <a16:creationId xmlns:a16="http://schemas.microsoft.com/office/drawing/2014/main" id="{6849045C-A3DB-D503-5F61-D4753A6B2ED2}"/>
              </a:ext>
            </a:extLst>
          </p:cNvPr>
          <p:cNvGrpSpPr/>
          <p:nvPr/>
        </p:nvGrpSpPr>
        <p:grpSpPr>
          <a:xfrm>
            <a:off x="516802" y="6117354"/>
            <a:ext cx="300732" cy="98617"/>
            <a:chOff x="586253" y="6116391"/>
            <a:chExt cx="300732" cy="98617"/>
          </a:xfrm>
        </p:grpSpPr>
        <p:sp>
          <p:nvSpPr>
            <p:cNvPr id="60" name="TextBox 59">
              <a:extLst>
                <a:ext uri="{FF2B5EF4-FFF2-40B4-BE49-F238E27FC236}">
                  <a16:creationId xmlns:a16="http://schemas.microsoft.com/office/drawing/2014/main" id="{5624AC01-AE32-E25C-2E9D-D62F1A546D56}"/>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1 star</a:t>
              </a:r>
            </a:p>
          </p:txBody>
        </p:sp>
        <p:sp>
          <p:nvSpPr>
            <p:cNvPr id="61" name="Rounded Rectangle 60">
              <a:extLst>
                <a:ext uri="{FF2B5EF4-FFF2-40B4-BE49-F238E27FC236}">
                  <a16:creationId xmlns:a16="http://schemas.microsoft.com/office/drawing/2014/main" id="{E528D542-C236-FC7F-A86B-58E301E03F2B}"/>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62" name="Group 61">
            <a:extLst>
              <a:ext uri="{FF2B5EF4-FFF2-40B4-BE49-F238E27FC236}">
                <a16:creationId xmlns:a16="http://schemas.microsoft.com/office/drawing/2014/main" id="{6C8A81E2-505A-2686-805D-D50F2ED4D58F}"/>
              </a:ext>
            </a:extLst>
          </p:cNvPr>
          <p:cNvGrpSpPr/>
          <p:nvPr/>
        </p:nvGrpSpPr>
        <p:grpSpPr>
          <a:xfrm>
            <a:off x="934179" y="6117354"/>
            <a:ext cx="331190" cy="98617"/>
            <a:chOff x="961765" y="6117353"/>
            <a:chExt cx="331190" cy="98617"/>
          </a:xfrm>
        </p:grpSpPr>
        <p:sp>
          <p:nvSpPr>
            <p:cNvPr id="63" name="TextBox 62">
              <a:extLst>
                <a:ext uri="{FF2B5EF4-FFF2-40B4-BE49-F238E27FC236}">
                  <a16:creationId xmlns:a16="http://schemas.microsoft.com/office/drawing/2014/main" id="{B6DC148D-262C-83BE-A7DB-4CEECDA9841D}"/>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2 stars</a:t>
              </a:r>
            </a:p>
          </p:txBody>
        </p:sp>
        <p:sp>
          <p:nvSpPr>
            <p:cNvPr id="64" name="Rounded Rectangle 63">
              <a:extLst>
                <a:ext uri="{FF2B5EF4-FFF2-40B4-BE49-F238E27FC236}">
                  <a16:creationId xmlns:a16="http://schemas.microsoft.com/office/drawing/2014/main" id="{73216D68-D9B6-5F6A-FBB5-3659B7899EE4}"/>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65" name="Group 64">
            <a:extLst>
              <a:ext uri="{FF2B5EF4-FFF2-40B4-BE49-F238E27FC236}">
                <a16:creationId xmlns:a16="http://schemas.microsoft.com/office/drawing/2014/main" id="{35C52AC4-11B0-1D06-863D-8E95DF4FAEE5}"/>
              </a:ext>
            </a:extLst>
          </p:cNvPr>
          <p:cNvGrpSpPr/>
          <p:nvPr/>
        </p:nvGrpSpPr>
        <p:grpSpPr>
          <a:xfrm>
            <a:off x="1382015" y="6117354"/>
            <a:ext cx="331190" cy="98617"/>
            <a:chOff x="1114165" y="6269753"/>
            <a:chExt cx="331190" cy="98617"/>
          </a:xfrm>
        </p:grpSpPr>
        <p:sp>
          <p:nvSpPr>
            <p:cNvPr id="66" name="TextBox 65">
              <a:extLst>
                <a:ext uri="{FF2B5EF4-FFF2-40B4-BE49-F238E27FC236}">
                  <a16:creationId xmlns:a16="http://schemas.microsoft.com/office/drawing/2014/main" id="{3FCAE05B-9910-83DD-05A3-9ED3538CAB1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3 stars</a:t>
              </a:r>
            </a:p>
          </p:txBody>
        </p:sp>
        <p:sp>
          <p:nvSpPr>
            <p:cNvPr id="67" name="Rounded Rectangle 66">
              <a:extLst>
                <a:ext uri="{FF2B5EF4-FFF2-40B4-BE49-F238E27FC236}">
                  <a16:creationId xmlns:a16="http://schemas.microsoft.com/office/drawing/2014/main" id="{B02E6CFD-57D4-174C-07D0-383B813F6801}"/>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68" name="Group 67">
            <a:extLst>
              <a:ext uri="{FF2B5EF4-FFF2-40B4-BE49-F238E27FC236}">
                <a16:creationId xmlns:a16="http://schemas.microsoft.com/office/drawing/2014/main" id="{F26E1917-406F-73B3-C93D-1D8325F31D6D}"/>
              </a:ext>
            </a:extLst>
          </p:cNvPr>
          <p:cNvGrpSpPr/>
          <p:nvPr/>
        </p:nvGrpSpPr>
        <p:grpSpPr>
          <a:xfrm>
            <a:off x="1829851" y="6117354"/>
            <a:ext cx="331190" cy="98617"/>
            <a:chOff x="1114165" y="6269753"/>
            <a:chExt cx="331190" cy="98617"/>
          </a:xfrm>
        </p:grpSpPr>
        <p:sp>
          <p:nvSpPr>
            <p:cNvPr id="69" name="TextBox 68">
              <a:extLst>
                <a:ext uri="{FF2B5EF4-FFF2-40B4-BE49-F238E27FC236}">
                  <a16:creationId xmlns:a16="http://schemas.microsoft.com/office/drawing/2014/main" id="{967C8CEE-6BFB-AD76-8318-6426CA6A5C12}"/>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4 stars</a:t>
              </a:r>
            </a:p>
          </p:txBody>
        </p:sp>
        <p:sp>
          <p:nvSpPr>
            <p:cNvPr id="70" name="Rounded Rectangle 69">
              <a:extLst>
                <a:ext uri="{FF2B5EF4-FFF2-40B4-BE49-F238E27FC236}">
                  <a16:creationId xmlns:a16="http://schemas.microsoft.com/office/drawing/2014/main" id="{8290A5E7-04EA-1335-3D95-D2A8C4CF3F10}"/>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71" name="Group 70">
            <a:extLst>
              <a:ext uri="{FF2B5EF4-FFF2-40B4-BE49-F238E27FC236}">
                <a16:creationId xmlns:a16="http://schemas.microsoft.com/office/drawing/2014/main" id="{9C1BB1CA-50D6-5754-E886-56DDDB6B630E}"/>
              </a:ext>
            </a:extLst>
          </p:cNvPr>
          <p:cNvGrpSpPr/>
          <p:nvPr/>
        </p:nvGrpSpPr>
        <p:grpSpPr>
          <a:xfrm>
            <a:off x="2277686" y="6117354"/>
            <a:ext cx="331190" cy="98617"/>
            <a:chOff x="1114165" y="6269753"/>
            <a:chExt cx="331190" cy="98617"/>
          </a:xfrm>
        </p:grpSpPr>
        <p:sp>
          <p:nvSpPr>
            <p:cNvPr id="72" name="TextBox 71">
              <a:extLst>
                <a:ext uri="{FF2B5EF4-FFF2-40B4-BE49-F238E27FC236}">
                  <a16:creationId xmlns:a16="http://schemas.microsoft.com/office/drawing/2014/main" id="{2AAE7018-A3D7-FF0D-2550-A7320B145E2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5 stars</a:t>
              </a:r>
            </a:p>
          </p:txBody>
        </p:sp>
        <p:sp>
          <p:nvSpPr>
            <p:cNvPr id="73" name="Rounded Rectangle 72">
              <a:extLst>
                <a:ext uri="{FF2B5EF4-FFF2-40B4-BE49-F238E27FC236}">
                  <a16:creationId xmlns:a16="http://schemas.microsoft.com/office/drawing/2014/main" id="{CDBAC6E5-512A-CB63-DCC5-44139D7EAC6A}"/>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
        <p:nvSpPr>
          <p:cNvPr id="3" name="Content Placeholder 2">
            <a:extLst>
              <a:ext uri="{FF2B5EF4-FFF2-40B4-BE49-F238E27FC236}">
                <a16:creationId xmlns:a16="http://schemas.microsoft.com/office/drawing/2014/main" id="{CC7BD4EC-E668-DDBB-C898-CDC11794C48F}"/>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nl-NL" dirty="0"/>
              <a:t>@@</a:t>
            </a:r>
            <a:endParaRPr lang="en-GB" sz="1550" dirty="0">
              <a:ea typeface="Calibri"/>
              <a:cs typeface="Calibri"/>
            </a:endParaRPr>
          </a:p>
        </p:txBody>
      </p:sp>
      <p:pic>
        <p:nvPicPr>
          <p:cNvPr id="74" name="Picture 73" descr="image.png"/>
          <p:cNvPicPr>
            <a:picLocks noChangeAspect="1"/>
          </p:cNvPicPr>
          <p:nvPr/>
        </p:nvPicPr>
        <p:blipFill>
          <a:blip r:embed="rId5"/>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1232345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9E1A0-F677-7ABE-9F7B-0B74434D5A6A}"/>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AFE9586-B72E-67FD-21F0-E86559BC6571}"/>
              </a:ext>
            </a:extLst>
          </p:cNvPr>
          <p:cNvSpPr>
            <a:spLocks noGrp="1"/>
          </p:cNvSpPr>
          <p:nvPr>
            <p:ph type="body" sz="quarter" idx="12"/>
          </p:nvPr>
        </p:nvSpPr>
        <p:spPr>
          <a:xfrm>
            <a:off x="381600" y="129600"/>
            <a:ext cx="3012217" cy="228145"/>
          </a:xfrm>
        </p:spPr>
        <p:txBody>
          <a:bodyPr/>
          <a:lstStyle/>
          <a:p>
            <a:r>
              <a:rPr lang="en-GB" dirty="0"/>
              <a:t>Portfolio trends – Maintainability</a:t>
            </a:r>
          </a:p>
        </p:txBody>
      </p:sp>
      <p:sp>
        <p:nvSpPr>
          <p:cNvPr id="9" name="Content Placeholder 8">
            <a:extLst>
              <a:ext uri="{FF2B5EF4-FFF2-40B4-BE49-F238E27FC236}">
                <a16:creationId xmlns:a16="http://schemas.microsoft.com/office/drawing/2014/main" id="{678337E4-C7B3-967F-A5FA-450CDEAD96FF}"/>
              </a:ext>
            </a:extLst>
          </p:cNvPr>
          <p:cNvSpPr>
            <a:spLocks noGrp="1"/>
          </p:cNvSpPr>
          <p:nvPr>
            <p:ph sz="quarter" idx="13"/>
          </p:nvPr>
        </p:nvSpPr>
        <p:spPr/>
        <p:txBody>
          <a:bodyPr/>
          <a:lstStyle/>
          <a:p>
            <a:endParaRPr lang="en-US"/>
          </a:p>
        </p:txBody>
      </p:sp>
      <p:sp>
        <p:nvSpPr>
          <p:cNvPr id="5" name="Slide Number Placeholder 4">
            <a:extLst>
              <a:ext uri="{FF2B5EF4-FFF2-40B4-BE49-F238E27FC236}">
                <a16:creationId xmlns:a16="http://schemas.microsoft.com/office/drawing/2014/main" id="{7FC5351A-A8A1-C0E9-116D-C791E57414DE}"/>
              </a:ext>
            </a:extLst>
          </p:cNvPr>
          <p:cNvSpPr>
            <a:spLocks noGrp="1"/>
          </p:cNvSpPr>
          <p:nvPr>
            <p:ph type="sldNum" sz="quarter" idx="15"/>
          </p:nvPr>
        </p:nvSpPr>
        <p:spPr/>
        <p:txBody>
          <a:bodyPr/>
          <a:lstStyle/>
          <a:p>
            <a:fld id="{E242BD21-9B61-2246-BCB1-4BE5E1BEBE1C}" type="slidenum">
              <a:rPr lang="nl-NL" smtClean="0"/>
              <a:pPr/>
              <a:t>21</a:t>
            </a:fld>
            <a:endParaRPr lang="nl-NL"/>
          </a:p>
        </p:txBody>
      </p:sp>
      <p:sp>
        <p:nvSpPr>
          <p:cNvPr id="6" name="Title 5">
            <a:extLst>
              <a:ext uri="{FF2B5EF4-FFF2-40B4-BE49-F238E27FC236}">
                <a16:creationId xmlns:a16="http://schemas.microsoft.com/office/drawing/2014/main" id="{A2DB2541-F26E-1A45-8C1C-10C5827792D5}"/>
              </a:ext>
            </a:extLst>
          </p:cNvPr>
          <p:cNvSpPr>
            <a:spLocks noGrp="1"/>
          </p:cNvSpPr>
          <p:nvPr>
            <p:ph type="title"/>
          </p:nvPr>
        </p:nvSpPr>
        <p:spPr/>
        <p:txBody>
          <a:bodyPr>
            <a:noAutofit/>
          </a:bodyPr>
          <a:lstStyle/>
          <a:p>
            <a:r>
              <a:rPr lang="en-US" sz="2400" dirty="0"/>
              <a:t>Maintainability Grouped by Deployment Type</a:t>
            </a:r>
          </a:p>
        </p:txBody>
      </p:sp>
      <p:sp>
        <p:nvSpPr>
          <p:cNvPr id="7" name="Rectangle 6">
            <a:extLst>
              <a:ext uri="{FF2B5EF4-FFF2-40B4-BE49-F238E27FC236}">
                <a16:creationId xmlns:a16="http://schemas.microsoft.com/office/drawing/2014/main" id="{BCDBC813-1EFC-AA71-9CF7-12E30412E01E}"/>
              </a:ext>
            </a:extLst>
          </p:cNvPr>
          <p:cNvSpPr/>
          <p:nvPr/>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92C797B5-3356-1576-4F18-BFFC41D8A5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4536" y="6071736"/>
            <a:ext cx="371130" cy="206558"/>
          </a:xfrm>
          <a:prstGeom prst="rect">
            <a:avLst/>
          </a:prstGeom>
        </p:spPr>
      </p:pic>
      <p:sp>
        <p:nvSpPr>
          <p:cNvPr id="58" name="TextBox 57">
            <a:extLst>
              <a:ext uri="{FF2B5EF4-FFF2-40B4-BE49-F238E27FC236}">
                <a16:creationId xmlns:a16="http://schemas.microsoft.com/office/drawing/2014/main" id="{D358172D-32D9-F7C1-D993-4B31C910BDC4}"/>
              </a:ext>
            </a:extLst>
          </p:cNvPr>
          <p:cNvSpPr txBox="1"/>
          <p:nvPr/>
        </p:nvSpPr>
        <p:spPr>
          <a:xfrm>
            <a:off x="2643466" y="6054740"/>
            <a:ext cx="1794230" cy="223844"/>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Deployment Type</a:t>
            </a:r>
          </a:p>
        </p:txBody>
      </p:sp>
      <p:grpSp>
        <p:nvGrpSpPr>
          <p:cNvPr id="59" name="Group 58">
            <a:extLst>
              <a:ext uri="{FF2B5EF4-FFF2-40B4-BE49-F238E27FC236}">
                <a16:creationId xmlns:a16="http://schemas.microsoft.com/office/drawing/2014/main" id="{594076F7-E0CB-4844-36A0-D8ADEDF46A51}"/>
              </a:ext>
            </a:extLst>
          </p:cNvPr>
          <p:cNvGrpSpPr/>
          <p:nvPr/>
        </p:nvGrpSpPr>
        <p:grpSpPr>
          <a:xfrm>
            <a:off x="516802" y="6117354"/>
            <a:ext cx="300732" cy="98617"/>
            <a:chOff x="586253" y="6116391"/>
            <a:chExt cx="300732" cy="98617"/>
          </a:xfrm>
        </p:grpSpPr>
        <p:sp>
          <p:nvSpPr>
            <p:cNvPr id="60" name="TextBox 59">
              <a:extLst>
                <a:ext uri="{FF2B5EF4-FFF2-40B4-BE49-F238E27FC236}">
                  <a16:creationId xmlns:a16="http://schemas.microsoft.com/office/drawing/2014/main" id="{06BDAFEE-BD87-364A-427B-1ADAFE9D2FD2}"/>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1 star</a:t>
              </a:r>
            </a:p>
          </p:txBody>
        </p:sp>
        <p:sp>
          <p:nvSpPr>
            <p:cNvPr id="61" name="Rounded Rectangle 60">
              <a:extLst>
                <a:ext uri="{FF2B5EF4-FFF2-40B4-BE49-F238E27FC236}">
                  <a16:creationId xmlns:a16="http://schemas.microsoft.com/office/drawing/2014/main" id="{7A5818A4-3349-D5D3-42AF-155A2D3964A0}"/>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62" name="Group 61">
            <a:extLst>
              <a:ext uri="{FF2B5EF4-FFF2-40B4-BE49-F238E27FC236}">
                <a16:creationId xmlns:a16="http://schemas.microsoft.com/office/drawing/2014/main" id="{4CC7B01C-4916-26E1-BEC3-B97CA46AC676}"/>
              </a:ext>
            </a:extLst>
          </p:cNvPr>
          <p:cNvGrpSpPr/>
          <p:nvPr/>
        </p:nvGrpSpPr>
        <p:grpSpPr>
          <a:xfrm>
            <a:off x="934179" y="6117354"/>
            <a:ext cx="331190" cy="98617"/>
            <a:chOff x="961765" y="6117353"/>
            <a:chExt cx="331190" cy="98617"/>
          </a:xfrm>
        </p:grpSpPr>
        <p:sp>
          <p:nvSpPr>
            <p:cNvPr id="63" name="TextBox 62">
              <a:extLst>
                <a:ext uri="{FF2B5EF4-FFF2-40B4-BE49-F238E27FC236}">
                  <a16:creationId xmlns:a16="http://schemas.microsoft.com/office/drawing/2014/main" id="{3715FDF0-0DD1-688E-2C19-BE57D0DA2F90}"/>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2 stars</a:t>
              </a:r>
            </a:p>
          </p:txBody>
        </p:sp>
        <p:sp>
          <p:nvSpPr>
            <p:cNvPr id="64" name="Rounded Rectangle 63">
              <a:extLst>
                <a:ext uri="{FF2B5EF4-FFF2-40B4-BE49-F238E27FC236}">
                  <a16:creationId xmlns:a16="http://schemas.microsoft.com/office/drawing/2014/main" id="{AF55BD8D-BD79-0350-2FF6-1D572839C33D}"/>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65" name="Group 64">
            <a:extLst>
              <a:ext uri="{FF2B5EF4-FFF2-40B4-BE49-F238E27FC236}">
                <a16:creationId xmlns:a16="http://schemas.microsoft.com/office/drawing/2014/main" id="{32A0D7B8-8D00-392D-59FD-31D01E88F3E8}"/>
              </a:ext>
            </a:extLst>
          </p:cNvPr>
          <p:cNvGrpSpPr/>
          <p:nvPr/>
        </p:nvGrpSpPr>
        <p:grpSpPr>
          <a:xfrm>
            <a:off x="1382015" y="6117354"/>
            <a:ext cx="331190" cy="98617"/>
            <a:chOff x="1114165" y="6269753"/>
            <a:chExt cx="331190" cy="98617"/>
          </a:xfrm>
        </p:grpSpPr>
        <p:sp>
          <p:nvSpPr>
            <p:cNvPr id="66" name="TextBox 65">
              <a:extLst>
                <a:ext uri="{FF2B5EF4-FFF2-40B4-BE49-F238E27FC236}">
                  <a16:creationId xmlns:a16="http://schemas.microsoft.com/office/drawing/2014/main" id="{F2AE4D71-1C4A-A29C-0135-FB7FC88EE561}"/>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3 stars</a:t>
              </a:r>
            </a:p>
          </p:txBody>
        </p:sp>
        <p:sp>
          <p:nvSpPr>
            <p:cNvPr id="67" name="Rounded Rectangle 66">
              <a:extLst>
                <a:ext uri="{FF2B5EF4-FFF2-40B4-BE49-F238E27FC236}">
                  <a16:creationId xmlns:a16="http://schemas.microsoft.com/office/drawing/2014/main" id="{E8395B98-85FF-EEBA-96FB-A7FD105389A4}"/>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68" name="Group 67">
            <a:extLst>
              <a:ext uri="{FF2B5EF4-FFF2-40B4-BE49-F238E27FC236}">
                <a16:creationId xmlns:a16="http://schemas.microsoft.com/office/drawing/2014/main" id="{AE17E4DA-2C3C-2AE2-3363-D2D775759D3D}"/>
              </a:ext>
            </a:extLst>
          </p:cNvPr>
          <p:cNvGrpSpPr/>
          <p:nvPr/>
        </p:nvGrpSpPr>
        <p:grpSpPr>
          <a:xfrm>
            <a:off x="1829851" y="6117354"/>
            <a:ext cx="331190" cy="98617"/>
            <a:chOff x="1114165" y="6269753"/>
            <a:chExt cx="331190" cy="98617"/>
          </a:xfrm>
        </p:grpSpPr>
        <p:sp>
          <p:nvSpPr>
            <p:cNvPr id="69" name="TextBox 68">
              <a:extLst>
                <a:ext uri="{FF2B5EF4-FFF2-40B4-BE49-F238E27FC236}">
                  <a16:creationId xmlns:a16="http://schemas.microsoft.com/office/drawing/2014/main" id="{21EF211C-C030-38AE-15E4-BA37EEBA2120}"/>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4 stars</a:t>
              </a:r>
            </a:p>
          </p:txBody>
        </p:sp>
        <p:sp>
          <p:nvSpPr>
            <p:cNvPr id="70" name="Rounded Rectangle 69">
              <a:extLst>
                <a:ext uri="{FF2B5EF4-FFF2-40B4-BE49-F238E27FC236}">
                  <a16:creationId xmlns:a16="http://schemas.microsoft.com/office/drawing/2014/main" id="{4618CD8B-F77F-7B94-7099-D2A6E0871574}"/>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71" name="Group 70">
            <a:extLst>
              <a:ext uri="{FF2B5EF4-FFF2-40B4-BE49-F238E27FC236}">
                <a16:creationId xmlns:a16="http://schemas.microsoft.com/office/drawing/2014/main" id="{C887D693-398F-725A-9E0E-7CE3C9CEBF7F}"/>
              </a:ext>
            </a:extLst>
          </p:cNvPr>
          <p:cNvGrpSpPr/>
          <p:nvPr/>
        </p:nvGrpSpPr>
        <p:grpSpPr>
          <a:xfrm>
            <a:off x="2277686" y="6117354"/>
            <a:ext cx="331190" cy="98617"/>
            <a:chOff x="1114165" y="6269753"/>
            <a:chExt cx="331190" cy="98617"/>
          </a:xfrm>
        </p:grpSpPr>
        <p:sp>
          <p:nvSpPr>
            <p:cNvPr id="72" name="TextBox 71">
              <a:extLst>
                <a:ext uri="{FF2B5EF4-FFF2-40B4-BE49-F238E27FC236}">
                  <a16:creationId xmlns:a16="http://schemas.microsoft.com/office/drawing/2014/main" id="{3A213B5F-642D-ACFE-8DAA-017FB6B32DFF}"/>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5 stars</a:t>
              </a:r>
            </a:p>
          </p:txBody>
        </p:sp>
        <p:sp>
          <p:nvSpPr>
            <p:cNvPr id="73" name="Rounded Rectangle 72">
              <a:extLst>
                <a:ext uri="{FF2B5EF4-FFF2-40B4-BE49-F238E27FC236}">
                  <a16:creationId xmlns:a16="http://schemas.microsoft.com/office/drawing/2014/main" id="{5212BCE3-BB24-D5A2-9072-32AB9DC11634}"/>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
        <p:nvSpPr>
          <p:cNvPr id="3" name="Content Placeholder 2">
            <a:extLst>
              <a:ext uri="{FF2B5EF4-FFF2-40B4-BE49-F238E27FC236}">
                <a16:creationId xmlns:a16="http://schemas.microsoft.com/office/drawing/2014/main" id="{16E56A5C-934D-E3B5-596C-448BF20A39E1}"/>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nl-NL" dirty="0"/>
              <a:t>@@</a:t>
            </a:r>
            <a:endParaRPr lang="en-GB" sz="1550" dirty="0">
              <a:ea typeface="Calibri"/>
              <a:cs typeface="Calibri"/>
            </a:endParaRPr>
          </a:p>
        </p:txBody>
      </p:sp>
      <p:pic>
        <p:nvPicPr>
          <p:cNvPr id="74" name="Picture 73" descr="image.png"/>
          <p:cNvPicPr>
            <a:picLocks noChangeAspect="1"/>
          </p:cNvPicPr>
          <p:nvPr/>
        </p:nvPicPr>
        <p:blipFill>
          <a:blip r:embed="rId5"/>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2590901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F90F2-097E-682B-E154-B7F5F68A6D90}"/>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07A01EA-8BF6-6C6E-C2EA-026E3BA52EAB}"/>
              </a:ext>
            </a:extLst>
          </p:cNvPr>
          <p:cNvSpPr>
            <a:spLocks noGrp="1"/>
          </p:cNvSpPr>
          <p:nvPr>
            <p:ph type="body" sz="quarter" idx="12"/>
          </p:nvPr>
        </p:nvSpPr>
        <p:spPr>
          <a:xfrm>
            <a:off x="381600" y="129600"/>
            <a:ext cx="3012217" cy="228145"/>
          </a:xfrm>
        </p:spPr>
        <p:txBody>
          <a:bodyPr/>
          <a:lstStyle/>
          <a:p>
            <a:r>
              <a:rPr lang="en-GB" dirty="0"/>
              <a:t>Portfolio trends – Maintainability</a:t>
            </a:r>
          </a:p>
        </p:txBody>
      </p:sp>
      <p:sp>
        <p:nvSpPr>
          <p:cNvPr id="9" name="Content Placeholder 8">
            <a:extLst>
              <a:ext uri="{FF2B5EF4-FFF2-40B4-BE49-F238E27FC236}">
                <a16:creationId xmlns:a16="http://schemas.microsoft.com/office/drawing/2014/main" id="{E1A6A741-490B-4D85-EDEC-A2D787FD2B6F}"/>
              </a:ext>
            </a:extLst>
          </p:cNvPr>
          <p:cNvSpPr>
            <a:spLocks noGrp="1"/>
          </p:cNvSpPr>
          <p:nvPr>
            <p:ph sz="quarter" idx="13"/>
          </p:nvPr>
        </p:nvSpPr>
        <p:spPr/>
        <p:txBody>
          <a:bodyPr/>
          <a:lstStyle/>
          <a:p>
            <a:endParaRPr lang="en-US"/>
          </a:p>
        </p:txBody>
      </p:sp>
      <p:sp>
        <p:nvSpPr>
          <p:cNvPr id="5" name="Slide Number Placeholder 4">
            <a:extLst>
              <a:ext uri="{FF2B5EF4-FFF2-40B4-BE49-F238E27FC236}">
                <a16:creationId xmlns:a16="http://schemas.microsoft.com/office/drawing/2014/main" id="{3851532D-92C0-31A1-1473-96C62B00C1E6}"/>
              </a:ext>
            </a:extLst>
          </p:cNvPr>
          <p:cNvSpPr>
            <a:spLocks noGrp="1"/>
          </p:cNvSpPr>
          <p:nvPr>
            <p:ph type="sldNum" sz="quarter" idx="15"/>
          </p:nvPr>
        </p:nvSpPr>
        <p:spPr/>
        <p:txBody>
          <a:bodyPr/>
          <a:lstStyle/>
          <a:p>
            <a:fld id="{E242BD21-9B61-2246-BCB1-4BE5E1BEBE1C}" type="slidenum">
              <a:rPr lang="nl-NL" smtClean="0"/>
              <a:pPr/>
              <a:t>22</a:t>
            </a:fld>
            <a:endParaRPr lang="nl-NL"/>
          </a:p>
        </p:txBody>
      </p:sp>
      <p:sp>
        <p:nvSpPr>
          <p:cNvPr id="6" name="Title 5">
            <a:extLst>
              <a:ext uri="{FF2B5EF4-FFF2-40B4-BE49-F238E27FC236}">
                <a16:creationId xmlns:a16="http://schemas.microsoft.com/office/drawing/2014/main" id="{6D82FDEF-4FFE-5D1A-E5F7-E673D396CA06}"/>
              </a:ext>
            </a:extLst>
          </p:cNvPr>
          <p:cNvSpPr>
            <a:spLocks noGrp="1"/>
          </p:cNvSpPr>
          <p:nvPr>
            <p:ph type="title"/>
          </p:nvPr>
        </p:nvSpPr>
        <p:spPr/>
        <p:txBody>
          <a:bodyPr>
            <a:noAutofit/>
          </a:bodyPr>
          <a:lstStyle/>
          <a:p>
            <a:r>
              <a:rPr lang="en-US" sz="2400" dirty="0"/>
              <a:t>Maintainability Grouped by Business Criticality</a:t>
            </a:r>
          </a:p>
        </p:txBody>
      </p:sp>
      <p:sp>
        <p:nvSpPr>
          <p:cNvPr id="7" name="Rectangle 6">
            <a:extLst>
              <a:ext uri="{FF2B5EF4-FFF2-40B4-BE49-F238E27FC236}">
                <a16:creationId xmlns:a16="http://schemas.microsoft.com/office/drawing/2014/main" id="{858214E2-3C43-8276-BC3B-196FE252F2B4}"/>
              </a:ext>
            </a:extLst>
          </p:cNvPr>
          <p:cNvSpPr/>
          <p:nvPr/>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FA6D6577-B13F-B6A8-C50E-B9243404787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4536" y="6071736"/>
            <a:ext cx="371130" cy="206558"/>
          </a:xfrm>
          <a:prstGeom prst="rect">
            <a:avLst/>
          </a:prstGeom>
        </p:spPr>
      </p:pic>
      <p:sp>
        <p:nvSpPr>
          <p:cNvPr id="58" name="TextBox 57">
            <a:extLst>
              <a:ext uri="{FF2B5EF4-FFF2-40B4-BE49-F238E27FC236}">
                <a16:creationId xmlns:a16="http://schemas.microsoft.com/office/drawing/2014/main" id="{ACC91BC5-C6A3-5E77-246D-36FE2F685E7F}"/>
              </a:ext>
            </a:extLst>
          </p:cNvPr>
          <p:cNvSpPr txBox="1"/>
          <p:nvPr/>
        </p:nvSpPr>
        <p:spPr>
          <a:xfrm>
            <a:off x="2643466" y="6054740"/>
            <a:ext cx="1864762" cy="223844"/>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Business Criticality</a:t>
            </a:r>
          </a:p>
        </p:txBody>
      </p:sp>
      <p:grpSp>
        <p:nvGrpSpPr>
          <p:cNvPr id="59" name="Group 58">
            <a:extLst>
              <a:ext uri="{FF2B5EF4-FFF2-40B4-BE49-F238E27FC236}">
                <a16:creationId xmlns:a16="http://schemas.microsoft.com/office/drawing/2014/main" id="{5C38E846-65C7-5F8A-02D3-5E9652F1F70D}"/>
              </a:ext>
            </a:extLst>
          </p:cNvPr>
          <p:cNvGrpSpPr/>
          <p:nvPr/>
        </p:nvGrpSpPr>
        <p:grpSpPr>
          <a:xfrm>
            <a:off x="516802" y="6117354"/>
            <a:ext cx="300732" cy="98617"/>
            <a:chOff x="586253" y="6116391"/>
            <a:chExt cx="300732" cy="98617"/>
          </a:xfrm>
        </p:grpSpPr>
        <p:sp>
          <p:nvSpPr>
            <p:cNvPr id="60" name="TextBox 59">
              <a:extLst>
                <a:ext uri="{FF2B5EF4-FFF2-40B4-BE49-F238E27FC236}">
                  <a16:creationId xmlns:a16="http://schemas.microsoft.com/office/drawing/2014/main" id="{2446B051-EB92-D2E7-6D04-74636614C2A9}"/>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1 star</a:t>
              </a:r>
            </a:p>
          </p:txBody>
        </p:sp>
        <p:sp>
          <p:nvSpPr>
            <p:cNvPr id="61" name="Rounded Rectangle 60">
              <a:extLst>
                <a:ext uri="{FF2B5EF4-FFF2-40B4-BE49-F238E27FC236}">
                  <a16:creationId xmlns:a16="http://schemas.microsoft.com/office/drawing/2014/main" id="{99D95B88-8CC0-573A-6535-1AF23E138BB5}"/>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62" name="Group 61">
            <a:extLst>
              <a:ext uri="{FF2B5EF4-FFF2-40B4-BE49-F238E27FC236}">
                <a16:creationId xmlns:a16="http://schemas.microsoft.com/office/drawing/2014/main" id="{CBCBF650-7B39-402A-827B-0981957A785C}"/>
              </a:ext>
            </a:extLst>
          </p:cNvPr>
          <p:cNvGrpSpPr/>
          <p:nvPr/>
        </p:nvGrpSpPr>
        <p:grpSpPr>
          <a:xfrm>
            <a:off x="934179" y="6117354"/>
            <a:ext cx="331190" cy="98617"/>
            <a:chOff x="961765" y="6117353"/>
            <a:chExt cx="331190" cy="98617"/>
          </a:xfrm>
        </p:grpSpPr>
        <p:sp>
          <p:nvSpPr>
            <p:cNvPr id="63" name="TextBox 62">
              <a:extLst>
                <a:ext uri="{FF2B5EF4-FFF2-40B4-BE49-F238E27FC236}">
                  <a16:creationId xmlns:a16="http://schemas.microsoft.com/office/drawing/2014/main" id="{C00EB7BA-5DEA-3F0D-197E-72B2F548A843}"/>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2 stars</a:t>
              </a:r>
            </a:p>
          </p:txBody>
        </p:sp>
        <p:sp>
          <p:nvSpPr>
            <p:cNvPr id="64" name="Rounded Rectangle 63">
              <a:extLst>
                <a:ext uri="{FF2B5EF4-FFF2-40B4-BE49-F238E27FC236}">
                  <a16:creationId xmlns:a16="http://schemas.microsoft.com/office/drawing/2014/main" id="{99B21F0D-B748-B211-AE94-D684974C743B}"/>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65" name="Group 64">
            <a:extLst>
              <a:ext uri="{FF2B5EF4-FFF2-40B4-BE49-F238E27FC236}">
                <a16:creationId xmlns:a16="http://schemas.microsoft.com/office/drawing/2014/main" id="{4F94FE93-43F4-84F8-E7F2-D0A5E5B08F99}"/>
              </a:ext>
            </a:extLst>
          </p:cNvPr>
          <p:cNvGrpSpPr/>
          <p:nvPr/>
        </p:nvGrpSpPr>
        <p:grpSpPr>
          <a:xfrm>
            <a:off x="1382015" y="6117354"/>
            <a:ext cx="331190" cy="98617"/>
            <a:chOff x="1114165" y="6269753"/>
            <a:chExt cx="331190" cy="98617"/>
          </a:xfrm>
        </p:grpSpPr>
        <p:sp>
          <p:nvSpPr>
            <p:cNvPr id="66" name="TextBox 65">
              <a:extLst>
                <a:ext uri="{FF2B5EF4-FFF2-40B4-BE49-F238E27FC236}">
                  <a16:creationId xmlns:a16="http://schemas.microsoft.com/office/drawing/2014/main" id="{B36C1F78-BC5D-CEC8-ED18-7E9E38E2B3F0}"/>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3 stars</a:t>
              </a:r>
            </a:p>
          </p:txBody>
        </p:sp>
        <p:sp>
          <p:nvSpPr>
            <p:cNvPr id="67" name="Rounded Rectangle 66">
              <a:extLst>
                <a:ext uri="{FF2B5EF4-FFF2-40B4-BE49-F238E27FC236}">
                  <a16:creationId xmlns:a16="http://schemas.microsoft.com/office/drawing/2014/main" id="{A4081921-0E01-5FE7-D962-38E98F27E699}"/>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68" name="Group 67">
            <a:extLst>
              <a:ext uri="{FF2B5EF4-FFF2-40B4-BE49-F238E27FC236}">
                <a16:creationId xmlns:a16="http://schemas.microsoft.com/office/drawing/2014/main" id="{3DD3B032-3BEE-87E0-6573-8C81BBB66BA1}"/>
              </a:ext>
            </a:extLst>
          </p:cNvPr>
          <p:cNvGrpSpPr/>
          <p:nvPr/>
        </p:nvGrpSpPr>
        <p:grpSpPr>
          <a:xfrm>
            <a:off x="1829851" y="6117354"/>
            <a:ext cx="331190" cy="98617"/>
            <a:chOff x="1114165" y="6269753"/>
            <a:chExt cx="331190" cy="98617"/>
          </a:xfrm>
        </p:grpSpPr>
        <p:sp>
          <p:nvSpPr>
            <p:cNvPr id="69" name="TextBox 68">
              <a:extLst>
                <a:ext uri="{FF2B5EF4-FFF2-40B4-BE49-F238E27FC236}">
                  <a16:creationId xmlns:a16="http://schemas.microsoft.com/office/drawing/2014/main" id="{94B3E38A-DFD6-B7C0-F31B-4A4BF82291B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4 stars</a:t>
              </a:r>
            </a:p>
          </p:txBody>
        </p:sp>
        <p:sp>
          <p:nvSpPr>
            <p:cNvPr id="70" name="Rounded Rectangle 69">
              <a:extLst>
                <a:ext uri="{FF2B5EF4-FFF2-40B4-BE49-F238E27FC236}">
                  <a16:creationId xmlns:a16="http://schemas.microsoft.com/office/drawing/2014/main" id="{CE0EE23E-F45B-7E9B-0DB6-9538874186C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71" name="Group 70">
            <a:extLst>
              <a:ext uri="{FF2B5EF4-FFF2-40B4-BE49-F238E27FC236}">
                <a16:creationId xmlns:a16="http://schemas.microsoft.com/office/drawing/2014/main" id="{B729FE5C-29C5-D102-FDA1-A0608E280B55}"/>
              </a:ext>
            </a:extLst>
          </p:cNvPr>
          <p:cNvGrpSpPr/>
          <p:nvPr/>
        </p:nvGrpSpPr>
        <p:grpSpPr>
          <a:xfrm>
            <a:off x="2277686" y="6117354"/>
            <a:ext cx="331190" cy="98617"/>
            <a:chOff x="1114165" y="6269753"/>
            <a:chExt cx="331190" cy="98617"/>
          </a:xfrm>
        </p:grpSpPr>
        <p:sp>
          <p:nvSpPr>
            <p:cNvPr id="72" name="TextBox 71">
              <a:extLst>
                <a:ext uri="{FF2B5EF4-FFF2-40B4-BE49-F238E27FC236}">
                  <a16:creationId xmlns:a16="http://schemas.microsoft.com/office/drawing/2014/main" id="{C0EF10E4-21F6-AF24-DEE6-649B26F77B1C}"/>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5 stars</a:t>
              </a:r>
            </a:p>
          </p:txBody>
        </p:sp>
        <p:sp>
          <p:nvSpPr>
            <p:cNvPr id="73" name="Rounded Rectangle 72">
              <a:extLst>
                <a:ext uri="{FF2B5EF4-FFF2-40B4-BE49-F238E27FC236}">
                  <a16:creationId xmlns:a16="http://schemas.microsoft.com/office/drawing/2014/main" id="{DE93FE0A-13E1-4209-1411-4A41EBD2C8FB}"/>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
        <p:nvSpPr>
          <p:cNvPr id="3" name="Content Placeholder 2">
            <a:extLst>
              <a:ext uri="{FF2B5EF4-FFF2-40B4-BE49-F238E27FC236}">
                <a16:creationId xmlns:a16="http://schemas.microsoft.com/office/drawing/2014/main" id="{4AB8FE69-CB4F-3856-7D00-A94F1E209BB2}"/>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nl-NL" dirty="0"/>
              <a:t>@@</a:t>
            </a:r>
            <a:endParaRPr lang="en-GB" sz="1550" dirty="0">
              <a:ea typeface="Calibri"/>
              <a:cs typeface="Calibri"/>
            </a:endParaRPr>
          </a:p>
        </p:txBody>
      </p:sp>
      <p:pic>
        <p:nvPicPr>
          <p:cNvPr id="74" name="Picture 73" descr="image.png"/>
          <p:cNvPicPr>
            <a:picLocks noChangeAspect="1"/>
          </p:cNvPicPr>
          <p:nvPr/>
        </p:nvPicPr>
        <p:blipFill>
          <a:blip r:embed="rId5"/>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656557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A67B8CA-FA62-44B4-D64F-7AE66F54E44D}"/>
              </a:ext>
            </a:extLst>
          </p:cNvPr>
          <p:cNvSpPr>
            <a:spLocks noGrp="1"/>
          </p:cNvSpPr>
          <p:nvPr>
            <p:ph type="body" sz="quarter" idx="12"/>
          </p:nvPr>
        </p:nvSpPr>
        <p:spPr>
          <a:xfrm>
            <a:off x="381600" y="129568"/>
            <a:ext cx="3771079" cy="228209"/>
          </a:xfrm>
        </p:spPr>
        <p:txBody>
          <a:bodyPr/>
          <a:lstStyle/>
          <a:p>
            <a:r>
              <a:rPr lang="en-GB" dirty="0"/>
              <a:t>Portfolio trends – Maintainability – Change</a:t>
            </a:r>
          </a:p>
        </p:txBody>
      </p:sp>
      <p:sp>
        <p:nvSpPr>
          <p:cNvPr id="4" name="Footer Placeholder 3">
            <a:extLst>
              <a:ext uri="{FF2B5EF4-FFF2-40B4-BE49-F238E27FC236}">
                <a16:creationId xmlns:a16="http://schemas.microsoft.com/office/drawing/2014/main" id="{B389DC56-8462-CF33-E81E-8455477D979E}"/>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A51869EA-9362-72EE-ED3C-8D75DBC0EA58}"/>
              </a:ext>
            </a:extLst>
          </p:cNvPr>
          <p:cNvSpPr>
            <a:spLocks noGrp="1"/>
          </p:cNvSpPr>
          <p:nvPr>
            <p:ph type="sldNum" sz="quarter" idx="15"/>
          </p:nvPr>
        </p:nvSpPr>
        <p:spPr/>
        <p:txBody>
          <a:bodyPr/>
          <a:lstStyle/>
          <a:p>
            <a:fld id="{E242BD21-9B61-2246-BCB1-4BE5E1BEBE1C}" type="slidenum">
              <a:rPr lang="en-GB" smtClean="0"/>
              <a:pPr/>
              <a:t>23</a:t>
            </a:fld>
            <a:endParaRPr lang="en-GB" dirty="0"/>
          </a:p>
        </p:txBody>
      </p:sp>
      <p:sp>
        <p:nvSpPr>
          <p:cNvPr id="6" name="Title 5">
            <a:extLst>
              <a:ext uri="{FF2B5EF4-FFF2-40B4-BE49-F238E27FC236}">
                <a16:creationId xmlns:a16="http://schemas.microsoft.com/office/drawing/2014/main" id="{5142A00E-00AC-EFDD-9879-48F076592CF9}"/>
              </a:ext>
            </a:extLst>
          </p:cNvPr>
          <p:cNvSpPr>
            <a:spLocks noGrp="1"/>
          </p:cNvSpPr>
          <p:nvPr>
            <p:ph type="title"/>
          </p:nvPr>
        </p:nvSpPr>
        <p:spPr/>
        <p:txBody>
          <a:bodyPr/>
          <a:lstStyle/>
          <a:p>
            <a:r>
              <a:rPr lang="en-GB" dirty="0"/>
              <a:t>The portfolio remained stable (2.5) during the measured period</a:t>
            </a:r>
          </a:p>
        </p:txBody>
      </p:sp>
      <p:pic>
        <p:nvPicPr>
          <p:cNvPr id="8" name="Graphic 7">
            <a:extLst>
              <a:ext uri="{FF2B5EF4-FFF2-40B4-BE49-F238E27FC236}">
                <a16:creationId xmlns:a16="http://schemas.microsoft.com/office/drawing/2014/main" id="{05957715-193B-2979-0E14-2837D7FD46B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59255" y="5889905"/>
            <a:ext cx="371130" cy="206558"/>
          </a:xfrm>
          <a:prstGeom prst="rect">
            <a:avLst/>
          </a:prstGeom>
        </p:spPr>
      </p:pic>
      <p:sp>
        <p:nvSpPr>
          <p:cNvPr id="10" name="TextBox 9">
            <a:extLst>
              <a:ext uri="{FF2B5EF4-FFF2-40B4-BE49-F238E27FC236}">
                <a16:creationId xmlns:a16="http://schemas.microsoft.com/office/drawing/2014/main" id="{21A1486B-1FC8-8061-2EAD-D6029AC875CA}"/>
              </a:ext>
            </a:extLst>
          </p:cNvPr>
          <p:cNvSpPr txBox="1"/>
          <p:nvPr/>
        </p:nvSpPr>
        <p:spPr>
          <a:xfrm>
            <a:off x="2078631" y="5826140"/>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sp>
        <p:nvSpPr>
          <p:cNvPr id="11" name="Rounded Rectangle 10">
            <a:extLst>
              <a:ext uri="{FF2B5EF4-FFF2-40B4-BE49-F238E27FC236}">
                <a16:creationId xmlns:a16="http://schemas.microsoft.com/office/drawing/2014/main" id="{254B19E9-6032-3569-1EA3-AD547B485538}"/>
              </a:ext>
            </a:extLst>
          </p:cNvPr>
          <p:cNvSpPr>
            <a:spLocks noChangeAspect="1"/>
          </p:cNvSpPr>
          <p:nvPr/>
        </p:nvSpPr>
        <p:spPr>
          <a:xfrm>
            <a:off x="961418" y="5889905"/>
            <a:ext cx="91440"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sp>
        <p:nvSpPr>
          <p:cNvPr id="12" name="Rounded Rectangle 11">
            <a:extLst>
              <a:ext uri="{FF2B5EF4-FFF2-40B4-BE49-F238E27FC236}">
                <a16:creationId xmlns:a16="http://schemas.microsoft.com/office/drawing/2014/main" id="{DC89DDEB-866F-F9CB-F41F-492551803AA3}"/>
              </a:ext>
            </a:extLst>
          </p:cNvPr>
          <p:cNvSpPr>
            <a:spLocks noChangeAspect="1"/>
          </p:cNvSpPr>
          <p:nvPr/>
        </p:nvSpPr>
        <p:spPr>
          <a:xfrm>
            <a:off x="1121288" y="5889905"/>
            <a:ext cx="91440" cy="91440"/>
          </a:xfrm>
          <a:prstGeom prst="roundRect">
            <a:avLst/>
          </a:prstGeom>
          <a:solidFill>
            <a:srgbClr val="F8DCD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sp>
        <p:nvSpPr>
          <p:cNvPr id="13" name="Rounded Rectangle 12">
            <a:extLst>
              <a:ext uri="{FF2B5EF4-FFF2-40B4-BE49-F238E27FC236}">
                <a16:creationId xmlns:a16="http://schemas.microsoft.com/office/drawing/2014/main" id="{17413425-5C90-1783-D3A3-3D305C306676}"/>
              </a:ext>
            </a:extLst>
          </p:cNvPr>
          <p:cNvSpPr>
            <a:spLocks noChangeAspect="1"/>
          </p:cNvSpPr>
          <p:nvPr/>
        </p:nvSpPr>
        <p:spPr>
          <a:xfrm>
            <a:off x="1281158" y="5889905"/>
            <a:ext cx="91440" cy="91440"/>
          </a:xfrm>
          <a:prstGeom prst="roundRect">
            <a:avLst/>
          </a:prstGeom>
          <a:solidFill>
            <a:srgbClr val="F7F9F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sp>
        <p:nvSpPr>
          <p:cNvPr id="14" name="Rounded Rectangle 13">
            <a:extLst>
              <a:ext uri="{FF2B5EF4-FFF2-40B4-BE49-F238E27FC236}">
                <a16:creationId xmlns:a16="http://schemas.microsoft.com/office/drawing/2014/main" id="{C37CD411-A534-DB90-F70A-80399BB52D7B}"/>
              </a:ext>
            </a:extLst>
          </p:cNvPr>
          <p:cNvSpPr>
            <a:spLocks noChangeAspect="1"/>
          </p:cNvSpPr>
          <p:nvPr/>
        </p:nvSpPr>
        <p:spPr>
          <a:xfrm>
            <a:off x="1441028" y="5889905"/>
            <a:ext cx="91440" cy="91440"/>
          </a:xfrm>
          <a:prstGeom prst="roundRect">
            <a:avLst/>
          </a:prstGeom>
          <a:solidFill>
            <a:srgbClr val="D4EFD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sp>
        <p:nvSpPr>
          <p:cNvPr id="15" name="Rounded Rectangle 14">
            <a:extLst>
              <a:ext uri="{FF2B5EF4-FFF2-40B4-BE49-F238E27FC236}">
                <a16:creationId xmlns:a16="http://schemas.microsoft.com/office/drawing/2014/main" id="{0AA03C95-0F32-285C-472B-DA0501614D58}"/>
              </a:ext>
            </a:extLst>
          </p:cNvPr>
          <p:cNvSpPr>
            <a:spLocks noChangeAspect="1"/>
          </p:cNvSpPr>
          <p:nvPr/>
        </p:nvSpPr>
        <p:spPr>
          <a:xfrm>
            <a:off x="1600898" y="5889905"/>
            <a:ext cx="91440"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sp>
        <p:nvSpPr>
          <p:cNvPr id="16" name="TextBox 15">
            <a:extLst>
              <a:ext uri="{FF2B5EF4-FFF2-40B4-BE49-F238E27FC236}">
                <a16:creationId xmlns:a16="http://schemas.microsoft.com/office/drawing/2014/main" id="{EB0A4FE0-6970-0254-9F24-4B7D592FD93A}"/>
              </a:ext>
            </a:extLst>
          </p:cNvPr>
          <p:cNvSpPr txBox="1"/>
          <p:nvPr/>
        </p:nvSpPr>
        <p:spPr>
          <a:xfrm>
            <a:off x="1760767" y="5826140"/>
            <a:ext cx="319468" cy="218971"/>
          </a:xfrm>
          <a:prstGeom prst="rect">
            <a:avLst/>
          </a:prstGeom>
          <a:noFill/>
        </p:spPr>
        <p:txBody>
          <a:bodyPr wrap="none" lIns="90000" rtlCol="0" anchor="t">
            <a:spAutoFit/>
          </a:bodyPr>
          <a:lstStyle/>
          <a:p>
            <a:pPr>
              <a:lnSpc>
                <a:spcPct val="113000"/>
              </a:lnSpc>
            </a:pPr>
            <a:r>
              <a:rPr lang="en-GB" sz="800" b="1" dirty="0">
                <a:solidFill>
                  <a:schemeClr val="tx2"/>
                </a:solidFill>
              </a:rPr>
              <a:t>+</a:t>
            </a:r>
            <a:r>
              <a:rPr lang="en-US" sz="800" dirty="0"/>
              <a:t>★</a:t>
            </a:r>
            <a:endParaRPr lang="en-GB" sz="800" b="1" dirty="0">
              <a:solidFill>
                <a:schemeClr val="tx2"/>
              </a:solidFill>
              <a:latin typeface="Sigsterren" pitchFamily="2" charset="0"/>
            </a:endParaRPr>
          </a:p>
        </p:txBody>
      </p:sp>
      <p:sp>
        <p:nvSpPr>
          <p:cNvPr id="17" name="TextBox 16">
            <a:extLst>
              <a:ext uri="{FF2B5EF4-FFF2-40B4-BE49-F238E27FC236}">
                <a16:creationId xmlns:a16="http://schemas.microsoft.com/office/drawing/2014/main" id="{CB04045B-77E5-3803-3EEF-A0F4A38EE046}"/>
              </a:ext>
            </a:extLst>
          </p:cNvPr>
          <p:cNvSpPr txBox="1"/>
          <p:nvPr/>
        </p:nvSpPr>
        <p:spPr>
          <a:xfrm>
            <a:off x="594360" y="5826140"/>
            <a:ext cx="300232" cy="218971"/>
          </a:xfrm>
          <a:prstGeom prst="rect">
            <a:avLst/>
          </a:prstGeom>
          <a:noFill/>
        </p:spPr>
        <p:txBody>
          <a:bodyPr wrap="none" lIns="90000" rtlCol="0" anchor="t">
            <a:spAutoFit/>
          </a:bodyPr>
          <a:lstStyle/>
          <a:p>
            <a:pPr>
              <a:lnSpc>
                <a:spcPct val="113000"/>
              </a:lnSpc>
            </a:pPr>
            <a:r>
              <a:rPr lang="en-GB" sz="800" b="1" dirty="0">
                <a:solidFill>
                  <a:schemeClr val="tx2"/>
                </a:solidFill>
              </a:rPr>
              <a:t>-</a:t>
            </a:r>
            <a:r>
              <a:rPr lang="en-US" sz="800" dirty="0"/>
              <a:t>★</a:t>
            </a:r>
            <a:endParaRPr lang="en-GB" sz="800" b="1" dirty="0">
              <a:solidFill>
                <a:schemeClr val="tx2"/>
              </a:solidFill>
              <a:latin typeface="Sigsterren" pitchFamily="2" charset="0"/>
            </a:endParaRPr>
          </a:p>
        </p:txBody>
      </p:sp>
      <p:sp>
        <p:nvSpPr>
          <p:cNvPr id="18" name="Content Placeholder 2">
            <a:extLst>
              <a:ext uri="{FF2B5EF4-FFF2-40B4-BE49-F238E27FC236}">
                <a16:creationId xmlns:a16="http://schemas.microsoft.com/office/drawing/2014/main" id="{3792AFD3-A811-53EC-B9FF-ACF5582A6ED6}"/>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GB" sz="1550" dirty="0">
                <a:ea typeface="Calibri"/>
                <a:cs typeface="Calibri"/>
              </a:rPr>
              <a:t>17% of systems has seen an increase in maintainability. 59% of systems has remained stable. 24% of systems has seen a decrease in maintainability.</a:t>
            </a:r>
          </a:p>
          <a:p>
            <a:pPr indent="-283845"/>
            <a:r>
              <a:rPr lang="en-GB" sz="1550" dirty="0">
                <a:ea typeface="Calibri"/>
                <a:cs typeface="Calibri"/>
              </a:rPr>
              <a:t>The largest increase in maintainability rating was experienced by zuul (0.0 stars). The largest decrease in maintainability rating was experienced by vscode (0.0 stars).</a:t>
            </a:r>
          </a:p>
        </p:txBody>
      </p:sp>
      <p:pic>
        <p:nvPicPr>
          <p:cNvPr id="20" name="Picture 19" descr="image.png"/>
          <p:cNvPicPr>
            <a:picLocks noChangeAspect="1"/>
          </p:cNvPicPr>
          <p:nvPr/>
        </p:nvPicPr>
        <p:blipFill>
          <a:blip r:embed="rId4"/>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5005115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7F5E6F9-F646-2621-3ECC-B2A693B5329C}"/>
              </a:ext>
            </a:extLst>
          </p:cNvPr>
          <p:cNvSpPr>
            <a:spLocks noGrp="1"/>
          </p:cNvSpPr>
          <p:nvPr>
            <p:ph type="body" sz="quarter" idx="12"/>
          </p:nvPr>
        </p:nvSpPr>
        <p:spPr>
          <a:xfrm>
            <a:off x="381600" y="129568"/>
            <a:ext cx="4361304" cy="228209"/>
          </a:xfrm>
        </p:spPr>
        <p:txBody>
          <a:bodyPr/>
          <a:lstStyle/>
          <a:p>
            <a:r>
              <a:rPr lang="en-GB" dirty="0"/>
              <a:t>Portfolio trends – Maintainability – Delta Quality</a:t>
            </a:r>
          </a:p>
        </p:txBody>
      </p:sp>
      <p:sp>
        <p:nvSpPr>
          <p:cNvPr id="4" name="Footer Placeholder 3">
            <a:extLst>
              <a:ext uri="{FF2B5EF4-FFF2-40B4-BE49-F238E27FC236}">
                <a16:creationId xmlns:a16="http://schemas.microsoft.com/office/drawing/2014/main" id="{F4B11F98-52B8-0076-76CB-238BEE6E6864}"/>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4774F2BF-4CA6-50AA-B99F-E948E9B811C1}"/>
              </a:ext>
            </a:extLst>
          </p:cNvPr>
          <p:cNvSpPr>
            <a:spLocks noGrp="1"/>
          </p:cNvSpPr>
          <p:nvPr>
            <p:ph type="sldNum" sz="quarter" idx="15"/>
          </p:nvPr>
        </p:nvSpPr>
        <p:spPr/>
        <p:txBody>
          <a:bodyPr/>
          <a:lstStyle/>
          <a:p>
            <a:fld id="{E242BD21-9B61-2246-BCB1-4BE5E1BEBE1C}" type="slidenum">
              <a:rPr lang="en-GB" smtClean="0"/>
              <a:pPr/>
              <a:t>24</a:t>
            </a:fld>
            <a:endParaRPr lang="en-GB" dirty="0"/>
          </a:p>
        </p:txBody>
      </p:sp>
      <p:sp>
        <p:nvSpPr>
          <p:cNvPr id="6" name="Title 5">
            <a:extLst>
              <a:ext uri="{FF2B5EF4-FFF2-40B4-BE49-F238E27FC236}">
                <a16:creationId xmlns:a16="http://schemas.microsoft.com/office/drawing/2014/main" id="{512D033D-4CA9-CECD-FC25-4F30961BD447}"/>
              </a:ext>
            </a:extLst>
          </p:cNvPr>
          <p:cNvSpPr>
            <a:spLocks noGrp="1"/>
          </p:cNvSpPr>
          <p:nvPr>
            <p:ph type="title"/>
          </p:nvPr>
        </p:nvSpPr>
        <p:spPr>
          <a:xfrm>
            <a:off x="154800" y="440112"/>
            <a:ext cx="11880000" cy="710067"/>
          </a:xfrm>
        </p:spPr>
        <p:txBody>
          <a:bodyPr/>
          <a:lstStyle/>
          <a:p>
            <a:r>
              <a:rPr lang="en-GB" dirty="0"/>
              <a:t>Maintainability ratings of newly written code between 2026-02-12 and 2026-03-12</a:t>
            </a:r>
          </a:p>
        </p:txBody>
      </p:sp>
      <p:pic>
        <p:nvPicPr>
          <p:cNvPr id="3" name="Graphic 2">
            <a:extLst>
              <a:ext uri="{FF2B5EF4-FFF2-40B4-BE49-F238E27FC236}">
                <a16:creationId xmlns:a16="http://schemas.microsoft.com/office/drawing/2014/main" id="{4E135570-D80B-D1B1-054A-C690D81954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32" name="TextBox 31">
            <a:extLst>
              <a:ext uri="{FF2B5EF4-FFF2-40B4-BE49-F238E27FC236}">
                <a16:creationId xmlns:a16="http://schemas.microsoft.com/office/drawing/2014/main" id="{AA80C054-C74A-85C9-4528-6DC22A256A65}"/>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33" name="Group 32">
            <a:extLst>
              <a:ext uri="{FF2B5EF4-FFF2-40B4-BE49-F238E27FC236}">
                <a16:creationId xmlns:a16="http://schemas.microsoft.com/office/drawing/2014/main" id="{93570F5E-51BF-3962-84E2-45A92F1C8BFA}"/>
              </a:ext>
            </a:extLst>
          </p:cNvPr>
          <p:cNvGrpSpPr/>
          <p:nvPr/>
        </p:nvGrpSpPr>
        <p:grpSpPr>
          <a:xfrm>
            <a:off x="690538" y="5907042"/>
            <a:ext cx="300732" cy="98617"/>
            <a:chOff x="586253" y="6116391"/>
            <a:chExt cx="300732" cy="98617"/>
          </a:xfrm>
        </p:grpSpPr>
        <p:sp>
          <p:nvSpPr>
            <p:cNvPr id="34" name="TextBox 33">
              <a:extLst>
                <a:ext uri="{FF2B5EF4-FFF2-40B4-BE49-F238E27FC236}">
                  <a16:creationId xmlns:a16="http://schemas.microsoft.com/office/drawing/2014/main" id="{9136F1B5-B6B1-B883-8B3C-00693DA070F6}"/>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5" name="Rounded Rectangle 34">
              <a:extLst>
                <a:ext uri="{FF2B5EF4-FFF2-40B4-BE49-F238E27FC236}">
                  <a16:creationId xmlns:a16="http://schemas.microsoft.com/office/drawing/2014/main" id="{41CD5492-40E3-E786-F583-1EE2149D229C}"/>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6" name="Group 35">
            <a:extLst>
              <a:ext uri="{FF2B5EF4-FFF2-40B4-BE49-F238E27FC236}">
                <a16:creationId xmlns:a16="http://schemas.microsoft.com/office/drawing/2014/main" id="{79778BD3-6B52-E7DA-5105-B5B0FFC5CA61}"/>
              </a:ext>
            </a:extLst>
          </p:cNvPr>
          <p:cNvGrpSpPr/>
          <p:nvPr/>
        </p:nvGrpSpPr>
        <p:grpSpPr>
          <a:xfrm>
            <a:off x="1107915" y="5907042"/>
            <a:ext cx="331190" cy="98617"/>
            <a:chOff x="961765" y="6117353"/>
            <a:chExt cx="331190" cy="98617"/>
          </a:xfrm>
        </p:grpSpPr>
        <p:sp>
          <p:nvSpPr>
            <p:cNvPr id="37" name="TextBox 36">
              <a:extLst>
                <a:ext uri="{FF2B5EF4-FFF2-40B4-BE49-F238E27FC236}">
                  <a16:creationId xmlns:a16="http://schemas.microsoft.com/office/drawing/2014/main" id="{504AA2C9-D341-5635-F3CA-78A97D525D4B}"/>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8" name="Rounded Rectangle 37">
              <a:extLst>
                <a:ext uri="{FF2B5EF4-FFF2-40B4-BE49-F238E27FC236}">
                  <a16:creationId xmlns:a16="http://schemas.microsoft.com/office/drawing/2014/main" id="{DF602512-EB0F-1D20-C16F-9F6E8C2D80A0}"/>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9" name="Group 38">
            <a:extLst>
              <a:ext uri="{FF2B5EF4-FFF2-40B4-BE49-F238E27FC236}">
                <a16:creationId xmlns:a16="http://schemas.microsoft.com/office/drawing/2014/main" id="{63AADD56-4D4C-8447-3FD7-F1E94288BBE8}"/>
              </a:ext>
            </a:extLst>
          </p:cNvPr>
          <p:cNvGrpSpPr/>
          <p:nvPr/>
        </p:nvGrpSpPr>
        <p:grpSpPr>
          <a:xfrm>
            <a:off x="1555751" y="5907042"/>
            <a:ext cx="331190" cy="98617"/>
            <a:chOff x="1114165" y="6269753"/>
            <a:chExt cx="331190" cy="98617"/>
          </a:xfrm>
        </p:grpSpPr>
        <p:sp>
          <p:nvSpPr>
            <p:cNvPr id="40" name="TextBox 39">
              <a:extLst>
                <a:ext uri="{FF2B5EF4-FFF2-40B4-BE49-F238E27FC236}">
                  <a16:creationId xmlns:a16="http://schemas.microsoft.com/office/drawing/2014/main" id="{50AFED2B-5565-64C7-6B99-35E8CCBE475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41" name="Rounded Rectangle 40">
              <a:extLst>
                <a:ext uri="{FF2B5EF4-FFF2-40B4-BE49-F238E27FC236}">
                  <a16:creationId xmlns:a16="http://schemas.microsoft.com/office/drawing/2014/main" id="{37D1A56F-2AFD-E4E9-0F6B-599384DFF8AB}"/>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2" name="Group 41">
            <a:extLst>
              <a:ext uri="{FF2B5EF4-FFF2-40B4-BE49-F238E27FC236}">
                <a16:creationId xmlns:a16="http://schemas.microsoft.com/office/drawing/2014/main" id="{3D6DDFCC-FDD6-8B50-CC33-F43116CE5873}"/>
              </a:ext>
            </a:extLst>
          </p:cNvPr>
          <p:cNvGrpSpPr/>
          <p:nvPr/>
        </p:nvGrpSpPr>
        <p:grpSpPr>
          <a:xfrm>
            <a:off x="2003587" y="5907042"/>
            <a:ext cx="331190" cy="98617"/>
            <a:chOff x="1114165" y="6269753"/>
            <a:chExt cx="331190" cy="98617"/>
          </a:xfrm>
        </p:grpSpPr>
        <p:sp>
          <p:nvSpPr>
            <p:cNvPr id="43" name="TextBox 42">
              <a:extLst>
                <a:ext uri="{FF2B5EF4-FFF2-40B4-BE49-F238E27FC236}">
                  <a16:creationId xmlns:a16="http://schemas.microsoft.com/office/drawing/2014/main" id="{7716EAB9-CCB1-9D30-142C-E67002C7E9AF}"/>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44" name="Rounded Rectangle 43">
              <a:extLst>
                <a:ext uri="{FF2B5EF4-FFF2-40B4-BE49-F238E27FC236}">
                  <a16:creationId xmlns:a16="http://schemas.microsoft.com/office/drawing/2014/main" id="{F063CD8A-141A-63AF-6CBE-D3879FAC8703}"/>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5" name="Group 44">
            <a:extLst>
              <a:ext uri="{FF2B5EF4-FFF2-40B4-BE49-F238E27FC236}">
                <a16:creationId xmlns:a16="http://schemas.microsoft.com/office/drawing/2014/main" id="{25343AE2-DC60-4FB8-90CB-328B3B292E39}"/>
              </a:ext>
            </a:extLst>
          </p:cNvPr>
          <p:cNvGrpSpPr/>
          <p:nvPr/>
        </p:nvGrpSpPr>
        <p:grpSpPr>
          <a:xfrm>
            <a:off x="2451422" y="5907042"/>
            <a:ext cx="331190" cy="98617"/>
            <a:chOff x="1114165" y="6269753"/>
            <a:chExt cx="331190" cy="98617"/>
          </a:xfrm>
        </p:grpSpPr>
        <p:sp>
          <p:nvSpPr>
            <p:cNvPr id="46" name="TextBox 45">
              <a:extLst>
                <a:ext uri="{FF2B5EF4-FFF2-40B4-BE49-F238E27FC236}">
                  <a16:creationId xmlns:a16="http://schemas.microsoft.com/office/drawing/2014/main" id="{61256AFF-19A8-F941-A8C9-00EB6EF20D5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7" name="Rounded Rectangle 46">
              <a:extLst>
                <a:ext uri="{FF2B5EF4-FFF2-40B4-BE49-F238E27FC236}">
                  <a16:creationId xmlns:a16="http://schemas.microsoft.com/office/drawing/2014/main" id="{2F57D1EE-A07F-BAE6-42C8-B3AC6089588E}"/>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8" name="Content Placeholder 2">
            <a:extLst>
              <a:ext uri="{FF2B5EF4-FFF2-40B4-BE49-F238E27FC236}">
                <a16:creationId xmlns:a16="http://schemas.microsoft.com/office/drawing/2014/main" id="{F5EA2AF5-0C7B-6DB1-46A7-9076322F3A73}"/>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The highest maintainability rating for new code was achieved by zuul (5.5 stars). The lowest maintainability rating for new code was in postman-runtime (1.9 stars).</a:t>
            </a:r>
          </a:p>
        </p:txBody>
      </p:sp>
      <p:pic>
        <p:nvPicPr>
          <p:cNvPr id="50" name="Picture 49" descr="image.png"/>
          <p:cNvPicPr>
            <a:picLocks noChangeAspect="1"/>
          </p:cNvPicPr>
          <p:nvPr/>
        </p:nvPicPr>
        <p:blipFill>
          <a:blip r:embed="rId4"/>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2743704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B5EC3-2A89-EF88-5A56-3D554D8CC78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6B5548-3455-9844-5004-E49CD11C6D01}"/>
              </a:ext>
            </a:extLst>
          </p:cNvPr>
          <p:cNvSpPr>
            <a:spLocks noGrp="1"/>
          </p:cNvSpPr>
          <p:nvPr>
            <p:ph type="body" sz="quarter" idx="12"/>
          </p:nvPr>
        </p:nvSpPr>
        <p:spPr>
          <a:xfrm>
            <a:off x="381600" y="129568"/>
            <a:ext cx="4361304" cy="228209"/>
          </a:xfrm>
        </p:spPr>
        <p:txBody>
          <a:bodyPr/>
          <a:lstStyle/>
          <a:p>
            <a:r>
              <a:rPr lang="en-GB" dirty="0"/>
              <a:t>Portfolio trends – Maintainability – Delta Quality</a:t>
            </a:r>
          </a:p>
        </p:txBody>
      </p:sp>
      <p:sp>
        <p:nvSpPr>
          <p:cNvPr id="4" name="Footer Placeholder 3">
            <a:extLst>
              <a:ext uri="{FF2B5EF4-FFF2-40B4-BE49-F238E27FC236}">
                <a16:creationId xmlns:a16="http://schemas.microsoft.com/office/drawing/2014/main" id="{61174C2F-D188-5116-64A1-84C15F30C53C}"/>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7E0A32CF-7CBE-2C0C-5381-28EFF19753C0}"/>
              </a:ext>
            </a:extLst>
          </p:cNvPr>
          <p:cNvSpPr>
            <a:spLocks noGrp="1"/>
          </p:cNvSpPr>
          <p:nvPr>
            <p:ph type="sldNum" sz="quarter" idx="15"/>
          </p:nvPr>
        </p:nvSpPr>
        <p:spPr/>
        <p:txBody>
          <a:bodyPr/>
          <a:lstStyle/>
          <a:p>
            <a:fld id="{E242BD21-9B61-2246-BCB1-4BE5E1BEBE1C}" type="slidenum">
              <a:rPr lang="en-GB" smtClean="0"/>
              <a:pPr/>
              <a:t>25</a:t>
            </a:fld>
            <a:endParaRPr lang="en-GB" dirty="0"/>
          </a:p>
        </p:txBody>
      </p:sp>
      <p:sp>
        <p:nvSpPr>
          <p:cNvPr id="6" name="Title 5">
            <a:extLst>
              <a:ext uri="{FF2B5EF4-FFF2-40B4-BE49-F238E27FC236}">
                <a16:creationId xmlns:a16="http://schemas.microsoft.com/office/drawing/2014/main" id="{917371D7-A678-7A32-E175-0E7DF8D9E145}"/>
              </a:ext>
            </a:extLst>
          </p:cNvPr>
          <p:cNvSpPr>
            <a:spLocks noGrp="1"/>
          </p:cNvSpPr>
          <p:nvPr>
            <p:ph type="title"/>
          </p:nvPr>
        </p:nvSpPr>
        <p:spPr>
          <a:xfrm>
            <a:off x="154800" y="440112"/>
            <a:ext cx="11880000" cy="710067"/>
          </a:xfrm>
        </p:spPr>
        <p:txBody>
          <a:bodyPr/>
          <a:lstStyle/>
          <a:p>
            <a:r>
              <a:rPr lang="en-GB" dirty="0"/>
              <a:t>Maintainability ratings of changed code between 2026-02-12 and 2026-03-12</a:t>
            </a:r>
          </a:p>
        </p:txBody>
      </p:sp>
      <p:pic>
        <p:nvPicPr>
          <p:cNvPr id="3" name="Graphic 2">
            <a:extLst>
              <a:ext uri="{FF2B5EF4-FFF2-40B4-BE49-F238E27FC236}">
                <a16:creationId xmlns:a16="http://schemas.microsoft.com/office/drawing/2014/main" id="{2263B0AA-5D87-F385-AF46-88B1DD533A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32" name="TextBox 31">
            <a:extLst>
              <a:ext uri="{FF2B5EF4-FFF2-40B4-BE49-F238E27FC236}">
                <a16:creationId xmlns:a16="http://schemas.microsoft.com/office/drawing/2014/main" id="{8C61E12F-4F73-0E02-AFAE-4D08CA48A0C3}"/>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33" name="Group 32">
            <a:extLst>
              <a:ext uri="{FF2B5EF4-FFF2-40B4-BE49-F238E27FC236}">
                <a16:creationId xmlns:a16="http://schemas.microsoft.com/office/drawing/2014/main" id="{9DFC7257-2BE2-5CE3-C10B-BE3AC2B18C72}"/>
              </a:ext>
            </a:extLst>
          </p:cNvPr>
          <p:cNvGrpSpPr/>
          <p:nvPr/>
        </p:nvGrpSpPr>
        <p:grpSpPr>
          <a:xfrm>
            <a:off x="690538" y="5907042"/>
            <a:ext cx="300732" cy="98617"/>
            <a:chOff x="586253" y="6116391"/>
            <a:chExt cx="300732" cy="98617"/>
          </a:xfrm>
        </p:grpSpPr>
        <p:sp>
          <p:nvSpPr>
            <p:cNvPr id="34" name="TextBox 33">
              <a:extLst>
                <a:ext uri="{FF2B5EF4-FFF2-40B4-BE49-F238E27FC236}">
                  <a16:creationId xmlns:a16="http://schemas.microsoft.com/office/drawing/2014/main" id="{DD1508AC-9EBA-994D-5A5A-FA52E9A69E9C}"/>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5" name="Rounded Rectangle 34">
              <a:extLst>
                <a:ext uri="{FF2B5EF4-FFF2-40B4-BE49-F238E27FC236}">
                  <a16:creationId xmlns:a16="http://schemas.microsoft.com/office/drawing/2014/main" id="{371DCEDD-7FD1-7BDF-F5C1-F91EA2E8DD1B}"/>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6" name="Group 35">
            <a:extLst>
              <a:ext uri="{FF2B5EF4-FFF2-40B4-BE49-F238E27FC236}">
                <a16:creationId xmlns:a16="http://schemas.microsoft.com/office/drawing/2014/main" id="{1DD34B76-0227-F645-0A0C-1697CB7E19CB}"/>
              </a:ext>
            </a:extLst>
          </p:cNvPr>
          <p:cNvGrpSpPr/>
          <p:nvPr/>
        </p:nvGrpSpPr>
        <p:grpSpPr>
          <a:xfrm>
            <a:off x="1107915" y="5907042"/>
            <a:ext cx="331190" cy="98617"/>
            <a:chOff x="961765" y="6117353"/>
            <a:chExt cx="331190" cy="98617"/>
          </a:xfrm>
        </p:grpSpPr>
        <p:sp>
          <p:nvSpPr>
            <p:cNvPr id="37" name="TextBox 36">
              <a:extLst>
                <a:ext uri="{FF2B5EF4-FFF2-40B4-BE49-F238E27FC236}">
                  <a16:creationId xmlns:a16="http://schemas.microsoft.com/office/drawing/2014/main" id="{20C2DA85-206F-DB2E-5C73-7B08646DBA88}"/>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8" name="Rounded Rectangle 37">
              <a:extLst>
                <a:ext uri="{FF2B5EF4-FFF2-40B4-BE49-F238E27FC236}">
                  <a16:creationId xmlns:a16="http://schemas.microsoft.com/office/drawing/2014/main" id="{DE7C13A2-9231-F9A5-DAE6-B9C2B934C9C2}"/>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9" name="Group 38">
            <a:extLst>
              <a:ext uri="{FF2B5EF4-FFF2-40B4-BE49-F238E27FC236}">
                <a16:creationId xmlns:a16="http://schemas.microsoft.com/office/drawing/2014/main" id="{D557F437-2819-329B-EDCB-5E85A7422083}"/>
              </a:ext>
            </a:extLst>
          </p:cNvPr>
          <p:cNvGrpSpPr/>
          <p:nvPr/>
        </p:nvGrpSpPr>
        <p:grpSpPr>
          <a:xfrm>
            <a:off x="1555751" y="5907042"/>
            <a:ext cx="331190" cy="98617"/>
            <a:chOff x="1114165" y="6269753"/>
            <a:chExt cx="331190" cy="98617"/>
          </a:xfrm>
        </p:grpSpPr>
        <p:sp>
          <p:nvSpPr>
            <p:cNvPr id="40" name="TextBox 39">
              <a:extLst>
                <a:ext uri="{FF2B5EF4-FFF2-40B4-BE49-F238E27FC236}">
                  <a16:creationId xmlns:a16="http://schemas.microsoft.com/office/drawing/2014/main" id="{0017E262-89FB-1571-225F-028F46BE08C6}"/>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41" name="Rounded Rectangle 40">
              <a:extLst>
                <a:ext uri="{FF2B5EF4-FFF2-40B4-BE49-F238E27FC236}">
                  <a16:creationId xmlns:a16="http://schemas.microsoft.com/office/drawing/2014/main" id="{9C4B866F-F8B8-9878-A0F7-B0591D0116CF}"/>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2" name="Group 41">
            <a:extLst>
              <a:ext uri="{FF2B5EF4-FFF2-40B4-BE49-F238E27FC236}">
                <a16:creationId xmlns:a16="http://schemas.microsoft.com/office/drawing/2014/main" id="{E0982081-C926-E0A8-28C5-FE9E62F4125A}"/>
              </a:ext>
            </a:extLst>
          </p:cNvPr>
          <p:cNvGrpSpPr/>
          <p:nvPr/>
        </p:nvGrpSpPr>
        <p:grpSpPr>
          <a:xfrm>
            <a:off x="2003587" y="5907042"/>
            <a:ext cx="331190" cy="98617"/>
            <a:chOff x="1114165" y="6269753"/>
            <a:chExt cx="331190" cy="98617"/>
          </a:xfrm>
        </p:grpSpPr>
        <p:sp>
          <p:nvSpPr>
            <p:cNvPr id="43" name="TextBox 42">
              <a:extLst>
                <a:ext uri="{FF2B5EF4-FFF2-40B4-BE49-F238E27FC236}">
                  <a16:creationId xmlns:a16="http://schemas.microsoft.com/office/drawing/2014/main" id="{B04B11B7-6316-2B2B-1EB6-00E55E6915B3}"/>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44" name="Rounded Rectangle 43">
              <a:extLst>
                <a:ext uri="{FF2B5EF4-FFF2-40B4-BE49-F238E27FC236}">
                  <a16:creationId xmlns:a16="http://schemas.microsoft.com/office/drawing/2014/main" id="{FEA03BAA-5800-AFD6-84A6-38D9A87D6EA3}"/>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5" name="Group 44">
            <a:extLst>
              <a:ext uri="{FF2B5EF4-FFF2-40B4-BE49-F238E27FC236}">
                <a16:creationId xmlns:a16="http://schemas.microsoft.com/office/drawing/2014/main" id="{A77DC13E-BA93-909A-5BA6-1FFE85D9E34C}"/>
              </a:ext>
            </a:extLst>
          </p:cNvPr>
          <p:cNvGrpSpPr/>
          <p:nvPr/>
        </p:nvGrpSpPr>
        <p:grpSpPr>
          <a:xfrm>
            <a:off x="2451422" y="5907042"/>
            <a:ext cx="331190" cy="98617"/>
            <a:chOff x="1114165" y="6269753"/>
            <a:chExt cx="331190" cy="98617"/>
          </a:xfrm>
        </p:grpSpPr>
        <p:sp>
          <p:nvSpPr>
            <p:cNvPr id="46" name="TextBox 45">
              <a:extLst>
                <a:ext uri="{FF2B5EF4-FFF2-40B4-BE49-F238E27FC236}">
                  <a16:creationId xmlns:a16="http://schemas.microsoft.com/office/drawing/2014/main" id="{3901BBD6-0742-680E-25F0-D19CEBB0E331}"/>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7" name="Rounded Rectangle 46">
              <a:extLst>
                <a:ext uri="{FF2B5EF4-FFF2-40B4-BE49-F238E27FC236}">
                  <a16:creationId xmlns:a16="http://schemas.microsoft.com/office/drawing/2014/main" id="{CEA51C4B-192C-AF95-F9B9-3B24E46BF673}"/>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8" name="Content Placeholder 2">
            <a:extLst>
              <a:ext uri="{FF2B5EF4-FFF2-40B4-BE49-F238E27FC236}">
                <a16:creationId xmlns:a16="http://schemas.microsoft.com/office/drawing/2014/main" id="{1D880514-4785-0D93-6BDA-1F2E0E83B5B9}"/>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GB" sz="1550" noProof="0" dirty="0"/>
              <a:t>@@</a:t>
            </a:r>
            <a:endParaRPr lang="en-GB" sz="1550" dirty="0">
              <a:ea typeface="Calibri"/>
              <a:cs typeface="Calibri"/>
            </a:endParaRPr>
          </a:p>
        </p:txBody>
      </p:sp>
      <p:pic>
        <p:nvPicPr>
          <p:cNvPr id="49" name="Picture 48" descr="image.png"/>
          <p:cNvPicPr>
            <a:picLocks noChangeAspect="1"/>
          </p:cNvPicPr>
          <p:nvPr/>
        </p:nvPicPr>
        <p:blipFill>
          <a:blip r:embed="rId4"/>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32054666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446F1-4C2E-3E8E-B8CF-472DCCEA8DE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F309309-A96C-94CD-FD90-AEC66468BD3C}"/>
              </a:ext>
            </a:extLst>
          </p:cNvPr>
          <p:cNvSpPr>
            <a:spLocks noGrp="1"/>
          </p:cNvSpPr>
          <p:nvPr>
            <p:ph type="body" sz="quarter" idx="12"/>
          </p:nvPr>
        </p:nvSpPr>
        <p:spPr>
          <a:xfrm>
            <a:off x="381600" y="129568"/>
            <a:ext cx="4361304" cy="228209"/>
          </a:xfrm>
        </p:spPr>
        <p:txBody>
          <a:bodyPr/>
          <a:lstStyle/>
          <a:p>
            <a:r>
              <a:rPr lang="en-GB" dirty="0"/>
              <a:t>Portfolio trends – Maintainability – Delta Quality</a:t>
            </a:r>
          </a:p>
        </p:txBody>
      </p:sp>
      <p:sp>
        <p:nvSpPr>
          <p:cNvPr id="4" name="Footer Placeholder 3">
            <a:extLst>
              <a:ext uri="{FF2B5EF4-FFF2-40B4-BE49-F238E27FC236}">
                <a16:creationId xmlns:a16="http://schemas.microsoft.com/office/drawing/2014/main" id="{64F77DDD-2A9C-A11A-BCC8-78FB2B6B0066}"/>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87AC8139-63F5-DD9B-84D1-A0E0FE13734E}"/>
              </a:ext>
            </a:extLst>
          </p:cNvPr>
          <p:cNvSpPr>
            <a:spLocks noGrp="1"/>
          </p:cNvSpPr>
          <p:nvPr>
            <p:ph type="sldNum" sz="quarter" idx="15"/>
          </p:nvPr>
        </p:nvSpPr>
        <p:spPr/>
        <p:txBody>
          <a:bodyPr/>
          <a:lstStyle/>
          <a:p>
            <a:fld id="{E242BD21-9B61-2246-BCB1-4BE5E1BEBE1C}" type="slidenum">
              <a:rPr lang="en-GB" smtClean="0"/>
              <a:pPr/>
              <a:t>26</a:t>
            </a:fld>
            <a:endParaRPr lang="en-GB" dirty="0"/>
          </a:p>
        </p:txBody>
      </p:sp>
      <p:sp>
        <p:nvSpPr>
          <p:cNvPr id="6" name="Title 5">
            <a:extLst>
              <a:ext uri="{FF2B5EF4-FFF2-40B4-BE49-F238E27FC236}">
                <a16:creationId xmlns:a16="http://schemas.microsoft.com/office/drawing/2014/main" id="{CDACB4F8-DCF6-6037-2620-E3F7A90BD91F}"/>
              </a:ext>
            </a:extLst>
          </p:cNvPr>
          <p:cNvSpPr>
            <a:spLocks noGrp="1"/>
          </p:cNvSpPr>
          <p:nvPr>
            <p:ph type="title"/>
          </p:nvPr>
        </p:nvSpPr>
        <p:spPr>
          <a:xfrm>
            <a:off x="154800" y="440112"/>
            <a:ext cx="11880000" cy="710067"/>
          </a:xfrm>
        </p:spPr>
        <p:txBody>
          <a:bodyPr/>
          <a:lstStyle/>
          <a:p>
            <a:r>
              <a:rPr lang="en-GB" dirty="0"/>
              <a:t>Maintainability delta quality ratings of the portfolio between 2026-02-12 and 2026-03-12</a:t>
            </a:r>
          </a:p>
        </p:txBody>
      </p:sp>
      <p:pic>
        <p:nvPicPr>
          <p:cNvPr id="8" name="Graphic 7">
            <a:extLst>
              <a:ext uri="{FF2B5EF4-FFF2-40B4-BE49-F238E27FC236}">
                <a16:creationId xmlns:a16="http://schemas.microsoft.com/office/drawing/2014/main" id="{C59FE4D2-6709-94D1-92D9-433748541C1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4536" y="6071736"/>
            <a:ext cx="371130" cy="206558"/>
          </a:xfrm>
          <a:prstGeom prst="rect">
            <a:avLst/>
          </a:prstGeom>
        </p:spPr>
      </p:pic>
      <p:sp>
        <p:nvSpPr>
          <p:cNvPr id="9" name="TextBox 8">
            <a:extLst>
              <a:ext uri="{FF2B5EF4-FFF2-40B4-BE49-F238E27FC236}">
                <a16:creationId xmlns:a16="http://schemas.microsoft.com/office/drawing/2014/main" id="{3E673761-5FC2-9029-6267-B19DD2C2F08B}"/>
              </a:ext>
            </a:extLst>
          </p:cNvPr>
          <p:cNvSpPr txBox="1"/>
          <p:nvPr/>
        </p:nvSpPr>
        <p:spPr>
          <a:xfrm>
            <a:off x="2643466" y="6054740"/>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10" name="Group 9">
            <a:extLst>
              <a:ext uri="{FF2B5EF4-FFF2-40B4-BE49-F238E27FC236}">
                <a16:creationId xmlns:a16="http://schemas.microsoft.com/office/drawing/2014/main" id="{D242F203-49FD-78B9-B03E-4B9D44080378}"/>
              </a:ext>
            </a:extLst>
          </p:cNvPr>
          <p:cNvGrpSpPr/>
          <p:nvPr/>
        </p:nvGrpSpPr>
        <p:grpSpPr>
          <a:xfrm>
            <a:off x="516802" y="6117354"/>
            <a:ext cx="300732" cy="98617"/>
            <a:chOff x="586253" y="6116391"/>
            <a:chExt cx="300732" cy="98617"/>
          </a:xfrm>
        </p:grpSpPr>
        <p:sp>
          <p:nvSpPr>
            <p:cNvPr id="11" name="TextBox 10">
              <a:extLst>
                <a:ext uri="{FF2B5EF4-FFF2-40B4-BE49-F238E27FC236}">
                  <a16:creationId xmlns:a16="http://schemas.microsoft.com/office/drawing/2014/main" id="{0F7BC1B3-A2C3-BB29-2484-DB2065CFD8C1}"/>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12" name="Rounded Rectangle 11">
              <a:extLst>
                <a:ext uri="{FF2B5EF4-FFF2-40B4-BE49-F238E27FC236}">
                  <a16:creationId xmlns:a16="http://schemas.microsoft.com/office/drawing/2014/main" id="{FA531F56-1E0E-6966-F40D-82C11CD93C39}"/>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3" name="Group 12">
            <a:extLst>
              <a:ext uri="{FF2B5EF4-FFF2-40B4-BE49-F238E27FC236}">
                <a16:creationId xmlns:a16="http://schemas.microsoft.com/office/drawing/2014/main" id="{DD695109-2321-E534-0496-0ADC19043553}"/>
              </a:ext>
            </a:extLst>
          </p:cNvPr>
          <p:cNvGrpSpPr/>
          <p:nvPr/>
        </p:nvGrpSpPr>
        <p:grpSpPr>
          <a:xfrm>
            <a:off x="934179" y="6117354"/>
            <a:ext cx="331190" cy="98617"/>
            <a:chOff x="961765" y="6117353"/>
            <a:chExt cx="331190" cy="98617"/>
          </a:xfrm>
        </p:grpSpPr>
        <p:sp>
          <p:nvSpPr>
            <p:cNvPr id="14" name="TextBox 13">
              <a:extLst>
                <a:ext uri="{FF2B5EF4-FFF2-40B4-BE49-F238E27FC236}">
                  <a16:creationId xmlns:a16="http://schemas.microsoft.com/office/drawing/2014/main" id="{E4620934-284F-2137-983F-DA633CD4E2EB}"/>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15" name="Rounded Rectangle 14">
              <a:extLst>
                <a:ext uri="{FF2B5EF4-FFF2-40B4-BE49-F238E27FC236}">
                  <a16:creationId xmlns:a16="http://schemas.microsoft.com/office/drawing/2014/main" id="{2435BBC8-9793-F0F4-6F77-AC9C450E2153}"/>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6" name="Group 15">
            <a:extLst>
              <a:ext uri="{FF2B5EF4-FFF2-40B4-BE49-F238E27FC236}">
                <a16:creationId xmlns:a16="http://schemas.microsoft.com/office/drawing/2014/main" id="{9319A2AF-EE85-F130-2282-3114CACC0253}"/>
              </a:ext>
            </a:extLst>
          </p:cNvPr>
          <p:cNvGrpSpPr/>
          <p:nvPr/>
        </p:nvGrpSpPr>
        <p:grpSpPr>
          <a:xfrm>
            <a:off x="1382015" y="6117354"/>
            <a:ext cx="331190" cy="98617"/>
            <a:chOff x="1114165" y="6269753"/>
            <a:chExt cx="331190" cy="98617"/>
          </a:xfrm>
        </p:grpSpPr>
        <p:sp>
          <p:nvSpPr>
            <p:cNvPr id="17" name="TextBox 16">
              <a:extLst>
                <a:ext uri="{FF2B5EF4-FFF2-40B4-BE49-F238E27FC236}">
                  <a16:creationId xmlns:a16="http://schemas.microsoft.com/office/drawing/2014/main" id="{E5B8074A-2CFD-EC0C-FB62-DDD31D98A528}"/>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18" name="Rounded Rectangle 17">
              <a:extLst>
                <a:ext uri="{FF2B5EF4-FFF2-40B4-BE49-F238E27FC236}">
                  <a16:creationId xmlns:a16="http://schemas.microsoft.com/office/drawing/2014/main" id="{39DA4B9E-871A-CA27-7E89-0340C130DDAF}"/>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9" name="Group 18">
            <a:extLst>
              <a:ext uri="{FF2B5EF4-FFF2-40B4-BE49-F238E27FC236}">
                <a16:creationId xmlns:a16="http://schemas.microsoft.com/office/drawing/2014/main" id="{11B07BA2-B357-2D15-D5DF-CA3BD8F33EB2}"/>
              </a:ext>
            </a:extLst>
          </p:cNvPr>
          <p:cNvGrpSpPr/>
          <p:nvPr/>
        </p:nvGrpSpPr>
        <p:grpSpPr>
          <a:xfrm>
            <a:off x="1829851" y="6117354"/>
            <a:ext cx="331190" cy="98617"/>
            <a:chOff x="1114165" y="6269753"/>
            <a:chExt cx="331190" cy="98617"/>
          </a:xfrm>
        </p:grpSpPr>
        <p:sp>
          <p:nvSpPr>
            <p:cNvPr id="20" name="TextBox 19">
              <a:extLst>
                <a:ext uri="{FF2B5EF4-FFF2-40B4-BE49-F238E27FC236}">
                  <a16:creationId xmlns:a16="http://schemas.microsoft.com/office/drawing/2014/main" id="{53C6C928-3648-4252-D644-F64A97E52B46}"/>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21" name="Rounded Rectangle 20">
              <a:extLst>
                <a:ext uri="{FF2B5EF4-FFF2-40B4-BE49-F238E27FC236}">
                  <a16:creationId xmlns:a16="http://schemas.microsoft.com/office/drawing/2014/main" id="{CD3E39B9-2702-25B6-A505-D5656EBFEB03}"/>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2" name="Group 21">
            <a:extLst>
              <a:ext uri="{FF2B5EF4-FFF2-40B4-BE49-F238E27FC236}">
                <a16:creationId xmlns:a16="http://schemas.microsoft.com/office/drawing/2014/main" id="{2ADE2C6F-AEEE-26B4-005C-17E9581A5312}"/>
              </a:ext>
            </a:extLst>
          </p:cNvPr>
          <p:cNvGrpSpPr/>
          <p:nvPr/>
        </p:nvGrpSpPr>
        <p:grpSpPr>
          <a:xfrm>
            <a:off x="2277686" y="6117354"/>
            <a:ext cx="331190" cy="98617"/>
            <a:chOff x="1114165" y="6269753"/>
            <a:chExt cx="331190" cy="98617"/>
          </a:xfrm>
        </p:grpSpPr>
        <p:sp>
          <p:nvSpPr>
            <p:cNvPr id="23" name="TextBox 22">
              <a:extLst>
                <a:ext uri="{FF2B5EF4-FFF2-40B4-BE49-F238E27FC236}">
                  <a16:creationId xmlns:a16="http://schemas.microsoft.com/office/drawing/2014/main" id="{301A3FAA-9759-8285-2BDD-A70A6DD18FC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24" name="Rounded Rectangle 23">
              <a:extLst>
                <a:ext uri="{FF2B5EF4-FFF2-40B4-BE49-F238E27FC236}">
                  <a16:creationId xmlns:a16="http://schemas.microsoft.com/office/drawing/2014/main" id="{FA12D9BB-7561-E3D0-BCAD-DE466F39D20D}"/>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28" name="TextBox 27">
            <a:extLst>
              <a:ext uri="{FF2B5EF4-FFF2-40B4-BE49-F238E27FC236}">
                <a16:creationId xmlns:a16="http://schemas.microsoft.com/office/drawing/2014/main" id="{5CC2EDDF-C97F-C25E-F440-BBC1D7D1DC85}"/>
              </a:ext>
            </a:extLst>
          </p:cNvPr>
          <p:cNvSpPr txBox="1"/>
          <p:nvPr/>
        </p:nvSpPr>
        <p:spPr>
          <a:xfrm>
            <a:off x="1565977" y="1478241"/>
            <a:ext cx="1027546" cy="355162"/>
          </a:xfrm>
          <a:prstGeom prst="rect">
            <a:avLst/>
          </a:prstGeom>
          <a:noFill/>
        </p:spPr>
        <p:txBody>
          <a:bodyPr wrap="none" lIns="90000" rtlCol="0" anchor="t">
            <a:spAutoFit/>
          </a:bodyPr>
          <a:lstStyle/>
          <a:p>
            <a:pPr algn="ctr">
              <a:lnSpc>
                <a:spcPct val="113000"/>
              </a:lnSpc>
            </a:pPr>
            <a:r>
              <a:rPr lang="en-GB" sz="1600" b="1" dirty="0">
                <a:solidFill>
                  <a:schemeClr val="tx1"/>
                </a:solidFill>
              </a:rPr>
              <a:t>New code</a:t>
            </a:r>
          </a:p>
        </p:txBody>
      </p:sp>
      <p:sp>
        <p:nvSpPr>
          <p:cNvPr id="29" name="TextBox 28">
            <a:extLst>
              <a:ext uri="{FF2B5EF4-FFF2-40B4-BE49-F238E27FC236}">
                <a16:creationId xmlns:a16="http://schemas.microsoft.com/office/drawing/2014/main" id="{0073620C-AE1D-DD22-A4B2-1F42A19EE0DC}"/>
              </a:ext>
            </a:extLst>
          </p:cNvPr>
          <p:cNvSpPr txBox="1"/>
          <p:nvPr/>
        </p:nvSpPr>
        <p:spPr>
          <a:xfrm>
            <a:off x="5406473" y="1478241"/>
            <a:ext cx="1379053" cy="355162"/>
          </a:xfrm>
          <a:prstGeom prst="rect">
            <a:avLst/>
          </a:prstGeom>
          <a:noFill/>
        </p:spPr>
        <p:txBody>
          <a:bodyPr wrap="none" lIns="90000" rtlCol="0" anchor="t">
            <a:spAutoFit/>
          </a:bodyPr>
          <a:lstStyle/>
          <a:p>
            <a:pPr algn="ctr">
              <a:lnSpc>
                <a:spcPct val="113000"/>
              </a:lnSpc>
            </a:pPr>
            <a:r>
              <a:rPr lang="en-GB" sz="1600" b="1" dirty="0"/>
              <a:t>Changed</a:t>
            </a:r>
            <a:r>
              <a:rPr lang="en-GB" sz="1600" b="1" dirty="0">
                <a:solidFill>
                  <a:schemeClr val="tx1"/>
                </a:solidFill>
              </a:rPr>
              <a:t> code</a:t>
            </a:r>
          </a:p>
        </p:txBody>
      </p:sp>
      <p:sp>
        <p:nvSpPr>
          <p:cNvPr id="30" name="TextBox 29">
            <a:extLst>
              <a:ext uri="{FF2B5EF4-FFF2-40B4-BE49-F238E27FC236}">
                <a16:creationId xmlns:a16="http://schemas.microsoft.com/office/drawing/2014/main" id="{239C04E7-0175-768A-89BA-8351440D4908}"/>
              </a:ext>
            </a:extLst>
          </p:cNvPr>
          <p:cNvSpPr txBox="1"/>
          <p:nvPr/>
        </p:nvSpPr>
        <p:spPr>
          <a:xfrm>
            <a:off x="9032106" y="1478241"/>
            <a:ext cx="2160293" cy="355162"/>
          </a:xfrm>
          <a:prstGeom prst="rect">
            <a:avLst/>
          </a:prstGeom>
          <a:noFill/>
        </p:spPr>
        <p:txBody>
          <a:bodyPr wrap="none" lIns="90000" rtlCol="0" anchor="t">
            <a:spAutoFit/>
          </a:bodyPr>
          <a:lstStyle/>
          <a:p>
            <a:pPr algn="ctr">
              <a:lnSpc>
                <a:spcPct val="113000"/>
              </a:lnSpc>
            </a:pPr>
            <a:r>
              <a:rPr lang="en-GB" sz="1600" b="1" dirty="0">
                <a:solidFill>
                  <a:schemeClr val="tx1"/>
                </a:solidFill>
              </a:rPr>
              <a:t>New and changed code</a:t>
            </a:r>
          </a:p>
        </p:txBody>
      </p:sp>
      <p:pic>
        <p:nvPicPr>
          <p:cNvPr id="31" name="Picture 30" descr="image.png"/>
          <p:cNvPicPr>
            <a:picLocks noChangeAspect="1"/>
          </p:cNvPicPr>
          <p:nvPr/>
        </p:nvPicPr>
        <p:blipFill>
          <a:blip r:embed="rId4"/>
          <a:stretch>
            <a:fillRect/>
          </a:stretch>
        </p:blipFill>
        <p:spPr>
          <a:xfrm>
            <a:off x="4172248" y="1838036"/>
            <a:ext cx="3847501" cy="4145376"/>
          </a:xfrm>
          <a:prstGeom prst="rect">
            <a:avLst/>
          </a:prstGeom>
        </p:spPr>
      </p:pic>
      <p:pic>
        <p:nvPicPr>
          <p:cNvPr id="32" name="Picture 31" descr="image.png"/>
          <p:cNvPicPr>
            <a:picLocks noChangeAspect="1"/>
          </p:cNvPicPr>
          <p:nvPr/>
        </p:nvPicPr>
        <p:blipFill>
          <a:blip r:embed="rId5"/>
          <a:stretch>
            <a:fillRect/>
          </a:stretch>
        </p:blipFill>
        <p:spPr>
          <a:xfrm>
            <a:off x="156000" y="1838036"/>
            <a:ext cx="3847501" cy="4145376"/>
          </a:xfrm>
          <a:prstGeom prst="rect">
            <a:avLst/>
          </a:prstGeom>
        </p:spPr>
      </p:pic>
      <p:pic>
        <p:nvPicPr>
          <p:cNvPr id="33" name="Picture 32" descr="image.png"/>
          <p:cNvPicPr>
            <a:picLocks noChangeAspect="1"/>
          </p:cNvPicPr>
          <p:nvPr/>
        </p:nvPicPr>
        <p:blipFill>
          <a:blip r:embed="rId6"/>
          <a:stretch>
            <a:fillRect/>
          </a:stretch>
        </p:blipFill>
        <p:spPr>
          <a:xfrm>
            <a:off x="8188499" y="1838036"/>
            <a:ext cx="3847501" cy="4145376"/>
          </a:xfrm>
          <a:prstGeom prst="rect">
            <a:avLst/>
          </a:prstGeom>
        </p:spPr>
      </p:pic>
    </p:spTree>
    <p:extLst>
      <p:ext uri="{BB962C8B-B14F-4D97-AF65-F5344CB8AC3E}">
        <p14:creationId xmlns:p14="http://schemas.microsoft.com/office/powerpoint/2010/main" val="2534802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446C1F-5778-E596-B40D-BC39A3029059}"/>
              </a:ext>
            </a:extLst>
          </p:cNvPr>
          <p:cNvSpPr>
            <a:spLocks noGrp="1"/>
          </p:cNvSpPr>
          <p:nvPr>
            <p:ph type="body" sz="quarter" idx="12"/>
          </p:nvPr>
        </p:nvSpPr>
        <p:spPr>
          <a:xfrm>
            <a:off x="381600" y="129568"/>
            <a:ext cx="2843581" cy="228209"/>
          </a:xfrm>
        </p:spPr>
        <p:txBody>
          <a:bodyPr/>
          <a:lstStyle/>
          <a:p>
            <a:r>
              <a:rPr lang="en-GB" dirty="0"/>
              <a:t>Portfolio trends – Volume Change</a:t>
            </a:r>
          </a:p>
        </p:txBody>
      </p:sp>
      <p:sp>
        <p:nvSpPr>
          <p:cNvPr id="4" name="Footer Placeholder 3">
            <a:extLst>
              <a:ext uri="{FF2B5EF4-FFF2-40B4-BE49-F238E27FC236}">
                <a16:creationId xmlns:a16="http://schemas.microsoft.com/office/drawing/2014/main" id="{62F366C7-3114-4B4C-4D7B-B7C04086F136}"/>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E1B6CC33-85BB-6686-87C3-6E2C1EC480A0}"/>
              </a:ext>
            </a:extLst>
          </p:cNvPr>
          <p:cNvSpPr>
            <a:spLocks noGrp="1"/>
          </p:cNvSpPr>
          <p:nvPr>
            <p:ph type="sldNum" sz="quarter" idx="15"/>
          </p:nvPr>
        </p:nvSpPr>
        <p:spPr/>
        <p:txBody>
          <a:bodyPr/>
          <a:lstStyle/>
          <a:p>
            <a:fld id="{E242BD21-9B61-2246-BCB1-4BE5E1BEBE1C}" type="slidenum">
              <a:rPr lang="en-GB" smtClean="0"/>
              <a:pPr/>
              <a:t>27</a:t>
            </a:fld>
            <a:endParaRPr lang="en-GB" dirty="0"/>
          </a:p>
        </p:txBody>
      </p:sp>
      <p:sp>
        <p:nvSpPr>
          <p:cNvPr id="6" name="Title 5">
            <a:extLst>
              <a:ext uri="{FF2B5EF4-FFF2-40B4-BE49-F238E27FC236}">
                <a16:creationId xmlns:a16="http://schemas.microsoft.com/office/drawing/2014/main" id="{8D237797-15BA-3A3C-A5DB-CEBB6BFCAD90}"/>
              </a:ext>
            </a:extLst>
          </p:cNvPr>
          <p:cNvSpPr>
            <a:spLocks noGrp="1"/>
          </p:cNvSpPr>
          <p:nvPr>
            <p:ph type="title"/>
          </p:nvPr>
        </p:nvSpPr>
        <p:spPr>
          <a:xfrm>
            <a:off x="154800" y="440112"/>
            <a:ext cx="11880000" cy="710067"/>
          </a:xfrm>
        </p:spPr>
        <p:txBody>
          <a:bodyPr/>
          <a:lstStyle/>
          <a:p>
            <a:r>
              <a:rPr lang="en-GB" dirty="0"/>
              <a:t>Change in volume (effort) of the portfolio between 2026-02-12 and 2026-03-12</a:t>
            </a:r>
          </a:p>
        </p:txBody>
      </p:sp>
      <p:grpSp>
        <p:nvGrpSpPr>
          <p:cNvPr id="61" name="Group 60">
            <a:extLst>
              <a:ext uri="{FF2B5EF4-FFF2-40B4-BE49-F238E27FC236}">
                <a16:creationId xmlns:a16="http://schemas.microsoft.com/office/drawing/2014/main" id="{E591A62A-783F-7AF6-89B3-FD236EF5EA4F}"/>
              </a:ext>
            </a:extLst>
          </p:cNvPr>
          <p:cNvGrpSpPr/>
          <p:nvPr/>
        </p:nvGrpSpPr>
        <p:grpSpPr>
          <a:xfrm>
            <a:off x="626780" y="5849109"/>
            <a:ext cx="2760731" cy="223844"/>
            <a:chOff x="512064" y="6054740"/>
            <a:chExt cx="2760731" cy="223844"/>
          </a:xfrm>
        </p:grpSpPr>
        <p:sp>
          <p:nvSpPr>
            <p:cNvPr id="10" name="TextBox 9">
              <a:extLst>
                <a:ext uri="{FF2B5EF4-FFF2-40B4-BE49-F238E27FC236}">
                  <a16:creationId xmlns:a16="http://schemas.microsoft.com/office/drawing/2014/main" id="{4EF34C57-170D-5311-7541-AFD3500F5E86}"/>
                </a:ext>
              </a:extLst>
            </p:cNvPr>
            <p:cNvSpPr txBox="1"/>
            <p:nvPr/>
          </p:nvSpPr>
          <p:spPr>
            <a:xfrm>
              <a:off x="1996335" y="6054740"/>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sp>
          <p:nvSpPr>
            <p:cNvPr id="11" name="Rounded Rectangle 10">
              <a:extLst>
                <a:ext uri="{FF2B5EF4-FFF2-40B4-BE49-F238E27FC236}">
                  <a16:creationId xmlns:a16="http://schemas.microsoft.com/office/drawing/2014/main" id="{89EF8ADA-DE01-AA30-2028-ED49BE436A88}"/>
                </a:ext>
              </a:extLst>
            </p:cNvPr>
            <p:cNvSpPr>
              <a:spLocks noChangeAspect="1"/>
            </p:cNvSpPr>
            <p:nvPr/>
          </p:nvSpPr>
          <p:spPr>
            <a:xfrm>
              <a:off x="879122" y="6118505"/>
              <a:ext cx="91440"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sp>
          <p:nvSpPr>
            <p:cNvPr id="12" name="Rounded Rectangle 11">
              <a:extLst>
                <a:ext uri="{FF2B5EF4-FFF2-40B4-BE49-F238E27FC236}">
                  <a16:creationId xmlns:a16="http://schemas.microsoft.com/office/drawing/2014/main" id="{E10D5863-7369-49C4-1B54-EEA04955FF15}"/>
                </a:ext>
              </a:extLst>
            </p:cNvPr>
            <p:cNvSpPr>
              <a:spLocks noChangeAspect="1"/>
            </p:cNvSpPr>
            <p:nvPr/>
          </p:nvSpPr>
          <p:spPr>
            <a:xfrm>
              <a:off x="1038992" y="6118505"/>
              <a:ext cx="91440" cy="91440"/>
            </a:xfrm>
            <a:prstGeom prst="roundRect">
              <a:avLst/>
            </a:prstGeom>
            <a:solidFill>
              <a:srgbClr val="EFE6D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sp>
          <p:nvSpPr>
            <p:cNvPr id="13" name="Rounded Rectangle 12">
              <a:extLst>
                <a:ext uri="{FF2B5EF4-FFF2-40B4-BE49-F238E27FC236}">
                  <a16:creationId xmlns:a16="http://schemas.microsoft.com/office/drawing/2014/main" id="{D52AC297-2CB7-56A7-5F80-FC2404D96FC3}"/>
                </a:ext>
              </a:extLst>
            </p:cNvPr>
            <p:cNvSpPr>
              <a:spLocks noChangeAspect="1"/>
            </p:cNvSpPr>
            <p:nvPr/>
          </p:nvSpPr>
          <p:spPr>
            <a:xfrm>
              <a:off x="1198862" y="6118505"/>
              <a:ext cx="91440" cy="91440"/>
            </a:xfrm>
            <a:prstGeom prst="roundRect">
              <a:avLst/>
            </a:prstGeom>
            <a:solidFill>
              <a:srgbClr val="F7F9F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sp>
          <p:nvSpPr>
            <p:cNvPr id="14" name="Rounded Rectangle 13">
              <a:extLst>
                <a:ext uri="{FF2B5EF4-FFF2-40B4-BE49-F238E27FC236}">
                  <a16:creationId xmlns:a16="http://schemas.microsoft.com/office/drawing/2014/main" id="{E88086E6-082A-B2A9-7D0B-B77386A1B56F}"/>
                </a:ext>
              </a:extLst>
            </p:cNvPr>
            <p:cNvSpPr>
              <a:spLocks noChangeAspect="1"/>
            </p:cNvSpPr>
            <p:nvPr/>
          </p:nvSpPr>
          <p:spPr>
            <a:xfrm>
              <a:off x="1358732" y="6118505"/>
              <a:ext cx="91440" cy="91440"/>
            </a:xfrm>
            <a:prstGeom prst="roundRect">
              <a:avLst/>
            </a:prstGeom>
            <a:solidFill>
              <a:srgbClr val="D8E9E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sp>
          <p:nvSpPr>
            <p:cNvPr id="15" name="Rounded Rectangle 14">
              <a:extLst>
                <a:ext uri="{FF2B5EF4-FFF2-40B4-BE49-F238E27FC236}">
                  <a16:creationId xmlns:a16="http://schemas.microsoft.com/office/drawing/2014/main" id="{6A065D0B-30E5-B7B4-A9AE-146C6FBBB398}"/>
                </a:ext>
              </a:extLst>
            </p:cNvPr>
            <p:cNvSpPr>
              <a:spLocks noChangeAspect="1"/>
            </p:cNvSpPr>
            <p:nvPr/>
          </p:nvSpPr>
          <p:spPr>
            <a:xfrm>
              <a:off x="1518602" y="6118505"/>
              <a:ext cx="91440" cy="91440"/>
            </a:xfrm>
            <a:prstGeom prst="roundRect">
              <a:avLst/>
            </a:prstGeom>
            <a:solidFill>
              <a:srgbClr val="58B8C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sp>
          <p:nvSpPr>
            <p:cNvPr id="16" name="TextBox 15">
              <a:extLst>
                <a:ext uri="{FF2B5EF4-FFF2-40B4-BE49-F238E27FC236}">
                  <a16:creationId xmlns:a16="http://schemas.microsoft.com/office/drawing/2014/main" id="{72295768-BD04-4C08-1C9F-E6A857D50707}"/>
                </a:ext>
              </a:extLst>
            </p:cNvPr>
            <p:cNvSpPr txBox="1"/>
            <p:nvPr/>
          </p:nvSpPr>
          <p:spPr>
            <a:xfrm>
              <a:off x="1678471" y="6054740"/>
              <a:ext cx="341910" cy="223844"/>
            </a:xfrm>
            <a:prstGeom prst="rect">
              <a:avLst/>
            </a:prstGeom>
            <a:noFill/>
          </p:spPr>
          <p:txBody>
            <a:bodyPr wrap="none" lIns="90000" rtlCol="0" anchor="t">
              <a:spAutoFit/>
            </a:bodyPr>
            <a:lstStyle/>
            <a:p>
              <a:pPr algn="l">
                <a:lnSpc>
                  <a:spcPct val="113000"/>
                </a:lnSpc>
              </a:pPr>
              <a:r>
                <a:rPr lang="en-GB" sz="800" b="1" dirty="0">
                  <a:solidFill>
                    <a:schemeClr val="tx2"/>
                  </a:solidFill>
                  <a:latin typeface="Calibri" panose="020F0502020204030204" pitchFamily="34" charset="0"/>
                  <a:cs typeface="Calibri" panose="020F0502020204030204" pitchFamily="34" charset="0"/>
                </a:rPr>
                <a:t>+PY</a:t>
              </a:r>
            </a:p>
          </p:txBody>
        </p:sp>
        <p:sp>
          <p:nvSpPr>
            <p:cNvPr id="17" name="TextBox 16">
              <a:extLst>
                <a:ext uri="{FF2B5EF4-FFF2-40B4-BE49-F238E27FC236}">
                  <a16:creationId xmlns:a16="http://schemas.microsoft.com/office/drawing/2014/main" id="{3C6564EB-114B-305E-F2F4-C36CA3CBD1C9}"/>
                </a:ext>
              </a:extLst>
            </p:cNvPr>
            <p:cNvSpPr txBox="1"/>
            <p:nvPr/>
          </p:nvSpPr>
          <p:spPr>
            <a:xfrm>
              <a:off x="512064" y="6054740"/>
              <a:ext cx="322674" cy="223844"/>
            </a:xfrm>
            <a:prstGeom prst="rect">
              <a:avLst/>
            </a:prstGeom>
            <a:noFill/>
          </p:spPr>
          <p:txBody>
            <a:bodyPr wrap="none" lIns="90000" rtlCol="0" anchor="t">
              <a:spAutoFit/>
            </a:bodyPr>
            <a:lstStyle/>
            <a:p>
              <a:pPr algn="l">
                <a:lnSpc>
                  <a:spcPct val="113000"/>
                </a:lnSpc>
              </a:pPr>
              <a:r>
                <a:rPr lang="en-GB" sz="800" b="1" dirty="0">
                  <a:solidFill>
                    <a:schemeClr val="tx2"/>
                  </a:solidFill>
                  <a:latin typeface="Calibri" panose="020F0502020204030204" pitchFamily="34" charset="0"/>
                  <a:cs typeface="Calibri" panose="020F0502020204030204" pitchFamily="34" charset="0"/>
                </a:rPr>
                <a:t>-PY</a:t>
              </a:r>
            </a:p>
          </p:txBody>
        </p:sp>
      </p:grpSp>
      <p:pic>
        <p:nvPicPr>
          <p:cNvPr id="55" name="Graphic 54">
            <a:extLst>
              <a:ext uri="{FF2B5EF4-FFF2-40B4-BE49-F238E27FC236}">
                <a16:creationId xmlns:a16="http://schemas.microsoft.com/office/drawing/2014/main" id="{29A432BB-A903-CCB9-4E0F-E5A85232BA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57" name="Content Placeholder 2">
            <a:extLst>
              <a:ext uri="{FF2B5EF4-FFF2-40B4-BE49-F238E27FC236}">
                <a16:creationId xmlns:a16="http://schemas.microsoft.com/office/drawing/2014/main" id="{F494787E-2446-5685-907F-157921FE4F19}"/>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GB" noProof="0" dirty="0"/>
              <a:t>The portfolio has seen an overall increase in volume of 19.1 person years.</a:t>
            </a:r>
          </a:p>
          <a:p>
            <a:pPr indent="-283845"/>
            <a:r>
              <a:rPr lang="en-GB" dirty="0">
                <a:ea typeface="Calibri"/>
                <a:cs typeface="Calibri"/>
              </a:rPr>
              <a:t>The system elasticsearch has seen the biggest change with an increase of 6.3 person years.</a:t>
            </a:r>
          </a:p>
        </p:txBody>
      </p:sp>
      <p:pic>
        <p:nvPicPr>
          <p:cNvPr id="63" name="Picture 62" descr="image.png"/>
          <p:cNvPicPr>
            <a:picLocks noChangeAspect="1"/>
          </p:cNvPicPr>
          <p:nvPr/>
        </p:nvPicPr>
        <p:blipFill>
          <a:blip r:embed="rId4"/>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22497864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F4FC4-92FA-133B-51E6-15AF607B42D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DA83DCD-7C70-900D-43B4-CE96EF7B7F60}"/>
              </a:ext>
            </a:extLst>
          </p:cNvPr>
          <p:cNvSpPr>
            <a:spLocks noGrp="1"/>
          </p:cNvSpPr>
          <p:nvPr>
            <p:ph type="body" sz="quarter" idx="12"/>
          </p:nvPr>
        </p:nvSpPr>
        <p:spPr>
          <a:xfrm>
            <a:off x="381600" y="129568"/>
            <a:ext cx="4192668" cy="228209"/>
          </a:xfrm>
        </p:spPr>
        <p:txBody>
          <a:bodyPr/>
          <a:lstStyle/>
          <a:p>
            <a:r>
              <a:rPr lang="en-GB" dirty="0"/>
              <a:t>Portfolio trends – Test-to-production code ratio</a:t>
            </a:r>
          </a:p>
        </p:txBody>
      </p:sp>
      <p:sp>
        <p:nvSpPr>
          <p:cNvPr id="4" name="Footer Placeholder 3">
            <a:extLst>
              <a:ext uri="{FF2B5EF4-FFF2-40B4-BE49-F238E27FC236}">
                <a16:creationId xmlns:a16="http://schemas.microsoft.com/office/drawing/2014/main" id="{8E2F0B54-B832-6085-49CA-E85C45796DAE}"/>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83A13365-7513-F41E-A229-F5E501163035}"/>
              </a:ext>
            </a:extLst>
          </p:cNvPr>
          <p:cNvSpPr>
            <a:spLocks noGrp="1"/>
          </p:cNvSpPr>
          <p:nvPr>
            <p:ph type="sldNum" sz="quarter" idx="15"/>
          </p:nvPr>
        </p:nvSpPr>
        <p:spPr/>
        <p:txBody>
          <a:bodyPr/>
          <a:lstStyle/>
          <a:p>
            <a:fld id="{E242BD21-9B61-2246-BCB1-4BE5E1BEBE1C}" type="slidenum">
              <a:rPr lang="en-GB" smtClean="0"/>
              <a:pPr/>
              <a:t>28</a:t>
            </a:fld>
            <a:endParaRPr lang="en-GB" dirty="0"/>
          </a:p>
        </p:txBody>
      </p:sp>
      <p:sp>
        <p:nvSpPr>
          <p:cNvPr id="6" name="Title 5">
            <a:extLst>
              <a:ext uri="{FF2B5EF4-FFF2-40B4-BE49-F238E27FC236}">
                <a16:creationId xmlns:a16="http://schemas.microsoft.com/office/drawing/2014/main" id="{5213AD90-B853-FCBB-8AD0-E3ECB74413FB}"/>
              </a:ext>
            </a:extLst>
          </p:cNvPr>
          <p:cNvSpPr>
            <a:spLocks noGrp="1"/>
          </p:cNvSpPr>
          <p:nvPr>
            <p:ph type="title"/>
          </p:nvPr>
        </p:nvSpPr>
        <p:spPr>
          <a:xfrm>
            <a:off x="154800" y="440112"/>
            <a:ext cx="11880000" cy="710067"/>
          </a:xfrm>
        </p:spPr>
        <p:txBody>
          <a:bodyPr/>
          <a:lstStyle/>
          <a:p>
            <a:r>
              <a:rPr lang="en-GB" dirty="0"/>
              <a:t>Test-to-production code ratios of the portfolio between 2026-02-12 and 2026-03-12</a:t>
            </a:r>
          </a:p>
        </p:txBody>
      </p:sp>
      <p:sp>
        <p:nvSpPr>
          <p:cNvPr id="10" name="TextBox 9">
            <a:extLst>
              <a:ext uri="{FF2B5EF4-FFF2-40B4-BE49-F238E27FC236}">
                <a16:creationId xmlns:a16="http://schemas.microsoft.com/office/drawing/2014/main" id="{A02D8A7E-FC89-374D-3928-733975E07F27}"/>
              </a:ext>
            </a:extLst>
          </p:cNvPr>
          <p:cNvSpPr txBox="1"/>
          <p:nvPr/>
        </p:nvSpPr>
        <p:spPr>
          <a:xfrm>
            <a:off x="3082464" y="5845729"/>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11" name="Group 10">
            <a:extLst>
              <a:ext uri="{FF2B5EF4-FFF2-40B4-BE49-F238E27FC236}">
                <a16:creationId xmlns:a16="http://schemas.microsoft.com/office/drawing/2014/main" id="{FF318A3D-4B01-E38F-0096-41FFF1B28944}"/>
              </a:ext>
            </a:extLst>
          </p:cNvPr>
          <p:cNvGrpSpPr/>
          <p:nvPr/>
        </p:nvGrpSpPr>
        <p:grpSpPr>
          <a:xfrm>
            <a:off x="694948" y="5908343"/>
            <a:ext cx="273482" cy="98617"/>
            <a:chOff x="586253" y="6116391"/>
            <a:chExt cx="273482" cy="98617"/>
          </a:xfrm>
        </p:grpSpPr>
        <p:sp>
          <p:nvSpPr>
            <p:cNvPr id="12" name="TextBox 11">
              <a:extLst>
                <a:ext uri="{FF2B5EF4-FFF2-40B4-BE49-F238E27FC236}">
                  <a16:creationId xmlns:a16="http://schemas.microsoft.com/office/drawing/2014/main" id="{4B1B111F-FBB9-EA13-F251-F40E05265B0A}"/>
                </a:ext>
              </a:extLst>
            </p:cNvPr>
            <p:cNvSpPr txBox="1"/>
            <p:nvPr/>
          </p:nvSpPr>
          <p:spPr>
            <a:xfrm>
              <a:off x="710655" y="6116391"/>
              <a:ext cx="14908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 1%</a:t>
              </a:r>
            </a:p>
          </p:txBody>
        </p:sp>
        <p:sp>
          <p:nvSpPr>
            <p:cNvPr id="13" name="Rounded Rectangle 12">
              <a:extLst>
                <a:ext uri="{FF2B5EF4-FFF2-40B4-BE49-F238E27FC236}">
                  <a16:creationId xmlns:a16="http://schemas.microsoft.com/office/drawing/2014/main" id="{87D12FC3-B3EE-A681-5D2C-4218A1C308E0}"/>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4" name="Group 13">
            <a:extLst>
              <a:ext uri="{FF2B5EF4-FFF2-40B4-BE49-F238E27FC236}">
                <a16:creationId xmlns:a16="http://schemas.microsoft.com/office/drawing/2014/main" id="{CEFB8AA5-C615-8F28-1025-70C65A980764}"/>
              </a:ext>
            </a:extLst>
          </p:cNvPr>
          <p:cNvGrpSpPr/>
          <p:nvPr/>
        </p:nvGrpSpPr>
        <p:grpSpPr>
          <a:xfrm>
            <a:off x="1060651" y="5908343"/>
            <a:ext cx="408134" cy="98617"/>
            <a:chOff x="961765" y="6117353"/>
            <a:chExt cx="408134" cy="98617"/>
          </a:xfrm>
        </p:grpSpPr>
        <p:sp>
          <p:nvSpPr>
            <p:cNvPr id="15" name="TextBox 14">
              <a:extLst>
                <a:ext uri="{FF2B5EF4-FFF2-40B4-BE49-F238E27FC236}">
                  <a16:creationId xmlns:a16="http://schemas.microsoft.com/office/drawing/2014/main" id="{587C06F8-9044-79E7-C86A-2D8041876F85}"/>
                </a:ext>
              </a:extLst>
            </p:cNvPr>
            <p:cNvSpPr txBox="1"/>
            <p:nvPr/>
          </p:nvSpPr>
          <p:spPr>
            <a:xfrm>
              <a:off x="1086167" y="6117353"/>
              <a:ext cx="283732"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- 15%</a:t>
              </a:r>
            </a:p>
          </p:txBody>
        </p:sp>
        <p:sp>
          <p:nvSpPr>
            <p:cNvPr id="16" name="Rounded Rectangle 15">
              <a:extLst>
                <a:ext uri="{FF2B5EF4-FFF2-40B4-BE49-F238E27FC236}">
                  <a16:creationId xmlns:a16="http://schemas.microsoft.com/office/drawing/2014/main" id="{2887F516-DD39-62A6-32D1-0B6374265003}"/>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7" name="Group 16">
            <a:extLst>
              <a:ext uri="{FF2B5EF4-FFF2-40B4-BE49-F238E27FC236}">
                <a16:creationId xmlns:a16="http://schemas.microsoft.com/office/drawing/2014/main" id="{8CD6264C-A1FC-6A59-5FF0-B02177854F9D}"/>
              </a:ext>
            </a:extLst>
          </p:cNvPr>
          <p:cNvGrpSpPr/>
          <p:nvPr/>
        </p:nvGrpSpPr>
        <p:grpSpPr>
          <a:xfrm>
            <a:off x="1561006" y="5908343"/>
            <a:ext cx="446606" cy="98617"/>
            <a:chOff x="1114165" y="6269753"/>
            <a:chExt cx="446606" cy="98617"/>
          </a:xfrm>
        </p:grpSpPr>
        <p:sp>
          <p:nvSpPr>
            <p:cNvPr id="18" name="TextBox 17">
              <a:extLst>
                <a:ext uri="{FF2B5EF4-FFF2-40B4-BE49-F238E27FC236}">
                  <a16:creationId xmlns:a16="http://schemas.microsoft.com/office/drawing/2014/main" id="{67767932-53B3-03DB-2C57-283ECA8F4412}"/>
                </a:ext>
              </a:extLst>
            </p:cNvPr>
            <p:cNvSpPr txBox="1"/>
            <p:nvPr/>
          </p:nvSpPr>
          <p:spPr>
            <a:xfrm>
              <a:off x="1238567" y="6269753"/>
              <a:ext cx="32220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15% - 50%</a:t>
              </a:r>
            </a:p>
          </p:txBody>
        </p:sp>
        <p:sp>
          <p:nvSpPr>
            <p:cNvPr id="19" name="Rounded Rectangle 18">
              <a:extLst>
                <a:ext uri="{FF2B5EF4-FFF2-40B4-BE49-F238E27FC236}">
                  <a16:creationId xmlns:a16="http://schemas.microsoft.com/office/drawing/2014/main" id="{DB5BF329-CA8A-DA0E-3BAF-54E5770234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0" name="Group 19">
            <a:extLst>
              <a:ext uri="{FF2B5EF4-FFF2-40B4-BE49-F238E27FC236}">
                <a16:creationId xmlns:a16="http://schemas.microsoft.com/office/drawing/2014/main" id="{6039F19E-79AC-7455-2D15-72A0F595FFC9}"/>
              </a:ext>
            </a:extLst>
          </p:cNvPr>
          <p:cNvGrpSpPr/>
          <p:nvPr/>
        </p:nvGrpSpPr>
        <p:grpSpPr>
          <a:xfrm>
            <a:off x="2099833" y="5908343"/>
            <a:ext cx="485078" cy="98617"/>
            <a:chOff x="1114165" y="6269753"/>
            <a:chExt cx="485078" cy="98617"/>
          </a:xfrm>
        </p:grpSpPr>
        <p:sp>
          <p:nvSpPr>
            <p:cNvPr id="21" name="TextBox 20">
              <a:extLst>
                <a:ext uri="{FF2B5EF4-FFF2-40B4-BE49-F238E27FC236}">
                  <a16:creationId xmlns:a16="http://schemas.microsoft.com/office/drawing/2014/main" id="{D60A24F1-37A5-9F07-855B-7E46A52C102C}"/>
                </a:ext>
              </a:extLst>
            </p:cNvPr>
            <p:cNvSpPr txBox="1"/>
            <p:nvPr/>
          </p:nvSpPr>
          <p:spPr>
            <a:xfrm>
              <a:off x="1238567" y="6269753"/>
              <a:ext cx="360676"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50% - 150%</a:t>
              </a:r>
            </a:p>
          </p:txBody>
        </p:sp>
        <p:sp>
          <p:nvSpPr>
            <p:cNvPr id="22" name="Rounded Rectangle 21">
              <a:extLst>
                <a:ext uri="{FF2B5EF4-FFF2-40B4-BE49-F238E27FC236}">
                  <a16:creationId xmlns:a16="http://schemas.microsoft.com/office/drawing/2014/main" id="{15CD8E8A-19FB-CC94-9D8A-28911D7068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3" name="Group 22">
            <a:extLst>
              <a:ext uri="{FF2B5EF4-FFF2-40B4-BE49-F238E27FC236}">
                <a16:creationId xmlns:a16="http://schemas.microsoft.com/office/drawing/2014/main" id="{423AD9C7-8D68-456A-B040-0C3083E160F6}"/>
              </a:ext>
            </a:extLst>
          </p:cNvPr>
          <p:cNvGrpSpPr/>
          <p:nvPr/>
        </p:nvGrpSpPr>
        <p:grpSpPr>
          <a:xfrm>
            <a:off x="2677130" y="5908343"/>
            <a:ext cx="350426" cy="98617"/>
            <a:chOff x="1114165" y="6269753"/>
            <a:chExt cx="350426" cy="98617"/>
          </a:xfrm>
        </p:grpSpPr>
        <p:sp>
          <p:nvSpPr>
            <p:cNvPr id="24" name="TextBox 23">
              <a:extLst>
                <a:ext uri="{FF2B5EF4-FFF2-40B4-BE49-F238E27FC236}">
                  <a16:creationId xmlns:a16="http://schemas.microsoft.com/office/drawing/2014/main" id="{98D2D40F-86C4-A805-5564-B535E1BDEA47}"/>
                </a:ext>
              </a:extLst>
            </p:cNvPr>
            <p:cNvSpPr txBox="1"/>
            <p:nvPr/>
          </p:nvSpPr>
          <p:spPr>
            <a:xfrm>
              <a:off x="1238567" y="6269753"/>
              <a:ext cx="22602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&gt; 150%</a:t>
              </a:r>
            </a:p>
          </p:txBody>
        </p:sp>
        <p:sp>
          <p:nvSpPr>
            <p:cNvPr id="25" name="Rounded Rectangle 24">
              <a:extLst>
                <a:ext uri="{FF2B5EF4-FFF2-40B4-BE49-F238E27FC236}">
                  <a16:creationId xmlns:a16="http://schemas.microsoft.com/office/drawing/2014/main" id="{7001D75D-95FB-3C51-F392-A5E177860A13}"/>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pic>
        <p:nvPicPr>
          <p:cNvPr id="3" name="Graphic 2">
            <a:extLst>
              <a:ext uri="{FF2B5EF4-FFF2-40B4-BE49-F238E27FC236}">
                <a16:creationId xmlns:a16="http://schemas.microsoft.com/office/drawing/2014/main" id="{A5EBD51A-EAC9-1AE9-F142-54EBB16F3DF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43" name="Content Placeholder 2">
            <a:extLst>
              <a:ext uri="{FF2B5EF4-FFF2-40B4-BE49-F238E27FC236}">
                <a16:creationId xmlns:a16="http://schemas.microsoft.com/office/drawing/2014/main" id="{35EE8E18-8776-00A3-9C94-97989DFBACF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GB" sz="1550" dirty="0"/>
              <a:t>65% systems have a test code ratio of &lt; 50%.</a:t>
            </a:r>
          </a:p>
          <a:p>
            <a:pPr indent="-283845"/>
            <a:r>
              <a:rPr lang="en-GB" sz="1550" dirty="0"/>
              <a:t>17% of systems have a test code ratio between 50% and 100%.</a:t>
            </a:r>
          </a:p>
          <a:p>
            <a:pPr indent="-283845"/>
            <a:r>
              <a:rPr lang="en-GB" sz="1550" dirty="0"/>
              <a:t>17% of systems have a test code ratio ≥ 100%</a:t>
            </a:r>
          </a:p>
        </p:txBody>
      </p:sp>
      <p:pic>
        <p:nvPicPr>
          <p:cNvPr id="47" name="Picture 46" descr="image.png"/>
          <p:cNvPicPr>
            <a:picLocks noChangeAspect="1"/>
          </p:cNvPicPr>
          <p:nvPr/>
        </p:nvPicPr>
        <p:blipFill>
          <a:blip r:embed="rId4"/>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29764648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FFD6A-9E05-3D46-E60D-058AD3DFFD7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5E93391-04C7-7757-5D2A-13EDA0DE25E8}"/>
              </a:ext>
            </a:extLst>
          </p:cNvPr>
          <p:cNvSpPr>
            <a:spLocks noGrp="1"/>
          </p:cNvSpPr>
          <p:nvPr>
            <p:ph type="body" sz="quarter" idx="12"/>
          </p:nvPr>
        </p:nvSpPr>
        <p:spPr>
          <a:xfrm>
            <a:off x="381600" y="129568"/>
            <a:ext cx="4951530" cy="228209"/>
          </a:xfrm>
        </p:spPr>
        <p:txBody>
          <a:bodyPr/>
          <a:lstStyle/>
          <a:p>
            <a:r>
              <a:rPr lang="en-GB" dirty="0"/>
              <a:t>Portfolio trends – Test-to-production code ratio – Change</a:t>
            </a:r>
          </a:p>
        </p:txBody>
      </p:sp>
      <p:sp>
        <p:nvSpPr>
          <p:cNvPr id="4" name="Footer Placeholder 3">
            <a:extLst>
              <a:ext uri="{FF2B5EF4-FFF2-40B4-BE49-F238E27FC236}">
                <a16:creationId xmlns:a16="http://schemas.microsoft.com/office/drawing/2014/main" id="{1FB51581-856E-3020-C018-13E27E63586B}"/>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695CB48E-331C-26C2-9486-41470DE99B09}"/>
              </a:ext>
            </a:extLst>
          </p:cNvPr>
          <p:cNvSpPr>
            <a:spLocks noGrp="1"/>
          </p:cNvSpPr>
          <p:nvPr>
            <p:ph type="sldNum" sz="quarter" idx="15"/>
          </p:nvPr>
        </p:nvSpPr>
        <p:spPr/>
        <p:txBody>
          <a:bodyPr/>
          <a:lstStyle/>
          <a:p>
            <a:fld id="{E242BD21-9B61-2246-BCB1-4BE5E1BEBE1C}" type="slidenum">
              <a:rPr lang="en-GB" smtClean="0"/>
              <a:pPr/>
              <a:t>29</a:t>
            </a:fld>
            <a:endParaRPr lang="en-GB" dirty="0"/>
          </a:p>
        </p:txBody>
      </p:sp>
      <p:sp>
        <p:nvSpPr>
          <p:cNvPr id="6" name="Title 5">
            <a:extLst>
              <a:ext uri="{FF2B5EF4-FFF2-40B4-BE49-F238E27FC236}">
                <a16:creationId xmlns:a16="http://schemas.microsoft.com/office/drawing/2014/main" id="{A1192D23-A084-1C07-108E-A039F527FDA5}"/>
              </a:ext>
            </a:extLst>
          </p:cNvPr>
          <p:cNvSpPr>
            <a:spLocks noGrp="1"/>
          </p:cNvSpPr>
          <p:nvPr>
            <p:ph type="title"/>
          </p:nvPr>
        </p:nvSpPr>
        <p:spPr>
          <a:xfrm>
            <a:off x="154800" y="440112"/>
            <a:ext cx="11880000" cy="710067"/>
          </a:xfrm>
        </p:spPr>
        <p:txBody>
          <a:bodyPr/>
          <a:lstStyle/>
          <a:p>
            <a:r>
              <a:rPr lang="en-GB" dirty="0"/>
              <a:t>Change in test-to-production code ratios of the portfolio between 2026-02-12 and 2026-03-12</a:t>
            </a:r>
          </a:p>
        </p:txBody>
      </p:sp>
      <p:sp>
        <p:nvSpPr>
          <p:cNvPr id="10" name="TextBox 9">
            <a:extLst>
              <a:ext uri="{FF2B5EF4-FFF2-40B4-BE49-F238E27FC236}">
                <a16:creationId xmlns:a16="http://schemas.microsoft.com/office/drawing/2014/main" id="{BD9C737C-0323-E724-2600-C1FD0C48F918}"/>
              </a:ext>
            </a:extLst>
          </p:cNvPr>
          <p:cNvSpPr txBox="1"/>
          <p:nvPr/>
        </p:nvSpPr>
        <p:spPr>
          <a:xfrm>
            <a:off x="2083423" y="5828312"/>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sp>
        <p:nvSpPr>
          <p:cNvPr id="11" name="TextBox 10">
            <a:extLst>
              <a:ext uri="{FF2B5EF4-FFF2-40B4-BE49-F238E27FC236}">
                <a16:creationId xmlns:a16="http://schemas.microsoft.com/office/drawing/2014/main" id="{BE55CC23-7FB2-3819-DF45-F461573B4C64}"/>
              </a:ext>
            </a:extLst>
          </p:cNvPr>
          <p:cNvSpPr txBox="1"/>
          <p:nvPr/>
        </p:nvSpPr>
        <p:spPr>
          <a:xfrm>
            <a:off x="1765559" y="5828312"/>
            <a:ext cx="309850" cy="223779"/>
          </a:xfrm>
          <a:prstGeom prst="rect">
            <a:avLst/>
          </a:prstGeom>
          <a:noFill/>
        </p:spPr>
        <p:txBody>
          <a:bodyPr wrap="none" lIns="90000" rtlCol="0" anchor="t">
            <a:spAutoFit/>
          </a:bodyPr>
          <a:lstStyle/>
          <a:p>
            <a:pPr algn="l">
              <a:lnSpc>
                <a:spcPct val="113000"/>
              </a:lnSpc>
            </a:pPr>
            <a:r>
              <a:rPr lang="en-GB" sz="800" b="1" dirty="0">
                <a:solidFill>
                  <a:schemeClr val="tx2"/>
                </a:solidFill>
              </a:rPr>
              <a:t>+%</a:t>
            </a:r>
          </a:p>
        </p:txBody>
      </p:sp>
      <p:sp>
        <p:nvSpPr>
          <p:cNvPr id="12" name="TextBox 11">
            <a:extLst>
              <a:ext uri="{FF2B5EF4-FFF2-40B4-BE49-F238E27FC236}">
                <a16:creationId xmlns:a16="http://schemas.microsoft.com/office/drawing/2014/main" id="{DAAFA911-0B10-AF2D-A9C0-DD22BC1BBD4E}"/>
              </a:ext>
            </a:extLst>
          </p:cNvPr>
          <p:cNvSpPr txBox="1"/>
          <p:nvPr/>
        </p:nvSpPr>
        <p:spPr>
          <a:xfrm>
            <a:off x="599152" y="5828312"/>
            <a:ext cx="290614" cy="223779"/>
          </a:xfrm>
          <a:prstGeom prst="rect">
            <a:avLst/>
          </a:prstGeom>
          <a:noFill/>
        </p:spPr>
        <p:txBody>
          <a:bodyPr wrap="none" lIns="90000" rtlCol="0" anchor="t">
            <a:spAutoFit/>
          </a:bodyPr>
          <a:lstStyle/>
          <a:p>
            <a:pPr algn="l">
              <a:lnSpc>
                <a:spcPct val="113000"/>
              </a:lnSpc>
            </a:pPr>
            <a:r>
              <a:rPr lang="en-GB" sz="800" b="1" dirty="0">
                <a:solidFill>
                  <a:schemeClr val="tx2"/>
                </a:solidFill>
              </a:rPr>
              <a:t>-%</a:t>
            </a:r>
          </a:p>
        </p:txBody>
      </p:sp>
      <p:sp>
        <p:nvSpPr>
          <p:cNvPr id="13" name="Rounded Rectangle 12">
            <a:extLst>
              <a:ext uri="{FF2B5EF4-FFF2-40B4-BE49-F238E27FC236}">
                <a16:creationId xmlns:a16="http://schemas.microsoft.com/office/drawing/2014/main" id="{E25916BB-0B42-8048-110F-7C3BB681E20B}"/>
              </a:ext>
            </a:extLst>
          </p:cNvPr>
          <p:cNvSpPr>
            <a:spLocks noChangeAspect="1"/>
          </p:cNvSpPr>
          <p:nvPr/>
        </p:nvSpPr>
        <p:spPr>
          <a:xfrm>
            <a:off x="966210" y="5892077"/>
            <a:ext cx="91440"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sp>
        <p:nvSpPr>
          <p:cNvPr id="14" name="Rounded Rectangle 13">
            <a:extLst>
              <a:ext uri="{FF2B5EF4-FFF2-40B4-BE49-F238E27FC236}">
                <a16:creationId xmlns:a16="http://schemas.microsoft.com/office/drawing/2014/main" id="{017EB203-3DE5-97DD-075C-0B587EC23CA8}"/>
              </a:ext>
            </a:extLst>
          </p:cNvPr>
          <p:cNvSpPr>
            <a:spLocks noChangeAspect="1"/>
          </p:cNvSpPr>
          <p:nvPr/>
        </p:nvSpPr>
        <p:spPr>
          <a:xfrm>
            <a:off x="1126080" y="5892077"/>
            <a:ext cx="91440" cy="91440"/>
          </a:xfrm>
          <a:prstGeom prst="roundRect">
            <a:avLst/>
          </a:prstGeom>
          <a:solidFill>
            <a:srgbClr val="F8DCD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sp>
        <p:nvSpPr>
          <p:cNvPr id="15" name="Rounded Rectangle 14">
            <a:extLst>
              <a:ext uri="{FF2B5EF4-FFF2-40B4-BE49-F238E27FC236}">
                <a16:creationId xmlns:a16="http://schemas.microsoft.com/office/drawing/2014/main" id="{CDC54916-F833-9417-0E3F-376D5F92F098}"/>
              </a:ext>
            </a:extLst>
          </p:cNvPr>
          <p:cNvSpPr>
            <a:spLocks noChangeAspect="1"/>
          </p:cNvSpPr>
          <p:nvPr/>
        </p:nvSpPr>
        <p:spPr>
          <a:xfrm>
            <a:off x="1285950" y="5892077"/>
            <a:ext cx="91440" cy="91440"/>
          </a:xfrm>
          <a:prstGeom prst="roundRect">
            <a:avLst/>
          </a:prstGeom>
          <a:solidFill>
            <a:srgbClr val="F7F9F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sp>
        <p:nvSpPr>
          <p:cNvPr id="16" name="Rounded Rectangle 15">
            <a:extLst>
              <a:ext uri="{FF2B5EF4-FFF2-40B4-BE49-F238E27FC236}">
                <a16:creationId xmlns:a16="http://schemas.microsoft.com/office/drawing/2014/main" id="{5B2403CD-7F96-B10B-C967-0067917FCE2C}"/>
              </a:ext>
            </a:extLst>
          </p:cNvPr>
          <p:cNvSpPr>
            <a:spLocks noChangeAspect="1"/>
          </p:cNvSpPr>
          <p:nvPr/>
        </p:nvSpPr>
        <p:spPr>
          <a:xfrm>
            <a:off x="1445820" y="5892077"/>
            <a:ext cx="91440" cy="91440"/>
          </a:xfrm>
          <a:prstGeom prst="roundRect">
            <a:avLst/>
          </a:prstGeom>
          <a:solidFill>
            <a:srgbClr val="D4EFD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sp>
        <p:nvSpPr>
          <p:cNvPr id="17" name="Rounded Rectangle 16">
            <a:extLst>
              <a:ext uri="{FF2B5EF4-FFF2-40B4-BE49-F238E27FC236}">
                <a16:creationId xmlns:a16="http://schemas.microsoft.com/office/drawing/2014/main" id="{1AC43A55-E9EE-0CF2-1BEE-A73AE19E5A7B}"/>
              </a:ext>
            </a:extLst>
          </p:cNvPr>
          <p:cNvSpPr>
            <a:spLocks noChangeAspect="1"/>
          </p:cNvSpPr>
          <p:nvPr/>
        </p:nvSpPr>
        <p:spPr>
          <a:xfrm>
            <a:off x="1605690" y="5892077"/>
            <a:ext cx="91440"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pic>
        <p:nvPicPr>
          <p:cNvPr id="3" name="Graphic 2">
            <a:extLst>
              <a:ext uri="{FF2B5EF4-FFF2-40B4-BE49-F238E27FC236}">
                <a16:creationId xmlns:a16="http://schemas.microsoft.com/office/drawing/2014/main" id="{612D1771-D0CC-C082-F03C-E4AF23AD0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35" name="Content Placeholder 2">
            <a:extLst>
              <a:ext uri="{FF2B5EF4-FFF2-40B4-BE49-F238E27FC236}">
                <a16:creationId xmlns:a16="http://schemas.microsoft.com/office/drawing/2014/main" id="{4E2A0B08-A1F1-2331-6663-DCAE2EB4D3E6}"/>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GB" sz="1550" noProof="0" dirty="0"/>
              <a:t>Overall, there has been a decrease in test code ratio for the portfolio (-0.9%).</a:t>
            </a:r>
            <a:endParaRPr lang="en-GB" sz="1550" noProof="0" dirty="0"/>
          </a:p>
          <a:p>
            <a:pPr indent="-283845"/>
            <a:r>
              <a:rPr lang="en-GB" sz="1550" dirty="0"/>
              <a:t>8% of systems have seen an increase in test code ratio while 12% of systems have seen a decrease. </a:t>
            </a:r>
          </a:p>
          <a:p>
            <a:pPr indent="-283845"/>
            <a:r>
              <a:rPr lang="en-GB" sz="1550" dirty="0"/>
              <a:t>The largest increase in test code ratio was experienced by zuul (+1.8%). The largest decrease in test code ratio was experienced by jruby (-23.4%).</a:t>
            </a:r>
            <a:endParaRPr lang="en-GB" sz="1550" dirty="0">
              <a:ea typeface="Calibri"/>
              <a:cs typeface="Calibri"/>
            </a:endParaRPr>
          </a:p>
        </p:txBody>
      </p:sp>
      <p:pic>
        <p:nvPicPr>
          <p:cNvPr id="40" name="Picture 39" descr="image.png"/>
          <p:cNvPicPr>
            <a:picLocks noChangeAspect="1"/>
          </p:cNvPicPr>
          <p:nvPr/>
        </p:nvPicPr>
        <p:blipFill>
          <a:blip r:embed="rId4"/>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3078519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603A22-6C87-6123-7889-47059E7B5158}"/>
              </a:ext>
            </a:extLst>
          </p:cNvPr>
          <p:cNvSpPr>
            <a:spLocks noGrp="1"/>
          </p:cNvSpPr>
          <p:nvPr>
            <p:ph type="body" sz="quarter" idx="12"/>
          </p:nvPr>
        </p:nvSpPr>
        <p:spPr>
          <a:xfrm>
            <a:off x="381600" y="129568"/>
            <a:ext cx="2759263" cy="228209"/>
          </a:xfrm>
        </p:spPr>
        <p:txBody>
          <a:bodyPr/>
          <a:lstStyle/>
          <a:p>
            <a:r>
              <a:rPr lang="en-GB" dirty="0"/>
              <a:t>Portfolio trends – Architecture</a:t>
            </a:r>
          </a:p>
        </p:txBody>
      </p:sp>
      <p:sp>
        <p:nvSpPr>
          <p:cNvPr id="4" name="Footer Placeholder 3">
            <a:extLst>
              <a:ext uri="{FF2B5EF4-FFF2-40B4-BE49-F238E27FC236}">
                <a16:creationId xmlns:a16="http://schemas.microsoft.com/office/drawing/2014/main" id="{30EA4971-6A99-29AF-1BC3-87E1EAC3B19E}"/>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161BB1EC-B729-EEEB-51CD-99A133FF216E}"/>
              </a:ext>
            </a:extLst>
          </p:cNvPr>
          <p:cNvSpPr>
            <a:spLocks noGrp="1"/>
          </p:cNvSpPr>
          <p:nvPr>
            <p:ph type="sldNum" sz="quarter" idx="15"/>
          </p:nvPr>
        </p:nvSpPr>
        <p:spPr/>
        <p:txBody>
          <a:bodyPr/>
          <a:lstStyle/>
          <a:p>
            <a:fld id="{E242BD21-9B61-2246-BCB1-4BE5E1BEBE1C}" type="slidenum">
              <a:rPr lang="en-GB" smtClean="0"/>
              <a:pPr/>
              <a:t>30</a:t>
            </a:fld>
            <a:endParaRPr lang="en-GB" dirty="0"/>
          </a:p>
        </p:txBody>
      </p:sp>
      <p:sp>
        <p:nvSpPr>
          <p:cNvPr id="6" name="Title 5">
            <a:extLst>
              <a:ext uri="{FF2B5EF4-FFF2-40B4-BE49-F238E27FC236}">
                <a16:creationId xmlns:a16="http://schemas.microsoft.com/office/drawing/2014/main" id="{43CDDECE-07F9-831D-887E-96F18B22268F}"/>
              </a:ext>
            </a:extLst>
          </p:cNvPr>
          <p:cNvSpPr>
            <a:spLocks noGrp="1"/>
          </p:cNvSpPr>
          <p:nvPr>
            <p:ph type="title"/>
          </p:nvPr>
        </p:nvSpPr>
        <p:spPr>
          <a:xfrm>
            <a:off x="154800" y="440112"/>
            <a:ext cx="11880000" cy="710067"/>
          </a:xfrm>
        </p:spPr>
        <p:txBody>
          <a:bodyPr/>
          <a:lstStyle/>
          <a:p>
            <a:r>
              <a:rPr lang="en-GB" dirty="0"/>
              <a:t>Architecture ratings of the portfolio between 2026-02-12 and 2026-03-12</a:t>
            </a:r>
          </a:p>
        </p:txBody>
      </p:sp>
      <p:pic>
        <p:nvPicPr>
          <p:cNvPr id="3" name="Graphic 2">
            <a:extLst>
              <a:ext uri="{FF2B5EF4-FFF2-40B4-BE49-F238E27FC236}">
                <a16:creationId xmlns:a16="http://schemas.microsoft.com/office/drawing/2014/main" id="{7D60EA92-5FAE-DB20-C878-9397C39C845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F22578C5-779F-2DE7-941C-EA21148CF77F}"/>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BCA2F3EE-ED58-8890-B4BF-4E9E9399E1CC}"/>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D7D72A90-1A63-5E0F-8B76-76CF390D2210}"/>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6617A234-0C3B-1517-E133-7B2E2BCA1FAD}"/>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F2C97830-5D0A-7C61-5790-8AE0D6258402}"/>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B61F050E-BC5D-A674-AE97-CDA4545FA315}"/>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84B1977E-A39B-88F7-3A2F-1EB3EBC876F7}"/>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64A3F2BC-D11A-47C0-2D59-EDE88F571DA8}"/>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53250C71-B11A-F676-5B3D-04096307F859}"/>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49EF1191-C257-976C-29AA-F1DA1D22A946}"/>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FDA318A0-FABA-EB5B-A4DE-ADB204F5D0F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3F9D8162-537B-F3FD-4C5A-B95C9B9B31F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6550F1B-DABE-4321-E085-10DEBDFB3F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8782E435-697F-C57C-1530-5C1E6B98227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1EE8F693-BD9E-2048-F83B-CAC471F85DB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F93E0B17-8795-E431-6602-6FD9737C9271}"/>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2718E80B-E45D-BD72-6536-AB0C481281BD}"/>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Architecture Quality rating for the portfolio is 2.9</a:t>
            </a:r>
            <a:r>
              <a:rPr lang="en-US" sz="100" dirty="0"/>
              <a:t> </a:t>
            </a:r>
            <a:r>
              <a:rPr lang="en-US" dirty="0"/>
              <a:t>★.</a:t>
            </a:r>
          </a:p>
          <a:p>
            <a:pPr indent="-283845"/>
            <a:r>
              <a:rPr lang="en-US" dirty="0"/>
              <a:t>55% of systems score above market average for Architecture Quality (≥3.5★).</a:t>
            </a:r>
          </a:p>
          <a:p>
            <a:pPr indent="-283845"/>
            <a:r>
              <a:rPr lang="en-US" dirty="0"/>
              <a:t>26% of systems score market average for Architecture Quality (3★).</a:t>
            </a:r>
          </a:p>
          <a:p>
            <a:pPr indent="-283845"/>
            <a:r>
              <a:rPr lang="en-US" dirty="0"/>
              <a:t>19% of systems score below market average for Architecture Quality (≤2.5★).</a:t>
            </a:r>
          </a:p>
        </p:txBody>
      </p:sp>
      <p:pic>
        <p:nvPicPr>
          <p:cNvPr id="45" name="Picture 44" descr="image.png"/>
          <p:cNvPicPr>
            <a:picLocks noChangeAspect="1"/>
          </p:cNvPicPr>
          <p:nvPr/>
        </p:nvPicPr>
        <p:blipFill>
          <a:blip r:embed="rId4"/>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14838696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B07B4F-D7B8-1CEF-56A5-C9C18FBFD145}"/>
              </a:ext>
            </a:extLst>
          </p:cNvPr>
          <p:cNvSpPr>
            <a:spLocks noGrp="1"/>
          </p:cNvSpPr>
          <p:nvPr>
            <p:ph type="body" sz="quarter" idx="12"/>
          </p:nvPr>
        </p:nvSpPr>
        <p:spPr>
          <a:xfrm>
            <a:off x="381600" y="129568"/>
            <a:ext cx="3265171" cy="228209"/>
          </a:xfrm>
        </p:spPr>
        <p:txBody>
          <a:bodyPr/>
          <a:lstStyle/>
          <a:p>
            <a:r>
              <a:rPr lang="en-GB" dirty="0"/>
              <a:t>Portfolio trends – Open-Source Health</a:t>
            </a:r>
          </a:p>
        </p:txBody>
      </p:sp>
      <p:sp>
        <p:nvSpPr>
          <p:cNvPr id="4" name="Footer Placeholder 3">
            <a:extLst>
              <a:ext uri="{FF2B5EF4-FFF2-40B4-BE49-F238E27FC236}">
                <a16:creationId xmlns:a16="http://schemas.microsoft.com/office/drawing/2014/main" id="{6C7F3D46-14AA-5186-5BE6-A857453EEA4E}"/>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B6546EA6-114E-BE00-9088-0FF2F348135B}"/>
              </a:ext>
            </a:extLst>
          </p:cNvPr>
          <p:cNvSpPr>
            <a:spLocks noGrp="1"/>
          </p:cNvSpPr>
          <p:nvPr>
            <p:ph type="sldNum" sz="quarter" idx="15"/>
          </p:nvPr>
        </p:nvSpPr>
        <p:spPr/>
        <p:txBody>
          <a:bodyPr/>
          <a:lstStyle/>
          <a:p>
            <a:fld id="{E242BD21-9B61-2246-BCB1-4BE5E1BEBE1C}" type="slidenum">
              <a:rPr lang="en-GB" smtClean="0"/>
              <a:pPr/>
              <a:t>31</a:t>
            </a:fld>
            <a:endParaRPr lang="en-GB" dirty="0"/>
          </a:p>
        </p:txBody>
      </p:sp>
      <p:sp>
        <p:nvSpPr>
          <p:cNvPr id="6" name="Title 5">
            <a:extLst>
              <a:ext uri="{FF2B5EF4-FFF2-40B4-BE49-F238E27FC236}">
                <a16:creationId xmlns:a16="http://schemas.microsoft.com/office/drawing/2014/main" id="{3DDFBC53-E0F3-50EC-6D67-B2815BC99A86}"/>
              </a:ext>
            </a:extLst>
          </p:cNvPr>
          <p:cNvSpPr>
            <a:spLocks noGrp="1"/>
          </p:cNvSpPr>
          <p:nvPr>
            <p:ph type="title"/>
          </p:nvPr>
        </p:nvSpPr>
        <p:spPr>
          <a:xfrm>
            <a:off x="154800" y="440112"/>
            <a:ext cx="11880000" cy="710067"/>
          </a:xfrm>
        </p:spPr>
        <p:txBody>
          <a:bodyPr/>
          <a:lstStyle/>
          <a:p>
            <a:r>
              <a:rPr lang="en-GB" dirty="0"/>
              <a:t>Open-source health ratings of the portfolio between 2026-02-12 and 2026-03-12</a:t>
            </a:r>
          </a:p>
        </p:txBody>
      </p:sp>
      <p:pic>
        <p:nvPicPr>
          <p:cNvPr id="3" name="Graphic 2">
            <a:extLst>
              <a:ext uri="{FF2B5EF4-FFF2-40B4-BE49-F238E27FC236}">
                <a16:creationId xmlns:a16="http://schemas.microsoft.com/office/drawing/2014/main" id="{6053C8FF-A309-9635-AB10-3E7965715D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15E0572C-1734-61F0-856F-5E79E547DCB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D988E0B2-1D87-C999-BC6A-C9E400EA29C4}"/>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2C7A6F15-7EE4-41DA-71F3-F8B932ABCB9E}"/>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C5FB1D3-CA1E-3CEF-9DCB-A533BD67512F}"/>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678352C9-05CD-024F-9FC8-A43B06C5296F}"/>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D80ACC94-4A3B-E4A2-C515-92A1B0B85607}"/>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5BAC351A-6A3D-8EE7-3400-48AC200F046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103C1BE7-DC33-05D7-A88F-E4549430313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15258E72-CF1A-4DFE-52F3-DB2B89080DF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73B613B1-191F-17CB-8B90-A1C172B0B5E9}"/>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86C7A952-D4BD-C5BE-3ECD-80D0236B6DC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CE346C1E-F337-E3F0-51BC-42C15701A9F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0E88F2D9-0594-B652-C0EB-2B82B013E371}"/>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6FD99AA7-4DE9-A06B-FABC-D5259DB272D8}"/>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E3791E94-0AAD-9D1A-14E0-882C135761E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3CB886B0-18FD-211D-FAB5-01B5BE753299}"/>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E223A60-5DA4-23C2-35E1-41CA53903EBF}"/>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Open Source Health rating for the portfolio is 2.8</a:t>
            </a:r>
            <a:r>
              <a:rPr lang="en-US" sz="100" dirty="0"/>
              <a:t> </a:t>
            </a:r>
            <a:r>
              <a:rPr lang="en-US" dirty="0"/>
              <a:t>★.</a:t>
            </a:r>
          </a:p>
          <a:p>
            <a:pPr indent="-283845"/>
            <a:r>
              <a:rPr lang="en-GB" dirty="0"/>
              <a:t>40% of systems score above market average for Open Source Health (≥3.5★).</a:t>
            </a:r>
          </a:p>
          <a:p>
            <a:pPr indent="-283845"/>
            <a:r>
              <a:rPr lang="en-US" dirty="0"/>
              <a:t>35% of systems score market average for Open Source Health (3★).</a:t>
            </a:r>
          </a:p>
          <a:p>
            <a:pPr indent="-283845"/>
            <a:r>
              <a:rPr lang="en-US" dirty="0"/>
              <a:t>25% of systems score below market average for Open Source Health (≤2.5★).</a:t>
            </a:r>
          </a:p>
        </p:txBody>
      </p:sp>
      <p:pic>
        <p:nvPicPr>
          <p:cNvPr id="44" name="Picture 43" descr="image.png"/>
          <p:cNvPicPr>
            <a:picLocks noChangeAspect="1"/>
          </p:cNvPicPr>
          <p:nvPr/>
        </p:nvPicPr>
        <p:blipFill>
          <a:blip r:embed="rId5"/>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7454016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096000" y="1421846"/>
            <a:ext cx="5938800" cy="4896154"/>
          </a:xfrm>
        </p:spPr>
        <p:txBody>
          <a:bodyPr/>
          <a:lstStyle/>
          <a:p>
            <a:r>
              <a:rPr lang="en-US" dirty="0"/>
              <a:t>7% of dependencies (489 in total) used in the system contain one or more known vulnerabilities.</a:t>
            </a:r>
          </a:p>
          <a:p>
            <a:r>
              <a:rPr lang="en-US" dirty="0"/>
              <a:t>1% of dependencies (41 in total) uses a potentially restrictive open-source license (e.g. GPL/AGPL).</a:t>
            </a:r>
          </a:p>
          <a:p>
            <a:r>
              <a:rPr lang="en-US" dirty="0"/>
              <a:t>35% of dependencies (2508 in total) used in the system have not been updated for over 2 years.</a:t>
            </a:r>
          </a:p>
          <a:p>
            <a:r>
              <a:rPr lang="en-US" dirty="0"/>
              <a:t>10% of dependencies (736 in total) does not use a package manager but is placed in the codebase directly.</a:t>
            </a: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a:xfrm>
            <a:off x="440738" y="1894014"/>
            <a:ext cx="835106" cy="265112"/>
          </a:xfrm>
        </p:spPr>
        <p:txBody>
          <a:bodyPr>
            <a:noAutofit/>
          </a:bodyPr>
          <a:lstStyle/>
          <a:p>
            <a:r>
              <a:rPr lang="en-US" b="0" dirty="0"/>
              <a:t>7083</a:t>
            </a:r>
          </a:p>
        </p:txBody>
      </p:sp>
      <p:sp>
        <p:nvSpPr>
          <p:cNvPr id="21" name="Tijdelijke aanduiding voor tekst 20">
            <a:extLst>
              <a:ext uri="{FF2B5EF4-FFF2-40B4-BE49-F238E27FC236}">
                <a16:creationId xmlns:a16="http://schemas.microsoft.com/office/drawing/2014/main" id="{6B434B96-A0F4-D550-9948-4935A3A3032E}"/>
              </a:ext>
            </a:extLst>
          </p:cNvPr>
          <p:cNvSpPr>
            <a:spLocks noGrp="1"/>
          </p:cNvSpPr>
          <p:nvPr>
            <p:ph type="body" sz="quarter" idx="15"/>
          </p:nvPr>
        </p:nvSpPr>
        <p:spPr/>
        <p:txBody>
          <a:bodyPr>
            <a:noAutofit/>
          </a:bodyPr>
          <a:lstStyle/>
          <a:p>
            <a:r>
              <a:rPr lang="en-US" b="0" dirty="0"/>
              <a:t>645</a:t>
            </a:r>
          </a:p>
        </p:txBody>
      </p:sp>
      <p:sp>
        <p:nvSpPr>
          <p:cNvPr id="22" name="Tijdelijke aanduiding voor tekst 21">
            <a:extLst>
              <a:ext uri="{FF2B5EF4-FFF2-40B4-BE49-F238E27FC236}">
                <a16:creationId xmlns:a16="http://schemas.microsoft.com/office/drawing/2014/main" id="{F2A786C1-12AB-2815-EA60-7CF5A856C37C}"/>
              </a:ext>
            </a:extLst>
          </p:cNvPr>
          <p:cNvSpPr>
            <a:spLocks noGrp="1"/>
          </p:cNvSpPr>
          <p:nvPr>
            <p:ph type="body" sz="quarter" idx="16"/>
          </p:nvPr>
        </p:nvSpPr>
        <p:spPr/>
        <p:txBody>
          <a:bodyPr>
            <a:noAutofit/>
          </a:bodyPr>
          <a:lstStyle/>
          <a:p>
            <a:r>
              <a:rPr lang="en-US" b="0" dirty="0"/>
              <a:t>1692</a:t>
            </a:r>
          </a:p>
        </p:txBody>
      </p:sp>
      <p:sp>
        <p:nvSpPr>
          <p:cNvPr id="23" name="Tijdelijke aanduiding voor tekst 22">
            <a:extLst>
              <a:ext uri="{FF2B5EF4-FFF2-40B4-BE49-F238E27FC236}">
                <a16:creationId xmlns:a16="http://schemas.microsoft.com/office/drawing/2014/main" id="{1815B1ED-FC37-06DC-642E-E962FAF8C953}"/>
              </a:ext>
            </a:extLst>
          </p:cNvPr>
          <p:cNvSpPr>
            <a:spLocks noGrp="1"/>
          </p:cNvSpPr>
          <p:nvPr>
            <p:ph type="body" sz="quarter" idx="17"/>
          </p:nvPr>
        </p:nvSpPr>
        <p:spPr/>
        <p:txBody>
          <a:bodyPr>
            <a:noAutofit/>
          </a:bodyPr>
          <a:lstStyle/>
          <a:p>
            <a:r>
              <a:rPr lang="en-US" b="0" dirty="0"/>
              <a:t>735</a:t>
            </a:r>
          </a:p>
        </p:txBody>
      </p:sp>
      <p:sp>
        <p:nvSpPr>
          <p:cNvPr id="24" name="Tijdelijke aanduiding voor tekst 23">
            <a:extLst>
              <a:ext uri="{FF2B5EF4-FFF2-40B4-BE49-F238E27FC236}">
                <a16:creationId xmlns:a16="http://schemas.microsoft.com/office/drawing/2014/main" id="{F9105C04-203F-52A9-B023-8BCB23ABA32A}"/>
              </a:ext>
            </a:extLst>
          </p:cNvPr>
          <p:cNvSpPr>
            <a:spLocks noGrp="1"/>
          </p:cNvSpPr>
          <p:nvPr>
            <p:ph type="body" sz="quarter" idx="18"/>
          </p:nvPr>
        </p:nvSpPr>
        <p:spPr/>
        <p:txBody>
          <a:bodyPr>
            <a:noAutofit/>
          </a:bodyPr>
          <a:lstStyle/>
          <a:p>
            <a:r>
              <a:rPr lang="en-US" b="0" dirty="0"/>
              <a:t>1918</a:t>
            </a:r>
          </a:p>
        </p:txBody>
      </p:sp>
      <p:sp>
        <p:nvSpPr>
          <p:cNvPr id="25" name="Tijdelijke aanduiding voor tekst 24">
            <a:extLst>
              <a:ext uri="{FF2B5EF4-FFF2-40B4-BE49-F238E27FC236}">
                <a16:creationId xmlns:a16="http://schemas.microsoft.com/office/drawing/2014/main" id="{CCA1B4DB-A80E-D27A-4D97-18B15B411B01}"/>
              </a:ext>
            </a:extLst>
          </p:cNvPr>
          <p:cNvSpPr>
            <a:spLocks noGrp="1"/>
          </p:cNvSpPr>
          <p:nvPr>
            <p:ph type="body" sz="quarter" idx="19"/>
          </p:nvPr>
        </p:nvSpPr>
        <p:spPr/>
        <p:txBody>
          <a:bodyPr>
            <a:noAutofit/>
          </a:bodyPr>
          <a:lstStyle/>
          <a:p>
            <a:r>
              <a:rPr lang="en-US" b="0" dirty="0"/>
              <a:t>1449</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p:txBody>
          <a:bodyPr/>
          <a:lstStyle/>
          <a:p>
            <a:r>
              <a:rPr lang="en-US" dirty="0"/>
              <a:t>Overall Open Source Health Library Risks Overview</a:t>
            </a:r>
          </a:p>
        </p:txBody>
      </p:sp>
      <p:sp>
        <p:nvSpPr>
          <p:cNvPr id="10" name="Tijdelijke aanduiding voor voettekst 9">
            <a:extLst>
              <a:ext uri="{FF2B5EF4-FFF2-40B4-BE49-F238E27FC236}">
                <a16:creationId xmlns:a16="http://schemas.microsoft.com/office/drawing/2014/main" id="{85CC0D40-EB66-D793-CEA6-7AF5F045B2BE}"/>
              </a:ext>
            </a:extLst>
          </p:cNvPr>
          <p:cNvSpPr>
            <a:spLocks noGrp="1"/>
          </p:cNvSpPr>
          <p:nvPr>
            <p:ph type="ftr" sz="quarter" idx="20"/>
          </p:nvPr>
        </p:nvSpPr>
        <p:spPr>
          <a:xfrm>
            <a:off x="849600" y="6462000"/>
            <a:ext cx="1085851" cy="231923"/>
          </a:xfrm>
        </p:spPr>
        <p:txBody>
          <a:bodyPr/>
          <a:lstStyle/>
          <a:p>
            <a:r>
              <a:rPr lang="nl-NL"/>
              <a:t>Confidential</a:t>
            </a:r>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21"/>
          </p:nvPr>
        </p:nvSpPr>
        <p:spPr>
          <a:xfrm>
            <a:off x="11407367" y="6469694"/>
            <a:ext cx="627434" cy="231923"/>
          </a:xfrm>
        </p:spPr>
        <p:txBody>
          <a:bodyPr/>
          <a:lstStyle/>
          <a:p>
            <a:fld id="{E242BD21-9B61-2246-BCB1-4BE5E1BEBE1C}" type="slidenum">
              <a:rPr lang="nl-NL" smtClean="0"/>
              <a:pPr/>
              <a:t>32</a:t>
            </a:fld>
            <a:endParaRPr lang="nl-NL"/>
          </a:p>
        </p:txBody>
      </p:sp>
      <p:sp>
        <p:nvSpPr>
          <p:cNvPr id="19" name="Tijdelijke aanduiding voor tekst 18">
            <a:extLst>
              <a:ext uri="{FF2B5EF4-FFF2-40B4-BE49-F238E27FC236}">
                <a16:creationId xmlns:a16="http://schemas.microsoft.com/office/drawing/2014/main" id="{EA846D4E-DBA5-CFC4-BD38-6CC5C41F55F6}"/>
              </a:ext>
            </a:extLst>
          </p:cNvPr>
          <p:cNvSpPr>
            <a:spLocks noGrp="1"/>
          </p:cNvSpPr>
          <p:nvPr>
            <p:ph type="body" sz="quarter" idx="12"/>
          </p:nvPr>
        </p:nvSpPr>
        <p:spPr>
          <a:xfrm>
            <a:off x="381600" y="129600"/>
            <a:ext cx="2927899" cy="228145"/>
          </a:xfrm>
        </p:spPr>
        <p:txBody>
          <a:bodyPr/>
          <a:lstStyle/>
          <a:p>
            <a:r>
              <a:rPr lang="en-GB" dirty="0"/>
              <a:t>Key findings – Open Source and IP</a:t>
            </a:r>
          </a:p>
        </p:txBody>
      </p:sp>
      <p:graphicFrame>
        <p:nvGraphicFramePr>
          <p:cNvPr id="2" name="OSH_PORTFOLIO_OTHER_RISKS_GRAPH">
            <a:extLst>
              <a:ext uri="{FF2B5EF4-FFF2-40B4-BE49-F238E27FC236}">
                <a16:creationId xmlns:a16="http://schemas.microsoft.com/office/drawing/2014/main" id="{4C5859CA-0A2B-2CD5-4201-90743823171C}"/>
              </a:ext>
            </a:extLst>
          </p:cNvPr>
          <p:cNvGraphicFramePr>
            <a:graphicFrameLocks/>
          </p:cNvGraphicFramePr>
          <p:nvPr>
            <p:extLst>
              <p:ext uri="{D42A27DB-BD31-4B8C-83A1-F6EECF244321}">
                <p14:modId xmlns:p14="http://schemas.microsoft.com/office/powerpoint/2010/main" val="3113050122"/>
              </p:ext>
            </p:extLst>
          </p:nvPr>
        </p:nvGraphicFramePr>
        <p:xfrm>
          <a:off x="2855399" y="3688194"/>
          <a:ext cx="3240000" cy="25207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OSH_PORTFOLIO_VULN_LEGAL_GRAPH">
            <a:extLst>
              <a:ext uri="{FF2B5EF4-FFF2-40B4-BE49-F238E27FC236}">
                <a16:creationId xmlns:a16="http://schemas.microsoft.com/office/drawing/2014/main" id="{A2E74F15-1B72-6504-9282-2CD2017740C3}"/>
              </a:ext>
            </a:extLst>
          </p:cNvPr>
          <p:cNvGraphicFramePr>
            <a:graphicFrameLocks/>
          </p:cNvGraphicFramePr>
          <p:nvPr>
            <p:extLst>
              <p:ext uri="{D42A27DB-BD31-4B8C-83A1-F6EECF244321}">
                <p14:modId xmlns:p14="http://schemas.microsoft.com/office/powerpoint/2010/main" val="3028423153"/>
              </p:ext>
            </p:extLst>
          </p:nvPr>
        </p:nvGraphicFramePr>
        <p:xfrm>
          <a:off x="2855399" y="2891471"/>
          <a:ext cx="3240000" cy="129844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811049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87597F-0CE6-6979-6D59-2CC306D18F3A}"/>
              </a:ext>
            </a:extLst>
          </p:cNvPr>
          <p:cNvSpPr>
            <a:spLocks noGrp="1"/>
          </p:cNvSpPr>
          <p:nvPr>
            <p:ph type="body" sz="quarter" idx="12"/>
          </p:nvPr>
        </p:nvSpPr>
        <p:spPr>
          <a:xfrm>
            <a:off x="381600" y="129568"/>
            <a:ext cx="2421992" cy="228209"/>
          </a:xfrm>
        </p:spPr>
        <p:txBody>
          <a:bodyPr/>
          <a:lstStyle/>
          <a:p>
            <a:r>
              <a:rPr lang="en-GB" dirty="0"/>
              <a:t>Portfolio trends – Security</a:t>
            </a:r>
          </a:p>
        </p:txBody>
      </p:sp>
      <p:sp>
        <p:nvSpPr>
          <p:cNvPr id="4" name="Footer Placeholder 3">
            <a:extLst>
              <a:ext uri="{FF2B5EF4-FFF2-40B4-BE49-F238E27FC236}">
                <a16:creationId xmlns:a16="http://schemas.microsoft.com/office/drawing/2014/main" id="{1814A6CB-9C92-0C40-9DFC-ECCD40B4D270}"/>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9370E726-D390-617B-2837-17EF73C1835C}"/>
              </a:ext>
            </a:extLst>
          </p:cNvPr>
          <p:cNvSpPr>
            <a:spLocks noGrp="1"/>
          </p:cNvSpPr>
          <p:nvPr>
            <p:ph type="sldNum" sz="quarter" idx="15"/>
          </p:nvPr>
        </p:nvSpPr>
        <p:spPr/>
        <p:txBody>
          <a:bodyPr/>
          <a:lstStyle/>
          <a:p>
            <a:fld id="{E242BD21-9B61-2246-BCB1-4BE5E1BEBE1C}" type="slidenum">
              <a:rPr lang="en-GB" smtClean="0"/>
              <a:pPr/>
              <a:t>33</a:t>
            </a:fld>
            <a:endParaRPr lang="en-GB" dirty="0"/>
          </a:p>
        </p:txBody>
      </p:sp>
      <p:sp>
        <p:nvSpPr>
          <p:cNvPr id="6" name="Title 5">
            <a:extLst>
              <a:ext uri="{FF2B5EF4-FFF2-40B4-BE49-F238E27FC236}">
                <a16:creationId xmlns:a16="http://schemas.microsoft.com/office/drawing/2014/main" id="{BD1F92A6-63AF-66FE-4BB0-422116859425}"/>
              </a:ext>
            </a:extLst>
          </p:cNvPr>
          <p:cNvSpPr>
            <a:spLocks noGrp="1"/>
          </p:cNvSpPr>
          <p:nvPr>
            <p:ph type="title"/>
          </p:nvPr>
        </p:nvSpPr>
        <p:spPr>
          <a:xfrm>
            <a:off x="154800" y="440112"/>
            <a:ext cx="11880000" cy="710067"/>
          </a:xfrm>
        </p:spPr>
        <p:txBody>
          <a:bodyPr/>
          <a:lstStyle/>
          <a:p>
            <a:r>
              <a:rPr lang="en-GB" dirty="0"/>
              <a:t>Security ratings of the portfolio between 2026-02-12 and 2026-03-12</a:t>
            </a:r>
          </a:p>
        </p:txBody>
      </p:sp>
      <p:pic>
        <p:nvPicPr>
          <p:cNvPr id="3" name="Graphic 2">
            <a:extLst>
              <a:ext uri="{FF2B5EF4-FFF2-40B4-BE49-F238E27FC236}">
                <a16:creationId xmlns:a16="http://schemas.microsoft.com/office/drawing/2014/main" id="{DBD9D636-CC1F-D5EE-82E8-F5B67A683EC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4592C00B-839E-1F7C-C976-764E7FA89D08}"/>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38D13A58-DDFB-6E93-06B8-8F73093435CB}"/>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5B09D3E1-5818-A7F6-D907-77EE9F47DC8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5E576A0-5957-C060-F7D5-462BF27703EA}"/>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293ADAAD-3940-3E4F-EE06-CD1CDD98C4D0}"/>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C0782A8A-DA3D-0449-1C4B-FDA35D728C06}"/>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476C0325-7FCB-4C5A-F1B9-2AA83897F928}"/>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D5E9104F-A474-DEBF-B0B1-04438939F3F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29EE0DD2-01FA-7CE1-6138-8B452A78A603}"/>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50B3354E-3FA0-1D94-0ED5-6B55810CBCBB}"/>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B08FDA72-1D6A-069B-BA6F-C9555EA6EE09}"/>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9491AD94-EFFF-2C79-D5D8-7DF2D278614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7B8822E-BA13-A142-1266-C5077801284E}"/>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BB93157F-D848-9E05-25CB-0110AC5E4F8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5AF3218E-BE5D-1E5F-2E2F-80BD224CB1D1}"/>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BF1EC965-F313-A395-6AF8-C9756978DDDA}"/>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38D86B0-827F-9466-0A66-C9807390BBCB}"/>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Security rating for the portfolio is 2.3</a:t>
            </a:r>
            <a:r>
              <a:rPr lang="en-US" sz="100" dirty="0"/>
              <a:t> </a:t>
            </a:r>
            <a:r>
              <a:rPr lang="en-US" dirty="0"/>
              <a:t>★.</a:t>
            </a:r>
          </a:p>
          <a:p>
            <a:pPr indent="-283845"/>
            <a:r>
              <a:rPr lang="en-GB" dirty="0"/>
              <a:t>46% of systems score above market average for Security (≥3.5★).</a:t>
            </a:r>
          </a:p>
          <a:p>
            <a:pPr indent="-283845"/>
            <a:r>
              <a:rPr lang="en-US" dirty="0"/>
              <a:t>15% of systems score market average for Security (3★).</a:t>
            </a:r>
          </a:p>
          <a:p>
            <a:pPr indent="-283845"/>
            <a:r>
              <a:rPr lang="en-US" dirty="0"/>
              <a:t>40% of systems score below market average for Security(≤2.5★).</a:t>
            </a:r>
          </a:p>
        </p:txBody>
      </p:sp>
      <p:pic>
        <p:nvPicPr>
          <p:cNvPr id="45" name="Picture 44" descr="image.png"/>
          <p:cNvPicPr>
            <a:picLocks noChangeAspect="1"/>
          </p:cNvPicPr>
          <p:nvPr/>
        </p:nvPicPr>
        <p:blipFill>
          <a:blip r:embed="rId4"/>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4092530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A976C-A43A-62DF-8A14-555177D4256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888C01D-33FF-CD9A-A477-2806EB6B1CA4}"/>
              </a:ext>
            </a:extLst>
          </p:cNvPr>
          <p:cNvSpPr>
            <a:spLocks noGrp="1"/>
          </p:cNvSpPr>
          <p:nvPr>
            <p:ph type="body" sz="quarter" idx="12"/>
          </p:nvPr>
        </p:nvSpPr>
        <p:spPr>
          <a:xfrm>
            <a:off x="381600" y="129600"/>
            <a:ext cx="3855396" cy="228145"/>
          </a:xfrm>
        </p:spPr>
        <p:txBody>
          <a:bodyPr/>
          <a:lstStyle/>
          <a:p>
            <a:r>
              <a:rPr lang="en-GB" dirty="0"/>
              <a:t>Portfolio trends – Security – Findings trend</a:t>
            </a:r>
          </a:p>
        </p:txBody>
      </p:sp>
      <p:sp>
        <p:nvSpPr>
          <p:cNvPr id="4" name="Footer Placeholder 3">
            <a:extLst>
              <a:ext uri="{FF2B5EF4-FFF2-40B4-BE49-F238E27FC236}">
                <a16:creationId xmlns:a16="http://schemas.microsoft.com/office/drawing/2014/main" id="{97301C0D-0321-1290-3EFE-1E641277D76D}"/>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9FD9CBBF-57FB-ABB3-9835-20A2F9691DC9}"/>
              </a:ext>
            </a:extLst>
          </p:cNvPr>
          <p:cNvSpPr>
            <a:spLocks noGrp="1"/>
          </p:cNvSpPr>
          <p:nvPr>
            <p:ph type="sldNum" sz="quarter" idx="15"/>
          </p:nvPr>
        </p:nvSpPr>
        <p:spPr/>
        <p:txBody>
          <a:bodyPr/>
          <a:lstStyle/>
          <a:p>
            <a:fld id="{E242BD21-9B61-2246-BCB1-4BE5E1BEBE1C}" type="slidenum">
              <a:rPr lang="en-GB" smtClean="0"/>
              <a:pPr/>
              <a:t>34</a:t>
            </a:fld>
            <a:endParaRPr lang="en-GB" dirty="0"/>
          </a:p>
        </p:txBody>
      </p:sp>
      <p:sp>
        <p:nvSpPr>
          <p:cNvPr id="6" name="Title 5">
            <a:extLst>
              <a:ext uri="{FF2B5EF4-FFF2-40B4-BE49-F238E27FC236}">
                <a16:creationId xmlns:a16="http://schemas.microsoft.com/office/drawing/2014/main" id="{0BE6FAE6-87BA-B605-5E5B-FC841A95C515}"/>
              </a:ext>
            </a:extLst>
          </p:cNvPr>
          <p:cNvSpPr>
            <a:spLocks noGrp="1"/>
          </p:cNvSpPr>
          <p:nvPr>
            <p:ph type="title"/>
          </p:nvPr>
        </p:nvSpPr>
        <p:spPr/>
        <p:txBody>
          <a:bodyPr/>
          <a:lstStyle/>
          <a:p>
            <a:r>
              <a:rPr lang="en-GB" dirty="0"/>
              <a:t>Critical findings trends of the last 12 months (ending at 2025-12-31)</a:t>
            </a:r>
          </a:p>
        </p:txBody>
      </p:sp>
      <p:sp>
        <p:nvSpPr>
          <p:cNvPr id="9" name="Rounded Rectangle 8">
            <a:extLst>
              <a:ext uri="{FF2B5EF4-FFF2-40B4-BE49-F238E27FC236}">
                <a16:creationId xmlns:a16="http://schemas.microsoft.com/office/drawing/2014/main" id="{9132F2E1-B218-4956-6E9E-F625515C8382}"/>
              </a:ext>
            </a:extLst>
          </p:cNvPr>
          <p:cNvSpPr/>
          <p:nvPr/>
        </p:nvSpPr>
        <p:spPr>
          <a:xfrm flipH="1">
            <a:off x="861633" y="3390745"/>
            <a:ext cx="10468734" cy="2720123"/>
          </a:xfrm>
          <a:prstGeom prst="roundRect">
            <a:avLst>
              <a:gd name="adj" fmla="val 3988"/>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en-GB" sz="1200" b="1" noProof="0" dirty="0">
                <a:solidFill>
                  <a:srgbClr val="910714"/>
                </a:solidFill>
              </a:rPr>
              <a:t>Critical</a:t>
            </a:r>
          </a:p>
        </p:txBody>
      </p:sp>
      <p:sp>
        <p:nvSpPr>
          <p:cNvPr id="16" name="Content Placeholder 2">
            <a:extLst>
              <a:ext uri="{FF2B5EF4-FFF2-40B4-BE49-F238E27FC236}">
                <a16:creationId xmlns:a16="http://schemas.microsoft.com/office/drawing/2014/main" id="{E04CBEEE-0C86-D6F2-5A66-0F130C4B2075}"/>
              </a:ext>
            </a:extLst>
          </p:cNvPr>
          <p:cNvSpPr txBox="1">
            <a:spLocks/>
          </p:cNvSpPr>
          <p:nvPr/>
        </p:nvSpPr>
        <p:spPr>
          <a:xfrm>
            <a:off x="223094" y="1411288"/>
            <a:ext cx="11515250" cy="20177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GB" sz="1550" noProof="0" dirty="0"/>
              <a:t>Since 2025-01-01, 675 critical security findings have been resolved while 731 new critical findings were discovered. Overall, there has been an increase in critical security findings of 56.</a:t>
            </a:r>
          </a:p>
          <a:p>
            <a:pPr indent="-283845"/>
            <a:r>
              <a:rPr lang="en-GB" sz="1550" dirty="0"/>
              <a:t>Of the resolved critical findings, most were resolved in at least 30 days (518 findings). 37 findings were resolved within the recommended 7 days while 518 were resolved after 30 days or more. </a:t>
            </a:r>
          </a:p>
          <a:p>
            <a:pPr indent="-283845"/>
            <a:endParaRPr lang="en-GB" sz="1550" dirty="0">
              <a:ea typeface="Calibri"/>
              <a:cs typeface="Calibri"/>
            </a:endParaRPr>
          </a:p>
        </p:txBody>
      </p:sp>
      <p:sp>
        <p:nvSpPr>
          <p:cNvPr id="3" name="TextBox 2">
            <a:extLst>
              <a:ext uri="{FF2B5EF4-FFF2-40B4-BE49-F238E27FC236}">
                <a16:creationId xmlns:a16="http://schemas.microsoft.com/office/drawing/2014/main" id="{EEBBA603-4FBD-82C4-AF78-275C415604E9}"/>
              </a:ext>
            </a:extLst>
          </p:cNvPr>
          <p:cNvSpPr txBox="1"/>
          <p:nvPr/>
        </p:nvSpPr>
        <p:spPr>
          <a:xfrm>
            <a:off x="8376169" y="-369332"/>
            <a:ext cx="4236629" cy="369332"/>
          </a:xfrm>
          <a:prstGeom prst="rect">
            <a:avLst/>
          </a:prstGeom>
          <a:noFill/>
        </p:spPr>
        <p:txBody>
          <a:bodyPr wrap="none" lIns="90000" rtlCol="0" anchor="t">
            <a:spAutoFit/>
          </a:bodyPr>
          <a:lstStyle/>
          <a:p>
            <a:r>
              <a:rPr lang="en-US" dirty="0"/>
              <a:t>PORTFOLIO_SECURITY_FINDINGS_CRITICAL</a:t>
            </a:r>
          </a:p>
        </p:txBody>
      </p:sp>
      <p:graphicFrame>
        <p:nvGraphicFramePr>
          <p:cNvPr id="10" name="PORTFOLIO_SECURITY_FINDINGS_CRITICAL">
            <a:extLst>
              <a:ext uri="{FF2B5EF4-FFF2-40B4-BE49-F238E27FC236}">
                <a16:creationId xmlns:a16="http://schemas.microsoft.com/office/drawing/2014/main" id="{910F2E1C-D877-D2BA-B431-F9C4BA5850D7}"/>
              </a:ext>
            </a:extLst>
          </p:cNvPr>
          <p:cNvGraphicFramePr>
            <a:graphicFrameLocks/>
          </p:cNvGraphicFramePr>
          <p:nvPr>
            <p:extLst>
              <p:ext uri="{D42A27DB-BD31-4B8C-83A1-F6EECF244321}">
                <p14:modId xmlns:p14="http://schemas.microsoft.com/office/powerpoint/2010/main" val="1415211144"/>
              </p:ext>
            </p:extLst>
          </p:nvPr>
        </p:nvGraphicFramePr>
        <p:xfrm>
          <a:off x="1124437" y="3851133"/>
          <a:ext cx="5010978" cy="217736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PORTFOLIO_SECURITY_RESOLUTION_CRITICAL">
            <a:extLst>
              <a:ext uri="{FF2B5EF4-FFF2-40B4-BE49-F238E27FC236}">
                <a16:creationId xmlns:a16="http://schemas.microsoft.com/office/drawing/2014/main" id="{F4BA35FA-BE44-852A-B55F-63FF6EA3EB0D}"/>
              </a:ext>
            </a:extLst>
          </p:cNvPr>
          <p:cNvGraphicFramePr>
            <a:graphicFrameLocks/>
          </p:cNvGraphicFramePr>
          <p:nvPr>
            <p:extLst>
              <p:ext uri="{D42A27DB-BD31-4B8C-83A1-F6EECF244321}">
                <p14:modId xmlns:p14="http://schemas.microsoft.com/office/powerpoint/2010/main" val="149514578"/>
              </p:ext>
            </p:extLst>
          </p:nvPr>
        </p:nvGraphicFramePr>
        <p:xfrm>
          <a:off x="6235286" y="3713005"/>
          <a:ext cx="4832277" cy="231980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915783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54EF1-FCA0-2EC9-964E-45F3A94A27F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D8824E7-4E29-8181-B01C-EA895DB82F1E}"/>
              </a:ext>
            </a:extLst>
          </p:cNvPr>
          <p:cNvSpPr>
            <a:spLocks noGrp="1"/>
          </p:cNvSpPr>
          <p:nvPr>
            <p:ph type="body" sz="quarter" idx="12"/>
          </p:nvPr>
        </p:nvSpPr>
        <p:spPr>
          <a:xfrm>
            <a:off x="381600" y="129600"/>
            <a:ext cx="4024032" cy="228145"/>
          </a:xfrm>
        </p:spPr>
        <p:txBody>
          <a:bodyPr/>
          <a:lstStyle/>
          <a:p>
            <a:r>
              <a:rPr lang="en-GB" dirty="0"/>
              <a:t>Portfolio trends – Security – Resolution times</a:t>
            </a:r>
          </a:p>
        </p:txBody>
      </p:sp>
      <p:sp>
        <p:nvSpPr>
          <p:cNvPr id="4" name="Footer Placeholder 3">
            <a:extLst>
              <a:ext uri="{FF2B5EF4-FFF2-40B4-BE49-F238E27FC236}">
                <a16:creationId xmlns:a16="http://schemas.microsoft.com/office/drawing/2014/main" id="{0787DF3F-5BD8-9A33-2F26-1FFB63BA6D4B}"/>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F118AAA8-B191-8D33-A251-5BBAA5775EE7}"/>
              </a:ext>
            </a:extLst>
          </p:cNvPr>
          <p:cNvSpPr>
            <a:spLocks noGrp="1"/>
          </p:cNvSpPr>
          <p:nvPr>
            <p:ph type="sldNum" sz="quarter" idx="15"/>
          </p:nvPr>
        </p:nvSpPr>
        <p:spPr/>
        <p:txBody>
          <a:bodyPr/>
          <a:lstStyle/>
          <a:p>
            <a:fld id="{E242BD21-9B61-2246-BCB1-4BE5E1BEBE1C}" type="slidenum">
              <a:rPr lang="en-GB" smtClean="0"/>
              <a:pPr/>
              <a:t>35</a:t>
            </a:fld>
            <a:endParaRPr lang="en-GB" dirty="0"/>
          </a:p>
        </p:txBody>
      </p:sp>
      <p:sp>
        <p:nvSpPr>
          <p:cNvPr id="6" name="Title 5">
            <a:extLst>
              <a:ext uri="{FF2B5EF4-FFF2-40B4-BE49-F238E27FC236}">
                <a16:creationId xmlns:a16="http://schemas.microsoft.com/office/drawing/2014/main" id="{A9BDEC54-B88C-60B4-98B9-CFF0E70B460F}"/>
              </a:ext>
            </a:extLst>
          </p:cNvPr>
          <p:cNvSpPr>
            <a:spLocks noGrp="1"/>
          </p:cNvSpPr>
          <p:nvPr>
            <p:ph type="title"/>
          </p:nvPr>
        </p:nvSpPr>
        <p:spPr/>
        <p:txBody>
          <a:bodyPr/>
          <a:lstStyle/>
          <a:p>
            <a:r>
              <a:rPr lang="en-GB" dirty="0"/>
              <a:t>Security resolution times of the portfolio of the last 12 months (ending at 2026-03-12)</a:t>
            </a:r>
          </a:p>
        </p:txBody>
      </p:sp>
      <p:pic>
        <p:nvPicPr>
          <p:cNvPr id="8" name="Graphic 7">
            <a:extLst>
              <a:ext uri="{FF2B5EF4-FFF2-40B4-BE49-F238E27FC236}">
                <a16:creationId xmlns:a16="http://schemas.microsoft.com/office/drawing/2014/main" id="{E0BDBC96-6A0F-7FB2-73A9-7CD5A1E31F1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98373" y="5911956"/>
            <a:ext cx="371130" cy="206558"/>
          </a:xfrm>
          <a:prstGeom prst="rect">
            <a:avLst/>
          </a:prstGeom>
        </p:spPr>
      </p:pic>
      <p:sp>
        <p:nvSpPr>
          <p:cNvPr id="11" name="Rounded Rectangle 10">
            <a:extLst>
              <a:ext uri="{FF2B5EF4-FFF2-40B4-BE49-F238E27FC236}">
                <a16:creationId xmlns:a16="http://schemas.microsoft.com/office/drawing/2014/main" id="{76DD134A-FB98-733E-70B7-BE217A938451}"/>
              </a:ext>
            </a:extLst>
          </p:cNvPr>
          <p:cNvSpPr/>
          <p:nvPr/>
        </p:nvSpPr>
        <p:spPr>
          <a:xfrm flipH="1">
            <a:off x="5291526" y="1291984"/>
            <a:ext cx="6743271" cy="2480484"/>
          </a:xfrm>
          <a:prstGeom prst="roundRect">
            <a:avLst>
              <a:gd name="adj" fmla="val 3987"/>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en-GB" sz="1200" b="1" noProof="0" dirty="0">
                <a:solidFill>
                  <a:srgbClr val="DB4A3D"/>
                </a:solidFill>
              </a:rPr>
              <a:t>High</a:t>
            </a:r>
          </a:p>
        </p:txBody>
      </p:sp>
      <p:sp>
        <p:nvSpPr>
          <p:cNvPr id="16" name="Content Placeholder 2">
            <a:extLst>
              <a:ext uri="{FF2B5EF4-FFF2-40B4-BE49-F238E27FC236}">
                <a16:creationId xmlns:a16="http://schemas.microsoft.com/office/drawing/2014/main" id="{BB23C483-13CD-B3D6-B6B2-3C5716E15A2A}"/>
              </a:ext>
            </a:extLst>
          </p:cNvPr>
          <p:cNvSpPr txBox="1">
            <a:spLocks/>
          </p:cNvSpPr>
          <p:nvPr/>
        </p:nvSpPr>
        <p:spPr>
          <a:xfrm>
            <a:off x="223094" y="1411287"/>
            <a:ext cx="4881341" cy="4762713"/>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GB" sz="1550" dirty="0"/>
              <a:t>Since 2025-04-01, 979 high security findings have been resolved while 1530 new high findings were discovered. Overall, there has been an increase in high security findings of 551.</a:t>
            </a:r>
          </a:p>
          <a:p>
            <a:pPr indent="-283845"/>
            <a:r>
              <a:rPr lang="en-GB" sz="1550" dirty="0"/>
              <a:t>Of the resolved high findings, most were resolved in at least 180 days (944 findings). 6 findings were resolved within the recommended 14 days while 944 were resolved after 180 days or more. </a:t>
            </a:r>
          </a:p>
          <a:p>
            <a:pPr indent="-283845"/>
            <a:r>
              <a:rPr lang="en-GB" sz="1550" dirty="0"/>
              <a:t>370 medium security findings have been resolved while 1571 new medium findings were discovered. Overall, there has been an increase in medium security findings of 1201.</a:t>
            </a:r>
          </a:p>
          <a:p>
            <a:pPr indent="-283845"/>
            <a:r>
              <a:rPr lang="en-GB" sz="1550" dirty="0"/>
              <a:t>Of the resolved medium findings, most were resolved in at least 270 days (189 findings). 110 findings were resolved within the recommended 30 days while 189 were resolved after 270 days or more. </a:t>
            </a:r>
          </a:p>
          <a:p>
            <a:pPr indent="-283845"/>
            <a:endParaRPr lang="en-GB" sz="1550" dirty="0"/>
          </a:p>
          <a:p>
            <a:pPr indent="-283845"/>
            <a:endParaRPr lang="en-GB" sz="1550" dirty="0">
              <a:ea typeface="Calibri"/>
              <a:cs typeface="Calibri"/>
            </a:endParaRPr>
          </a:p>
        </p:txBody>
      </p:sp>
      <p:graphicFrame>
        <p:nvGraphicFramePr>
          <p:cNvPr id="18" name="PORTFOLIO_SECURITY_RESOLUTION_HIGH">
            <a:extLst>
              <a:ext uri="{FF2B5EF4-FFF2-40B4-BE49-F238E27FC236}">
                <a16:creationId xmlns:a16="http://schemas.microsoft.com/office/drawing/2014/main" id="{16E3CE9D-20C9-0E77-38B2-53E2D8CA626A}"/>
              </a:ext>
            </a:extLst>
          </p:cNvPr>
          <p:cNvGraphicFramePr>
            <a:graphicFrameLocks/>
          </p:cNvGraphicFramePr>
          <p:nvPr>
            <p:extLst>
              <p:ext uri="{D42A27DB-BD31-4B8C-83A1-F6EECF244321}">
                <p14:modId xmlns:p14="http://schemas.microsoft.com/office/powerpoint/2010/main" val="1608503948"/>
              </p:ext>
            </p:extLst>
          </p:nvPr>
        </p:nvGraphicFramePr>
        <p:xfrm>
          <a:off x="8730926" y="1514933"/>
          <a:ext cx="3178530" cy="230553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 name="PORTFOLIO_SECURITY_FINDINGS_HIGH">
            <a:extLst>
              <a:ext uri="{FF2B5EF4-FFF2-40B4-BE49-F238E27FC236}">
                <a16:creationId xmlns:a16="http://schemas.microsoft.com/office/drawing/2014/main" id="{75CB1C00-2C16-0486-C27D-31887DD0692A}"/>
              </a:ext>
            </a:extLst>
          </p:cNvPr>
          <p:cNvGraphicFramePr>
            <a:graphicFrameLocks/>
          </p:cNvGraphicFramePr>
          <p:nvPr>
            <p:extLst>
              <p:ext uri="{D42A27DB-BD31-4B8C-83A1-F6EECF244321}">
                <p14:modId xmlns:p14="http://schemas.microsoft.com/office/powerpoint/2010/main" val="2632665920"/>
              </p:ext>
            </p:extLst>
          </p:nvPr>
        </p:nvGraphicFramePr>
        <p:xfrm>
          <a:off x="5416871" y="1514933"/>
          <a:ext cx="3409356" cy="2305534"/>
        </p:xfrm>
        <a:graphic>
          <a:graphicData uri="http://schemas.openxmlformats.org/drawingml/2006/chart">
            <c:chart xmlns:c="http://schemas.openxmlformats.org/drawingml/2006/chart" xmlns:r="http://schemas.openxmlformats.org/officeDocument/2006/relationships" r:id="rId5"/>
          </a:graphicData>
        </a:graphic>
      </p:graphicFrame>
      <p:sp>
        <p:nvSpPr>
          <p:cNvPr id="21" name="Rounded Rectangle 20">
            <a:extLst>
              <a:ext uri="{FF2B5EF4-FFF2-40B4-BE49-F238E27FC236}">
                <a16:creationId xmlns:a16="http://schemas.microsoft.com/office/drawing/2014/main" id="{CA02A27D-5A11-E727-9003-68497845F5AF}"/>
              </a:ext>
            </a:extLst>
          </p:cNvPr>
          <p:cNvSpPr/>
          <p:nvPr/>
        </p:nvSpPr>
        <p:spPr>
          <a:xfrm flipH="1">
            <a:off x="5291526" y="3893212"/>
            <a:ext cx="6743271" cy="2480484"/>
          </a:xfrm>
          <a:prstGeom prst="roundRect">
            <a:avLst>
              <a:gd name="adj" fmla="val 3987"/>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en-GB" sz="1200" b="1" noProof="0" dirty="0">
                <a:solidFill>
                  <a:srgbClr val="E98C36"/>
                </a:solidFill>
              </a:rPr>
              <a:t>Medium</a:t>
            </a:r>
          </a:p>
        </p:txBody>
      </p:sp>
      <p:graphicFrame>
        <p:nvGraphicFramePr>
          <p:cNvPr id="22" name="PORTFOLIO_SECURITY_RESOLUTION_MEDIUM">
            <a:extLst>
              <a:ext uri="{FF2B5EF4-FFF2-40B4-BE49-F238E27FC236}">
                <a16:creationId xmlns:a16="http://schemas.microsoft.com/office/drawing/2014/main" id="{70983DB0-0BC7-2620-9F3E-685D6CFA6871}"/>
              </a:ext>
            </a:extLst>
          </p:cNvPr>
          <p:cNvGraphicFramePr>
            <a:graphicFrameLocks/>
          </p:cNvGraphicFramePr>
          <p:nvPr>
            <p:extLst>
              <p:ext uri="{D42A27DB-BD31-4B8C-83A1-F6EECF244321}">
                <p14:modId xmlns:p14="http://schemas.microsoft.com/office/powerpoint/2010/main" val="1462010762"/>
              </p:ext>
            </p:extLst>
          </p:nvPr>
        </p:nvGraphicFramePr>
        <p:xfrm>
          <a:off x="8730926" y="4116161"/>
          <a:ext cx="3178530" cy="230553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3" name="PORTFOLIO_SECURITY_FINDINGS_MEDIUM">
            <a:extLst>
              <a:ext uri="{FF2B5EF4-FFF2-40B4-BE49-F238E27FC236}">
                <a16:creationId xmlns:a16="http://schemas.microsoft.com/office/drawing/2014/main" id="{72CCB03F-448F-67B3-48DD-4998FE51B724}"/>
              </a:ext>
            </a:extLst>
          </p:cNvPr>
          <p:cNvGraphicFramePr>
            <a:graphicFrameLocks/>
          </p:cNvGraphicFramePr>
          <p:nvPr>
            <p:extLst>
              <p:ext uri="{D42A27DB-BD31-4B8C-83A1-F6EECF244321}">
                <p14:modId xmlns:p14="http://schemas.microsoft.com/office/powerpoint/2010/main" val="2597204567"/>
              </p:ext>
            </p:extLst>
          </p:nvPr>
        </p:nvGraphicFramePr>
        <p:xfrm>
          <a:off x="5416871" y="4116161"/>
          <a:ext cx="3409356" cy="2305534"/>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3">
            <a:extLst>
              <a:ext uri="{FF2B5EF4-FFF2-40B4-BE49-F238E27FC236}">
                <a16:creationId xmlns:a16="http://schemas.microsoft.com/office/drawing/2014/main" id="{F2DF3773-3A5B-588B-8446-1DD6A3E84C57}"/>
              </a:ext>
            </a:extLst>
          </p:cNvPr>
          <p:cNvSpPr txBox="1"/>
          <p:nvPr/>
        </p:nvSpPr>
        <p:spPr>
          <a:xfrm>
            <a:off x="8376169" y="-369332"/>
            <a:ext cx="4350443" cy="369332"/>
          </a:xfrm>
          <a:prstGeom prst="rect">
            <a:avLst/>
          </a:prstGeom>
          <a:noFill/>
        </p:spPr>
        <p:txBody>
          <a:bodyPr wrap="none" lIns="90000" rtlCol="0" anchor="t">
            <a:spAutoFit/>
          </a:bodyPr>
          <a:lstStyle/>
          <a:p>
            <a:r>
              <a:rPr lang="en-US" dirty="0"/>
              <a:t>PORTFOLIO_SECURITY_FINDINGS_HIGHMED</a:t>
            </a:r>
          </a:p>
        </p:txBody>
      </p:sp>
    </p:spTree>
    <p:extLst>
      <p:ext uri="{BB962C8B-B14F-4D97-AF65-F5344CB8AC3E}">
        <p14:creationId xmlns:p14="http://schemas.microsoft.com/office/powerpoint/2010/main" val="16247588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1FF513-F7F0-C719-C954-DBA335D2C6BB}"/>
              </a:ext>
            </a:extLst>
          </p:cNvPr>
          <p:cNvSpPr>
            <a:spLocks noGrp="1"/>
          </p:cNvSpPr>
          <p:nvPr>
            <p:ph type="body" sz="quarter" idx="12"/>
          </p:nvPr>
        </p:nvSpPr>
        <p:spPr>
          <a:xfrm>
            <a:off x="381600" y="129600"/>
            <a:ext cx="3855396" cy="228145"/>
          </a:xfrm>
        </p:spPr>
        <p:txBody>
          <a:bodyPr/>
          <a:lstStyle/>
          <a:p>
            <a:r>
              <a:rPr lang="en-GB" dirty="0"/>
              <a:t>Portfolio trends – Security – Findings trend</a:t>
            </a:r>
          </a:p>
        </p:txBody>
      </p:sp>
      <p:sp>
        <p:nvSpPr>
          <p:cNvPr id="4" name="Footer Placeholder 3">
            <a:extLst>
              <a:ext uri="{FF2B5EF4-FFF2-40B4-BE49-F238E27FC236}">
                <a16:creationId xmlns:a16="http://schemas.microsoft.com/office/drawing/2014/main" id="{DB9D4E15-C7EC-A545-5EBC-69B4EAE348B3}"/>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74B43BB2-F642-BE45-7836-AFCD6CBFD857}"/>
              </a:ext>
            </a:extLst>
          </p:cNvPr>
          <p:cNvSpPr>
            <a:spLocks noGrp="1"/>
          </p:cNvSpPr>
          <p:nvPr>
            <p:ph type="sldNum" sz="quarter" idx="15"/>
          </p:nvPr>
        </p:nvSpPr>
        <p:spPr/>
        <p:txBody>
          <a:bodyPr/>
          <a:lstStyle/>
          <a:p>
            <a:fld id="{E242BD21-9B61-2246-BCB1-4BE5E1BEBE1C}" type="slidenum">
              <a:rPr lang="en-GB" smtClean="0"/>
              <a:pPr/>
              <a:t>36</a:t>
            </a:fld>
            <a:endParaRPr lang="en-GB" dirty="0"/>
          </a:p>
        </p:txBody>
      </p:sp>
      <p:sp>
        <p:nvSpPr>
          <p:cNvPr id="6" name="Title 5">
            <a:extLst>
              <a:ext uri="{FF2B5EF4-FFF2-40B4-BE49-F238E27FC236}">
                <a16:creationId xmlns:a16="http://schemas.microsoft.com/office/drawing/2014/main" id="{9047D14B-355C-A109-46FB-79FB23C874FA}"/>
              </a:ext>
            </a:extLst>
          </p:cNvPr>
          <p:cNvSpPr>
            <a:spLocks noGrp="1"/>
          </p:cNvSpPr>
          <p:nvPr>
            <p:ph type="title"/>
          </p:nvPr>
        </p:nvSpPr>
        <p:spPr/>
        <p:txBody>
          <a:bodyPr/>
          <a:lstStyle/>
          <a:p>
            <a:r>
              <a:rPr lang="en-GB" dirty="0"/>
              <a:t>Security findings of the portfolio of the last 12 months (ending at 2026-03-12)</a:t>
            </a:r>
          </a:p>
        </p:txBody>
      </p:sp>
      <p:sp>
        <p:nvSpPr>
          <p:cNvPr id="7" name="Rounded Rectangle 6">
            <a:extLst>
              <a:ext uri="{FF2B5EF4-FFF2-40B4-BE49-F238E27FC236}">
                <a16:creationId xmlns:a16="http://schemas.microsoft.com/office/drawing/2014/main" id="{C5783ADB-6F9E-D057-991B-C0B52FAE9247}"/>
              </a:ext>
            </a:extLst>
          </p:cNvPr>
          <p:cNvSpPr/>
          <p:nvPr/>
        </p:nvSpPr>
        <p:spPr>
          <a:xfrm>
            <a:off x="525101" y="1411200"/>
            <a:ext cx="11141800" cy="4852800"/>
          </a:xfrm>
          <a:prstGeom prst="roundRect">
            <a:avLst>
              <a:gd name="adj" fmla="val 7068"/>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73152" rIns="0" bIns="73152" rtlCol="0" anchor="t"/>
          <a:lstStyle/>
          <a:p>
            <a:pPr algn="ctr"/>
            <a:r>
              <a:rPr lang="en-GB" sz="1200" b="1" noProof="0" dirty="0">
                <a:solidFill>
                  <a:schemeClr val="tx1"/>
                </a:solidFill>
              </a:rPr>
              <a:t>Security findings</a:t>
            </a:r>
          </a:p>
        </p:txBody>
      </p:sp>
      <p:pic>
        <p:nvPicPr>
          <p:cNvPr id="8" name="Graphic 7">
            <a:extLst>
              <a:ext uri="{FF2B5EF4-FFF2-40B4-BE49-F238E27FC236}">
                <a16:creationId xmlns:a16="http://schemas.microsoft.com/office/drawing/2014/main" id="{9B9215FE-C7C0-BC81-3B0D-CEF368F87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98373" y="5911956"/>
            <a:ext cx="371130" cy="206558"/>
          </a:xfrm>
          <a:prstGeom prst="rect">
            <a:avLst/>
          </a:prstGeom>
        </p:spPr>
      </p:pic>
      <p:sp>
        <p:nvSpPr>
          <p:cNvPr id="9" name="Rounded Rectangle 8">
            <a:extLst>
              <a:ext uri="{FF2B5EF4-FFF2-40B4-BE49-F238E27FC236}">
                <a16:creationId xmlns:a16="http://schemas.microsoft.com/office/drawing/2014/main" id="{0136E7B9-811C-003C-7BFC-A5493486F197}"/>
              </a:ext>
            </a:extLst>
          </p:cNvPr>
          <p:cNvSpPr/>
          <p:nvPr/>
        </p:nvSpPr>
        <p:spPr>
          <a:xfrm flipH="1">
            <a:off x="955163" y="1562933"/>
            <a:ext cx="5073966" cy="2305534"/>
          </a:xfrm>
          <a:prstGeom prst="roundRect">
            <a:avLst>
              <a:gd name="adj" fmla="val 3988"/>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en-GB" sz="1200" b="1" noProof="0" dirty="0">
                <a:solidFill>
                  <a:srgbClr val="910714"/>
                </a:solidFill>
              </a:rPr>
              <a:t>Critical</a:t>
            </a:r>
          </a:p>
        </p:txBody>
      </p:sp>
      <p:sp>
        <p:nvSpPr>
          <p:cNvPr id="11" name="Rounded Rectangle 10">
            <a:extLst>
              <a:ext uri="{FF2B5EF4-FFF2-40B4-BE49-F238E27FC236}">
                <a16:creationId xmlns:a16="http://schemas.microsoft.com/office/drawing/2014/main" id="{70198D90-BE8E-901C-9DF1-3C45821DE1B7}"/>
              </a:ext>
            </a:extLst>
          </p:cNvPr>
          <p:cNvSpPr/>
          <p:nvPr/>
        </p:nvSpPr>
        <p:spPr>
          <a:xfrm flipH="1">
            <a:off x="6165410" y="1562933"/>
            <a:ext cx="5070948" cy="2305534"/>
          </a:xfrm>
          <a:prstGeom prst="roundRect">
            <a:avLst>
              <a:gd name="adj" fmla="val 3987"/>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en-GB" sz="1200" b="1" noProof="0" dirty="0">
                <a:solidFill>
                  <a:srgbClr val="DB4A3D"/>
                </a:solidFill>
              </a:rPr>
              <a:t>High</a:t>
            </a:r>
          </a:p>
        </p:txBody>
      </p:sp>
      <p:sp>
        <p:nvSpPr>
          <p:cNvPr id="13" name="Rounded Rectangle 12">
            <a:extLst>
              <a:ext uri="{FF2B5EF4-FFF2-40B4-BE49-F238E27FC236}">
                <a16:creationId xmlns:a16="http://schemas.microsoft.com/office/drawing/2014/main" id="{D6393784-89ED-CB65-097F-CF64C9DE33A9}"/>
              </a:ext>
            </a:extLst>
          </p:cNvPr>
          <p:cNvSpPr/>
          <p:nvPr/>
        </p:nvSpPr>
        <p:spPr>
          <a:xfrm flipH="1">
            <a:off x="3560526" y="3939319"/>
            <a:ext cx="5070948" cy="2305534"/>
          </a:xfrm>
          <a:prstGeom prst="roundRect">
            <a:avLst>
              <a:gd name="adj" fmla="val 3837"/>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en-GB" sz="1200" b="1" noProof="0" dirty="0">
                <a:solidFill>
                  <a:srgbClr val="F09819"/>
                </a:solidFill>
              </a:rPr>
              <a:t>Medium</a:t>
            </a:r>
          </a:p>
        </p:txBody>
      </p:sp>
      <p:graphicFrame>
        <p:nvGraphicFramePr>
          <p:cNvPr id="17" name="PORTFOLIO_SECURITY_FINDINGS_CRITICAL">
            <a:extLst>
              <a:ext uri="{FF2B5EF4-FFF2-40B4-BE49-F238E27FC236}">
                <a16:creationId xmlns:a16="http://schemas.microsoft.com/office/drawing/2014/main" id="{3605FEE4-47C1-3A75-7A83-281F7BE41F7F}"/>
              </a:ext>
            </a:extLst>
          </p:cNvPr>
          <p:cNvGraphicFramePr>
            <a:graphicFrameLocks/>
          </p:cNvGraphicFramePr>
          <p:nvPr>
            <p:extLst>
              <p:ext uri="{D42A27DB-BD31-4B8C-83A1-F6EECF244321}">
                <p14:modId xmlns:p14="http://schemas.microsoft.com/office/powerpoint/2010/main" val="1783918974"/>
              </p:ext>
            </p:extLst>
          </p:nvPr>
        </p:nvGraphicFramePr>
        <p:xfrm>
          <a:off x="955163" y="1714666"/>
          <a:ext cx="5070948" cy="219580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PORTFOLIO_SECURITY_FINDINGS_HIGH">
            <a:extLst>
              <a:ext uri="{FF2B5EF4-FFF2-40B4-BE49-F238E27FC236}">
                <a16:creationId xmlns:a16="http://schemas.microsoft.com/office/drawing/2014/main" id="{E6284084-0D17-0C79-BA25-E3E29D606E8F}"/>
              </a:ext>
            </a:extLst>
          </p:cNvPr>
          <p:cNvGraphicFramePr>
            <a:graphicFrameLocks/>
          </p:cNvGraphicFramePr>
          <p:nvPr>
            <p:extLst>
              <p:ext uri="{D42A27DB-BD31-4B8C-83A1-F6EECF244321}">
                <p14:modId xmlns:p14="http://schemas.microsoft.com/office/powerpoint/2010/main" val="1563042344"/>
              </p:ext>
            </p:extLst>
          </p:nvPr>
        </p:nvGraphicFramePr>
        <p:xfrm>
          <a:off x="6284745" y="1714666"/>
          <a:ext cx="4813628" cy="221869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9" name="PORTFOLIO_SECURITY_FINDINGS_MEDIUM">
            <a:extLst>
              <a:ext uri="{FF2B5EF4-FFF2-40B4-BE49-F238E27FC236}">
                <a16:creationId xmlns:a16="http://schemas.microsoft.com/office/drawing/2014/main" id="{1D0C3BE9-A664-5700-38B0-74CDE05BE042}"/>
              </a:ext>
            </a:extLst>
          </p:cNvPr>
          <p:cNvGraphicFramePr>
            <a:graphicFrameLocks/>
          </p:cNvGraphicFramePr>
          <p:nvPr>
            <p:extLst>
              <p:ext uri="{D42A27DB-BD31-4B8C-83A1-F6EECF244321}">
                <p14:modId xmlns:p14="http://schemas.microsoft.com/office/powerpoint/2010/main" val="1694025760"/>
              </p:ext>
            </p:extLst>
          </p:nvPr>
        </p:nvGraphicFramePr>
        <p:xfrm>
          <a:off x="3679861" y="4116161"/>
          <a:ext cx="4813628" cy="2218691"/>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8171689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AC38F-AE8D-FF4B-AE4F-040316CA188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4E57D2-7FE4-C0AA-BDE9-A362D613ED09}"/>
              </a:ext>
            </a:extLst>
          </p:cNvPr>
          <p:cNvSpPr>
            <a:spLocks noGrp="1"/>
          </p:cNvSpPr>
          <p:nvPr>
            <p:ph type="body" sz="quarter" idx="12"/>
          </p:nvPr>
        </p:nvSpPr>
        <p:spPr>
          <a:xfrm>
            <a:off x="381600" y="129600"/>
            <a:ext cx="3855396" cy="228145"/>
          </a:xfrm>
        </p:spPr>
        <p:txBody>
          <a:bodyPr/>
          <a:lstStyle/>
          <a:p>
            <a:r>
              <a:rPr lang="en-GB" dirty="0"/>
              <a:t>Portfolio trends – Security – Findings trend</a:t>
            </a:r>
          </a:p>
        </p:txBody>
      </p:sp>
      <p:sp>
        <p:nvSpPr>
          <p:cNvPr id="4" name="Footer Placeholder 3">
            <a:extLst>
              <a:ext uri="{FF2B5EF4-FFF2-40B4-BE49-F238E27FC236}">
                <a16:creationId xmlns:a16="http://schemas.microsoft.com/office/drawing/2014/main" id="{96282B89-53C7-6B9A-712B-0DEEC0C14AB8}"/>
              </a:ext>
            </a:extLst>
          </p:cNvPr>
          <p:cNvSpPr>
            <a:spLocks noGrp="1"/>
          </p:cNvSpPr>
          <p:nvPr>
            <p:ph type="ftr" sz="quarter" idx="14"/>
          </p:nvPr>
        </p:nvSpPr>
        <p:spPr/>
        <p:txBody>
          <a:bodyPr/>
          <a:lstStyle/>
          <a:p>
            <a:r>
              <a:rPr lang="en-GB" dirty="0"/>
              <a:t>Confidential</a:t>
            </a:r>
          </a:p>
        </p:txBody>
      </p:sp>
      <p:sp>
        <p:nvSpPr>
          <p:cNvPr id="5" name="Slide Number Placeholder 4">
            <a:extLst>
              <a:ext uri="{FF2B5EF4-FFF2-40B4-BE49-F238E27FC236}">
                <a16:creationId xmlns:a16="http://schemas.microsoft.com/office/drawing/2014/main" id="{D31FF027-54A5-051F-5710-B5994A182136}"/>
              </a:ext>
            </a:extLst>
          </p:cNvPr>
          <p:cNvSpPr>
            <a:spLocks noGrp="1"/>
          </p:cNvSpPr>
          <p:nvPr>
            <p:ph type="sldNum" sz="quarter" idx="15"/>
          </p:nvPr>
        </p:nvSpPr>
        <p:spPr/>
        <p:txBody>
          <a:bodyPr/>
          <a:lstStyle/>
          <a:p>
            <a:fld id="{E242BD21-9B61-2246-BCB1-4BE5E1BEBE1C}" type="slidenum">
              <a:rPr lang="en-GB" smtClean="0"/>
              <a:pPr/>
              <a:t>37</a:t>
            </a:fld>
            <a:endParaRPr lang="en-GB" dirty="0"/>
          </a:p>
        </p:txBody>
      </p:sp>
      <p:sp>
        <p:nvSpPr>
          <p:cNvPr id="6" name="Title 5">
            <a:extLst>
              <a:ext uri="{FF2B5EF4-FFF2-40B4-BE49-F238E27FC236}">
                <a16:creationId xmlns:a16="http://schemas.microsoft.com/office/drawing/2014/main" id="{CE1A16AE-C003-C50A-E6D6-3D6AA501D5B7}"/>
              </a:ext>
            </a:extLst>
          </p:cNvPr>
          <p:cNvSpPr>
            <a:spLocks noGrp="1"/>
          </p:cNvSpPr>
          <p:nvPr>
            <p:ph type="title"/>
          </p:nvPr>
        </p:nvSpPr>
        <p:spPr/>
        <p:txBody>
          <a:bodyPr/>
          <a:lstStyle/>
          <a:p>
            <a:r>
              <a:rPr lang="en-GB" dirty="0"/>
              <a:t>Security findings of the portfolio of the last 12 months (ending at 2026-03-12)</a:t>
            </a:r>
          </a:p>
        </p:txBody>
      </p:sp>
      <p:sp>
        <p:nvSpPr>
          <p:cNvPr id="7" name="Rounded Rectangle 6">
            <a:extLst>
              <a:ext uri="{FF2B5EF4-FFF2-40B4-BE49-F238E27FC236}">
                <a16:creationId xmlns:a16="http://schemas.microsoft.com/office/drawing/2014/main" id="{9F2A71AF-4489-77E3-367D-617DFCB60DE0}"/>
              </a:ext>
            </a:extLst>
          </p:cNvPr>
          <p:cNvSpPr/>
          <p:nvPr/>
        </p:nvSpPr>
        <p:spPr>
          <a:xfrm>
            <a:off x="525101" y="1411200"/>
            <a:ext cx="11141800" cy="4852800"/>
          </a:xfrm>
          <a:prstGeom prst="roundRect">
            <a:avLst>
              <a:gd name="adj" fmla="val 7068"/>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73152" rIns="0" bIns="73152" rtlCol="0" anchor="t"/>
          <a:lstStyle/>
          <a:p>
            <a:pPr algn="ctr"/>
            <a:r>
              <a:rPr lang="en-GB" sz="1200" b="1" noProof="0" dirty="0">
                <a:solidFill>
                  <a:schemeClr val="tx1"/>
                </a:solidFill>
              </a:rPr>
              <a:t>Security findings</a:t>
            </a:r>
          </a:p>
        </p:txBody>
      </p:sp>
      <p:pic>
        <p:nvPicPr>
          <p:cNvPr id="8" name="Graphic 7">
            <a:extLst>
              <a:ext uri="{FF2B5EF4-FFF2-40B4-BE49-F238E27FC236}">
                <a16:creationId xmlns:a16="http://schemas.microsoft.com/office/drawing/2014/main" id="{161AD5F6-18F9-8A40-2477-E9242D99AA7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98373" y="5911956"/>
            <a:ext cx="371130" cy="206558"/>
          </a:xfrm>
          <a:prstGeom prst="rect">
            <a:avLst/>
          </a:prstGeom>
        </p:spPr>
      </p:pic>
      <p:sp>
        <p:nvSpPr>
          <p:cNvPr id="9" name="Rounded Rectangle 8">
            <a:extLst>
              <a:ext uri="{FF2B5EF4-FFF2-40B4-BE49-F238E27FC236}">
                <a16:creationId xmlns:a16="http://schemas.microsoft.com/office/drawing/2014/main" id="{75490A03-971E-D057-E453-8848427D9F47}"/>
              </a:ext>
            </a:extLst>
          </p:cNvPr>
          <p:cNvSpPr/>
          <p:nvPr/>
        </p:nvSpPr>
        <p:spPr>
          <a:xfrm flipH="1">
            <a:off x="955163" y="1562933"/>
            <a:ext cx="5073966" cy="2305534"/>
          </a:xfrm>
          <a:prstGeom prst="roundRect">
            <a:avLst>
              <a:gd name="adj" fmla="val 3988"/>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en-GB" sz="1200" b="1" noProof="0" dirty="0">
                <a:solidFill>
                  <a:srgbClr val="910714"/>
                </a:solidFill>
              </a:rPr>
              <a:t>Critical</a:t>
            </a:r>
          </a:p>
        </p:txBody>
      </p:sp>
      <p:sp>
        <p:nvSpPr>
          <p:cNvPr id="11" name="Rounded Rectangle 10">
            <a:extLst>
              <a:ext uri="{FF2B5EF4-FFF2-40B4-BE49-F238E27FC236}">
                <a16:creationId xmlns:a16="http://schemas.microsoft.com/office/drawing/2014/main" id="{D9911086-3056-B85A-B493-E969F1E03B2E}"/>
              </a:ext>
            </a:extLst>
          </p:cNvPr>
          <p:cNvSpPr/>
          <p:nvPr/>
        </p:nvSpPr>
        <p:spPr>
          <a:xfrm flipH="1">
            <a:off x="6165410" y="1562933"/>
            <a:ext cx="5070948" cy="2305534"/>
          </a:xfrm>
          <a:prstGeom prst="roundRect">
            <a:avLst>
              <a:gd name="adj" fmla="val 3987"/>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en-GB" sz="1200" b="1" noProof="0" dirty="0">
                <a:solidFill>
                  <a:srgbClr val="DB4A3D"/>
                </a:solidFill>
              </a:rPr>
              <a:t>High</a:t>
            </a:r>
          </a:p>
        </p:txBody>
      </p:sp>
      <p:sp>
        <p:nvSpPr>
          <p:cNvPr id="13" name="Rounded Rectangle 12">
            <a:extLst>
              <a:ext uri="{FF2B5EF4-FFF2-40B4-BE49-F238E27FC236}">
                <a16:creationId xmlns:a16="http://schemas.microsoft.com/office/drawing/2014/main" id="{7C2F09A1-6725-C876-B697-24D0E14922AC}"/>
              </a:ext>
            </a:extLst>
          </p:cNvPr>
          <p:cNvSpPr/>
          <p:nvPr/>
        </p:nvSpPr>
        <p:spPr>
          <a:xfrm flipH="1">
            <a:off x="3560526" y="3939319"/>
            <a:ext cx="5070948" cy="2305534"/>
          </a:xfrm>
          <a:prstGeom prst="roundRect">
            <a:avLst>
              <a:gd name="adj" fmla="val 3837"/>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en-GB" sz="1200" b="1" noProof="0" dirty="0">
                <a:solidFill>
                  <a:srgbClr val="F09819"/>
                </a:solidFill>
              </a:rPr>
              <a:t>Medium</a:t>
            </a:r>
          </a:p>
        </p:txBody>
      </p:sp>
      <p:graphicFrame>
        <p:nvGraphicFramePr>
          <p:cNvPr id="10" name="PORTFOLIO_SECURITY_RESOLUTION_CRITICAL">
            <a:extLst>
              <a:ext uri="{FF2B5EF4-FFF2-40B4-BE49-F238E27FC236}">
                <a16:creationId xmlns:a16="http://schemas.microsoft.com/office/drawing/2014/main" id="{043ADC1B-1288-61F5-6E17-604566843D3C}"/>
              </a:ext>
            </a:extLst>
          </p:cNvPr>
          <p:cNvGraphicFramePr>
            <a:graphicFrameLocks/>
          </p:cNvGraphicFramePr>
          <p:nvPr>
            <p:extLst>
              <p:ext uri="{D42A27DB-BD31-4B8C-83A1-F6EECF244321}">
                <p14:modId xmlns:p14="http://schemas.microsoft.com/office/powerpoint/2010/main" val="3701850097"/>
              </p:ext>
            </p:extLst>
          </p:nvPr>
        </p:nvGraphicFramePr>
        <p:xfrm>
          <a:off x="952145" y="1714665"/>
          <a:ext cx="4832277" cy="215380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PORTFOLIO_SECURITY_RESOLUTION_HIGH">
            <a:extLst>
              <a:ext uri="{FF2B5EF4-FFF2-40B4-BE49-F238E27FC236}">
                <a16:creationId xmlns:a16="http://schemas.microsoft.com/office/drawing/2014/main" id="{FD9AE359-1D59-B204-F3B2-ED88BE1F3B3C}"/>
              </a:ext>
            </a:extLst>
          </p:cNvPr>
          <p:cNvGraphicFramePr>
            <a:graphicFrameLocks/>
          </p:cNvGraphicFramePr>
          <p:nvPr>
            <p:extLst>
              <p:ext uri="{D42A27DB-BD31-4B8C-83A1-F6EECF244321}">
                <p14:modId xmlns:p14="http://schemas.microsoft.com/office/powerpoint/2010/main" val="2889913887"/>
              </p:ext>
            </p:extLst>
          </p:nvPr>
        </p:nvGraphicFramePr>
        <p:xfrm>
          <a:off x="6340739" y="1714665"/>
          <a:ext cx="4832277" cy="215380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PORTFOLIO_SECURITY_RESOLUTION_MEDIUM">
            <a:extLst>
              <a:ext uri="{FF2B5EF4-FFF2-40B4-BE49-F238E27FC236}">
                <a16:creationId xmlns:a16="http://schemas.microsoft.com/office/drawing/2014/main" id="{6568A628-8BDB-F462-AB74-A5B810893EC5}"/>
              </a:ext>
            </a:extLst>
          </p:cNvPr>
          <p:cNvGraphicFramePr>
            <a:graphicFrameLocks/>
          </p:cNvGraphicFramePr>
          <p:nvPr>
            <p:extLst>
              <p:ext uri="{D42A27DB-BD31-4B8C-83A1-F6EECF244321}">
                <p14:modId xmlns:p14="http://schemas.microsoft.com/office/powerpoint/2010/main" val="3203908121"/>
              </p:ext>
            </p:extLst>
          </p:nvPr>
        </p:nvGraphicFramePr>
        <p:xfrm>
          <a:off x="3678661" y="4091051"/>
          <a:ext cx="4832277" cy="2153802"/>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476436889"/>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3.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11110</TotalTime>
  <Words>2402</Words>
  <Application>Microsoft Macintosh PowerPoint</Application>
  <PresentationFormat>Widescreen</PresentationFormat>
  <Paragraphs>364</Paragraphs>
  <Slides>37</Slides>
  <Notes>12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37</vt:i4>
      </vt:variant>
    </vt:vector>
  </HeadingPairs>
  <TitlesOfParts>
    <vt:vector size="49" baseType="lpstr">
      <vt:lpstr>☞NOIR PRO MEDIUM</vt:lpstr>
      <vt:lpstr>Arial</vt:lpstr>
      <vt:lpstr>Azeret Mono</vt:lpstr>
      <vt:lpstr>Azeret Mono Medium</vt:lpstr>
      <vt:lpstr>Calibri</vt:lpstr>
      <vt:lpstr>Helvetica Neue Bold</vt:lpstr>
      <vt:lpstr>Noir Pro</vt:lpstr>
      <vt:lpstr>Noir Pro Medium</vt:lpstr>
      <vt:lpstr>Noir Pro Semi Bold</vt:lpstr>
      <vt:lpstr>Sigsterren</vt:lpstr>
      <vt:lpstr>TheSansMono M5</vt:lpstr>
      <vt:lpstr>Light theme (default)</vt:lpstr>
      <vt:lpstr>PowerPoint Presentation</vt:lpstr>
      <vt:lpstr>Outline of topics</vt:lpstr>
      <vt:lpstr>Progress towards objectives between OBJECTIVES_PERIOD_START and OBJECTIVES_PERIOD_END</vt:lpstr>
      <vt:lpstr>Progress towards objectives over time</vt:lpstr>
      <vt:lpstr>Progress towards objectives per capability between OBJECTIVES_PERIOD_START and OBJECTIVES_PERIOD_END</vt:lpstr>
      <vt:lpstr>Progress towards objectives: Maintainability</vt:lpstr>
      <vt:lpstr>Progress towards objectives: Architecture</vt:lpstr>
      <vt:lpstr>Progress towards objectives: Open Source Health</vt:lpstr>
      <vt:lpstr>Progress towards objectives: Security</vt:lpstr>
      <vt:lpstr>Progress towards objectives between OBJECTIVES_PERIOD_START and OBJECTIVES_PERIOD_END</vt:lpstr>
      <vt:lpstr>Progress towards objectives per team between OBJECTIVES_PERIOD_START and OBJECTIVES_PERIOD_END</vt:lpstr>
      <vt:lpstr>Progress towards objectives per capability between OBJECTIVES_PERIOD_START and OBJECTIVES_PERIOD_END</vt:lpstr>
      <vt:lpstr>Progress towards objectives over time</vt:lpstr>
      <vt:lpstr>Progress towards objectives: Security</vt:lpstr>
      <vt:lpstr>Progress towards objectives: Open Source Health</vt:lpstr>
      <vt:lpstr>Progress towards objectives: Maintainability</vt:lpstr>
      <vt:lpstr>Progress towards objectives: Architecture</vt:lpstr>
      <vt:lpstr>Index</vt:lpstr>
      <vt:lpstr>PORTFOLIO_PERIOD_MAINT_SHORT_SUMMARY</vt:lpstr>
      <vt:lpstr>Maintainability Grouped by Lifecycle</vt:lpstr>
      <vt:lpstr>Maintainability Grouped by Deployment Type</vt:lpstr>
      <vt:lpstr>Maintainability Grouped by Business Criticality</vt:lpstr>
      <vt:lpstr>PORTFOLIO_PERIOD_MAINT_CHANGE_SHORT_SUMMARY</vt:lpstr>
      <vt:lpstr>Maintainability ratings of newly written code between PORTFOLIO_PERIOD_START_DATE and PORTFOLIO_PERIOD_END_DATE</vt:lpstr>
      <vt:lpstr>Maintainability ratings of changed code between PORTFOLIO_PERIOD_START_DATE and PORTFOLIO_PERIOD_END_DATE</vt:lpstr>
      <vt:lpstr>Maintainability delta quality ratings of the portfolio between PORTFOLIO_PERIOD_START_DATE and PORTFOLIO_PERIOD_END_DATE</vt:lpstr>
      <vt:lpstr>Change in volume (effort) of the portfolio between PORTFOLIO_PERIOD_START_DATE and PORTFOLIO_PERIOD_END_DATE</vt:lpstr>
      <vt:lpstr>Test-to-production code ratios of the portfolio between PORTFOLIO_PERIOD_START_DATE and PORTFOLIO_PERIOD_END_DATE</vt:lpstr>
      <vt:lpstr>Change in test-to-production code ratios of the portfolio between PORTFOLIO_PERIOD_START_DATE and PORTFOLIO_PERIOD_END_DATE</vt:lpstr>
      <vt:lpstr>Architecture ratings of the portfolio between PORTFOLIO_PERIOD_START_DATE and PORTFOLIO_PERIOD_END_DATE</vt:lpstr>
      <vt:lpstr>Open-source health ratings of the portfolio between PORTFOLIO_PERIOD_START_DATE and PORTFOLIO_PERIOD_END_DATE</vt:lpstr>
      <vt:lpstr>Overall Open Source Health Library Risks Overview</vt:lpstr>
      <vt:lpstr>Security ratings of the portfolio between PORTFOLIO_PERIOD_START_DATE and PORTFOLIO_PERIOD_END_DATE</vt:lpstr>
      <vt:lpstr>Critical findings trends of the last 12 months (ending at 2025-12-31)</vt:lpstr>
      <vt:lpstr>Security resolution times of the portfolio of the last 12 months (ending at PORTFOLIO_PERIOD_END_DATE)</vt:lpstr>
      <vt:lpstr>Security findings of the portfolio of the last 12 months (ending at PORTFOLIO_PERIOD_END_DATE)</vt:lpstr>
      <vt:lpstr>Security findings of the portfolio of the last 12 months (ending at PORTFOLIO_PERIOD_END_DATE)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Maxim Janssen</cp:lastModifiedBy>
  <cp:revision>155</cp:revision>
  <cp:lastPrinted>2020-04-20T09:37:43Z</cp:lastPrinted>
  <dcterms:created xsi:type="dcterms:W3CDTF">2025-10-22T11:22:13Z</dcterms:created>
  <dcterms:modified xsi:type="dcterms:W3CDTF">2026-02-23T15:46:52Z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