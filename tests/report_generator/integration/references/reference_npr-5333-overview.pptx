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32"/>
    <p:restoredTop sz="96763"/>
  </p:normalViewPr>
  <p:slideViewPr>
    <p:cSldViewPr snapToGrid="0" snapToObjects="1" showGuides="1">
      <p:cViewPr varScale="1">
        <p:scale>
          <a:sx n="160" d="100"/>
          <a:sy n="160" d="100"/>
        </p:scale>
        <p:origin x="29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1B6-0C43-88BA-A6918ADB959D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1B6-0C43-88BA-A6918ADB959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36.359647309330278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42.604163194444503</c:v>
                </c:pt>
                <c:pt idx="9">
                  <c:v>55.505182824691047</c:v>
                </c:pt>
                <c:pt idx="10">
                  <c:v>77.332982971294314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3.3598501665371132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2.6443630237146989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431</c:v>
                </c:pt>
                <c:pt idx="1">
                  <c:v>16</c:v>
                </c:pt>
                <c:pt idx="2">
                  <c:v>96</c:v>
                </c:pt>
                <c:pt idx="3">
                  <c:v>19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114</c:v>
                </c:pt>
                <c:pt idx="8">
                  <c:v>56</c:v>
                </c:pt>
                <c:pt idx="9">
                  <c:v>70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2.4</c:v>
                </c:pt>
                <c:pt idx="2">
                  <c:v>1.9</c:v>
                </c:pt>
                <c:pt idx="3">
                  <c:v>1.5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</c:v>
                </c:pt>
                <c:pt idx="9">
                  <c:v>2.1</c:v>
                </c:pt>
                <c:pt idx="10">
                  <c:v>3.1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4</c:v>
                </c:pt>
                <c:pt idx="2">
                  <c:v>15</c:v>
                </c:pt>
                <c:pt idx="3">
                  <c:v>16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41</c:v>
                </c:pt>
                <c:pt idx="8">
                  <c:v>24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1.4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1.1000000000000001</c:v>
                </c:pt>
                <c:pt idx="8">
                  <c:v>1.9</c:v>
                </c:pt>
                <c:pt idx="9">
                  <c:v>3.1</c:v>
                </c:pt>
                <c:pt idx="10">
                  <c:v>3.4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8</c:v>
                </c:pt>
                <c:pt idx="2">
                  <c:v>110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92</c:v>
                </c:pt>
                <c:pt idx="8">
                  <c:v>191</c:v>
                </c:pt>
                <c:pt idx="9">
                  <c:v>0</c:v>
                </c:pt>
                <c:pt idx="10">
                  <c:v>0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1.3833017183820222</c:v>
                </c:pt>
                <c:pt idx="1">
                  <c:v>0.97357271843311566</c:v>
                </c:pt>
                <c:pt idx="2">
                  <c:v>0.71581498016696266</c:v>
                </c:pt>
                <c:pt idx="3">
                  <c:v>0.72725453648606464</c:v>
                </c:pt>
                <c:pt idx="4">
                  <c:v>0.40236157501058473</c:v>
                </c:pt>
                <c:pt idx="5">
                  <c:v>3.6938153752411904</c:v>
                </c:pt>
                <c:pt idx="6">
                  <c:v>1.7429295159303757E-3</c:v>
                </c:pt>
                <c:pt idx="7">
                  <c:v>1.6848604048738367</c:v>
                </c:pt>
                <c:pt idx="8">
                  <c:v>1.5559151628411991</c:v>
                </c:pt>
                <c:pt idx="9">
                  <c:v>0.37003177753814737</c:v>
                </c:pt>
                <c:pt idx="10">
                  <c:v>0.65285592664716074</c:v>
                </c:pt>
                <c:pt idx="11">
                  <c:v>0.52904929577464788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igrid-says.com/reportgeneratordemo/integrationtest-facebookyoga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2" Type="http://schemas.openxmlformats.org/officeDocument/2006/relationships/hyperlink" Target="https://sigrid-says.com/reportgeneratordemo/integrationtest-git/-/maintainability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igrid-says.com/reportgeneratordemo/integrationtest-druid/-/maintainability" TargetMode="External"/><Relationship Id="rId11" Type="http://schemas.openxmlformats.org/officeDocument/2006/relationships/hyperlink" Target="https://sigrid-says.com/reportgeneratordemo/integrationtest-bazel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9" Type="http://schemas.openxmlformats.org/officeDocument/2006/relationships/hyperlink" Target="https://sigrid-says.com/reportgeneratordemo/integrationtest-vscode/-/maintainabilit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igrid-says.com/reportgeneratordemo/integrationtest-electron/-/security" TargetMode="External"/><Relationship Id="rId3" Type="http://schemas.openxmlformats.org/officeDocument/2006/relationships/hyperlink" Target="https://sigrid-says.com/reportgeneratordemo/integrationtest-airflow/-/security" TargetMode="External"/><Relationship Id="rId7" Type="http://schemas.openxmlformats.org/officeDocument/2006/relationships/hyperlink" Target="https://sigrid-says.com/reportgeneratordemo/integrationtest-kafka/-/security" TargetMode="External"/><Relationship Id="rId2" Type="http://schemas.openxmlformats.org/officeDocument/2006/relationships/hyperlink" Target="https://sigrid-says.com/reportgeneratordemo/integrationtest-git/-/security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igrid-says.com/reportgeneratordemo/integrationtest-vscode/-/security" TargetMode="External"/><Relationship Id="rId11" Type="http://schemas.openxmlformats.org/officeDocument/2006/relationships/hyperlink" Target="https://sigrid-says.com/reportgeneratordemo/integrationtest-zuul/-/security" TargetMode="External"/><Relationship Id="rId5" Type="http://schemas.openxmlformats.org/officeDocument/2006/relationships/hyperlink" Target="https://sigrid-says.com/reportgeneratordemo/integrationtest-druid/-/security" TargetMode="External"/><Relationship Id="rId10" Type="http://schemas.openxmlformats.org/officeDocument/2006/relationships/hyperlink" Target="https://sigrid-says.com/reportgeneratordemo/integrationtest-bazel/-/security" TargetMode="External"/><Relationship Id="rId4" Type="http://schemas.openxmlformats.org/officeDocument/2006/relationships/hyperlink" Target="https://sigrid-says.com/reportgeneratordemo/integrationtest-jruby/-/security" TargetMode="External"/><Relationship Id="rId9" Type="http://schemas.openxmlformats.org/officeDocument/2006/relationships/hyperlink" Target="https://sigrid-says.com/reportgeneratordemo/integrationtest-elasticsearch/-/security" TargetMode="Externa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sigrid-says.com/reportgeneratordemo/integrationtest-zuul/-/reliability" TargetMode="External"/><Relationship Id="rId3" Type="http://schemas.openxmlformats.org/officeDocument/2006/relationships/hyperlink" Target="https://sigrid-says.com/reportgeneratordemo/integrationtest-jruby/-/reliability" TargetMode="External"/><Relationship Id="rId7" Type="http://schemas.openxmlformats.org/officeDocument/2006/relationships/hyperlink" Target="https://sigrid-says.com/reportgeneratordemo/integrationtest-bazel/-/reliability" TargetMode="External"/><Relationship Id="rId2" Type="http://schemas.openxmlformats.org/officeDocument/2006/relationships/hyperlink" Target="https://sigrid-says.com/reportgeneratordemo/integrationtest-git/-/reliability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igrid-says.com/reportgeneratordemo/integrationtest-druid/-/reliability" TargetMode="External"/><Relationship Id="rId11" Type="http://schemas.openxmlformats.org/officeDocument/2006/relationships/hyperlink" Target="https://sigrid-says.com/reportgeneratordemo/integrationtest-facebookyoga/-/reliability" TargetMode="External"/><Relationship Id="rId5" Type="http://schemas.openxmlformats.org/officeDocument/2006/relationships/hyperlink" Target="https://sigrid-says.com/reportgeneratordemo/integrationtest-elasticsearch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4" Type="http://schemas.openxmlformats.org/officeDocument/2006/relationships/hyperlink" Target="https://sigrid-says.com/reportgeneratordemo/integrationtest-kafka/-/reliability" TargetMode="External"/><Relationship Id="rId9" Type="http://schemas.openxmlformats.org/officeDocument/2006/relationships/hyperlink" Target="https://sigrid-says.com/reportgeneratordemo/integrationtest-airflow/-/reliability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sigrid-says.com/reportgeneratordemo/integrationtest-airflow/-/overview" TargetMode="External"/><Relationship Id="rId3" Type="http://schemas.openxmlformats.org/officeDocument/2006/relationships/hyperlink" Target="https://sigrid-says.com/reportgeneratordemo/integrationtest-druid/-/overview" TargetMode="External"/><Relationship Id="rId7" Type="http://schemas.openxmlformats.org/officeDocument/2006/relationships/hyperlink" Target="https://sigrid-says.com/reportgeneratordemo/integrationtest-elasticsearch/-/overview" TargetMode="External"/><Relationship Id="rId2" Type="http://schemas.openxmlformats.org/officeDocument/2006/relationships/hyperlink" Target="https://sigrid-says.com/reportgeneratordemo/integrationtest-kafka/-/overview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igrid-says.com/reportgeneratordemo/integrationtest-zuul/-/overview" TargetMode="External"/><Relationship Id="rId11" Type="http://schemas.openxmlformats.org/officeDocument/2006/relationships/hyperlink" Target="https://sigrid-says.com/reportgeneratordemo/integrationtest-git/-/overview" TargetMode="External"/><Relationship Id="rId5" Type="http://schemas.openxmlformats.org/officeDocument/2006/relationships/hyperlink" Target="https://sigrid-says.com/reportgeneratordemo/integrationtest-bazel/-/overview" TargetMode="External"/><Relationship Id="rId10" Type="http://schemas.openxmlformats.org/officeDocument/2006/relationships/hyperlink" Target="https://sigrid-says.com/reportgeneratordemo/integrationtest-facebookyoga/-/overview" TargetMode="External"/><Relationship Id="rId4" Type="http://schemas.openxmlformats.org/officeDocument/2006/relationships/hyperlink" Target="https://sigrid-says.com/reportgeneratordemo/integrationtest-jruby/-/overview" TargetMode="External"/><Relationship Id="rId9" Type="http://schemas.openxmlformats.org/officeDocument/2006/relationships/hyperlink" Target="https://sigrid-says.com/reportgeneratordemo/integrationtest-electron/-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6261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6261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 i="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1550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431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114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2.0★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6261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 i="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6261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 i="0">
                          <a:solidFill>
                            <a:schemeClr val="bg1"/>
                          </a:solidFill>
                          <a:latin typeface="+mn-l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155%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191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71.6%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168%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92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97.4%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52.9%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72.7%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138%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40.2%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369%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Calibri Bold"/>
                        </a:rPr>
                        <a:t>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sz="1200" b="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18592</TotalTime>
  <Words>1283</Words>
  <Application>Microsoft Macintosh PowerPoint</Application>
  <PresentationFormat>Widescreen</PresentationFormat>
  <Paragraphs>651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About 7 (58%) systems score market average on maintainability</vt:lpstr>
      <vt:lpstr>About 7 (58%) systems score market average on maintainability</vt:lpstr>
      <vt:lpstr>The portfolio's maintainability has decreased (with -0.7 to 2.5) during the measured period</vt:lpstr>
      <vt:lpstr>Maintainability ratings of newly written code between 11 January 2026 and 8 March 2026</vt:lpstr>
      <vt:lpstr>Maintainability ratings of changed code between 11 January 2026 and 8 March 2026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