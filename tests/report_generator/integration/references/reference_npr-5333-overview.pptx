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24"/>
  </p:notesMasterIdLst>
  <p:handoutMasterIdLst>
    <p:handoutMasterId r:id="rId25"/>
  </p:handoutMasterIdLst>
  <p:sldIdLst>
    <p:sldId id="1973" r:id="rId6"/>
    <p:sldId id="11378" r:id="rId7"/>
    <p:sldId id="11371" r:id="rId8"/>
    <p:sldId id="1824" r:id="rId9"/>
    <p:sldId id="11403" r:id="rId10"/>
    <p:sldId id="11404" r:id="rId11"/>
    <p:sldId id="11387" r:id="rId12"/>
    <p:sldId id="11379" r:id="rId13"/>
    <p:sldId id="11374" r:id="rId14"/>
    <p:sldId id="11380" r:id="rId15"/>
    <p:sldId id="11376" r:id="rId16"/>
    <p:sldId id="11381" r:id="rId17"/>
    <p:sldId id="11377" r:id="rId18"/>
    <p:sldId id="11383" r:id="rId19"/>
    <p:sldId id="11382" r:id="rId20"/>
    <p:sldId id="11384" r:id="rId21"/>
    <p:sldId id="11385" r:id="rId22"/>
    <p:sldId id="113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4E7"/>
    <a:srgbClr val="E15735"/>
    <a:srgbClr val="E98C36"/>
    <a:srgbClr val="BFC855"/>
    <a:srgbClr val="BDC855"/>
    <a:srgbClr val="F8C716"/>
    <a:srgbClr val="F9C816"/>
    <a:srgbClr val="083595"/>
    <a:srgbClr val="093AA0"/>
    <a:srgbClr val="083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73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06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2.1457777777777776</c:v>
                </c:pt>
                <c:pt idx="1">
                  <c:v>3.6036445657400105</c:v>
                </c:pt>
                <c:pt idx="2">
                  <c:v>36.35964730933028</c:v>
                </c:pt>
                <c:pt idx="3">
                  <c:v>10.991592990840298</c:v>
                </c:pt>
                <c:pt idx="4">
                  <c:v>36.830844725281914</c:v>
                </c:pt>
                <c:pt idx="5">
                  <c:v>6.7400960365853635</c:v>
                </c:pt>
                <c:pt idx="6">
                  <c:v>12.957363313311658</c:v>
                </c:pt>
                <c:pt idx="7">
                  <c:v>26.774372759856643</c:v>
                </c:pt>
                <c:pt idx="8">
                  <c:v>42.6041631944445</c:v>
                </c:pt>
                <c:pt idx="9">
                  <c:v>55.50518282469105</c:v>
                </c:pt>
                <c:pt idx="10">
                  <c:v>77.33298297129431</c:v>
                </c:pt>
                <c:pt idx="11">
                  <c:v>262.70099258506497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3.359850166537113</c:v>
                </c:pt>
                <c:pt idx="1">
                  <c:v>2.9112640701670003</c:v>
                </c:pt>
                <c:pt idx="2">
                  <c:v>2.4421437427141464</c:v>
                </c:pt>
                <c:pt idx="3">
                  <c:v>3.0922316739084184</c:v>
                </c:pt>
                <c:pt idx="4">
                  <c:v>2.123208503605678</c:v>
                </c:pt>
                <c:pt idx="5">
                  <c:v>3.3472615146464455</c:v>
                </c:pt>
                <c:pt idx="6">
                  <c:v>3.557961475143022</c:v>
                </c:pt>
                <c:pt idx="7">
                  <c:v>2.5713015651373246</c:v>
                </c:pt>
                <c:pt idx="8">
                  <c:v>2.644363023714699</c:v>
                </c:pt>
                <c:pt idx="9">
                  <c:v>2.2502888470290587</c:v>
                </c:pt>
                <c:pt idx="10">
                  <c:v>3.0519608059230676</c:v>
                </c:pt>
                <c:pt idx="11">
                  <c:v>2.369866173752676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431</c:v>
                </c:pt>
                <c:pt idx="1">
                  <c:v>16</c:v>
                </c:pt>
                <c:pt idx="2">
                  <c:v>96</c:v>
                </c:pt>
                <c:pt idx="3">
                  <c:v>19</c:v>
                </c:pt>
                <c:pt idx="4">
                  <c:v>34</c:v>
                </c:pt>
                <c:pt idx="5">
                  <c:v>0</c:v>
                </c:pt>
                <c:pt idx="6">
                  <c:v>1550</c:v>
                </c:pt>
                <c:pt idx="7">
                  <c:v>114</c:v>
                </c:pt>
                <c:pt idx="8">
                  <c:v>56</c:v>
                </c:pt>
                <c:pt idx="9">
                  <c:v>70</c:v>
                </c:pt>
                <c:pt idx="10">
                  <c:v>5</c:v>
                </c:pt>
                <c:pt idx="11">
                  <c:v>6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2.4</c:v>
                </c:pt>
                <c:pt idx="2">
                  <c:v>1.9</c:v>
                </c:pt>
                <c:pt idx="3">
                  <c:v>1.5</c:v>
                </c:pt>
                <c:pt idx="4">
                  <c:v>2.4</c:v>
                </c:pt>
                <c:pt idx="5">
                  <c:v>5.5</c:v>
                </c:pt>
                <c:pt idx="6">
                  <c:v>2.6</c:v>
                </c:pt>
                <c:pt idx="7">
                  <c:v>1.7</c:v>
                </c:pt>
                <c:pt idx="8">
                  <c:v>2.0</c:v>
                </c:pt>
                <c:pt idx="9">
                  <c:v>2.1</c:v>
                </c:pt>
                <c:pt idx="10">
                  <c:v>3.1</c:v>
                </c:pt>
                <c:pt idx="11">
                  <c:v>3.3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2000.0"/>
          <c:min val="0.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0</c:v>
                </c:pt>
                <c:pt idx="1">
                  <c:v>4</c:v>
                </c:pt>
                <c:pt idx="2">
                  <c:v>15</c:v>
                </c:pt>
                <c:pt idx="3">
                  <c:v>16</c:v>
                </c:pt>
                <c:pt idx="4">
                  <c:v>0</c:v>
                </c:pt>
                <c:pt idx="5">
                  <c:v>0</c:v>
                </c:pt>
                <c:pt idx="6">
                  <c:v>1013</c:v>
                </c:pt>
                <c:pt idx="7">
                  <c:v>41</c:v>
                </c:pt>
                <c:pt idx="8">
                  <c:v>24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2.4</c:v>
                </c:pt>
                <c:pt idx="2">
                  <c:v>1.4</c:v>
                </c:pt>
                <c:pt idx="3">
                  <c:v>1.5</c:v>
                </c:pt>
                <c:pt idx="4">
                  <c:v>3.4</c:v>
                </c:pt>
                <c:pt idx="5">
                  <c:v>5.5</c:v>
                </c:pt>
                <c:pt idx="6">
                  <c:v>2.6</c:v>
                </c:pt>
                <c:pt idx="7">
                  <c:v>1.1</c:v>
                </c:pt>
                <c:pt idx="8">
                  <c:v>1.9</c:v>
                </c:pt>
                <c:pt idx="9">
                  <c:v>3.1</c:v>
                </c:pt>
                <c:pt idx="10">
                  <c:v>3.4</c:v>
                </c:pt>
                <c:pt idx="11">
                  <c:v>3.1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500.0"/>
          <c:min val="0.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Functional Suitability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Sheet1!$A$2:$A$13</c:f>
              <c:numCache>
                <c:formatCode>General</c:formatCode>
                <c:ptCount val="12"/>
                <c:pt idx="0">
                  <c:v>0</c:v>
                </c:pt>
                <c:pt idx="1">
                  <c:v>8</c:v>
                </c:pt>
                <c:pt idx="2">
                  <c:v>110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92</c:v>
                </c:pt>
                <c:pt idx="8">
                  <c:v>191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1.3833017183820222</c:v>
                </c:pt>
                <c:pt idx="1">
                  <c:v>0.9735727184331157</c:v>
                </c:pt>
                <c:pt idx="2">
                  <c:v>0.7158149801669627</c:v>
                </c:pt>
                <c:pt idx="3">
                  <c:v>0.7272545364860646</c:v>
                </c:pt>
                <c:pt idx="4">
                  <c:v>0.4023615750105847</c:v>
                </c:pt>
                <c:pt idx="5">
                  <c:v>3.6938153752411904</c:v>
                </c:pt>
                <c:pt idx="6">
                  <c:v>0.0017429295159303757</c:v>
                </c:pt>
                <c:pt idx="7">
                  <c:v>1.6848604048738367</c:v>
                </c:pt>
                <c:pt idx="8">
                  <c:v>1.5559151628411991</c:v>
                </c:pt>
                <c:pt idx="9">
                  <c:v>0.37003177753814737</c:v>
                </c:pt>
                <c:pt idx="10">
                  <c:v>0.6528559266471607</c:v>
                </c:pt>
                <c:pt idx="11">
                  <c:v>0.5290492957746479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200.0"/>
          <c:min val="0.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3.7"/>
          <c:min val="0.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C1C6-BC1D-876C-C929-67909D34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4EE42-286C-CED2-9FAC-CEAAEF285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BC3BF-95EA-53CE-6718-609AF6A0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BF8E8-FCF2-2883-17FC-C0D3A44FB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CAD3-97C0-987F-4A3B-3EDAD9A4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C9F19-E1C4-A978-C9D5-F1148083E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60FF6-C88A-3CDB-0F41-3FD1356CD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CC2B3-92B9-2A87-DE10-7F23A20E2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1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4033-D843-9BA9-8BFB-9E7633DE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680B2-0864-0084-869D-61EC69D0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F2EE9-7125-2F7F-245F-B2CE7460E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5E074-043C-06F2-D423-6F5773419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139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936385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9910" y="6416406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4">
            <a:extLst>
              <a:ext uri="{FF2B5EF4-FFF2-40B4-BE49-F238E27FC236}">
                <a16:creationId xmlns:a16="http://schemas.microsoft.com/office/drawing/2014/main" id="{4B43F158-1CF1-84A8-C697-55A7D273A919}"/>
              </a:ext>
            </a:extLst>
          </p:cNvPr>
          <p:cNvSpPr txBox="1">
            <a:spLocks/>
          </p:cNvSpPr>
          <p:nvPr userDrawn="1"/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sv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tiff"/><Relationship Id="rId4" Type="http://schemas.openxmlformats.org/officeDocument/2006/relationships/chart" Target="../charts/chart1.xml"/><Relationship Id="rId5" Type="http://schemas.openxmlformats.org/officeDocument/2006/relationships/image" Target="../media/image6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sv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sv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sv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emf"/><Relationship Id="rId4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emf"/><Relationship Id="rId4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igrid-says.com/reportgeneratordemo/integrationtest-git/-/maintainability" TargetMode="External"/><Relationship Id="rId3" Type="http://schemas.openxmlformats.org/officeDocument/2006/relationships/hyperlink" Target="https://sigrid-says.com/reportgeneratordemo/integrationtest-airflow/-/maintainability" TargetMode="External"/><Relationship Id="rId4" Type="http://schemas.openxmlformats.org/officeDocument/2006/relationships/hyperlink" Target="https://sigrid-says.com/reportgeneratordemo/integrationtest-elasticsearch/-/maintainability" TargetMode="External"/><Relationship Id="rId5" Type="http://schemas.openxmlformats.org/officeDocument/2006/relationships/hyperlink" Target="https://sigrid-says.com/reportgeneratordemo/integrationtest-jruby/-/maintainability" TargetMode="External"/><Relationship Id="rId6" Type="http://schemas.openxmlformats.org/officeDocument/2006/relationships/hyperlink" Target="https://sigrid-says.com/reportgeneratordemo/integrationtest-druid/-/maintainability" TargetMode="External"/><Relationship Id="rId7" Type="http://schemas.openxmlformats.org/officeDocument/2006/relationships/hyperlink" Target="https://sigrid-says.com/reportgeneratordemo/integrationtest-kafka/-/maintainability" TargetMode="External"/><Relationship Id="rId8" Type="http://schemas.openxmlformats.org/officeDocument/2006/relationships/hyperlink" Target="https://sigrid-says.com/reportgeneratordemo/integrationtest-facebookyoga/-/maintainability" TargetMode="External"/><Relationship Id="rId9" Type="http://schemas.openxmlformats.org/officeDocument/2006/relationships/hyperlink" Target="https://sigrid-says.com/reportgeneratordemo/integrationtest-vscode/-/maintainability" TargetMode="External"/><Relationship Id="rId10" Type="http://schemas.openxmlformats.org/officeDocument/2006/relationships/hyperlink" Target="https://sigrid-says.com/reportgeneratordemo/integrationtest-webpack/-/maintainability" TargetMode="External"/><Relationship Id="rId11" Type="http://schemas.openxmlformats.org/officeDocument/2006/relationships/hyperlink" Target="https://sigrid-says.com/reportgeneratordemo/integrationtest-bazel/-/maintainabilit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igrid-says.com/reportgeneratordemo/integrationtest-git/-/security" TargetMode="External"/><Relationship Id="rId3" Type="http://schemas.openxmlformats.org/officeDocument/2006/relationships/hyperlink" Target="https://sigrid-says.com/reportgeneratordemo/integrationtest-airflow/-/security" TargetMode="External"/><Relationship Id="rId4" Type="http://schemas.openxmlformats.org/officeDocument/2006/relationships/hyperlink" Target="https://sigrid-says.com/reportgeneratordemo/integrationtest-jruby/-/security" TargetMode="External"/><Relationship Id="rId5" Type="http://schemas.openxmlformats.org/officeDocument/2006/relationships/hyperlink" Target="https://sigrid-says.com/reportgeneratordemo/integrationtest-druid/-/security" TargetMode="External"/><Relationship Id="rId6" Type="http://schemas.openxmlformats.org/officeDocument/2006/relationships/hyperlink" Target="https://sigrid-says.com/reportgeneratordemo/integrationtest-vscode/-/security" TargetMode="External"/><Relationship Id="rId7" Type="http://schemas.openxmlformats.org/officeDocument/2006/relationships/hyperlink" Target="https://sigrid-says.com/reportgeneratordemo/integrationtest-kafka/-/security" TargetMode="External"/><Relationship Id="rId8" Type="http://schemas.openxmlformats.org/officeDocument/2006/relationships/hyperlink" Target="https://sigrid-says.com/reportgeneratordemo/integrationtest-electron/-/security" TargetMode="External"/><Relationship Id="rId9" Type="http://schemas.openxmlformats.org/officeDocument/2006/relationships/hyperlink" Target="https://sigrid-says.com/reportgeneratordemo/integrationtest-elasticsearch/-/security" TargetMode="External"/><Relationship Id="rId10" Type="http://schemas.openxmlformats.org/officeDocument/2006/relationships/hyperlink" Target="https://sigrid-says.com/reportgeneratordemo/integrationtest-bazel/-/security" TargetMode="External"/><Relationship Id="rId11" Type="http://schemas.openxmlformats.org/officeDocument/2006/relationships/hyperlink" Target="https://sigrid-says.com/reportgeneratordemo/integrationtest-zuul/-/securit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igrid-says.com/reportgeneratordemo/integrationtest-git/-/reliability" TargetMode="External"/><Relationship Id="rId3" Type="http://schemas.openxmlformats.org/officeDocument/2006/relationships/hyperlink" Target="https://sigrid-says.com/reportgeneratordemo/integrationtest-jruby/-/reliability" TargetMode="External"/><Relationship Id="rId4" Type="http://schemas.openxmlformats.org/officeDocument/2006/relationships/hyperlink" Target="https://sigrid-says.com/reportgeneratordemo/integrationtest-kafka/-/reliability" TargetMode="External"/><Relationship Id="rId5" Type="http://schemas.openxmlformats.org/officeDocument/2006/relationships/hyperlink" Target="https://sigrid-says.com/reportgeneratordemo/integrationtest-elasticsearch/-/reliability" TargetMode="External"/><Relationship Id="rId6" Type="http://schemas.openxmlformats.org/officeDocument/2006/relationships/hyperlink" Target="https://sigrid-says.com/reportgeneratordemo/integrationtest-druid/-/reliability" TargetMode="External"/><Relationship Id="rId7" Type="http://schemas.openxmlformats.org/officeDocument/2006/relationships/hyperlink" Target="https://sigrid-says.com/reportgeneratordemo/integrationtest-bazel/-/reliability" TargetMode="External"/><Relationship Id="rId8" Type="http://schemas.openxmlformats.org/officeDocument/2006/relationships/hyperlink" Target="https://sigrid-says.com/reportgeneratordemo/integrationtest-zuul/-/reliability" TargetMode="External"/><Relationship Id="rId9" Type="http://schemas.openxmlformats.org/officeDocument/2006/relationships/hyperlink" Target="https://sigrid-says.com/reportgeneratordemo/integrationtest-airflow/-/reliability" TargetMode="External"/><Relationship Id="rId10" Type="http://schemas.openxmlformats.org/officeDocument/2006/relationships/hyperlink" Target="https://sigrid-says.com/reportgeneratordemo/integrationtest-electron/-/reliability" TargetMode="External"/><Relationship Id="rId11" Type="http://schemas.openxmlformats.org/officeDocument/2006/relationships/hyperlink" Target="https://sigrid-says.com/reportgeneratordemo/integrationtest-facebookyoga/-/reliabilit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igrid-says.com/reportgeneratordemo/integrationtest-kafka/-/overview" TargetMode="External"/><Relationship Id="rId3" Type="http://schemas.openxmlformats.org/officeDocument/2006/relationships/hyperlink" Target="https://sigrid-says.com/reportgeneratordemo/integrationtest-druid/-/overview" TargetMode="External"/><Relationship Id="rId4" Type="http://schemas.openxmlformats.org/officeDocument/2006/relationships/hyperlink" Target="https://sigrid-says.com/reportgeneratordemo/integrationtest-jruby/-/overview" TargetMode="External"/><Relationship Id="rId5" Type="http://schemas.openxmlformats.org/officeDocument/2006/relationships/hyperlink" Target="https://sigrid-says.com/reportgeneratordemo/integrationtest-bazel/-/overview" TargetMode="External"/><Relationship Id="rId6" Type="http://schemas.openxmlformats.org/officeDocument/2006/relationships/hyperlink" Target="https://sigrid-says.com/reportgeneratordemo/integrationtest-zuul/-/overview" TargetMode="External"/><Relationship Id="rId7" Type="http://schemas.openxmlformats.org/officeDocument/2006/relationships/hyperlink" Target="https://sigrid-says.com/reportgeneratordemo/integrationtest-elasticsearch/-/overview" TargetMode="External"/><Relationship Id="rId8" Type="http://schemas.openxmlformats.org/officeDocument/2006/relationships/hyperlink" Target="https://sigrid-says.com/reportgeneratordemo/integrationtest-airflow/-/overview" TargetMode="External"/><Relationship Id="rId9" Type="http://schemas.openxmlformats.org/officeDocument/2006/relationships/hyperlink" Target="https://sigrid-says.com/reportgeneratordemo/integrationtest-electron/-/overview" TargetMode="External"/><Relationship Id="rId10" Type="http://schemas.openxmlformats.org/officeDocument/2006/relationships/hyperlink" Target="https://sigrid-says.com/reportgeneratordemo/integrationtest-facebookyoga/-/overview" TargetMode="External"/><Relationship Id="rId11" Type="http://schemas.openxmlformats.org/officeDocument/2006/relationships/hyperlink" Target="https://sigrid-says.com/reportgeneratordemo/integrationtest-git/-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/>
              <a:t>NPR 5333 </a:t>
            </a:r>
            <a:r>
              <a:rPr lang="nl-NL" b="0" noProof="1"/>
              <a:t>report</a:t>
            </a:r>
            <a:endParaRPr lang="en-US" b="0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8EDD08-CCC5-44D9-9DB0-DFE84E9357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EC5D11-B7F5-0F1D-16D4-2000C771B0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1A9DC5-308A-D201-E22F-8EFC88A4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44E52-42CC-4588-AD68-8540712EABC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B7C1F3ED-7A84-7D05-7765-6C071B85BA4A}"/>
              </a:ext>
            </a:extLst>
          </p:cNvPr>
          <p:cNvSpPr/>
          <p:nvPr/>
        </p:nvSpPr>
        <p:spPr>
          <a:xfrm>
            <a:off x="4467599" y="736116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81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7 (58%) systems score market average on maintainability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2.5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58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sp>
        <p:nvSpPr>
          <p:cNvPr id="3" name="Tijdelijke aanduiding voor voettekst 14">
            <a:extLst>
              <a:ext uri="{FF2B5EF4-FFF2-40B4-BE49-F238E27FC236}">
                <a16:creationId xmlns:a16="http://schemas.microsoft.com/office/drawing/2014/main" id="{9F7E0A07-F0E8-12F9-7BBD-2C963F2C9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About 7 (58%) systems score market average on maintainability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771079" cy="228145"/>
          </a:xfrm>
        </p:spPr>
        <p:txBody>
          <a:bodyPr/>
          <a:lstStyle/>
          <a:p>
            <a:r>
              <a:rPr lang="en-GB" dirty="0"/>
              <a:t>Portfolio trends – Maintainability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portfolio's maintainability has decreased (with -0.7 to 2.5) during the measured period</a:t>
            </a:r>
            <a:endParaRPr lang="en-GB" dirty="0"/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8% of systems has seen an increase in maintainability. 8%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maintainability rating was experienced by integrationtest-druid (0.0 stars). The largest decrease in maintainability rating was experienced by integrationtest-vscode (0.0 stars).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361304" cy="228145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 ratings of newly written code between 11 January 2026 and 8 March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highest maintainability rating for new code was achieved by integrationtest-zuul (5.5 stars). The lowest maintainability rating for new code was in integrationtest-jruby (2.5 stars).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361304" cy="228145"/>
          </a:xfrm>
        </p:spPr>
        <p:txBody>
          <a:bodyPr/>
          <a:lstStyle/>
          <a:p>
            <a:r>
              <a:rPr lang="en-GB" dirty="0"/>
              <a:t>Portfolio trends – Maintainability – </a:t>
            </a:r>
            <a:r>
              <a:rPr lang="en-GB"/>
              <a:t>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 ratings of changed code between 11 January 2026 and 8 March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EB8C-0585-35DE-C720-93E4701D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13899B-861D-6EA2-155F-9B107FABDB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B34746-2C1D-9E59-321C-DA3EDA2028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C08C13-763E-0390-BBEC-55382B01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CC6EC-759D-B6DB-196C-BD581644A18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599F516E-0A98-69E5-34A1-62FDFB6A5B93}"/>
              </a:ext>
            </a:extLst>
          </p:cNvPr>
          <p:cNvSpPr/>
          <p:nvPr/>
        </p:nvSpPr>
        <p:spPr>
          <a:xfrm>
            <a:off x="4467599" y="1429449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8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EFCB-CC45-E68E-DB38-D46DEC57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26198F-EA40-32D8-F6B8-E95D520EBB19}"/>
              </a:ext>
            </a:extLst>
          </p:cNvPr>
          <p:cNvSpPr/>
          <p:nvPr/>
        </p:nvSpPr>
        <p:spPr>
          <a:xfrm>
            <a:off x="1899110" y="1983136"/>
            <a:ext cx="9603130" cy="3611880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FD0E4E-4C38-E2CB-8AD7-113E2BE335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3CC7A45-40B7-4B5E-6EF5-40340E0F49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D8F7BB-D32B-BF01-16BC-463F3AA8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E29BF3F4-80F9-7A42-DBC0-17817FD38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4E0F9-A737-B62C-AD41-38CE0B0AA681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BC3C5-941B-5E57-EEAC-D4C756A9A3F9}"/>
              </a:ext>
            </a:extLst>
          </p:cNvPr>
          <p:cNvSpPr txBox="1"/>
          <p:nvPr/>
        </p:nvSpPr>
        <p:spPr>
          <a:xfrm rot="16200000">
            <a:off x="-38082" y="3636822"/>
            <a:ext cx="117547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Security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02834-D60B-AE9D-5EAE-4D25768477ED}"/>
              </a:ext>
            </a:extLst>
          </p:cNvPr>
          <p:cNvSpPr txBox="1"/>
          <p:nvPr/>
        </p:nvSpPr>
        <p:spPr>
          <a:xfrm>
            <a:off x="5578113" y="5901169"/>
            <a:ext cx="2525200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Open findings above set objective*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DA4A48-5A63-123D-800E-FBB27FB46C0C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4A872D-8154-83DD-8D0C-3C74BD26FEF9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273BCC-6B1D-4261-24DD-B1423252E371}"/>
              </a:ext>
            </a:extLst>
          </p:cNvPr>
          <p:cNvGrpSpPr/>
          <p:nvPr/>
        </p:nvGrpSpPr>
        <p:grpSpPr>
          <a:xfrm>
            <a:off x="5118606" y="1363956"/>
            <a:ext cx="2264311" cy="390363"/>
            <a:chOff x="4652159" y="1363956"/>
            <a:chExt cx="226431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1E874FB-47F3-BF6A-14E0-8CD7BADE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9260F0-EFEC-7BAE-66E5-6655B4ECAABF}"/>
                </a:ext>
              </a:extLst>
            </p:cNvPr>
            <p:cNvSpPr txBox="1"/>
            <p:nvPr/>
          </p:nvSpPr>
          <p:spPr>
            <a:xfrm>
              <a:off x="4987587" y="1363956"/>
              <a:ext cx="192888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rgbClr val="0A54E7"/>
                  </a:solidFill>
                  <a:latin typeface="☞NOIR PRO MEDIUM" pitchFamily="2" charset="0"/>
                </a:rPr>
                <a:t>security scoring</a:t>
              </a:r>
            </a:p>
          </p:txBody>
        </p:sp>
      </p:grpSp>
      <p:graphicFrame>
        <p:nvGraphicFramePr>
          <p:cNvPr id="2" name="PORTFOLIO_SECURITY_SCATTERPLOT">
            <a:extLst>
              <a:ext uri="{FF2B5EF4-FFF2-40B4-BE49-F238E27FC236}">
                <a16:creationId xmlns:a16="http://schemas.microsoft.com/office/drawing/2014/main" id="{AB22CC1D-95CD-41A1-1CB1-0DB0A86584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896966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F9F1D8-84CD-A5DC-E1E9-A251AC9422FF}"/>
              </a:ext>
            </a:extLst>
          </p:cNvPr>
          <p:cNvSpPr txBox="1"/>
          <p:nvPr/>
        </p:nvSpPr>
        <p:spPr>
          <a:xfrm>
            <a:off x="9174032" y="6175668"/>
            <a:ext cx="2925950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*Defaults to ≤Medium if no objectives set</a:t>
            </a:r>
          </a:p>
        </p:txBody>
      </p:sp>
    </p:spTree>
    <p:extLst>
      <p:ext uri="{BB962C8B-B14F-4D97-AF65-F5344CB8AC3E}">
        <p14:creationId xmlns:p14="http://schemas.microsoft.com/office/powerpoint/2010/main" val="267774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9A61-F43C-3F94-A8BE-ADAE4D36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0C6966-9F66-0D5C-79ED-3C1EFA8577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C3D398-CD91-6C18-7809-120195E064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15253B-69E2-7B4E-2AEB-F3006A4D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60F80-4874-9803-FA46-9418B3FC3F5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176A6E2D-FBC0-C8BB-1AA5-24A28B89D332}"/>
              </a:ext>
            </a:extLst>
          </p:cNvPr>
          <p:cNvSpPr/>
          <p:nvPr/>
        </p:nvSpPr>
        <p:spPr>
          <a:xfrm>
            <a:off x="4467600" y="207740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9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07E6-92C2-8C32-066B-12693452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E22752-FCD7-A062-6E9E-B213CBC1102B}"/>
              </a:ext>
            </a:extLst>
          </p:cNvPr>
          <p:cNvSpPr/>
          <p:nvPr/>
        </p:nvSpPr>
        <p:spPr>
          <a:xfrm>
            <a:off x="1899110" y="1983136"/>
            <a:ext cx="9603130" cy="3611880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720A5-D17E-2A48-479B-66D0377F09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A6990A02-51BA-24C0-196E-DEB23EDBC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BD8691-F07B-F5FB-0F55-8E188FFC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>
                <a:solidFill>
                  <a:srgbClr val="0A54E7"/>
                </a:solidFill>
                <a:latin typeface="☞NOIR PRO MEDIUM" pitchFamily="2" charset="0"/>
              </a:rPr>
              <a:t>Reliability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A1BE1706-0BA8-767C-DF60-19FDC3BC6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Reportgeneratordemo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82964-60AA-8690-64FB-8B32A1C26A5C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A6479-63C1-9CD7-08B3-0AC151DBBAD1}"/>
              </a:ext>
            </a:extLst>
          </p:cNvPr>
          <p:cNvSpPr txBox="1"/>
          <p:nvPr/>
        </p:nvSpPr>
        <p:spPr>
          <a:xfrm rot="16200000">
            <a:off x="-92581" y="3636790"/>
            <a:ext cx="1284475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Reliability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5BB4D4-977D-1384-7190-113A28D56D13}"/>
              </a:ext>
            </a:extLst>
          </p:cNvPr>
          <p:cNvSpPr txBox="1"/>
          <p:nvPr/>
        </p:nvSpPr>
        <p:spPr>
          <a:xfrm>
            <a:off x="5578103" y="5901169"/>
            <a:ext cx="2525199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dirty="0">
                <a:solidFill>
                  <a:srgbClr val="0A54E7"/>
                </a:solidFill>
                <a:latin typeface="☞NOIR PRO MEDIUM" pitchFamily="2" charset="0"/>
              </a:rPr>
              <a:t>Open findings above set objective*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743769-70DC-C2EE-8A2A-B4696154751A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E6C562-3415-3211-5307-13042C69AFC9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F810A8-DD23-5716-5888-00095732BFA3}"/>
              </a:ext>
            </a:extLst>
          </p:cNvPr>
          <p:cNvGrpSpPr/>
          <p:nvPr/>
        </p:nvGrpSpPr>
        <p:grpSpPr>
          <a:xfrm>
            <a:off x="5118606" y="1363956"/>
            <a:ext cx="2419801" cy="390363"/>
            <a:chOff x="4652159" y="1363956"/>
            <a:chExt cx="241980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F1A8D06-041F-26C7-1DD2-61446A90A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67F50D-638B-55F6-F607-054E036A817A}"/>
                </a:ext>
              </a:extLst>
            </p:cNvPr>
            <p:cNvSpPr txBox="1"/>
            <p:nvPr/>
          </p:nvSpPr>
          <p:spPr>
            <a:xfrm>
              <a:off x="4987587" y="1363956"/>
              <a:ext cx="208437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rgbClr val="0A54E7"/>
                  </a:solidFill>
                  <a:latin typeface="☞NOIR PRO MEDIUM" pitchFamily="2" charset="0"/>
                </a:rPr>
                <a:t>reliability scoring</a:t>
              </a:r>
            </a:p>
          </p:txBody>
        </p:sp>
      </p:grpSp>
      <p:graphicFrame>
        <p:nvGraphicFramePr>
          <p:cNvPr id="2" name="PORTFOLIO_RELIABILITY_SCATTERPLOT">
            <a:extLst>
              <a:ext uri="{FF2B5EF4-FFF2-40B4-BE49-F238E27FC236}">
                <a16:creationId xmlns:a16="http://schemas.microsoft.com/office/drawing/2014/main" id="{B39A37C3-60BD-D736-16FC-B0151872FF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9198386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9C3531-8AF8-6021-8484-549BFE1E75AC}"/>
              </a:ext>
            </a:extLst>
          </p:cNvPr>
          <p:cNvSpPr txBox="1"/>
          <p:nvPr/>
        </p:nvSpPr>
        <p:spPr>
          <a:xfrm>
            <a:off x="9174032" y="6175668"/>
            <a:ext cx="2925950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*Defaults to ≤Medium if no objectives set</a:t>
            </a:r>
          </a:p>
        </p:txBody>
      </p:sp>
    </p:spTree>
    <p:extLst>
      <p:ext uri="{BB962C8B-B14F-4D97-AF65-F5344CB8AC3E}">
        <p14:creationId xmlns:p14="http://schemas.microsoft.com/office/powerpoint/2010/main" val="70869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4938-716F-5455-516C-609B13E4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1B4870-0B42-1DC5-BAFF-26CF35E6344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8FEF06-E575-FF48-8B9E-114BB96EA2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3D334A-95F7-4B3F-9319-C9548479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A986A-2419-240A-D923-4054BAD5D2E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9A195BAA-266B-AEF8-8A86-5DBF12312698}"/>
              </a:ext>
            </a:extLst>
          </p:cNvPr>
          <p:cNvSpPr/>
          <p:nvPr/>
        </p:nvSpPr>
        <p:spPr>
          <a:xfrm>
            <a:off x="4483780" y="2704740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2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49BF-04C3-C85F-53D5-5BAD8C10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32EF6C-DE9A-1B65-9769-A5AC8FD8087A}"/>
              </a:ext>
            </a:extLst>
          </p:cNvPr>
          <p:cNvSpPr/>
          <p:nvPr/>
        </p:nvSpPr>
        <p:spPr>
          <a:xfrm>
            <a:off x="1466117" y="1617720"/>
            <a:ext cx="9605005" cy="3986901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C31A254-9956-7BF9-D6E3-EA87274BB3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000401" cy="228145"/>
          </a:xfrm>
        </p:spPr>
        <p:txBody>
          <a:bodyPr/>
          <a:lstStyle/>
          <a:p>
            <a:r>
              <a:rPr lang="en-US" dirty="0"/>
              <a:t>Functional Suitability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580BCF9B-86D9-21C8-7C70-2D0D96B376B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US" noProof="0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B0FE32D-B8DB-25C0-9C42-42167498E1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BDE8AB7-EA7C-30C0-9807-2F45DC3A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Suitability</a:t>
            </a:r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DFDC49-3E84-9C81-2024-CB372A4E92BF}"/>
              </a:ext>
            </a:extLst>
          </p:cNvPr>
          <p:cNvSpPr txBox="1"/>
          <p:nvPr/>
        </p:nvSpPr>
        <p:spPr>
          <a:xfrm rot="16200000">
            <a:off x="-46094" y="3636822"/>
            <a:ext cx="119150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Test code 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69B38-3D40-8646-F4EE-82C262585BFE}"/>
              </a:ext>
            </a:extLst>
          </p:cNvPr>
          <p:cNvSpPr txBox="1"/>
          <p:nvPr/>
        </p:nvSpPr>
        <p:spPr>
          <a:xfrm>
            <a:off x="5275936" y="5901169"/>
            <a:ext cx="3129532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Number of open Functional Suitability CWEs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254DAD-E039-D9F3-96E2-D727A887B8C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7C7CC9-7D5A-7655-B2D6-EBA5A4F2F492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PORTFOLIO_NPR_5333_FUNCTIONAL_SUITABILITY_SCATTERPLOT">
            <a:extLst>
              <a:ext uri="{FF2B5EF4-FFF2-40B4-BE49-F238E27FC236}">
                <a16:creationId xmlns:a16="http://schemas.microsoft.com/office/drawing/2014/main" id="{C259C17A-58AA-FC0A-C45C-F1B7D3606F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938249"/>
              </p:ext>
            </p:extLst>
          </p:nvPr>
        </p:nvGraphicFramePr>
        <p:xfrm>
          <a:off x="916412" y="1473201"/>
          <a:ext cx="10359177" cy="4492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jdelijke aanduiding voor voettekst 14">
            <a:extLst>
              <a:ext uri="{FF2B5EF4-FFF2-40B4-BE49-F238E27FC236}">
                <a16:creationId xmlns:a16="http://schemas.microsoft.com/office/drawing/2014/main" id="{764A83C7-1F5D-CED1-2CE6-DBFAC3F39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02830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3BD3-285D-4E41-730B-B892002D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9F647B-3CD4-5023-9044-BC721EC9B2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403B08-EE26-9CF4-A536-2DB6BCB3B1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0642C6-203D-9DC8-4729-9CC8471E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Outline of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B92340-844C-285E-32E4-1F54FC3475B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396447"/>
          </a:xfrm>
        </p:spPr>
        <p:txBody>
          <a:bodyPr/>
          <a:lstStyle/>
          <a:p>
            <a:r>
              <a:rPr lang="en-US" dirty="0"/>
              <a:t>Maintainability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Functional Suitability</a:t>
            </a:r>
          </a:p>
          <a:p>
            <a:r>
              <a:rPr lang="en-US" dirty="0"/>
              <a:t>Appendix: Highlighted outliers </a:t>
            </a:r>
          </a:p>
        </p:txBody>
      </p:sp>
      <p:sp>
        <p:nvSpPr>
          <p:cNvPr id="6" name="Afgeronde rechthoek 27">
            <a:extLst>
              <a:ext uri="{FF2B5EF4-FFF2-40B4-BE49-F238E27FC236}">
                <a16:creationId xmlns:a16="http://schemas.microsoft.com/office/drawing/2014/main" id="{AD836954-C524-0388-39F9-0DC3891C5407}"/>
              </a:ext>
            </a:extLst>
          </p:cNvPr>
          <p:cNvSpPr/>
          <p:nvPr/>
        </p:nvSpPr>
        <p:spPr>
          <a:xfrm>
            <a:off x="4483780" y="3390542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73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911F36-F7CB-2F3B-3688-4C146CDAFA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A2732-241B-BEDA-57F2-0E92B46B83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3F398-78F6-EF4A-762E-099CD55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lowest maintainability rating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3A1D-8DA2-2D94-12AD-CE4AC4449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MAINTAINABILITY_TOP_SYSTEMS_TABLE">
            <a:extLst>
              <a:ext uri="{FF2B5EF4-FFF2-40B4-BE49-F238E27FC236}">
                <a16:creationId xmlns:a16="http://schemas.microsoft.com/office/drawing/2014/main" id="{40682DA7-6851-B9B2-1AE0-A6F9759DC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280456"/>
              </p:ext>
            </p:extLst>
          </p:nvPr>
        </p:nvGraphicFramePr>
        <p:xfrm>
          <a:off x="904099" y="1828472"/>
          <a:ext cx="10383803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1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247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Maintainability Rating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Volume (in PY)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integrationtest-git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2.1★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36.8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2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integrationtest-airflow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2.2★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55.5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3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integrationtest-elasticsearch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2.3★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262.7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4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integrationtest-jruby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2.4★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36.4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5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integrationtest-druid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2.5★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26.8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6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integrationtest-kafka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2.6★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42.6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7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integrationtest-facebookyoga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2.9★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8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integrationtest-vscode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3.0★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77.3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9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integrationtest-webpack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3.0★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11.0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0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integrationtest-bazel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3.3★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6.7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1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86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4A4A-5FB3-1B7F-3D80-C68C92A6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99E0F7-5118-1245-821D-F114C020F8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FC4C0-07BD-FBA8-1E12-9145618C7B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2DA2C-FAC3-6850-05D0-ED6B8B97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most open security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37E1B-D176-DB48-322C-5C9F1EFF3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SECURITY_FINDINGS_TOP_SYSTEMS_TABLE">
            <a:extLst>
              <a:ext uri="{FF2B5EF4-FFF2-40B4-BE49-F238E27FC236}">
                <a16:creationId xmlns:a16="http://schemas.microsoft.com/office/drawing/2014/main" id="{DAF63B00-D956-089D-5EEE-9D098A7D8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553291"/>
              </p:ext>
            </p:extLst>
          </p:nvPr>
        </p:nvGraphicFramePr>
        <p:xfrm>
          <a:off x="479153" y="1828472"/>
          <a:ext cx="11231294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1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028">
                  <a:extLst>
                    <a:ext uri="{9D8B030D-6E8A-4147-A177-3AD203B41FA5}">
                      <a16:colId xmlns:a16="http://schemas.microsoft.com/office/drawing/2014/main" val="254995918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247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Objective set</a:t>
                      </a: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Findings above objective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Rating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integrationtest-git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1550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2.6★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2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integrationtest-airflow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431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2.1★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3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integrationtest-jruby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114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1.7★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4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integrationtest-druid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96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1.9★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5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integrationtest-vscode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2.1★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6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integrationtest-kafka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2.0★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7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integrationtest-electron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2.4★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8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integrationtest-elasticsearch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1.5★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9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integrationtest-bazel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2.4★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0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integrationtest-zuul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3.3★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1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06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0D17-5712-755B-6E06-69C74DEE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5C0A52-3787-CA3B-B6F0-321DF7908E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8CE53-3500-C82F-03A9-27546F68D8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643174-E46A-3CFD-2363-5F938F6D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most open reliability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01715-F2DA-49F7-BB93-B54117288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RELIABILITY_FINDINGS_TOP_SYSTEMS_TABLE">
            <a:extLst>
              <a:ext uri="{FF2B5EF4-FFF2-40B4-BE49-F238E27FC236}">
                <a16:creationId xmlns:a16="http://schemas.microsoft.com/office/drawing/2014/main" id="{FCCA9BB9-A59F-A2D9-87B5-01C0C3B32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54199"/>
              </p:ext>
            </p:extLst>
          </p:nvPr>
        </p:nvGraphicFramePr>
        <p:xfrm>
          <a:off x="479153" y="1828472"/>
          <a:ext cx="11231294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1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028">
                  <a:extLst>
                    <a:ext uri="{9D8B030D-6E8A-4147-A177-3AD203B41FA5}">
                      <a16:colId xmlns:a16="http://schemas.microsoft.com/office/drawing/2014/main" val="254995918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247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Objective set</a:t>
                      </a: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Findings above objective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Rating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integrationtest-git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1013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2.6★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2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integrationtest-jruby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1.1★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3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integrationtest-kafka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1.9★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4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integrationtest-elasticsearch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1.5★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5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integrationtest-druid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1.4★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6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integrationtest-bazel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2.4★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7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integrationtest-zuul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3.1★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8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integrationtest-airflow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3.1★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9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integrationtest-electron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3.4★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0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integrationtest-facebookyoga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N/A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5.5★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1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64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D8EB-5877-DB2F-5CFE-9E8DEDDD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F5A386-360D-57D4-1ECE-6A65570012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US" dirty="0"/>
              <a:t>Appendix: Highlighted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84A03-542D-1545-30F3-243D3F6692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937056-5B45-BBD1-0F2B-DAE20668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systems with most open functional suitability CWEs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6896-3F3B-C598-10D3-88C5C9673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  <p:graphicFrame>
        <p:nvGraphicFramePr>
          <p:cNvPr id="7" name="FUNCTIONAL_SUITABILITY_TOP_SYSTEMS_TABLE">
            <a:extLst>
              <a:ext uri="{FF2B5EF4-FFF2-40B4-BE49-F238E27FC236}">
                <a16:creationId xmlns:a16="http://schemas.microsoft.com/office/drawing/2014/main" id="{41E5D995-AE81-504E-58DA-C3005036E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447042"/>
              </p:ext>
            </p:extLst>
          </p:nvPr>
        </p:nvGraphicFramePr>
        <p:xfrm>
          <a:off x="1515327" y="1828472"/>
          <a:ext cx="9158946" cy="380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59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29">
                  <a:extLst>
                    <a:ext uri="{9D8B030D-6E8A-4147-A177-3AD203B41FA5}">
                      <a16:colId xmlns:a16="http://schemas.microsoft.com/office/drawing/2014/main" val="2711908970"/>
                    </a:ext>
                  </a:extLst>
                </a:gridCol>
                <a:gridCol w="1733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599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Test Code Ratio</a:t>
                      </a: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</a:rPr>
                        <a:t>Open CWEs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chemeClr val="bg1"/>
                          </a:solidFill>
                        </a:rPr>
                        <a:t>Sigrid Link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integrationtest-kafka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Bold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155%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191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2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integrationtest-druid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71.6%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3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integrationtest-jruby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168%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92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4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integrationtest-bazel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97.4%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5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integrationtest-zuul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52.9%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6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integrationtest-elasticsearch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72.7%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7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integrationtest-airflow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138%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8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integrationtest-electron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40.2%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9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integrationtest-facebookyoga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369%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0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integrationtest-git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/>
                          </a:solidFill>
                          <a:latin typeface="Calibri Bold"/>
                        </a:rPr>
                        <a:t>0.2%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sz="1200" u="none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b="0" sz="1200" u="none">
                          <a:solidFill>
                            <a:schemeClr val="tx1"/>
                          </a:solidFill>
                          <a:hlinkClick r:id="rId11"/>
                        </a:rPr>
                        <a:t>link</a:t>
                      </a: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/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437748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18591</TotalTime>
  <Words>1158</Words>
  <Application>Microsoft Macintosh PowerPoint</Application>
  <PresentationFormat>Widescreen</PresentationFormat>
  <Paragraphs>481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Helvetica Neue Bold</vt:lpstr>
      <vt:lpstr>Noir Pro</vt:lpstr>
      <vt:lpstr>Noir Pro Medium</vt:lpstr>
      <vt:lpstr>Noir Pro Semi Bold</vt:lpstr>
      <vt:lpstr>Sigsterren</vt:lpstr>
      <vt:lpstr>Light theme (default)</vt:lpstr>
      <vt:lpstr>Dark theme</vt:lpstr>
      <vt:lpstr>PowerPoint Presentation</vt:lpstr>
      <vt:lpstr>Outline of topics</vt:lpstr>
      <vt:lpstr>PORTFOLIO_PERIOD_MAINT_SHORT_SUMMARY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Outline of topics</vt:lpstr>
      <vt:lpstr>Security</vt:lpstr>
      <vt:lpstr>Outline of topics</vt:lpstr>
      <vt:lpstr>Reliability</vt:lpstr>
      <vt:lpstr>Outline of topics</vt:lpstr>
      <vt:lpstr>Functional Suitability</vt:lpstr>
      <vt:lpstr>Outline of topics</vt:lpstr>
      <vt:lpstr>Top 10 systems with lowest maintainability rating</vt:lpstr>
      <vt:lpstr>Top 10 systems with most open security findings</vt:lpstr>
      <vt:lpstr>Top 10 systems with most open reliability findings</vt:lpstr>
      <vt:lpstr>Top 10 systems with most open functional suitability CWEs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254</cp:revision>
  <cp:lastPrinted>2020-04-20T09:37:43Z</cp:lastPrinted>
  <dcterms:created xsi:type="dcterms:W3CDTF">2025-10-22T11:22:13Z</dcterms:created>
  <dcterms:modified xsi:type="dcterms:W3CDTF">2026-05-26T10:26:42Z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