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Non-redundant</c:v>
                </c:pt>
              </c:strCache>
            </c:strRef>
          </c:tx>
          <c:spPr>
            <a:solidFill>
              <a:srgbClr val="40C36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New code (After)</c:v>
                </c:pt>
              </c:strCache>
            </c:strRef>
          </c:cat>
          <c:val>
            <c:numRef>
              <c:f>Sheet1!$B$2:$B$3</c:f>
              <c:numCache>
                <c:formatCode>General</c:formatCode>
                <c:ptCount val="2"/>
                <c:pt idx="0">
                  <c:v>94.752694</c:v>
                </c:pt>
                <c:pt idx="1">
                  <c:v>95.100428</c:v>
                </c:pt>
              </c:numCache>
            </c:numRef>
          </c:val>
        </c:ser>
        <c:ser>
          <c:idx val="1"/>
          <c:order val="1"/>
          <c:tx>
            <c:strRef>
              <c:f>Sheet1!$C$1</c:f>
              <c:strCache>
                <c:ptCount val="1"/>
                <c:pt idx="0">
                  <c:v>Redundant</c:v>
                </c:pt>
              </c:strCache>
            </c:strRef>
          </c:tx>
          <c:spPr>
            <a:solidFill>
              <a:srgbClr val="F1634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New code (After)</c:v>
                </c:pt>
              </c:strCache>
            </c:strRef>
          </c:cat>
          <c:val>
            <c:numRef>
              <c:f>Sheet1!$C$2:$C$3</c:f>
              <c:numCache>
                <c:formatCode>General</c:formatCode>
                <c:ptCount val="2"/>
                <c:pt idx="0">
                  <c:v>5.247306</c:v>
                </c:pt>
                <c:pt idx="1">
                  <c:v>4.899572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800" b="0" i="0" u="none" strike="noStrike">
                <a:solidFill>
                  <a:srgbClr val="3B4149"/>
                </a:solidFill>
                <a:latin typeface="Arial"/>
              </a:defRPr>
            </a:pPr>
            <a:endParaRPr lang="en-US"/>
          </a:p>
        </c:txPr>
        <c:crossAx val="2094734552"/>
        <c:crosses val="autoZero"/>
        <c:auto val="1"/>
        <c:lblAlgn val="ctr"/>
        <c:noMultiLvlLbl val="1"/>
      </c:catAx>
      <c:valAx>
        <c:axId val="2094734552"/>
        <c:scaling>
          <c:orientation val="minMax"/>
          <c:max val="100.0"/>
          <c:min val="0.0"/>
        </c:scaling>
        <c:delete val="0"/>
        <c:axPos val="b"/>
        <c:majorGridlines>
          <c:spPr>
            <a:ln w="12700" cap="flat">
              <a:solidFill>
                <a:srgbClr val="ECEEF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8A929B"/>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800">
              <a:solidFill>
                <a:srgbClr val="3B4149"/>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Low risk</c:v>
                </c:pt>
              </c:strCache>
            </c:strRef>
          </c:tx>
          <c:spPr>
            <a:solidFill>
              <a:srgbClr val="40C36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New code (After)</c:v>
                </c:pt>
              </c:strCache>
            </c:strRef>
          </c:cat>
          <c:val>
            <c:numRef>
              <c:f>Sheet1!$B$2:$B$3</c:f>
              <c:numCache>
                <c:formatCode>General</c:formatCode>
                <c:ptCount val="2"/>
                <c:pt idx="0">
                  <c:v>53.726246</c:v>
                </c:pt>
                <c:pt idx="1">
                  <c:v>65.272582</c:v>
                </c:pt>
              </c:numCache>
            </c:numRef>
          </c:val>
        </c:ser>
        <c:ser>
          <c:idx val="1"/>
          <c:order val="1"/>
          <c:tx>
            <c:strRef>
              <c:f>Sheet1!$C$1</c:f>
              <c:strCache>
                <c:ptCount val="1"/>
                <c:pt idx="0">
                  <c:v>Medium risk</c:v>
                </c:pt>
              </c:strCache>
            </c:strRef>
          </c:tx>
          <c:spPr>
            <a:solidFill>
              <a:srgbClr val="F1C10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New code (After)</c:v>
                </c:pt>
              </c:strCache>
            </c:strRef>
          </c:cat>
          <c:val>
            <c:numRef>
              <c:f>Sheet1!$C$2:$C$3</c:f>
              <c:numCache>
                <c:formatCode>General</c:formatCode>
                <c:ptCount val="2"/>
                <c:pt idx="0">
                  <c:v>21.585393</c:v>
                </c:pt>
                <c:pt idx="1">
                  <c:v>21.159515</c:v>
                </c:pt>
              </c:numCache>
            </c:numRef>
          </c:val>
        </c:ser>
        <c:ser>
          <c:idx val="2"/>
          <c:order val="2"/>
          <c:tx>
            <c:strRef>
              <c:f>Sheet1!$D$1</c:f>
              <c:strCache>
                <c:ptCount val="1"/>
                <c:pt idx="0">
                  <c:v>High risk</c:v>
                </c:pt>
              </c:strCache>
            </c:strRef>
          </c:tx>
          <c:spPr>
            <a:solidFill>
              <a:srgbClr val="F69C3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New code (After)</c:v>
                </c:pt>
              </c:strCache>
            </c:strRef>
          </c:cat>
          <c:val>
            <c:numRef>
              <c:f>Sheet1!$D$2:$D$3</c:f>
              <c:numCache>
                <c:formatCode>General</c:formatCode>
                <c:ptCount val="2"/>
                <c:pt idx="0">
                  <c:v>15.00278</c:v>
                </c:pt>
                <c:pt idx="1">
                  <c:v>10.139754</c:v>
                </c:pt>
              </c:numCache>
            </c:numRef>
          </c:val>
        </c:ser>
        <c:ser>
          <c:idx val="3"/>
          <c:order val="3"/>
          <c:tx>
            <c:strRef>
              <c:f>Sheet1!$E$1</c:f>
              <c:strCache>
                <c:ptCount val="1"/>
                <c:pt idx="0">
                  <c:v>Very high risk</c:v>
                </c:pt>
              </c:strCache>
            </c:strRef>
          </c:tx>
          <c:spPr>
            <a:solidFill>
              <a:srgbClr val="F1634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New code (After)</c:v>
                </c:pt>
              </c:strCache>
            </c:strRef>
          </c:cat>
          <c:val>
            <c:numRef>
              <c:f>Sheet1!$E$2:$E$3</c:f>
              <c:numCache>
                <c:formatCode>General</c:formatCode>
                <c:ptCount val="2"/>
                <c:pt idx="0">
                  <c:v>9.685581</c:v>
                </c:pt>
                <c:pt idx="1">
                  <c:v>3.428148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800" b="0" i="0" u="none" strike="noStrike">
                <a:solidFill>
                  <a:srgbClr val="3B4149"/>
                </a:solidFill>
                <a:latin typeface="Arial"/>
              </a:defRPr>
            </a:pPr>
            <a:endParaRPr lang="en-US"/>
          </a:p>
        </c:txPr>
        <c:crossAx val="2094734552"/>
        <c:crosses val="autoZero"/>
        <c:auto val="1"/>
        <c:lblAlgn val="ctr"/>
        <c:noMultiLvlLbl val="1"/>
      </c:catAx>
      <c:valAx>
        <c:axId val="2094734552"/>
        <c:scaling>
          <c:orientation val="minMax"/>
          <c:max val="100.0"/>
          <c:min val="0.0"/>
        </c:scaling>
        <c:delete val="0"/>
        <c:axPos val="b"/>
        <c:majorGridlines>
          <c:spPr>
            <a:ln w="12700" cap="flat">
              <a:solidFill>
                <a:srgbClr val="ECEEF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8A929B"/>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800">
              <a:solidFill>
                <a:srgbClr val="3B4149"/>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Low risk</c:v>
                </c:pt>
              </c:strCache>
            </c:strRef>
          </c:tx>
          <c:spPr>
            <a:solidFill>
              <a:srgbClr val="40C36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New code (After)</c:v>
                </c:pt>
              </c:strCache>
            </c:strRef>
          </c:cat>
          <c:val>
            <c:numRef>
              <c:f>Sheet1!$B$2:$B$3</c:f>
              <c:numCache>
                <c:formatCode>General</c:formatCode>
                <c:ptCount val="2"/>
                <c:pt idx="0">
                  <c:v>74.100809</c:v>
                </c:pt>
                <c:pt idx="1">
                  <c:v>78.597504</c:v>
                </c:pt>
              </c:numCache>
            </c:numRef>
          </c:val>
        </c:ser>
        <c:ser>
          <c:idx val="1"/>
          <c:order val="1"/>
          <c:tx>
            <c:strRef>
              <c:f>Sheet1!$C$1</c:f>
              <c:strCache>
                <c:ptCount val="1"/>
                <c:pt idx="0">
                  <c:v>Medium risk</c:v>
                </c:pt>
              </c:strCache>
            </c:strRef>
          </c:tx>
          <c:spPr>
            <a:solidFill>
              <a:srgbClr val="F1C10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New code (After)</c:v>
                </c:pt>
              </c:strCache>
            </c:strRef>
          </c:cat>
          <c:val>
            <c:numRef>
              <c:f>Sheet1!$C$2:$C$3</c:f>
              <c:numCache>
                <c:formatCode>General</c:formatCode>
                <c:ptCount val="2"/>
                <c:pt idx="0">
                  <c:v>16.141358</c:v>
                </c:pt>
                <c:pt idx="1">
                  <c:v>16.059799</c:v>
                </c:pt>
              </c:numCache>
            </c:numRef>
          </c:val>
        </c:ser>
        <c:ser>
          <c:idx val="2"/>
          <c:order val="2"/>
          <c:tx>
            <c:strRef>
              <c:f>Sheet1!$D$1</c:f>
              <c:strCache>
                <c:ptCount val="1"/>
                <c:pt idx="0">
                  <c:v>High risk</c:v>
                </c:pt>
              </c:strCache>
            </c:strRef>
          </c:tx>
          <c:spPr>
            <a:solidFill>
              <a:srgbClr val="F69C3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New code (After)</c:v>
                </c:pt>
              </c:strCache>
            </c:strRef>
          </c:cat>
          <c:val>
            <c:numRef>
              <c:f>Sheet1!$D$2:$D$3</c:f>
              <c:numCache>
                <c:formatCode>General</c:formatCode>
                <c:ptCount val="2"/>
                <c:pt idx="0">
                  <c:v>8.624033</c:v>
                </c:pt>
                <c:pt idx="1">
                  <c:v>5.342697</c:v>
                </c:pt>
              </c:numCache>
            </c:numRef>
          </c:val>
        </c:ser>
        <c:ser>
          <c:idx val="3"/>
          <c:order val="3"/>
          <c:tx>
            <c:strRef>
              <c:f>Sheet1!$E$1</c:f>
              <c:strCache>
                <c:ptCount val="1"/>
                <c:pt idx="0">
                  <c:v>Very high risk</c:v>
                </c:pt>
              </c:strCache>
            </c:strRef>
          </c:tx>
          <c:spPr>
            <a:solidFill>
              <a:srgbClr val="F1634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New code (After)</c:v>
                </c:pt>
              </c:strCache>
            </c:strRef>
          </c:cat>
          <c:val>
            <c:numRef>
              <c:f>Sheet1!$E$2:$E$3</c:f>
              <c:numCache>
                <c:formatCode>General</c:formatCode>
                <c:ptCount val="2"/>
                <c:pt idx="0">
                  <c:v>1.1338</c:v>
                </c:pt>
                <c:pt idx="1">
                  <c:v>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800" b="0" i="0" u="none" strike="noStrike">
                <a:solidFill>
                  <a:srgbClr val="3B4149"/>
                </a:solidFill>
                <a:latin typeface="Arial"/>
              </a:defRPr>
            </a:pPr>
            <a:endParaRPr lang="en-US"/>
          </a:p>
        </c:txPr>
        <c:crossAx val="2094734552"/>
        <c:crosses val="autoZero"/>
        <c:auto val="1"/>
        <c:lblAlgn val="ctr"/>
        <c:noMultiLvlLbl val="1"/>
      </c:catAx>
      <c:valAx>
        <c:axId val="2094734552"/>
        <c:scaling>
          <c:orientation val="minMax"/>
          <c:max val="100.0"/>
          <c:min val="0.0"/>
        </c:scaling>
        <c:delete val="0"/>
        <c:axPos val="b"/>
        <c:majorGridlines>
          <c:spPr>
            <a:ln w="12700" cap="flat">
              <a:solidFill>
                <a:srgbClr val="ECEEF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8A929B"/>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800">
              <a:solidFill>
                <a:srgbClr val="3B4149"/>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Low risk</c:v>
                </c:pt>
              </c:strCache>
            </c:strRef>
          </c:tx>
          <c:spPr>
            <a:solidFill>
              <a:srgbClr val="40C36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New code (After)</c:v>
                </c:pt>
              </c:strCache>
            </c:strRef>
          </c:cat>
          <c:val>
            <c:numRef>
              <c:f>Sheet1!$B$2:$B$3</c:f>
              <c:numCache>
                <c:formatCode>General</c:formatCode>
                <c:ptCount val="2"/>
                <c:pt idx="0">
                  <c:v>77.786722</c:v>
                </c:pt>
                <c:pt idx="1">
                  <c:v>72.809229</c:v>
                </c:pt>
              </c:numCache>
            </c:numRef>
          </c:val>
        </c:ser>
        <c:ser>
          <c:idx val="1"/>
          <c:order val="1"/>
          <c:tx>
            <c:strRef>
              <c:f>Sheet1!$C$1</c:f>
              <c:strCache>
                <c:ptCount val="1"/>
                <c:pt idx="0">
                  <c:v>Medium risk</c:v>
                </c:pt>
              </c:strCache>
            </c:strRef>
          </c:tx>
          <c:spPr>
            <a:solidFill>
              <a:srgbClr val="F1C10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New code (After)</c:v>
                </c:pt>
              </c:strCache>
            </c:strRef>
          </c:cat>
          <c:val>
            <c:numRef>
              <c:f>Sheet1!$C$2:$C$3</c:f>
              <c:numCache>
                <c:formatCode>General</c:formatCode>
                <c:ptCount val="2"/>
                <c:pt idx="0">
                  <c:v>14.476147</c:v>
                </c:pt>
                <c:pt idx="1">
                  <c:v>13.939896</c:v>
                </c:pt>
              </c:numCache>
            </c:numRef>
          </c:val>
        </c:ser>
        <c:ser>
          <c:idx val="2"/>
          <c:order val="2"/>
          <c:tx>
            <c:strRef>
              <c:f>Sheet1!$D$1</c:f>
              <c:strCache>
                <c:ptCount val="1"/>
                <c:pt idx="0">
                  <c:v>High risk</c:v>
                </c:pt>
              </c:strCache>
            </c:strRef>
          </c:tx>
          <c:spPr>
            <a:solidFill>
              <a:srgbClr val="F69C3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New code (After)</c:v>
                </c:pt>
              </c:strCache>
            </c:strRef>
          </c:cat>
          <c:val>
            <c:numRef>
              <c:f>Sheet1!$D$2:$D$3</c:f>
              <c:numCache>
                <c:formatCode>General</c:formatCode>
                <c:ptCount val="2"/>
                <c:pt idx="0">
                  <c:v>4.126806</c:v>
                </c:pt>
                <c:pt idx="1">
                  <c:v>8.912725</c:v>
                </c:pt>
              </c:numCache>
            </c:numRef>
          </c:val>
        </c:ser>
        <c:ser>
          <c:idx val="3"/>
          <c:order val="3"/>
          <c:tx>
            <c:strRef>
              <c:f>Sheet1!$E$1</c:f>
              <c:strCache>
                <c:ptCount val="1"/>
                <c:pt idx="0">
                  <c:v>Very high risk</c:v>
                </c:pt>
              </c:strCache>
            </c:strRef>
          </c:tx>
          <c:spPr>
            <a:solidFill>
              <a:srgbClr val="F1634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New code (After)</c:v>
                </c:pt>
              </c:strCache>
            </c:strRef>
          </c:cat>
          <c:val>
            <c:numRef>
              <c:f>Sheet1!$E$2:$E$3</c:f>
              <c:numCache>
                <c:formatCode>General</c:formatCode>
                <c:ptCount val="2"/>
                <c:pt idx="0">
                  <c:v>3.610326</c:v>
                </c:pt>
                <c:pt idx="1">
                  <c:v>4.33815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800" b="0" i="0" u="none" strike="noStrike">
                <a:solidFill>
                  <a:srgbClr val="3B4149"/>
                </a:solidFill>
                <a:latin typeface="Arial"/>
              </a:defRPr>
            </a:pPr>
            <a:endParaRPr lang="en-US"/>
          </a:p>
        </c:txPr>
        <c:crossAx val="2094734552"/>
        <c:crosses val="autoZero"/>
        <c:auto val="1"/>
        <c:lblAlgn val="ctr"/>
        <c:noMultiLvlLbl val="1"/>
      </c:catAx>
      <c:valAx>
        <c:axId val="2094734552"/>
        <c:scaling>
          <c:orientation val="minMax"/>
          <c:max val="100.0"/>
          <c:min val="0.0"/>
        </c:scaling>
        <c:delete val="0"/>
        <c:axPos val="b"/>
        <c:majorGridlines>
          <c:spPr>
            <a:ln w="12700" cap="flat">
              <a:solidFill>
                <a:srgbClr val="ECEEF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8A929B"/>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800">
              <a:solidFill>
                <a:srgbClr val="3B4149"/>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Low risk</c:v>
                </c:pt>
              </c:strCache>
            </c:strRef>
          </c:tx>
          <c:spPr>
            <a:solidFill>
              <a:srgbClr val="40C36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New code (After)</c:v>
                </c:pt>
              </c:strCache>
            </c:strRef>
          </c:cat>
          <c:val>
            <c:numRef>
              <c:f>Sheet1!$B$2:$B$3</c:f>
              <c:numCache>
                <c:formatCode>General</c:formatCode>
                <c:ptCount val="2"/>
                <c:pt idx="0">
                  <c:v>62.400236</c:v>
                </c:pt>
                <c:pt idx="1">
                  <c:v>64.116697</c:v>
                </c:pt>
              </c:numCache>
            </c:numRef>
          </c:val>
        </c:ser>
        <c:ser>
          <c:idx val="1"/>
          <c:order val="1"/>
          <c:tx>
            <c:strRef>
              <c:f>Sheet1!$C$1</c:f>
              <c:strCache>
                <c:ptCount val="1"/>
                <c:pt idx="0">
                  <c:v>Medium risk</c:v>
                </c:pt>
              </c:strCache>
            </c:strRef>
          </c:tx>
          <c:spPr>
            <a:solidFill>
              <a:srgbClr val="F1C10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New code (After)</c:v>
                </c:pt>
              </c:strCache>
            </c:strRef>
          </c:cat>
          <c:val>
            <c:numRef>
              <c:f>Sheet1!$C$2:$C$3</c:f>
              <c:numCache>
                <c:formatCode>General</c:formatCode>
                <c:ptCount val="2"/>
                <c:pt idx="0">
                  <c:v>11.801705</c:v>
                </c:pt>
                <c:pt idx="1">
                  <c:v>8.163071</c:v>
                </c:pt>
              </c:numCache>
            </c:numRef>
          </c:val>
        </c:ser>
        <c:ser>
          <c:idx val="2"/>
          <c:order val="2"/>
          <c:tx>
            <c:strRef>
              <c:f>Sheet1!$D$1</c:f>
              <c:strCache>
                <c:ptCount val="1"/>
                <c:pt idx="0">
                  <c:v>High risk</c:v>
                </c:pt>
              </c:strCache>
            </c:strRef>
          </c:tx>
          <c:spPr>
            <a:solidFill>
              <a:srgbClr val="F69C3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New code (After)</c:v>
                </c:pt>
              </c:strCache>
            </c:strRef>
          </c:cat>
          <c:val>
            <c:numRef>
              <c:f>Sheet1!$D$2:$D$3</c:f>
              <c:numCache>
                <c:formatCode>General</c:formatCode>
                <c:ptCount val="2"/>
                <c:pt idx="0">
                  <c:v>11.962729</c:v>
                </c:pt>
                <c:pt idx="1">
                  <c:v>5.929868</c:v>
                </c:pt>
              </c:numCache>
            </c:numRef>
          </c:val>
        </c:ser>
        <c:ser>
          <c:idx val="3"/>
          <c:order val="3"/>
          <c:tx>
            <c:strRef>
              <c:f>Sheet1!$E$1</c:f>
              <c:strCache>
                <c:ptCount val="1"/>
                <c:pt idx="0">
                  <c:v>Very high risk</c:v>
                </c:pt>
              </c:strCache>
            </c:strRef>
          </c:tx>
          <c:spPr>
            <a:solidFill>
              <a:srgbClr val="F1634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New code (After)</c:v>
                </c:pt>
              </c:strCache>
            </c:strRef>
          </c:cat>
          <c:val>
            <c:numRef>
              <c:f>Sheet1!$E$2:$E$3</c:f>
              <c:numCache>
                <c:formatCode>General</c:formatCode>
                <c:ptCount val="2"/>
                <c:pt idx="0">
                  <c:v>13.83533</c:v>
                </c:pt>
                <c:pt idx="1">
                  <c:v>21.790364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800" b="0" i="0" u="none" strike="noStrike">
                <a:solidFill>
                  <a:srgbClr val="3B4149"/>
                </a:solidFill>
                <a:latin typeface="Arial"/>
              </a:defRPr>
            </a:pPr>
            <a:endParaRPr lang="en-US"/>
          </a:p>
        </c:txPr>
        <c:crossAx val="2094734552"/>
        <c:crosses val="autoZero"/>
        <c:auto val="1"/>
        <c:lblAlgn val="ctr"/>
        <c:noMultiLvlLbl val="1"/>
      </c:catAx>
      <c:valAx>
        <c:axId val="2094734552"/>
        <c:scaling>
          <c:orientation val="minMax"/>
          <c:max val="100.0"/>
          <c:min val="0.0"/>
        </c:scaling>
        <c:delete val="0"/>
        <c:axPos val="b"/>
        <c:majorGridlines>
          <c:spPr>
            <a:ln w="12700" cap="flat">
              <a:solidFill>
                <a:srgbClr val="ECEEF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8A929B"/>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800">
              <a:solidFill>
                <a:srgbClr val="3B4149"/>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Non-redundant</c:v>
                </c:pt>
              </c:strCache>
            </c:strRef>
          </c:tx>
          <c:spPr>
            <a:solidFill>
              <a:srgbClr val="40C36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Sheet1!$A$2:$A$4</c:f>
              <c:strCache>
                <c:ptCount val="3"/>
                <c:pt idx="0">
                  <c:v>Total code (Before)</c:v>
                </c:pt>
                <c:pt idx="1">
                  <c:v>Changed code (Before)</c:v>
                </c:pt>
                <c:pt idx="2">
                  <c:v>Changed code (After)</c:v>
                </c:pt>
              </c:strCache>
            </c:strRef>
          </c:cat>
          <c:val>
            <c:numRef>
              <c:f>Sheet1!$B$2:$B$4</c:f>
              <c:numCache>
                <c:formatCode>General</c:formatCode>
                <c:ptCount val="3"/>
                <c:pt idx="0">
                  <c:v>94.752694</c:v>
                </c:pt>
                <c:pt idx="1">
                  <c:v>94.458649</c:v>
                </c:pt>
                <c:pt idx="2">
                  <c:v>94.621811</c:v>
                </c:pt>
              </c:numCache>
            </c:numRef>
          </c:val>
        </c:ser>
        <c:ser>
          <c:idx val="1"/>
          <c:order val="1"/>
          <c:tx>
            <c:strRef>
              <c:f>Sheet1!$C$1</c:f>
              <c:strCache>
                <c:ptCount val="1"/>
                <c:pt idx="0">
                  <c:v>Redundant</c:v>
                </c:pt>
              </c:strCache>
            </c:strRef>
          </c:tx>
          <c:spPr>
            <a:solidFill>
              <a:srgbClr val="F1634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Sheet1!$A$2:$A$4</c:f>
              <c:strCache>
                <c:ptCount val="3"/>
                <c:pt idx="0">
                  <c:v>Total code (Before)</c:v>
                </c:pt>
                <c:pt idx="1">
                  <c:v>Changed code (Before)</c:v>
                </c:pt>
                <c:pt idx="2">
                  <c:v>Changed code (After)</c:v>
                </c:pt>
              </c:strCache>
            </c:strRef>
          </c:cat>
          <c:val>
            <c:numRef>
              <c:f>Sheet1!$C$2:$C$4</c:f>
              <c:numCache>
                <c:formatCode>General</c:formatCode>
                <c:ptCount val="3"/>
                <c:pt idx="0">
                  <c:v>5.247306</c:v>
                </c:pt>
                <c:pt idx="1">
                  <c:v>5.541351</c:v>
                </c:pt>
                <c:pt idx="2">
                  <c:v>5.378189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800" b="0" i="0" u="none" strike="noStrike">
                <a:solidFill>
                  <a:srgbClr val="3B4149"/>
                </a:solidFill>
                <a:latin typeface="Arial"/>
              </a:defRPr>
            </a:pPr>
            <a:endParaRPr lang="en-US"/>
          </a:p>
        </c:txPr>
        <c:crossAx val="2094734552"/>
        <c:crosses val="autoZero"/>
        <c:auto val="1"/>
        <c:lblAlgn val="ctr"/>
        <c:noMultiLvlLbl val="1"/>
      </c:catAx>
      <c:valAx>
        <c:axId val="2094734552"/>
        <c:scaling>
          <c:orientation val="minMax"/>
          <c:max val="100.0"/>
          <c:min val="0.0"/>
        </c:scaling>
        <c:delete val="0"/>
        <c:axPos val="b"/>
        <c:majorGridlines>
          <c:spPr>
            <a:ln w="12700" cap="flat">
              <a:solidFill>
                <a:srgbClr val="ECEEF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8A929B"/>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800">
              <a:solidFill>
                <a:srgbClr val="3B4149"/>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Low risk</c:v>
                </c:pt>
              </c:strCache>
            </c:strRef>
          </c:tx>
          <c:spPr>
            <a:solidFill>
              <a:srgbClr val="40C36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Sheet1!$A$2:$A$4</c:f>
              <c:strCache>
                <c:ptCount val="3"/>
                <c:pt idx="0">
                  <c:v>Total code (Before)</c:v>
                </c:pt>
                <c:pt idx="1">
                  <c:v>Changed code (Before)</c:v>
                </c:pt>
                <c:pt idx="2">
                  <c:v>Changed code (After)</c:v>
                </c:pt>
              </c:strCache>
            </c:strRef>
          </c:cat>
          <c:val>
            <c:numRef>
              <c:f>Sheet1!$B$2:$B$4</c:f>
              <c:numCache>
                <c:formatCode>General</c:formatCode>
                <c:ptCount val="3"/>
                <c:pt idx="0">
                  <c:v>53.726246</c:v>
                </c:pt>
                <c:pt idx="1">
                  <c:v>43.930025</c:v>
                </c:pt>
                <c:pt idx="2">
                  <c:v>43.770787</c:v>
                </c:pt>
              </c:numCache>
            </c:numRef>
          </c:val>
        </c:ser>
        <c:ser>
          <c:idx val="1"/>
          <c:order val="1"/>
          <c:tx>
            <c:strRef>
              <c:f>Sheet1!$C$1</c:f>
              <c:strCache>
                <c:ptCount val="1"/>
                <c:pt idx="0">
                  <c:v>Medium risk</c:v>
                </c:pt>
              </c:strCache>
            </c:strRef>
          </c:tx>
          <c:spPr>
            <a:solidFill>
              <a:srgbClr val="F1C10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Sheet1!$A$2:$A$4</c:f>
              <c:strCache>
                <c:ptCount val="3"/>
                <c:pt idx="0">
                  <c:v>Total code (Before)</c:v>
                </c:pt>
                <c:pt idx="1">
                  <c:v>Changed code (Before)</c:v>
                </c:pt>
                <c:pt idx="2">
                  <c:v>Changed code (After)</c:v>
                </c:pt>
              </c:strCache>
            </c:strRef>
          </c:cat>
          <c:val>
            <c:numRef>
              <c:f>Sheet1!$C$2:$C$4</c:f>
              <c:numCache>
                <c:formatCode>General</c:formatCode>
                <c:ptCount val="3"/>
                <c:pt idx="0">
                  <c:v>21.585393</c:v>
                </c:pt>
                <c:pt idx="1">
                  <c:v>23.384001</c:v>
                </c:pt>
                <c:pt idx="2">
                  <c:v>23.191376</c:v>
                </c:pt>
              </c:numCache>
            </c:numRef>
          </c:val>
        </c:ser>
        <c:ser>
          <c:idx val="2"/>
          <c:order val="2"/>
          <c:tx>
            <c:strRef>
              <c:f>Sheet1!$D$1</c:f>
              <c:strCache>
                <c:ptCount val="1"/>
                <c:pt idx="0">
                  <c:v>High risk</c:v>
                </c:pt>
              </c:strCache>
            </c:strRef>
          </c:tx>
          <c:spPr>
            <a:solidFill>
              <a:srgbClr val="F69C3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Sheet1!$A$2:$A$4</c:f>
              <c:strCache>
                <c:ptCount val="3"/>
                <c:pt idx="0">
                  <c:v>Total code (Before)</c:v>
                </c:pt>
                <c:pt idx="1">
                  <c:v>Changed code (Before)</c:v>
                </c:pt>
                <c:pt idx="2">
                  <c:v>Changed code (After)</c:v>
                </c:pt>
              </c:strCache>
            </c:strRef>
          </c:cat>
          <c:val>
            <c:numRef>
              <c:f>Sheet1!$D$2:$D$4</c:f>
              <c:numCache>
                <c:formatCode>General</c:formatCode>
                <c:ptCount val="3"/>
                <c:pt idx="0">
                  <c:v>15.00278</c:v>
                </c:pt>
                <c:pt idx="1">
                  <c:v>20.904343</c:v>
                </c:pt>
                <c:pt idx="2">
                  <c:v>21.005505</c:v>
                </c:pt>
              </c:numCache>
            </c:numRef>
          </c:val>
        </c:ser>
        <c:ser>
          <c:idx val="3"/>
          <c:order val="3"/>
          <c:tx>
            <c:strRef>
              <c:f>Sheet1!$E$1</c:f>
              <c:strCache>
                <c:ptCount val="1"/>
                <c:pt idx="0">
                  <c:v>Very high risk</c:v>
                </c:pt>
              </c:strCache>
            </c:strRef>
          </c:tx>
          <c:spPr>
            <a:solidFill>
              <a:srgbClr val="F1634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Sheet1!$A$2:$A$4</c:f>
              <c:strCache>
                <c:ptCount val="3"/>
                <c:pt idx="0">
                  <c:v>Total code (Before)</c:v>
                </c:pt>
                <c:pt idx="1">
                  <c:v>Changed code (Before)</c:v>
                </c:pt>
                <c:pt idx="2">
                  <c:v>Changed code (After)</c:v>
                </c:pt>
              </c:strCache>
            </c:strRef>
          </c:cat>
          <c:val>
            <c:numRef>
              <c:f>Sheet1!$E$2:$E$4</c:f>
              <c:numCache>
                <c:formatCode>General</c:formatCode>
                <c:ptCount val="3"/>
                <c:pt idx="0">
                  <c:v>9.685581</c:v>
                </c:pt>
                <c:pt idx="1">
                  <c:v>11.781631</c:v>
                </c:pt>
                <c:pt idx="2">
                  <c:v>12.032332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800" b="0" i="0" u="none" strike="noStrike">
                <a:solidFill>
                  <a:srgbClr val="3B4149"/>
                </a:solidFill>
                <a:latin typeface="Arial"/>
              </a:defRPr>
            </a:pPr>
            <a:endParaRPr lang="en-US"/>
          </a:p>
        </c:txPr>
        <c:crossAx val="2094734552"/>
        <c:crosses val="autoZero"/>
        <c:auto val="1"/>
        <c:lblAlgn val="ctr"/>
        <c:noMultiLvlLbl val="1"/>
      </c:catAx>
      <c:valAx>
        <c:axId val="2094734552"/>
        <c:scaling>
          <c:orientation val="minMax"/>
          <c:max val="100.0"/>
          <c:min val="0.0"/>
        </c:scaling>
        <c:delete val="0"/>
        <c:axPos val="b"/>
        <c:majorGridlines>
          <c:spPr>
            <a:ln w="12700" cap="flat">
              <a:solidFill>
                <a:srgbClr val="ECEEF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8A929B"/>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800">
              <a:solidFill>
                <a:srgbClr val="3B4149"/>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Low risk</c:v>
                </c:pt>
              </c:strCache>
            </c:strRef>
          </c:tx>
          <c:spPr>
            <a:solidFill>
              <a:srgbClr val="40C36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Sheet1!$A$2:$A$4</c:f>
              <c:strCache>
                <c:ptCount val="3"/>
                <c:pt idx="0">
                  <c:v>Total code (Before)</c:v>
                </c:pt>
                <c:pt idx="1">
                  <c:v>Changed code (Before)</c:v>
                </c:pt>
                <c:pt idx="2">
                  <c:v>Changed code (After)</c:v>
                </c:pt>
              </c:strCache>
            </c:strRef>
          </c:cat>
          <c:val>
            <c:numRef>
              <c:f>Sheet1!$B$2:$B$4</c:f>
              <c:numCache>
                <c:formatCode>General</c:formatCode>
                <c:ptCount val="3"/>
                <c:pt idx="0">
                  <c:v>74.100809</c:v>
                </c:pt>
                <c:pt idx="1">
                  <c:v>70.516783</c:v>
                </c:pt>
                <c:pt idx="2">
                  <c:v>70.66657</c:v>
                </c:pt>
              </c:numCache>
            </c:numRef>
          </c:val>
        </c:ser>
        <c:ser>
          <c:idx val="1"/>
          <c:order val="1"/>
          <c:tx>
            <c:strRef>
              <c:f>Sheet1!$C$1</c:f>
              <c:strCache>
                <c:ptCount val="1"/>
                <c:pt idx="0">
                  <c:v>Medium risk</c:v>
                </c:pt>
              </c:strCache>
            </c:strRef>
          </c:tx>
          <c:spPr>
            <a:solidFill>
              <a:srgbClr val="F1C10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Sheet1!$A$2:$A$4</c:f>
              <c:strCache>
                <c:ptCount val="3"/>
                <c:pt idx="0">
                  <c:v>Total code (Before)</c:v>
                </c:pt>
                <c:pt idx="1">
                  <c:v>Changed code (Before)</c:v>
                </c:pt>
                <c:pt idx="2">
                  <c:v>Changed code (After)</c:v>
                </c:pt>
              </c:strCache>
            </c:strRef>
          </c:cat>
          <c:val>
            <c:numRef>
              <c:f>Sheet1!$C$2:$C$4</c:f>
              <c:numCache>
                <c:formatCode>General</c:formatCode>
                <c:ptCount val="3"/>
                <c:pt idx="0">
                  <c:v>16.141358</c:v>
                </c:pt>
                <c:pt idx="1">
                  <c:v>18.267745</c:v>
                </c:pt>
                <c:pt idx="2">
                  <c:v>18.048801</c:v>
                </c:pt>
              </c:numCache>
            </c:numRef>
          </c:val>
        </c:ser>
        <c:ser>
          <c:idx val="2"/>
          <c:order val="2"/>
          <c:tx>
            <c:strRef>
              <c:f>Sheet1!$D$1</c:f>
              <c:strCache>
                <c:ptCount val="1"/>
                <c:pt idx="0">
                  <c:v>High risk</c:v>
                </c:pt>
              </c:strCache>
            </c:strRef>
          </c:tx>
          <c:spPr>
            <a:solidFill>
              <a:srgbClr val="F69C3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Sheet1!$A$2:$A$4</c:f>
              <c:strCache>
                <c:ptCount val="3"/>
                <c:pt idx="0">
                  <c:v>Total code (Before)</c:v>
                </c:pt>
                <c:pt idx="1">
                  <c:v>Changed code (Before)</c:v>
                </c:pt>
                <c:pt idx="2">
                  <c:v>Changed code (After)</c:v>
                </c:pt>
              </c:strCache>
            </c:strRef>
          </c:cat>
          <c:val>
            <c:numRef>
              <c:f>Sheet1!$D$2:$D$4</c:f>
              <c:numCache>
                <c:formatCode>General</c:formatCode>
                <c:ptCount val="3"/>
                <c:pt idx="0">
                  <c:v>8.624033</c:v>
                </c:pt>
                <c:pt idx="1">
                  <c:v>10.127298</c:v>
                </c:pt>
                <c:pt idx="2">
                  <c:v>10.204264</c:v>
                </c:pt>
              </c:numCache>
            </c:numRef>
          </c:val>
        </c:ser>
        <c:ser>
          <c:idx val="3"/>
          <c:order val="3"/>
          <c:tx>
            <c:strRef>
              <c:f>Sheet1!$E$1</c:f>
              <c:strCache>
                <c:ptCount val="1"/>
                <c:pt idx="0">
                  <c:v>Very high risk</c:v>
                </c:pt>
              </c:strCache>
            </c:strRef>
          </c:tx>
          <c:spPr>
            <a:solidFill>
              <a:srgbClr val="F1634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Sheet1!$A$2:$A$4</c:f>
              <c:strCache>
                <c:ptCount val="3"/>
                <c:pt idx="0">
                  <c:v>Total code (Before)</c:v>
                </c:pt>
                <c:pt idx="1">
                  <c:v>Changed code (Before)</c:v>
                </c:pt>
                <c:pt idx="2">
                  <c:v>Changed code (After)</c:v>
                </c:pt>
              </c:strCache>
            </c:strRef>
          </c:cat>
          <c:val>
            <c:numRef>
              <c:f>Sheet1!$E$2:$E$4</c:f>
              <c:numCache>
                <c:formatCode>General</c:formatCode>
                <c:ptCount val="3"/>
                <c:pt idx="0">
                  <c:v>1.1338</c:v>
                </c:pt>
                <c:pt idx="1">
                  <c:v>1.088174</c:v>
                </c:pt>
                <c:pt idx="2">
                  <c:v>1.080365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800" b="0" i="0" u="none" strike="noStrike">
                <a:solidFill>
                  <a:srgbClr val="3B4149"/>
                </a:solidFill>
                <a:latin typeface="Arial"/>
              </a:defRPr>
            </a:pPr>
            <a:endParaRPr lang="en-US"/>
          </a:p>
        </c:txPr>
        <c:crossAx val="2094734552"/>
        <c:crosses val="autoZero"/>
        <c:auto val="1"/>
        <c:lblAlgn val="ctr"/>
        <c:noMultiLvlLbl val="1"/>
      </c:catAx>
      <c:valAx>
        <c:axId val="2094734552"/>
        <c:scaling>
          <c:orientation val="minMax"/>
          <c:max val="100.0"/>
          <c:min val="0.0"/>
        </c:scaling>
        <c:delete val="0"/>
        <c:axPos val="b"/>
        <c:majorGridlines>
          <c:spPr>
            <a:ln w="12700" cap="flat">
              <a:solidFill>
                <a:srgbClr val="ECEEF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8A929B"/>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800">
              <a:solidFill>
                <a:srgbClr val="3B4149"/>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Low risk</c:v>
                </c:pt>
              </c:strCache>
            </c:strRef>
          </c:tx>
          <c:spPr>
            <a:solidFill>
              <a:srgbClr val="40C36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Sheet1!$A$2:$A$4</c:f>
              <c:strCache>
                <c:ptCount val="3"/>
                <c:pt idx="0">
                  <c:v>Total code (Before)</c:v>
                </c:pt>
                <c:pt idx="1">
                  <c:v>Changed code (Before)</c:v>
                </c:pt>
                <c:pt idx="2">
                  <c:v>Changed code (After)</c:v>
                </c:pt>
              </c:strCache>
            </c:strRef>
          </c:cat>
          <c:val>
            <c:numRef>
              <c:f>Sheet1!$B$2:$B$4</c:f>
              <c:numCache>
                <c:formatCode>General</c:formatCode>
                <c:ptCount val="3"/>
                <c:pt idx="0">
                  <c:v>77.786722</c:v>
                </c:pt>
                <c:pt idx="1">
                  <c:v>71.831488</c:v>
                </c:pt>
                <c:pt idx="2">
                  <c:v>71.327433</c:v>
                </c:pt>
              </c:numCache>
            </c:numRef>
          </c:val>
        </c:ser>
        <c:ser>
          <c:idx val="1"/>
          <c:order val="1"/>
          <c:tx>
            <c:strRef>
              <c:f>Sheet1!$C$1</c:f>
              <c:strCache>
                <c:ptCount val="1"/>
                <c:pt idx="0">
                  <c:v>Medium risk</c:v>
                </c:pt>
              </c:strCache>
            </c:strRef>
          </c:tx>
          <c:spPr>
            <a:solidFill>
              <a:srgbClr val="F1C10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Sheet1!$A$2:$A$4</c:f>
              <c:strCache>
                <c:ptCount val="3"/>
                <c:pt idx="0">
                  <c:v>Total code (Before)</c:v>
                </c:pt>
                <c:pt idx="1">
                  <c:v>Changed code (Before)</c:v>
                </c:pt>
                <c:pt idx="2">
                  <c:v>Changed code (After)</c:v>
                </c:pt>
              </c:strCache>
            </c:strRef>
          </c:cat>
          <c:val>
            <c:numRef>
              <c:f>Sheet1!$C$2:$C$4</c:f>
              <c:numCache>
                <c:formatCode>General</c:formatCode>
                <c:ptCount val="3"/>
                <c:pt idx="0">
                  <c:v>14.476147</c:v>
                </c:pt>
                <c:pt idx="1">
                  <c:v>19.262046</c:v>
                </c:pt>
                <c:pt idx="2">
                  <c:v>19.771447</c:v>
                </c:pt>
              </c:numCache>
            </c:numRef>
          </c:val>
        </c:ser>
        <c:ser>
          <c:idx val="2"/>
          <c:order val="2"/>
          <c:tx>
            <c:strRef>
              <c:f>Sheet1!$D$1</c:f>
              <c:strCache>
                <c:ptCount val="1"/>
                <c:pt idx="0">
                  <c:v>High risk</c:v>
                </c:pt>
              </c:strCache>
            </c:strRef>
          </c:tx>
          <c:spPr>
            <a:solidFill>
              <a:srgbClr val="F69C3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Sheet1!$A$2:$A$4</c:f>
              <c:strCache>
                <c:ptCount val="3"/>
                <c:pt idx="0">
                  <c:v>Total code (Before)</c:v>
                </c:pt>
                <c:pt idx="1">
                  <c:v>Changed code (Before)</c:v>
                </c:pt>
                <c:pt idx="2">
                  <c:v>Changed code (After)</c:v>
                </c:pt>
              </c:strCache>
            </c:strRef>
          </c:cat>
          <c:val>
            <c:numRef>
              <c:f>Sheet1!$D$2:$D$4</c:f>
              <c:numCache>
                <c:formatCode>General</c:formatCode>
                <c:ptCount val="3"/>
                <c:pt idx="0">
                  <c:v>4.126806</c:v>
                </c:pt>
                <c:pt idx="1">
                  <c:v>5.177153</c:v>
                </c:pt>
                <c:pt idx="2">
                  <c:v>5.104575</c:v>
                </c:pt>
              </c:numCache>
            </c:numRef>
          </c:val>
        </c:ser>
        <c:ser>
          <c:idx val="3"/>
          <c:order val="3"/>
          <c:tx>
            <c:strRef>
              <c:f>Sheet1!$E$1</c:f>
              <c:strCache>
                <c:ptCount val="1"/>
                <c:pt idx="0">
                  <c:v>Very high risk</c:v>
                </c:pt>
              </c:strCache>
            </c:strRef>
          </c:tx>
          <c:spPr>
            <a:solidFill>
              <a:srgbClr val="F1634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Sheet1!$A$2:$A$4</c:f>
              <c:strCache>
                <c:ptCount val="3"/>
                <c:pt idx="0">
                  <c:v>Total code (Before)</c:v>
                </c:pt>
                <c:pt idx="1">
                  <c:v>Changed code (Before)</c:v>
                </c:pt>
                <c:pt idx="2">
                  <c:v>Changed code (After)</c:v>
                </c:pt>
              </c:strCache>
            </c:strRef>
          </c:cat>
          <c:val>
            <c:numRef>
              <c:f>Sheet1!$E$2:$E$4</c:f>
              <c:numCache>
                <c:formatCode>General</c:formatCode>
                <c:ptCount val="3"/>
                <c:pt idx="0">
                  <c:v>3.610326</c:v>
                </c:pt>
                <c:pt idx="1">
                  <c:v>3.729313</c:v>
                </c:pt>
                <c:pt idx="2">
                  <c:v>3.796544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800" b="0" i="0" u="none" strike="noStrike">
                <a:solidFill>
                  <a:srgbClr val="3B4149"/>
                </a:solidFill>
                <a:latin typeface="Arial"/>
              </a:defRPr>
            </a:pPr>
            <a:endParaRPr lang="en-US"/>
          </a:p>
        </c:txPr>
        <c:crossAx val="2094734552"/>
        <c:crosses val="autoZero"/>
        <c:auto val="1"/>
        <c:lblAlgn val="ctr"/>
        <c:noMultiLvlLbl val="1"/>
      </c:catAx>
      <c:valAx>
        <c:axId val="2094734552"/>
        <c:scaling>
          <c:orientation val="minMax"/>
          <c:max val="100.0"/>
          <c:min val="0.0"/>
        </c:scaling>
        <c:delete val="0"/>
        <c:axPos val="b"/>
        <c:majorGridlines>
          <c:spPr>
            <a:ln w="12700" cap="flat">
              <a:solidFill>
                <a:srgbClr val="ECEEF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8A929B"/>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800">
              <a:solidFill>
                <a:srgbClr val="3B4149"/>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Low risk</c:v>
                </c:pt>
              </c:strCache>
            </c:strRef>
          </c:tx>
          <c:spPr>
            <a:solidFill>
              <a:srgbClr val="40C36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Sheet1!$A$2:$A$4</c:f>
              <c:strCache>
                <c:ptCount val="3"/>
                <c:pt idx="0">
                  <c:v>Total code (Before)</c:v>
                </c:pt>
                <c:pt idx="1">
                  <c:v>Changed code (Before)</c:v>
                </c:pt>
                <c:pt idx="2">
                  <c:v>Changed code (After)</c:v>
                </c:pt>
              </c:strCache>
            </c:strRef>
          </c:cat>
          <c:val>
            <c:numRef>
              <c:f>Sheet1!$B$2:$B$4</c:f>
              <c:numCache>
                <c:formatCode>General</c:formatCode>
                <c:ptCount val="3"/>
                <c:pt idx="0">
                  <c:v>62.400236</c:v>
                </c:pt>
                <c:pt idx="1">
                  <c:v>48.365755</c:v>
                </c:pt>
                <c:pt idx="2">
                  <c:v>47.786158</c:v>
                </c:pt>
              </c:numCache>
            </c:numRef>
          </c:val>
        </c:ser>
        <c:ser>
          <c:idx val="1"/>
          <c:order val="1"/>
          <c:tx>
            <c:strRef>
              <c:f>Sheet1!$C$1</c:f>
              <c:strCache>
                <c:ptCount val="1"/>
                <c:pt idx="0">
                  <c:v>Medium risk</c:v>
                </c:pt>
              </c:strCache>
            </c:strRef>
          </c:tx>
          <c:spPr>
            <a:solidFill>
              <a:srgbClr val="F1C10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Sheet1!$A$2:$A$4</c:f>
              <c:strCache>
                <c:ptCount val="3"/>
                <c:pt idx="0">
                  <c:v>Total code (Before)</c:v>
                </c:pt>
                <c:pt idx="1">
                  <c:v>Changed code (Before)</c:v>
                </c:pt>
                <c:pt idx="2">
                  <c:v>Changed code (After)</c:v>
                </c:pt>
              </c:strCache>
            </c:strRef>
          </c:cat>
          <c:val>
            <c:numRef>
              <c:f>Sheet1!$C$2:$C$4</c:f>
              <c:numCache>
                <c:formatCode>General</c:formatCode>
                <c:ptCount val="3"/>
                <c:pt idx="0">
                  <c:v>11.801705</c:v>
                </c:pt>
                <c:pt idx="1">
                  <c:v>10.224577</c:v>
                </c:pt>
                <c:pt idx="2">
                  <c:v>11.467167</c:v>
                </c:pt>
              </c:numCache>
            </c:numRef>
          </c:val>
        </c:ser>
        <c:ser>
          <c:idx val="2"/>
          <c:order val="2"/>
          <c:tx>
            <c:strRef>
              <c:f>Sheet1!$D$1</c:f>
              <c:strCache>
                <c:ptCount val="1"/>
                <c:pt idx="0">
                  <c:v>High risk</c:v>
                </c:pt>
              </c:strCache>
            </c:strRef>
          </c:tx>
          <c:spPr>
            <a:solidFill>
              <a:srgbClr val="F69C3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Sheet1!$A$2:$A$4</c:f>
              <c:strCache>
                <c:ptCount val="3"/>
                <c:pt idx="0">
                  <c:v>Total code (Before)</c:v>
                </c:pt>
                <c:pt idx="1">
                  <c:v>Changed code (Before)</c:v>
                </c:pt>
                <c:pt idx="2">
                  <c:v>Changed code (After)</c:v>
                </c:pt>
              </c:strCache>
            </c:strRef>
          </c:cat>
          <c:val>
            <c:numRef>
              <c:f>Sheet1!$D$2:$D$4</c:f>
              <c:numCache>
                <c:formatCode>General</c:formatCode>
                <c:ptCount val="3"/>
                <c:pt idx="0">
                  <c:v>11.962729</c:v>
                </c:pt>
                <c:pt idx="1">
                  <c:v>15.243292</c:v>
                </c:pt>
                <c:pt idx="2">
                  <c:v>15.633019</c:v>
                </c:pt>
              </c:numCache>
            </c:numRef>
          </c:val>
        </c:ser>
        <c:ser>
          <c:idx val="3"/>
          <c:order val="3"/>
          <c:tx>
            <c:strRef>
              <c:f>Sheet1!$E$1</c:f>
              <c:strCache>
                <c:ptCount val="1"/>
                <c:pt idx="0">
                  <c:v>Very high risk</c:v>
                </c:pt>
              </c:strCache>
            </c:strRef>
          </c:tx>
          <c:spPr>
            <a:solidFill>
              <a:srgbClr val="F1634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Sheet1!$A$2:$A$4</c:f>
              <c:strCache>
                <c:ptCount val="3"/>
                <c:pt idx="0">
                  <c:v>Total code (Before)</c:v>
                </c:pt>
                <c:pt idx="1">
                  <c:v>Changed code (Before)</c:v>
                </c:pt>
                <c:pt idx="2">
                  <c:v>Changed code (After)</c:v>
                </c:pt>
              </c:strCache>
            </c:strRef>
          </c:cat>
          <c:val>
            <c:numRef>
              <c:f>Sheet1!$E$2:$E$4</c:f>
              <c:numCache>
                <c:formatCode>General</c:formatCode>
                <c:ptCount val="3"/>
                <c:pt idx="0">
                  <c:v>13.83533</c:v>
                </c:pt>
                <c:pt idx="1">
                  <c:v>26.166377</c:v>
                </c:pt>
                <c:pt idx="2">
                  <c:v>25.113656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800" b="0" i="0" u="none" strike="noStrike">
                <a:solidFill>
                  <a:srgbClr val="3B4149"/>
                </a:solidFill>
                <a:latin typeface="Arial"/>
              </a:defRPr>
            </a:pPr>
            <a:endParaRPr lang="en-US"/>
          </a:p>
        </c:txPr>
        <c:crossAx val="2094734552"/>
        <c:crosses val="autoZero"/>
        <c:auto val="1"/>
        <c:lblAlgn val="ctr"/>
        <c:noMultiLvlLbl val="1"/>
      </c:catAx>
      <c:valAx>
        <c:axId val="2094734552"/>
        <c:scaling>
          <c:orientation val="minMax"/>
          <c:max val="100.0"/>
          <c:min val="0.0"/>
        </c:scaling>
        <c:delete val="0"/>
        <c:axPos val="b"/>
        <c:majorGridlines>
          <c:spPr>
            <a:ln w="12700" cap="flat">
              <a:solidFill>
                <a:srgbClr val="ECEEF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8A929B"/>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800">
              <a:solidFill>
                <a:srgbClr val="3B4149"/>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Non-redundant</c:v>
                </c:pt>
              </c:strCache>
            </c:strRef>
          </c:tx>
          <c:spPr>
            <a:solidFill>
              <a:srgbClr val="40C36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Deleted code (Before)</c:v>
                </c:pt>
              </c:strCache>
            </c:strRef>
          </c:cat>
          <c:val>
            <c:numRef>
              <c:f>Sheet1!$B$2:$B$3</c:f>
              <c:numCache>
                <c:formatCode>General</c:formatCode>
                <c:ptCount val="2"/>
                <c:pt idx="0">
                  <c:v>94.752694</c:v>
                </c:pt>
                <c:pt idx="1">
                  <c:v>97.110115</c:v>
                </c:pt>
              </c:numCache>
            </c:numRef>
          </c:val>
        </c:ser>
        <c:ser>
          <c:idx val="1"/>
          <c:order val="1"/>
          <c:tx>
            <c:strRef>
              <c:f>Sheet1!$C$1</c:f>
              <c:strCache>
                <c:ptCount val="1"/>
                <c:pt idx="0">
                  <c:v>Redundant</c:v>
                </c:pt>
              </c:strCache>
            </c:strRef>
          </c:tx>
          <c:spPr>
            <a:solidFill>
              <a:srgbClr val="F1634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Deleted code (Before)</c:v>
                </c:pt>
              </c:strCache>
            </c:strRef>
          </c:cat>
          <c:val>
            <c:numRef>
              <c:f>Sheet1!$C$2:$C$3</c:f>
              <c:numCache>
                <c:formatCode>General</c:formatCode>
                <c:ptCount val="2"/>
                <c:pt idx="0">
                  <c:v>5.247306</c:v>
                </c:pt>
                <c:pt idx="1">
                  <c:v>2.889885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800" b="0" i="0" u="none" strike="noStrike">
                <a:solidFill>
                  <a:srgbClr val="3B4149"/>
                </a:solidFill>
                <a:latin typeface="Arial"/>
              </a:defRPr>
            </a:pPr>
            <a:endParaRPr lang="en-US"/>
          </a:p>
        </c:txPr>
        <c:crossAx val="2094734552"/>
        <c:crosses val="autoZero"/>
        <c:auto val="1"/>
        <c:lblAlgn val="ctr"/>
        <c:noMultiLvlLbl val="1"/>
      </c:catAx>
      <c:valAx>
        <c:axId val="2094734552"/>
        <c:scaling>
          <c:orientation val="minMax"/>
          <c:max val="100.0"/>
          <c:min val="0.0"/>
        </c:scaling>
        <c:delete val="0"/>
        <c:axPos val="b"/>
        <c:majorGridlines>
          <c:spPr>
            <a:ln w="12700" cap="flat">
              <a:solidFill>
                <a:srgbClr val="ECEEF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8A929B"/>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800">
              <a:solidFill>
                <a:srgbClr val="3B4149"/>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Low risk</c:v>
                </c:pt>
              </c:strCache>
            </c:strRef>
          </c:tx>
          <c:spPr>
            <a:solidFill>
              <a:srgbClr val="40C36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Deleted code (Before)</c:v>
                </c:pt>
              </c:strCache>
            </c:strRef>
          </c:cat>
          <c:val>
            <c:numRef>
              <c:f>Sheet1!$B$2:$B$3</c:f>
              <c:numCache>
                <c:formatCode>General</c:formatCode>
                <c:ptCount val="2"/>
                <c:pt idx="0">
                  <c:v>53.726246</c:v>
                </c:pt>
                <c:pt idx="1">
                  <c:v>71.482496</c:v>
                </c:pt>
              </c:numCache>
            </c:numRef>
          </c:val>
        </c:ser>
        <c:ser>
          <c:idx val="1"/>
          <c:order val="1"/>
          <c:tx>
            <c:strRef>
              <c:f>Sheet1!$C$1</c:f>
              <c:strCache>
                <c:ptCount val="1"/>
                <c:pt idx="0">
                  <c:v>Medium risk</c:v>
                </c:pt>
              </c:strCache>
            </c:strRef>
          </c:tx>
          <c:spPr>
            <a:solidFill>
              <a:srgbClr val="F1C10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Deleted code (Before)</c:v>
                </c:pt>
              </c:strCache>
            </c:strRef>
          </c:cat>
          <c:val>
            <c:numRef>
              <c:f>Sheet1!$C$2:$C$3</c:f>
              <c:numCache>
                <c:formatCode>General</c:formatCode>
                <c:ptCount val="2"/>
                <c:pt idx="0">
                  <c:v>21.585393</c:v>
                </c:pt>
                <c:pt idx="1">
                  <c:v>19.1693</c:v>
                </c:pt>
              </c:numCache>
            </c:numRef>
          </c:val>
        </c:ser>
        <c:ser>
          <c:idx val="2"/>
          <c:order val="2"/>
          <c:tx>
            <c:strRef>
              <c:f>Sheet1!$D$1</c:f>
              <c:strCache>
                <c:ptCount val="1"/>
                <c:pt idx="0">
                  <c:v>High risk</c:v>
                </c:pt>
              </c:strCache>
            </c:strRef>
          </c:tx>
          <c:spPr>
            <a:solidFill>
              <a:srgbClr val="F69C3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Deleted code (Before)</c:v>
                </c:pt>
              </c:strCache>
            </c:strRef>
          </c:cat>
          <c:val>
            <c:numRef>
              <c:f>Sheet1!$D$2:$D$3</c:f>
              <c:numCache>
                <c:formatCode>General</c:formatCode>
                <c:ptCount val="2"/>
                <c:pt idx="0">
                  <c:v>15.00278</c:v>
                </c:pt>
                <c:pt idx="1">
                  <c:v>9.348204</c:v>
                </c:pt>
              </c:numCache>
            </c:numRef>
          </c:val>
        </c:ser>
        <c:ser>
          <c:idx val="3"/>
          <c:order val="3"/>
          <c:tx>
            <c:strRef>
              <c:f>Sheet1!$E$1</c:f>
              <c:strCache>
                <c:ptCount val="1"/>
                <c:pt idx="0">
                  <c:v>Very high risk</c:v>
                </c:pt>
              </c:strCache>
            </c:strRef>
          </c:tx>
          <c:spPr>
            <a:solidFill>
              <a:srgbClr val="F1634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Deleted code (Before)</c:v>
                </c:pt>
              </c:strCache>
            </c:strRef>
          </c:cat>
          <c:val>
            <c:numRef>
              <c:f>Sheet1!$E$2:$E$3</c:f>
              <c:numCache>
                <c:formatCode>General</c:formatCode>
                <c:ptCount val="2"/>
                <c:pt idx="0">
                  <c:v>9.685581</c:v>
                </c:pt>
                <c:pt idx="1">
                  <c:v>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800" b="0" i="0" u="none" strike="noStrike">
                <a:solidFill>
                  <a:srgbClr val="3B4149"/>
                </a:solidFill>
                <a:latin typeface="Arial"/>
              </a:defRPr>
            </a:pPr>
            <a:endParaRPr lang="en-US"/>
          </a:p>
        </c:txPr>
        <c:crossAx val="2094734552"/>
        <c:crosses val="autoZero"/>
        <c:auto val="1"/>
        <c:lblAlgn val="ctr"/>
        <c:noMultiLvlLbl val="1"/>
      </c:catAx>
      <c:valAx>
        <c:axId val="2094734552"/>
        <c:scaling>
          <c:orientation val="minMax"/>
          <c:max val="100.0"/>
          <c:min val="0.0"/>
        </c:scaling>
        <c:delete val="0"/>
        <c:axPos val="b"/>
        <c:majorGridlines>
          <c:spPr>
            <a:ln w="12700" cap="flat">
              <a:solidFill>
                <a:srgbClr val="ECEEF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8A929B"/>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800">
              <a:solidFill>
                <a:srgbClr val="3B4149"/>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Low risk</c:v>
                </c:pt>
              </c:strCache>
            </c:strRef>
          </c:tx>
          <c:spPr>
            <a:solidFill>
              <a:srgbClr val="40C36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Deleted code (Before)</c:v>
                </c:pt>
              </c:strCache>
            </c:strRef>
          </c:cat>
          <c:val>
            <c:numRef>
              <c:f>Sheet1!$B$2:$B$3</c:f>
              <c:numCache>
                <c:formatCode>General</c:formatCode>
                <c:ptCount val="2"/>
                <c:pt idx="0">
                  <c:v>74.100809</c:v>
                </c:pt>
                <c:pt idx="1">
                  <c:v>78.470977</c:v>
                </c:pt>
              </c:numCache>
            </c:numRef>
          </c:val>
        </c:ser>
        <c:ser>
          <c:idx val="1"/>
          <c:order val="1"/>
          <c:tx>
            <c:strRef>
              <c:f>Sheet1!$C$1</c:f>
              <c:strCache>
                <c:ptCount val="1"/>
                <c:pt idx="0">
                  <c:v>Medium risk</c:v>
                </c:pt>
              </c:strCache>
            </c:strRef>
          </c:tx>
          <c:spPr>
            <a:solidFill>
              <a:srgbClr val="F1C10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Deleted code (Before)</c:v>
                </c:pt>
              </c:strCache>
            </c:strRef>
          </c:cat>
          <c:val>
            <c:numRef>
              <c:f>Sheet1!$C$2:$C$3</c:f>
              <c:numCache>
                <c:formatCode>General</c:formatCode>
                <c:ptCount val="2"/>
                <c:pt idx="0">
                  <c:v>16.141358</c:v>
                </c:pt>
                <c:pt idx="1">
                  <c:v>17.319306</c:v>
                </c:pt>
              </c:numCache>
            </c:numRef>
          </c:val>
        </c:ser>
        <c:ser>
          <c:idx val="2"/>
          <c:order val="2"/>
          <c:tx>
            <c:strRef>
              <c:f>Sheet1!$D$1</c:f>
              <c:strCache>
                <c:ptCount val="1"/>
                <c:pt idx="0">
                  <c:v>High risk</c:v>
                </c:pt>
              </c:strCache>
            </c:strRef>
          </c:tx>
          <c:spPr>
            <a:solidFill>
              <a:srgbClr val="F69C3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Deleted code (Before)</c:v>
                </c:pt>
              </c:strCache>
            </c:strRef>
          </c:cat>
          <c:val>
            <c:numRef>
              <c:f>Sheet1!$D$2:$D$3</c:f>
              <c:numCache>
                <c:formatCode>General</c:formatCode>
                <c:ptCount val="2"/>
                <c:pt idx="0">
                  <c:v>8.624033</c:v>
                </c:pt>
                <c:pt idx="1">
                  <c:v>4.209717</c:v>
                </c:pt>
              </c:numCache>
            </c:numRef>
          </c:val>
        </c:ser>
        <c:ser>
          <c:idx val="3"/>
          <c:order val="3"/>
          <c:tx>
            <c:strRef>
              <c:f>Sheet1!$E$1</c:f>
              <c:strCache>
                <c:ptCount val="1"/>
                <c:pt idx="0">
                  <c:v>Very high risk</c:v>
                </c:pt>
              </c:strCache>
            </c:strRef>
          </c:tx>
          <c:spPr>
            <a:solidFill>
              <a:srgbClr val="F1634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Deleted code (Before)</c:v>
                </c:pt>
              </c:strCache>
            </c:strRef>
          </c:cat>
          <c:val>
            <c:numRef>
              <c:f>Sheet1!$E$2:$E$3</c:f>
              <c:numCache>
                <c:formatCode>General</c:formatCode>
                <c:ptCount val="2"/>
                <c:pt idx="0">
                  <c:v>1.1338</c:v>
                </c:pt>
                <c:pt idx="1">
                  <c:v>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800" b="0" i="0" u="none" strike="noStrike">
                <a:solidFill>
                  <a:srgbClr val="3B4149"/>
                </a:solidFill>
                <a:latin typeface="Arial"/>
              </a:defRPr>
            </a:pPr>
            <a:endParaRPr lang="en-US"/>
          </a:p>
        </c:txPr>
        <c:crossAx val="2094734552"/>
        <c:crosses val="autoZero"/>
        <c:auto val="1"/>
        <c:lblAlgn val="ctr"/>
        <c:noMultiLvlLbl val="1"/>
      </c:catAx>
      <c:valAx>
        <c:axId val="2094734552"/>
        <c:scaling>
          <c:orientation val="minMax"/>
          <c:max val="100.0"/>
          <c:min val="0.0"/>
        </c:scaling>
        <c:delete val="0"/>
        <c:axPos val="b"/>
        <c:majorGridlines>
          <c:spPr>
            <a:ln w="12700" cap="flat">
              <a:solidFill>
                <a:srgbClr val="ECEEF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8A929B"/>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800">
              <a:solidFill>
                <a:srgbClr val="3B4149"/>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Low risk</c:v>
                </c:pt>
              </c:strCache>
            </c:strRef>
          </c:tx>
          <c:spPr>
            <a:solidFill>
              <a:srgbClr val="40C36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Deleted code (Before)</c:v>
                </c:pt>
              </c:strCache>
            </c:strRef>
          </c:cat>
          <c:val>
            <c:numRef>
              <c:f>Sheet1!$B$2:$B$3</c:f>
              <c:numCache>
                <c:formatCode>General</c:formatCode>
                <c:ptCount val="2"/>
                <c:pt idx="0">
                  <c:v>77.786722</c:v>
                </c:pt>
                <c:pt idx="1">
                  <c:v>67.358548</c:v>
                </c:pt>
              </c:numCache>
            </c:numRef>
          </c:val>
        </c:ser>
        <c:ser>
          <c:idx val="1"/>
          <c:order val="1"/>
          <c:tx>
            <c:strRef>
              <c:f>Sheet1!$C$1</c:f>
              <c:strCache>
                <c:ptCount val="1"/>
                <c:pt idx="0">
                  <c:v>Medium risk</c:v>
                </c:pt>
              </c:strCache>
            </c:strRef>
          </c:tx>
          <c:spPr>
            <a:solidFill>
              <a:srgbClr val="F1C10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Deleted code (Before)</c:v>
                </c:pt>
              </c:strCache>
            </c:strRef>
          </c:cat>
          <c:val>
            <c:numRef>
              <c:f>Sheet1!$C$2:$C$3</c:f>
              <c:numCache>
                <c:formatCode>General</c:formatCode>
                <c:ptCount val="2"/>
                <c:pt idx="0">
                  <c:v>14.476147</c:v>
                </c:pt>
                <c:pt idx="1">
                  <c:v>15.147916</c:v>
                </c:pt>
              </c:numCache>
            </c:numRef>
          </c:val>
        </c:ser>
        <c:ser>
          <c:idx val="2"/>
          <c:order val="2"/>
          <c:tx>
            <c:strRef>
              <c:f>Sheet1!$D$1</c:f>
              <c:strCache>
                <c:ptCount val="1"/>
                <c:pt idx="0">
                  <c:v>High risk</c:v>
                </c:pt>
              </c:strCache>
            </c:strRef>
          </c:tx>
          <c:spPr>
            <a:solidFill>
              <a:srgbClr val="F69C3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Deleted code (Before)</c:v>
                </c:pt>
              </c:strCache>
            </c:strRef>
          </c:cat>
          <c:val>
            <c:numRef>
              <c:f>Sheet1!$D$2:$D$3</c:f>
              <c:numCache>
                <c:formatCode>General</c:formatCode>
                <c:ptCount val="2"/>
                <c:pt idx="0">
                  <c:v>4.126806</c:v>
                </c:pt>
                <c:pt idx="1">
                  <c:v>11.905353</c:v>
                </c:pt>
              </c:numCache>
            </c:numRef>
          </c:val>
        </c:ser>
        <c:ser>
          <c:idx val="3"/>
          <c:order val="3"/>
          <c:tx>
            <c:strRef>
              <c:f>Sheet1!$E$1</c:f>
              <c:strCache>
                <c:ptCount val="1"/>
                <c:pt idx="0">
                  <c:v>Very high risk</c:v>
                </c:pt>
              </c:strCache>
            </c:strRef>
          </c:tx>
          <c:spPr>
            <a:solidFill>
              <a:srgbClr val="F1634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Deleted code (Before)</c:v>
                </c:pt>
              </c:strCache>
            </c:strRef>
          </c:cat>
          <c:val>
            <c:numRef>
              <c:f>Sheet1!$E$2:$E$3</c:f>
              <c:numCache>
                <c:formatCode>General</c:formatCode>
                <c:ptCount val="2"/>
                <c:pt idx="0">
                  <c:v>3.610326</c:v>
                </c:pt>
                <c:pt idx="1">
                  <c:v>5.588183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800" b="0" i="0" u="none" strike="noStrike">
                <a:solidFill>
                  <a:srgbClr val="3B4149"/>
                </a:solidFill>
                <a:latin typeface="Arial"/>
              </a:defRPr>
            </a:pPr>
            <a:endParaRPr lang="en-US"/>
          </a:p>
        </c:txPr>
        <c:crossAx val="2094734552"/>
        <c:crosses val="autoZero"/>
        <c:auto val="1"/>
        <c:lblAlgn val="ctr"/>
        <c:noMultiLvlLbl val="1"/>
      </c:catAx>
      <c:valAx>
        <c:axId val="2094734552"/>
        <c:scaling>
          <c:orientation val="minMax"/>
          <c:max val="100.0"/>
          <c:min val="0.0"/>
        </c:scaling>
        <c:delete val="0"/>
        <c:axPos val="b"/>
        <c:majorGridlines>
          <c:spPr>
            <a:ln w="12700" cap="flat">
              <a:solidFill>
                <a:srgbClr val="ECEEF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8A929B"/>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800">
              <a:solidFill>
                <a:srgbClr val="3B4149"/>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Low risk</c:v>
                </c:pt>
              </c:strCache>
            </c:strRef>
          </c:tx>
          <c:spPr>
            <a:solidFill>
              <a:srgbClr val="40C36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Deleted code (Before)</c:v>
                </c:pt>
              </c:strCache>
            </c:strRef>
          </c:cat>
          <c:val>
            <c:numRef>
              <c:f>Sheet1!$B$2:$B$3</c:f>
              <c:numCache>
                <c:formatCode>General</c:formatCode>
                <c:ptCount val="2"/>
                <c:pt idx="0">
                  <c:v>62.400236</c:v>
                </c:pt>
                <c:pt idx="1">
                  <c:v>30.208544</c:v>
                </c:pt>
              </c:numCache>
            </c:numRef>
          </c:val>
        </c:ser>
        <c:ser>
          <c:idx val="1"/>
          <c:order val="1"/>
          <c:tx>
            <c:strRef>
              <c:f>Sheet1!$C$1</c:f>
              <c:strCache>
                <c:ptCount val="1"/>
                <c:pt idx="0">
                  <c:v>Medium risk</c:v>
                </c:pt>
              </c:strCache>
            </c:strRef>
          </c:tx>
          <c:spPr>
            <a:solidFill>
              <a:srgbClr val="F1C10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Deleted code (Before)</c:v>
                </c:pt>
              </c:strCache>
            </c:strRef>
          </c:cat>
          <c:val>
            <c:numRef>
              <c:f>Sheet1!$C$2:$C$3</c:f>
              <c:numCache>
                <c:formatCode>General</c:formatCode>
                <c:ptCount val="2"/>
                <c:pt idx="0">
                  <c:v>11.801705</c:v>
                </c:pt>
                <c:pt idx="1">
                  <c:v>17.29095</c:v>
                </c:pt>
              </c:numCache>
            </c:numRef>
          </c:val>
        </c:ser>
        <c:ser>
          <c:idx val="2"/>
          <c:order val="2"/>
          <c:tx>
            <c:strRef>
              <c:f>Sheet1!$D$1</c:f>
              <c:strCache>
                <c:ptCount val="1"/>
                <c:pt idx="0">
                  <c:v>High risk</c:v>
                </c:pt>
              </c:strCache>
            </c:strRef>
          </c:tx>
          <c:spPr>
            <a:solidFill>
              <a:srgbClr val="F69C3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Deleted code (Before)</c:v>
                </c:pt>
              </c:strCache>
            </c:strRef>
          </c:cat>
          <c:val>
            <c:numRef>
              <c:f>Sheet1!$D$2:$D$3</c:f>
              <c:numCache>
                <c:formatCode>General</c:formatCode>
                <c:ptCount val="2"/>
                <c:pt idx="0">
                  <c:v>11.962729</c:v>
                </c:pt>
                <c:pt idx="1">
                  <c:v>12.613889</c:v>
                </c:pt>
              </c:numCache>
            </c:numRef>
          </c:val>
        </c:ser>
        <c:ser>
          <c:idx val="3"/>
          <c:order val="3"/>
          <c:tx>
            <c:strRef>
              <c:f>Sheet1!$E$1</c:f>
              <c:strCache>
                <c:ptCount val="1"/>
                <c:pt idx="0">
                  <c:v>Very high risk</c:v>
                </c:pt>
              </c:strCache>
            </c:strRef>
          </c:tx>
          <c:spPr>
            <a:solidFill>
              <a:srgbClr val="F1634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c:f>
              <c:strCache>
                <c:ptCount val="2"/>
                <c:pt idx="0">
                  <c:v>Total code (Before)</c:v>
                </c:pt>
                <c:pt idx="1">
                  <c:v>Deleted code (Before)</c:v>
                </c:pt>
              </c:strCache>
            </c:strRef>
          </c:cat>
          <c:val>
            <c:numRef>
              <c:f>Sheet1!$E$2:$E$3</c:f>
              <c:numCache>
                <c:formatCode>General</c:formatCode>
                <c:ptCount val="2"/>
                <c:pt idx="0">
                  <c:v>13.83533</c:v>
                </c:pt>
                <c:pt idx="1">
                  <c:v>39.886617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800" b="0" i="0" u="none" strike="noStrike">
                <a:solidFill>
                  <a:srgbClr val="3B4149"/>
                </a:solidFill>
                <a:latin typeface="Arial"/>
              </a:defRPr>
            </a:pPr>
            <a:endParaRPr lang="en-US"/>
          </a:p>
        </c:txPr>
        <c:crossAx val="2094734552"/>
        <c:crosses val="autoZero"/>
        <c:auto val="1"/>
        <c:lblAlgn val="ctr"/>
        <c:noMultiLvlLbl val="1"/>
      </c:catAx>
      <c:valAx>
        <c:axId val="2094734552"/>
        <c:scaling>
          <c:orientation val="minMax"/>
          <c:max val="100.0"/>
          <c:min val="0.0"/>
        </c:scaling>
        <c:delete val="0"/>
        <c:axPos val="b"/>
        <c:majorGridlines>
          <c:spPr>
            <a:ln w="12700" cap="flat">
              <a:solidFill>
                <a:srgbClr val="ECEEF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8A929B"/>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800">
              <a:solidFill>
                <a:srgbClr val="3B4149"/>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chart" Target="../charts/chart5.xml"/><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chart" Target="../charts/chart7.xml"/><Relationship Id="rId3" Type="http://schemas.openxmlformats.org/officeDocument/2006/relationships/chart" Target="../charts/chart8.xml"/><Relationship Id="rId4" Type="http://schemas.openxmlformats.org/officeDocument/2006/relationships/chart" Target="../charts/chart9.xml"/><Relationship Id="rId5" Type="http://schemas.openxmlformats.org/officeDocument/2006/relationships/chart" Target="../charts/chart10.xml"/><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charts/chart11.xml"/><Relationship Id="rId2" Type="http://schemas.openxmlformats.org/officeDocument/2006/relationships/chart" Target="../charts/chart12.xml"/><Relationship Id="rId3" Type="http://schemas.openxmlformats.org/officeDocument/2006/relationships/chart" Target="../charts/chart13.xml"/><Relationship Id="rId4" Type="http://schemas.openxmlformats.org/officeDocument/2006/relationships/chart" Target="../charts/chart14.xml"/><Relationship Id="rId5" Type="http://schemas.openxmlformats.org/officeDocument/2006/relationships/chart" Target="../charts/chart15.xml"/><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01752" y="274320"/>
            <a:ext cx="3753002" cy="3072384"/>
          </a:xfrm>
          <a:prstGeom prst="roundRect">
            <a:avLst>
              <a:gd name="adj" fmla="val 1786"/>
            </a:avLst>
          </a:prstGeom>
          <a:solidFill>
            <a:srgbClr val="FFFFFF"/>
          </a:solidFill>
          <a:ln w="12700">
            <a:solidFill>
              <a:srgbClr val="E3E5E8"/>
            </a:solidFill>
            <a:prstDash val="solid"/>
          </a:ln>
          <a:effectLst>
            <a:outerShdw sx="100000" sy="100000" kx="0" ky="0" algn="bl" rotWithShape="0" blurRad="76200" dist="25400" dir="5400000">
              <a:srgbClr val="9AA1A9">
                <a:alpha val="28000"/>
              </a:srgbClr>
            </a:outerShdw>
          </a:effectLst>
        </p:spPr>
        <p:txBody>
          <a:bodyPr/>
          <a:p/>
        </p:txBody>
      </p:sp>
      <p:sp>
        <p:nvSpPr>
          <p:cNvPr id="3" name="Text 1"/>
          <p:cNvSpPr/>
          <p:nvPr/>
        </p:nvSpPr>
        <p:spPr>
          <a:xfrm>
            <a:off x="484632" y="384048"/>
            <a:ext cx="3387242" cy="292608"/>
          </a:xfrm>
          <a:prstGeom prst="rect">
            <a:avLst/>
          </a:prstGeom>
          <a:noFill/>
          <a:ln/>
        </p:spPr>
        <p:txBody>
          <a:bodyPr wrap="square" lIns="0" tIns="0" rIns="0" bIns="0" rtlCol="0" anchor="ctr"/>
          <a:lstStyle/>
          <a:p>
            <a:pPr algn="l" indent="0" marL="0">
              <a:buNone/>
            </a:pPr>
            <a:r>
              <a:rPr lang="en-US" sz="1300" b="1" dirty="0">
                <a:solidFill>
                  <a:srgbClr val="1F2933"/>
                </a:solidFill>
                <a:latin typeface="Arial" pitchFamily="34" charset="0"/>
                <a:ea typeface="Arial" pitchFamily="34" charset="-122"/>
                <a:cs typeface="Arial" pitchFamily="34" charset="-120"/>
              </a:rPr>
              <a:t>New code quality</a:t>
            </a:r>
            <a:endParaRPr lang="en-US" sz="1300" dirty="0"/>
          </a:p>
        </p:txBody>
      </p:sp>
      <p:sp>
        <p:nvSpPr>
          <p:cNvPr id="4" name="Text 2"/>
          <p:cNvSpPr/>
          <p:nvPr/>
        </p:nvSpPr>
        <p:spPr>
          <a:xfrm>
            <a:off x="484632" y="731520"/>
            <a:ext cx="3387242" cy="1463040"/>
          </a:xfrm>
          <a:prstGeom prst="rect">
            <a:avLst/>
          </a:prstGeom>
          <a:noFill/>
          <a:ln/>
        </p:spPr>
        <p:txBody>
          <a:bodyPr wrap="square" lIns="0" tIns="0" rIns="0" bIns="0" rtlCol="0" anchor="t"/>
          <a:lstStyle/>
          <a:p>
            <a:pPr algn="l" indent="0" marL="0">
              <a:lnSpc>
                <a:spcPct val="103000"/>
              </a:lnSpc>
              <a:buNone/>
            </a:pPr>
            <a:r>
              <a:rPr lang="en-US" sz="850" dirty="0">
                <a:solidFill>
                  <a:srgbClr val="5B6570"/>
                </a:solidFill>
                <a:latin typeface="Arial" pitchFamily="34" charset="0"/>
                <a:ea typeface="Arial" pitchFamily="34" charset="-122"/>
                <a:cs typeface="Arial" pitchFamily="34" charset="-120"/>
              </a:rPr>
              <a:t>This compares the quality of new code against the quality of the existing code. "New code (After)" refers to the quality of code in files that were added in the selected period; "Total code (Before)" refers to the quality of the system as a whole at the start of the selected period.</a:t>
            </a:r>
            <a:endParaRPr lang="en-US" sz="850" dirty="0"/>
          </a:p>
        </p:txBody>
      </p:sp>
      <p:sp>
        <p:nvSpPr>
          <p:cNvPr id="5" name="Text 3"/>
          <p:cNvSpPr/>
          <p:nvPr/>
        </p:nvSpPr>
        <p:spPr>
          <a:xfrm>
            <a:off x="484632" y="2523744"/>
            <a:ext cx="1129081" cy="201168"/>
          </a:xfrm>
          <a:prstGeom prst="rect">
            <a:avLst/>
          </a:prstGeom>
          <a:noFill/>
          <a:ln/>
        </p:spPr>
        <p:txBody>
          <a:bodyPr wrap="square" lIns="0" tIns="0" rIns="0" bIns="0" rtlCol="0" anchor="ctr"/>
          <a:lstStyle/>
          <a:p>
            <a:pPr algn="l" indent="0" marL="0">
              <a:buNone/>
            </a:pPr>
            <a:r>
              <a:rPr lang="en-US" sz="950" dirty="0">
                <a:solidFill>
                  <a:srgbClr val="5B6570"/>
                </a:solidFill>
                <a:latin typeface="Arial" pitchFamily="34" charset="0"/>
                <a:ea typeface="Arial" pitchFamily="34" charset="-122"/>
                <a:cs typeface="Arial" pitchFamily="34" charset="-120"/>
              </a:rPr>
              <a:t>Volume</a:t>
            </a:r>
            <a:endParaRPr lang="en-US" sz="950" dirty="0"/>
          </a:p>
        </p:txBody>
      </p:sp>
      <p:sp>
        <p:nvSpPr>
          <p:cNvPr id="6" name="Text 4"/>
          <p:cNvSpPr/>
          <p:nvPr/>
        </p:nvSpPr>
        <p:spPr>
          <a:xfrm>
            <a:off x="484632" y="2724912"/>
            <a:ext cx="1129081" cy="274320"/>
          </a:xfrm>
          <a:prstGeom prst="rect">
            <a:avLst/>
          </a:prstGeom>
          <a:noFill/>
          <a:ln/>
        </p:spPr>
        <p:txBody>
          <a:bodyPr wrap="square" lIns="0" tIns="0" rIns="0" bIns="0" rtlCol="0" anchor="ctr"/>
          <a:lstStyle/>
          <a:p>
            <a:pPr algn="l" indent="0" marL="0">
              <a:buNone/>
            </a:pPr>
            <a:r>
              <a:rPr lang="en-US" sz="1400" b="1" dirty="0">
                <a:solidFill>
                  <a:srgbClr val="1F2933"/>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1613713" y="2523744"/>
            <a:ext cx="1129081" cy="201168"/>
          </a:xfrm>
          <a:prstGeom prst="rect">
            <a:avLst/>
          </a:prstGeom>
          <a:noFill/>
          <a:ln/>
        </p:spPr>
        <p:txBody>
          <a:bodyPr wrap="square" lIns="0" tIns="0" rIns="0" bIns="0" rtlCol="0" anchor="ctr"/>
          <a:lstStyle/>
          <a:p>
            <a:pPr algn="l" indent="0" marL="0">
              <a:buNone/>
            </a:pPr>
            <a:r>
              <a:rPr lang="en-US" sz="950" dirty="0">
                <a:solidFill>
                  <a:srgbClr val="5B6570"/>
                </a:solidFill>
                <a:latin typeface="Arial" pitchFamily="34" charset="0"/>
                <a:ea typeface="Arial" pitchFamily="34" charset="-122"/>
                <a:cs typeface="Arial" pitchFamily="34" charset="-120"/>
              </a:rPr>
              <a:t>Rating</a:t>
            </a:r>
            <a:endParaRPr lang="en-US" sz="950" dirty="0"/>
          </a:p>
        </p:txBody>
      </p:sp>
      <p:sp>
        <p:nvSpPr>
          <p:cNvPr id="8" name="Text 6"/>
          <p:cNvSpPr/>
          <p:nvPr/>
        </p:nvSpPr>
        <p:spPr>
          <a:xfrm>
            <a:off x="1613713" y="2724912"/>
            <a:ext cx="1129081" cy="274320"/>
          </a:xfrm>
          <a:prstGeom prst="rect">
            <a:avLst/>
          </a:prstGeom>
          <a:noFill/>
          <a:ln/>
        </p:spPr>
        <p:txBody>
          <a:bodyPr wrap="square" lIns="0" tIns="0" rIns="0" bIns="0" rtlCol="0" anchor="ctr"/>
          <a:lstStyle/>
          <a:p>
            <a:pPr algn="l" indent="0" marL="0">
              <a:buNone/>
            </a:pPr>
            <a:r>
              <a:rPr lang="en-US" sz="1400" b="1" dirty="0">
                <a:solidFill>
                  <a:srgbClr val="1F2933"/>
                </a:solidFill>
                <a:latin typeface="Arial" pitchFamily="34" charset="0"/>
                <a:ea typeface="Arial" pitchFamily="34" charset="-122"/>
                <a:cs typeface="Arial" pitchFamily="34" charset="-120"/>
              </a:rPr>
              <a:t>2.8 ★</a:t>
            </a:r>
            <a:endParaRPr lang="en-US" sz="1400" dirty="0"/>
          </a:p>
        </p:txBody>
      </p:sp>
      <p:sp>
        <p:nvSpPr>
          <p:cNvPr id="9" name="Shape 7"/>
          <p:cNvSpPr/>
          <p:nvPr/>
        </p:nvSpPr>
        <p:spPr>
          <a:xfrm>
            <a:off x="4219346" y="274320"/>
            <a:ext cx="3753002" cy="3072384"/>
          </a:xfrm>
          <a:prstGeom prst="roundRect">
            <a:avLst>
              <a:gd name="adj" fmla="val 1786"/>
            </a:avLst>
          </a:prstGeom>
          <a:solidFill>
            <a:srgbClr val="FFFFFF"/>
          </a:solidFill>
          <a:ln w="12700">
            <a:solidFill>
              <a:srgbClr val="E3E5E8"/>
            </a:solidFill>
            <a:prstDash val="solid"/>
          </a:ln>
          <a:effectLst>
            <a:outerShdw sx="100000" sy="100000" kx="0" ky="0" algn="bl" rotWithShape="0" blurRad="76200" dist="25400" dir="5400000">
              <a:srgbClr val="9AA1A9">
                <a:alpha val="28000"/>
              </a:srgbClr>
            </a:outerShdw>
          </a:effectLst>
        </p:spPr>
        <p:txBody>
          <a:bodyPr/>
          <a:p/>
        </p:txBody>
      </p:sp>
      <p:sp>
        <p:nvSpPr>
          <p:cNvPr id="10" name="Text 8"/>
          <p:cNvSpPr/>
          <p:nvPr/>
        </p:nvSpPr>
        <p:spPr>
          <a:xfrm>
            <a:off x="4402226" y="384048"/>
            <a:ext cx="3387242" cy="292608"/>
          </a:xfrm>
          <a:prstGeom prst="rect">
            <a:avLst/>
          </a:prstGeom>
          <a:noFill/>
          <a:ln/>
        </p:spPr>
        <p:txBody>
          <a:bodyPr wrap="square" lIns="0" tIns="0" rIns="0" bIns="0" rtlCol="0" anchor="ctr"/>
          <a:lstStyle/>
          <a:p>
            <a:pPr algn="l" indent="0" marL="0">
              <a:buNone/>
            </a:pPr>
            <a:r>
              <a:rPr lang="en-US" sz="1300" b="1" dirty="0">
                <a:solidFill>
                  <a:srgbClr val="1F2933"/>
                </a:solidFill>
                <a:latin typeface="Arial" pitchFamily="34" charset="0"/>
                <a:ea typeface="Arial" pitchFamily="34" charset="-122"/>
                <a:cs typeface="Arial" pitchFamily="34" charset="-120"/>
              </a:rPr>
              <a:t>Duplication</a:t>
            </a:r>
            <a:endParaRPr lang="en-US" sz="1300" dirty="0"/>
          </a:p>
        </p:txBody>
      </p:sp>
      <p:graphicFrame>
        <p:nvGraphicFramePr>
          <p:cNvPr id="11" name="DELTA_QUALITY_NEW_CODE_DUPLICATION_CHART" descr=""/>
          <p:cNvGraphicFramePr/>
          <p:nvPr/>
        </p:nvGraphicFramePr>
        <p:xfrm>
          <a:off x="4274210" y="676656"/>
          <a:ext cx="3643274" cy="2048256"/>
        </p:xfrm>
        <a:graphic xmlns:a="http://schemas.openxmlformats.org/drawingml/2006/main">
          <a:graphicData uri="http://schemas.openxmlformats.org/drawingml/2006/chart">
            <c:chart xmlns:c="http://schemas.openxmlformats.org/drawingml/2006/chart" r:id="rId1"/>
          </a:graphicData>
        </a:graphic>
      </p:graphicFrame>
      <p:sp>
        <p:nvSpPr>
          <p:cNvPr id="12" name="Text 9"/>
          <p:cNvSpPr/>
          <p:nvPr/>
        </p:nvSpPr>
        <p:spPr>
          <a:xfrm>
            <a:off x="4383938" y="2798064"/>
            <a:ext cx="1711909"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New code (After)</a:t>
            </a:r>
            <a:endParaRPr lang="en-US" sz="850" dirty="0"/>
          </a:p>
        </p:txBody>
      </p:sp>
      <p:sp>
        <p:nvSpPr>
          <p:cNvPr id="13" name="Text 10"/>
          <p:cNvSpPr/>
          <p:nvPr/>
        </p:nvSpPr>
        <p:spPr>
          <a:xfrm>
            <a:off x="4383938" y="3017520"/>
            <a:ext cx="1711909"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3.6 ★</a:t>
            </a:r>
            <a:endParaRPr lang="en-US" sz="1000" dirty="0"/>
          </a:p>
        </p:txBody>
      </p:sp>
      <p:sp>
        <p:nvSpPr>
          <p:cNvPr id="14" name="Text 11"/>
          <p:cNvSpPr/>
          <p:nvPr/>
        </p:nvSpPr>
        <p:spPr>
          <a:xfrm>
            <a:off x="6095848" y="2798064"/>
            <a:ext cx="1711909"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Total code (Before)</a:t>
            </a:r>
            <a:endParaRPr lang="en-US" sz="850" dirty="0"/>
          </a:p>
        </p:txBody>
      </p:sp>
      <p:sp>
        <p:nvSpPr>
          <p:cNvPr id="15" name="Text 12"/>
          <p:cNvSpPr/>
          <p:nvPr/>
        </p:nvSpPr>
        <p:spPr>
          <a:xfrm>
            <a:off x="6095848" y="3017520"/>
            <a:ext cx="1711909"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3.5 ★</a:t>
            </a:r>
            <a:endParaRPr lang="en-US" sz="1000" dirty="0"/>
          </a:p>
        </p:txBody>
      </p:sp>
      <p:sp>
        <p:nvSpPr>
          <p:cNvPr id="16" name="Shape 13"/>
          <p:cNvSpPr/>
          <p:nvPr/>
        </p:nvSpPr>
        <p:spPr>
          <a:xfrm>
            <a:off x="8136941" y="274320"/>
            <a:ext cx="3753002" cy="3072384"/>
          </a:xfrm>
          <a:prstGeom prst="roundRect">
            <a:avLst>
              <a:gd name="adj" fmla="val 1786"/>
            </a:avLst>
          </a:prstGeom>
          <a:solidFill>
            <a:srgbClr val="FFFFFF"/>
          </a:solidFill>
          <a:ln w="12700">
            <a:solidFill>
              <a:srgbClr val="E3E5E8"/>
            </a:solidFill>
            <a:prstDash val="solid"/>
          </a:ln>
          <a:effectLst>
            <a:outerShdw sx="100000" sy="100000" kx="0" ky="0" algn="bl" rotWithShape="0" blurRad="76200" dist="25400" dir="5400000">
              <a:srgbClr val="9AA1A9">
                <a:alpha val="28000"/>
              </a:srgbClr>
            </a:outerShdw>
          </a:effectLst>
        </p:spPr>
        <p:txBody>
          <a:bodyPr/>
          <a:p/>
        </p:txBody>
      </p:sp>
      <p:sp>
        <p:nvSpPr>
          <p:cNvPr id="17" name="Text 14"/>
          <p:cNvSpPr/>
          <p:nvPr/>
        </p:nvSpPr>
        <p:spPr>
          <a:xfrm>
            <a:off x="8319821" y="384048"/>
            <a:ext cx="3387242" cy="292608"/>
          </a:xfrm>
          <a:prstGeom prst="rect">
            <a:avLst/>
          </a:prstGeom>
          <a:noFill/>
          <a:ln/>
        </p:spPr>
        <p:txBody>
          <a:bodyPr wrap="square" lIns="0" tIns="0" rIns="0" bIns="0" rtlCol="0" anchor="ctr"/>
          <a:lstStyle/>
          <a:p>
            <a:pPr algn="l" indent="0" marL="0">
              <a:buNone/>
            </a:pPr>
            <a:r>
              <a:rPr lang="en-US" sz="1300" b="1" dirty="0">
                <a:solidFill>
                  <a:srgbClr val="1F2933"/>
                </a:solidFill>
                <a:latin typeface="Arial" pitchFamily="34" charset="0"/>
                <a:ea typeface="Arial" pitchFamily="34" charset="-122"/>
                <a:cs typeface="Arial" pitchFamily="34" charset="-120"/>
              </a:rPr>
              <a:t>Unit size</a:t>
            </a:r>
            <a:endParaRPr lang="en-US" sz="1300" dirty="0"/>
          </a:p>
        </p:txBody>
      </p:sp>
      <p:graphicFrame>
        <p:nvGraphicFramePr>
          <p:cNvPr id="18" name="DELTA_QUALITY_NEW_CODE_UNIT_SIZE_CHART" descr=""/>
          <p:cNvGraphicFramePr/>
          <p:nvPr/>
        </p:nvGraphicFramePr>
        <p:xfrm>
          <a:off x="8191805" y="676656"/>
          <a:ext cx="3643274" cy="2048256"/>
        </p:xfrm>
        <a:graphic xmlns:a="http://schemas.openxmlformats.org/drawingml/2006/main">
          <a:graphicData uri="http://schemas.openxmlformats.org/drawingml/2006/chart">
            <c:chart xmlns:c="http://schemas.openxmlformats.org/drawingml/2006/chart" r:id="rId2"/>
          </a:graphicData>
        </a:graphic>
      </p:graphicFrame>
      <p:sp>
        <p:nvSpPr>
          <p:cNvPr id="19" name="Text 15"/>
          <p:cNvSpPr/>
          <p:nvPr/>
        </p:nvSpPr>
        <p:spPr>
          <a:xfrm>
            <a:off x="8301533" y="2798064"/>
            <a:ext cx="1711909"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New code (After)</a:t>
            </a:r>
            <a:endParaRPr lang="en-US" sz="850" dirty="0"/>
          </a:p>
        </p:txBody>
      </p:sp>
      <p:sp>
        <p:nvSpPr>
          <p:cNvPr id="20" name="Text 16"/>
          <p:cNvSpPr/>
          <p:nvPr/>
        </p:nvSpPr>
        <p:spPr>
          <a:xfrm>
            <a:off x="8301533" y="3017520"/>
            <a:ext cx="1711909"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4.0 ★</a:t>
            </a:r>
            <a:endParaRPr lang="en-US" sz="1000" dirty="0"/>
          </a:p>
        </p:txBody>
      </p:sp>
      <p:sp>
        <p:nvSpPr>
          <p:cNvPr id="21" name="Text 17"/>
          <p:cNvSpPr/>
          <p:nvPr/>
        </p:nvSpPr>
        <p:spPr>
          <a:xfrm>
            <a:off x="10013442" y="2798064"/>
            <a:ext cx="1711909"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Total code (Before)</a:t>
            </a:r>
            <a:endParaRPr lang="en-US" sz="850" dirty="0"/>
          </a:p>
        </p:txBody>
      </p:sp>
      <p:sp>
        <p:nvSpPr>
          <p:cNvPr id="22" name="Text 18"/>
          <p:cNvSpPr/>
          <p:nvPr/>
        </p:nvSpPr>
        <p:spPr>
          <a:xfrm>
            <a:off x="10013442" y="3017520"/>
            <a:ext cx="1711909"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3.3 ★</a:t>
            </a:r>
            <a:endParaRPr lang="en-US" sz="1000" dirty="0"/>
          </a:p>
        </p:txBody>
      </p:sp>
      <p:sp>
        <p:nvSpPr>
          <p:cNvPr id="23" name="Shape 19"/>
          <p:cNvSpPr/>
          <p:nvPr/>
        </p:nvSpPr>
        <p:spPr>
          <a:xfrm>
            <a:off x="301752" y="3511296"/>
            <a:ext cx="3753002" cy="3072384"/>
          </a:xfrm>
          <a:prstGeom prst="roundRect">
            <a:avLst>
              <a:gd name="adj" fmla="val 1786"/>
            </a:avLst>
          </a:prstGeom>
          <a:solidFill>
            <a:srgbClr val="FFFFFF"/>
          </a:solidFill>
          <a:ln w="12700">
            <a:solidFill>
              <a:srgbClr val="E3E5E8"/>
            </a:solidFill>
            <a:prstDash val="solid"/>
          </a:ln>
          <a:effectLst>
            <a:outerShdw sx="100000" sy="100000" kx="0" ky="0" algn="bl" rotWithShape="0" blurRad="76200" dist="25400" dir="5400000">
              <a:srgbClr val="9AA1A9">
                <a:alpha val="28000"/>
              </a:srgbClr>
            </a:outerShdw>
          </a:effectLst>
        </p:spPr>
        <p:txBody>
          <a:bodyPr/>
          <a:p/>
        </p:txBody>
      </p:sp>
      <p:sp>
        <p:nvSpPr>
          <p:cNvPr id="24" name="Text 20"/>
          <p:cNvSpPr/>
          <p:nvPr/>
        </p:nvSpPr>
        <p:spPr>
          <a:xfrm>
            <a:off x="484632" y="3621024"/>
            <a:ext cx="3387242" cy="292608"/>
          </a:xfrm>
          <a:prstGeom prst="rect">
            <a:avLst/>
          </a:prstGeom>
          <a:noFill/>
          <a:ln/>
        </p:spPr>
        <p:txBody>
          <a:bodyPr wrap="square" lIns="0" tIns="0" rIns="0" bIns="0" rtlCol="0" anchor="ctr"/>
          <a:lstStyle/>
          <a:p>
            <a:pPr algn="l" indent="0" marL="0">
              <a:buNone/>
            </a:pPr>
            <a:r>
              <a:rPr lang="en-US" sz="1300" b="1" dirty="0">
                <a:solidFill>
                  <a:srgbClr val="1F2933"/>
                </a:solidFill>
                <a:latin typeface="Arial" pitchFamily="34" charset="0"/>
                <a:ea typeface="Arial" pitchFamily="34" charset="-122"/>
                <a:cs typeface="Arial" pitchFamily="34" charset="-120"/>
              </a:rPr>
              <a:t>Unit complexity</a:t>
            </a:r>
            <a:endParaRPr lang="en-US" sz="1300" dirty="0"/>
          </a:p>
        </p:txBody>
      </p:sp>
      <p:graphicFrame>
        <p:nvGraphicFramePr>
          <p:cNvPr id="25" name="DELTA_QUALITY_NEW_CODE_UNIT_COMPLEXITY_CHART" descr=""/>
          <p:cNvGraphicFramePr/>
          <p:nvPr/>
        </p:nvGraphicFramePr>
        <p:xfrm>
          <a:off x="356616" y="3913632"/>
          <a:ext cx="3643274" cy="2048256"/>
        </p:xfrm>
        <a:graphic xmlns:a="http://schemas.openxmlformats.org/drawingml/2006/main">
          <a:graphicData uri="http://schemas.openxmlformats.org/drawingml/2006/chart">
            <c:chart xmlns:c="http://schemas.openxmlformats.org/drawingml/2006/chart" r:id="rId3"/>
          </a:graphicData>
        </a:graphic>
      </p:graphicFrame>
      <p:sp>
        <p:nvSpPr>
          <p:cNvPr id="26" name="Text 21"/>
          <p:cNvSpPr/>
          <p:nvPr/>
        </p:nvSpPr>
        <p:spPr>
          <a:xfrm>
            <a:off x="466344" y="6035040"/>
            <a:ext cx="1711909"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New code (After)</a:t>
            </a:r>
            <a:endParaRPr lang="en-US" sz="850" dirty="0"/>
          </a:p>
        </p:txBody>
      </p:sp>
      <p:sp>
        <p:nvSpPr>
          <p:cNvPr id="27" name="Text 22"/>
          <p:cNvSpPr/>
          <p:nvPr/>
        </p:nvSpPr>
        <p:spPr>
          <a:xfrm>
            <a:off x="466344" y="6254496"/>
            <a:ext cx="1711909"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3.4 ★</a:t>
            </a:r>
            <a:endParaRPr lang="en-US" sz="1000" dirty="0"/>
          </a:p>
        </p:txBody>
      </p:sp>
      <p:sp>
        <p:nvSpPr>
          <p:cNvPr id="28" name="Text 23"/>
          <p:cNvSpPr/>
          <p:nvPr/>
        </p:nvSpPr>
        <p:spPr>
          <a:xfrm>
            <a:off x="2178253" y="6035040"/>
            <a:ext cx="1711909"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Total code (Before)</a:t>
            </a:r>
            <a:endParaRPr lang="en-US" sz="850" dirty="0"/>
          </a:p>
        </p:txBody>
      </p:sp>
      <p:sp>
        <p:nvSpPr>
          <p:cNvPr id="29" name="Text 24"/>
          <p:cNvSpPr/>
          <p:nvPr/>
        </p:nvSpPr>
        <p:spPr>
          <a:xfrm>
            <a:off x="2178253" y="6254496"/>
            <a:ext cx="1711909"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3.0 ★</a:t>
            </a:r>
            <a:endParaRPr lang="en-US" sz="1000" dirty="0"/>
          </a:p>
        </p:txBody>
      </p:sp>
      <p:sp>
        <p:nvSpPr>
          <p:cNvPr id="30" name="Shape 25"/>
          <p:cNvSpPr/>
          <p:nvPr/>
        </p:nvSpPr>
        <p:spPr>
          <a:xfrm>
            <a:off x="4219346" y="3511296"/>
            <a:ext cx="3753002" cy="3072384"/>
          </a:xfrm>
          <a:prstGeom prst="roundRect">
            <a:avLst>
              <a:gd name="adj" fmla="val 1786"/>
            </a:avLst>
          </a:prstGeom>
          <a:solidFill>
            <a:srgbClr val="FFFFFF"/>
          </a:solidFill>
          <a:ln w="12700">
            <a:solidFill>
              <a:srgbClr val="E3E5E8"/>
            </a:solidFill>
            <a:prstDash val="solid"/>
          </a:ln>
          <a:effectLst>
            <a:outerShdw sx="100000" sy="100000" kx="0" ky="0" algn="bl" rotWithShape="0" blurRad="76200" dist="25400" dir="5400000">
              <a:srgbClr val="9AA1A9">
                <a:alpha val="28000"/>
              </a:srgbClr>
            </a:outerShdw>
          </a:effectLst>
        </p:spPr>
        <p:txBody>
          <a:bodyPr/>
          <a:p/>
        </p:txBody>
      </p:sp>
      <p:sp>
        <p:nvSpPr>
          <p:cNvPr id="31" name="Text 26"/>
          <p:cNvSpPr/>
          <p:nvPr/>
        </p:nvSpPr>
        <p:spPr>
          <a:xfrm>
            <a:off x="4402226" y="3621024"/>
            <a:ext cx="3387242" cy="292608"/>
          </a:xfrm>
          <a:prstGeom prst="rect">
            <a:avLst/>
          </a:prstGeom>
          <a:noFill/>
          <a:ln/>
        </p:spPr>
        <p:txBody>
          <a:bodyPr wrap="square" lIns="0" tIns="0" rIns="0" bIns="0" rtlCol="0" anchor="ctr"/>
          <a:lstStyle/>
          <a:p>
            <a:pPr algn="l" indent="0" marL="0">
              <a:buNone/>
            </a:pPr>
            <a:r>
              <a:rPr lang="en-US" sz="1300" b="1" dirty="0">
                <a:solidFill>
                  <a:srgbClr val="1F2933"/>
                </a:solidFill>
                <a:latin typeface="Arial" pitchFamily="34" charset="0"/>
                <a:ea typeface="Arial" pitchFamily="34" charset="-122"/>
                <a:cs typeface="Arial" pitchFamily="34" charset="-120"/>
              </a:rPr>
              <a:t>Unit interfacing</a:t>
            </a:r>
            <a:endParaRPr lang="en-US" sz="1300" dirty="0"/>
          </a:p>
        </p:txBody>
      </p:sp>
      <p:graphicFrame>
        <p:nvGraphicFramePr>
          <p:cNvPr id="32" name="DELTA_QUALITY_NEW_CODE_UNIT_INTERFACING_CHART" descr=""/>
          <p:cNvGraphicFramePr/>
          <p:nvPr/>
        </p:nvGraphicFramePr>
        <p:xfrm>
          <a:off x="4274210" y="3913632"/>
          <a:ext cx="3643274" cy="2048256"/>
        </p:xfrm>
        <a:graphic xmlns:a="http://schemas.openxmlformats.org/drawingml/2006/main">
          <a:graphicData uri="http://schemas.openxmlformats.org/drawingml/2006/chart">
            <c:chart xmlns:c="http://schemas.openxmlformats.org/drawingml/2006/chart" r:id="rId4"/>
          </a:graphicData>
        </a:graphic>
      </p:graphicFrame>
      <p:sp>
        <p:nvSpPr>
          <p:cNvPr id="33" name="Text 27"/>
          <p:cNvSpPr/>
          <p:nvPr/>
        </p:nvSpPr>
        <p:spPr>
          <a:xfrm>
            <a:off x="4383938" y="6035040"/>
            <a:ext cx="1711909"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New code (After)</a:t>
            </a:r>
            <a:endParaRPr lang="en-US" sz="850" dirty="0"/>
          </a:p>
        </p:txBody>
      </p:sp>
      <p:sp>
        <p:nvSpPr>
          <p:cNvPr id="34" name="Text 28"/>
          <p:cNvSpPr/>
          <p:nvPr/>
        </p:nvSpPr>
        <p:spPr>
          <a:xfrm>
            <a:off x="4383938" y="6254496"/>
            <a:ext cx="1711909"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1.8 ★</a:t>
            </a:r>
            <a:endParaRPr lang="en-US" sz="1000" dirty="0"/>
          </a:p>
        </p:txBody>
      </p:sp>
      <p:sp>
        <p:nvSpPr>
          <p:cNvPr id="35" name="Text 29"/>
          <p:cNvSpPr/>
          <p:nvPr/>
        </p:nvSpPr>
        <p:spPr>
          <a:xfrm>
            <a:off x="6095848" y="6035040"/>
            <a:ext cx="1711909"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Total code (Before)</a:t>
            </a:r>
            <a:endParaRPr lang="en-US" sz="850" dirty="0"/>
          </a:p>
        </p:txBody>
      </p:sp>
      <p:sp>
        <p:nvSpPr>
          <p:cNvPr id="36" name="Text 30"/>
          <p:cNvSpPr/>
          <p:nvPr/>
        </p:nvSpPr>
        <p:spPr>
          <a:xfrm>
            <a:off x="6095848" y="6254496"/>
            <a:ext cx="1711909"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2.2 ★</a:t>
            </a:r>
            <a:endParaRPr lang="en-US" sz="1000" dirty="0"/>
          </a:p>
        </p:txBody>
      </p:sp>
      <p:sp>
        <p:nvSpPr>
          <p:cNvPr id="37" name="Shape 31"/>
          <p:cNvSpPr/>
          <p:nvPr/>
        </p:nvSpPr>
        <p:spPr>
          <a:xfrm>
            <a:off x="8136941" y="3511296"/>
            <a:ext cx="3753002" cy="3072384"/>
          </a:xfrm>
          <a:prstGeom prst="roundRect">
            <a:avLst>
              <a:gd name="adj" fmla="val 1786"/>
            </a:avLst>
          </a:prstGeom>
          <a:solidFill>
            <a:srgbClr val="FFFFFF"/>
          </a:solidFill>
          <a:ln w="12700">
            <a:solidFill>
              <a:srgbClr val="E3E5E8"/>
            </a:solidFill>
            <a:prstDash val="solid"/>
          </a:ln>
          <a:effectLst>
            <a:outerShdw sx="100000" sy="100000" kx="0" ky="0" algn="bl" rotWithShape="0" blurRad="76200" dist="25400" dir="5400000">
              <a:srgbClr val="9AA1A9">
                <a:alpha val="28000"/>
              </a:srgbClr>
            </a:outerShdw>
          </a:effectLst>
        </p:spPr>
        <p:txBody>
          <a:bodyPr/>
          <a:p/>
        </p:txBody>
      </p:sp>
      <p:sp>
        <p:nvSpPr>
          <p:cNvPr id="38" name="Text 32"/>
          <p:cNvSpPr/>
          <p:nvPr/>
        </p:nvSpPr>
        <p:spPr>
          <a:xfrm>
            <a:off x="8319821" y="3621024"/>
            <a:ext cx="3387242" cy="292608"/>
          </a:xfrm>
          <a:prstGeom prst="rect">
            <a:avLst/>
          </a:prstGeom>
          <a:noFill/>
          <a:ln/>
        </p:spPr>
        <p:txBody>
          <a:bodyPr wrap="square" lIns="0" tIns="0" rIns="0" bIns="0" rtlCol="0" anchor="ctr"/>
          <a:lstStyle/>
          <a:p>
            <a:pPr algn="l" indent="0" marL="0">
              <a:buNone/>
            </a:pPr>
            <a:r>
              <a:rPr lang="en-US" sz="1300" b="1" dirty="0">
                <a:solidFill>
                  <a:srgbClr val="1F2933"/>
                </a:solidFill>
                <a:latin typeface="Arial" pitchFamily="34" charset="0"/>
                <a:ea typeface="Arial" pitchFamily="34" charset="-122"/>
                <a:cs typeface="Arial" pitchFamily="34" charset="-120"/>
              </a:rPr>
              <a:t>Module coupling</a:t>
            </a:r>
            <a:endParaRPr lang="en-US" sz="1300" dirty="0"/>
          </a:p>
        </p:txBody>
      </p:sp>
      <p:graphicFrame>
        <p:nvGraphicFramePr>
          <p:cNvPr id="39" name="DELTA_QUALITY_NEW_CODE_MODULE_COUPLING_CHART" descr=""/>
          <p:cNvGraphicFramePr/>
          <p:nvPr/>
        </p:nvGraphicFramePr>
        <p:xfrm>
          <a:off x="8191805" y="3913632"/>
          <a:ext cx="3643274" cy="2048256"/>
        </p:xfrm>
        <a:graphic xmlns:a="http://schemas.openxmlformats.org/drawingml/2006/main">
          <a:graphicData uri="http://schemas.openxmlformats.org/drawingml/2006/chart">
            <c:chart xmlns:c="http://schemas.openxmlformats.org/drawingml/2006/chart" r:id="rId5"/>
          </a:graphicData>
        </a:graphic>
      </p:graphicFrame>
      <p:sp>
        <p:nvSpPr>
          <p:cNvPr id="40" name="Text 33"/>
          <p:cNvSpPr/>
          <p:nvPr/>
        </p:nvSpPr>
        <p:spPr>
          <a:xfrm>
            <a:off x="8301533" y="6035040"/>
            <a:ext cx="1711909"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New code (After)</a:t>
            </a:r>
            <a:endParaRPr lang="en-US" sz="850" dirty="0"/>
          </a:p>
        </p:txBody>
      </p:sp>
      <p:sp>
        <p:nvSpPr>
          <p:cNvPr id="41" name="Text 34"/>
          <p:cNvSpPr/>
          <p:nvPr/>
        </p:nvSpPr>
        <p:spPr>
          <a:xfrm>
            <a:off x="8301533" y="6254496"/>
            <a:ext cx="1711909"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1.3 ★</a:t>
            </a:r>
            <a:endParaRPr lang="en-US" sz="1000" dirty="0"/>
          </a:p>
        </p:txBody>
      </p:sp>
      <p:sp>
        <p:nvSpPr>
          <p:cNvPr id="42" name="Text 35"/>
          <p:cNvSpPr/>
          <p:nvPr/>
        </p:nvSpPr>
        <p:spPr>
          <a:xfrm>
            <a:off x="10013442" y="6035040"/>
            <a:ext cx="1711909"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Total code (Before)</a:t>
            </a:r>
            <a:endParaRPr lang="en-US" sz="850" dirty="0"/>
          </a:p>
        </p:txBody>
      </p:sp>
      <p:sp>
        <p:nvSpPr>
          <p:cNvPr id="43" name="Text 36"/>
          <p:cNvSpPr/>
          <p:nvPr/>
        </p:nvSpPr>
        <p:spPr>
          <a:xfrm>
            <a:off x="10013442" y="6254496"/>
            <a:ext cx="1711909"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1.6 ★</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01752" y="274320"/>
            <a:ext cx="3753002" cy="3072384"/>
          </a:xfrm>
          <a:prstGeom prst="roundRect">
            <a:avLst>
              <a:gd name="adj" fmla="val 1786"/>
            </a:avLst>
          </a:prstGeom>
          <a:solidFill>
            <a:srgbClr val="FFFFFF"/>
          </a:solidFill>
          <a:ln w="12700">
            <a:solidFill>
              <a:srgbClr val="E3E5E8"/>
            </a:solidFill>
            <a:prstDash val="solid"/>
          </a:ln>
          <a:effectLst>
            <a:outerShdw sx="100000" sy="100000" kx="0" ky="0" algn="bl" rotWithShape="0" blurRad="76200" dist="25400" dir="5400000">
              <a:srgbClr val="9AA1A9">
                <a:alpha val="28000"/>
              </a:srgbClr>
            </a:outerShdw>
          </a:effectLst>
        </p:spPr>
        <p:txBody>
          <a:bodyPr/>
          <a:p/>
        </p:txBody>
      </p:sp>
      <p:sp>
        <p:nvSpPr>
          <p:cNvPr id="3" name="Text 1"/>
          <p:cNvSpPr/>
          <p:nvPr/>
        </p:nvSpPr>
        <p:spPr>
          <a:xfrm>
            <a:off x="484632" y="384048"/>
            <a:ext cx="3387242" cy="292608"/>
          </a:xfrm>
          <a:prstGeom prst="rect">
            <a:avLst/>
          </a:prstGeom>
          <a:noFill/>
          <a:ln/>
        </p:spPr>
        <p:txBody>
          <a:bodyPr wrap="square" lIns="0" tIns="0" rIns="0" bIns="0" rtlCol="0" anchor="ctr"/>
          <a:lstStyle/>
          <a:p>
            <a:pPr algn="l" indent="0" marL="0">
              <a:buNone/>
            </a:pPr>
            <a:r>
              <a:rPr lang="en-US" sz="1300" b="1" dirty="0">
                <a:solidFill>
                  <a:srgbClr val="1F2933"/>
                </a:solidFill>
                <a:latin typeface="Arial" pitchFamily="34" charset="0"/>
                <a:ea typeface="Arial" pitchFamily="34" charset="-122"/>
                <a:cs typeface="Arial" pitchFamily="34" charset="-120"/>
              </a:rPr>
              <a:t>Changed code quality</a:t>
            </a:r>
            <a:endParaRPr lang="en-US" sz="1300" dirty="0"/>
          </a:p>
        </p:txBody>
      </p:sp>
      <p:sp>
        <p:nvSpPr>
          <p:cNvPr id="4" name="Text 2"/>
          <p:cNvSpPr/>
          <p:nvPr/>
        </p:nvSpPr>
        <p:spPr>
          <a:xfrm>
            <a:off x="484632" y="731520"/>
            <a:ext cx="3387242" cy="1463040"/>
          </a:xfrm>
          <a:prstGeom prst="rect">
            <a:avLst/>
          </a:prstGeom>
          <a:noFill/>
          <a:ln/>
        </p:spPr>
        <p:txBody>
          <a:bodyPr wrap="square" lIns="0" tIns="0" rIns="0" bIns="0" rtlCol="0" anchor="t"/>
          <a:lstStyle/>
          <a:p>
            <a:pPr algn="l" indent="0" marL="0">
              <a:lnSpc>
                <a:spcPct val="103000"/>
              </a:lnSpc>
              <a:buNone/>
            </a:pPr>
            <a:r>
              <a:rPr lang="en-US" sz="850" dirty="0">
                <a:solidFill>
                  <a:srgbClr val="5B6570"/>
                </a:solidFill>
                <a:latin typeface="Arial" pitchFamily="34" charset="0"/>
                <a:ea typeface="Arial" pitchFamily="34" charset="-122"/>
                <a:cs typeface="Arial" pitchFamily="34" charset="-120"/>
              </a:rPr>
              <a:t>This compares the quality of changed code against the quality of the existing code. "Changed code (After)" refers to the quality of code in files that were changed in the selected period; "Changed code (Before)" refers to the quality of those files at the start of the selected period; "Total code (Before)" refers to the quality of the system as a whole at the start of the selected period.</a:t>
            </a:r>
            <a:endParaRPr lang="en-US" sz="850" dirty="0"/>
          </a:p>
        </p:txBody>
      </p:sp>
      <p:sp>
        <p:nvSpPr>
          <p:cNvPr id="5" name="Text 3"/>
          <p:cNvSpPr/>
          <p:nvPr/>
        </p:nvSpPr>
        <p:spPr>
          <a:xfrm>
            <a:off x="484632" y="2523744"/>
            <a:ext cx="1129081" cy="201168"/>
          </a:xfrm>
          <a:prstGeom prst="rect">
            <a:avLst/>
          </a:prstGeom>
          <a:noFill/>
          <a:ln/>
        </p:spPr>
        <p:txBody>
          <a:bodyPr wrap="square" lIns="0" tIns="0" rIns="0" bIns="0" rtlCol="0" anchor="ctr"/>
          <a:lstStyle/>
          <a:p>
            <a:pPr algn="l" indent="0" marL="0">
              <a:buNone/>
            </a:pPr>
            <a:r>
              <a:rPr lang="en-US" sz="950" dirty="0">
                <a:solidFill>
                  <a:srgbClr val="5B6570"/>
                </a:solidFill>
                <a:latin typeface="Arial" pitchFamily="34" charset="0"/>
                <a:ea typeface="Arial" pitchFamily="34" charset="-122"/>
                <a:cs typeface="Arial" pitchFamily="34" charset="-120"/>
              </a:rPr>
              <a:t>Volume</a:t>
            </a:r>
            <a:endParaRPr lang="en-US" sz="950" dirty="0"/>
          </a:p>
        </p:txBody>
      </p:sp>
      <p:sp>
        <p:nvSpPr>
          <p:cNvPr id="6" name="Text 4"/>
          <p:cNvSpPr/>
          <p:nvPr/>
        </p:nvSpPr>
        <p:spPr>
          <a:xfrm>
            <a:off x="484632" y="2724912"/>
            <a:ext cx="1129081" cy="274320"/>
          </a:xfrm>
          <a:prstGeom prst="rect">
            <a:avLst/>
          </a:prstGeom>
          <a:noFill/>
          <a:ln/>
        </p:spPr>
        <p:txBody>
          <a:bodyPr wrap="square" lIns="0" tIns="0" rIns="0" bIns="0" rtlCol="0" anchor="ctr"/>
          <a:lstStyle/>
          <a:p>
            <a:pPr algn="l" indent="0" marL="0">
              <a:buNone/>
            </a:pPr>
            <a:r>
              <a:rPr lang="en-US" sz="1400" b="1" dirty="0">
                <a:solidFill>
                  <a:srgbClr val="1F2933"/>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1613713" y="2523744"/>
            <a:ext cx="1129081" cy="201168"/>
          </a:xfrm>
          <a:prstGeom prst="rect">
            <a:avLst/>
          </a:prstGeom>
          <a:noFill/>
          <a:ln/>
        </p:spPr>
        <p:txBody>
          <a:bodyPr wrap="square" lIns="0" tIns="0" rIns="0" bIns="0" rtlCol="0" anchor="ctr"/>
          <a:lstStyle/>
          <a:p>
            <a:pPr algn="l" indent="0" marL="0">
              <a:buNone/>
            </a:pPr>
            <a:r>
              <a:rPr lang="en-US" sz="950" dirty="0">
                <a:solidFill>
                  <a:srgbClr val="5B6570"/>
                </a:solidFill>
                <a:latin typeface="Arial" pitchFamily="34" charset="0"/>
                <a:ea typeface="Arial" pitchFamily="34" charset="-122"/>
                <a:cs typeface="Arial" pitchFamily="34" charset="-120"/>
              </a:rPr>
              <a:t>Rating</a:t>
            </a:r>
            <a:endParaRPr lang="en-US" sz="950" dirty="0"/>
          </a:p>
        </p:txBody>
      </p:sp>
      <p:sp>
        <p:nvSpPr>
          <p:cNvPr id="8" name="Text 6"/>
          <p:cNvSpPr/>
          <p:nvPr/>
        </p:nvSpPr>
        <p:spPr>
          <a:xfrm>
            <a:off x="1613713" y="2724912"/>
            <a:ext cx="1129081" cy="274320"/>
          </a:xfrm>
          <a:prstGeom prst="rect">
            <a:avLst/>
          </a:prstGeom>
          <a:noFill/>
          <a:ln/>
        </p:spPr>
        <p:txBody>
          <a:bodyPr wrap="square" lIns="0" tIns="0" rIns="0" bIns="0" rtlCol="0" anchor="ctr"/>
          <a:lstStyle/>
          <a:p>
            <a:pPr algn="l" indent="0" marL="0">
              <a:buNone/>
            </a:pPr>
            <a:r>
              <a:rPr lang="en-US" sz="1400" b="1" dirty="0">
                <a:solidFill>
                  <a:srgbClr val="1F2933"/>
                </a:solidFill>
                <a:latin typeface="Arial" pitchFamily="34" charset="0"/>
                <a:ea typeface="Arial" pitchFamily="34" charset="-122"/>
                <a:cs typeface="Arial" pitchFamily="34" charset="-120"/>
              </a:rPr>
              <a:t>2.3 ★</a:t>
            </a:r>
            <a:endParaRPr lang="en-US" sz="1400" dirty="0"/>
          </a:p>
        </p:txBody>
      </p:sp>
      <p:sp>
        <p:nvSpPr>
          <p:cNvPr id="9" name="Shape 7"/>
          <p:cNvSpPr/>
          <p:nvPr/>
        </p:nvSpPr>
        <p:spPr>
          <a:xfrm>
            <a:off x="4219346" y="274320"/>
            <a:ext cx="3753002" cy="3072384"/>
          </a:xfrm>
          <a:prstGeom prst="roundRect">
            <a:avLst>
              <a:gd name="adj" fmla="val 1786"/>
            </a:avLst>
          </a:prstGeom>
          <a:solidFill>
            <a:srgbClr val="FFFFFF"/>
          </a:solidFill>
          <a:ln w="12700">
            <a:solidFill>
              <a:srgbClr val="E3E5E8"/>
            </a:solidFill>
            <a:prstDash val="solid"/>
          </a:ln>
          <a:effectLst>
            <a:outerShdw sx="100000" sy="100000" kx="0" ky="0" algn="bl" rotWithShape="0" blurRad="76200" dist="25400" dir="5400000">
              <a:srgbClr val="9AA1A9">
                <a:alpha val="28000"/>
              </a:srgbClr>
            </a:outerShdw>
          </a:effectLst>
        </p:spPr>
        <p:txBody>
          <a:bodyPr/>
          <a:p/>
        </p:txBody>
      </p:sp>
      <p:sp>
        <p:nvSpPr>
          <p:cNvPr id="10" name="Text 8"/>
          <p:cNvSpPr/>
          <p:nvPr/>
        </p:nvSpPr>
        <p:spPr>
          <a:xfrm>
            <a:off x="4402226" y="384048"/>
            <a:ext cx="3387242" cy="292608"/>
          </a:xfrm>
          <a:prstGeom prst="rect">
            <a:avLst/>
          </a:prstGeom>
          <a:noFill/>
          <a:ln/>
        </p:spPr>
        <p:txBody>
          <a:bodyPr wrap="square" lIns="0" tIns="0" rIns="0" bIns="0" rtlCol="0" anchor="ctr"/>
          <a:lstStyle/>
          <a:p>
            <a:pPr algn="l" indent="0" marL="0">
              <a:buNone/>
            </a:pPr>
            <a:r>
              <a:rPr lang="en-US" sz="1300" b="1" dirty="0">
                <a:solidFill>
                  <a:srgbClr val="1F2933"/>
                </a:solidFill>
                <a:latin typeface="Arial" pitchFamily="34" charset="0"/>
                <a:ea typeface="Arial" pitchFamily="34" charset="-122"/>
                <a:cs typeface="Arial" pitchFamily="34" charset="-120"/>
              </a:rPr>
              <a:t>Duplication</a:t>
            </a:r>
            <a:endParaRPr lang="en-US" sz="1300" dirty="0"/>
          </a:p>
        </p:txBody>
      </p:sp>
      <p:graphicFrame>
        <p:nvGraphicFramePr>
          <p:cNvPr id="11" name="DELTA_QUALITY_CHANGED_CODE_DUPLICATION_CHART" descr=""/>
          <p:cNvGraphicFramePr/>
          <p:nvPr/>
        </p:nvGraphicFramePr>
        <p:xfrm>
          <a:off x="4274210" y="676656"/>
          <a:ext cx="3643274" cy="2048256"/>
        </p:xfrm>
        <a:graphic xmlns:a="http://schemas.openxmlformats.org/drawingml/2006/main">
          <a:graphicData uri="http://schemas.openxmlformats.org/drawingml/2006/chart">
            <c:chart xmlns:c="http://schemas.openxmlformats.org/drawingml/2006/chart" r:id="rId1"/>
          </a:graphicData>
        </a:graphic>
      </p:graphicFrame>
      <p:sp>
        <p:nvSpPr>
          <p:cNvPr id="12" name="Text 9"/>
          <p:cNvSpPr/>
          <p:nvPr/>
        </p:nvSpPr>
        <p:spPr>
          <a:xfrm>
            <a:off x="4383938" y="2798064"/>
            <a:ext cx="1141273"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Changed code (After)</a:t>
            </a:r>
            <a:endParaRPr lang="en-US" sz="850" dirty="0"/>
          </a:p>
        </p:txBody>
      </p:sp>
      <p:sp>
        <p:nvSpPr>
          <p:cNvPr id="13" name="Text 10"/>
          <p:cNvSpPr/>
          <p:nvPr/>
        </p:nvSpPr>
        <p:spPr>
          <a:xfrm>
            <a:off x="4383938" y="3017520"/>
            <a:ext cx="1141273"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3.5 ★</a:t>
            </a:r>
            <a:endParaRPr lang="en-US" sz="1000" dirty="0"/>
          </a:p>
        </p:txBody>
      </p:sp>
      <p:sp>
        <p:nvSpPr>
          <p:cNvPr id="14" name="Text 11"/>
          <p:cNvSpPr/>
          <p:nvPr/>
        </p:nvSpPr>
        <p:spPr>
          <a:xfrm>
            <a:off x="5525211" y="2798064"/>
            <a:ext cx="1141273"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Changed code (Before)</a:t>
            </a:r>
            <a:endParaRPr lang="en-US" sz="850" dirty="0"/>
          </a:p>
        </p:txBody>
      </p:sp>
      <p:sp>
        <p:nvSpPr>
          <p:cNvPr id="15" name="Text 12"/>
          <p:cNvSpPr/>
          <p:nvPr/>
        </p:nvSpPr>
        <p:spPr>
          <a:xfrm>
            <a:off x="5525211" y="3017520"/>
            <a:ext cx="1141273"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3.5 ★</a:t>
            </a:r>
            <a:endParaRPr lang="en-US" sz="1000" dirty="0"/>
          </a:p>
        </p:txBody>
      </p:sp>
      <p:sp>
        <p:nvSpPr>
          <p:cNvPr id="16" name="Text 13"/>
          <p:cNvSpPr/>
          <p:nvPr/>
        </p:nvSpPr>
        <p:spPr>
          <a:xfrm>
            <a:off x="6666484" y="2798064"/>
            <a:ext cx="1141273"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Total code (Before)</a:t>
            </a:r>
            <a:endParaRPr lang="en-US" sz="850" dirty="0"/>
          </a:p>
        </p:txBody>
      </p:sp>
      <p:sp>
        <p:nvSpPr>
          <p:cNvPr id="17" name="Text 14"/>
          <p:cNvSpPr/>
          <p:nvPr/>
        </p:nvSpPr>
        <p:spPr>
          <a:xfrm>
            <a:off x="6666484" y="3017520"/>
            <a:ext cx="1141273"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3.5 ★</a:t>
            </a:r>
            <a:endParaRPr lang="en-US" sz="1000" dirty="0"/>
          </a:p>
        </p:txBody>
      </p:sp>
      <p:sp>
        <p:nvSpPr>
          <p:cNvPr id="18" name="Shape 15"/>
          <p:cNvSpPr/>
          <p:nvPr/>
        </p:nvSpPr>
        <p:spPr>
          <a:xfrm>
            <a:off x="8136941" y="274320"/>
            <a:ext cx="3753002" cy="3072384"/>
          </a:xfrm>
          <a:prstGeom prst="roundRect">
            <a:avLst>
              <a:gd name="adj" fmla="val 1786"/>
            </a:avLst>
          </a:prstGeom>
          <a:solidFill>
            <a:srgbClr val="FFFFFF"/>
          </a:solidFill>
          <a:ln w="12700">
            <a:solidFill>
              <a:srgbClr val="E3E5E8"/>
            </a:solidFill>
            <a:prstDash val="solid"/>
          </a:ln>
          <a:effectLst>
            <a:outerShdw sx="100000" sy="100000" kx="0" ky="0" algn="bl" rotWithShape="0" blurRad="76200" dist="25400" dir="5400000">
              <a:srgbClr val="9AA1A9">
                <a:alpha val="28000"/>
              </a:srgbClr>
            </a:outerShdw>
          </a:effectLst>
        </p:spPr>
        <p:txBody>
          <a:bodyPr/>
          <a:p/>
        </p:txBody>
      </p:sp>
      <p:sp>
        <p:nvSpPr>
          <p:cNvPr id="19" name="Text 16"/>
          <p:cNvSpPr/>
          <p:nvPr/>
        </p:nvSpPr>
        <p:spPr>
          <a:xfrm>
            <a:off x="8319821" y="384048"/>
            <a:ext cx="3387242" cy="292608"/>
          </a:xfrm>
          <a:prstGeom prst="rect">
            <a:avLst/>
          </a:prstGeom>
          <a:noFill/>
          <a:ln/>
        </p:spPr>
        <p:txBody>
          <a:bodyPr wrap="square" lIns="0" tIns="0" rIns="0" bIns="0" rtlCol="0" anchor="ctr"/>
          <a:lstStyle/>
          <a:p>
            <a:pPr algn="l" indent="0" marL="0">
              <a:buNone/>
            </a:pPr>
            <a:r>
              <a:rPr lang="en-US" sz="1300" b="1" dirty="0">
                <a:solidFill>
                  <a:srgbClr val="1F2933"/>
                </a:solidFill>
                <a:latin typeface="Arial" pitchFamily="34" charset="0"/>
                <a:ea typeface="Arial" pitchFamily="34" charset="-122"/>
                <a:cs typeface="Arial" pitchFamily="34" charset="-120"/>
              </a:rPr>
              <a:t>Unit size</a:t>
            </a:r>
            <a:endParaRPr lang="en-US" sz="1300" dirty="0"/>
          </a:p>
        </p:txBody>
      </p:sp>
      <p:graphicFrame>
        <p:nvGraphicFramePr>
          <p:cNvPr id="20" name="DELTA_QUALITY_CHANGED_CODE_UNIT_SIZE_CHART" descr=""/>
          <p:cNvGraphicFramePr/>
          <p:nvPr/>
        </p:nvGraphicFramePr>
        <p:xfrm>
          <a:off x="8191805" y="676656"/>
          <a:ext cx="3643274" cy="2048256"/>
        </p:xfrm>
        <a:graphic xmlns:a="http://schemas.openxmlformats.org/drawingml/2006/main">
          <a:graphicData uri="http://schemas.openxmlformats.org/drawingml/2006/chart">
            <c:chart xmlns:c="http://schemas.openxmlformats.org/drawingml/2006/chart" r:id="rId2"/>
          </a:graphicData>
        </a:graphic>
      </p:graphicFrame>
      <p:sp>
        <p:nvSpPr>
          <p:cNvPr id="21" name="Text 17"/>
          <p:cNvSpPr/>
          <p:nvPr/>
        </p:nvSpPr>
        <p:spPr>
          <a:xfrm>
            <a:off x="8301533" y="2798064"/>
            <a:ext cx="1141273"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Changed code (After)</a:t>
            </a:r>
            <a:endParaRPr lang="en-US" sz="850" dirty="0"/>
          </a:p>
        </p:txBody>
      </p:sp>
      <p:sp>
        <p:nvSpPr>
          <p:cNvPr id="22" name="Text 18"/>
          <p:cNvSpPr/>
          <p:nvPr/>
        </p:nvSpPr>
        <p:spPr>
          <a:xfrm>
            <a:off x="8301533" y="3017520"/>
            <a:ext cx="1141273"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2.8 ★</a:t>
            </a:r>
            <a:endParaRPr lang="en-US" sz="1000" dirty="0"/>
          </a:p>
        </p:txBody>
      </p:sp>
      <p:sp>
        <p:nvSpPr>
          <p:cNvPr id="23" name="Text 19"/>
          <p:cNvSpPr/>
          <p:nvPr/>
        </p:nvSpPr>
        <p:spPr>
          <a:xfrm>
            <a:off x="9442806" y="2798064"/>
            <a:ext cx="1141273"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Changed code (Before)</a:t>
            </a:r>
            <a:endParaRPr lang="en-US" sz="850" dirty="0"/>
          </a:p>
        </p:txBody>
      </p:sp>
      <p:sp>
        <p:nvSpPr>
          <p:cNvPr id="24" name="Text 20"/>
          <p:cNvSpPr/>
          <p:nvPr/>
        </p:nvSpPr>
        <p:spPr>
          <a:xfrm>
            <a:off x="9442806" y="3017520"/>
            <a:ext cx="1141273"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2.9 ★</a:t>
            </a:r>
            <a:endParaRPr lang="en-US" sz="1000" dirty="0"/>
          </a:p>
        </p:txBody>
      </p:sp>
      <p:sp>
        <p:nvSpPr>
          <p:cNvPr id="25" name="Text 21"/>
          <p:cNvSpPr/>
          <p:nvPr/>
        </p:nvSpPr>
        <p:spPr>
          <a:xfrm>
            <a:off x="10584078" y="2798064"/>
            <a:ext cx="1141273"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Total code (Before)</a:t>
            </a:r>
            <a:endParaRPr lang="en-US" sz="850" dirty="0"/>
          </a:p>
        </p:txBody>
      </p:sp>
      <p:sp>
        <p:nvSpPr>
          <p:cNvPr id="26" name="Text 22"/>
          <p:cNvSpPr/>
          <p:nvPr/>
        </p:nvSpPr>
        <p:spPr>
          <a:xfrm>
            <a:off x="10584078" y="3017520"/>
            <a:ext cx="1141273"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3.3 ★</a:t>
            </a:r>
            <a:endParaRPr lang="en-US" sz="1000" dirty="0"/>
          </a:p>
        </p:txBody>
      </p:sp>
      <p:sp>
        <p:nvSpPr>
          <p:cNvPr id="27" name="Shape 23"/>
          <p:cNvSpPr/>
          <p:nvPr/>
        </p:nvSpPr>
        <p:spPr>
          <a:xfrm>
            <a:off x="301752" y="3511296"/>
            <a:ext cx="3753002" cy="3072384"/>
          </a:xfrm>
          <a:prstGeom prst="roundRect">
            <a:avLst>
              <a:gd name="adj" fmla="val 1786"/>
            </a:avLst>
          </a:prstGeom>
          <a:solidFill>
            <a:srgbClr val="FFFFFF"/>
          </a:solidFill>
          <a:ln w="12700">
            <a:solidFill>
              <a:srgbClr val="E3E5E8"/>
            </a:solidFill>
            <a:prstDash val="solid"/>
          </a:ln>
          <a:effectLst>
            <a:outerShdw sx="100000" sy="100000" kx="0" ky="0" algn="bl" rotWithShape="0" blurRad="76200" dist="25400" dir="5400000">
              <a:srgbClr val="9AA1A9">
                <a:alpha val="28000"/>
              </a:srgbClr>
            </a:outerShdw>
          </a:effectLst>
        </p:spPr>
        <p:txBody>
          <a:bodyPr/>
          <a:p/>
        </p:txBody>
      </p:sp>
      <p:sp>
        <p:nvSpPr>
          <p:cNvPr id="28" name="Text 24"/>
          <p:cNvSpPr/>
          <p:nvPr/>
        </p:nvSpPr>
        <p:spPr>
          <a:xfrm>
            <a:off x="484632" y="3621024"/>
            <a:ext cx="3387242" cy="292608"/>
          </a:xfrm>
          <a:prstGeom prst="rect">
            <a:avLst/>
          </a:prstGeom>
          <a:noFill/>
          <a:ln/>
        </p:spPr>
        <p:txBody>
          <a:bodyPr wrap="square" lIns="0" tIns="0" rIns="0" bIns="0" rtlCol="0" anchor="ctr"/>
          <a:lstStyle/>
          <a:p>
            <a:pPr algn="l" indent="0" marL="0">
              <a:buNone/>
            </a:pPr>
            <a:r>
              <a:rPr lang="en-US" sz="1300" b="1" dirty="0">
                <a:solidFill>
                  <a:srgbClr val="1F2933"/>
                </a:solidFill>
                <a:latin typeface="Arial" pitchFamily="34" charset="0"/>
                <a:ea typeface="Arial" pitchFamily="34" charset="-122"/>
                <a:cs typeface="Arial" pitchFamily="34" charset="-120"/>
              </a:rPr>
              <a:t>Unit complexity</a:t>
            </a:r>
            <a:endParaRPr lang="en-US" sz="1300" dirty="0"/>
          </a:p>
        </p:txBody>
      </p:sp>
      <p:graphicFrame>
        <p:nvGraphicFramePr>
          <p:cNvPr id="29" name="DELTA_QUALITY_CHANGED_CODE_UNIT_COMPLEXITY_CHART" descr=""/>
          <p:cNvGraphicFramePr/>
          <p:nvPr/>
        </p:nvGraphicFramePr>
        <p:xfrm>
          <a:off x="356616" y="3913632"/>
          <a:ext cx="3643274" cy="2048256"/>
        </p:xfrm>
        <a:graphic xmlns:a="http://schemas.openxmlformats.org/drawingml/2006/main">
          <a:graphicData uri="http://schemas.openxmlformats.org/drawingml/2006/chart">
            <c:chart xmlns:c="http://schemas.openxmlformats.org/drawingml/2006/chart" r:id="rId3"/>
          </a:graphicData>
        </a:graphic>
      </p:graphicFrame>
      <p:sp>
        <p:nvSpPr>
          <p:cNvPr id="30" name="Text 25"/>
          <p:cNvSpPr/>
          <p:nvPr/>
        </p:nvSpPr>
        <p:spPr>
          <a:xfrm>
            <a:off x="466344" y="6035040"/>
            <a:ext cx="1141273"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Changed code (After)</a:t>
            </a:r>
            <a:endParaRPr lang="en-US" sz="850" dirty="0"/>
          </a:p>
        </p:txBody>
      </p:sp>
      <p:sp>
        <p:nvSpPr>
          <p:cNvPr id="31" name="Text 26"/>
          <p:cNvSpPr/>
          <p:nvPr/>
        </p:nvSpPr>
        <p:spPr>
          <a:xfrm>
            <a:off x="466344" y="6254496"/>
            <a:ext cx="1141273"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2.8 ★</a:t>
            </a:r>
            <a:endParaRPr lang="en-US" sz="1000" dirty="0"/>
          </a:p>
        </p:txBody>
      </p:sp>
      <p:sp>
        <p:nvSpPr>
          <p:cNvPr id="32" name="Text 27"/>
          <p:cNvSpPr/>
          <p:nvPr/>
        </p:nvSpPr>
        <p:spPr>
          <a:xfrm>
            <a:off x="1607617" y="6035040"/>
            <a:ext cx="1141273"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Changed code (Before)</a:t>
            </a:r>
            <a:endParaRPr lang="en-US" sz="850" dirty="0"/>
          </a:p>
        </p:txBody>
      </p:sp>
      <p:sp>
        <p:nvSpPr>
          <p:cNvPr id="33" name="Text 28"/>
          <p:cNvSpPr/>
          <p:nvPr/>
        </p:nvSpPr>
        <p:spPr>
          <a:xfrm>
            <a:off x="1607617" y="6254496"/>
            <a:ext cx="1141273"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2.8 ★</a:t>
            </a:r>
            <a:endParaRPr lang="en-US" sz="1000" dirty="0"/>
          </a:p>
        </p:txBody>
      </p:sp>
      <p:sp>
        <p:nvSpPr>
          <p:cNvPr id="34" name="Text 29"/>
          <p:cNvSpPr/>
          <p:nvPr/>
        </p:nvSpPr>
        <p:spPr>
          <a:xfrm>
            <a:off x="2748890" y="6035040"/>
            <a:ext cx="1141273"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Total code (Before)</a:t>
            </a:r>
            <a:endParaRPr lang="en-US" sz="850" dirty="0"/>
          </a:p>
        </p:txBody>
      </p:sp>
      <p:sp>
        <p:nvSpPr>
          <p:cNvPr id="35" name="Text 30"/>
          <p:cNvSpPr/>
          <p:nvPr/>
        </p:nvSpPr>
        <p:spPr>
          <a:xfrm>
            <a:off x="2748890" y="6254496"/>
            <a:ext cx="1141273"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3.0 ★</a:t>
            </a:r>
            <a:endParaRPr lang="en-US" sz="1000" dirty="0"/>
          </a:p>
        </p:txBody>
      </p:sp>
      <p:sp>
        <p:nvSpPr>
          <p:cNvPr id="36" name="Shape 31"/>
          <p:cNvSpPr/>
          <p:nvPr/>
        </p:nvSpPr>
        <p:spPr>
          <a:xfrm>
            <a:off x="4219346" y="3511296"/>
            <a:ext cx="3753002" cy="3072384"/>
          </a:xfrm>
          <a:prstGeom prst="roundRect">
            <a:avLst>
              <a:gd name="adj" fmla="val 1786"/>
            </a:avLst>
          </a:prstGeom>
          <a:solidFill>
            <a:srgbClr val="FFFFFF"/>
          </a:solidFill>
          <a:ln w="12700">
            <a:solidFill>
              <a:srgbClr val="E3E5E8"/>
            </a:solidFill>
            <a:prstDash val="solid"/>
          </a:ln>
          <a:effectLst>
            <a:outerShdw sx="100000" sy="100000" kx="0" ky="0" algn="bl" rotWithShape="0" blurRad="76200" dist="25400" dir="5400000">
              <a:srgbClr val="9AA1A9">
                <a:alpha val="28000"/>
              </a:srgbClr>
            </a:outerShdw>
          </a:effectLst>
        </p:spPr>
        <p:txBody>
          <a:bodyPr/>
          <a:p/>
        </p:txBody>
      </p:sp>
      <p:sp>
        <p:nvSpPr>
          <p:cNvPr id="37" name="Text 32"/>
          <p:cNvSpPr/>
          <p:nvPr/>
        </p:nvSpPr>
        <p:spPr>
          <a:xfrm>
            <a:off x="4402226" y="3621024"/>
            <a:ext cx="3387242" cy="292608"/>
          </a:xfrm>
          <a:prstGeom prst="rect">
            <a:avLst/>
          </a:prstGeom>
          <a:noFill/>
          <a:ln/>
        </p:spPr>
        <p:txBody>
          <a:bodyPr wrap="square" lIns="0" tIns="0" rIns="0" bIns="0" rtlCol="0" anchor="ctr"/>
          <a:lstStyle/>
          <a:p>
            <a:pPr algn="l" indent="0" marL="0">
              <a:buNone/>
            </a:pPr>
            <a:r>
              <a:rPr lang="en-US" sz="1300" b="1" dirty="0">
                <a:solidFill>
                  <a:srgbClr val="1F2933"/>
                </a:solidFill>
                <a:latin typeface="Arial" pitchFamily="34" charset="0"/>
                <a:ea typeface="Arial" pitchFamily="34" charset="-122"/>
                <a:cs typeface="Arial" pitchFamily="34" charset="-120"/>
              </a:rPr>
              <a:t>Unit interfacing</a:t>
            </a:r>
            <a:endParaRPr lang="en-US" sz="1300" dirty="0"/>
          </a:p>
        </p:txBody>
      </p:sp>
      <p:graphicFrame>
        <p:nvGraphicFramePr>
          <p:cNvPr id="38" name="DELTA_QUALITY_CHANGED_CODE_UNIT_INTERFACING_CHART" descr=""/>
          <p:cNvGraphicFramePr/>
          <p:nvPr/>
        </p:nvGraphicFramePr>
        <p:xfrm>
          <a:off x="4274210" y="3913632"/>
          <a:ext cx="3643274" cy="2048256"/>
        </p:xfrm>
        <a:graphic xmlns:a="http://schemas.openxmlformats.org/drawingml/2006/main">
          <a:graphicData uri="http://schemas.openxmlformats.org/drawingml/2006/chart">
            <c:chart xmlns:c="http://schemas.openxmlformats.org/drawingml/2006/chart" r:id="rId4"/>
          </a:graphicData>
        </a:graphic>
      </p:graphicFrame>
      <p:sp>
        <p:nvSpPr>
          <p:cNvPr id="39" name="Text 33"/>
          <p:cNvSpPr/>
          <p:nvPr/>
        </p:nvSpPr>
        <p:spPr>
          <a:xfrm>
            <a:off x="4383938" y="6035040"/>
            <a:ext cx="1141273"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Changed code (After)</a:t>
            </a:r>
            <a:endParaRPr lang="en-US" sz="850" dirty="0"/>
          </a:p>
        </p:txBody>
      </p:sp>
      <p:sp>
        <p:nvSpPr>
          <p:cNvPr id="40" name="Text 34"/>
          <p:cNvSpPr/>
          <p:nvPr/>
        </p:nvSpPr>
        <p:spPr>
          <a:xfrm>
            <a:off x="4383938" y="6254496"/>
            <a:ext cx="1141273"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2.1 ★</a:t>
            </a:r>
            <a:endParaRPr lang="en-US" sz="1000" dirty="0"/>
          </a:p>
        </p:txBody>
      </p:sp>
      <p:sp>
        <p:nvSpPr>
          <p:cNvPr id="41" name="Text 35"/>
          <p:cNvSpPr/>
          <p:nvPr/>
        </p:nvSpPr>
        <p:spPr>
          <a:xfrm>
            <a:off x="5525211" y="6035040"/>
            <a:ext cx="1141273"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Changed code (Before)</a:t>
            </a:r>
            <a:endParaRPr lang="en-US" sz="850" dirty="0"/>
          </a:p>
        </p:txBody>
      </p:sp>
      <p:sp>
        <p:nvSpPr>
          <p:cNvPr id="42" name="Text 36"/>
          <p:cNvSpPr/>
          <p:nvPr/>
        </p:nvSpPr>
        <p:spPr>
          <a:xfrm>
            <a:off x="5525211" y="6254496"/>
            <a:ext cx="1141273"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2.1 ★</a:t>
            </a:r>
            <a:endParaRPr lang="en-US" sz="1000" dirty="0"/>
          </a:p>
        </p:txBody>
      </p:sp>
      <p:sp>
        <p:nvSpPr>
          <p:cNvPr id="43" name="Text 37"/>
          <p:cNvSpPr/>
          <p:nvPr/>
        </p:nvSpPr>
        <p:spPr>
          <a:xfrm>
            <a:off x="6666484" y="6035040"/>
            <a:ext cx="1141273"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Total code (Before)</a:t>
            </a:r>
            <a:endParaRPr lang="en-US" sz="850" dirty="0"/>
          </a:p>
        </p:txBody>
      </p:sp>
      <p:sp>
        <p:nvSpPr>
          <p:cNvPr id="44" name="Text 38"/>
          <p:cNvSpPr/>
          <p:nvPr/>
        </p:nvSpPr>
        <p:spPr>
          <a:xfrm>
            <a:off x="6666484" y="6254496"/>
            <a:ext cx="1141273"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2.2 ★</a:t>
            </a:r>
            <a:endParaRPr lang="en-US" sz="1000" dirty="0"/>
          </a:p>
        </p:txBody>
      </p:sp>
      <p:sp>
        <p:nvSpPr>
          <p:cNvPr id="45" name="Shape 39"/>
          <p:cNvSpPr/>
          <p:nvPr/>
        </p:nvSpPr>
        <p:spPr>
          <a:xfrm>
            <a:off x="8136941" y="3511296"/>
            <a:ext cx="3753002" cy="3072384"/>
          </a:xfrm>
          <a:prstGeom prst="roundRect">
            <a:avLst>
              <a:gd name="adj" fmla="val 1786"/>
            </a:avLst>
          </a:prstGeom>
          <a:solidFill>
            <a:srgbClr val="FFFFFF"/>
          </a:solidFill>
          <a:ln w="12700">
            <a:solidFill>
              <a:srgbClr val="E3E5E8"/>
            </a:solidFill>
            <a:prstDash val="solid"/>
          </a:ln>
          <a:effectLst>
            <a:outerShdw sx="100000" sy="100000" kx="0" ky="0" algn="bl" rotWithShape="0" blurRad="76200" dist="25400" dir="5400000">
              <a:srgbClr val="9AA1A9">
                <a:alpha val="28000"/>
              </a:srgbClr>
            </a:outerShdw>
          </a:effectLst>
        </p:spPr>
        <p:txBody>
          <a:bodyPr/>
          <a:p/>
        </p:txBody>
      </p:sp>
      <p:sp>
        <p:nvSpPr>
          <p:cNvPr id="46" name="Text 40"/>
          <p:cNvSpPr/>
          <p:nvPr/>
        </p:nvSpPr>
        <p:spPr>
          <a:xfrm>
            <a:off x="8319821" y="3621024"/>
            <a:ext cx="3387242" cy="292608"/>
          </a:xfrm>
          <a:prstGeom prst="rect">
            <a:avLst/>
          </a:prstGeom>
          <a:noFill/>
          <a:ln/>
        </p:spPr>
        <p:txBody>
          <a:bodyPr wrap="square" lIns="0" tIns="0" rIns="0" bIns="0" rtlCol="0" anchor="ctr"/>
          <a:lstStyle/>
          <a:p>
            <a:pPr algn="l" indent="0" marL="0">
              <a:buNone/>
            </a:pPr>
            <a:r>
              <a:rPr lang="en-US" sz="1300" b="1" dirty="0">
                <a:solidFill>
                  <a:srgbClr val="1F2933"/>
                </a:solidFill>
                <a:latin typeface="Arial" pitchFamily="34" charset="0"/>
                <a:ea typeface="Arial" pitchFamily="34" charset="-122"/>
                <a:cs typeface="Arial" pitchFamily="34" charset="-120"/>
              </a:rPr>
              <a:t>Module coupling</a:t>
            </a:r>
            <a:endParaRPr lang="en-US" sz="1300" dirty="0"/>
          </a:p>
        </p:txBody>
      </p:sp>
      <p:graphicFrame>
        <p:nvGraphicFramePr>
          <p:cNvPr id="47" name="DELTA_QUALITY_CHANGED_CODE_MODULE_COUPLING_CHART" descr=""/>
          <p:cNvGraphicFramePr/>
          <p:nvPr/>
        </p:nvGraphicFramePr>
        <p:xfrm>
          <a:off x="8191805" y="3913632"/>
          <a:ext cx="3643274" cy="2048256"/>
        </p:xfrm>
        <a:graphic xmlns:a="http://schemas.openxmlformats.org/drawingml/2006/main">
          <a:graphicData uri="http://schemas.openxmlformats.org/drawingml/2006/chart">
            <c:chart xmlns:c="http://schemas.openxmlformats.org/drawingml/2006/chart" r:id="rId5"/>
          </a:graphicData>
        </a:graphic>
      </p:graphicFrame>
      <p:sp>
        <p:nvSpPr>
          <p:cNvPr id="48" name="Text 41"/>
          <p:cNvSpPr/>
          <p:nvPr/>
        </p:nvSpPr>
        <p:spPr>
          <a:xfrm>
            <a:off x="8301533" y="6035040"/>
            <a:ext cx="1141273"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Changed code (After)</a:t>
            </a:r>
            <a:endParaRPr lang="en-US" sz="850" dirty="0"/>
          </a:p>
        </p:txBody>
      </p:sp>
      <p:sp>
        <p:nvSpPr>
          <p:cNvPr id="49" name="Text 42"/>
          <p:cNvSpPr/>
          <p:nvPr/>
        </p:nvSpPr>
        <p:spPr>
          <a:xfrm>
            <a:off x="8301533" y="6254496"/>
            <a:ext cx="1141273"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0.6 ★</a:t>
            </a:r>
            <a:endParaRPr lang="en-US" sz="1000" dirty="0"/>
          </a:p>
        </p:txBody>
      </p:sp>
      <p:sp>
        <p:nvSpPr>
          <p:cNvPr id="50" name="Text 43"/>
          <p:cNvSpPr/>
          <p:nvPr/>
        </p:nvSpPr>
        <p:spPr>
          <a:xfrm>
            <a:off x="9442806" y="6035040"/>
            <a:ext cx="1141273"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Changed code (Before)</a:t>
            </a:r>
            <a:endParaRPr lang="en-US" sz="850" dirty="0"/>
          </a:p>
        </p:txBody>
      </p:sp>
      <p:sp>
        <p:nvSpPr>
          <p:cNvPr id="51" name="Text 44"/>
          <p:cNvSpPr/>
          <p:nvPr/>
        </p:nvSpPr>
        <p:spPr>
          <a:xfrm>
            <a:off x="9442806" y="6254496"/>
            <a:ext cx="1141273"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0.6 ★</a:t>
            </a:r>
            <a:endParaRPr lang="en-US" sz="1000" dirty="0"/>
          </a:p>
        </p:txBody>
      </p:sp>
      <p:sp>
        <p:nvSpPr>
          <p:cNvPr id="52" name="Text 45"/>
          <p:cNvSpPr/>
          <p:nvPr/>
        </p:nvSpPr>
        <p:spPr>
          <a:xfrm>
            <a:off x="10584078" y="6035040"/>
            <a:ext cx="1141273"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Total code (Before)</a:t>
            </a:r>
            <a:endParaRPr lang="en-US" sz="850" dirty="0"/>
          </a:p>
        </p:txBody>
      </p:sp>
      <p:sp>
        <p:nvSpPr>
          <p:cNvPr id="53" name="Text 46"/>
          <p:cNvSpPr/>
          <p:nvPr/>
        </p:nvSpPr>
        <p:spPr>
          <a:xfrm>
            <a:off x="10584078" y="6254496"/>
            <a:ext cx="1141273"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1.6 ★</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01752" y="274320"/>
            <a:ext cx="3753002" cy="3072384"/>
          </a:xfrm>
          <a:prstGeom prst="roundRect">
            <a:avLst>
              <a:gd name="adj" fmla="val 1786"/>
            </a:avLst>
          </a:prstGeom>
          <a:solidFill>
            <a:srgbClr val="FFFFFF"/>
          </a:solidFill>
          <a:ln w="12700">
            <a:solidFill>
              <a:srgbClr val="E3E5E8"/>
            </a:solidFill>
            <a:prstDash val="solid"/>
          </a:ln>
          <a:effectLst>
            <a:outerShdw sx="100000" sy="100000" kx="0" ky="0" algn="bl" rotWithShape="0" blurRad="76200" dist="25400" dir="5400000">
              <a:srgbClr val="9AA1A9">
                <a:alpha val="28000"/>
              </a:srgbClr>
            </a:outerShdw>
          </a:effectLst>
        </p:spPr>
        <p:txBody>
          <a:bodyPr/>
          <a:p/>
        </p:txBody>
      </p:sp>
      <p:sp>
        <p:nvSpPr>
          <p:cNvPr id="3" name="Text 1"/>
          <p:cNvSpPr/>
          <p:nvPr/>
        </p:nvSpPr>
        <p:spPr>
          <a:xfrm>
            <a:off x="484632" y="384048"/>
            <a:ext cx="3387242" cy="292608"/>
          </a:xfrm>
          <a:prstGeom prst="rect">
            <a:avLst/>
          </a:prstGeom>
          <a:noFill/>
          <a:ln/>
        </p:spPr>
        <p:txBody>
          <a:bodyPr wrap="square" lIns="0" tIns="0" rIns="0" bIns="0" rtlCol="0" anchor="ctr"/>
          <a:lstStyle/>
          <a:p>
            <a:pPr algn="l" indent="0" marL="0">
              <a:buNone/>
            </a:pPr>
            <a:r>
              <a:rPr lang="en-US" sz="1300" b="1" dirty="0">
                <a:solidFill>
                  <a:srgbClr val="1F2933"/>
                </a:solidFill>
                <a:latin typeface="Arial" pitchFamily="34" charset="0"/>
                <a:ea typeface="Arial" pitchFamily="34" charset="-122"/>
                <a:cs typeface="Arial" pitchFamily="34" charset="-120"/>
              </a:rPr>
              <a:t>Removed code quality</a:t>
            </a:r>
            <a:endParaRPr lang="en-US" sz="1300" dirty="0"/>
          </a:p>
        </p:txBody>
      </p:sp>
      <p:sp>
        <p:nvSpPr>
          <p:cNvPr id="4" name="Text 2"/>
          <p:cNvSpPr/>
          <p:nvPr/>
        </p:nvSpPr>
        <p:spPr>
          <a:xfrm>
            <a:off x="484632" y="731520"/>
            <a:ext cx="3387242" cy="1463040"/>
          </a:xfrm>
          <a:prstGeom prst="rect">
            <a:avLst/>
          </a:prstGeom>
          <a:noFill/>
          <a:ln/>
        </p:spPr>
        <p:txBody>
          <a:bodyPr wrap="square" lIns="0" tIns="0" rIns="0" bIns="0" rtlCol="0" anchor="t"/>
          <a:lstStyle/>
          <a:p>
            <a:pPr algn="l" indent="0" marL="0">
              <a:lnSpc>
                <a:spcPct val="103000"/>
              </a:lnSpc>
              <a:buNone/>
            </a:pPr>
            <a:r>
              <a:rPr lang="en-US" sz="850" dirty="0">
                <a:solidFill>
                  <a:srgbClr val="5B6570"/>
                </a:solidFill>
                <a:latin typeface="Arial" pitchFamily="34" charset="0"/>
                <a:ea typeface="Arial" pitchFamily="34" charset="-122"/>
                <a:cs typeface="Arial" pitchFamily="34" charset="-120"/>
              </a:rPr>
              <a:t>This compares the quality of removed code against the quality of the existing code. "Deleted code (Before)" refers to the quality of the code in files that were removed during the selected period, measured at the start of the period; "Total code (Before)" refers to the quality of the system as a whole at the start of the selected period.</a:t>
            </a:r>
            <a:endParaRPr lang="en-US" sz="850" dirty="0"/>
          </a:p>
        </p:txBody>
      </p:sp>
      <p:sp>
        <p:nvSpPr>
          <p:cNvPr id="5" name="Text 3"/>
          <p:cNvSpPr/>
          <p:nvPr/>
        </p:nvSpPr>
        <p:spPr>
          <a:xfrm>
            <a:off x="484632" y="2523744"/>
            <a:ext cx="1129081" cy="201168"/>
          </a:xfrm>
          <a:prstGeom prst="rect">
            <a:avLst/>
          </a:prstGeom>
          <a:noFill/>
          <a:ln/>
        </p:spPr>
        <p:txBody>
          <a:bodyPr wrap="square" lIns="0" tIns="0" rIns="0" bIns="0" rtlCol="0" anchor="ctr"/>
          <a:lstStyle/>
          <a:p>
            <a:pPr algn="l" indent="0" marL="0">
              <a:buNone/>
            </a:pPr>
            <a:r>
              <a:rPr lang="en-US" sz="950" dirty="0">
                <a:solidFill>
                  <a:srgbClr val="5B6570"/>
                </a:solidFill>
                <a:latin typeface="Arial" pitchFamily="34" charset="0"/>
                <a:ea typeface="Arial" pitchFamily="34" charset="-122"/>
                <a:cs typeface="Arial" pitchFamily="34" charset="-120"/>
              </a:rPr>
              <a:t>Volume</a:t>
            </a:r>
            <a:endParaRPr lang="en-US" sz="950" dirty="0"/>
          </a:p>
        </p:txBody>
      </p:sp>
      <p:sp>
        <p:nvSpPr>
          <p:cNvPr id="6" name="Text 4"/>
          <p:cNvSpPr/>
          <p:nvPr/>
        </p:nvSpPr>
        <p:spPr>
          <a:xfrm>
            <a:off x="484632" y="2724912"/>
            <a:ext cx="1129081" cy="274320"/>
          </a:xfrm>
          <a:prstGeom prst="rect">
            <a:avLst/>
          </a:prstGeom>
          <a:noFill/>
          <a:ln/>
        </p:spPr>
        <p:txBody>
          <a:bodyPr wrap="square" lIns="0" tIns="0" rIns="0" bIns="0" rtlCol="0" anchor="ctr"/>
          <a:lstStyle/>
          <a:p>
            <a:pPr algn="l" indent="0" marL="0">
              <a:buNone/>
            </a:pPr>
            <a:r>
              <a:rPr lang="en-US" sz="1400" b="1" dirty="0">
                <a:solidFill>
                  <a:srgbClr val="1F2933"/>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1613713" y="2523744"/>
            <a:ext cx="1129081" cy="201168"/>
          </a:xfrm>
          <a:prstGeom prst="rect">
            <a:avLst/>
          </a:prstGeom>
          <a:noFill/>
          <a:ln/>
        </p:spPr>
        <p:txBody>
          <a:bodyPr wrap="square" lIns="0" tIns="0" rIns="0" bIns="0" rtlCol="0" anchor="ctr"/>
          <a:lstStyle/>
          <a:p>
            <a:pPr algn="l" indent="0" marL="0">
              <a:buNone/>
            </a:pPr>
            <a:r>
              <a:rPr lang="en-US" sz="950" dirty="0">
                <a:solidFill>
                  <a:srgbClr val="5B6570"/>
                </a:solidFill>
                <a:latin typeface="Arial" pitchFamily="34" charset="0"/>
                <a:ea typeface="Arial" pitchFamily="34" charset="-122"/>
                <a:cs typeface="Arial" pitchFamily="34" charset="-120"/>
              </a:rPr>
              <a:t>Rating</a:t>
            </a:r>
            <a:endParaRPr lang="en-US" sz="950" dirty="0"/>
          </a:p>
        </p:txBody>
      </p:sp>
      <p:sp>
        <p:nvSpPr>
          <p:cNvPr id="8" name="Text 6"/>
          <p:cNvSpPr/>
          <p:nvPr/>
        </p:nvSpPr>
        <p:spPr>
          <a:xfrm>
            <a:off x="1613713" y="2724912"/>
            <a:ext cx="1129081" cy="274320"/>
          </a:xfrm>
          <a:prstGeom prst="rect">
            <a:avLst/>
          </a:prstGeom>
          <a:noFill/>
          <a:ln/>
        </p:spPr>
        <p:txBody>
          <a:bodyPr wrap="square" lIns="0" tIns="0" rIns="0" bIns="0" rtlCol="0" anchor="ctr"/>
          <a:lstStyle/>
          <a:p>
            <a:pPr algn="l" indent="0" marL="0">
              <a:buNone/>
            </a:pPr>
            <a:r>
              <a:rPr lang="en-US" sz="1400" b="1" dirty="0">
                <a:solidFill>
                  <a:srgbClr val="1F2933"/>
                </a:solidFill>
                <a:latin typeface="Arial" pitchFamily="34" charset="0"/>
                <a:ea typeface="Arial" pitchFamily="34" charset="-122"/>
                <a:cs typeface="Arial" pitchFamily="34" charset="-120"/>
              </a:rPr>
              <a:t>2.7 ★</a:t>
            </a:r>
            <a:endParaRPr lang="en-US" sz="1400" dirty="0"/>
          </a:p>
        </p:txBody>
      </p:sp>
      <p:sp>
        <p:nvSpPr>
          <p:cNvPr id="9" name="Shape 7"/>
          <p:cNvSpPr/>
          <p:nvPr/>
        </p:nvSpPr>
        <p:spPr>
          <a:xfrm>
            <a:off x="4219346" y="274320"/>
            <a:ext cx="3753002" cy="3072384"/>
          </a:xfrm>
          <a:prstGeom prst="roundRect">
            <a:avLst>
              <a:gd name="adj" fmla="val 1786"/>
            </a:avLst>
          </a:prstGeom>
          <a:solidFill>
            <a:srgbClr val="FFFFFF"/>
          </a:solidFill>
          <a:ln w="12700">
            <a:solidFill>
              <a:srgbClr val="E3E5E8"/>
            </a:solidFill>
            <a:prstDash val="solid"/>
          </a:ln>
          <a:effectLst>
            <a:outerShdw sx="100000" sy="100000" kx="0" ky="0" algn="bl" rotWithShape="0" blurRad="76200" dist="25400" dir="5400000">
              <a:srgbClr val="9AA1A9">
                <a:alpha val="28000"/>
              </a:srgbClr>
            </a:outerShdw>
          </a:effectLst>
        </p:spPr>
        <p:txBody>
          <a:bodyPr/>
          <a:p/>
        </p:txBody>
      </p:sp>
      <p:sp>
        <p:nvSpPr>
          <p:cNvPr id="10" name="Text 8"/>
          <p:cNvSpPr/>
          <p:nvPr/>
        </p:nvSpPr>
        <p:spPr>
          <a:xfrm>
            <a:off x="4402226" y="384048"/>
            <a:ext cx="3387242" cy="292608"/>
          </a:xfrm>
          <a:prstGeom prst="rect">
            <a:avLst/>
          </a:prstGeom>
          <a:noFill/>
          <a:ln/>
        </p:spPr>
        <p:txBody>
          <a:bodyPr wrap="square" lIns="0" tIns="0" rIns="0" bIns="0" rtlCol="0" anchor="ctr"/>
          <a:lstStyle/>
          <a:p>
            <a:pPr algn="l" indent="0" marL="0">
              <a:buNone/>
            </a:pPr>
            <a:r>
              <a:rPr lang="en-US" sz="1300" b="1" dirty="0">
                <a:solidFill>
                  <a:srgbClr val="1F2933"/>
                </a:solidFill>
                <a:latin typeface="Arial" pitchFamily="34" charset="0"/>
                <a:ea typeface="Arial" pitchFamily="34" charset="-122"/>
                <a:cs typeface="Arial" pitchFamily="34" charset="-120"/>
              </a:rPr>
              <a:t>Duplication</a:t>
            </a:r>
            <a:endParaRPr lang="en-US" sz="1300" dirty="0"/>
          </a:p>
        </p:txBody>
      </p:sp>
      <p:graphicFrame>
        <p:nvGraphicFramePr>
          <p:cNvPr id="11" name="DELTA_QUALITY_REMOVED_CODE_DUPLICATION_CHART" descr=""/>
          <p:cNvGraphicFramePr/>
          <p:nvPr/>
        </p:nvGraphicFramePr>
        <p:xfrm>
          <a:off x="4274210" y="676656"/>
          <a:ext cx="3643274" cy="2048256"/>
        </p:xfrm>
        <a:graphic xmlns:a="http://schemas.openxmlformats.org/drawingml/2006/main">
          <a:graphicData uri="http://schemas.openxmlformats.org/drawingml/2006/chart">
            <c:chart xmlns:c="http://schemas.openxmlformats.org/drawingml/2006/chart" r:id="rId1"/>
          </a:graphicData>
        </a:graphic>
      </p:graphicFrame>
      <p:sp>
        <p:nvSpPr>
          <p:cNvPr id="12" name="Text 9"/>
          <p:cNvSpPr/>
          <p:nvPr/>
        </p:nvSpPr>
        <p:spPr>
          <a:xfrm>
            <a:off x="4383938" y="2798064"/>
            <a:ext cx="1711909"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Deleted code (Before)</a:t>
            </a:r>
            <a:endParaRPr lang="en-US" sz="850" dirty="0"/>
          </a:p>
        </p:txBody>
      </p:sp>
      <p:sp>
        <p:nvSpPr>
          <p:cNvPr id="13" name="Text 10"/>
          <p:cNvSpPr/>
          <p:nvPr/>
        </p:nvSpPr>
        <p:spPr>
          <a:xfrm>
            <a:off x="4383938" y="3017520"/>
            <a:ext cx="1711909"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4.2 ★</a:t>
            </a:r>
            <a:endParaRPr lang="en-US" sz="1000" dirty="0"/>
          </a:p>
        </p:txBody>
      </p:sp>
      <p:sp>
        <p:nvSpPr>
          <p:cNvPr id="14" name="Text 11"/>
          <p:cNvSpPr/>
          <p:nvPr/>
        </p:nvSpPr>
        <p:spPr>
          <a:xfrm>
            <a:off x="6095848" y="2798064"/>
            <a:ext cx="1711909"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Total code (Before)</a:t>
            </a:r>
            <a:endParaRPr lang="en-US" sz="850" dirty="0"/>
          </a:p>
        </p:txBody>
      </p:sp>
      <p:sp>
        <p:nvSpPr>
          <p:cNvPr id="15" name="Text 12"/>
          <p:cNvSpPr/>
          <p:nvPr/>
        </p:nvSpPr>
        <p:spPr>
          <a:xfrm>
            <a:off x="6095848" y="3017520"/>
            <a:ext cx="1711909"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3.5 ★</a:t>
            </a:r>
            <a:endParaRPr lang="en-US" sz="1000" dirty="0"/>
          </a:p>
        </p:txBody>
      </p:sp>
      <p:sp>
        <p:nvSpPr>
          <p:cNvPr id="16" name="Shape 13"/>
          <p:cNvSpPr/>
          <p:nvPr/>
        </p:nvSpPr>
        <p:spPr>
          <a:xfrm>
            <a:off x="8136941" y="274320"/>
            <a:ext cx="3753002" cy="3072384"/>
          </a:xfrm>
          <a:prstGeom prst="roundRect">
            <a:avLst>
              <a:gd name="adj" fmla="val 1786"/>
            </a:avLst>
          </a:prstGeom>
          <a:solidFill>
            <a:srgbClr val="FFFFFF"/>
          </a:solidFill>
          <a:ln w="12700">
            <a:solidFill>
              <a:srgbClr val="E3E5E8"/>
            </a:solidFill>
            <a:prstDash val="solid"/>
          </a:ln>
          <a:effectLst>
            <a:outerShdw sx="100000" sy="100000" kx="0" ky="0" algn="bl" rotWithShape="0" blurRad="76200" dist="25400" dir="5400000">
              <a:srgbClr val="9AA1A9">
                <a:alpha val="28000"/>
              </a:srgbClr>
            </a:outerShdw>
          </a:effectLst>
        </p:spPr>
        <p:txBody>
          <a:bodyPr/>
          <a:p/>
        </p:txBody>
      </p:sp>
      <p:sp>
        <p:nvSpPr>
          <p:cNvPr id="17" name="Text 14"/>
          <p:cNvSpPr/>
          <p:nvPr/>
        </p:nvSpPr>
        <p:spPr>
          <a:xfrm>
            <a:off x="8319821" y="384048"/>
            <a:ext cx="3387242" cy="292608"/>
          </a:xfrm>
          <a:prstGeom prst="rect">
            <a:avLst/>
          </a:prstGeom>
          <a:noFill/>
          <a:ln/>
        </p:spPr>
        <p:txBody>
          <a:bodyPr wrap="square" lIns="0" tIns="0" rIns="0" bIns="0" rtlCol="0" anchor="ctr"/>
          <a:lstStyle/>
          <a:p>
            <a:pPr algn="l" indent="0" marL="0">
              <a:buNone/>
            </a:pPr>
            <a:r>
              <a:rPr lang="en-US" sz="1300" b="1" dirty="0">
                <a:solidFill>
                  <a:srgbClr val="1F2933"/>
                </a:solidFill>
                <a:latin typeface="Arial" pitchFamily="34" charset="0"/>
                <a:ea typeface="Arial" pitchFamily="34" charset="-122"/>
                <a:cs typeface="Arial" pitchFamily="34" charset="-120"/>
              </a:rPr>
              <a:t>Unit size</a:t>
            </a:r>
            <a:endParaRPr lang="en-US" sz="1300" dirty="0"/>
          </a:p>
        </p:txBody>
      </p:sp>
      <p:graphicFrame>
        <p:nvGraphicFramePr>
          <p:cNvPr id="18" name="DELTA_QUALITY_REMOVED_CODE_UNIT_SIZE_CHART" descr=""/>
          <p:cNvGraphicFramePr/>
          <p:nvPr/>
        </p:nvGraphicFramePr>
        <p:xfrm>
          <a:off x="8191805" y="676656"/>
          <a:ext cx="3643274" cy="2048256"/>
        </p:xfrm>
        <a:graphic xmlns:a="http://schemas.openxmlformats.org/drawingml/2006/main">
          <a:graphicData uri="http://schemas.openxmlformats.org/drawingml/2006/chart">
            <c:chart xmlns:c="http://schemas.openxmlformats.org/drawingml/2006/chart" r:id="rId2"/>
          </a:graphicData>
        </a:graphic>
      </p:graphicFrame>
      <p:sp>
        <p:nvSpPr>
          <p:cNvPr id="19" name="Text 15"/>
          <p:cNvSpPr/>
          <p:nvPr/>
        </p:nvSpPr>
        <p:spPr>
          <a:xfrm>
            <a:off x="8301533" y="2798064"/>
            <a:ext cx="1711909"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Deleted code (Before)</a:t>
            </a:r>
            <a:endParaRPr lang="en-US" sz="850" dirty="0"/>
          </a:p>
        </p:txBody>
      </p:sp>
      <p:sp>
        <p:nvSpPr>
          <p:cNvPr id="20" name="Text 16"/>
          <p:cNvSpPr/>
          <p:nvPr/>
        </p:nvSpPr>
        <p:spPr>
          <a:xfrm>
            <a:off x="8301533" y="3017520"/>
            <a:ext cx="1711909"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4.3 ★</a:t>
            </a:r>
            <a:endParaRPr lang="en-US" sz="1000" dirty="0"/>
          </a:p>
        </p:txBody>
      </p:sp>
      <p:sp>
        <p:nvSpPr>
          <p:cNvPr id="21" name="Text 17"/>
          <p:cNvSpPr/>
          <p:nvPr/>
        </p:nvSpPr>
        <p:spPr>
          <a:xfrm>
            <a:off x="10013442" y="2798064"/>
            <a:ext cx="1711909"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Total code (Before)</a:t>
            </a:r>
            <a:endParaRPr lang="en-US" sz="850" dirty="0"/>
          </a:p>
        </p:txBody>
      </p:sp>
      <p:sp>
        <p:nvSpPr>
          <p:cNvPr id="22" name="Text 18"/>
          <p:cNvSpPr/>
          <p:nvPr/>
        </p:nvSpPr>
        <p:spPr>
          <a:xfrm>
            <a:off x="10013442" y="3017520"/>
            <a:ext cx="1711909"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3.3 ★</a:t>
            </a:r>
            <a:endParaRPr lang="en-US" sz="1000" dirty="0"/>
          </a:p>
        </p:txBody>
      </p:sp>
      <p:sp>
        <p:nvSpPr>
          <p:cNvPr id="23" name="Shape 19"/>
          <p:cNvSpPr/>
          <p:nvPr/>
        </p:nvSpPr>
        <p:spPr>
          <a:xfrm>
            <a:off x="301752" y="3511296"/>
            <a:ext cx="3753002" cy="3072384"/>
          </a:xfrm>
          <a:prstGeom prst="roundRect">
            <a:avLst>
              <a:gd name="adj" fmla="val 1786"/>
            </a:avLst>
          </a:prstGeom>
          <a:solidFill>
            <a:srgbClr val="FFFFFF"/>
          </a:solidFill>
          <a:ln w="12700">
            <a:solidFill>
              <a:srgbClr val="E3E5E8"/>
            </a:solidFill>
            <a:prstDash val="solid"/>
          </a:ln>
          <a:effectLst>
            <a:outerShdw sx="100000" sy="100000" kx="0" ky="0" algn="bl" rotWithShape="0" blurRad="76200" dist="25400" dir="5400000">
              <a:srgbClr val="9AA1A9">
                <a:alpha val="28000"/>
              </a:srgbClr>
            </a:outerShdw>
          </a:effectLst>
        </p:spPr>
        <p:txBody>
          <a:bodyPr/>
          <a:p/>
        </p:txBody>
      </p:sp>
      <p:sp>
        <p:nvSpPr>
          <p:cNvPr id="24" name="Text 20"/>
          <p:cNvSpPr/>
          <p:nvPr/>
        </p:nvSpPr>
        <p:spPr>
          <a:xfrm>
            <a:off x="484632" y="3621024"/>
            <a:ext cx="3387242" cy="292608"/>
          </a:xfrm>
          <a:prstGeom prst="rect">
            <a:avLst/>
          </a:prstGeom>
          <a:noFill/>
          <a:ln/>
        </p:spPr>
        <p:txBody>
          <a:bodyPr wrap="square" lIns="0" tIns="0" rIns="0" bIns="0" rtlCol="0" anchor="ctr"/>
          <a:lstStyle/>
          <a:p>
            <a:pPr algn="l" indent="0" marL="0">
              <a:buNone/>
            </a:pPr>
            <a:r>
              <a:rPr lang="en-US" sz="1300" b="1" dirty="0">
                <a:solidFill>
                  <a:srgbClr val="1F2933"/>
                </a:solidFill>
                <a:latin typeface="Arial" pitchFamily="34" charset="0"/>
                <a:ea typeface="Arial" pitchFamily="34" charset="-122"/>
                <a:cs typeface="Arial" pitchFamily="34" charset="-120"/>
              </a:rPr>
              <a:t>Unit complexity</a:t>
            </a:r>
            <a:endParaRPr lang="en-US" sz="1300" dirty="0"/>
          </a:p>
        </p:txBody>
      </p:sp>
      <p:graphicFrame>
        <p:nvGraphicFramePr>
          <p:cNvPr id="25" name="DELTA_QUALITY_REMOVED_CODE_UNIT_COMPLEXITY_CHART" descr=""/>
          <p:cNvGraphicFramePr/>
          <p:nvPr/>
        </p:nvGraphicFramePr>
        <p:xfrm>
          <a:off x="356616" y="3913632"/>
          <a:ext cx="3643274" cy="2048256"/>
        </p:xfrm>
        <a:graphic xmlns:a="http://schemas.openxmlformats.org/drawingml/2006/main">
          <a:graphicData uri="http://schemas.openxmlformats.org/drawingml/2006/chart">
            <c:chart xmlns:c="http://schemas.openxmlformats.org/drawingml/2006/chart" r:id="rId3"/>
          </a:graphicData>
        </a:graphic>
      </p:graphicFrame>
      <p:sp>
        <p:nvSpPr>
          <p:cNvPr id="26" name="Text 21"/>
          <p:cNvSpPr/>
          <p:nvPr/>
        </p:nvSpPr>
        <p:spPr>
          <a:xfrm>
            <a:off x="466344" y="6035040"/>
            <a:ext cx="1711909"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Deleted code (Before)</a:t>
            </a:r>
            <a:endParaRPr lang="en-US" sz="850" dirty="0"/>
          </a:p>
        </p:txBody>
      </p:sp>
      <p:sp>
        <p:nvSpPr>
          <p:cNvPr id="27" name="Text 22"/>
          <p:cNvSpPr/>
          <p:nvPr/>
        </p:nvSpPr>
        <p:spPr>
          <a:xfrm>
            <a:off x="466344" y="6254496"/>
            <a:ext cx="1711909"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3.4 ★</a:t>
            </a:r>
            <a:endParaRPr lang="en-US" sz="1000" dirty="0"/>
          </a:p>
        </p:txBody>
      </p:sp>
      <p:sp>
        <p:nvSpPr>
          <p:cNvPr id="28" name="Text 23"/>
          <p:cNvSpPr/>
          <p:nvPr/>
        </p:nvSpPr>
        <p:spPr>
          <a:xfrm>
            <a:off x="2178253" y="6035040"/>
            <a:ext cx="1711909"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Total code (Before)</a:t>
            </a:r>
            <a:endParaRPr lang="en-US" sz="850" dirty="0"/>
          </a:p>
        </p:txBody>
      </p:sp>
      <p:sp>
        <p:nvSpPr>
          <p:cNvPr id="29" name="Text 24"/>
          <p:cNvSpPr/>
          <p:nvPr/>
        </p:nvSpPr>
        <p:spPr>
          <a:xfrm>
            <a:off x="2178253" y="6254496"/>
            <a:ext cx="1711909"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3.0 ★</a:t>
            </a:r>
            <a:endParaRPr lang="en-US" sz="1000" dirty="0"/>
          </a:p>
        </p:txBody>
      </p:sp>
      <p:sp>
        <p:nvSpPr>
          <p:cNvPr id="30" name="Shape 25"/>
          <p:cNvSpPr/>
          <p:nvPr/>
        </p:nvSpPr>
        <p:spPr>
          <a:xfrm>
            <a:off x="4219346" y="3511296"/>
            <a:ext cx="3753002" cy="3072384"/>
          </a:xfrm>
          <a:prstGeom prst="roundRect">
            <a:avLst>
              <a:gd name="adj" fmla="val 1786"/>
            </a:avLst>
          </a:prstGeom>
          <a:solidFill>
            <a:srgbClr val="FFFFFF"/>
          </a:solidFill>
          <a:ln w="12700">
            <a:solidFill>
              <a:srgbClr val="E3E5E8"/>
            </a:solidFill>
            <a:prstDash val="solid"/>
          </a:ln>
          <a:effectLst>
            <a:outerShdw sx="100000" sy="100000" kx="0" ky="0" algn="bl" rotWithShape="0" blurRad="76200" dist="25400" dir="5400000">
              <a:srgbClr val="9AA1A9">
                <a:alpha val="28000"/>
              </a:srgbClr>
            </a:outerShdw>
          </a:effectLst>
        </p:spPr>
        <p:txBody>
          <a:bodyPr/>
          <a:p/>
        </p:txBody>
      </p:sp>
      <p:sp>
        <p:nvSpPr>
          <p:cNvPr id="31" name="Text 26"/>
          <p:cNvSpPr/>
          <p:nvPr/>
        </p:nvSpPr>
        <p:spPr>
          <a:xfrm>
            <a:off x="4402226" y="3621024"/>
            <a:ext cx="3387242" cy="292608"/>
          </a:xfrm>
          <a:prstGeom prst="rect">
            <a:avLst/>
          </a:prstGeom>
          <a:noFill/>
          <a:ln/>
        </p:spPr>
        <p:txBody>
          <a:bodyPr wrap="square" lIns="0" tIns="0" rIns="0" bIns="0" rtlCol="0" anchor="ctr"/>
          <a:lstStyle/>
          <a:p>
            <a:pPr algn="l" indent="0" marL="0">
              <a:buNone/>
            </a:pPr>
            <a:r>
              <a:rPr lang="en-US" sz="1300" b="1" dirty="0">
                <a:solidFill>
                  <a:srgbClr val="1F2933"/>
                </a:solidFill>
                <a:latin typeface="Arial" pitchFamily="34" charset="0"/>
                <a:ea typeface="Arial" pitchFamily="34" charset="-122"/>
                <a:cs typeface="Arial" pitchFamily="34" charset="-120"/>
              </a:rPr>
              <a:t>Unit interfacing</a:t>
            </a:r>
            <a:endParaRPr lang="en-US" sz="1300" dirty="0"/>
          </a:p>
        </p:txBody>
      </p:sp>
      <p:graphicFrame>
        <p:nvGraphicFramePr>
          <p:cNvPr id="32" name="DELTA_QUALITY_REMOVED_CODE_UNIT_INTERFACING_CHART" descr=""/>
          <p:cNvGraphicFramePr/>
          <p:nvPr/>
        </p:nvGraphicFramePr>
        <p:xfrm>
          <a:off x="4274210" y="3913632"/>
          <a:ext cx="3643274" cy="2048256"/>
        </p:xfrm>
        <a:graphic xmlns:a="http://schemas.openxmlformats.org/drawingml/2006/main">
          <a:graphicData uri="http://schemas.openxmlformats.org/drawingml/2006/chart">
            <c:chart xmlns:c="http://schemas.openxmlformats.org/drawingml/2006/chart" r:id="rId4"/>
          </a:graphicData>
        </a:graphic>
      </p:graphicFrame>
      <p:sp>
        <p:nvSpPr>
          <p:cNvPr id="33" name="Text 27"/>
          <p:cNvSpPr/>
          <p:nvPr/>
        </p:nvSpPr>
        <p:spPr>
          <a:xfrm>
            <a:off x="4383938" y="6035040"/>
            <a:ext cx="1711909"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Deleted code (Before)</a:t>
            </a:r>
            <a:endParaRPr lang="en-US" sz="850" dirty="0"/>
          </a:p>
        </p:txBody>
      </p:sp>
      <p:sp>
        <p:nvSpPr>
          <p:cNvPr id="34" name="Text 28"/>
          <p:cNvSpPr/>
          <p:nvPr/>
        </p:nvSpPr>
        <p:spPr>
          <a:xfrm>
            <a:off x="4383938" y="6254496"/>
            <a:ext cx="1711909"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1.4 ★</a:t>
            </a:r>
            <a:endParaRPr lang="en-US" sz="1000" dirty="0"/>
          </a:p>
        </p:txBody>
      </p:sp>
      <p:sp>
        <p:nvSpPr>
          <p:cNvPr id="35" name="Text 29"/>
          <p:cNvSpPr/>
          <p:nvPr/>
        </p:nvSpPr>
        <p:spPr>
          <a:xfrm>
            <a:off x="6095848" y="6035040"/>
            <a:ext cx="1711909"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Total code (Before)</a:t>
            </a:r>
            <a:endParaRPr lang="en-US" sz="850" dirty="0"/>
          </a:p>
        </p:txBody>
      </p:sp>
      <p:sp>
        <p:nvSpPr>
          <p:cNvPr id="36" name="Text 30"/>
          <p:cNvSpPr/>
          <p:nvPr/>
        </p:nvSpPr>
        <p:spPr>
          <a:xfrm>
            <a:off x="6095848" y="6254496"/>
            <a:ext cx="1711909"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2.2 ★</a:t>
            </a:r>
            <a:endParaRPr lang="en-US" sz="1000" dirty="0"/>
          </a:p>
        </p:txBody>
      </p:sp>
      <p:sp>
        <p:nvSpPr>
          <p:cNvPr id="37" name="Shape 31"/>
          <p:cNvSpPr/>
          <p:nvPr/>
        </p:nvSpPr>
        <p:spPr>
          <a:xfrm>
            <a:off x="8136941" y="3511296"/>
            <a:ext cx="3753002" cy="3072384"/>
          </a:xfrm>
          <a:prstGeom prst="roundRect">
            <a:avLst>
              <a:gd name="adj" fmla="val 1786"/>
            </a:avLst>
          </a:prstGeom>
          <a:solidFill>
            <a:srgbClr val="FFFFFF"/>
          </a:solidFill>
          <a:ln w="12700">
            <a:solidFill>
              <a:srgbClr val="E3E5E8"/>
            </a:solidFill>
            <a:prstDash val="solid"/>
          </a:ln>
          <a:effectLst>
            <a:outerShdw sx="100000" sy="100000" kx="0" ky="0" algn="bl" rotWithShape="0" blurRad="76200" dist="25400" dir="5400000">
              <a:srgbClr val="9AA1A9">
                <a:alpha val="28000"/>
              </a:srgbClr>
            </a:outerShdw>
          </a:effectLst>
        </p:spPr>
        <p:txBody>
          <a:bodyPr/>
          <a:p/>
        </p:txBody>
      </p:sp>
      <p:sp>
        <p:nvSpPr>
          <p:cNvPr id="38" name="Text 32"/>
          <p:cNvSpPr/>
          <p:nvPr/>
        </p:nvSpPr>
        <p:spPr>
          <a:xfrm>
            <a:off x="8319821" y="3621024"/>
            <a:ext cx="3387242" cy="292608"/>
          </a:xfrm>
          <a:prstGeom prst="rect">
            <a:avLst/>
          </a:prstGeom>
          <a:noFill/>
          <a:ln/>
        </p:spPr>
        <p:txBody>
          <a:bodyPr wrap="square" lIns="0" tIns="0" rIns="0" bIns="0" rtlCol="0" anchor="ctr"/>
          <a:lstStyle/>
          <a:p>
            <a:pPr algn="l" indent="0" marL="0">
              <a:buNone/>
            </a:pPr>
            <a:r>
              <a:rPr lang="en-US" sz="1300" b="1" dirty="0">
                <a:solidFill>
                  <a:srgbClr val="1F2933"/>
                </a:solidFill>
                <a:latin typeface="Arial" pitchFamily="34" charset="0"/>
                <a:ea typeface="Arial" pitchFamily="34" charset="-122"/>
                <a:cs typeface="Arial" pitchFamily="34" charset="-120"/>
              </a:rPr>
              <a:t>Module coupling</a:t>
            </a:r>
            <a:endParaRPr lang="en-US" sz="1300" dirty="0"/>
          </a:p>
        </p:txBody>
      </p:sp>
      <p:graphicFrame>
        <p:nvGraphicFramePr>
          <p:cNvPr id="39" name="DELTA_QUALITY_REMOVED_CODE_MODULE_COUPLING_CHART" descr=""/>
          <p:cNvGraphicFramePr/>
          <p:nvPr/>
        </p:nvGraphicFramePr>
        <p:xfrm>
          <a:off x="8191805" y="3913632"/>
          <a:ext cx="3643274" cy="2048256"/>
        </p:xfrm>
        <a:graphic xmlns:a="http://schemas.openxmlformats.org/drawingml/2006/main">
          <a:graphicData uri="http://schemas.openxmlformats.org/drawingml/2006/chart">
            <c:chart xmlns:c="http://schemas.openxmlformats.org/drawingml/2006/chart" r:id="rId5"/>
          </a:graphicData>
        </a:graphic>
      </p:graphicFrame>
      <p:sp>
        <p:nvSpPr>
          <p:cNvPr id="40" name="Text 33"/>
          <p:cNvSpPr/>
          <p:nvPr/>
        </p:nvSpPr>
        <p:spPr>
          <a:xfrm>
            <a:off x="8301533" y="6035040"/>
            <a:ext cx="1711909"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Deleted code (Before)</a:t>
            </a:r>
            <a:endParaRPr lang="en-US" sz="850" dirty="0"/>
          </a:p>
        </p:txBody>
      </p:sp>
      <p:sp>
        <p:nvSpPr>
          <p:cNvPr id="41" name="Text 34"/>
          <p:cNvSpPr/>
          <p:nvPr/>
        </p:nvSpPr>
        <p:spPr>
          <a:xfrm>
            <a:off x="8301533" y="6254496"/>
            <a:ext cx="1711909"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0.5 ★</a:t>
            </a:r>
            <a:endParaRPr lang="en-US" sz="1000" dirty="0"/>
          </a:p>
        </p:txBody>
      </p:sp>
      <p:sp>
        <p:nvSpPr>
          <p:cNvPr id="42" name="Text 35"/>
          <p:cNvSpPr/>
          <p:nvPr/>
        </p:nvSpPr>
        <p:spPr>
          <a:xfrm>
            <a:off x="10013442" y="6035040"/>
            <a:ext cx="1711909" cy="219456"/>
          </a:xfrm>
          <a:prstGeom prst="rect">
            <a:avLst/>
          </a:prstGeom>
          <a:noFill/>
          <a:ln/>
        </p:spPr>
        <p:txBody>
          <a:bodyPr wrap="square" lIns="0" tIns="0" rIns="0" bIns="0" rtlCol="0" anchor="t"/>
          <a:lstStyle/>
          <a:p>
            <a:pPr algn="ctr" indent="0" marL="0">
              <a:buNone/>
            </a:pPr>
            <a:r>
              <a:rPr lang="en-US" sz="850" dirty="0">
                <a:solidFill>
                  <a:srgbClr val="5B6570"/>
                </a:solidFill>
                <a:latin typeface="Arial" pitchFamily="34" charset="0"/>
                <a:ea typeface="Arial" pitchFamily="34" charset="-122"/>
                <a:cs typeface="Arial" pitchFamily="34" charset="-120"/>
              </a:rPr>
              <a:t>Total code (Before)</a:t>
            </a:r>
            <a:endParaRPr lang="en-US" sz="850" dirty="0"/>
          </a:p>
        </p:txBody>
      </p:sp>
      <p:sp>
        <p:nvSpPr>
          <p:cNvPr id="43" name="Text 36"/>
          <p:cNvSpPr/>
          <p:nvPr/>
        </p:nvSpPr>
        <p:spPr>
          <a:xfrm>
            <a:off x="10013442" y="6254496"/>
            <a:ext cx="1711909" cy="237744"/>
          </a:xfrm>
          <a:prstGeom prst="rect">
            <a:avLst/>
          </a:prstGeom>
          <a:noFill/>
          <a:ln/>
        </p:spPr>
        <p:txBody>
          <a:bodyPr wrap="square" lIns="0" tIns="0" rIns="0" bIns="0" rtlCol="0" anchor="ctr"/>
          <a:lstStyle/>
          <a:p>
            <a:pPr algn="ctr" indent="0" marL="0">
              <a:buNone/>
            </a:pPr>
            <a:r>
              <a:rPr lang="en-US" sz="1000" dirty="0">
                <a:solidFill>
                  <a:srgbClr val="5B6570"/>
                </a:solidFill>
                <a:latin typeface="Arial" pitchFamily="34" charset="0"/>
                <a:ea typeface="Arial" pitchFamily="34" charset="-122"/>
                <a:cs typeface="Arial" pitchFamily="34" charset="-120"/>
              </a:rPr>
              <a:t>1.6 ★</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2026-07-28T15:26:29Z</dcterms:created>
  <dcterms:modified xsi:type="dcterms:W3CDTF">2026-07-28T15:26:29Z</dcterms:modified>
</cp:coreProperties>
</file>