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5.svg" ContentType="image/svg+xml"/>
  <Override PartName="/ppt/media/image16.svg" ContentType="image/svg+xml"/>
  <Override PartName="/ppt/media/image19.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8" r:id="rId5"/>
  </p:sldMasterIdLst>
  <p:notesMasterIdLst>
    <p:notesMasterId r:id="rId25"/>
  </p:notesMasterIdLst>
  <p:handoutMasterIdLst>
    <p:handoutMasterId r:id="rId26"/>
  </p:handoutMasterIdLst>
  <p:sldIdLst>
    <p:sldId id="1973" r:id="rId6"/>
    <p:sldId id="2010" r:id="rId7"/>
    <p:sldId id="11288" r:id="rId8"/>
    <p:sldId id="11394" r:id="rId9"/>
    <p:sldId id="2011" r:id="rId10"/>
    <p:sldId id="11482" r:id="rId11"/>
    <p:sldId id="11330" r:id="rId12"/>
    <p:sldId id="1988" r:id="rId13"/>
    <p:sldId id="2016" r:id="rId14"/>
    <p:sldId id="1824" r:id="rId15"/>
    <p:sldId id="11430" r:id="rId16"/>
    <p:sldId id="11483" r:id="rId17"/>
    <p:sldId id="11484" r:id="rId18"/>
    <p:sldId id="11481" r:id="rId19"/>
    <p:sldId id="11489" r:id="rId20"/>
    <p:sldId id="11486" r:id="rId21"/>
    <p:sldId id="2184" r:id="rId22"/>
    <p:sldId id="11487" r:id="rId23"/>
    <p:sldId id="1148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report" id="{018B3868-9EFD-2243-8203-AC471A43D12D}">
          <p14:sldIdLst>
            <p14:sldId id="1973"/>
            <p14:sldId id="2010"/>
            <p14:sldId id="11288"/>
            <p14:sldId id="11394"/>
            <p14:sldId id="2011"/>
          </p14:sldIdLst>
        </p14:section>
        <p14:section name="Cost Estimation Model" id="{27B7B39D-A53A-0E42-877A-CE78F793FEC4}">
          <p14:sldIdLst>
            <p14:sldId id="11482"/>
            <p14:sldId id="11330"/>
          </p14:sldIdLst>
        </p14:section>
        <p14:section name="Maintainability" id="{E6B43949-8A3C-084E-A0B9-37E6D4E40B4B}">
          <p14:sldIdLst>
            <p14:sldId id="1988"/>
            <p14:sldId id="2016"/>
            <p14:sldId id="1824"/>
            <p14:sldId id="11430"/>
            <p14:sldId id="11483"/>
            <p14:sldId id="11484"/>
          </p14:sldIdLst>
        </p14:section>
        <p14:section name="Architecture Quality" id="{BBE5D966-65D3-0247-846C-E3C2E3364341}">
          <p14:sldIdLst>
            <p14:sldId id="11481"/>
            <p14:sldId id="11489"/>
            <p14:sldId id="11486"/>
          </p14:sldIdLst>
        </p14:section>
        <p14:section name="Open Source Health" id="{304C7872-545A-A54B-B7F2-E55D10D25BD1}">
          <p14:sldIdLst>
            <p14:sldId id="2184"/>
            <p14:sldId id="11487"/>
            <p14:sldId id="114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20"/>
    <p:restoredTop sz="96763"/>
  </p:normalViewPr>
  <p:slideViewPr>
    <p:cSldViewPr snapToGrid="0" snapToObjects="1" showGuides="1">
      <p:cViewPr varScale="1">
        <p:scale>
          <a:sx n="127" d="100"/>
          <a:sy n="127" d="100"/>
        </p:scale>
        <p:origin x="1112" y="-52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Integrationtest-kafka</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r>
                      <a:t>Integrationtest-kafka</a:t>
                    </a:r>
                  </a:p>
                </c:rich>
              </c:tx>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0-B86A-D14B-85E9-B8DEC18B60F7}"/>
                </c:ext>
              </c:extLst>
            </c:dLbl>
            <c:dLbl>
              <c:idx val="3"/>
              <c:layout>
                <c:manualLayout>
                  <c:x val="-2.3413399101154898E-2"/>
                  <c:y val="-4.5616973413873718E-2"/>
                </c:manualLayout>
              </c:layout>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Sheet1!$A$2:$A$2</c:f>
              <c:numCache>
                <c:formatCode>General</c:formatCode>
                <c:ptCount val="1"/>
                <c:pt idx="0">
                  <c:v>43.0</c:v>
                </c:pt>
              </c:numCache>
            </c:numRef>
          </c:xVal>
          <c:yVal>
            <c:numRef>
              <c:f>Sheet1!$B$2:$B$2</c:f>
              <c:numCache>
                <c:formatCode>General</c:formatCode>
                <c:ptCount val="1"/>
                <c:pt idx="0">
                  <c:v>2.679518222361457</c:v>
                </c:pt>
              </c:numCache>
            </c:numRef>
          </c:yVal>
          <c:smooth val="0"/>
          <c:extLst>
            <c:ext xmlns:c15="http://schemas.microsoft.com/office/drawing/2012/chart" uri="{02D57815-91ED-43cb-92C2-25804820EDAC}">
              <c15:datalabelsRange>
                <c15:f>Sheet1!$C$2:$C$2</c15:f>
                <c15:dlblRangeCache>
                  <c:ptCount val="1"/>
                  <c:pt idx="0">
                    <c:v>System 1</c:v>
                  </c:pt>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c:ext xmlns:c16="http://schemas.microsoft.com/office/drawing/2014/chart" uri="{C3380CC4-5D6E-409C-BE32-E72D297353CC}">
                <c16:uniqueId val="{00000001-CB6A-254C-B03A-9EF9758E2292}"/>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Sheet1!$A$2:$A$3</c:f>
              <c:strCache>
                <c:ptCount val="2"/>
                <c:pt idx="0">
                  <c:v>Java</c:v>
                </c:pt>
                <c:pt idx="1">
                  <c:v>Python</c:v>
                </c:pt>
              </c:strCache>
            </c:strRef>
          </c:cat>
          <c:val>
            <c:numRef>
              <c:f>Sheet1!$B$2:$B$3</c:f>
              <c:numCache>
                <c:formatCode>General</c:formatCode>
                <c:ptCount val="2"/>
                <c:pt idx="0">
                  <c:v>0.9971965743080441</c:v>
                </c:pt>
                <c:pt idx="1">
                  <c:v>0.0028034256919557583</c:v>
                </c:pt>
              </c:numCache>
            </c:numRef>
          </c:val>
          <c:extLst>
            <c:ext xmlns:c16="http://schemas.microsoft.com/office/drawing/2014/chart" uri="{C3380CC4-5D6E-409C-BE32-E72D297353CC}">
              <c16:uniqueId val="{00000002-CB6A-254C-B03A-9EF9758E2292}"/>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General"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Volume in Person Months</c:v>
                </c:pt>
              </c:strCache>
            </c:strRef>
          </c:tx>
          <c:dPt>
            <c:idx val="0"/>
            <c:bubble3D val="0"/>
            <c:spPr>
              <a:solidFill>
                <a:srgbClr val="3C8842"/>
              </a:solidFill>
              <a:ln w="19050">
                <a:solidFill>
                  <a:schemeClr val="lt1"/>
                </a:solidFill>
              </a:ln>
              <a:effectLst/>
            </c:spPr>
            <c:extLst>
              <c:ext xmlns:c16="http://schemas.microsoft.com/office/drawing/2014/chart" uri="{C3380CC4-5D6E-409C-BE32-E72D297353CC}">
                <c16:uniqueId val="{00000001-77F4-8A4B-8FCE-EB828520119B}"/>
              </c:ext>
            </c:extLst>
          </c:dPt>
          <c:dPt>
            <c:idx val="1"/>
            <c:bubble3D val="0"/>
            <c:spPr>
              <a:solidFill>
                <a:srgbClr val="3C8842"/>
              </a:solidFill>
              <a:ln w="19050">
                <a:solidFill>
                  <a:schemeClr val="lt1"/>
                </a:solidFill>
              </a:ln>
              <a:effectLst/>
            </c:spPr>
            <c:extLst>
              <c:ext xmlns:c16="http://schemas.microsoft.com/office/drawing/2014/chart" uri="{C3380CC4-5D6E-409C-BE32-E72D297353CC}">
                <c16:uniqueId val="{00000003-77F4-8A4B-8FCE-EB828520119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7F4-8A4B-8FCE-EB828520119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7F4-8A4B-8FCE-EB828520119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Java</c:v>
                </c:pt>
                <c:pt idx="1">
                  <c:v>Python</c:v>
                </c:pt>
              </c:strCache>
            </c:strRef>
          </c:cat>
          <c:val>
            <c:numRef>
              <c:f>Sheet1!$B$2:$B$3</c:f>
              <c:numCache>
                <c:formatCode>General</c:formatCode>
                <c:ptCount val="2"/>
                <c:pt idx="0">
                  <c:v>0.9971965743080441</c:v>
                </c:pt>
                <c:pt idx="1">
                  <c:v>0.0028034256919557583</c:v>
                </c:pt>
              </c:numCache>
            </c:numRef>
          </c:val>
          <c:extLst>
            <c:ext xmlns:c16="http://schemas.microsoft.com/office/drawing/2014/chart" uri="{C3380CC4-5D6E-409C-BE32-E72D297353CC}">
              <c16:uniqueId val="{00000008-77F4-8A4B-8FCE-EB828520119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pt idx="0">
                  <c:v>2</c:v>
                </c:pt>
                <c:pt idx="1">
                  <c:v>2</c:v>
                </c:pt>
              </c:numCache>
            </c:numRef>
          </c:val>
          <c:extLst>
            <c:ext xmlns:c16="http://schemas.microsoft.com/office/drawing/2014/chart" uri="{C3380CC4-5D6E-409C-BE32-E72D297353CC}">
              <c16:uniqueId val="{00000000-DAD1-4C45-9583-F7A397E38424}"/>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AD1-4C45-9583-F7A397E38424}"/>
              </c:ext>
            </c:extLst>
          </c:dPt>
          <c:dPt>
            <c:idx val="3"/>
            <c:invertIfNegative val="0"/>
            <c:bubble3D val="0"/>
            <c:spPr>
              <a:solidFill>
                <a:srgbClr val="CF4731"/>
              </a:solidFill>
              <a:ln>
                <a:noFill/>
              </a:ln>
              <a:effectLst/>
            </c:spPr>
            <c:extLst>
              <c:ext xmlns:c16="http://schemas.microsoft.com/office/drawing/2014/chart" uri="{C3380CC4-5D6E-409C-BE32-E72D297353CC}">
                <c16:uniqueId val="{00000004-DAD1-4C45-9583-F7A397E38424}"/>
              </c:ext>
            </c:extLst>
          </c:dPt>
          <c:dPt>
            <c:idx val="4"/>
            <c:invertIfNegative val="0"/>
            <c:bubble3D val="0"/>
            <c:spPr>
              <a:solidFill>
                <a:srgbClr val="CF4731"/>
              </a:solidFill>
              <a:ln>
                <a:noFill/>
              </a:ln>
              <a:effectLst/>
            </c:spPr>
            <c:extLst>
              <c:ext xmlns:c16="http://schemas.microsoft.com/office/drawing/2014/chart" uri="{C3380CC4-5D6E-409C-BE32-E72D297353CC}">
                <c16:uniqueId val="{00000006-DAD1-4C45-9583-F7A397E38424}"/>
              </c:ext>
            </c:extLst>
          </c:dPt>
          <c:dPt>
            <c:idx val="5"/>
            <c:invertIfNegative val="0"/>
            <c:bubble3D val="0"/>
            <c:spPr>
              <a:solidFill>
                <a:srgbClr val="CF4731"/>
              </a:solidFill>
              <a:ln>
                <a:noFill/>
              </a:ln>
              <a:effectLst/>
            </c:spPr>
            <c:extLst>
              <c:ext xmlns:c16="http://schemas.microsoft.com/office/drawing/2014/chart" uri="{C3380CC4-5D6E-409C-BE32-E72D297353CC}">
                <c16:uniqueId val="{00000008-DAD1-4C45-9583-F7A397E38424}"/>
              </c:ext>
            </c:extLst>
          </c:dPt>
          <c:cat>
            <c:strRef>
              <c:f>Sheet1!$A$2:$A$3</c:f>
              <c:strCache>
                <c:ptCount val="2"/>
                <c:pt idx="0">
                  <c:v>Vulnerability risk</c:v>
                </c:pt>
                <c:pt idx="1">
                  <c:v>Legal risk</c:v>
                </c:pt>
              </c:strCache>
            </c:strRef>
          </c:cat>
          <c:val>
            <c:numRef>
              <c:f>Sheet1!$C$2:$C$3</c:f>
              <c:numCache>
                <c:formatCode>General</c:formatCode>
                <c:ptCount val="2"/>
                <c:pt idx="0">
                  <c:v>2</c:v>
                </c:pt>
                <c:pt idx="1">
                  <c:v>2</c:v>
                </c:pt>
              </c:numCache>
            </c:numRef>
          </c:val>
          <c:extLst>
            <c:ext xmlns:c16="http://schemas.microsoft.com/office/drawing/2014/chart" uri="{C3380CC4-5D6E-409C-BE32-E72D297353CC}">
              <c16:uniqueId val="{00000009-DAD1-4C45-9583-F7A397E38424}"/>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AD1-4C45-9583-F7A397E38424}"/>
              </c:ext>
            </c:extLst>
          </c:dPt>
          <c:dPt>
            <c:idx val="5"/>
            <c:invertIfNegative val="0"/>
            <c:bubble3D val="0"/>
            <c:spPr>
              <a:solidFill>
                <a:srgbClr val="E78E17"/>
              </a:solidFill>
              <a:ln>
                <a:noFill/>
              </a:ln>
              <a:effectLst/>
            </c:spPr>
            <c:extLst>
              <c:ext xmlns:c16="http://schemas.microsoft.com/office/drawing/2014/chart" uri="{C3380CC4-5D6E-409C-BE32-E72D297353CC}">
                <c16:uniqueId val="{0000000D-DAD1-4C45-9583-F7A397E38424}"/>
              </c:ext>
            </c:extLst>
          </c:dPt>
          <c:cat>
            <c:strRef>
              <c:f>Sheet1!$A$2:$A$3</c:f>
              <c:strCache>
                <c:ptCount val="2"/>
                <c:pt idx="0">
                  <c:v>Vulnerability risk</c:v>
                </c:pt>
                <c:pt idx="1">
                  <c:v>Legal risk</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E-DAD1-4C45-9583-F7A397E38424}"/>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pt idx="0">
                  <c:v>2</c:v>
                </c:pt>
                <c:pt idx="1">
                  <c:v>2</c:v>
                </c:pt>
              </c:numCache>
            </c:numRef>
          </c:val>
          <c:extLst>
            <c:ext xmlns:c16="http://schemas.microsoft.com/office/drawing/2014/chart" uri="{C3380CC4-5D6E-409C-BE32-E72D297353CC}">
              <c16:uniqueId val="{0000000F-DAD1-4C45-9583-F7A397E38424}"/>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8.8"/>
          <c:min val="0.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4701837089031744"/>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2</c:v>
                </c:pt>
                <c:pt idx="1">
                  <c:v>2</c:v>
                </c:pt>
                <c:pt idx="2">
                  <c:v>2</c:v>
                </c:pt>
                <c:pt idx="3">
                  <c:v>2</c:v>
                </c:pt>
              </c:numCache>
            </c:numRef>
          </c:val>
          <c:extLst>
            <c:ext xmlns:c16="http://schemas.microsoft.com/office/drawing/2014/chart" uri="{C3380CC4-5D6E-409C-BE32-E72D297353CC}">
              <c16:uniqueId val="{00000000-CE17-EF47-AE5E-E9A0329BD14C}"/>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CE17-EF47-AE5E-E9A0329BD14C}"/>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CE17-EF47-AE5E-E9A0329BD14C}"/>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CE17-EF47-AE5E-E9A0329BD14C}"/>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CE17-EF47-AE5E-E9A0329BD14C}"/>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2</c:v>
                </c:pt>
                <c:pt idx="1">
                  <c:v>2</c:v>
                </c:pt>
                <c:pt idx="2">
                  <c:v>2</c:v>
                </c:pt>
                <c:pt idx="3">
                  <c:v>2</c:v>
                </c:pt>
              </c:numCache>
            </c:numRef>
          </c:val>
          <c:extLst>
            <c:ext xmlns:c16="http://schemas.microsoft.com/office/drawing/2014/chart" uri="{C3380CC4-5D6E-409C-BE32-E72D297353CC}">
              <c16:uniqueId val="{00000009-CE17-EF47-AE5E-E9A0329BD14C}"/>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CE17-EF47-AE5E-E9A0329BD14C}"/>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CE17-EF47-AE5E-E9A0329BD14C}"/>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2</c:v>
                </c:pt>
                <c:pt idx="1">
                  <c:v>2</c:v>
                </c:pt>
                <c:pt idx="2">
                  <c:v>2</c:v>
                </c:pt>
                <c:pt idx="3">
                  <c:v>2</c:v>
                </c:pt>
              </c:numCache>
            </c:numRef>
          </c:val>
          <c:extLst>
            <c:ext xmlns:c16="http://schemas.microsoft.com/office/drawing/2014/chart" uri="{C3380CC4-5D6E-409C-BE32-E72D297353CC}">
              <c16:uniqueId val="{0000000E-CE17-EF47-AE5E-E9A0329BD14C}"/>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2</c:v>
                </c:pt>
                <c:pt idx="1">
                  <c:v>2</c:v>
                </c:pt>
                <c:pt idx="2">
                  <c:v>2</c:v>
                </c:pt>
                <c:pt idx="3">
                  <c:v>2</c:v>
                </c:pt>
              </c:numCache>
            </c:numRef>
          </c:val>
          <c:extLst>
            <c:ext xmlns:c16="http://schemas.microsoft.com/office/drawing/2014/chart" uri="{C3380CC4-5D6E-409C-BE32-E72D297353CC}">
              <c16:uniqueId val="{0000000F-CE17-EF47-AE5E-E9A0329BD14C}"/>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8.8"/>
          <c:min val="0.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4692252680288804"/>
          <c:w val="1"/>
          <c:h val="0.152194454425517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7/14/26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7/14/26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58F8-93FA-B1DD-C5DA-AC908975C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346B-6A9F-6AE5-3193-28E052250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B62E8-61D5-6300-EAA0-D706FB69D3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B13C8B-54D4-EAAF-EE74-BE6DEB1DFEA1}"/>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3594894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10</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253165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 Id="rId7"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
        <p:nvSpPr>
          <p:cNvPr id="2" name="Text Placeholder 11">
            <a:extLst>
              <a:ext uri="{FF2B5EF4-FFF2-40B4-BE49-F238E27FC236}">
                <a16:creationId xmlns:a16="http://schemas.microsoft.com/office/drawing/2014/main" id="{8AEBBE0C-2740-493E-2D03-D2829B97AB1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
        <p:nvSpPr>
          <p:cNvPr id="7" name="Footer Placeholder 5">
            <a:extLst>
              <a:ext uri="{FF2B5EF4-FFF2-40B4-BE49-F238E27FC236}">
                <a16:creationId xmlns:a16="http://schemas.microsoft.com/office/drawing/2014/main" id="{1F6B2F43-D7A6-D9F8-CAD8-6FEC12BFD03A}"/>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6" name="Footer Placeholder 5">
            <a:extLst>
              <a:ext uri="{FF2B5EF4-FFF2-40B4-BE49-F238E27FC236}">
                <a16:creationId xmlns:a16="http://schemas.microsoft.com/office/drawing/2014/main" id="{CB5DF773-C034-71B2-8B60-5119D86047DE}"/>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
        <p:nvSpPr>
          <p:cNvPr id="6" name="Footer Placeholder 5">
            <a:extLst>
              <a:ext uri="{FF2B5EF4-FFF2-40B4-BE49-F238E27FC236}">
                <a16:creationId xmlns:a16="http://schemas.microsoft.com/office/drawing/2014/main" id="{6CEAF205-FFFA-6ED7-9061-5B4D60AD539E}"/>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
        <p:nvSpPr>
          <p:cNvPr id="8" name="Footer Placeholder 5">
            <a:extLst>
              <a:ext uri="{FF2B5EF4-FFF2-40B4-BE49-F238E27FC236}">
                <a16:creationId xmlns:a16="http://schemas.microsoft.com/office/drawing/2014/main" id="{39856B4B-2510-25E2-394B-3C52A618F80D}"/>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Footer Placeholder 5">
            <a:extLst>
              <a:ext uri="{FF2B5EF4-FFF2-40B4-BE49-F238E27FC236}">
                <a16:creationId xmlns:a16="http://schemas.microsoft.com/office/drawing/2014/main" id="{D4520EC1-637F-0CE0-12BF-1C2DF620F9EF}"/>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0925962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2.xml"/><Relationship Id="rId3" Type="http://schemas.openxmlformats.org/officeDocument/2006/relationships/image" Target="../media/image9.png"/><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br>
              <a:rPr lang="nl-NL" dirty="0"/>
            </a:br>
            <a:r>
              <a:rPr lang="nl-NL" dirty="0" err="1"/>
              <a:t>for</a:t>
            </a:r>
            <a:r>
              <a:rPr lang="nl-NL" dirty="0"/>
              <a:t> CUSTOMER_NAME</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7"/>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
        <p:nvSpPr>
          <p:cNvPr id="91" name="Footer Placeholder 5">
            <a:extLst>
              <a:ext uri="{FF2B5EF4-FFF2-40B4-BE49-F238E27FC236}">
                <a16:creationId xmlns:a16="http://schemas.microsoft.com/office/drawing/2014/main" id="{0AFB5E79-46BA-CFF3-8602-D6B1591BDF93}"/>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a:t>
            </a:r>
            <a:r>
              <a:rPr lang="nl-NL" dirty="0"/>
              <a:t> CUSTOMER_NAME</a:t>
            </a:r>
          </a:p>
        </p:txBody>
      </p:sp>
    </p:spTree>
    <p:extLst>
      <p:ext uri="{BB962C8B-B14F-4D97-AF65-F5344CB8AC3E}">
        <p14:creationId xmlns:p14="http://schemas.microsoft.com/office/powerpoint/2010/main" val="2669817532"/>
      </p:ext>
    </p:extLst>
  </p:cSld>
  <p:clrMap bg1="lt1" tx1="dk1" bg2="lt2" tx2="dk2" accent1="accent1" accent2="accent2" accent3="accent3" accent4="accent4" accent5="accent5" accent6="accent6" hlink="hlink" folHlink="folHlink"/>
  <p:sldLayoutIdLst>
    <p:sldLayoutId id="2147483799"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svg"/><Relationship Id="rId3" Type="http://schemas.openxmlformats.org/officeDocument/2006/relationships/image" Target="../media/image11.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emf"/><Relationship Id="rId3" Type="http://schemas.openxmlformats.org/officeDocument/2006/relationships/image" Target="../media/image15.svg"/><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7.tiff"/><Relationship Id="rId4" Type="http://schemas.openxmlformats.org/officeDocument/2006/relationships/chart" Target="../charts/chart1.xml"/><Relationship Id="rId5" Type="http://schemas.openxmlformats.org/officeDocument/2006/relationships/image" Target="../media/image18.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svg"/><Relationship Id="rId3" Type="http://schemas.openxmlformats.org/officeDocument/2006/relationships/image" Target="../media/image20.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svg"/><Relationship Id="rId3" Type="http://schemas.openxmlformats.org/officeDocument/2006/relationships/image" Target="../media/image2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5.svg"/><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svg"/><Relationship Id="rId3" Type="http://schemas.openxmlformats.org/officeDocument/2006/relationships/image" Target="../media/image20.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svg"/><Relationship Id="rId3" Type="http://schemas.openxmlformats.org/officeDocument/2006/relationships/image" Target="../media/image11.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svg"/><Relationship Id="rId3" Type="http://schemas.openxmlformats.org/officeDocument/2006/relationships/image" Target="../media/image20.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US" noProof="0" dirty="0" err="1"/>
              <a:t>Reportgeneratordemo – Integrationtest-kafka</a:t>
            </a:r>
            <a:endParaRPr lang="en-US" noProof="0" dirty="0"/>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US" noProof="0" dirty="0"/>
              <a:t>Sigrid System Report</a:t>
            </a:r>
          </a:p>
        </p:txBody>
      </p:sp>
      <p:sp>
        <p:nvSpPr>
          <p:cNvPr id="7" name="Tijdelijke aanduiding voor voettekst 6">
            <a:extLst>
              <a:ext uri="{FF2B5EF4-FFF2-40B4-BE49-F238E27FC236}">
                <a16:creationId xmlns:a16="http://schemas.microsoft.com/office/drawing/2014/main" id="{F8AE1EA7-9945-5054-6361-8E1EAAA9FC90}"/>
              </a:ext>
            </a:extLst>
          </p:cNvPr>
          <p:cNvSpPr>
            <a:spLocks noGrp="1"/>
          </p:cNvSpPr>
          <p:nvPr>
            <p:ph type="ftr" sz="quarter" idx="44"/>
          </p:nvPr>
        </p:nvSpPr>
        <p:spPr/>
        <p:txBody>
          <a:bodyPr/>
          <a:lstStyle/>
          <a:p>
            <a:r>
              <a:rPr lang="en-US" noProof="0" dirty="0"/>
              <a:t>Confidential</a:t>
            </a:r>
          </a:p>
        </p:txBody>
      </p:sp>
      <p:sp>
        <p:nvSpPr>
          <p:cNvPr id="5" name="Tijdelijke aanduiding voor tekst 4">
            <a:extLst>
              <a:ext uri="{FF2B5EF4-FFF2-40B4-BE49-F238E27FC236}">
                <a16:creationId xmlns:a16="http://schemas.microsoft.com/office/drawing/2014/main" id="{96608443-E271-3AA0-6885-D7332E922BEC}"/>
              </a:ext>
            </a:extLst>
          </p:cNvPr>
          <p:cNvSpPr>
            <a:spLocks noGrp="1"/>
          </p:cNvSpPr>
          <p:nvPr>
            <p:ph type="body" sz="quarter" idx="16"/>
          </p:nvPr>
        </p:nvSpPr>
        <p:spPr/>
        <p:txBody>
          <a:bodyPr/>
          <a:lstStyle/>
          <a:p>
            <a:r>
              <a:rPr lang="en-US" noProof="0" dirty="0" err="1"/>
              <a:t>30 June 2026</a:t>
            </a:r>
            <a:endParaRPr lang="en-US" noProof="0" dirty="0"/>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1FBE-0EE4-1DE9-784A-DD4670182E35}"/>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E8BE9C0E-8A97-0BC2-7291-A030EA223EC0}"/>
              </a:ext>
            </a:extLst>
          </p:cNvPr>
          <p:cNvSpPr>
            <a:spLocks noGrp="1"/>
          </p:cNvSpPr>
          <p:nvPr>
            <p:ph type="sldNum" sz="quarter" idx="15"/>
          </p:nvPr>
        </p:nvSpPr>
        <p:spPr/>
        <p:txBody>
          <a:bodyPr/>
          <a:lstStyle/>
          <a:p>
            <a:fld id="{E242BD21-9B61-2246-BCB1-4BE5E1BEBE1C}" type="slidenum">
              <a:rPr lang="en-US" noProof="0" smtClean="0"/>
              <a:pPr/>
              <a:t>2</a:t>
            </a:fld>
            <a:endParaRPr lang="en-US" noProof="0" dirty="0"/>
          </a:p>
        </p:txBody>
      </p:sp>
      <p:sp>
        <p:nvSpPr>
          <p:cNvPr id="4" name="Titel 3">
            <a:extLst>
              <a:ext uri="{FF2B5EF4-FFF2-40B4-BE49-F238E27FC236}">
                <a16:creationId xmlns:a16="http://schemas.microsoft.com/office/drawing/2014/main" id="{4A08CBCE-48E4-6A13-C16A-38E5FB270E0C}"/>
              </a:ext>
            </a:extLst>
          </p:cNvPr>
          <p:cNvSpPr>
            <a:spLocks noGrp="1"/>
          </p:cNvSpPr>
          <p:nvPr>
            <p:ph type="title"/>
          </p:nvPr>
        </p:nvSpPr>
        <p:spPr/>
        <p:txBody>
          <a:bodyPr/>
          <a:lstStyle/>
          <a:p>
            <a:r>
              <a:rPr lang="en-US" noProof="0" dirty="0"/>
              <a:t>Outline of topics</a:t>
            </a:r>
          </a:p>
        </p:txBody>
      </p:sp>
      <p:sp>
        <p:nvSpPr>
          <p:cNvPr id="5" name="Tijdelijke aanduiding voor inhoud 4">
            <a:extLst>
              <a:ext uri="{FF2B5EF4-FFF2-40B4-BE49-F238E27FC236}">
                <a16:creationId xmlns:a16="http://schemas.microsoft.com/office/drawing/2014/main" id="{49B50A75-CF21-9538-EE61-6C987C979175}"/>
              </a:ext>
            </a:extLst>
          </p:cNvPr>
          <p:cNvSpPr>
            <a:spLocks noGrp="1"/>
          </p:cNvSpPr>
          <p:nvPr>
            <p:ph sz="quarter" idx="16"/>
          </p:nvPr>
        </p:nvSpPr>
        <p:spPr>
          <a:xfrm>
            <a:off x="4467600" y="738000"/>
            <a:ext cx="7092000" cy="3750390"/>
          </a:xfrm>
        </p:spPr>
        <p:txBody>
          <a:bodyPr/>
          <a:lstStyle/>
          <a:p>
            <a:r>
              <a:rPr lang="en-US" noProof="0" dirty="0"/>
              <a:t>Summary</a:t>
            </a:r>
          </a:p>
          <a:p>
            <a:r>
              <a:rPr lang="en-US" noProof="0" dirty="0"/>
              <a:t>Key findings</a:t>
            </a:r>
          </a:p>
          <a:p>
            <a:endParaRPr lang="en-US" noProof="0" dirty="0"/>
          </a:p>
          <a:p>
            <a:pPr marL="0" indent="0">
              <a:buNone/>
            </a:pPr>
            <a:endParaRPr lang="en-US" noProof="0" dirty="0"/>
          </a:p>
          <a:p>
            <a:pPr marL="0" indent="0">
              <a:buNone/>
            </a:pPr>
            <a:endParaRPr lang="en-US" sz="200" noProof="0" dirty="0"/>
          </a:p>
          <a:p>
            <a:pPr marL="0" indent="0">
              <a:buNone/>
            </a:pPr>
            <a:endParaRPr lang="en-US" sz="800" noProof="0" dirty="0"/>
          </a:p>
        </p:txBody>
      </p:sp>
      <p:grpSp>
        <p:nvGrpSpPr>
          <p:cNvPr id="6" name="Group 4">
            <a:extLst>
              <a:ext uri="{FF2B5EF4-FFF2-40B4-BE49-F238E27FC236}">
                <a16:creationId xmlns:a16="http://schemas.microsoft.com/office/drawing/2014/main" id="{79A0E4AB-1835-F9FC-08F8-B7688DC89C2B}"/>
              </a:ext>
            </a:extLst>
          </p:cNvPr>
          <p:cNvGrpSpPr/>
          <p:nvPr/>
        </p:nvGrpSpPr>
        <p:grpSpPr>
          <a:xfrm>
            <a:off x="4467601" y="1994958"/>
            <a:ext cx="8637048" cy="2061327"/>
            <a:chOff x="1187436" y="2607314"/>
            <a:chExt cx="8637048" cy="2061327"/>
          </a:xfrm>
        </p:grpSpPr>
        <p:sp>
          <p:nvSpPr>
            <p:cNvPr id="7" name="Rectangle 2">
              <a:extLst>
                <a:ext uri="{FF2B5EF4-FFF2-40B4-BE49-F238E27FC236}">
                  <a16:creationId xmlns:a16="http://schemas.microsoft.com/office/drawing/2014/main" id="{5939B06D-D176-9339-9185-77C476E3E6E7}"/>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 name="Rectangle 5">
              <a:extLst>
                <a:ext uri="{FF2B5EF4-FFF2-40B4-BE49-F238E27FC236}">
                  <a16:creationId xmlns:a16="http://schemas.microsoft.com/office/drawing/2014/main" id="{FF5BD665-CAB7-E865-0251-67BCDB5AE518}"/>
                </a:ext>
              </a:extLst>
            </p:cNvPr>
            <p:cNvSpPr/>
            <p:nvPr/>
          </p:nvSpPr>
          <p:spPr>
            <a:xfrm>
              <a:off x="2402756" y="278573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1</a:t>
              </a:r>
            </a:p>
          </p:txBody>
        </p:sp>
        <p:sp>
          <p:nvSpPr>
            <p:cNvPr id="9" name="Rectangle 10">
              <a:extLst>
                <a:ext uri="{FF2B5EF4-FFF2-40B4-BE49-F238E27FC236}">
                  <a16:creationId xmlns:a16="http://schemas.microsoft.com/office/drawing/2014/main" id="{17B7A7D5-B584-1F9B-B4CC-9B65AD7A8E8D}"/>
                </a:ext>
              </a:extLst>
            </p:cNvPr>
            <p:cNvSpPr/>
            <p:nvPr/>
          </p:nvSpPr>
          <p:spPr>
            <a:xfrm>
              <a:off x="2402756" y="3306726"/>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2</a:t>
              </a:r>
            </a:p>
          </p:txBody>
        </p:sp>
        <p:sp>
          <p:nvSpPr>
            <p:cNvPr id="10" name="Rectangle 11">
              <a:extLst>
                <a:ext uri="{FF2B5EF4-FFF2-40B4-BE49-F238E27FC236}">
                  <a16:creationId xmlns:a16="http://schemas.microsoft.com/office/drawing/2014/main" id="{6074CCE0-0194-F0EA-B27E-943120422D60}"/>
                </a:ext>
              </a:extLst>
            </p:cNvPr>
            <p:cNvSpPr/>
            <p:nvPr/>
          </p:nvSpPr>
          <p:spPr>
            <a:xfrm>
              <a:off x="2402756" y="382772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3</a:t>
              </a:r>
            </a:p>
          </p:txBody>
        </p:sp>
        <p:sp>
          <p:nvSpPr>
            <p:cNvPr id="15" name="TextBox 6">
              <a:extLst>
                <a:ext uri="{FF2B5EF4-FFF2-40B4-BE49-F238E27FC236}">
                  <a16:creationId xmlns:a16="http://schemas.microsoft.com/office/drawing/2014/main" id="{0EF87031-3EF5-F01F-D64D-85C7CFBA18AE}"/>
                </a:ext>
              </a:extLst>
            </p:cNvPr>
            <p:cNvSpPr txBox="1"/>
            <p:nvPr/>
          </p:nvSpPr>
          <p:spPr>
            <a:xfrm>
              <a:off x="2828599" y="2796359"/>
              <a:ext cx="1970984"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Cost estimation</a:t>
              </a:r>
            </a:p>
          </p:txBody>
        </p:sp>
        <p:sp>
          <p:nvSpPr>
            <p:cNvPr id="16" name="TextBox 16">
              <a:extLst>
                <a:ext uri="{FF2B5EF4-FFF2-40B4-BE49-F238E27FC236}">
                  <a16:creationId xmlns:a16="http://schemas.microsoft.com/office/drawing/2014/main" id="{00B23D67-C548-2B66-EA13-9434D6FD697D}"/>
                </a:ext>
              </a:extLst>
            </p:cNvPr>
            <p:cNvSpPr txBox="1"/>
            <p:nvPr/>
          </p:nvSpPr>
          <p:spPr>
            <a:xfrm>
              <a:off x="2827099" y="3831388"/>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Architecture quality</a:t>
              </a:r>
            </a:p>
          </p:txBody>
        </p:sp>
        <p:sp>
          <p:nvSpPr>
            <p:cNvPr id="17" name="TextBox 17">
              <a:extLst>
                <a:ext uri="{FF2B5EF4-FFF2-40B4-BE49-F238E27FC236}">
                  <a16:creationId xmlns:a16="http://schemas.microsoft.com/office/drawing/2014/main" id="{BBBD1C3A-7C78-085E-9AAC-1418416B2E1B}"/>
                </a:ext>
              </a:extLst>
            </p:cNvPr>
            <p:cNvSpPr txBox="1"/>
            <p:nvPr/>
          </p:nvSpPr>
          <p:spPr>
            <a:xfrm>
              <a:off x="2827097" y="3313873"/>
              <a:ext cx="1972487"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Maintainability</a:t>
              </a:r>
            </a:p>
          </p:txBody>
        </p:sp>
        <p:sp>
          <p:nvSpPr>
            <p:cNvPr id="23" name="TextBox 24">
              <a:extLst>
                <a:ext uri="{FF2B5EF4-FFF2-40B4-BE49-F238E27FC236}">
                  <a16:creationId xmlns:a16="http://schemas.microsoft.com/office/drawing/2014/main" id="{FC69EDAD-457C-318D-A7E6-DA9C35F4FAE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dirty="0">
                <a:solidFill>
                  <a:schemeClr val="tx2"/>
                </a:solidFill>
              </a:endParaRPr>
            </a:p>
          </p:txBody>
        </p:sp>
        <p:sp>
          <p:nvSpPr>
            <p:cNvPr id="24" name="Rectangle 11">
              <a:extLst>
                <a:ext uri="{FF2B5EF4-FFF2-40B4-BE49-F238E27FC236}">
                  <a16:creationId xmlns:a16="http://schemas.microsoft.com/office/drawing/2014/main" id="{F1E7B407-491E-C161-9E2F-BB358CDF7912}"/>
                </a:ext>
              </a:extLst>
            </p:cNvPr>
            <p:cNvSpPr/>
            <p:nvPr/>
          </p:nvSpPr>
          <p:spPr>
            <a:xfrm>
              <a:off x="2402756" y="4339032"/>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4</a:t>
              </a:r>
            </a:p>
          </p:txBody>
        </p:sp>
        <p:sp>
          <p:nvSpPr>
            <p:cNvPr id="25" name="TextBox 16">
              <a:extLst>
                <a:ext uri="{FF2B5EF4-FFF2-40B4-BE49-F238E27FC236}">
                  <a16:creationId xmlns:a16="http://schemas.microsoft.com/office/drawing/2014/main" id="{C89DA33C-62C3-28D0-7E83-E5BCB3EC0D72}"/>
                </a:ext>
              </a:extLst>
            </p:cNvPr>
            <p:cNvSpPr txBox="1"/>
            <p:nvPr/>
          </p:nvSpPr>
          <p:spPr>
            <a:xfrm>
              <a:off x="2827099" y="4342700"/>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Open source health</a:t>
              </a:r>
            </a:p>
          </p:txBody>
        </p:sp>
      </p:grpSp>
      <p:sp>
        <p:nvSpPr>
          <p:cNvPr id="26" name="Afgeronde rechthoek 27">
            <a:extLst>
              <a:ext uri="{FF2B5EF4-FFF2-40B4-BE49-F238E27FC236}">
                <a16:creationId xmlns:a16="http://schemas.microsoft.com/office/drawing/2014/main" id="{11022F4E-7F91-B0CF-1E9A-F01F9CA23077}"/>
              </a:ext>
            </a:extLst>
          </p:cNvPr>
          <p:cNvSpPr/>
          <p:nvPr/>
        </p:nvSpPr>
        <p:spPr>
          <a:xfrm>
            <a:off x="4467599" y="761238"/>
            <a:ext cx="7567201" cy="724260"/>
          </a:xfrm>
          <a:prstGeom prst="roundRect">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dirty="0">
              <a:solidFill>
                <a:schemeClr val="tx2"/>
              </a:solidFill>
              <a:latin typeface="Noir Pro Medium" pitchFamily="2" charset="0"/>
            </a:endParaRPr>
          </a:p>
        </p:txBody>
      </p:sp>
      <p:sp>
        <p:nvSpPr>
          <p:cNvPr id="11" name="Footer Placeholder 5">
            <a:extLst>
              <a:ext uri="{FF2B5EF4-FFF2-40B4-BE49-F238E27FC236}">
                <a16:creationId xmlns:a16="http://schemas.microsoft.com/office/drawing/2014/main" id="{1F5DF0A7-B635-04F6-A414-66B1D5F49286}"/>
              </a:ext>
            </a:extLst>
          </p:cNvPr>
          <p:cNvSpPr>
            <a:spLocks noGrp="1"/>
          </p:cNvSpPr>
          <p:nvPr>
            <p:ph type="ftr" sz="quarter" idx="3"/>
          </p:nvPr>
        </p:nvSpPr>
        <p:spPr>
          <a:xfrm>
            <a:off x="192158" y="6392274"/>
            <a:ext cx="1763922" cy="370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chemeClr val="bg1"/>
                </a:solidFill>
                <a:latin typeface="Azeret Mono" pitchFamily="2" charset="77"/>
                <a:cs typeface="Azeret Mono" pitchFamily="2" charset="77"/>
              </a:defRPr>
            </a:lvl1p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53201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C30E21-03D0-E176-48CC-E0A928A30286}"/>
              </a:ext>
            </a:extLst>
          </p:cNvPr>
          <p:cNvSpPr>
            <a:spLocks noGrp="1"/>
          </p:cNvSpPr>
          <p:nvPr>
            <p:ph type="body" sz="quarter" idx="12"/>
          </p:nvPr>
        </p:nvSpPr>
        <p:spPr>
          <a:xfrm>
            <a:off x="381600" y="129568"/>
            <a:ext cx="2169037" cy="228209"/>
          </a:xfrm>
        </p:spPr>
        <p:txBody>
          <a:bodyPr/>
          <a:lstStyle/>
          <a:p>
            <a:r>
              <a:rPr lang="en-GB" dirty="0"/>
              <a:t>System Metadata Overview</a:t>
            </a:r>
          </a:p>
        </p:txBody>
      </p:sp>
      <p:sp>
        <p:nvSpPr>
          <p:cNvPr id="5" name="Slide Number Placeholder 4">
            <a:extLst>
              <a:ext uri="{FF2B5EF4-FFF2-40B4-BE49-F238E27FC236}">
                <a16:creationId xmlns:a16="http://schemas.microsoft.com/office/drawing/2014/main" id="{CA8F2885-3B34-E982-B629-94D557507614}"/>
              </a:ext>
            </a:extLst>
          </p:cNvPr>
          <p:cNvSpPr>
            <a:spLocks noGrp="1"/>
          </p:cNvSpPr>
          <p:nvPr>
            <p:ph type="sldNum" sz="quarter" idx="15"/>
          </p:nvPr>
        </p:nvSpPr>
        <p:spPr/>
        <p:txBody>
          <a:bodyPr/>
          <a:lstStyle/>
          <a:p>
            <a:fld id="{E242BD21-9B61-2246-BCB1-4BE5E1BEBE1C}" type="slidenum">
              <a:rPr lang="nl-NL" smtClean="0"/>
              <a:pPr/>
              <a:t>3</a:t>
            </a:fld>
            <a:endParaRPr lang="nl-NL"/>
          </a:p>
        </p:txBody>
      </p:sp>
      <p:sp>
        <p:nvSpPr>
          <p:cNvPr id="6" name="Title 5">
            <a:extLst>
              <a:ext uri="{FF2B5EF4-FFF2-40B4-BE49-F238E27FC236}">
                <a16:creationId xmlns:a16="http://schemas.microsoft.com/office/drawing/2014/main" id="{2023B51F-B4CF-A232-65A9-E0C75114AED6}"/>
              </a:ext>
            </a:extLst>
          </p:cNvPr>
          <p:cNvSpPr>
            <a:spLocks noGrp="1"/>
          </p:cNvSpPr>
          <p:nvPr>
            <p:ph type="title"/>
          </p:nvPr>
        </p:nvSpPr>
        <p:spPr>
          <a:xfrm>
            <a:off x="154800" y="594000"/>
            <a:ext cx="11880000" cy="402291"/>
          </a:xfrm>
        </p:spPr>
        <p:txBody>
          <a:bodyPr/>
          <a:lstStyle/>
          <a:p>
            <a:r>
              <a:rPr lang="en-US" dirty="0">
                <a:latin typeface="Noir Pro Medium"/>
              </a:rPr>
              <a:t>Metadata overview for system Integrationtest-kafka</a:t>
            </a:r>
            <a:endParaRPr lang="en-GB" dirty="0"/>
          </a:p>
        </p:txBody>
      </p:sp>
      <p:graphicFrame>
        <p:nvGraphicFramePr>
          <p:cNvPr id="8" name="Table 10">
            <a:extLst>
              <a:ext uri="{FF2B5EF4-FFF2-40B4-BE49-F238E27FC236}">
                <a16:creationId xmlns:a16="http://schemas.microsoft.com/office/drawing/2014/main" id="{09A0B31C-AF41-29A5-D80B-73D37328CC75}"/>
              </a:ext>
            </a:extLst>
          </p:cNvPr>
          <p:cNvGraphicFramePr>
            <a:graphicFrameLocks noGrp="1"/>
          </p:cNvGraphicFramePr>
          <p:nvPr>
            <p:extLst>
              <p:ext uri="{D42A27DB-BD31-4B8C-83A1-F6EECF244321}">
                <p14:modId xmlns:p14="http://schemas.microsoft.com/office/powerpoint/2010/main" val="531613492"/>
              </p:ext>
            </p:extLst>
          </p:nvPr>
        </p:nvGraphicFramePr>
        <p:xfrm>
          <a:off x="582448" y="1509955"/>
          <a:ext cx="5222328" cy="3305539"/>
        </p:xfrm>
        <a:graphic>
          <a:graphicData uri="http://schemas.openxmlformats.org/drawingml/2006/table">
            <a:tbl>
              <a:tblPr firstRow="1" bandRow="1">
                <a:effectLst/>
                <a:tableStyleId>{F2DE63D5-997A-4646-A377-4702673A728D}</a:tableStyleId>
              </a:tblPr>
              <a:tblGrid>
                <a:gridCol w="2757100">
                  <a:extLst>
                    <a:ext uri="{9D8B030D-6E8A-4147-A177-3AD203B41FA5}">
                      <a16:colId xmlns:a16="http://schemas.microsoft.com/office/drawing/2014/main" val="20000"/>
                    </a:ext>
                  </a:extLst>
                </a:gridCol>
                <a:gridCol w="2465228">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dirty="0">
                          <a:solidFill>
                            <a:schemeClr val="bg1"/>
                          </a:solidFill>
                          <a:latin typeface="+mn-lt"/>
                        </a:rPr>
                        <a:t>General information</a:t>
                      </a:r>
                      <a:endParaRPr lang="nl-NL" sz="1400" b="1" i="0" noProof="0" dirty="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Full System name</a:t>
                      </a:r>
                      <a:endParaRPr lang="en-US" sz="1400" b="1" i="0" u="none" strike="noStrike" dirty="0">
                        <a:solidFill>
                          <a:schemeClr val="tx2"/>
                        </a:solidFill>
                        <a:effectLst/>
                        <a:latin typeface="Calibri Bold"/>
                      </a:endParaRP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Integrationtest-kafka</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Display name</a:t>
                      </a:r>
                      <a:endParaRPr lang="en-US" sz="1400" b="1" i="0" u="none" strike="noStrike" dirty="0">
                        <a:solidFill>
                          <a:schemeClr val="tx2"/>
                        </a:solidFill>
                        <a:effectLst/>
                        <a:latin typeface="Calibri Bold"/>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Integrationtest-kafka</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Division</a:t>
                      </a:r>
                      <a:endParaRPr lang="en-US" sz="1400" b="1" i="0" u="none" strike="noStrike" dirty="0">
                        <a:solidFill>
                          <a:schemeClr val="tx2"/>
                        </a:solidFill>
                        <a:effectLst/>
                        <a:latin typeface="Calibri Bold"/>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Team</a:t>
                      </a:r>
                      <a:endParaRPr lang="en-US" sz="1400" b="1" i="0" u="none" strike="noStrike" dirty="0">
                        <a:solidFill>
                          <a:schemeClr val="tx2"/>
                        </a:solidFill>
                        <a:effectLst/>
                        <a:latin typeface="Calibri Bold"/>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Supplier</a:t>
                      </a:r>
                      <a:endParaRPr lang="en-US" sz="1400" b="1" i="0" u="none" strike="noStrike" dirty="0">
                        <a:solidFill>
                          <a:schemeClr val="tx2"/>
                        </a:solidFill>
                        <a:effectLst/>
                        <a:latin typeface="Calibri Regula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Remark</a:t>
                      </a:r>
                      <a:endParaRPr lang="en-US" sz="1400" b="1" i="0" u="none" strike="noStrike" dirty="0">
                        <a:solidFill>
                          <a:schemeClr val="tx2"/>
                        </a:solidFill>
                        <a:effectLst/>
                        <a:latin typeface="Calibri Regula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Status Active</a:t>
                      </a:r>
                      <a:endParaRPr lang="en-US" sz="1400" b="1" i="0" u="none" strike="noStrike" dirty="0">
                        <a:solidFill>
                          <a:schemeClr val="tx2"/>
                        </a:solidFill>
                        <a:effectLst/>
                        <a:latin typeface="Calibri Regula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Yes</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Excluded from Dashboards</a:t>
                      </a:r>
                      <a:endParaRPr lang="en-US" sz="1400" b="1" i="0" u="none" strike="noStrike" dirty="0">
                        <a:solidFill>
                          <a:schemeClr val="tx2"/>
                        </a:solidFill>
                        <a:effectLst/>
                        <a:latin typeface="Calibri Regula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No</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bl>
          </a:graphicData>
        </a:graphic>
      </p:graphicFrame>
      <p:graphicFrame>
        <p:nvGraphicFramePr>
          <p:cNvPr id="23" name="Table 10">
            <a:extLst>
              <a:ext uri="{FF2B5EF4-FFF2-40B4-BE49-F238E27FC236}">
                <a16:creationId xmlns:a16="http://schemas.microsoft.com/office/drawing/2014/main" id="{B0FB2279-02D8-F84F-22E7-354A13384788}"/>
              </a:ext>
            </a:extLst>
          </p:cNvPr>
          <p:cNvGraphicFramePr>
            <a:graphicFrameLocks noGrp="1"/>
          </p:cNvGraphicFramePr>
          <p:nvPr>
            <p:extLst>
              <p:ext uri="{D42A27DB-BD31-4B8C-83A1-F6EECF244321}">
                <p14:modId xmlns:p14="http://schemas.microsoft.com/office/powerpoint/2010/main" val="2749644355"/>
              </p:ext>
            </p:extLst>
          </p:nvPr>
        </p:nvGraphicFramePr>
        <p:xfrm>
          <a:off x="6387224" y="1505382"/>
          <a:ext cx="5222328" cy="3899554"/>
        </p:xfrm>
        <a:graphic>
          <a:graphicData uri="http://schemas.openxmlformats.org/drawingml/2006/table">
            <a:tbl>
              <a:tblPr firstRow="1" bandRow="1">
                <a:effectLst/>
                <a:tableStyleId>{F2DE63D5-997A-4646-A377-4702673A728D}</a:tableStyleId>
              </a:tblPr>
              <a:tblGrid>
                <a:gridCol w="2726959">
                  <a:extLst>
                    <a:ext uri="{9D8B030D-6E8A-4147-A177-3AD203B41FA5}">
                      <a16:colId xmlns:a16="http://schemas.microsoft.com/office/drawing/2014/main" val="20000"/>
                    </a:ext>
                  </a:extLst>
                </a:gridCol>
                <a:gridCol w="2495369">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dirty="0">
                          <a:solidFill>
                            <a:schemeClr val="bg1"/>
                          </a:solidFill>
                          <a:latin typeface="+mn-lt"/>
                        </a:rPr>
                        <a:t>Metadata</a:t>
                      </a:r>
                      <a:endParaRPr lang="nl-NL" sz="1400" b="1" i="0" noProof="0" dirty="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In production since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Business criticality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Lifecycle phase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Target industry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dirty="0">
                          <a:solidFill>
                            <a:schemeClr val="tx2"/>
                          </a:solidFill>
                          <a:effectLst/>
                          <a:latin typeface="Calibri Regular"/>
                        </a:rPr>
                        <a:t>Deployment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dirty="0">
                          <a:solidFill>
                            <a:schemeClr val="tx2"/>
                          </a:solidFill>
                          <a:effectLst/>
                          <a:latin typeface="Calibri Regular"/>
                        </a:rPr>
                        <a:t>Application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dirty="0">
                          <a:solidFill>
                            <a:schemeClr val="tx2"/>
                          </a:solidFill>
                          <a:effectLst/>
                          <a:latin typeface="Calibri Regular"/>
                        </a:rPr>
                        <a:t>Distribution strategy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dirty="0">
                          <a:solidFill>
                            <a:schemeClr val="tx2"/>
                          </a:solidFill>
                          <a:effectLst/>
                          <a:latin typeface="Calibri Regular"/>
                        </a:rPr>
                        <a:t>External ID</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r h="336405">
                <a:tc>
                  <a:txBody>
                    <a:bodyPr/>
                    <a:lstStyle/>
                    <a:p>
                      <a:pPr algn="l" fontAlgn="b"/>
                      <a:r>
                        <a:rPr lang="en-US" sz="1400" b="1" i="0" u="none" strike="noStrike" dirty="0">
                          <a:solidFill>
                            <a:schemeClr val="tx2"/>
                          </a:solidFill>
                          <a:effectLst/>
                          <a:latin typeface="Calibri Regular"/>
                        </a:rPr>
                        <a:t>External 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dirty="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4197969"/>
                  </a:ext>
                </a:extLst>
              </a:tr>
            </a:tbl>
          </a:graphicData>
        </a:graphic>
      </p:graphicFrame>
      <p:sp>
        <p:nvSpPr>
          <p:cNvPr id="7" name="Footer Placeholder 5">
            <a:extLst>
              <a:ext uri="{FF2B5EF4-FFF2-40B4-BE49-F238E27FC236}">
                <a16:creationId xmlns:a16="http://schemas.microsoft.com/office/drawing/2014/main" id="{D668F418-C9C8-DC1B-60B7-39B80C74F1EA}"/>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287575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2927-47E6-44AC-6848-2A522D68C79D}"/>
            </a:ext>
          </a:extLst>
        </p:cNvPr>
        <p:cNvGrpSpPr/>
        <p:nvPr/>
      </p:nvGrpSpPr>
      <p:grpSpPr>
        <a:xfrm>
          <a:off x="0" y="0"/>
          <a:ext cx="0" cy="0"/>
          <a:chOff x="0" y="0"/>
          <a:chExt cx="0" cy="0"/>
        </a:xfrm>
      </p:grpSpPr>
      <p:sp>
        <p:nvSpPr>
          <p:cNvPr id="17" name="Text Placeholder 16">
            <a:extLst>
              <a:ext uri="{FF2B5EF4-FFF2-40B4-BE49-F238E27FC236}">
                <a16:creationId xmlns:a16="http://schemas.microsoft.com/office/drawing/2014/main" id="{201DDDD2-DA8F-47F7-F1AB-C656B7F7641C}"/>
              </a:ext>
            </a:extLst>
          </p:cNvPr>
          <p:cNvSpPr>
            <a:spLocks noGrp="1"/>
          </p:cNvSpPr>
          <p:nvPr>
            <p:ph type="body" sz="quarter" idx="12"/>
          </p:nvPr>
        </p:nvSpPr>
        <p:spPr>
          <a:xfrm>
            <a:off x="381600" y="129600"/>
            <a:ext cx="1663129" cy="228145"/>
          </a:xfrm>
        </p:spPr>
        <p:txBody>
          <a:bodyPr/>
          <a:lstStyle/>
          <a:p>
            <a:r>
              <a:rPr lang="en-US" noProof="0" dirty="0"/>
              <a:t>Management summary</a:t>
            </a:r>
          </a:p>
        </p:txBody>
      </p:sp>
      <p:sp>
        <p:nvSpPr>
          <p:cNvPr id="16" name="Title 15">
            <a:extLst>
              <a:ext uri="{FF2B5EF4-FFF2-40B4-BE49-F238E27FC236}">
                <a16:creationId xmlns:a16="http://schemas.microsoft.com/office/drawing/2014/main" id="{A49DECDC-D2A6-44D4-EAD9-E018E7E625AA}"/>
              </a:ext>
            </a:extLst>
          </p:cNvPr>
          <p:cNvSpPr>
            <a:spLocks noGrp="1"/>
          </p:cNvSpPr>
          <p:nvPr>
            <p:ph type="title"/>
          </p:nvPr>
        </p:nvSpPr>
        <p:spPr>
          <a:xfrm>
            <a:off x="154800" y="594000"/>
            <a:ext cx="11880000" cy="402291"/>
          </a:xfrm>
        </p:spPr>
        <p:txBody>
          <a:bodyPr/>
          <a:lstStyle/>
          <a:p>
            <a:r>
              <a:rPr lang="en-US" noProof="0" dirty="0">
                <a:latin typeface="Noir Pro Medium"/>
              </a:rPr>
              <a:t>System "</a:t>
            </a:r>
            <a:r>
              <a:rPr lang="en-US" noProof="0" dirty="0" err="1"/>
              <a:t>Integrationtest-kafka</a:t>
            </a:r>
            <a:r>
              <a:rPr lang="en-US" noProof="0" dirty="0">
                <a:latin typeface="Noir Pro Medium"/>
              </a:rPr>
              <a:t>" technical quality: management summary</a:t>
            </a:r>
          </a:p>
        </p:txBody>
      </p:sp>
      <p:sp>
        <p:nvSpPr>
          <p:cNvPr id="2" name="Slide Number Placeholder 1">
            <a:extLst>
              <a:ext uri="{FF2B5EF4-FFF2-40B4-BE49-F238E27FC236}">
                <a16:creationId xmlns:a16="http://schemas.microsoft.com/office/drawing/2014/main" id="{72B1AA20-5D92-4ACB-8694-AFA2A56D3948}"/>
              </a:ext>
            </a:extLst>
          </p:cNvPr>
          <p:cNvSpPr>
            <a:spLocks noGrp="1"/>
          </p:cNvSpPr>
          <p:nvPr>
            <p:ph type="sldNum" sz="quarter" idx="4294967295"/>
          </p:nvPr>
        </p:nvSpPr>
        <p:spPr>
          <a:xfrm>
            <a:off x="11941175" y="6550025"/>
            <a:ext cx="250825" cy="236538"/>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noProof="0" smtClean="0"/>
              <a:pPr/>
              <a:t>4</a:t>
            </a:fld>
            <a:endParaRPr lang="en-US" noProof="0" dirty="0"/>
          </a:p>
        </p:txBody>
      </p:sp>
      <p:sp>
        <p:nvSpPr>
          <p:cNvPr id="10" name="Rounded Rectangle 9">
            <a:extLst>
              <a:ext uri="{FF2B5EF4-FFF2-40B4-BE49-F238E27FC236}">
                <a16:creationId xmlns:a16="http://schemas.microsoft.com/office/drawing/2014/main" id="{DD9C1E99-12FA-EBBB-8F43-FD9A6A738FB3}"/>
              </a:ext>
            </a:extLst>
          </p:cNvPr>
          <p:cNvSpPr/>
          <p:nvPr/>
        </p:nvSpPr>
        <p:spPr>
          <a:xfrm>
            <a:off x="381600" y="1465144"/>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Maintainability</a:t>
            </a:r>
          </a:p>
        </p:txBody>
      </p:sp>
      <p:sp>
        <p:nvSpPr>
          <p:cNvPr id="21" name="Rounded Rectangle 20">
            <a:extLst>
              <a:ext uri="{FF2B5EF4-FFF2-40B4-BE49-F238E27FC236}">
                <a16:creationId xmlns:a16="http://schemas.microsoft.com/office/drawing/2014/main" id="{B659F6A8-A673-0A9C-A1B3-F382F0434C4C}"/>
              </a:ext>
            </a:extLst>
          </p:cNvPr>
          <p:cNvSpPr/>
          <p:nvPr/>
        </p:nvSpPr>
        <p:spPr>
          <a:xfrm>
            <a:off x="381600" y="2428035"/>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ea typeface="+mn-lt"/>
                <a:cs typeface="+mn-lt"/>
              </a:rPr>
              <a:t>Technology choice</a:t>
            </a:r>
            <a:endParaRPr lang="en-US" sz="1600" noProof="0" dirty="0">
              <a:solidFill>
                <a:schemeClr val="accent2"/>
              </a:solidFill>
            </a:endParaRPr>
          </a:p>
        </p:txBody>
      </p:sp>
      <p:sp>
        <p:nvSpPr>
          <p:cNvPr id="22" name="Rounded Rectangle 21">
            <a:extLst>
              <a:ext uri="{FF2B5EF4-FFF2-40B4-BE49-F238E27FC236}">
                <a16:creationId xmlns:a16="http://schemas.microsoft.com/office/drawing/2014/main" id="{01B6F40A-D941-D662-B986-01AE8191B15D}"/>
              </a:ext>
            </a:extLst>
          </p:cNvPr>
          <p:cNvSpPr/>
          <p:nvPr/>
        </p:nvSpPr>
        <p:spPr>
          <a:xfrm>
            <a:off x="381600" y="3390926"/>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Test code</a:t>
            </a:r>
          </a:p>
        </p:txBody>
      </p:sp>
      <p:sp>
        <p:nvSpPr>
          <p:cNvPr id="23" name="Rounded Rectangle 22">
            <a:extLst>
              <a:ext uri="{FF2B5EF4-FFF2-40B4-BE49-F238E27FC236}">
                <a16:creationId xmlns:a16="http://schemas.microsoft.com/office/drawing/2014/main" id="{C5697C66-3A15-D459-3D27-F256D4839B51}"/>
              </a:ext>
            </a:extLst>
          </p:cNvPr>
          <p:cNvSpPr/>
          <p:nvPr/>
        </p:nvSpPr>
        <p:spPr>
          <a:xfrm>
            <a:off x="381600" y="4353817"/>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Architecture Quality</a:t>
            </a:r>
          </a:p>
        </p:txBody>
      </p:sp>
      <p:sp>
        <p:nvSpPr>
          <p:cNvPr id="24" name="Rounded Rectangle 23">
            <a:extLst>
              <a:ext uri="{FF2B5EF4-FFF2-40B4-BE49-F238E27FC236}">
                <a16:creationId xmlns:a16="http://schemas.microsoft.com/office/drawing/2014/main" id="{8B5A0131-A470-60F6-4CE8-D7B7746B9737}"/>
              </a:ext>
            </a:extLst>
          </p:cNvPr>
          <p:cNvSpPr/>
          <p:nvPr/>
        </p:nvSpPr>
        <p:spPr>
          <a:xfrm>
            <a:off x="381600" y="5316709"/>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ea typeface="+mn-lt"/>
                <a:cs typeface="+mn-lt"/>
              </a:rPr>
              <a:t>Open source health</a:t>
            </a:r>
            <a:endParaRPr lang="en-US" sz="1600" noProof="0" dirty="0">
              <a:solidFill>
                <a:schemeClr val="accent2"/>
              </a:solidFill>
            </a:endParaRPr>
          </a:p>
        </p:txBody>
      </p:sp>
      <p:sp>
        <p:nvSpPr>
          <p:cNvPr id="25" name="TextBox 24">
            <a:extLst>
              <a:ext uri="{FF2B5EF4-FFF2-40B4-BE49-F238E27FC236}">
                <a16:creationId xmlns:a16="http://schemas.microsoft.com/office/drawing/2014/main" id="{6A214DA1-21AC-CB54-8885-268F55934D9A}"/>
              </a:ext>
            </a:extLst>
          </p:cNvPr>
          <p:cNvSpPr txBox="1"/>
          <p:nvPr/>
        </p:nvSpPr>
        <p:spPr>
          <a:xfrm>
            <a:off x="2549236" y="1556170"/>
            <a:ext cx="9210962" cy="809261"/>
          </a:xfrm>
          <a:prstGeom prst="rect">
            <a:avLst/>
          </a:prstGeom>
          <a:noFill/>
        </p:spPr>
        <p:txBody>
          <a:bodyPr wrap="square" lIns="90000" rtlCol="0" anchor="t">
            <a:spAutoFit/>
          </a:bodyPr>
          <a:lstStyle/>
          <a:p>
            <a:pPr>
              <a:lnSpc>
                <a:spcPct val="113000"/>
              </a:lnSpc>
            </a:pPr>
            <a:r>
              <a:rPr lang="en-US" sz="1400" noProof="0" dirty="0">
                <a:ea typeface="+mn-lt"/>
                <a:cs typeface="+mn-lt"/>
              </a:rPr>
              <a:t>The system scores at the market average with </a:t>
            </a:r>
            <a:r>
              <a:rPr lang="en-US" sz="1400" b="1" noProof="0" dirty="0" err="1">
                <a:solidFill>
                  <a:schemeClr val="accent2"/>
                </a:solidFill>
              </a:rPr>
              <a:t>2.6 stars (</a:t>
            </a:r>
            <a:r>
              <a:rPr lang="en-US" sz="1400" b="1" noProof="0" dirty="0" err="1">
                <a:solidFill>
                  <a:schemeClr val="accent2"/>
                </a:solidFill>
                <a:latin typeface="Calibri" panose="020F0502020204030204" pitchFamily="34" charset="0"/>
                <a:cs typeface="Calibri" panose="020F0502020204030204" pitchFamily="34" charset="0"/>
              </a:rPr>
              <a:t>★★★☆☆</a:t>
            </a:r>
            <a:r>
              <a:rPr lang="en-US" sz="1400" b="1" noProof="0" dirty="0">
                <a:solidFill>
                  <a:schemeClr val="accent2"/>
                </a:solidFill>
              </a:rPr>
              <a:t>) </a:t>
            </a:r>
            <a:r>
              <a:rPr lang="en-US" sz="1400" noProof="0" dirty="0">
                <a:ea typeface="+mn-lt"/>
                <a:cs typeface="+mn-lt"/>
              </a:rPr>
              <a:t>on the SIG maintainability model. This indicates average maintenance costs and time to market for functional changes. The system shows high risk in its tightly coupled modules</a:t>
            </a:r>
            <a:endParaRPr lang="en-US" sz="1400" noProof="0" dirty="0">
              <a:ea typeface="+mn-lt"/>
              <a:cs typeface="+mn-lt"/>
            </a:endParaRPr>
          </a:p>
        </p:txBody>
      </p:sp>
      <p:sp>
        <p:nvSpPr>
          <p:cNvPr id="26" name="TextBox 25">
            <a:extLst>
              <a:ext uri="{FF2B5EF4-FFF2-40B4-BE49-F238E27FC236}">
                <a16:creationId xmlns:a16="http://schemas.microsoft.com/office/drawing/2014/main" id="{3C064188-8D2E-E6DB-CEA1-90C74176B0E2}"/>
              </a:ext>
            </a:extLst>
          </p:cNvPr>
          <p:cNvSpPr txBox="1"/>
          <p:nvPr/>
        </p:nvSpPr>
        <p:spPr>
          <a:xfrm>
            <a:off x="2549236" y="2594716"/>
            <a:ext cx="9210962" cy="523220"/>
          </a:xfrm>
          <a:prstGeom prst="rect">
            <a:avLst/>
          </a:prstGeom>
          <a:noFill/>
        </p:spPr>
        <p:txBody>
          <a:bodyPr wrap="square" lIns="90000" rtlCol="0" anchor="t">
            <a:spAutoFit/>
          </a:bodyPr>
          <a:lstStyle/>
          <a:p>
            <a:r>
              <a:rPr lang="en-US" sz="1400" noProof="0" dirty="0"/>
              <a:t>The system is 43.0 PY (386,459 LOC) large. The system is built using common and modern technologies. Its main technology is Java.</a:t>
            </a:r>
          </a:p>
        </p:txBody>
      </p:sp>
      <p:sp>
        <p:nvSpPr>
          <p:cNvPr id="27" name="TextBox 26">
            <a:extLst>
              <a:ext uri="{FF2B5EF4-FFF2-40B4-BE49-F238E27FC236}">
                <a16:creationId xmlns:a16="http://schemas.microsoft.com/office/drawing/2014/main" id="{F79A5C80-18ED-D98C-0E78-B31D0C0E8B8E}"/>
              </a:ext>
            </a:extLst>
          </p:cNvPr>
          <p:cNvSpPr txBox="1"/>
          <p:nvPr/>
        </p:nvSpPr>
        <p:spPr>
          <a:xfrm>
            <a:off x="2549236" y="3579427"/>
            <a:ext cx="9210962" cy="307777"/>
          </a:xfrm>
          <a:prstGeom prst="rect">
            <a:avLst/>
          </a:prstGeom>
          <a:noFill/>
        </p:spPr>
        <p:txBody>
          <a:bodyPr wrap="square" lIns="90000" rtlCol="0" anchor="t">
            <a:spAutoFit/>
          </a:bodyPr>
          <a:lstStyle/>
          <a:p>
            <a:r>
              <a:rPr lang="en-US" sz="1400" noProof="0" dirty="0"/>
              <a:t>The system has a test/code ratio of 157%. This indicates that an extremely mature automated testing suite is in place, that will likely catch breaking changes at an early stage. This increases developer velocity and reduces bugs in production.</a:t>
            </a:r>
            <a:endParaRPr lang="en-US" sz="1400" noProof="0" dirty="0">
              <a:ea typeface="+mn-lt"/>
              <a:cs typeface="+mn-lt"/>
            </a:endParaRPr>
          </a:p>
        </p:txBody>
      </p:sp>
      <p:sp>
        <p:nvSpPr>
          <p:cNvPr id="28" name="TextBox 27">
            <a:extLst>
              <a:ext uri="{FF2B5EF4-FFF2-40B4-BE49-F238E27FC236}">
                <a16:creationId xmlns:a16="http://schemas.microsoft.com/office/drawing/2014/main" id="{F31767D0-0BD3-1B3E-29E4-4BF186AA0949}"/>
              </a:ext>
            </a:extLst>
          </p:cNvPr>
          <p:cNvSpPr txBox="1"/>
          <p:nvPr/>
        </p:nvSpPr>
        <p:spPr>
          <a:xfrm>
            <a:off x="2549236" y="4396144"/>
            <a:ext cx="9210962" cy="738664"/>
          </a:xfrm>
          <a:prstGeom prst="rect">
            <a:avLst/>
          </a:prstGeom>
          <a:noFill/>
        </p:spPr>
        <p:txBody>
          <a:bodyPr wrap="square" lIns="90000" rtlCol="0" anchor="t">
            <a:spAutoFit/>
          </a:bodyPr>
          <a:lstStyle/>
          <a:p>
            <a:r>
              <a:rPr lang="en-US" sz="1400" noProof="0" dirty="0"/>
              <a:t>The system rates </a:t>
            </a:r>
            <a:r>
              <a:rPr lang="en-US" sz="1400" b="1" noProof="0" dirty="0" err="1">
                <a:solidFill>
                  <a:schemeClr val="accent2"/>
                </a:solidFill>
                <a:ea typeface="+mn-lt"/>
                <a:cs typeface="+mn-lt"/>
              </a:rPr>
              <a:t>2.4 stars (★★☆☆☆)</a:t>
            </a:r>
            <a:r>
              <a:rPr lang="en-US" sz="1400" b="1" noProof="0" dirty="0"/>
              <a:t> </a:t>
            </a:r>
            <a:r>
              <a:rPr lang="en-US" sz="1400" noProof="0" dirty="0"/>
              <a:t>on the SIG Architecture Quality model, below the market average. The system's low score in Team Stability indicates a continuity risk, having an unstable team means it will be hard to ensure knowledge retention moving forward.</a:t>
            </a:r>
            <a:endParaRPr lang="en-US" sz="1400" noProof="0" dirty="0"/>
          </a:p>
          <a:p>
            <a:endParaRPr lang="en-US" sz="1400" noProof="0" dirty="0">
              <a:ea typeface="+mn-lt"/>
              <a:cs typeface="+mn-lt"/>
            </a:endParaRPr>
          </a:p>
        </p:txBody>
      </p:sp>
      <p:sp>
        <p:nvSpPr>
          <p:cNvPr id="29" name="TextBox 28">
            <a:extLst>
              <a:ext uri="{FF2B5EF4-FFF2-40B4-BE49-F238E27FC236}">
                <a16:creationId xmlns:a16="http://schemas.microsoft.com/office/drawing/2014/main" id="{7C09E68C-FA1E-7A85-89ED-807D0028D6CD}"/>
              </a:ext>
            </a:extLst>
          </p:cNvPr>
          <p:cNvSpPr txBox="1"/>
          <p:nvPr/>
        </p:nvSpPr>
        <p:spPr>
          <a:xfrm>
            <a:off x="2549236" y="5309422"/>
            <a:ext cx="9210962" cy="307777"/>
          </a:xfrm>
          <a:prstGeom prst="rect">
            <a:avLst/>
          </a:prstGeom>
          <a:noFill/>
        </p:spPr>
        <p:txBody>
          <a:bodyPr wrap="square" lIns="90000" rtlCol="0" anchor="t">
            <a:spAutoFit/>
          </a:bodyPr>
          <a:lstStyle/>
          <a:p>
            <a:r>
              <a:rPr lang="en-US" sz="1400" noProof="0" dirty="0" err="1"/>
              <a:t>This system has 6 medium or higher risk vulnerable libraries and 6 libraries with potential legal risks that should be investigated.</a:t>
            </a:r>
          </a:p>
        </p:txBody>
      </p:sp>
      <p:cxnSp>
        <p:nvCxnSpPr>
          <p:cNvPr id="30" name="Straight Connector 29">
            <a:extLst>
              <a:ext uri="{FF2B5EF4-FFF2-40B4-BE49-F238E27FC236}">
                <a16:creationId xmlns:a16="http://schemas.microsoft.com/office/drawing/2014/main" id="{E14C37A4-1787-88B8-87EC-3BC4E6617034}"/>
              </a:ext>
            </a:extLst>
          </p:cNvPr>
          <p:cNvCxnSpPr>
            <a:cxnSpLocks/>
          </p:cNvCxnSpPr>
          <p:nvPr/>
        </p:nvCxnSpPr>
        <p:spPr>
          <a:xfrm flipH="1">
            <a:off x="2707067" y="2428035"/>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6DF079F-BE0F-B539-6133-ADDCFA9385E8}"/>
              </a:ext>
            </a:extLst>
          </p:cNvPr>
          <p:cNvCxnSpPr>
            <a:cxnSpLocks/>
          </p:cNvCxnSpPr>
          <p:nvPr/>
        </p:nvCxnSpPr>
        <p:spPr>
          <a:xfrm flipH="1">
            <a:off x="2707067" y="3331283"/>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180A7-BAC8-2121-6EB8-9B376B75A7AC}"/>
              </a:ext>
            </a:extLst>
          </p:cNvPr>
          <p:cNvCxnSpPr>
            <a:cxnSpLocks/>
          </p:cNvCxnSpPr>
          <p:nvPr/>
        </p:nvCxnSpPr>
        <p:spPr>
          <a:xfrm flipH="1">
            <a:off x="2707067" y="4290288"/>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24B4CB-EC74-75E7-077A-96C2F71EE536}"/>
              </a:ext>
            </a:extLst>
          </p:cNvPr>
          <p:cNvCxnSpPr>
            <a:cxnSpLocks/>
          </p:cNvCxnSpPr>
          <p:nvPr/>
        </p:nvCxnSpPr>
        <p:spPr>
          <a:xfrm flipH="1">
            <a:off x="2707067" y="5260444"/>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
        <p:nvSpPr>
          <p:cNvPr id="3" name="Footer Placeholder 5">
            <a:extLst>
              <a:ext uri="{FF2B5EF4-FFF2-40B4-BE49-F238E27FC236}">
                <a16:creationId xmlns:a16="http://schemas.microsoft.com/office/drawing/2014/main" id="{56D11E59-CE75-1FCB-882A-D95DE0C0E55D}"/>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220945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F9DD-0462-016F-8E23-2DB264387100}"/>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FD8EBEE6-089D-3692-A341-C90A7CEA81EB}"/>
              </a:ext>
            </a:extLst>
          </p:cNvPr>
          <p:cNvSpPr>
            <a:spLocks noGrp="1"/>
          </p:cNvSpPr>
          <p:nvPr>
            <p:ph type="sldNum" sz="quarter" idx="15"/>
          </p:nvPr>
        </p:nvSpPr>
        <p:spPr/>
        <p:txBody>
          <a:bodyPr/>
          <a:lstStyle/>
          <a:p>
            <a:fld id="{E242BD21-9B61-2246-BCB1-4BE5E1BEBE1C}" type="slidenum">
              <a:rPr lang="en-US" noProof="0" smtClean="0"/>
              <a:pPr/>
              <a:t>5</a:t>
            </a:fld>
            <a:endParaRPr lang="en-US" noProof="0" dirty="0"/>
          </a:p>
        </p:txBody>
      </p:sp>
      <p:sp>
        <p:nvSpPr>
          <p:cNvPr id="4" name="Titel 3">
            <a:extLst>
              <a:ext uri="{FF2B5EF4-FFF2-40B4-BE49-F238E27FC236}">
                <a16:creationId xmlns:a16="http://schemas.microsoft.com/office/drawing/2014/main" id="{AE936A79-6AD8-007A-80E2-F8397B01ED8F}"/>
              </a:ext>
            </a:extLst>
          </p:cNvPr>
          <p:cNvSpPr>
            <a:spLocks noGrp="1"/>
          </p:cNvSpPr>
          <p:nvPr>
            <p:ph type="title"/>
          </p:nvPr>
        </p:nvSpPr>
        <p:spPr/>
        <p:txBody>
          <a:bodyPr/>
          <a:lstStyle/>
          <a:p>
            <a:r>
              <a:rPr lang="en-US" noProof="0" dirty="0"/>
              <a:t>Outline of topics</a:t>
            </a:r>
          </a:p>
        </p:txBody>
      </p:sp>
      <p:sp>
        <p:nvSpPr>
          <p:cNvPr id="5" name="Tijdelijke aanduiding voor inhoud 4">
            <a:extLst>
              <a:ext uri="{FF2B5EF4-FFF2-40B4-BE49-F238E27FC236}">
                <a16:creationId xmlns:a16="http://schemas.microsoft.com/office/drawing/2014/main" id="{25467FEE-6B64-E34F-E27E-DF526B047085}"/>
              </a:ext>
            </a:extLst>
          </p:cNvPr>
          <p:cNvSpPr>
            <a:spLocks noGrp="1"/>
          </p:cNvSpPr>
          <p:nvPr>
            <p:ph sz="quarter" idx="16"/>
          </p:nvPr>
        </p:nvSpPr>
        <p:spPr>
          <a:xfrm>
            <a:off x="4467600" y="738000"/>
            <a:ext cx="7092000" cy="3658057"/>
          </a:xfrm>
        </p:spPr>
        <p:txBody>
          <a:bodyPr/>
          <a:lstStyle/>
          <a:p>
            <a:r>
              <a:rPr lang="en-US" noProof="0" dirty="0"/>
              <a:t>Summary</a:t>
            </a:r>
          </a:p>
          <a:p>
            <a:r>
              <a:rPr lang="en-US" noProof="0" dirty="0"/>
              <a:t>Key findings</a:t>
            </a:r>
          </a:p>
          <a:p>
            <a:endParaRPr lang="en-US" noProof="0" dirty="0"/>
          </a:p>
          <a:p>
            <a:pPr marL="0" indent="0">
              <a:buNone/>
            </a:pPr>
            <a:endParaRPr lang="en-US" noProof="0" dirty="0"/>
          </a:p>
          <a:p>
            <a:pPr marL="0" indent="0">
              <a:buNone/>
            </a:pPr>
            <a:endParaRPr lang="en-US" sz="200" noProof="0" dirty="0"/>
          </a:p>
          <a:p>
            <a:pPr marL="0" indent="0">
              <a:buNone/>
            </a:pPr>
            <a:endParaRPr lang="en-US" sz="800" noProof="0" dirty="0"/>
          </a:p>
        </p:txBody>
      </p:sp>
      <p:grpSp>
        <p:nvGrpSpPr>
          <p:cNvPr id="6" name="Group 4">
            <a:extLst>
              <a:ext uri="{FF2B5EF4-FFF2-40B4-BE49-F238E27FC236}">
                <a16:creationId xmlns:a16="http://schemas.microsoft.com/office/drawing/2014/main" id="{3A2FF08D-E383-A4D7-D0D5-04C5B7D9BE55}"/>
              </a:ext>
            </a:extLst>
          </p:cNvPr>
          <p:cNvGrpSpPr/>
          <p:nvPr/>
        </p:nvGrpSpPr>
        <p:grpSpPr>
          <a:xfrm>
            <a:off x="4467601" y="1994958"/>
            <a:ext cx="8637048" cy="2061327"/>
            <a:chOff x="1187436" y="2607314"/>
            <a:chExt cx="8637048" cy="2061327"/>
          </a:xfrm>
        </p:grpSpPr>
        <p:sp>
          <p:nvSpPr>
            <p:cNvPr id="7" name="Rectangle 2">
              <a:extLst>
                <a:ext uri="{FF2B5EF4-FFF2-40B4-BE49-F238E27FC236}">
                  <a16:creationId xmlns:a16="http://schemas.microsoft.com/office/drawing/2014/main" id="{88C42531-C38E-90CC-55B2-1CA03B964DCC}"/>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 name="Rectangle 5">
              <a:extLst>
                <a:ext uri="{FF2B5EF4-FFF2-40B4-BE49-F238E27FC236}">
                  <a16:creationId xmlns:a16="http://schemas.microsoft.com/office/drawing/2014/main" id="{21C615A6-2657-F686-ACB4-31C3780AC53F}"/>
                </a:ext>
              </a:extLst>
            </p:cNvPr>
            <p:cNvSpPr/>
            <p:nvPr/>
          </p:nvSpPr>
          <p:spPr>
            <a:xfrm>
              <a:off x="2402756" y="278573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1</a:t>
              </a:r>
            </a:p>
          </p:txBody>
        </p:sp>
        <p:sp>
          <p:nvSpPr>
            <p:cNvPr id="9" name="Rectangle 10">
              <a:extLst>
                <a:ext uri="{FF2B5EF4-FFF2-40B4-BE49-F238E27FC236}">
                  <a16:creationId xmlns:a16="http://schemas.microsoft.com/office/drawing/2014/main" id="{9E8041A3-4CF8-83F0-839C-439C8A2903BA}"/>
                </a:ext>
              </a:extLst>
            </p:cNvPr>
            <p:cNvSpPr/>
            <p:nvPr/>
          </p:nvSpPr>
          <p:spPr>
            <a:xfrm>
              <a:off x="2402756" y="3306726"/>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2</a:t>
              </a:r>
            </a:p>
          </p:txBody>
        </p:sp>
        <p:sp>
          <p:nvSpPr>
            <p:cNvPr id="10" name="Rectangle 11">
              <a:extLst>
                <a:ext uri="{FF2B5EF4-FFF2-40B4-BE49-F238E27FC236}">
                  <a16:creationId xmlns:a16="http://schemas.microsoft.com/office/drawing/2014/main" id="{1E4A6A55-D491-B64E-8117-725CFD0054C7}"/>
                </a:ext>
              </a:extLst>
            </p:cNvPr>
            <p:cNvSpPr/>
            <p:nvPr/>
          </p:nvSpPr>
          <p:spPr>
            <a:xfrm>
              <a:off x="2402756" y="382772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3</a:t>
              </a:r>
            </a:p>
          </p:txBody>
        </p:sp>
        <p:sp>
          <p:nvSpPr>
            <p:cNvPr id="15" name="TextBox 6">
              <a:extLst>
                <a:ext uri="{FF2B5EF4-FFF2-40B4-BE49-F238E27FC236}">
                  <a16:creationId xmlns:a16="http://schemas.microsoft.com/office/drawing/2014/main" id="{9FBD725A-A3B4-2FE9-5308-553FDD9CC914}"/>
                </a:ext>
              </a:extLst>
            </p:cNvPr>
            <p:cNvSpPr txBox="1"/>
            <p:nvPr/>
          </p:nvSpPr>
          <p:spPr>
            <a:xfrm>
              <a:off x="2828599" y="2796359"/>
              <a:ext cx="1970984"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Cost estimation</a:t>
              </a:r>
            </a:p>
          </p:txBody>
        </p:sp>
        <p:sp>
          <p:nvSpPr>
            <p:cNvPr id="16" name="TextBox 16">
              <a:extLst>
                <a:ext uri="{FF2B5EF4-FFF2-40B4-BE49-F238E27FC236}">
                  <a16:creationId xmlns:a16="http://schemas.microsoft.com/office/drawing/2014/main" id="{24F69592-6EC4-3A3F-03CA-A0EB53B047AF}"/>
                </a:ext>
              </a:extLst>
            </p:cNvPr>
            <p:cNvSpPr txBox="1"/>
            <p:nvPr/>
          </p:nvSpPr>
          <p:spPr>
            <a:xfrm>
              <a:off x="2827099" y="3831388"/>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Architecture quality</a:t>
              </a:r>
            </a:p>
          </p:txBody>
        </p:sp>
        <p:sp>
          <p:nvSpPr>
            <p:cNvPr id="17" name="TextBox 17">
              <a:extLst>
                <a:ext uri="{FF2B5EF4-FFF2-40B4-BE49-F238E27FC236}">
                  <a16:creationId xmlns:a16="http://schemas.microsoft.com/office/drawing/2014/main" id="{37D4889B-9E40-C9DF-1B1F-087D453F8571}"/>
                </a:ext>
              </a:extLst>
            </p:cNvPr>
            <p:cNvSpPr txBox="1"/>
            <p:nvPr/>
          </p:nvSpPr>
          <p:spPr>
            <a:xfrm>
              <a:off x="2827097" y="3313873"/>
              <a:ext cx="1972487"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Maintainability</a:t>
              </a:r>
            </a:p>
          </p:txBody>
        </p:sp>
        <p:sp>
          <p:nvSpPr>
            <p:cNvPr id="23" name="TextBox 24">
              <a:extLst>
                <a:ext uri="{FF2B5EF4-FFF2-40B4-BE49-F238E27FC236}">
                  <a16:creationId xmlns:a16="http://schemas.microsoft.com/office/drawing/2014/main" id="{2104FF65-775F-390F-A413-19E80C39A13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dirty="0">
                <a:solidFill>
                  <a:schemeClr val="tx2"/>
                </a:solidFill>
              </a:endParaRPr>
            </a:p>
          </p:txBody>
        </p:sp>
        <p:sp>
          <p:nvSpPr>
            <p:cNvPr id="24" name="Rectangle 11">
              <a:extLst>
                <a:ext uri="{FF2B5EF4-FFF2-40B4-BE49-F238E27FC236}">
                  <a16:creationId xmlns:a16="http://schemas.microsoft.com/office/drawing/2014/main" id="{79D70F5D-0B0B-6234-A662-2C0A1687FCA9}"/>
                </a:ext>
              </a:extLst>
            </p:cNvPr>
            <p:cNvSpPr/>
            <p:nvPr/>
          </p:nvSpPr>
          <p:spPr>
            <a:xfrm>
              <a:off x="2402756" y="4339032"/>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4</a:t>
              </a:r>
            </a:p>
          </p:txBody>
        </p:sp>
        <p:sp>
          <p:nvSpPr>
            <p:cNvPr id="25" name="TextBox 16">
              <a:extLst>
                <a:ext uri="{FF2B5EF4-FFF2-40B4-BE49-F238E27FC236}">
                  <a16:creationId xmlns:a16="http://schemas.microsoft.com/office/drawing/2014/main" id="{BDEAA53F-F465-CAD1-D039-210FAB636309}"/>
                </a:ext>
              </a:extLst>
            </p:cNvPr>
            <p:cNvSpPr txBox="1"/>
            <p:nvPr/>
          </p:nvSpPr>
          <p:spPr>
            <a:xfrm>
              <a:off x="2827099" y="4342700"/>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Open source health</a:t>
              </a:r>
            </a:p>
          </p:txBody>
        </p:sp>
      </p:grpSp>
      <p:sp>
        <p:nvSpPr>
          <p:cNvPr id="34" name="Afgeronde rechthoek 33">
            <a:extLst>
              <a:ext uri="{FF2B5EF4-FFF2-40B4-BE49-F238E27FC236}">
                <a16:creationId xmlns:a16="http://schemas.microsoft.com/office/drawing/2014/main" id="{1432F4D9-898D-1F7C-1B68-01CBDDFBCED8}"/>
              </a:ext>
            </a:extLst>
          </p:cNvPr>
          <p:cNvSpPr/>
          <p:nvPr/>
        </p:nvSpPr>
        <p:spPr>
          <a:xfrm>
            <a:off x="4454347" y="1472806"/>
            <a:ext cx="7567201" cy="2923251"/>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dirty="0">
              <a:solidFill>
                <a:schemeClr val="tx2"/>
              </a:solidFill>
              <a:latin typeface="Noir Pro Medium" pitchFamily="2" charset="0"/>
            </a:endParaRPr>
          </a:p>
        </p:txBody>
      </p:sp>
      <p:sp>
        <p:nvSpPr>
          <p:cNvPr id="11" name="Footer Placeholder 4">
            <a:extLst>
              <a:ext uri="{FF2B5EF4-FFF2-40B4-BE49-F238E27FC236}">
                <a16:creationId xmlns:a16="http://schemas.microsoft.com/office/drawing/2014/main" id="{0707A884-AC28-2314-C739-5F3DD7BBDDA8}"/>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331429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3691-EEF8-B68C-5A5F-30410C866211}"/>
            </a:ext>
          </a:extLst>
        </p:cNvPr>
        <p:cNvGrpSpPr/>
        <p:nvPr/>
      </p:nvGrpSpPr>
      <p:grpSpPr>
        <a:xfrm>
          <a:off x="0" y="0"/>
          <a:ext cx="0" cy="0"/>
          <a:chOff x="0" y="0"/>
          <a:chExt cx="0" cy="0"/>
        </a:xfrm>
      </p:grpSpPr>
      <p:sp>
        <p:nvSpPr>
          <p:cNvPr id="65" name="Oval 64">
            <a:extLst>
              <a:ext uri="{FF2B5EF4-FFF2-40B4-BE49-F238E27FC236}">
                <a16:creationId xmlns:a16="http://schemas.microsoft.com/office/drawing/2014/main" id="{95C27F98-D0CE-D5B9-C55D-97BBC5A5BFF2}"/>
              </a:ext>
            </a:extLst>
          </p:cNvPr>
          <p:cNvSpPr>
            <a:spLocks/>
          </p:cNvSpPr>
          <p:nvPr/>
        </p:nvSpPr>
        <p:spPr>
          <a:xfrm>
            <a:off x="4004388" y="1634792"/>
            <a:ext cx="4180824" cy="4180824"/>
          </a:xfrm>
          <a:prstGeom prst="ellipse">
            <a:avLst/>
          </a:prstGeom>
          <a:gradFill>
            <a:gsLst>
              <a:gs pos="0">
                <a:schemeClr val="accent3">
                  <a:alpha val="30871"/>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2" name="Oval 91">
            <a:extLst>
              <a:ext uri="{FF2B5EF4-FFF2-40B4-BE49-F238E27FC236}">
                <a16:creationId xmlns:a16="http://schemas.microsoft.com/office/drawing/2014/main" id="{B6C70F8F-27F3-4CF3-FECD-439D34C6752D}"/>
              </a:ext>
            </a:extLst>
          </p:cNvPr>
          <p:cNvSpPr>
            <a:spLocks/>
          </p:cNvSpPr>
          <p:nvPr/>
        </p:nvSpPr>
        <p:spPr>
          <a:xfrm>
            <a:off x="3385191" y="1063763"/>
            <a:ext cx="5340638" cy="5340638"/>
          </a:xfrm>
          <a:prstGeom prst="ellipse">
            <a:avLst/>
          </a:prstGeom>
          <a:gradFill>
            <a:gsLst>
              <a:gs pos="0">
                <a:schemeClr val="accent3">
                  <a:alpha val="15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99C9D0E3-9C9E-5F23-111D-96C14386A39D}"/>
              </a:ext>
            </a:extLst>
          </p:cNvPr>
          <p:cNvSpPr txBox="1">
            <a:spLocks/>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43000">
                      <a:srgbClr val="FFFFFF"/>
                    </a:gs>
                    <a:gs pos="9000">
                      <a:srgbClr val="88ADF5">
                        <a:lumMod val="60000"/>
                        <a:lumOff val="40000"/>
                      </a:srgbClr>
                    </a:gs>
                  </a:gsLst>
                  <a:lin ang="9600000" scaled="0"/>
                </a:gradFill>
                <a:effectLst>
                  <a:outerShdw blurRad="113571" dist="44478" dir="16200000" rotWithShape="0">
                    <a:prstClr val="black">
                      <a:alpha val="40000"/>
                    </a:prstClr>
                  </a:outerShdw>
                </a:effectLst>
                <a:uLnTx/>
                <a:uFillTx/>
                <a:latin typeface="Noir Pro Semi Bold" pitchFamily="2" charset="0"/>
                <a:ea typeface="+mn-ea"/>
                <a:cs typeface="+mn-cs"/>
              </a:rPr>
              <a:t>Cost Estimation Model</a:t>
            </a:r>
          </a:p>
        </p:txBody>
      </p:sp>
      <p:sp>
        <p:nvSpPr>
          <p:cNvPr id="63" name="Text Placeholder 62">
            <a:extLst>
              <a:ext uri="{FF2B5EF4-FFF2-40B4-BE49-F238E27FC236}">
                <a16:creationId xmlns:a16="http://schemas.microsoft.com/office/drawing/2014/main" id="{4470666D-AB22-177C-6C7A-D16FF6FB971C}"/>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5" name="Tijdelijke aanduiding voor dianummer 4">
            <a:extLst>
              <a:ext uri="{FF2B5EF4-FFF2-40B4-BE49-F238E27FC236}">
                <a16:creationId xmlns:a16="http://schemas.microsoft.com/office/drawing/2014/main" id="{35FAE676-1E79-98D7-3514-335462A7999D}"/>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242BD21-9B61-2246-BCB1-4BE5E1BEBE1C}" type="slidenum">
              <a:rPr kumimoji="0" lang="en-US" sz="900" b="0" i="0" u="none" strike="noStrike" kern="1200" cap="none" spc="10" normalizeH="0" baseline="0" noProof="0" smtClean="0">
                <a:ln>
                  <a:noFill/>
                </a:ln>
                <a:solidFill>
                  <a:srgbClr val="FFFFFF"/>
                </a:solidFill>
                <a:effectLst/>
                <a:uLnTx/>
                <a:uFillTx/>
                <a:latin typeface="Azeret Mono" pitchFamily="2" charset="77"/>
                <a:ea typeface="+mn-ea"/>
                <a:cs typeface="Azeret Mono"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10" normalizeH="0" baseline="0" noProof="0" dirty="0">
              <a:ln>
                <a:noFill/>
              </a:ln>
              <a:solidFill>
                <a:srgbClr val="FFFFFF"/>
              </a:solidFill>
              <a:effectLst/>
              <a:uLnTx/>
              <a:uFillTx/>
              <a:latin typeface="Azeret Mono" pitchFamily="2" charset="77"/>
              <a:ea typeface="+mn-ea"/>
              <a:cs typeface="Azeret Mono" pitchFamily="2" charset="77"/>
            </a:endParaRPr>
          </a:p>
        </p:txBody>
      </p:sp>
      <p:sp>
        <p:nvSpPr>
          <p:cNvPr id="70" name="Title 69">
            <a:extLst>
              <a:ext uri="{FF2B5EF4-FFF2-40B4-BE49-F238E27FC236}">
                <a16:creationId xmlns:a16="http://schemas.microsoft.com/office/drawing/2014/main" id="{3EF7774A-211E-088E-C9B6-6A86C440503F}"/>
              </a:ext>
            </a:extLst>
          </p:cNvPr>
          <p:cNvSpPr>
            <a:spLocks noGrp="1"/>
          </p:cNvSpPr>
          <p:nvPr>
            <p:ph type="title"/>
          </p:nvPr>
        </p:nvSpPr>
        <p:spPr/>
        <p:txBody>
          <a:bodyPr/>
          <a:lstStyle/>
          <a:p>
            <a:r>
              <a:rPr lang="en-US" noProof="0" dirty="0"/>
              <a:t>Explanation: The Cost Estimation model combines Sigrid analysis results with SIG benchmarks</a:t>
            </a:r>
          </a:p>
        </p:txBody>
      </p:sp>
      <p:sp>
        <p:nvSpPr>
          <p:cNvPr id="8" name="Oval 7">
            <a:extLst>
              <a:ext uri="{FF2B5EF4-FFF2-40B4-BE49-F238E27FC236}">
                <a16:creationId xmlns:a16="http://schemas.microsoft.com/office/drawing/2014/main" id="{29F3FDDD-3858-C838-0AD0-612548D292DE}"/>
              </a:ext>
            </a:extLst>
          </p:cNvPr>
          <p:cNvSpPr>
            <a:spLocks/>
          </p:cNvSpPr>
          <p:nvPr/>
        </p:nvSpPr>
        <p:spPr>
          <a:xfrm>
            <a:off x="4673297" y="2304400"/>
            <a:ext cx="2849490" cy="2849490"/>
          </a:xfrm>
          <a:prstGeom prst="ellipse">
            <a:avLst/>
          </a:prstGeom>
          <a:solidFill>
            <a:schemeClr val="accent3">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533F8D7-DBCC-1E52-6611-0BE5FFCA74B9}"/>
              </a:ext>
            </a:extLst>
          </p:cNvPr>
          <p:cNvSpPr>
            <a:spLocks/>
          </p:cNvSpPr>
          <p:nvPr/>
        </p:nvSpPr>
        <p:spPr>
          <a:xfrm>
            <a:off x="5029556" y="2660659"/>
            <a:ext cx="2136972" cy="2136972"/>
          </a:xfrm>
          <a:prstGeom prst="ellipse">
            <a:avLst/>
          </a:prstGeom>
          <a:gradFill>
            <a:gsLst>
              <a:gs pos="23000">
                <a:schemeClr val="accent3">
                  <a:lumMod val="60000"/>
                  <a:lumOff val="40000"/>
                  <a:alpha val="33841"/>
                </a:schemeClr>
              </a:gs>
              <a:gs pos="61000">
                <a:schemeClr val="accent3">
                  <a:lumMod val="60000"/>
                  <a:lumOff val="40000"/>
                  <a:alpha val="16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C63A583D-6BE0-A8F1-39D1-114B3FDEE8C6}"/>
              </a:ext>
            </a:extLst>
          </p:cNvPr>
          <p:cNvSpPr>
            <a:spLocks/>
          </p:cNvSpPr>
          <p:nvPr/>
        </p:nvSpPr>
        <p:spPr>
          <a:xfrm>
            <a:off x="5326438" y="2957541"/>
            <a:ext cx="1543208" cy="1543208"/>
          </a:xfrm>
          <a:prstGeom prst="ellipse">
            <a:avLst/>
          </a:prstGeom>
          <a:gradFill>
            <a:gsLst>
              <a:gs pos="23000">
                <a:schemeClr val="bg1"/>
              </a:gs>
              <a:gs pos="61000">
                <a:schemeClr val="accent3">
                  <a:lumMod val="40000"/>
                  <a:lumOff val="60000"/>
                  <a:alpha val="29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18" name="Oval 17">
            <a:extLst>
              <a:ext uri="{FF2B5EF4-FFF2-40B4-BE49-F238E27FC236}">
                <a16:creationId xmlns:a16="http://schemas.microsoft.com/office/drawing/2014/main" id="{28E6CC9E-A042-4D41-4D82-5012869DD8F0}"/>
              </a:ext>
            </a:extLst>
          </p:cNvPr>
          <p:cNvSpPr>
            <a:spLocks/>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6E013D36-4866-963A-B984-D0771F1F8F91}"/>
              </a:ext>
            </a:extLst>
          </p:cNvPr>
          <p:cNvSpPr>
            <a:spLocks/>
          </p:cNvSpPr>
          <p:nvPr/>
        </p:nvSpPr>
        <p:spPr>
          <a:xfrm>
            <a:off x="5366019" y="4285002"/>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761F8860-D3BD-ADF7-947C-66743FAA2346}"/>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cxnSp>
        <p:nvCxnSpPr>
          <p:cNvPr id="48" name="Straight Connector 47">
            <a:extLst>
              <a:ext uri="{FF2B5EF4-FFF2-40B4-BE49-F238E27FC236}">
                <a16:creationId xmlns:a16="http://schemas.microsoft.com/office/drawing/2014/main" id="{4EEE0137-8821-1C78-1860-272D52AD6A69}"/>
              </a:ext>
            </a:extLst>
          </p:cNvPr>
          <p:cNvCxnSpPr>
            <a:cxnSpLocks/>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035F2BD-9708-0AD0-BD3B-D333B7293EE0}"/>
              </a:ext>
            </a:extLst>
          </p:cNvPr>
          <p:cNvSpPr>
            <a:spLocks/>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2A041D92-70F1-8E69-18DA-1A12061BCB4D}"/>
              </a:ext>
            </a:extLst>
          </p:cNvPr>
          <p:cNvSpPr>
            <a:spLocks/>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2" name="Content Placeholder 70">
            <a:extLst>
              <a:ext uri="{FF2B5EF4-FFF2-40B4-BE49-F238E27FC236}">
                <a16:creationId xmlns:a16="http://schemas.microsoft.com/office/drawing/2014/main" id="{D5037DEE-D3A7-543A-B3E5-6F22ECB1E9B3}"/>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dirty="0">
                <a:solidFill>
                  <a:srgbClr val="FFFFFF"/>
                </a:solidFill>
                <a:latin typeface="Azeret Mono" pitchFamily="2" charset="77"/>
                <a:cs typeface="Azeret Mono" pitchFamily="2" charset="77"/>
              </a:rPr>
              <a:t>The Cost Estimation Model (CEM) enables translating technical analysis results to cost estimations. </a:t>
            </a:r>
            <a:endParaRPr kumimoji="0" lang="en-US" sz="3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most important input for the CEM are the maintainability analysis results. This is mandatory. CEM then combines this with </a:t>
            </a:r>
            <a:r>
              <a:rPr lang="en-US" sz="1400" noProof="0" dirty="0">
                <a:solidFill>
                  <a:srgbClr val="FFFFFF"/>
                </a:solidFill>
                <a:latin typeface="Azeret Mono" pitchFamily="2" charset="77"/>
                <a:cs typeface="Azeret Mono" pitchFamily="2" charset="77"/>
              </a:rPr>
              <a:t>SIG’s benchmarks</a:t>
            </a: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 on productivity and maintainability.</a:t>
            </a:r>
            <a:endParaRPr kumimoji="0" lang="en-US" sz="1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Cost estimations form key input for scenario comparison.</a:t>
            </a:r>
          </a:p>
        </p:txBody>
      </p:sp>
      <p:sp>
        <p:nvSpPr>
          <p:cNvPr id="78" name="Arc 77">
            <a:extLst>
              <a:ext uri="{FF2B5EF4-FFF2-40B4-BE49-F238E27FC236}">
                <a16:creationId xmlns:a16="http://schemas.microsoft.com/office/drawing/2014/main" id="{AE202C74-D8C9-84F4-7CCF-66BFEFFF7D22}"/>
              </a:ext>
            </a:extLst>
          </p:cNvPr>
          <p:cNvSpPr>
            <a:spLocks/>
          </p:cNvSpPr>
          <p:nvPr/>
        </p:nvSpPr>
        <p:spPr>
          <a:xfrm>
            <a:off x="4403883" y="2031167"/>
            <a:ext cx="3381834" cy="3405830"/>
          </a:xfrm>
          <a:prstGeom prst="arc">
            <a:avLst>
              <a:gd name="adj1" fmla="val 19163152"/>
              <a:gd name="adj2" fmla="val 13132678"/>
            </a:avLst>
          </a:prstGeom>
          <a:ln w="12700">
            <a:gradFill>
              <a:gsLst>
                <a:gs pos="98000">
                  <a:schemeClr val="bg1">
                    <a:alpha val="0"/>
                  </a:schemeClr>
                </a:gs>
                <a:gs pos="68000">
                  <a:schemeClr val="bg1">
                    <a:alpha val="29485"/>
                  </a:schemeClr>
                </a:gs>
                <a:gs pos="8000">
                  <a:schemeClr val="accent3"/>
                </a:gs>
                <a:gs pos="18000">
                  <a:schemeClr val="accent3">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99" name="Arc 98">
            <a:extLst>
              <a:ext uri="{FF2B5EF4-FFF2-40B4-BE49-F238E27FC236}">
                <a16:creationId xmlns:a16="http://schemas.microsoft.com/office/drawing/2014/main" id="{86B057A7-8157-80A0-0AA7-9BDCD7BBB467}"/>
              </a:ext>
            </a:extLst>
          </p:cNvPr>
          <p:cNvSpPr>
            <a:spLocks/>
          </p:cNvSpPr>
          <p:nvPr/>
        </p:nvSpPr>
        <p:spPr>
          <a:xfrm>
            <a:off x="5176684" y="2825556"/>
            <a:ext cx="1850921" cy="1820186"/>
          </a:xfrm>
          <a:prstGeom prst="arc">
            <a:avLst>
              <a:gd name="adj1" fmla="val 5508426"/>
              <a:gd name="adj2" fmla="val 14121050"/>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25FF9DAC-CBE3-1B3F-9290-7F5D371A540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900476" y="1505595"/>
            <a:ext cx="403047" cy="343715"/>
          </a:xfrm>
          <a:prstGeom prst="rect">
            <a:avLst/>
          </a:prstGeom>
        </p:spPr>
      </p:pic>
      <p:pic>
        <p:nvPicPr>
          <p:cNvPr id="79" name="Graphic 78">
            <a:extLst>
              <a:ext uri="{FF2B5EF4-FFF2-40B4-BE49-F238E27FC236}">
                <a16:creationId xmlns:a16="http://schemas.microsoft.com/office/drawing/2014/main" id="{488B6BB2-C968-8F30-797C-D8BF8F77AD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11" name="Oval 43">
            <a:extLst>
              <a:ext uri="{FF2B5EF4-FFF2-40B4-BE49-F238E27FC236}">
                <a16:creationId xmlns:a16="http://schemas.microsoft.com/office/drawing/2014/main" id="{72B4FB6F-6763-191D-367B-6D9493FDE909}"/>
              </a:ext>
            </a:extLst>
          </p:cNvPr>
          <p:cNvSpPr>
            <a:spLocks/>
          </p:cNvSpPr>
          <p:nvPr/>
        </p:nvSpPr>
        <p:spPr>
          <a:xfrm>
            <a:off x="5569297" y="3200400"/>
            <a:ext cx="1057490" cy="1057490"/>
          </a:xfrm>
          <a:prstGeom prst="ellipse">
            <a:avLst/>
          </a:prstGeom>
          <a:gradFill>
            <a:gsLst>
              <a:gs pos="21000">
                <a:schemeClr val="tx2">
                  <a:alpha val="0"/>
                </a:schemeClr>
              </a:gs>
              <a:gs pos="55000">
                <a:schemeClr val="accent1">
                  <a:alpha val="14976"/>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31" name="Boog 30">
            <a:extLst>
              <a:ext uri="{FF2B5EF4-FFF2-40B4-BE49-F238E27FC236}">
                <a16:creationId xmlns:a16="http://schemas.microsoft.com/office/drawing/2014/main" id="{2E76718F-E362-2675-C4E3-B79D88D026C1}"/>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3"/>
                </a:gs>
                <a:gs pos="16000">
                  <a:schemeClr val="accent3"/>
                </a:gs>
                <a:gs pos="0">
                  <a:schemeClr val="accent3">
                    <a:alpha val="0"/>
                  </a:schemeClr>
                </a:gs>
                <a:gs pos="100000">
                  <a:schemeClr val="accent3">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E8DECA9-24CF-753A-9E3D-ED81D7412706}"/>
              </a:ext>
            </a:extLst>
          </p:cNvPr>
          <p:cNvSpPr txBox="1">
            <a:spLocks/>
          </p:cNvSpPr>
          <p:nvPr/>
        </p:nvSpPr>
        <p:spPr>
          <a:xfrm>
            <a:off x="773951" y="2467036"/>
            <a:ext cx="2725576" cy="357277"/>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8ADF5"/>
                </a:solidFill>
                <a:effectLst>
                  <a:outerShdw blurRad="229337" sx="102000" sy="102000" algn="ctr" rotWithShape="0">
                    <a:srgbClr val="1763FF">
                      <a:alpha val="20000"/>
                    </a:srgbClr>
                  </a:outerShdw>
                </a:effectLst>
                <a:uLnTx/>
                <a:uFillTx/>
                <a:latin typeface="☞NOIR PRO MEDIUM" pitchFamily="2" charset="0"/>
                <a:ea typeface="+mn-ea"/>
                <a:cs typeface="+mn-cs"/>
              </a:rPr>
              <a:t>Model sub-characteristics</a:t>
            </a:r>
          </a:p>
        </p:txBody>
      </p:sp>
      <p:sp>
        <p:nvSpPr>
          <p:cNvPr id="29" name="Ovaal 28">
            <a:extLst>
              <a:ext uri="{FF2B5EF4-FFF2-40B4-BE49-F238E27FC236}">
                <a16:creationId xmlns:a16="http://schemas.microsoft.com/office/drawing/2014/main" id="{FB20B4AB-9225-343C-3039-7D6D4668EBFC}"/>
              </a:ext>
            </a:extLst>
          </p:cNvPr>
          <p:cNvSpPr>
            <a:spLocks/>
          </p:cNvSpPr>
          <p:nvPr/>
        </p:nvSpPr>
        <p:spPr>
          <a:xfrm>
            <a:off x="3385191" y="3111240"/>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0" name="Ovaal 29">
            <a:extLst>
              <a:ext uri="{FF2B5EF4-FFF2-40B4-BE49-F238E27FC236}">
                <a16:creationId xmlns:a16="http://schemas.microsoft.com/office/drawing/2014/main" id="{2E5481D9-8C0E-A2F0-820F-EC973CFB7F55}"/>
              </a:ext>
            </a:extLst>
          </p:cNvPr>
          <p:cNvSpPr>
            <a:spLocks/>
          </p:cNvSpPr>
          <p:nvPr/>
        </p:nvSpPr>
        <p:spPr>
          <a:xfrm>
            <a:off x="3324388" y="3825339"/>
            <a:ext cx="126489"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2" name="Ovaal 31">
            <a:extLst>
              <a:ext uri="{FF2B5EF4-FFF2-40B4-BE49-F238E27FC236}">
                <a16:creationId xmlns:a16="http://schemas.microsoft.com/office/drawing/2014/main" id="{F992DA66-29D9-1466-1F41-2D8827291212}"/>
              </a:ext>
            </a:extLst>
          </p:cNvPr>
          <p:cNvSpPr>
            <a:spLocks/>
          </p:cNvSpPr>
          <p:nvPr/>
        </p:nvSpPr>
        <p:spPr>
          <a:xfrm>
            <a:off x="3467971" y="4563771"/>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Ovaal 35">
            <a:extLst>
              <a:ext uri="{FF2B5EF4-FFF2-40B4-BE49-F238E27FC236}">
                <a16:creationId xmlns:a16="http://schemas.microsoft.com/office/drawing/2014/main" id="{B435B4C7-661B-FDF9-E7D5-7747088120FF}"/>
              </a:ext>
            </a:extLst>
          </p:cNvPr>
          <p:cNvSpPr>
            <a:spLocks/>
          </p:cNvSpPr>
          <p:nvPr/>
        </p:nvSpPr>
        <p:spPr>
          <a:xfrm>
            <a:off x="3645999" y="4985107"/>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8" name="Tekstvak 37">
            <a:extLst>
              <a:ext uri="{FF2B5EF4-FFF2-40B4-BE49-F238E27FC236}">
                <a16:creationId xmlns:a16="http://schemas.microsoft.com/office/drawing/2014/main" id="{10D3DB77-BAAE-D993-38A8-5175851EB1D3}"/>
              </a:ext>
            </a:extLst>
          </p:cNvPr>
          <p:cNvSpPr txBox="1">
            <a:spLocks/>
          </p:cNvSpPr>
          <p:nvPr/>
        </p:nvSpPr>
        <p:spPr>
          <a:xfrm>
            <a:off x="393577" y="2957541"/>
            <a:ext cx="2933901" cy="635430"/>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SIG Language productivity benchmark</a:t>
            </a:r>
          </a:p>
        </p:txBody>
      </p:sp>
      <p:sp>
        <p:nvSpPr>
          <p:cNvPr id="39" name="Tekstvak 38">
            <a:extLst>
              <a:ext uri="{FF2B5EF4-FFF2-40B4-BE49-F238E27FC236}">
                <a16:creationId xmlns:a16="http://schemas.microsoft.com/office/drawing/2014/main" id="{7E259356-0193-A86A-4CEE-5A1813E29242}"/>
              </a:ext>
            </a:extLst>
          </p:cNvPr>
          <p:cNvSpPr txBox="1">
            <a:spLocks/>
          </p:cNvSpPr>
          <p:nvPr/>
        </p:nvSpPr>
        <p:spPr>
          <a:xfrm>
            <a:off x="225737" y="3691833"/>
            <a:ext cx="3058740" cy="635430"/>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SIG Maintainability benchmark</a:t>
            </a:r>
          </a:p>
        </p:txBody>
      </p:sp>
      <p:sp>
        <p:nvSpPr>
          <p:cNvPr id="40" name="Tekstvak 39">
            <a:extLst>
              <a:ext uri="{FF2B5EF4-FFF2-40B4-BE49-F238E27FC236}">
                <a16:creationId xmlns:a16="http://schemas.microsoft.com/office/drawing/2014/main" id="{5F0DC96E-F7E0-F74E-E1F1-46E5AC30F48C}"/>
              </a:ext>
            </a:extLst>
          </p:cNvPr>
          <p:cNvSpPr txBox="1">
            <a:spLocks/>
          </p:cNvSpPr>
          <p:nvPr/>
        </p:nvSpPr>
        <p:spPr>
          <a:xfrm>
            <a:off x="942233" y="4426125"/>
            <a:ext cx="2472300"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Software metric results</a:t>
            </a:r>
          </a:p>
        </p:txBody>
      </p:sp>
      <p:sp>
        <p:nvSpPr>
          <p:cNvPr id="41" name="Tekstvak 40">
            <a:extLst>
              <a:ext uri="{FF2B5EF4-FFF2-40B4-BE49-F238E27FC236}">
                <a16:creationId xmlns:a16="http://schemas.microsoft.com/office/drawing/2014/main" id="{F793CE3A-19AA-C87F-F0EE-2C1B9143E48E}"/>
              </a:ext>
            </a:extLst>
          </p:cNvPr>
          <p:cNvSpPr txBox="1">
            <a:spLocks/>
          </p:cNvSpPr>
          <p:nvPr/>
        </p:nvSpPr>
        <p:spPr>
          <a:xfrm>
            <a:off x="2044729" y="4851797"/>
            <a:ext cx="1518514"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Configuration</a:t>
            </a:r>
          </a:p>
        </p:txBody>
      </p:sp>
      <p:sp>
        <p:nvSpPr>
          <p:cNvPr id="6" name="Footer Placeholder 4">
            <a:extLst>
              <a:ext uri="{FF2B5EF4-FFF2-40B4-BE49-F238E27FC236}">
                <a16:creationId xmlns:a16="http://schemas.microsoft.com/office/drawing/2014/main" id="{ABD0BC6B-481D-DD66-696A-A9C254706A06}"/>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837537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D655E-F97C-8287-6A0E-D45434C8F92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C04ABE8-C279-D9E6-AC8C-52F1BD5E75F8}"/>
              </a:ext>
            </a:extLst>
          </p:cNvPr>
          <p:cNvSpPr>
            <a:spLocks noGrp="1"/>
          </p:cNvSpPr>
          <p:nvPr>
            <p:ph type="body" sz="quarter" idx="12"/>
          </p:nvPr>
        </p:nvSpPr>
        <p:spPr>
          <a:xfrm>
            <a:off x="381000" y="129609"/>
            <a:ext cx="2674945" cy="228145"/>
          </a:xfrm>
        </p:spPr>
        <p:txBody>
          <a:bodyPr/>
          <a:lstStyle/>
          <a:p>
            <a:r>
              <a:rPr lang="en-US" noProof="0" dirty="0"/>
              <a:t>Key findings – Cost estimation</a:t>
            </a:r>
          </a:p>
        </p:txBody>
      </p:sp>
      <p:sp>
        <p:nvSpPr>
          <p:cNvPr id="8" name="Content Placeholder 9">
            <a:extLst>
              <a:ext uri="{FF2B5EF4-FFF2-40B4-BE49-F238E27FC236}">
                <a16:creationId xmlns:a16="http://schemas.microsoft.com/office/drawing/2014/main" id="{14C925DB-E118-F4E3-AF41-5BD45439B8AD}"/>
              </a:ext>
            </a:extLst>
          </p:cNvPr>
          <p:cNvSpPr>
            <a:spLocks noGrp="1"/>
          </p:cNvSpPr>
          <p:nvPr>
            <p:ph sz="quarter" idx="13"/>
          </p:nvPr>
        </p:nvSpPr>
        <p:spPr>
          <a:xfrm>
            <a:off x="155575" y="1411288"/>
            <a:ext cx="8245902" cy="4841875"/>
          </a:xfrm>
        </p:spPr>
        <p:txBody>
          <a:bodyPr/>
          <a:lstStyle/>
          <a:p>
            <a:pPr marL="285750" indent="-285750">
              <a:buFont typeface="Arial" panose="020B0604020202020204" pitchFamily="34" charset="0"/>
              <a:buChar char="•"/>
            </a:pPr>
            <a:r>
              <a:rPr lang="en-US" noProof="0" dirty="0"/>
              <a:t>The code volume totals 43.0 person years of theoretical rebuild volume.</a:t>
            </a:r>
          </a:p>
          <a:p>
            <a:pPr marL="285750" indent="-285750">
              <a:buFont typeface="Arial" panose="020B0604020202020204" pitchFamily="34" charset="0"/>
              <a:buChar char="•"/>
            </a:pPr>
            <a:r>
              <a:rPr lang="en-US" noProof="0" dirty="0"/>
              <a:t>The average maintainability level is at market average. For modern systems built in common technologies, at minimum a 4-star rating is recommended to avoid unnecessary maintenance cost.</a:t>
            </a:r>
          </a:p>
          <a:p>
            <a:pPr marL="285750" indent="-285750">
              <a:buFont typeface="Arial" panose="020B0604020202020204" pitchFamily="34" charset="0"/>
              <a:buChar char="•"/>
            </a:pPr>
            <a:r>
              <a:rPr lang="en-US" noProof="0" dirty="0" err="1"/>
              <a:t>6.5 FTE of development effort is recommended for maintenance alone.</a:t>
            </a:r>
          </a:p>
          <a:p>
            <a:pPr marL="285750" indent="-285750">
              <a:buFont typeface="Arial" panose="020B0604020202020204" pitchFamily="34" charset="0"/>
              <a:buChar char="•"/>
            </a:pPr>
            <a:r>
              <a:rPr lang="en-US" noProof="0" dirty="0"/>
              <a:t>Approximately 17.3 person years is required to renovate the system towards the recommended 4-star level</a:t>
            </a:r>
          </a:p>
        </p:txBody>
      </p:sp>
      <p:sp>
        <p:nvSpPr>
          <p:cNvPr id="5" name="Slide Number Placeholder 4">
            <a:extLst>
              <a:ext uri="{FF2B5EF4-FFF2-40B4-BE49-F238E27FC236}">
                <a16:creationId xmlns:a16="http://schemas.microsoft.com/office/drawing/2014/main" id="{B1B92D6C-0D69-FCB1-5EE4-95B2A83103D0}"/>
              </a:ext>
            </a:extLst>
          </p:cNvPr>
          <p:cNvSpPr>
            <a:spLocks noGrp="1"/>
          </p:cNvSpPr>
          <p:nvPr>
            <p:ph type="sldNum" sz="quarter" idx="15"/>
          </p:nvPr>
        </p:nvSpPr>
        <p:spPr/>
        <p:txBody>
          <a:bodyPr/>
          <a:lstStyle/>
          <a:p>
            <a:fld id="{E242BD21-9B61-2246-BCB1-4BE5E1BEBE1C}" type="slidenum">
              <a:rPr lang="en-US" noProof="0" smtClean="0"/>
              <a:pPr/>
              <a:t>7</a:t>
            </a:fld>
            <a:endParaRPr lang="en-US" noProof="0" dirty="0"/>
          </a:p>
        </p:txBody>
      </p:sp>
      <p:sp>
        <p:nvSpPr>
          <p:cNvPr id="4" name="Title 3">
            <a:extLst>
              <a:ext uri="{FF2B5EF4-FFF2-40B4-BE49-F238E27FC236}">
                <a16:creationId xmlns:a16="http://schemas.microsoft.com/office/drawing/2014/main" id="{29657FF3-6619-08B7-D7FA-29D9470046D2}"/>
              </a:ext>
            </a:extLst>
          </p:cNvPr>
          <p:cNvSpPr>
            <a:spLocks noGrp="1"/>
          </p:cNvSpPr>
          <p:nvPr>
            <p:ph type="title"/>
          </p:nvPr>
        </p:nvSpPr>
        <p:spPr>
          <a:xfrm>
            <a:off x="154800" y="440112"/>
            <a:ext cx="11880000" cy="710067"/>
          </a:xfrm>
        </p:spPr>
        <p:txBody>
          <a:bodyPr/>
          <a:lstStyle/>
          <a:p>
            <a:r>
              <a:rPr lang="en-US" noProof="0" dirty="0"/>
              <a:t>Integrationtest-kafka technical debt is 17.3 person years (40% of its volume)</a:t>
            </a:r>
          </a:p>
        </p:txBody>
      </p:sp>
      <p:sp>
        <p:nvSpPr>
          <p:cNvPr id="9" name="Rectangle 8">
            <a:extLst>
              <a:ext uri="{FF2B5EF4-FFF2-40B4-BE49-F238E27FC236}">
                <a16:creationId xmlns:a16="http://schemas.microsoft.com/office/drawing/2014/main" id="{0C899634-9D42-069D-8642-EC64A877D766}"/>
              </a:ext>
            </a:extLst>
          </p:cNvPr>
          <p:cNvSpPr/>
          <p:nvPr/>
        </p:nvSpPr>
        <p:spPr>
          <a:xfrm>
            <a:off x="8202139" y="1711842"/>
            <a:ext cx="3600840" cy="433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tx1">
                  <a:lumMod val="40000"/>
                  <a:lumOff val="60000"/>
                </a:schemeClr>
              </a:buClr>
              <a:buFont typeface="Wingdings" pitchFamily="2" charset="2"/>
              <a:buChar char="§"/>
            </a:pPr>
            <a:endParaRPr lang="en-US" noProof="0" dirty="0">
              <a:solidFill>
                <a:schemeClr val="tx1"/>
              </a:solidFill>
            </a:endParaRPr>
          </a:p>
        </p:txBody>
      </p:sp>
      <p:sp>
        <p:nvSpPr>
          <p:cNvPr id="10" name="TextBox 20">
            <a:extLst>
              <a:ext uri="{FF2B5EF4-FFF2-40B4-BE49-F238E27FC236}">
                <a16:creationId xmlns:a16="http://schemas.microsoft.com/office/drawing/2014/main" id="{C4DC25EC-B24A-5D12-8A8F-843FC11DA1F0}"/>
              </a:ext>
            </a:extLst>
          </p:cNvPr>
          <p:cNvSpPr txBox="1"/>
          <p:nvPr/>
        </p:nvSpPr>
        <p:spPr>
          <a:xfrm>
            <a:off x="2096093" y="6441308"/>
            <a:ext cx="9428642" cy="256609"/>
          </a:xfrm>
          <a:prstGeom prst="rect">
            <a:avLst/>
          </a:prstGeom>
          <a:noFill/>
        </p:spPr>
        <p:txBody>
          <a:bodyPr wrap="square" lIns="0" tIns="45720" rIns="0" bIns="45720" rtlCol="0" anchor="t">
            <a:spAutoFit/>
          </a:bodyPr>
          <a:lstStyle/>
          <a:p>
            <a:pPr>
              <a:lnSpc>
                <a:spcPct val="113000"/>
              </a:lnSpc>
            </a:pPr>
            <a:r>
              <a:rPr lang="en-US" sz="1000" noProof="0" dirty="0">
                <a:solidFill>
                  <a:schemeClr val="bg2">
                    <a:lumMod val="50000"/>
                  </a:schemeClr>
                </a:solidFill>
              </a:rPr>
              <a:t>* At an assumed cost of </a:t>
            </a:r>
            <a:r>
              <a:rPr lang="en-US" sz="1000" b="1" i="0" noProof="0" dirty="0">
                <a:solidFill>
                  <a:schemeClr val="bg2">
                    <a:lumMod val="50000"/>
                  </a:schemeClr>
                </a:solidFill>
                <a:effectLst/>
                <a:latin typeface="Google Sans"/>
              </a:rPr>
              <a:t>€</a:t>
            </a:r>
            <a:r>
              <a:rPr lang="en-US" sz="1000" b="1" noProof="0" dirty="0">
                <a:solidFill>
                  <a:schemeClr val="bg2">
                    <a:lumMod val="50000"/>
                  </a:schemeClr>
                </a:solidFill>
              </a:rPr>
              <a:t>150K/FTE per year</a:t>
            </a:r>
            <a:r>
              <a:rPr lang="en-US" sz="1000" noProof="0" dirty="0">
                <a:solidFill>
                  <a:schemeClr val="bg2">
                    <a:lumMod val="50000"/>
                  </a:schemeClr>
                </a:solidFill>
              </a:rPr>
              <a:t>; Costs address software development effort, no additional project (management) costs.</a:t>
            </a:r>
          </a:p>
        </p:txBody>
      </p:sp>
      <p:cxnSp>
        <p:nvCxnSpPr>
          <p:cNvPr id="28" name="Straight Connector 6">
            <a:extLst>
              <a:ext uri="{FF2B5EF4-FFF2-40B4-BE49-F238E27FC236}">
                <a16:creationId xmlns:a16="http://schemas.microsoft.com/office/drawing/2014/main" id="{BC9E30B0-576B-88A2-00C1-921F32E0F2D8}"/>
              </a:ext>
            </a:extLst>
          </p:cNvPr>
          <p:cNvCxnSpPr>
            <a:cxnSpLocks/>
          </p:cNvCxnSpPr>
          <p:nvPr/>
        </p:nvCxnSpPr>
        <p:spPr>
          <a:xfrm>
            <a:off x="8460712" y="1525524"/>
            <a:ext cx="0" cy="4505033"/>
          </a:xfrm>
          <a:prstGeom prst="line">
            <a:avLst/>
          </a:prstGeom>
          <a:ln w="12700">
            <a:solidFill>
              <a:srgbClr val="B3BECD"/>
            </a:solidFill>
            <a:prstDash val="sysDot"/>
          </a:ln>
        </p:spPr>
        <p:style>
          <a:lnRef idx="1">
            <a:schemeClr val="accent1"/>
          </a:lnRef>
          <a:fillRef idx="0">
            <a:schemeClr val="accent1"/>
          </a:fillRef>
          <a:effectRef idx="0">
            <a:schemeClr val="accent1"/>
          </a:effectRef>
          <a:fontRef idx="minor">
            <a:schemeClr val="tx1"/>
          </a:fontRef>
        </p:style>
      </p:cxnSp>
      <p:sp>
        <p:nvSpPr>
          <p:cNvPr id="30" name="TextBox 14">
            <a:extLst>
              <a:ext uri="{FF2B5EF4-FFF2-40B4-BE49-F238E27FC236}">
                <a16:creationId xmlns:a16="http://schemas.microsoft.com/office/drawing/2014/main" id="{D9EF6390-5FE2-830E-BA6B-5297C426F1C3}"/>
              </a:ext>
            </a:extLst>
          </p:cNvPr>
          <p:cNvSpPr txBox="1">
            <a:spLocks noGrp="1" noRot="1" noMove="1" noResize="1" noEditPoints="1" noAdjustHandles="1" noChangeArrowheads="1" noChangeShapeType="1"/>
          </p:cNvSpPr>
          <p:nvPr/>
        </p:nvSpPr>
        <p:spPr>
          <a:xfrm>
            <a:off x="8581292" y="1420924"/>
            <a:ext cx="1379052" cy="357277"/>
          </a:xfrm>
          <a:prstGeom prst="rect">
            <a:avLst/>
          </a:prstGeom>
          <a:noFill/>
        </p:spPr>
        <p:txBody>
          <a:bodyPr wrap="none" lIns="90000" rtlCol="0" anchor="t">
            <a:spAutoFit/>
          </a:bodyPr>
          <a:lstStyle/>
          <a:p>
            <a:pPr algn="l">
              <a:lnSpc>
                <a:spcPct val="113000"/>
              </a:lnSpc>
            </a:pPr>
            <a:r>
              <a:rPr lang="en-US" sz="1600" noProof="0" dirty="0">
                <a:latin typeface="☞NOIR PRO MEDIUM" pitchFamily="2" charset="0"/>
              </a:rPr>
              <a:t>Terminology</a:t>
            </a:r>
          </a:p>
        </p:txBody>
      </p:sp>
      <p:graphicFrame>
        <p:nvGraphicFramePr>
          <p:cNvPr id="6" name="Table 10">
            <a:extLst>
              <a:ext uri="{FF2B5EF4-FFF2-40B4-BE49-F238E27FC236}">
                <a16:creationId xmlns:a16="http://schemas.microsoft.com/office/drawing/2014/main" id="{5EC81CC7-8162-6B1C-495A-A6286EDF4C96}"/>
              </a:ext>
            </a:extLst>
          </p:cNvPr>
          <p:cNvGraphicFramePr>
            <a:graphicFrameLocks noGrp="1"/>
          </p:cNvGraphicFramePr>
          <p:nvPr>
            <p:extLst>
              <p:ext uri="{D42A27DB-BD31-4B8C-83A1-F6EECF244321}">
                <p14:modId xmlns:p14="http://schemas.microsoft.com/office/powerpoint/2010/main" val="1460280873"/>
              </p:ext>
            </p:extLst>
          </p:nvPr>
        </p:nvGraphicFramePr>
        <p:xfrm>
          <a:off x="154800" y="3881008"/>
          <a:ext cx="8104657" cy="1354800"/>
        </p:xfrm>
        <a:graphic>
          <a:graphicData uri="http://schemas.openxmlformats.org/drawingml/2006/table">
            <a:tbl>
              <a:tblPr firstRow="1" bandRow="1">
                <a:effectLst/>
                <a:tableStyleId>{F2DE63D5-997A-4646-A377-4702673A728D}</a:tableStyleId>
              </a:tblPr>
              <a:tblGrid>
                <a:gridCol w="2065886">
                  <a:extLst>
                    <a:ext uri="{9D8B030D-6E8A-4147-A177-3AD203B41FA5}">
                      <a16:colId xmlns:a16="http://schemas.microsoft.com/office/drawing/2014/main" val="20000"/>
                    </a:ext>
                  </a:extLst>
                </a:gridCol>
                <a:gridCol w="1175657">
                  <a:extLst>
                    <a:ext uri="{9D8B030D-6E8A-4147-A177-3AD203B41FA5}">
                      <a16:colId xmlns:a16="http://schemas.microsoft.com/office/drawing/2014/main" val="14339150"/>
                    </a:ext>
                  </a:extLst>
                </a:gridCol>
                <a:gridCol w="1197428">
                  <a:extLst>
                    <a:ext uri="{9D8B030D-6E8A-4147-A177-3AD203B41FA5}">
                      <a16:colId xmlns:a16="http://schemas.microsoft.com/office/drawing/2014/main" val="2067085742"/>
                    </a:ext>
                  </a:extLst>
                </a:gridCol>
                <a:gridCol w="1230086">
                  <a:extLst>
                    <a:ext uri="{9D8B030D-6E8A-4147-A177-3AD203B41FA5}">
                      <a16:colId xmlns:a16="http://schemas.microsoft.com/office/drawing/2014/main" val="3304719765"/>
                    </a:ext>
                  </a:extLst>
                </a:gridCol>
                <a:gridCol w="1184218">
                  <a:extLst>
                    <a:ext uri="{9D8B030D-6E8A-4147-A177-3AD203B41FA5}">
                      <a16:colId xmlns:a16="http://schemas.microsoft.com/office/drawing/2014/main" val="377289107"/>
                    </a:ext>
                  </a:extLst>
                </a:gridCol>
                <a:gridCol w="1251382">
                  <a:extLst>
                    <a:ext uri="{9D8B030D-6E8A-4147-A177-3AD203B41FA5}">
                      <a16:colId xmlns:a16="http://schemas.microsoft.com/office/drawing/2014/main" val="1699343221"/>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rPr>
                        <a:t>System</a:t>
                      </a:r>
                      <a:endParaRPr lang="en-US" sz="1400" b="0" i="0" noProof="0" dirty="0">
                        <a:solidFill>
                          <a:schemeClr val="tx1"/>
                        </a:solidFill>
                        <a:latin typeface="Noir Pro Medium" pitchFamily="2" charset="0"/>
                        <a:cs typeface="TheSans B4 SemiLight"/>
                      </a:endParaRPr>
                    </a:p>
                  </a:txBody>
                  <a:tcPr marL="216000" marR="108000" marT="72000" marB="72000" anchor="ctr">
                    <a:lnL w="9525" cap="flat" cmpd="sng" algn="ctr">
                      <a:noFill/>
                      <a:prstDash val="soli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bg1"/>
                          </a:solidFill>
                          <a:latin typeface="Noir Pro Medium" pitchFamily="2" charset="0"/>
                          <a:cs typeface="TheSans B4 SemiLight"/>
                        </a:rPr>
                        <a:t>Code </a:t>
                      </a:r>
                      <a:br>
                        <a:rPr lang="en-US" sz="1400" b="0" i="0" noProof="0" dirty="0">
                          <a:solidFill>
                            <a:schemeClr val="bg1"/>
                          </a:solidFill>
                          <a:latin typeface="Noir Pro Medium" pitchFamily="2" charset="0"/>
                          <a:cs typeface="TheSans B4 SemiLight"/>
                        </a:rPr>
                      </a:br>
                      <a:r>
                        <a:rPr lang="en-US" sz="1400" b="0" i="0" noProof="0" dirty="0">
                          <a:solidFill>
                            <a:schemeClr val="bg1"/>
                          </a:solidFill>
                          <a:latin typeface="Noir Pro Medium" pitchFamily="2" charset="0"/>
                          <a:cs typeface="TheSans B4 SemiLight"/>
                        </a:rPr>
                        <a:t>volume</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bg1"/>
                          </a:solidFill>
                          <a:latin typeface="Noir Pro Medium" pitchFamily="2" charset="0"/>
                          <a:cs typeface="TheSans B4 SemiLight"/>
                        </a:rPr>
                        <a:t>Technical debt</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Projected maintenance</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Available capacity</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Innovation capacity</a:t>
                      </a:r>
                    </a:p>
                  </a:txBody>
                  <a:tcPr marL="0" marR="0" marT="72000" marB="72000" anchor="ctr">
                    <a:lnL w="12700" cap="flat" cmpd="sng" algn="ctr">
                      <a:solidFill>
                        <a:schemeClr val="bg1"/>
                      </a:solidFill>
                      <a:prstDash val="solid"/>
                      <a:round/>
                      <a:headEnd type="none" w="med" len="med"/>
                      <a:tailEnd type="none" w="med" len="med"/>
                    </a:lnL>
                    <a:lnR>
                      <a:noFill/>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57C968"/>
                    </a:solidFill>
                  </a:tcPr>
                </a:tc>
                <a:extLst>
                  <a:ext uri="{0D108BD9-81ED-4DB2-BD59-A6C34878D82A}">
                    <a16:rowId xmlns:a16="http://schemas.microsoft.com/office/drawing/2014/main" val="10000"/>
                  </a:ext>
                </a:extLst>
              </a:tr>
              <a:tr h="0">
                <a:tc>
                  <a:txBody>
                    <a:bodyPr/>
                    <a:lstStyle/>
                    <a:p>
                      <a:pPr algn="l"/>
                      <a:r>
                        <a:rPr lang="en-US" sz="1400" b="0" noProof="0" dirty="0" err="1">
                          <a:solidFill>
                            <a:schemeClr val="tx1"/>
                          </a:solidFill>
                        </a:rPr>
                        <a:t>Integrationtest-kafka</a:t>
                      </a:r>
                      <a:endParaRPr lang="en-US" sz="1400" b="0" noProof="0" dirty="0">
                        <a:solidFill>
                          <a:schemeClr val="tx1"/>
                        </a:solidFill>
                      </a:endParaRPr>
                    </a:p>
                  </a:txBody>
                  <a:tcPr marL="216000"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noProof="0" dirty="0" err="1">
                          <a:solidFill>
                            <a:schemeClr val="tx1"/>
                          </a:solidFill>
                        </a:rPr>
                        <a:t>43.0 PY</a:t>
                      </a:r>
                    </a:p>
                  </a:txBody>
                  <a:tcPr marT="72000" marB="72000" anchor="ctr">
                    <a:lnL w="9525" cap="flat" cmpd="sng" algn="ctr">
                      <a:noFill/>
                      <a:prstDash val="solid"/>
                    </a:lnL>
                    <a:lnR w="12700" cap="flat" cmpd="sng" algn="ctr">
                      <a:noFill/>
                      <a:prstDash val="solid"/>
                      <a:round/>
                      <a:headEnd type="none" w="med" len="med"/>
                      <a:tailEnd type="none" w="med" len="med"/>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kern="1200" noProof="0" dirty="0">
                          <a:solidFill>
                            <a:schemeClr val="tx1"/>
                          </a:solidFill>
                          <a:latin typeface="+mn-lt"/>
                          <a:ea typeface="+mn-ea"/>
                          <a:cs typeface="+mn-cs"/>
                        </a:rPr>
                        <a:t>17.3 PY</a:t>
                      </a:r>
                    </a:p>
                  </a:txBody>
                  <a:tcPr marT="72000" marB="72000" anchor="ctr">
                    <a:lnL w="12700" cap="flat" cmpd="sng" algn="ctr">
                      <a:noFill/>
                      <a:prstDash val="solid"/>
                      <a:round/>
                      <a:headEnd type="none" w="med" len="med"/>
                      <a:tailEnd type="none" w="med" len="me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chemeClr val="tx1"/>
                          </a:solidFill>
                          <a:effectLst/>
                          <a:uLnTx/>
                          <a:uFillTx/>
                          <a:latin typeface="+mn-lt"/>
                          <a:ea typeface="+mn-ea"/>
                          <a:cs typeface="+mn-cs"/>
                        </a:rPr>
                        <a:t>6.5 FTE</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rPr>
                        <a:t>@@ FTE</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noProof="0" dirty="0">
                          <a:solidFill>
                            <a:schemeClr val="tx1"/>
                          </a:solidFill>
                        </a:rPr>
                        <a:t>@@ FTE (@@%)</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98F1D6A9-6AA2-B77F-75EA-F5693038D876}"/>
              </a:ext>
            </a:extLst>
          </p:cNvPr>
          <p:cNvSpPr/>
          <p:nvPr/>
        </p:nvSpPr>
        <p:spPr>
          <a:xfrm>
            <a:off x="8202139" y="1711842"/>
            <a:ext cx="3600840" cy="433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tx1">
                  <a:lumMod val="40000"/>
                  <a:lumOff val="60000"/>
                </a:schemeClr>
              </a:buClr>
              <a:buFont typeface="Wingdings" pitchFamily="2" charset="2"/>
              <a:buChar char="§"/>
            </a:pPr>
            <a:endParaRPr lang="en-US" noProof="0" dirty="0">
              <a:solidFill>
                <a:schemeClr val="tx1"/>
              </a:solidFill>
            </a:endParaRPr>
          </a:p>
        </p:txBody>
      </p:sp>
      <p:sp>
        <p:nvSpPr>
          <p:cNvPr id="12" name="Rectangle 51">
            <a:extLst>
              <a:ext uri="{FF2B5EF4-FFF2-40B4-BE49-F238E27FC236}">
                <a16:creationId xmlns:a16="http://schemas.microsoft.com/office/drawing/2014/main" id="{6B7B3571-B154-08F5-EAB8-EDBD315AC933}"/>
              </a:ext>
            </a:extLst>
          </p:cNvPr>
          <p:cNvSpPr>
            <a:spLocks noGrp="1" noRot="1" noMove="1" noResize="1" noEditPoints="1" noAdjustHandles="1" noChangeArrowheads="1" noChangeShapeType="1"/>
          </p:cNvSpPr>
          <p:nvPr/>
        </p:nvSpPr>
        <p:spPr>
          <a:xfrm>
            <a:off x="8581291" y="1762133"/>
            <a:ext cx="3453503" cy="451342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80975"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2"/>
                </a:solidFill>
              </a:rPr>
              <a:t>Code volume </a:t>
            </a:r>
            <a:r>
              <a:rPr lang="en-US" sz="1200" noProof="0" dirty="0">
                <a:solidFill>
                  <a:schemeClr val="tx1"/>
                </a:solidFill>
              </a:rPr>
              <a:t>is the estimated amount of development effort to produce the current amount of lines of code.</a:t>
            </a: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5"/>
                </a:solidFill>
              </a:rPr>
              <a:t>Technical debt</a:t>
            </a:r>
            <a:r>
              <a:rPr lang="en-US" sz="1200" noProof="0" dirty="0">
                <a:solidFill>
                  <a:schemeClr val="accent5"/>
                </a:solidFill>
              </a:rPr>
              <a:t> </a:t>
            </a:r>
            <a:r>
              <a:rPr lang="en-US" sz="1200" noProof="0" dirty="0">
                <a:solidFill>
                  <a:schemeClr val="tx1"/>
                </a:solidFill>
              </a:rPr>
              <a:t>is the estimated amount of development effort to improve the Maintainability of the system to a given target rating (typically 3.5). The recommended target level can be adjusted, depending on the context of the system.</a:t>
            </a:r>
          </a:p>
          <a:p>
            <a:pPr marL="171450" indent="-171450">
              <a:spcAft>
                <a:spcPts val="1200"/>
              </a:spcAft>
              <a:buClr>
                <a:schemeClr val="tx1">
                  <a:lumMod val="40000"/>
                  <a:lumOff val="60000"/>
                </a:schemeClr>
              </a:buClr>
              <a:buFont typeface="Arial" panose="020B0604020202020204" pitchFamily="34" charset="0"/>
              <a:buChar char="•"/>
            </a:pPr>
            <a:r>
              <a:rPr lang="en-US" sz="1200" noProof="0" dirty="0">
                <a:solidFill>
                  <a:schemeClr val="tx1"/>
                </a:solidFill>
              </a:rPr>
              <a:t>The yearly </a:t>
            </a:r>
            <a:r>
              <a:rPr lang="en-US" sz="1200" b="1" noProof="0" dirty="0">
                <a:solidFill>
                  <a:schemeClr val="accent4">
                    <a:lumMod val="75000"/>
                  </a:schemeClr>
                </a:solidFill>
              </a:rPr>
              <a:t>Projected maintenance </a:t>
            </a:r>
            <a:r>
              <a:rPr lang="en-US" sz="1200" noProof="0" dirty="0">
                <a:solidFill>
                  <a:schemeClr val="tx1"/>
                </a:solidFill>
              </a:rPr>
              <a:t>is calculated using the code volume and quality. It assumes an annual 15% required change rate in the code base (where 5% is considered the minimum in an EOL lifecycle phase). </a:t>
            </a:r>
            <a:r>
              <a:rPr lang="en-US" sz="1200" b="1" noProof="0" dirty="0">
                <a:solidFill>
                  <a:schemeClr val="tx1"/>
                </a:solidFill>
              </a:rPr>
              <a:t>Spending less effort is likely to deteriorate the maintainability.</a:t>
            </a:r>
            <a:endParaRPr lang="en-US" sz="1200" b="1" noProof="0" dirty="0">
              <a:solidFill>
                <a:schemeClr val="tx1"/>
              </a:solidFill>
              <a:ea typeface="Calibri"/>
              <a:cs typeface="Calibri"/>
            </a:endParaRP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3"/>
                </a:solidFill>
              </a:rPr>
              <a:t>Available capacity </a:t>
            </a:r>
            <a:r>
              <a:rPr lang="en-US" sz="1200" noProof="0" dirty="0">
                <a:solidFill>
                  <a:schemeClr val="tx1"/>
                </a:solidFill>
              </a:rPr>
              <a:t>is checked based on the number of developers working on the codebase in the past 12 months.</a:t>
            </a: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rgbClr val="57C968"/>
                </a:solidFill>
              </a:rPr>
              <a:t>Innovation capacity </a:t>
            </a:r>
            <a:r>
              <a:rPr lang="en-US" sz="1200" noProof="0" dirty="0">
                <a:solidFill>
                  <a:schemeClr val="tx1"/>
                </a:solidFill>
              </a:rPr>
              <a:t>is the number of FTE available for innovation, calculated by subtracting projected FTE from the available FTE</a:t>
            </a:r>
          </a:p>
          <a:p>
            <a:pPr marL="285750" indent="-285750">
              <a:buClr>
                <a:schemeClr val="tx1">
                  <a:lumMod val="50000"/>
                  <a:lumOff val="50000"/>
                </a:schemeClr>
              </a:buClr>
              <a:buFont typeface=".AppleSystemUIFont"/>
              <a:buChar char="&gt;"/>
            </a:pPr>
            <a:endParaRPr lang="en-US" sz="1400" noProof="0" dirty="0">
              <a:solidFill>
                <a:schemeClr val="bg1">
                  <a:lumMod val="50000"/>
                </a:schemeClr>
              </a:solidFill>
            </a:endParaRPr>
          </a:p>
        </p:txBody>
      </p:sp>
      <p:cxnSp>
        <p:nvCxnSpPr>
          <p:cNvPr id="13" name="Straight Connector 16">
            <a:extLst>
              <a:ext uri="{FF2B5EF4-FFF2-40B4-BE49-F238E27FC236}">
                <a16:creationId xmlns:a16="http://schemas.microsoft.com/office/drawing/2014/main" id="{513C36C2-BD39-7400-5EF7-2B2BE3F51652}"/>
              </a:ext>
            </a:extLst>
          </p:cNvPr>
          <p:cNvCxnSpPr>
            <a:cxnSpLocks noGrp="1" noRot="1" noMove="1" noResize="1" noEditPoints="1" noAdjustHandles="1" noChangeArrowheads="1" noChangeShapeType="1"/>
          </p:cNvCxnSpPr>
          <p:nvPr/>
        </p:nvCxnSpPr>
        <p:spPr>
          <a:xfrm>
            <a:off x="8703278" y="1873108"/>
            <a:ext cx="0" cy="414914"/>
          </a:xfrm>
          <a:prstGeom prst="line">
            <a:avLst/>
          </a:prstGeom>
          <a:ln w="63500" cap="rnd">
            <a:solidFill>
              <a:schemeClr val="accent2"/>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7">
            <a:extLst>
              <a:ext uri="{FF2B5EF4-FFF2-40B4-BE49-F238E27FC236}">
                <a16:creationId xmlns:a16="http://schemas.microsoft.com/office/drawing/2014/main" id="{33E8D316-CE81-857A-9A37-7374096B09B4}"/>
              </a:ext>
            </a:extLst>
          </p:cNvPr>
          <p:cNvCxnSpPr>
            <a:cxnSpLocks noGrp="1" noRot="1" noMove="1" noResize="1" noEditPoints="1" noAdjustHandles="1" noChangeArrowheads="1" noChangeShapeType="1"/>
          </p:cNvCxnSpPr>
          <p:nvPr/>
        </p:nvCxnSpPr>
        <p:spPr>
          <a:xfrm>
            <a:off x="8703278" y="2564969"/>
            <a:ext cx="0" cy="996937"/>
          </a:xfrm>
          <a:prstGeom prst="line">
            <a:avLst/>
          </a:prstGeom>
          <a:ln w="63500" cap="rnd">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8">
            <a:extLst>
              <a:ext uri="{FF2B5EF4-FFF2-40B4-BE49-F238E27FC236}">
                <a16:creationId xmlns:a16="http://schemas.microsoft.com/office/drawing/2014/main" id="{031E0116-E325-3696-9898-7AEA82AA33E7}"/>
              </a:ext>
            </a:extLst>
          </p:cNvPr>
          <p:cNvCxnSpPr>
            <a:cxnSpLocks noGrp="1" noRot="1" noMove="1" noResize="1" noEditPoints="1" noAdjustHandles="1" noChangeArrowheads="1" noChangeShapeType="1"/>
          </p:cNvCxnSpPr>
          <p:nvPr/>
        </p:nvCxnSpPr>
        <p:spPr>
          <a:xfrm>
            <a:off x="8703278" y="3814079"/>
            <a:ext cx="0" cy="972937"/>
          </a:xfrm>
          <a:prstGeom prst="line">
            <a:avLst/>
          </a:prstGeom>
          <a:ln w="63500" cap="rnd">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6">
            <a:extLst>
              <a:ext uri="{FF2B5EF4-FFF2-40B4-BE49-F238E27FC236}">
                <a16:creationId xmlns:a16="http://schemas.microsoft.com/office/drawing/2014/main" id="{F2890E64-F917-1103-3B56-C727E285854F}"/>
              </a:ext>
            </a:extLst>
          </p:cNvPr>
          <p:cNvCxnSpPr>
            <a:cxnSpLocks noGrp="1" noRot="1" noMove="1" noResize="1" noEditPoints="1" noAdjustHandles="1" noChangeArrowheads="1" noChangeShapeType="1"/>
          </p:cNvCxnSpPr>
          <p:nvPr/>
        </p:nvCxnSpPr>
        <p:spPr>
          <a:xfrm>
            <a:off x="8703278" y="5082702"/>
            <a:ext cx="0" cy="414914"/>
          </a:xfrm>
          <a:prstGeom prst="line">
            <a:avLst/>
          </a:prstGeom>
          <a:ln w="63500" cap="rnd">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0578821-521C-DF0B-77D9-5727D80D2434}"/>
              </a:ext>
            </a:extLst>
          </p:cNvPr>
          <p:cNvCxnSpPr>
            <a:cxnSpLocks noGrp="1" noRot="1" noMove="1" noResize="1" noEditPoints="1" noAdjustHandles="1" noChangeArrowheads="1" noChangeShapeType="1"/>
          </p:cNvCxnSpPr>
          <p:nvPr/>
        </p:nvCxnSpPr>
        <p:spPr>
          <a:xfrm>
            <a:off x="8703278" y="5788878"/>
            <a:ext cx="0" cy="414914"/>
          </a:xfrm>
          <a:prstGeom prst="line">
            <a:avLst/>
          </a:prstGeom>
          <a:ln w="63500" cap="rnd">
            <a:solidFill>
              <a:srgbClr val="57C968"/>
            </a:solidFill>
            <a:prstDash val="solid"/>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AB90D459-4420-2DF2-2C1D-808545BAE1C4}"/>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856569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029-494E-D668-93B1-7F49FC34F0BB}"/>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378968FB-3711-3026-1330-401242361C5B}"/>
              </a:ext>
            </a:extLst>
          </p:cNvPr>
          <p:cNvSpPr/>
          <p:nvPr/>
        </p:nvSpPr>
        <p:spPr>
          <a:xfrm>
            <a:off x="3385191" y="1063763"/>
            <a:ext cx="5340638" cy="5340638"/>
          </a:xfrm>
          <a:prstGeom prst="ellipse">
            <a:avLst/>
          </a:prstGeom>
          <a:gradFill>
            <a:gsLst>
              <a:gs pos="0">
                <a:schemeClr val="accent2">
                  <a:alpha val="15073"/>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5" name="Oval 64">
            <a:extLst>
              <a:ext uri="{FF2B5EF4-FFF2-40B4-BE49-F238E27FC236}">
                <a16:creationId xmlns:a16="http://schemas.microsoft.com/office/drawing/2014/main" id="{D589D5F7-9445-B968-24E7-C852C6FE25B8}"/>
              </a:ext>
            </a:extLst>
          </p:cNvPr>
          <p:cNvSpPr/>
          <p:nvPr/>
        </p:nvSpPr>
        <p:spPr>
          <a:xfrm>
            <a:off x="4004388" y="1634792"/>
            <a:ext cx="4180824" cy="4180824"/>
          </a:xfrm>
          <a:prstGeom prst="ellipse">
            <a:avLst/>
          </a:prstGeom>
          <a:gradFill>
            <a:gsLst>
              <a:gs pos="0">
                <a:schemeClr val="accent2">
                  <a:alpha val="20000"/>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3" name="Text Placeholder 62">
            <a:extLst>
              <a:ext uri="{FF2B5EF4-FFF2-40B4-BE49-F238E27FC236}">
                <a16:creationId xmlns:a16="http://schemas.microsoft.com/office/drawing/2014/main" id="{8492BCF5-82F4-DA5D-4789-A5B31042FCD0}"/>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5" name="Tijdelijke aanduiding voor dianummer 4">
            <a:extLst>
              <a:ext uri="{FF2B5EF4-FFF2-40B4-BE49-F238E27FC236}">
                <a16:creationId xmlns:a16="http://schemas.microsoft.com/office/drawing/2014/main" id="{F0CE3D29-F258-C742-2A14-BCF03986DEC9}"/>
              </a:ext>
            </a:extLst>
          </p:cNvPr>
          <p:cNvSpPr>
            <a:spLocks noGrp="1"/>
          </p:cNvSpPr>
          <p:nvPr>
            <p:ph type="sldNum" sz="quarter" idx="15"/>
          </p:nvPr>
        </p:nvSpPr>
        <p:spPr/>
        <p:txBody>
          <a:bodyPr/>
          <a:lstStyle/>
          <a:p>
            <a:fld id="{E242BD21-9B61-2246-BCB1-4BE5E1BEBE1C}" type="slidenum">
              <a:rPr lang="en-US" noProof="0" smtClean="0"/>
              <a:pPr/>
              <a:t>8</a:t>
            </a:fld>
            <a:endParaRPr lang="en-US" noProof="0" dirty="0"/>
          </a:p>
        </p:txBody>
      </p:sp>
      <p:sp>
        <p:nvSpPr>
          <p:cNvPr id="70" name="Title 69">
            <a:extLst>
              <a:ext uri="{FF2B5EF4-FFF2-40B4-BE49-F238E27FC236}">
                <a16:creationId xmlns:a16="http://schemas.microsoft.com/office/drawing/2014/main" id="{FEE2E2EB-95CB-3211-6E1B-4E3530EAF847}"/>
              </a:ext>
            </a:extLst>
          </p:cNvPr>
          <p:cNvSpPr>
            <a:spLocks noGrp="1"/>
          </p:cNvSpPr>
          <p:nvPr>
            <p:ph type="title"/>
          </p:nvPr>
        </p:nvSpPr>
        <p:spPr/>
        <p:txBody>
          <a:bodyPr/>
          <a:lstStyle/>
          <a:p>
            <a:r>
              <a:rPr lang="en-US" noProof="0" dirty="0"/>
              <a:t>Explanation: The ISO 25010 standard for Maintainability has 5 sub-characteristics</a:t>
            </a:r>
          </a:p>
        </p:txBody>
      </p:sp>
      <p:sp>
        <p:nvSpPr>
          <p:cNvPr id="8" name="Oval 7">
            <a:extLst>
              <a:ext uri="{FF2B5EF4-FFF2-40B4-BE49-F238E27FC236}">
                <a16:creationId xmlns:a16="http://schemas.microsoft.com/office/drawing/2014/main" id="{2BBBE6C2-E269-6739-DCEE-23464110F405}"/>
              </a:ext>
            </a:extLst>
          </p:cNvPr>
          <p:cNvSpPr/>
          <p:nvPr/>
        </p:nvSpPr>
        <p:spPr>
          <a:xfrm>
            <a:off x="4673297" y="2304400"/>
            <a:ext cx="2849490" cy="2849490"/>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9" name="Oval 8">
            <a:extLst>
              <a:ext uri="{FF2B5EF4-FFF2-40B4-BE49-F238E27FC236}">
                <a16:creationId xmlns:a16="http://schemas.microsoft.com/office/drawing/2014/main" id="{6FA26AD2-CD18-09AA-6259-47A153EFE58B}"/>
              </a:ext>
            </a:extLst>
          </p:cNvPr>
          <p:cNvSpPr/>
          <p:nvPr/>
        </p:nvSpPr>
        <p:spPr>
          <a:xfrm>
            <a:off x="5029556" y="2660659"/>
            <a:ext cx="2136972" cy="2136972"/>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0" name="Oval 9">
            <a:extLst>
              <a:ext uri="{FF2B5EF4-FFF2-40B4-BE49-F238E27FC236}">
                <a16:creationId xmlns:a16="http://schemas.microsoft.com/office/drawing/2014/main" id="{DFAF19FF-BA37-4380-8088-C15619A977BB}"/>
              </a:ext>
            </a:extLst>
          </p:cNvPr>
          <p:cNvSpPr/>
          <p:nvPr/>
        </p:nvSpPr>
        <p:spPr>
          <a:xfrm>
            <a:off x="5326438" y="2957541"/>
            <a:ext cx="1543208" cy="1543208"/>
          </a:xfrm>
          <a:prstGeom prst="ellipse">
            <a:avLst/>
          </a:prstGeom>
          <a:gradFill>
            <a:gsLst>
              <a:gs pos="9000">
                <a:schemeClr val="accent2"/>
              </a:gs>
              <a:gs pos="50000">
                <a:schemeClr val="accent2">
                  <a:alpha val="15753"/>
                </a:schemeClr>
              </a:gs>
            </a:gsLst>
            <a:lin ang="2700000" scaled="0"/>
          </a:gradFill>
          <a:ln w="12700">
            <a:solidFill>
              <a:schemeClr val="accent2">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18" name="Oval 17">
            <a:extLst>
              <a:ext uri="{FF2B5EF4-FFF2-40B4-BE49-F238E27FC236}">
                <a16:creationId xmlns:a16="http://schemas.microsoft.com/office/drawing/2014/main" id="{D307C4FC-5D3C-8B82-ABE5-E660625B78E4}"/>
              </a:ext>
            </a:extLst>
          </p:cNvPr>
          <p:cNvSpPr/>
          <p:nvPr/>
        </p:nvSpPr>
        <p:spPr>
          <a:xfrm>
            <a:off x="5568436" y="2929751"/>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0" name="Oval 19">
            <a:extLst>
              <a:ext uri="{FF2B5EF4-FFF2-40B4-BE49-F238E27FC236}">
                <a16:creationId xmlns:a16="http://schemas.microsoft.com/office/drawing/2014/main" id="{73E6D6D2-88F4-7BC7-6A46-956C025FCA17}"/>
              </a:ext>
            </a:extLst>
          </p:cNvPr>
          <p:cNvSpPr/>
          <p:nvPr/>
        </p:nvSpPr>
        <p:spPr>
          <a:xfrm>
            <a:off x="6273956" y="2796588"/>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3" name="Oval 22">
            <a:extLst>
              <a:ext uri="{FF2B5EF4-FFF2-40B4-BE49-F238E27FC236}">
                <a16:creationId xmlns:a16="http://schemas.microsoft.com/office/drawing/2014/main" id="{CB747E2F-C70D-5244-BE82-8BC4127DBA7A}"/>
              </a:ext>
            </a:extLst>
          </p:cNvPr>
          <p:cNvSpPr/>
          <p:nvPr/>
        </p:nvSpPr>
        <p:spPr>
          <a:xfrm>
            <a:off x="5366019" y="4285002"/>
            <a:ext cx="53706" cy="537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4" name="Oval 23">
            <a:extLst>
              <a:ext uri="{FF2B5EF4-FFF2-40B4-BE49-F238E27FC236}">
                <a16:creationId xmlns:a16="http://schemas.microsoft.com/office/drawing/2014/main" id="{2E0BE4FB-999C-BF27-B8A7-24066A3BA8E6}"/>
              </a:ext>
            </a:extLst>
          </p:cNvPr>
          <p:cNvSpPr/>
          <p:nvPr/>
        </p:nvSpPr>
        <p:spPr>
          <a:xfrm>
            <a:off x="6782160" y="4192256"/>
            <a:ext cx="125744" cy="1257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6" name="Oval 25">
            <a:extLst>
              <a:ext uri="{FF2B5EF4-FFF2-40B4-BE49-F238E27FC236}">
                <a16:creationId xmlns:a16="http://schemas.microsoft.com/office/drawing/2014/main" id="{28056860-5CC6-F621-9AF7-D77ECA38E4A9}"/>
              </a:ext>
            </a:extLst>
          </p:cNvPr>
          <p:cNvSpPr/>
          <p:nvPr/>
        </p:nvSpPr>
        <p:spPr>
          <a:xfrm>
            <a:off x="5869449" y="4879641"/>
            <a:ext cx="64650" cy="646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7" name="Oval 26">
            <a:extLst>
              <a:ext uri="{FF2B5EF4-FFF2-40B4-BE49-F238E27FC236}">
                <a16:creationId xmlns:a16="http://schemas.microsoft.com/office/drawing/2014/main" id="{B1D96119-A37F-9FA6-9D63-881C9E5767A1}"/>
              </a:ext>
            </a:extLst>
          </p:cNvPr>
          <p:cNvSpPr/>
          <p:nvPr/>
        </p:nvSpPr>
        <p:spPr>
          <a:xfrm>
            <a:off x="6914740" y="4575176"/>
            <a:ext cx="114710" cy="114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0" name="Arc 29">
            <a:extLst>
              <a:ext uri="{FF2B5EF4-FFF2-40B4-BE49-F238E27FC236}">
                <a16:creationId xmlns:a16="http://schemas.microsoft.com/office/drawing/2014/main" id="{14CEDFBA-98DB-3774-1CF7-DBB1D4C2DAFF}"/>
              </a:ext>
            </a:extLst>
          </p:cNvPr>
          <p:cNvSpPr/>
          <p:nvPr/>
        </p:nvSpPr>
        <p:spPr>
          <a:xfrm>
            <a:off x="4854843" y="2491915"/>
            <a:ext cx="2499248" cy="2476634"/>
          </a:xfrm>
          <a:prstGeom prst="arc">
            <a:avLst>
              <a:gd name="adj1" fmla="val 17025432"/>
              <a:gd name="adj2" fmla="val 2774786"/>
            </a:avLst>
          </a:prstGeom>
          <a:ln w="9525">
            <a:gradFill>
              <a:gsLst>
                <a:gs pos="0">
                  <a:schemeClr val="accent4">
                    <a:alpha val="50179"/>
                  </a:schemeClr>
                </a:gs>
                <a:gs pos="99000">
                  <a:schemeClr val="accent4">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32" name="Straight Connector 31">
            <a:extLst>
              <a:ext uri="{FF2B5EF4-FFF2-40B4-BE49-F238E27FC236}">
                <a16:creationId xmlns:a16="http://schemas.microsoft.com/office/drawing/2014/main" id="{D50F3A37-B10B-6BF3-08EA-55E6FC5DEEC4}"/>
              </a:ext>
            </a:extLst>
          </p:cNvPr>
          <p:cNvCxnSpPr>
            <a:cxnSpLocks/>
          </p:cNvCxnSpPr>
          <p:nvPr/>
        </p:nvCxnSpPr>
        <p:spPr>
          <a:xfrm flipH="1">
            <a:off x="6308248" y="2534585"/>
            <a:ext cx="87026" cy="323621"/>
          </a:xfrm>
          <a:prstGeom prst="line">
            <a:avLst/>
          </a:prstGeom>
          <a:ln w="9525">
            <a:solidFill>
              <a:schemeClr val="accent4">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E941E86-D981-FF71-D949-E2216C1311D3}"/>
              </a:ext>
            </a:extLst>
          </p:cNvPr>
          <p:cNvSpPr/>
          <p:nvPr/>
        </p:nvSpPr>
        <p:spPr>
          <a:xfrm>
            <a:off x="6357959" y="2486875"/>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8" name="Oval 27">
            <a:extLst>
              <a:ext uri="{FF2B5EF4-FFF2-40B4-BE49-F238E27FC236}">
                <a16:creationId xmlns:a16="http://schemas.microsoft.com/office/drawing/2014/main" id="{A0731FB3-842F-CE4C-6A7D-C66BFBA979CB}"/>
              </a:ext>
            </a:extLst>
          </p:cNvPr>
          <p:cNvSpPr/>
          <p:nvPr/>
        </p:nvSpPr>
        <p:spPr>
          <a:xfrm>
            <a:off x="7254794" y="3280294"/>
            <a:ext cx="45720" cy="45720"/>
          </a:xfrm>
          <a:prstGeom prst="ellipse">
            <a:avLst/>
          </a:prstGeom>
          <a:solidFill>
            <a:srgbClr val="E98C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4" name="Oval 43">
            <a:extLst>
              <a:ext uri="{FF2B5EF4-FFF2-40B4-BE49-F238E27FC236}">
                <a16:creationId xmlns:a16="http://schemas.microsoft.com/office/drawing/2014/main" id="{E0BBCB73-C7CC-EF8D-3A7C-FC0B4B1C56A1}"/>
              </a:ext>
            </a:extLst>
          </p:cNvPr>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21" name="Oval 20">
            <a:extLst>
              <a:ext uri="{FF2B5EF4-FFF2-40B4-BE49-F238E27FC236}">
                <a16:creationId xmlns:a16="http://schemas.microsoft.com/office/drawing/2014/main" id="{5E15D319-A4BF-BADF-EA8F-108D5DB2E930}"/>
              </a:ext>
            </a:extLst>
          </p:cNvPr>
          <p:cNvSpPr/>
          <p:nvPr/>
        </p:nvSpPr>
        <p:spPr>
          <a:xfrm>
            <a:off x="4827909" y="3511470"/>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48" name="Straight Connector 47">
            <a:extLst>
              <a:ext uri="{FF2B5EF4-FFF2-40B4-BE49-F238E27FC236}">
                <a16:creationId xmlns:a16="http://schemas.microsoft.com/office/drawing/2014/main" id="{63B8DC8C-B95F-EDCF-F8D6-2F12C41BCD78}"/>
              </a:ext>
            </a:extLst>
          </p:cNvPr>
          <p:cNvCxnSpPr>
            <a:cxnSpLocks/>
          </p:cNvCxnSpPr>
          <p:nvPr/>
        </p:nvCxnSpPr>
        <p:spPr>
          <a:xfrm>
            <a:off x="6096000" y="4363444"/>
            <a:ext cx="0" cy="263379"/>
          </a:xfrm>
          <a:prstGeom prst="line">
            <a:avLst/>
          </a:prstGeom>
          <a:ln w="9525">
            <a:solidFill>
              <a:schemeClr val="accent2">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FB75F26-044E-8FDB-8FC7-48A801F00A33}"/>
              </a:ext>
            </a:extLst>
          </p:cNvPr>
          <p:cNvSpPr/>
          <p:nvPr/>
        </p:nvSpPr>
        <p:spPr>
          <a:xfrm>
            <a:off x="6060913" y="4603426"/>
            <a:ext cx="70174" cy="70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51" name="Oval 50">
            <a:extLst>
              <a:ext uri="{FF2B5EF4-FFF2-40B4-BE49-F238E27FC236}">
                <a16:creationId xmlns:a16="http://schemas.microsoft.com/office/drawing/2014/main" id="{9BC0DD81-BAF5-A5D9-3061-E49E7A4ED10C}"/>
              </a:ext>
            </a:extLst>
          </p:cNvPr>
          <p:cNvSpPr/>
          <p:nvPr/>
        </p:nvSpPr>
        <p:spPr>
          <a:xfrm>
            <a:off x="6040908" y="4313883"/>
            <a:ext cx="112242" cy="1122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Content Placeholder 70">
            <a:extLst>
              <a:ext uri="{FF2B5EF4-FFF2-40B4-BE49-F238E27FC236}">
                <a16:creationId xmlns:a16="http://schemas.microsoft.com/office/drawing/2014/main" id="{E6055D41-C03E-E248-ACEE-166CE141D420}"/>
              </a:ext>
            </a:extLst>
          </p:cNvPr>
          <p:cNvSpPr txBox="1">
            <a:spLocks/>
          </p:cNvSpPr>
          <p:nvPr/>
        </p:nvSpPr>
        <p:spPr>
          <a:xfrm>
            <a:off x="8399369" y="1411200"/>
            <a:ext cx="3399054" cy="4842000"/>
          </a:xfrm>
          <a:prstGeom prst="rect">
            <a:avLst/>
          </a:prstGeom>
        </p:spPr>
        <p:txBody>
          <a:bodyPr vert="horz" lIns="216000" tIns="0" rIns="91440" bIns="27432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50000"/>
              </a:lnSpc>
            </a:pPr>
            <a:r>
              <a:rPr lang="en-US" sz="1400" noProof="0" dirty="0">
                <a:solidFill>
                  <a:schemeClr val="accent3"/>
                </a:solidFill>
                <a:latin typeface="Azeret Mono" pitchFamily="2" charset="77"/>
                <a:cs typeface="Azeret Mono" pitchFamily="2" charset="77"/>
              </a:rPr>
              <a:t>Maintainability is the </a:t>
            </a:r>
            <a:r>
              <a:rPr lang="en-US" sz="1400" noProof="0" dirty="0">
                <a:latin typeface="Azeret Mono" pitchFamily="2" charset="77"/>
                <a:cs typeface="Azeret Mono" pitchFamily="2" charset="77"/>
              </a:rPr>
              <a:t>degree of effectiveness and efficiency</a:t>
            </a:r>
            <a:r>
              <a:rPr lang="en-US" sz="1400" noProof="0" dirty="0">
                <a:solidFill>
                  <a:schemeClr val="accent3"/>
                </a:solidFill>
                <a:latin typeface="Azeret Mono" pitchFamily="2" charset="77"/>
                <a:cs typeface="Azeret Mono" pitchFamily="2" charset="77"/>
              </a:rPr>
              <a:t> with which a product or system </a:t>
            </a:r>
            <a:r>
              <a:rPr lang="en-US" sz="1400" noProof="0" dirty="0">
                <a:latin typeface="Azeret Mono" pitchFamily="2" charset="77"/>
                <a:cs typeface="Azeret Mono" pitchFamily="2" charset="77"/>
              </a:rPr>
              <a:t>can be modified</a:t>
            </a:r>
            <a:r>
              <a:rPr lang="en-US" sz="1400" noProof="0" dirty="0">
                <a:solidFill>
                  <a:schemeClr val="accent3"/>
                </a:solidFill>
                <a:latin typeface="Azeret Mono" pitchFamily="2" charset="77"/>
                <a:cs typeface="Azeret Mono" pitchFamily="2" charset="77"/>
              </a:rPr>
              <a:t> to improve it, correct it or adapt it to changes in environment, and in requirements.</a:t>
            </a:r>
          </a:p>
        </p:txBody>
      </p:sp>
      <p:sp>
        <p:nvSpPr>
          <p:cNvPr id="78" name="Arc 77">
            <a:extLst>
              <a:ext uri="{FF2B5EF4-FFF2-40B4-BE49-F238E27FC236}">
                <a16:creationId xmlns:a16="http://schemas.microsoft.com/office/drawing/2014/main" id="{7CA71824-DE20-DA21-5CC7-3D536499FC0C}"/>
              </a:ext>
            </a:extLst>
          </p:cNvPr>
          <p:cNvSpPr/>
          <p:nvPr/>
        </p:nvSpPr>
        <p:spPr>
          <a:xfrm>
            <a:off x="4403883" y="2031167"/>
            <a:ext cx="3381834" cy="3405830"/>
          </a:xfrm>
          <a:prstGeom prst="arc">
            <a:avLst>
              <a:gd name="adj1" fmla="val 20386561"/>
              <a:gd name="adj2" fmla="val 13132678"/>
            </a:avLst>
          </a:prstGeom>
          <a:ln w="12700">
            <a:gradFill>
              <a:gsLst>
                <a:gs pos="98000">
                  <a:schemeClr val="bg1">
                    <a:alpha val="0"/>
                  </a:schemeClr>
                </a:gs>
                <a:gs pos="68000">
                  <a:schemeClr val="bg1">
                    <a:alpha val="29485"/>
                  </a:schemeClr>
                </a:gs>
                <a:gs pos="8000">
                  <a:schemeClr val="accent4"/>
                </a:gs>
                <a:gs pos="18000">
                  <a:schemeClr val="accent4">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79" name="Graphic 78">
            <a:extLst>
              <a:ext uri="{FF2B5EF4-FFF2-40B4-BE49-F238E27FC236}">
                <a16:creationId xmlns:a16="http://schemas.microsoft.com/office/drawing/2014/main" id="{DB38BDF3-5B3D-61AB-2CFF-AC99F2B0D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8177" y="5298575"/>
            <a:ext cx="433246" cy="288828"/>
          </a:xfrm>
          <a:prstGeom prst="rect">
            <a:avLst/>
          </a:prstGeom>
          <a:effectLst/>
        </p:spPr>
      </p:pic>
      <p:grpSp>
        <p:nvGrpSpPr>
          <p:cNvPr id="2" name="Groep 1">
            <a:extLst>
              <a:ext uri="{FF2B5EF4-FFF2-40B4-BE49-F238E27FC236}">
                <a16:creationId xmlns:a16="http://schemas.microsoft.com/office/drawing/2014/main" id="{7CC85480-4E9F-88F0-82A3-297861B80249}"/>
              </a:ext>
            </a:extLst>
          </p:cNvPr>
          <p:cNvGrpSpPr/>
          <p:nvPr/>
        </p:nvGrpSpPr>
        <p:grpSpPr>
          <a:xfrm>
            <a:off x="5727023" y="3352101"/>
            <a:ext cx="750242" cy="750242"/>
            <a:chOff x="5933559" y="1864863"/>
            <a:chExt cx="328966" cy="328966"/>
          </a:xfrm>
        </p:grpSpPr>
        <p:sp>
          <p:nvSpPr>
            <p:cNvPr id="97" name="Oval 96">
              <a:extLst>
                <a:ext uri="{FF2B5EF4-FFF2-40B4-BE49-F238E27FC236}">
                  <a16:creationId xmlns:a16="http://schemas.microsoft.com/office/drawing/2014/main" id="{5EBEB883-B167-9258-9B3C-2408558E83C0}"/>
                </a:ext>
              </a:extLst>
            </p:cNvPr>
            <p:cNvSpPr/>
            <p:nvPr/>
          </p:nvSpPr>
          <p:spPr>
            <a:xfrm>
              <a:off x="5933559" y="1864863"/>
              <a:ext cx="328966" cy="32896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98" name="Graphic 97">
              <a:extLst>
                <a:ext uri="{FF2B5EF4-FFF2-40B4-BE49-F238E27FC236}">
                  <a16:creationId xmlns:a16="http://schemas.microsoft.com/office/drawing/2014/main" id="{A1F63EEE-282A-49B8-7F1F-6C06CA2642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605" y="1902449"/>
              <a:ext cx="247724" cy="245928"/>
            </a:xfrm>
            <a:prstGeom prst="rect">
              <a:avLst/>
            </a:prstGeom>
          </p:spPr>
        </p:pic>
      </p:grpSp>
      <p:sp>
        <p:nvSpPr>
          <p:cNvPr id="99" name="Arc 98">
            <a:extLst>
              <a:ext uri="{FF2B5EF4-FFF2-40B4-BE49-F238E27FC236}">
                <a16:creationId xmlns:a16="http://schemas.microsoft.com/office/drawing/2014/main" id="{BC3F6D0B-39A8-7839-4108-79110D4A7C29}"/>
              </a:ext>
            </a:extLst>
          </p:cNvPr>
          <p:cNvSpPr/>
          <p:nvPr/>
        </p:nvSpPr>
        <p:spPr>
          <a:xfrm>
            <a:off x="5176684" y="2825556"/>
            <a:ext cx="1850921" cy="1820186"/>
          </a:xfrm>
          <a:prstGeom prst="arc">
            <a:avLst>
              <a:gd name="adj1" fmla="val 5508426"/>
              <a:gd name="adj2" fmla="val 14121050"/>
            </a:avLst>
          </a:prstGeom>
          <a:ln w="9525">
            <a:gradFill>
              <a:gsLst>
                <a:gs pos="0">
                  <a:schemeClr val="accent2">
                    <a:alpha val="90000"/>
                  </a:schemeClr>
                </a:gs>
                <a:gs pos="99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1" name="Oval 43">
            <a:extLst>
              <a:ext uri="{FF2B5EF4-FFF2-40B4-BE49-F238E27FC236}">
                <a16:creationId xmlns:a16="http://schemas.microsoft.com/office/drawing/2014/main" id="{FC31513E-AADB-57EA-8918-A3D07FEEF498}"/>
              </a:ext>
            </a:extLst>
          </p:cNvPr>
          <p:cNvSpPr/>
          <p:nvPr/>
        </p:nvSpPr>
        <p:spPr>
          <a:xfrm>
            <a:off x="5569297" y="3200400"/>
            <a:ext cx="1057490" cy="1057490"/>
          </a:xfrm>
          <a:prstGeom prst="ellipse">
            <a:avLst/>
          </a:prstGeom>
          <a:gradFill>
            <a:gsLst>
              <a:gs pos="21000">
                <a:schemeClr val="tx2">
                  <a:alpha val="0"/>
                </a:schemeClr>
              </a:gs>
              <a:gs pos="55000">
                <a:schemeClr val="accent1">
                  <a:alpha val="47523"/>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7" name="Tekstvak 6">
            <a:extLst>
              <a:ext uri="{FF2B5EF4-FFF2-40B4-BE49-F238E27FC236}">
                <a16:creationId xmlns:a16="http://schemas.microsoft.com/office/drawing/2014/main" id="{DDA7093A-1B01-B016-708F-AB00927B2C3C}"/>
              </a:ext>
            </a:extLst>
          </p:cNvPr>
          <p:cNvSpPr txBox="1"/>
          <p:nvPr/>
        </p:nvSpPr>
        <p:spPr>
          <a:xfrm>
            <a:off x="381216" y="2467036"/>
            <a:ext cx="3118311" cy="357277"/>
          </a:xfrm>
          <a:prstGeom prst="rect">
            <a:avLst/>
          </a:prstGeom>
          <a:noFill/>
        </p:spPr>
        <p:txBody>
          <a:bodyPr wrap="none" lIns="90000" rtlCol="0" anchor="t">
            <a:spAutoFit/>
          </a:bodyPr>
          <a:lstStyle/>
          <a:p>
            <a:pPr algn="r">
              <a:lnSpc>
                <a:spcPct val="113000"/>
              </a:lnSpc>
            </a:pPr>
            <a:r>
              <a:rPr lang="en-US" sz="1600" noProof="0" dirty="0">
                <a:solidFill>
                  <a:schemeClr val="accent2"/>
                </a:solidFill>
                <a:effectLst>
                  <a:outerShdw blurRad="229337" sx="102000" sy="102000" algn="ctr" rotWithShape="0">
                    <a:schemeClr val="accent2">
                      <a:alpha val="20000"/>
                    </a:schemeClr>
                  </a:outerShdw>
                </a:effectLst>
                <a:latin typeface="☞NOIR PRO MEDIUM" pitchFamily="2" charset="0"/>
              </a:rPr>
              <a:t>ISO 25010 sub-characteristics</a:t>
            </a:r>
          </a:p>
        </p:txBody>
      </p:sp>
      <p:sp>
        <p:nvSpPr>
          <p:cNvPr id="12" name="Boog 11">
            <a:extLst>
              <a:ext uri="{FF2B5EF4-FFF2-40B4-BE49-F238E27FC236}">
                <a16:creationId xmlns:a16="http://schemas.microsoft.com/office/drawing/2014/main" id="{9C79D787-D6AD-4F8F-4E1E-93558DDEBC19}"/>
              </a:ext>
            </a:extLst>
          </p:cNvPr>
          <p:cNvSpPr>
            <a:spLocks noChangeAspect="1"/>
          </p:cNvSpPr>
          <p:nvPr/>
        </p:nvSpPr>
        <p:spPr>
          <a:xfrm>
            <a:off x="3385191" y="1063763"/>
            <a:ext cx="5342400" cy="5342400"/>
          </a:xfrm>
          <a:prstGeom prst="arc">
            <a:avLst>
              <a:gd name="adj1" fmla="val 8378942"/>
              <a:gd name="adj2" fmla="val 12416581"/>
            </a:avLst>
          </a:prstGeom>
          <a:ln w="12700">
            <a:gradFill>
              <a:gsLst>
                <a:gs pos="83000">
                  <a:schemeClr val="accent2"/>
                </a:gs>
                <a:gs pos="16000">
                  <a:srgbClr val="1763FF"/>
                </a:gs>
                <a:gs pos="0">
                  <a:srgbClr val="1763FF">
                    <a:alpha val="0"/>
                  </a:srgbClr>
                </a:gs>
                <a:gs pos="100000">
                  <a:schemeClr val="accent2">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 name="Ovaal 12">
            <a:extLst>
              <a:ext uri="{FF2B5EF4-FFF2-40B4-BE49-F238E27FC236}">
                <a16:creationId xmlns:a16="http://schemas.microsoft.com/office/drawing/2014/main" id="{7370D5DE-BDC4-C35E-9C2E-91716BD02B09}"/>
              </a:ext>
            </a:extLst>
          </p:cNvPr>
          <p:cNvSpPr/>
          <p:nvPr/>
        </p:nvSpPr>
        <p:spPr>
          <a:xfrm>
            <a:off x="3385191" y="3111240"/>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 name="Ovaal 13">
            <a:extLst>
              <a:ext uri="{FF2B5EF4-FFF2-40B4-BE49-F238E27FC236}">
                <a16:creationId xmlns:a16="http://schemas.microsoft.com/office/drawing/2014/main" id="{05F72ED1-5264-5B67-3E36-3014750C4C2F}"/>
              </a:ext>
            </a:extLst>
          </p:cNvPr>
          <p:cNvSpPr/>
          <p:nvPr/>
        </p:nvSpPr>
        <p:spPr>
          <a:xfrm>
            <a:off x="3323073" y="359028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 name="Ovaal 14">
            <a:extLst>
              <a:ext uri="{FF2B5EF4-FFF2-40B4-BE49-F238E27FC236}">
                <a16:creationId xmlns:a16="http://schemas.microsoft.com/office/drawing/2014/main" id="{D527CEC1-161B-AAA5-0623-23D5400DE1FD}"/>
              </a:ext>
            </a:extLst>
          </p:cNvPr>
          <p:cNvSpPr/>
          <p:nvPr/>
        </p:nvSpPr>
        <p:spPr>
          <a:xfrm>
            <a:off x="3364103" y="4093669"/>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Ovaal 16">
            <a:extLst>
              <a:ext uri="{FF2B5EF4-FFF2-40B4-BE49-F238E27FC236}">
                <a16:creationId xmlns:a16="http://schemas.microsoft.com/office/drawing/2014/main" id="{76D1A933-8CFE-0DCE-2D90-AA32A2AEAE8A}"/>
              </a:ext>
            </a:extLst>
          </p:cNvPr>
          <p:cNvSpPr/>
          <p:nvPr/>
        </p:nvSpPr>
        <p:spPr>
          <a:xfrm>
            <a:off x="3496656" y="4588574"/>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Ovaal 18">
            <a:extLst>
              <a:ext uri="{FF2B5EF4-FFF2-40B4-BE49-F238E27FC236}">
                <a16:creationId xmlns:a16="http://schemas.microsoft.com/office/drawing/2014/main" id="{018CDC19-0EC4-9F41-5100-944A5A79A3FA}"/>
              </a:ext>
            </a:extLst>
          </p:cNvPr>
          <p:cNvSpPr/>
          <p:nvPr/>
        </p:nvSpPr>
        <p:spPr>
          <a:xfrm>
            <a:off x="3728666" y="508934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5" name="Tekstvak 24">
            <a:extLst>
              <a:ext uri="{FF2B5EF4-FFF2-40B4-BE49-F238E27FC236}">
                <a16:creationId xmlns:a16="http://schemas.microsoft.com/office/drawing/2014/main" id="{411E51BD-8E0A-61AA-F8D8-E2C22B791EE6}"/>
              </a:ext>
            </a:extLst>
          </p:cNvPr>
          <p:cNvSpPr txBox="1"/>
          <p:nvPr/>
        </p:nvSpPr>
        <p:spPr>
          <a:xfrm>
            <a:off x="1897130" y="2957541"/>
            <a:ext cx="1430348"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Analyzability</a:t>
            </a:r>
          </a:p>
        </p:txBody>
      </p:sp>
      <p:sp>
        <p:nvSpPr>
          <p:cNvPr id="29" name="Tekstvak 28">
            <a:extLst>
              <a:ext uri="{FF2B5EF4-FFF2-40B4-BE49-F238E27FC236}">
                <a16:creationId xmlns:a16="http://schemas.microsoft.com/office/drawing/2014/main" id="{6A376295-9E29-C7D4-23E5-9B1234CB0463}"/>
              </a:ext>
            </a:extLst>
          </p:cNvPr>
          <p:cNvSpPr txBox="1"/>
          <p:nvPr/>
        </p:nvSpPr>
        <p:spPr>
          <a:xfrm>
            <a:off x="1875926" y="3456782"/>
            <a:ext cx="1395083"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Modifiability</a:t>
            </a:r>
          </a:p>
        </p:txBody>
      </p:sp>
      <p:sp>
        <p:nvSpPr>
          <p:cNvPr id="31" name="Tekstvak 30">
            <a:extLst>
              <a:ext uri="{FF2B5EF4-FFF2-40B4-BE49-F238E27FC236}">
                <a16:creationId xmlns:a16="http://schemas.microsoft.com/office/drawing/2014/main" id="{1D693990-F9F5-6A3F-373A-F98CAD402E8F}"/>
              </a:ext>
            </a:extLst>
          </p:cNvPr>
          <p:cNvSpPr txBox="1"/>
          <p:nvPr/>
        </p:nvSpPr>
        <p:spPr>
          <a:xfrm>
            <a:off x="2119163" y="3956023"/>
            <a:ext cx="1191501"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Testability</a:t>
            </a:r>
          </a:p>
        </p:txBody>
      </p:sp>
      <p:sp>
        <p:nvSpPr>
          <p:cNvPr id="33" name="Tekstvak 32">
            <a:extLst>
              <a:ext uri="{FF2B5EF4-FFF2-40B4-BE49-F238E27FC236}">
                <a16:creationId xmlns:a16="http://schemas.microsoft.com/office/drawing/2014/main" id="{2093B8B8-8C79-64C9-64E5-517C5AA9AA30}"/>
              </a:ext>
            </a:extLst>
          </p:cNvPr>
          <p:cNvSpPr txBox="1"/>
          <p:nvPr/>
        </p:nvSpPr>
        <p:spPr>
          <a:xfrm>
            <a:off x="2177515" y="4455264"/>
            <a:ext cx="1236385"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Modularity</a:t>
            </a:r>
          </a:p>
        </p:txBody>
      </p:sp>
      <p:sp>
        <p:nvSpPr>
          <p:cNvPr id="34" name="Tekstvak 33">
            <a:extLst>
              <a:ext uri="{FF2B5EF4-FFF2-40B4-BE49-F238E27FC236}">
                <a16:creationId xmlns:a16="http://schemas.microsoft.com/office/drawing/2014/main" id="{1C9C562C-B3AC-5C48-5694-72B1C7FF5D8F}"/>
              </a:ext>
            </a:extLst>
          </p:cNvPr>
          <p:cNvSpPr txBox="1"/>
          <p:nvPr/>
        </p:nvSpPr>
        <p:spPr>
          <a:xfrm>
            <a:off x="2387522" y="4954505"/>
            <a:ext cx="1247606"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Reusability</a:t>
            </a:r>
          </a:p>
        </p:txBody>
      </p:sp>
      <p:sp>
        <p:nvSpPr>
          <p:cNvPr id="35" name="TextBox 41">
            <a:extLst>
              <a:ext uri="{FF2B5EF4-FFF2-40B4-BE49-F238E27FC236}">
                <a16:creationId xmlns:a16="http://schemas.microsoft.com/office/drawing/2014/main" id="{206057EE-BF64-9DF8-554C-8935F9D2B966}"/>
              </a:ext>
            </a:extLst>
          </p:cNvPr>
          <p:cNvSpPr txBox="1"/>
          <p:nvPr/>
        </p:nvSpPr>
        <p:spPr>
          <a:xfrm rot="4314380">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noProof="0" dirty="0">
                <a:gradFill>
                  <a:gsLst>
                    <a:gs pos="26000">
                      <a:srgbClr val="E98C36"/>
                    </a:gs>
                    <a:gs pos="67000">
                      <a:schemeClr val="accent4"/>
                    </a:gs>
                  </a:gsLst>
                  <a:lin ang="9600000" scaled="0"/>
                </a:gradFill>
                <a:latin typeface="Noir Pro Semi Bold" pitchFamily="2" charset="0"/>
              </a:rPr>
              <a:t>ISO 25010       Maintainability</a:t>
            </a:r>
          </a:p>
        </p:txBody>
      </p:sp>
      <p:pic>
        <p:nvPicPr>
          <p:cNvPr id="36" name="Graphic 35">
            <a:extLst>
              <a:ext uri="{FF2B5EF4-FFF2-40B4-BE49-F238E27FC236}">
                <a16:creationId xmlns:a16="http://schemas.microsoft.com/office/drawing/2014/main" id="{C6AEC9BC-2562-04CA-C1D9-0C7137DF20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6764" y="1826081"/>
            <a:ext cx="393006" cy="333158"/>
          </a:xfrm>
          <a:prstGeom prst="rect">
            <a:avLst/>
          </a:prstGeom>
        </p:spPr>
      </p:pic>
      <p:sp>
        <p:nvSpPr>
          <p:cNvPr id="6" name="Footer Placeholder 4">
            <a:extLst>
              <a:ext uri="{FF2B5EF4-FFF2-40B4-BE49-F238E27FC236}">
                <a16:creationId xmlns:a16="http://schemas.microsoft.com/office/drawing/2014/main" id="{CEDCB514-EEAB-921C-29E3-76B18FF54E18}"/>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418998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1D5E-A2B9-C328-B774-190AA227CD4A}"/>
            </a:ext>
          </a:extLst>
        </p:cNvPr>
        <p:cNvGrpSpPr/>
        <p:nvPr/>
      </p:nvGrpSpPr>
      <p:grpSpPr>
        <a:xfrm>
          <a:off x="0" y="0"/>
          <a:ext cx="0" cy="0"/>
          <a:chOff x="0" y="0"/>
          <a:chExt cx="0" cy="0"/>
        </a:xfrm>
      </p:grpSpPr>
      <p:graphicFrame>
        <p:nvGraphicFramePr>
          <p:cNvPr id="20" name="Tabel 19">
            <a:extLst>
              <a:ext uri="{FF2B5EF4-FFF2-40B4-BE49-F238E27FC236}">
                <a16:creationId xmlns:a16="http://schemas.microsoft.com/office/drawing/2014/main" id="{4348BD50-B7D4-1657-172B-FF11CBC247D8}"/>
              </a:ext>
            </a:extLst>
          </p:cNvPr>
          <p:cNvGraphicFramePr>
            <a:graphicFrameLocks noGrp="1"/>
          </p:cNvGraphicFramePr>
          <p:nvPr/>
        </p:nvGraphicFramePr>
        <p:xfrm>
          <a:off x="154798" y="2717216"/>
          <a:ext cx="11880000" cy="2340000"/>
        </p:xfrm>
        <a:graphic>
          <a:graphicData uri="http://schemas.openxmlformats.org/drawingml/2006/table">
            <a:tbl>
              <a:tblPr>
                <a:tableStyleId>{5C22544A-7EE6-4342-B048-85BDC9FD1C3A}</a:tableStyleId>
              </a:tblPr>
              <a:tblGrid>
                <a:gridCol w="11880000">
                  <a:extLst>
                    <a:ext uri="{9D8B030D-6E8A-4147-A177-3AD203B41FA5}">
                      <a16:colId xmlns:a16="http://schemas.microsoft.com/office/drawing/2014/main" val="946129596"/>
                    </a:ext>
                  </a:extLst>
                </a:gridCol>
              </a:tblGrid>
              <a:tr h="468000">
                <a:tc>
                  <a:txBody>
                    <a:bodyPr/>
                    <a:lstStyle/>
                    <a:p>
                      <a:pPr>
                        <a:lnSpc>
                          <a:spcPct val="90000"/>
                        </a:lnSpc>
                      </a:pPr>
                      <a:r>
                        <a:rPr lang="en-US" sz="1200" b="0" i="0" noProof="0" dirty="0">
                          <a:solidFill>
                            <a:schemeClr val="bg1"/>
                          </a:solidFill>
                          <a:latin typeface="☞NOIR PRO MEDIUM" pitchFamily="2" charset="0"/>
                        </a:rPr>
                        <a:t>Analyzability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691436511"/>
                  </a:ext>
                </a:extLst>
              </a:tr>
              <a:tr h="468000">
                <a:tc>
                  <a:txBody>
                    <a:bodyPr/>
                    <a:lstStyle/>
                    <a:p>
                      <a:pPr>
                        <a:lnSpc>
                          <a:spcPct val="90000"/>
                        </a:lnSpc>
                      </a:pPr>
                      <a:r>
                        <a:rPr lang="en-US" sz="1200" b="0" i="0" noProof="0" dirty="0">
                          <a:solidFill>
                            <a:schemeClr val="bg1"/>
                          </a:solidFill>
                          <a:latin typeface="☞NOIR PRO MEDIUM" pitchFamily="2" charset="0"/>
                        </a:rPr>
                        <a:t>Modifiability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026125709"/>
                  </a:ext>
                </a:extLst>
              </a:tr>
              <a:tr h="468000">
                <a:tc>
                  <a:txBody>
                    <a:bodyPr/>
                    <a:lstStyle/>
                    <a:p>
                      <a:pPr>
                        <a:lnSpc>
                          <a:spcPct val="90000"/>
                        </a:lnSpc>
                      </a:pPr>
                      <a:r>
                        <a:rPr lang="en-US" sz="1200" b="0" i="0" noProof="0" dirty="0">
                          <a:solidFill>
                            <a:schemeClr val="bg1"/>
                          </a:solidFill>
                          <a:latin typeface="☞NOIR PRO MEDIUM" pitchFamily="2" charset="0"/>
                        </a:rPr>
                        <a:t>Testability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328417789"/>
                  </a:ext>
                </a:extLst>
              </a:tr>
              <a:tr h="468000">
                <a:tc>
                  <a:txBody>
                    <a:bodyPr/>
                    <a:lstStyle/>
                    <a:p>
                      <a:pPr>
                        <a:lnSpc>
                          <a:spcPct val="90000"/>
                        </a:lnSpc>
                      </a:pPr>
                      <a:r>
                        <a:rPr lang="en-US" sz="1200" b="0" i="0" noProof="0" dirty="0">
                          <a:solidFill>
                            <a:schemeClr val="bg1"/>
                          </a:solidFill>
                          <a:latin typeface="☞NOIR PRO MEDIUM" pitchFamily="2" charset="0"/>
                        </a:rPr>
                        <a:t>Modularity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1500965361"/>
                  </a:ext>
                </a:extLst>
              </a:tr>
              <a:tr h="468000">
                <a:tc>
                  <a:txBody>
                    <a:bodyPr/>
                    <a:lstStyle/>
                    <a:p>
                      <a:pPr>
                        <a:lnSpc>
                          <a:spcPct val="90000"/>
                        </a:lnSpc>
                      </a:pPr>
                      <a:r>
                        <a:rPr lang="en-US" sz="1200" b="0" i="0" noProof="0" dirty="0">
                          <a:solidFill>
                            <a:schemeClr val="bg1"/>
                          </a:solidFill>
                          <a:latin typeface="☞NOIR PRO MEDIUM" pitchFamily="2" charset="0"/>
                        </a:rPr>
                        <a:t>Reusability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2866552359"/>
                  </a:ext>
                </a:extLst>
              </a:tr>
            </a:tbl>
          </a:graphicData>
        </a:graphic>
      </p:graphicFrame>
      <p:sp>
        <p:nvSpPr>
          <p:cNvPr id="2" name="Afgeronde rechthoek 1">
            <a:extLst>
              <a:ext uri="{FF2B5EF4-FFF2-40B4-BE49-F238E27FC236}">
                <a16:creationId xmlns:a16="http://schemas.microsoft.com/office/drawing/2014/main" id="{B727BF5E-99B6-49EF-E4BA-CF8DCB737B80}"/>
              </a:ext>
            </a:extLst>
          </p:cNvPr>
          <p:cNvSpPr>
            <a:spLocks/>
          </p:cNvSpPr>
          <p:nvPr/>
        </p:nvSpPr>
        <p:spPr>
          <a:xfrm>
            <a:off x="2404922" y="2119302"/>
            <a:ext cx="9173128" cy="3422188"/>
          </a:xfrm>
          <a:prstGeom prst="roundRect">
            <a:avLst>
              <a:gd name="adj" fmla="val 4344"/>
            </a:avLst>
          </a:prstGeom>
          <a:gradFill>
            <a:gsLst>
              <a:gs pos="0">
                <a:srgbClr val="1763FF">
                  <a:alpha val="26798"/>
                </a:srgbClr>
              </a:gs>
              <a:gs pos="7000">
                <a:schemeClr val="accent2">
                  <a:alpha val="9069"/>
                </a:schemeClr>
              </a:gs>
              <a:gs pos="42000">
                <a:schemeClr val="accent2">
                  <a:alpha val="0"/>
                </a:schemeClr>
              </a:gs>
            </a:gsLst>
            <a:lin ang="4200000" scaled="0"/>
          </a:gradFill>
          <a:ln w="9525">
            <a:gradFill>
              <a:gsLst>
                <a:gs pos="0">
                  <a:schemeClr val="accent3">
                    <a:alpha val="34000"/>
                  </a:schemeClr>
                </a:gs>
                <a:gs pos="23000">
                  <a:schemeClr val="accent3">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0" name="Text Placeholder 169">
            <a:extLst>
              <a:ext uri="{FF2B5EF4-FFF2-40B4-BE49-F238E27FC236}">
                <a16:creationId xmlns:a16="http://schemas.microsoft.com/office/drawing/2014/main" id="{8A7018F4-6ACE-298D-AE34-CBEDCC026F34}"/>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Slide Number Placeholder 3">
            <a:extLst>
              <a:ext uri="{FF2B5EF4-FFF2-40B4-BE49-F238E27FC236}">
                <a16:creationId xmlns:a16="http://schemas.microsoft.com/office/drawing/2014/main" id="{F62980CA-BB04-6BB3-C0C8-A9D4C2BCC14F}"/>
              </a:ext>
            </a:extLst>
          </p:cNvPr>
          <p:cNvSpPr>
            <a:spLocks noGrp="1"/>
          </p:cNvSpPr>
          <p:nvPr>
            <p:ph type="sldNum" sz="quarter" idx="15"/>
          </p:nvPr>
        </p:nvSpPr>
        <p:spPr/>
        <p:txBody>
          <a:bodyPr/>
          <a:lstStyle/>
          <a:p>
            <a:fld id="{E242BD21-9B61-2246-BCB1-4BE5E1BEBE1C}" type="slidenum">
              <a:rPr lang="en-US" noProof="0" smtClean="0"/>
              <a:pPr/>
              <a:t>9</a:t>
            </a:fld>
            <a:endParaRPr lang="en-US" noProof="0" dirty="0"/>
          </a:p>
        </p:txBody>
      </p:sp>
      <p:sp>
        <p:nvSpPr>
          <p:cNvPr id="169" name="Title 168">
            <a:extLst>
              <a:ext uri="{FF2B5EF4-FFF2-40B4-BE49-F238E27FC236}">
                <a16:creationId xmlns:a16="http://schemas.microsoft.com/office/drawing/2014/main" id="{BC78F56D-3B9B-285C-51D5-D64BCFD4ED90}"/>
              </a:ext>
            </a:extLst>
          </p:cNvPr>
          <p:cNvSpPr>
            <a:spLocks noGrp="1"/>
          </p:cNvSpPr>
          <p:nvPr>
            <p:ph type="title"/>
          </p:nvPr>
        </p:nvSpPr>
        <p:spPr/>
        <p:txBody>
          <a:bodyPr/>
          <a:lstStyle/>
          <a:p>
            <a:r>
              <a:rPr lang="en-US" noProof="0" dirty="0"/>
              <a:t>The SIG/</a:t>
            </a:r>
            <a:r>
              <a:rPr lang="en-US" noProof="0" dirty="0" err="1"/>
              <a:t>TÜViT</a:t>
            </a:r>
            <a:r>
              <a:rPr lang="en-US" noProof="0" dirty="0"/>
              <a:t> model maps the sub-characteristics to the system properties</a:t>
            </a:r>
          </a:p>
        </p:txBody>
      </p:sp>
      <p:grpSp>
        <p:nvGrpSpPr>
          <p:cNvPr id="16" name="Groep 15">
            <a:extLst>
              <a:ext uri="{FF2B5EF4-FFF2-40B4-BE49-F238E27FC236}">
                <a16:creationId xmlns:a16="http://schemas.microsoft.com/office/drawing/2014/main" id="{2EB7272D-F604-D956-AAE5-B2981212C033}"/>
              </a:ext>
            </a:extLst>
          </p:cNvPr>
          <p:cNvGrpSpPr/>
          <p:nvPr/>
        </p:nvGrpSpPr>
        <p:grpSpPr>
          <a:xfrm>
            <a:off x="3955803" y="2780488"/>
            <a:ext cx="1487734" cy="339865"/>
            <a:chOff x="3955803" y="2830273"/>
            <a:chExt cx="1487734" cy="339865"/>
          </a:xfrm>
        </p:grpSpPr>
        <p:grpSp>
          <p:nvGrpSpPr>
            <p:cNvPr id="23" name="Groep 22">
              <a:extLst>
                <a:ext uri="{FF2B5EF4-FFF2-40B4-BE49-F238E27FC236}">
                  <a16:creationId xmlns:a16="http://schemas.microsoft.com/office/drawing/2014/main" id="{10F67CCC-4965-E170-13FB-4DE08A2FB12B}"/>
                </a:ext>
              </a:extLst>
            </p:cNvPr>
            <p:cNvGrpSpPr/>
            <p:nvPr/>
          </p:nvGrpSpPr>
          <p:grpSpPr>
            <a:xfrm>
              <a:off x="4065156" y="2918313"/>
              <a:ext cx="1287688" cy="157941"/>
              <a:chOff x="4307640" y="2702807"/>
              <a:chExt cx="1287688" cy="157941"/>
            </a:xfrm>
          </p:grpSpPr>
          <p:sp>
            <p:nvSpPr>
              <p:cNvPr id="11" name="Ovaal 10">
                <a:extLst>
                  <a:ext uri="{FF2B5EF4-FFF2-40B4-BE49-F238E27FC236}">
                    <a16:creationId xmlns:a16="http://schemas.microsoft.com/office/drawing/2014/main" id="{B27E223E-7F96-98A3-1BCE-3C7E3476061A}"/>
                  </a:ext>
                </a:extLst>
              </p:cNvPr>
              <p:cNvSpPr/>
              <p:nvPr/>
            </p:nvSpPr>
            <p:spPr>
              <a:xfrm>
                <a:off x="4307640"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2" name="Ovaal 11">
                <a:extLst>
                  <a:ext uri="{FF2B5EF4-FFF2-40B4-BE49-F238E27FC236}">
                    <a16:creationId xmlns:a16="http://schemas.microsoft.com/office/drawing/2014/main" id="{0490248B-B552-3119-224F-718F14ACB6C5}"/>
                  </a:ext>
                </a:extLst>
              </p:cNvPr>
              <p:cNvSpPr/>
              <p:nvPr/>
            </p:nvSpPr>
            <p:spPr>
              <a:xfrm>
                <a:off x="5437387"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5" name="Afgeronde rechthoek 4">
              <a:extLst>
                <a:ext uri="{FF2B5EF4-FFF2-40B4-BE49-F238E27FC236}">
                  <a16:creationId xmlns:a16="http://schemas.microsoft.com/office/drawing/2014/main" id="{C0978B86-C287-03A1-FB46-4DAE9843BB13}"/>
                </a:ext>
              </a:extLst>
            </p:cNvPr>
            <p:cNvSpPr/>
            <p:nvPr/>
          </p:nvSpPr>
          <p:spPr>
            <a:xfrm>
              <a:off x="3955803" y="2830273"/>
              <a:ext cx="1487734"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15" name="Groep 14">
            <a:extLst>
              <a:ext uri="{FF2B5EF4-FFF2-40B4-BE49-F238E27FC236}">
                <a16:creationId xmlns:a16="http://schemas.microsoft.com/office/drawing/2014/main" id="{6D345AE2-E02E-D32F-9CBD-7FC86770FA07}"/>
              </a:ext>
            </a:extLst>
          </p:cNvPr>
          <p:cNvGrpSpPr/>
          <p:nvPr/>
        </p:nvGrpSpPr>
        <p:grpSpPr>
          <a:xfrm>
            <a:off x="3955803" y="3249198"/>
            <a:ext cx="5018263" cy="339865"/>
            <a:chOff x="3955803" y="3291298"/>
            <a:chExt cx="5018263" cy="339865"/>
          </a:xfrm>
        </p:grpSpPr>
        <p:grpSp>
          <p:nvGrpSpPr>
            <p:cNvPr id="22" name="Groep 21">
              <a:extLst>
                <a:ext uri="{FF2B5EF4-FFF2-40B4-BE49-F238E27FC236}">
                  <a16:creationId xmlns:a16="http://schemas.microsoft.com/office/drawing/2014/main" id="{1BF8A6A9-6A5F-3E6F-8302-59A7894DA250}"/>
                </a:ext>
              </a:extLst>
            </p:cNvPr>
            <p:cNvGrpSpPr/>
            <p:nvPr/>
          </p:nvGrpSpPr>
          <p:grpSpPr>
            <a:xfrm>
              <a:off x="4065156" y="3376902"/>
              <a:ext cx="4813858" cy="157941"/>
              <a:chOff x="4307640" y="3166426"/>
              <a:chExt cx="4813858" cy="157941"/>
            </a:xfrm>
          </p:grpSpPr>
          <p:sp>
            <p:nvSpPr>
              <p:cNvPr id="30" name="Ovaal 29">
                <a:extLst>
                  <a:ext uri="{FF2B5EF4-FFF2-40B4-BE49-F238E27FC236}">
                    <a16:creationId xmlns:a16="http://schemas.microsoft.com/office/drawing/2014/main" id="{A1A0F8C2-9323-45A0-6442-CD6CF9F3DC4F}"/>
                  </a:ext>
                </a:extLst>
              </p:cNvPr>
              <p:cNvSpPr/>
              <p:nvPr/>
            </p:nvSpPr>
            <p:spPr>
              <a:xfrm>
                <a:off x="4307640"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1" name="Ovaal 30">
                <a:extLst>
                  <a:ext uri="{FF2B5EF4-FFF2-40B4-BE49-F238E27FC236}">
                    <a16:creationId xmlns:a16="http://schemas.microsoft.com/office/drawing/2014/main" id="{5D327F0B-D25F-E912-D40A-438F2DD37A48}"/>
                  </a:ext>
                </a:extLst>
              </p:cNvPr>
              <p:cNvSpPr/>
              <p:nvPr/>
            </p:nvSpPr>
            <p:spPr>
              <a:xfrm>
                <a:off x="6596940"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Ovaal 31">
                <a:extLst>
                  <a:ext uri="{FF2B5EF4-FFF2-40B4-BE49-F238E27FC236}">
                    <a16:creationId xmlns:a16="http://schemas.microsoft.com/office/drawing/2014/main" id="{BAEEFB57-DC37-56B7-9F13-3DEE86B7E6F4}"/>
                  </a:ext>
                </a:extLst>
              </p:cNvPr>
              <p:cNvSpPr/>
              <p:nvPr/>
            </p:nvSpPr>
            <p:spPr>
              <a:xfrm>
                <a:off x="8963557"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9" name="Afgeronde rechthoek 8">
              <a:extLst>
                <a:ext uri="{FF2B5EF4-FFF2-40B4-BE49-F238E27FC236}">
                  <a16:creationId xmlns:a16="http://schemas.microsoft.com/office/drawing/2014/main" id="{DBAC85F2-D462-26C2-8480-06B8112AEB41}"/>
                </a:ext>
              </a:extLst>
            </p:cNvPr>
            <p:cNvSpPr/>
            <p:nvPr/>
          </p:nvSpPr>
          <p:spPr>
            <a:xfrm>
              <a:off x="3955803" y="3291298"/>
              <a:ext cx="5018263"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8" name="Groep 7">
            <a:extLst>
              <a:ext uri="{FF2B5EF4-FFF2-40B4-BE49-F238E27FC236}">
                <a16:creationId xmlns:a16="http://schemas.microsoft.com/office/drawing/2014/main" id="{24A25421-1B5F-3753-AFD8-FEDCF2499C6D}"/>
              </a:ext>
            </a:extLst>
          </p:cNvPr>
          <p:cNvGrpSpPr/>
          <p:nvPr/>
        </p:nvGrpSpPr>
        <p:grpSpPr>
          <a:xfrm>
            <a:off x="6096000" y="3717908"/>
            <a:ext cx="5168112" cy="339865"/>
            <a:chOff x="6096000" y="3744528"/>
            <a:chExt cx="5168112" cy="339865"/>
          </a:xfrm>
        </p:grpSpPr>
        <p:grpSp>
          <p:nvGrpSpPr>
            <p:cNvPr id="24" name="Groep 23">
              <a:extLst>
                <a:ext uri="{FF2B5EF4-FFF2-40B4-BE49-F238E27FC236}">
                  <a16:creationId xmlns:a16="http://schemas.microsoft.com/office/drawing/2014/main" id="{34C2642E-BD9E-B164-9B50-9F6044701472}"/>
                </a:ext>
              </a:extLst>
            </p:cNvPr>
            <p:cNvGrpSpPr/>
            <p:nvPr/>
          </p:nvGrpSpPr>
          <p:grpSpPr>
            <a:xfrm>
              <a:off x="6368262" y="3835491"/>
              <a:ext cx="4797653" cy="157941"/>
              <a:chOff x="6610746" y="3796856"/>
              <a:chExt cx="4797653" cy="157941"/>
            </a:xfrm>
          </p:grpSpPr>
          <p:sp>
            <p:nvSpPr>
              <p:cNvPr id="34" name="Ovaal 33">
                <a:extLst>
                  <a:ext uri="{FF2B5EF4-FFF2-40B4-BE49-F238E27FC236}">
                    <a16:creationId xmlns:a16="http://schemas.microsoft.com/office/drawing/2014/main" id="{5C7E45C1-1A48-CBA8-888A-1A6A9F926F5C}"/>
                  </a:ext>
                </a:extLst>
              </p:cNvPr>
              <p:cNvSpPr/>
              <p:nvPr/>
            </p:nvSpPr>
            <p:spPr>
              <a:xfrm>
                <a:off x="6610746"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5" name="Ovaal 34">
                <a:extLst>
                  <a:ext uri="{FF2B5EF4-FFF2-40B4-BE49-F238E27FC236}">
                    <a16:creationId xmlns:a16="http://schemas.microsoft.com/office/drawing/2014/main" id="{D04F3E43-6E0B-8BCD-7228-E5FF88C02653}"/>
                  </a:ext>
                </a:extLst>
              </p:cNvPr>
              <p:cNvSpPr/>
              <p:nvPr/>
            </p:nvSpPr>
            <p:spPr>
              <a:xfrm>
                <a:off x="11250458"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13" name="Afgeronde rechthoek 12">
              <a:extLst>
                <a:ext uri="{FF2B5EF4-FFF2-40B4-BE49-F238E27FC236}">
                  <a16:creationId xmlns:a16="http://schemas.microsoft.com/office/drawing/2014/main" id="{0FED46CD-0272-D4D6-12BE-438AFB4120B1}"/>
                </a:ext>
              </a:extLst>
            </p:cNvPr>
            <p:cNvSpPr/>
            <p:nvPr/>
          </p:nvSpPr>
          <p:spPr>
            <a:xfrm>
              <a:off x="6096000" y="3744528"/>
              <a:ext cx="5168112"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7" name="Groep 6">
            <a:extLst>
              <a:ext uri="{FF2B5EF4-FFF2-40B4-BE49-F238E27FC236}">
                <a16:creationId xmlns:a16="http://schemas.microsoft.com/office/drawing/2014/main" id="{5E3456A8-CC1F-BB43-8D8C-7D6557414C9D}"/>
              </a:ext>
            </a:extLst>
          </p:cNvPr>
          <p:cNvGrpSpPr/>
          <p:nvPr/>
        </p:nvGrpSpPr>
        <p:grpSpPr>
          <a:xfrm>
            <a:off x="8601834" y="4186618"/>
            <a:ext cx="2662278" cy="339865"/>
            <a:chOff x="8601834" y="4197760"/>
            <a:chExt cx="2662278" cy="339865"/>
          </a:xfrm>
        </p:grpSpPr>
        <p:grpSp>
          <p:nvGrpSpPr>
            <p:cNvPr id="25" name="Groep 24">
              <a:extLst>
                <a:ext uri="{FF2B5EF4-FFF2-40B4-BE49-F238E27FC236}">
                  <a16:creationId xmlns:a16="http://schemas.microsoft.com/office/drawing/2014/main" id="{1A7CBC52-328C-B2D0-C7F6-04728E853D42}"/>
                </a:ext>
              </a:extLst>
            </p:cNvPr>
            <p:cNvGrpSpPr/>
            <p:nvPr/>
          </p:nvGrpSpPr>
          <p:grpSpPr>
            <a:xfrm>
              <a:off x="8708612" y="4294080"/>
              <a:ext cx="2457303" cy="157941"/>
              <a:chOff x="8951096" y="4294237"/>
              <a:chExt cx="2457303" cy="157941"/>
            </a:xfrm>
          </p:grpSpPr>
          <p:sp>
            <p:nvSpPr>
              <p:cNvPr id="36" name="Ovaal 35">
                <a:extLst>
                  <a:ext uri="{FF2B5EF4-FFF2-40B4-BE49-F238E27FC236}">
                    <a16:creationId xmlns:a16="http://schemas.microsoft.com/office/drawing/2014/main" id="{4334F243-08B2-6786-25B4-FF32DB399AA8}"/>
                  </a:ext>
                </a:extLst>
              </p:cNvPr>
              <p:cNvSpPr/>
              <p:nvPr/>
            </p:nvSpPr>
            <p:spPr>
              <a:xfrm>
                <a:off x="11250458"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7" name="Ovaal 36">
                <a:extLst>
                  <a:ext uri="{FF2B5EF4-FFF2-40B4-BE49-F238E27FC236}">
                    <a16:creationId xmlns:a16="http://schemas.microsoft.com/office/drawing/2014/main" id="{9E687F8D-E767-F317-E2C8-5013133A3E6C}"/>
                  </a:ext>
                </a:extLst>
              </p:cNvPr>
              <p:cNvSpPr/>
              <p:nvPr/>
            </p:nvSpPr>
            <p:spPr>
              <a:xfrm>
                <a:off x="10152377"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8" name="Ovaal 37">
                <a:extLst>
                  <a:ext uri="{FF2B5EF4-FFF2-40B4-BE49-F238E27FC236}">
                    <a16:creationId xmlns:a16="http://schemas.microsoft.com/office/drawing/2014/main" id="{36312CC0-E81D-1F88-7500-78BCB99C111F}"/>
                  </a:ext>
                </a:extLst>
              </p:cNvPr>
              <p:cNvSpPr/>
              <p:nvPr/>
            </p:nvSpPr>
            <p:spPr>
              <a:xfrm>
                <a:off x="8951096"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14" name="Afgeronde rechthoek 13">
              <a:extLst>
                <a:ext uri="{FF2B5EF4-FFF2-40B4-BE49-F238E27FC236}">
                  <a16:creationId xmlns:a16="http://schemas.microsoft.com/office/drawing/2014/main" id="{0C28EA2C-ADB2-610A-9843-B711D6BF6AD7}"/>
                </a:ext>
              </a:extLst>
            </p:cNvPr>
            <p:cNvSpPr/>
            <p:nvPr/>
          </p:nvSpPr>
          <p:spPr>
            <a:xfrm>
              <a:off x="8601834" y="4197760"/>
              <a:ext cx="2662278"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6" name="Groep 5">
            <a:extLst>
              <a:ext uri="{FF2B5EF4-FFF2-40B4-BE49-F238E27FC236}">
                <a16:creationId xmlns:a16="http://schemas.microsoft.com/office/drawing/2014/main" id="{1F44224B-F24D-C427-53AD-5E37EBAF3383}"/>
              </a:ext>
            </a:extLst>
          </p:cNvPr>
          <p:cNvGrpSpPr/>
          <p:nvPr/>
        </p:nvGrpSpPr>
        <p:grpSpPr>
          <a:xfrm>
            <a:off x="5089890" y="4655327"/>
            <a:ext cx="2759384" cy="339865"/>
            <a:chOff x="5089890" y="4658783"/>
            <a:chExt cx="2759384" cy="339865"/>
          </a:xfrm>
        </p:grpSpPr>
        <p:grpSp>
          <p:nvGrpSpPr>
            <p:cNvPr id="26" name="Groep 25">
              <a:extLst>
                <a:ext uri="{FF2B5EF4-FFF2-40B4-BE49-F238E27FC236}">
                  <a16:creationId xmlns:a16="http://schemas.microsoft.com/office/drawing/2014/main" id="{580DDB05-E7F6-E9B6-6EB5-93816E666A05}"/>
                </a:ext>
              </a:extLst>
            </p:cNvPr>
            <p:cNvGrpSpPr/>
            <p:nvPr/>
          </p:nvGrpSpPr>
          <p:grpSpPr>
            <a:xfrm>
              <a:off x="5194635" y="4752669"/>
              <a:ext cx="2555987" cy="157941"/>
              <a:chOff x="5437119" y="4812269"/>
              <a:chExt cx="2555987" cy="157941"/>
            </a:xfrm>
          </p:grpSpPr>
          <p:sp>
            <p:nvSpPr>
              <p:cNvPr id="39" name="Ovaal 38">
                <a:extLst>
                  <a:ext uri="{FF2B5EF4-FFF2-40B4-BE49-F238E27FC236}">
                    <a16:creationId xmlns:a16="http://schemas.microsoft.com/office/drawing/2014/main" id="{50BA0F96-2A00-CE63-9D2F-2D16A95C2D15}"/>
                  </a:ext>
                </a:extLst>
              </p:cNvPr>
              <p:cNvSpPr/>
              <p:nvPr/>
            </p:nvSpPr>
            <p:spPr>
              <a:xfrm>
                <a:off x="7835165" y="481226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0" name="Ovaal 39">
                <a:extLst>
                  <a:ext uri="{FF2B5EF4-FFF2-40B4-BE49-F238E27FC236}">
                    <a16:creationId xmlns:a16="http://schemas.microsoft.com/office/drawing/2014/main" id="{CE1D0E13-4B48-1770-693F-792379748CC8}"/>
                  </a:ext>
                </a:extLst>
              </p:cNvPr>
              <p:cNvSpPr/>
              <p:nvPr/>
            </p:nvSpPr>
            <p:spPr>
              <a:xfrm>
                <a:off x="5437119" y="481226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27" name="Afgeronde rechthoek 26">
              <a:extLst>
                <a:ext uri="{FF2B5EF4-FFF2-40B4-BE49-F238E27FC236}">
                  <a16:creationId xmlns:a16="http://schemas.microsoft.com/office/drawing/2014/main" id="{70808160-862B-ECE4-6A3E-5050F5A9C883}"/>
                </a:ext>
              </a:extLst>
            </p:cNvPr>
            <p:cNvSpPr/>
            <p:nvPr/>
          </p:nvSpPr>
          <p:spPr>
            <a:xfrm>
              <a:off x="5089890" y="4658783"/>
              <a:ext cx="2759384"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44" name="Text Placeholder 169">
            <a:extLst>
              <a:ext uri="{FF2B5EF4-FFF2-40B4-BE49-F238E27FC236}">
                <a16:creationId xmlns:a16="http://schemas.microsoft.com/office/drawing/2014/main" id="{1AB1CC70-BC7D-E198-3D05-AE50FFA71C7D}"/>
              </a:ext>
            </a:extLst>
          </p:cNvPr>
          <p:cNvSpPr txBox="1"/>
          <p:nvPr/>
        </p:nvSpPr>
        <p:spPr>
          <a:xfrm>
            <a:off x="154798" y="1481773"/>
            <a:ext cx="2831161"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spc="0" noProof="0" dirty="0">
                <a:gradFill>
                  <a:gsLst>
                    <a:gs pos="100000">
                      <a:srgbClr val="EC9232"/>
                    </a:gs>
                    <a:gs pos="24000">
                      <a:srgbClr val="F9C716"/>
                    </a:gs>
                  </a:gsLst>
                  <a:lin ang="3600000" scaled="0"/>
                </a:gradFill>
                <a:latin typeface="Noir Pro Semi Bold" pitchFamily="2" charset="0"/>
              </a:rPr>
              <a:t>Maintainability</a:t>
            </a:r>
          </a:p>
        </p:txBody>
      </p:sp>
      <p:sp>
        <p:nvSpPr>
          <p:cNvPr id="46" name="Tekstvak 45">
            <a:extLst>
              <a:ext uri="{FF2B5EF4-FFF2-40B4-BE49-F238E27FC236}">
                <a16:creationId xmlns:a16="http://schemas.microsoft.com/office/drawing/2014/main" id="{A31936F0-9E5C-E499-ABD8-64AAF5C184BD}"/>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chemeClr val="accent2">
              <a:lumMod val="75000"/>
            </a:schemeClr>
          </a:solidFill>
          <a:effectLst>
            <a:outerShdw blurRad="286568" dist="101276" dir="16200000" rotWithShape="0">
              <a:prstClr val="black">
                <a:alpha val="15439"/>
              </a:prstClr>
            </a:outerShdw>
          </a:effectLst>
        </p:spPr>
        <p:txBody>
          <a:bodyPr wrap="square" lIns="720000" tIns="234000" rIns="0" bIns="108000" rtlCol="0" anchor="t">
            <a:noAutofit/>
          </a:bodyPr>
          <a:lstStyle/>
          <a:p>
            <a:pPr>
              <a:lnSpc>
                <a:spcPct val="80000"/>
              </a:lnSpc>
            </a:pPr>
            <a:r>
              <a:rPr lang="en-US" sz="1400" noProof="0" dirty="0">
                <a:solidFill>
                  <a:schemeClr val="bg1"/>
                </a:solidFill>
                <a:latin typeface="☞NOIR PRO MEDIUM" pitchFamily="2" charset="0"/>
              </a:rPr>
              <a:t>25010</a:t>
            </a:r>
          </a:p>
        </p:txBody>
      </p:sp>
      <p:sp>
        <p:nvSpPr>
          <p:cNvPr id="19" name="TextBox 121">
            <a:extLst>
              <a:ext uri="{FF2B5EF4-FFF2-40B4-BE49-F238E27FC236}">
                <a16:creationId xmlns:a16="http://schemas.microsoft.com/office/drawing/2014/main" id="{ABDAF8EC-3B95-C9D7-0FE9-71A7721CFF9D}"/>
              </a:ext>
            </a:extLst>
          </p:cNvPr>
          <p:cNvSpPr txBox="1"/>
          <p:nvPr/>
        </p:nvSpPr>
        <p:spPr>
          <a:xfrm>
            <a:off x="1738994" y="2111134"/>
            <a:ext cx="10295804" cy="631068"/>
          </a:xfrm>
          <a:prstGeom prst="roundRect">
            <a:avLst>
              <a:gd name="adj" fmla="val 26823"/>
            </a:avLst>
          </a:prstGeom>
          <a:solidFill>
            <a:schemeClr val="accent2"/>
          </a:solidFill>
          <a:effectLst>
            <a:outerShdw blurRad="286568" dist="101276" dir="16200000" rotWithShape="0">
              <a:prstClr val="black">
                <a:alpha val="15439"/>
              </a:prstClr>
            </a:outerShdw>
          </a:effectLst>
        </p:spPr>
        <p:txBody>
          <a:bodyPr wrap="square" lIns="648000" tIns="125999" rIns="0" bIns="108000" rtlCol="0" anchor="t">
            <a:noAutofit/>
          </a:bodyPr>
          <a:lstStyle/>
          <a:p>
            <a:pPr>
              <a:lnSpc>
                <a:spcPct val="80000"/>
              </a:lnSpc>
            </a:pPr>
            <a:endParaRPr lang="en-US" sz="1400" noProof="0" dirty="0">
              <a:solidFill>
                <a:schemeClr val="bg1"/>
              </a:solidFill>
              <a:latin typeface="☞NOIR PRO MEDIUM" pitchFamily="2" charset="0"/>
            </a:endParaRPr>
          </a:p>
        </p:txBody>
      </p:sp>
      <p:pic>
        <p:nvPicPr>
          <p:cNvPr id="21" name="Picture 166">
            <a:extLst>
              <a:ext uri="{FF2B5EF4-FFF2-40B4-BE49-F238E27FC236}">
                <a16:creationId xmlns:a16="http://schemas.microsoft.com/office/drawing/2014/main" id="{0E781429-EAE9-5D29-21EF-7E7387F6E91F}"/>
              </a:ext>
            </a:extLst>
          </p:cNvPr>
          <p:cNvPicPr>
            <a:picLocks noChangeAspect="1"/>
          </p:cNvPicPr>
          <p:nvPr/>
        </p:nvPicPr>
        <p:blipFill>
          <a:blip r:embed="rId2">
            <a:lum bright="100000"/>
          </a:blip>
          <a:stretch>
            <a:fillRect/>
          </a:stretch>
        </p:blipFill>
        <p:spPr>
          <a:xfrm>
            <a:off x="342438" y="2225598"/>
            <a:ext cx="454660" cy="386461"/>
          </a:xfrm>
          <a:prstGeom prst="rect">
            <a:avLst/>
          </a:prstGeom>
        </p:spPr>
      </p:pic>
      <p:pic>
        <p:nvPicPr>
          <p:cNvPr id="43" name="Graphic 42">
            <a:extLst>
              <a:ext uri="{FF2B5EF4-FFF2-40B4-BE49-F238E27FC236}">
                <a16:creationId xmlns:a16="http://schemas.microsoft.com/office/drawing/2014/main" id="{568E0D71-CA53-AF66-00DE-458ABAFFF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53658" y="2306414"/>
            <a:ext cx="359504" cy="239668"/>
          </a:xfrm>
          <a:prstGeom prst="rect">
            <a:avLst/>
          </a:prstGeom>
          <a:effectLst>
            <a:outerShdw blurRad="237234" sx="102000" sy="102000" algn="ctr" rotWithShape="0">
              <a:schemeClr val="accent4">
                <a:alpha val="0"/>
              </a:schemeClr>
            </a:outerShdw>
          </a:effectLst>
        </p:spPr>
      </p:pic>
      <p:graphicFrame>
        <p:nvGraphicFramePr>
          <p:cNvPr id="48" name="Tabel 47">
            <a:extLst>
              <a:ext uri="{FF2B5EF4-FFF2-40B4-BE49-F238E27FC236}">
                <a16:creationId xmlns:a16="http://schemas.microsoft.com/office/drawing/2014/main" id="{FC0D4C37-D231-E6B4-2BEB-A2CB6974D4EA}"/>
              </a:ext>
            </a:extLst>
          </p:cNvPr>
          <p:cNvGraphicFramePr>
            <a:graphicFrameLocks noGrp="1"/>
          </p:cNvGraphicFramePr>
          <p:nvPr>
            <p:extLst>
              <p:ext uri="{D42A27DB-BD31-4B8C-83A1-F6EECF244321}">
                <p14:modId xmlns:p14="http://schemas.microsoft.com/office/powerpoint/2010/main" val="2921088215"/>
              </p:ext>
            </p:extLst>
          </p:nvPr>
        </p:nvGraphicFramePr>
        <p:xfrm>
          <a:off x="2404922" y="2200267"/>
          <a:ext cx="9173128" cy="457200"/>
        </p:xfrm>
        <a:graphic>
          <a:graphicData uri="http://schemas.openxmlformats.org/drawingml/2006/table">
            <a:tbl>
              <a:tblPr>
                <a:tableStyleId>{5C22544A-7EE6-4342-B048-85BDC9FD1C3A}</a:tableStyleId>
              </a:tblPr>
              <a:tblGrid>
                <a:gridCol w="1146641">
                  <a:extLst>
                    <a:ext uri="{9D8B030D-6E8A-4147-A177-3AD203B41FA5}">
                      <a16:colId xmlns:a16="http://schemas.microsoft.com/office/drawing/2014/main" val="3756218328"/>
                    </a:ext>
                  </a:extLst>
                </a:gridCol>
                <a:gridCol w="1146641">
                  <a:extLst>
                    <a:ext uri="{9D8B030D-6E8A-4147-A177-3AD203B41FA5}">
                      <a16:colId xmlns:a16="http://schemas.microsoft.com/office/drawing/2014/main" val="2899638353"/>
                    </a:ext>
                  </a:extLst>
                </a:gridCol>
                <a:gridCol w="1146641">
                  <a:extLst>
                    <a:ext uri="{9D8B030D-6E8A-4147-A177-3AD203B41FA5}">
                      <a16:colId xmlns:a16="http://schemas.microsoft.com/office/drawing/2014/main" val="3980836888"/>
                    </a:ext>
                  </a:extLst>
                </a:gridCol>
                <a:gridCol w="1146641">
                  <a:extLst>
                    <a:ext uri="{9D8B030D-6E8A-4147-A177-3AD203B41FA5}">
                      <a16:colId xmlns:a16="http://schemas.microsoft.com/office/drawing/2014/main" val="337405862"/>
                    </a:ext>
                  </a:extLst>
                </a:gridCol>
                <a:gridCol w="1146641">
                  <a:extLst>
                    <a:ext uri="{9D8B030D-6E8A-4147-A177-3AD203B41FA5}">
                      <a16:colId xmlns:a16="http://schemas.microsoft.com/office/drawing/2014/main" val="2409438331"/>
                    </a:ext>
                  </a:extLst>
                </a:gridCol>
                <a:gridCol w="1146641">
                  <a:extLst>
                    <a:ext uri="{9D8B030D-6E8A-4147-A177-3AD203B41FA5}">
                      <a16:colId xmlns:a16="http://schemas.microsoft.com/office/drawing/2014/main" val="1015334204"/>
                    </a:ext>
                  </a:extLst>
                </a:gridCol>
                <a:gridCol w="1146641">
                  <a:extLst>
                    <a:ext uri="{9D8B030D-6E8A-4147-A177-3AD203B41FA5}">
                      <a16:colId xmlns:a16="http://schemas.microsoft.com/office/drawing/2014/main" val="1771938756"/>
                    </a:ext>
                  </a:extLst>
                </a:gridCol>
                <a:gridCol w="1146641">
                  <a:extLst>
                    <a:ext uri="{9D8B030D-6E8A-4147-A177-3AD203B41FA5}">
                      <a16:colId xmlns:a16="http://schemas.microsoft.com/office/drawing/2014/main" val="2602381078"/>
                    </a:ext>
                  </a:extLst>
                </a:gridCol>
              </a:tblGrid>
              <a:tr h="370840">
                <a:tc>
                  <a:txBody>
                    <a:bodyPr/>
                    <a:lstStyle/>
                    <a:p>
                      <a:pPr algn="ctr"/>
                      <a:endParaRPr lang="en-US" sz="1200" b="0" i="0" noProof="0" dirty="0">
                        <a:solidFill>
                          <a:schemeClr val="bg1"/>
                        </a:solidFill>
                        <a:latin typeface="☞NOIR PRO MEDIUM" pitchFamily="2" charset="0"/>
                      </a:endParaRP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Duplication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a:t>
                      </a:r>
                      <a:br>
                        <a:rPr lang="en-US" sz="1200" b="0" i="0" noProof="0" dirty="0">
                          <a:solidFill>
                            <a:schemeClr val="bg1"/>
                          </a:solidFill>
                          <a:latin typeface="☞NOIR PRO MEDIUM" pitchFamily="2" charset="0"/>
                        </a:rPr>
                      </a:br>
                      <a:r>
                        <a:rPr lang="en-US" sz="1200" b="0" i="0" noProof="0" dirty="0">
                          <a:solidFill>
                            <a:schemeClr val="bg1"/>
                          </a:solidFill>
                          <a:latin typeface="☞NOIR PRO MEDIUM" pitchFamily="2" charset="0"/>
                        </a:rPr>
                        <a:t>size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a:t>
                      </a:r>
                      <a:br>
                        <a:rPr lang="en-US" sz="1200" b="0" i="0" noProof="0" dirty="0">
                          <a:solidFill>
                            <a:schemeClr val="bg1"/>
                          </a:solidFill>
                          <a:latin typeface="☞NOIR PRO MEDIUM" pitchFamily="2" charset="0"/>
                        </a:rPr>
                      </a:br>
                      <a:r>
                        <a:rPr lang="en-US" sz="1200" b="0" i="0" noProof="0" dirty="0">
                          <a:solidFill>
                            <a:schemeClr val="bg1"/>
                          </a:solidFill>
                          <a:latin typeface="☞NOIR PRO MEDIUM" pitchFamily="2" charset="0"/>
                        </a:rPr>
                        <a:t>complexity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interfacing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Module 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entanglement</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independence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49" name="Driehoek 48">
            <a:extLst>
              <a:ext uri="{FF2B5EF4-FFF2-40B4-BE49-F238E27FC236}">
                <a16:creationId xmlns:a16="http://schemas.microsoft.com/office/drawing/2014/main" id="{76614EDA-4914-AB80-9A45-AF481E7E5AAA}"/>
              </a:ext>
            </a:extLst>
          </p:cNvPr>
          <p:cNvSpPr/>
          <p:nvPr/>
        </p:nvSpPr>
        <p:spPr>
          <a:xfrm rot="10800000">
            <a:off x="1075993" y="2580143"/>
            <a:ext cx="92249" cy="457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alpha val="50000"/>
                </a:schemeClr>
              </a:solidFill>
            </a:endParaRPr>
          </a:p>
        </p:txBody>
      </p:sp>
      <p:sp>
        <p:nvSpPr>
          <p:cNvPr id="50" name="Driehoek 49">
            <a:extLst>
              <a:ext uri="{FF2B5EF4-FFF2-40B4-BE49-F238E27FC236}">
                <a16:creationId xmlns:a16="http://schemas.microsoft.com/office/drawing/2014/main" id="{2C9FFFED-5DCC-8361-E111-40B1639E7797}"/>
              </a:ext>
            </a:extLst>
          </p:cNvPr>
          <p:cNvSpPr/>
          <p:nvPr/>
        </p:nvSpPr>
        <p:spPr>
          <a:xfrm rot="5400000">
            <a:off x="2409413" y="2405190"/>
            <a:ext cx="92249" cy="457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alpha val="50000"/>
                </a:schemeClr>
              </a:solidFill>
            </a:endParaRPr>
          </a:p>
        </p:txBody>
      </p:sp>
      <p:sp>
        <p:nvSpPr>
          <p:cNvPr id="52" name="Ovaal 51">
            <a:extLst>
              <a:ext uri="{FF2B5EF4-FFF2-40B4-BE49-F238E27FC236}">
                <a16:creationId xmlns:a16="http://schemas.microsoft.com/office/drawing/2014/main" id="{9E752103-7BCC-D47D-0E41-3D3118080490}"/>
              </a:ext>
            </a:extLst>
          </p:cNvPr>
          <p:cNvSpPr/>
          <p:nvPr/>
        </p:nvSpPr>
        <p:spPr>
          <a:xfrm>
            <a:off x="399461" y="1502952"/>
            <a:ext cx="354604" cy="354604"/>
          </a:xfrm>
          <a:prstGeom prst="ellipse">
            <a:avLst/>
          </a:prstGeom>
          <a:gradFill>
            <a:gsLst>
              <a:gs pos="19000">
                <a:srgbClr val="E98C36"/>
              </a:gs>
              <a:gs pos="53000">
                <a:srgbClr val="F9C716"/>
              </a:gs>
            </a:gsLst>
            <a:lin ang="2700000" scaled="0"/>
          </a:gradFill>
          <a:ln>
            <a:noFill/>
          </a:ln>
          <a:effectLst>
            <a:outerShdw blurRad="216637" dist="38100" dir="5400000" algn="t" rotWithShape="0">
              <a:schemeClr val="accent4">
                <a:alpha val="1464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58" name="Graphic 57">
            <a:extLst>
              <a:ext uri="{FF2B5EF4-FFF2-40B4-BE49-F238E27FC236}">
                <a16:creationId xmlns:a16="http://schemas.microsoft.com/office/drawing/2014/main" id="{22A25979-9B27-41E5-42F3-4829A8820D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092" y="1549761"/>
            <a:ext cx="262890" cy="260985"/>
          </a:xfrm>
          <a:prstGeom prst="rect">
            <a:avLst/>
          </a:prstGeom>
        </p:spPr>
      </p:pic>
      <p:sp>
        <p:nvSpPr>
          <p:cNvPr id="10" name="Footer Placeholder 4">
            <a:extLst>
              <a:ext uri="{FF2B5EF4-FFF2-40B4-BE49-F238E27FC236}">
                <a16:creationId xmlns:a16="http://schemas.microsoft.com/office/drawing/2014/main" id="{B8B98495-652D-FBE8-27A1-3D955AEEA695}"/>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659745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518124" cy="228209"/>
          </a:xfrm>
        </p:spPr>
        <p:txBody>
          <a:bodyPr/>
          <a:lstStyle/>
          <a:p>
            <a:r>
              <a:rPr lang="en-US" noProof="0" dirty="0"/>
              <a:t>Key findings – Maintainability benchmark</a:t>
            </a:r>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10</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US" noProof="0" dirty="0" err="1"/>
              <a:t>Integrationtest-kafka is a system of 43.0 PY which scores 2.6 for maintainability </a:t>
            </a:r>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GALAXY_CHART&#13;&#10;">
            <a:extLst>
              <a:ext uri="{FF2B5EF4-FFF2-40B4-BE49-F238E27FC236}">
                <a16:creationId xmlns:a16="http://schemas.microsoft.com/office/drawing/2014/main" id="{71473021-ED8B-E048-AE80-928BC05FB04C}"/>
              </a:ext>
            </a:extLst>
          </p:cNvPr>
          <p:cNvGraphicFramePr/>
          <p:nvPr>
            <p:extLst>
              <p:ext uri="{D42A27DB-BD31-4B8C-83A1-F6EECF244321}">
                <p14:modId xmlns:p14="http://schemas.microsoft.com/office/powerpoint/2010/main" val="1776225825"/>
              </p:ext>
            </p:extLst>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
        <p:nvSpPr>
          <p:cNvPr id="2" name="Footer Placeholder 4">
            <a:extLst>
              <a:ext uri="{FF2B5EF4-FFF2-40B4-BE49-F238E27FC236}">
                <a16:creationId xmlns:a16="http://schemas.microsoft.com/office/drawing/2014/main" id="{7DF93ECD-8304-30C3-8FA0-5E7662AC236E}"/>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729317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D0FC-1E69-5405-8D25-E89771A793CC}"/>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1B609EF-4181-E74F-FF39-E0761C89B7D7}"/>
              </a:ext>
            </a:extLst>
          </p:cNvPr>
          <p:cNvSpPr>
            <a:spLocks noGrp="1"/>
          </p:cNvSpPr>
          <p:nvPr>
            <p:ph type="body" sz="quarter" idx="12"/>
          </p:nvPr>
        </p:nvSpPr>
        <p:spPr>
          <a:xfrm>
            <a:off x="381000" y="129609"/>
            <a:ext cx="2674945" cy="228145"/>
          </a:xfrm>
        </p:spPr>
        <p:txBody>
          <a:bodyPr/>
          <a:lstStyle/>
          <a:p>
            <a:r>
              <a:rPr lang="en-US" noProof="0" dirty="0"/>
              <a:t>Key findings – Maintainability</a:t>
            </a:r>
          </a:p>
        </p:txBody>
      </p:sp>
      <p:sp>
        <p:nvSpPr>
          <p:cNvPr id="54" name="Tijdelijke aanduiding voor inhoud 53">
            <a:extLst>
              <a:ext uri="{FF2B5EF4-FFF2-40B4-BE49-F238E27FC236}">
                <a16:creationId xmlns:a16="http://schemas.microsoft.com/office/drawing/2014/main" id="{C9D4FD2A-29C7-977B-F942-DDDC53AD6ACB}"/>
              </a:ext>
            </a:extLst>
          </p:cNvPr>
          <p:cNvSpPr>
            <a:spLocks noGrp="1"/>
          </p:cNvSpPr>
          <p:nvPr>
            <p:ph sz="quarter" idx="13"/>
          </p:nvPr>
        </p:nvSpPr>
        <p:spPr>
          <a:xfrm>
            <a:off x="154799" y="2738112"/>
            <a:ext cx="8090297" cy="3525887"/>
          </a:xfrm>
        </p:spPr>
        <p:txBody>
          <a:bodyPr/>
          <a:lstStyle/>
          <a:p>
            <a:r>
              <a:rPr lang="en-US" sz="1400" noProof="0" dirty="0" err="1"/>
              <a:t>Integrationtest-kafka scores at market average for maintainability. This indicates average maintenance costs and time to market for functional changes. </a:t>
            </a:r>
          </a:p>
          <a:p>
            <a:endParaRPr lang="en-US" sz="1400" noProof="0" dirty="0"/>
          </a:p>
          <a:p>
            <a:r>
              <a:rPr lang="en-US" sz="1400" noProof="0" dirty="0">
                <a:latin typeface="Noir Pro Semi Bold" pitchFamily="2" charset="0"/>
              </a:rPr>
              <a:t>Notable metrics</a:t>
            </a:r>
          </a:p>
          <a:p>
            <a:r>
              <a:rPr lang="en-US" sz="1400" noProof="0" dirty="0" err="1"/>
              <a:t>The system shows high risk in its tightly coupled modules
The system shows high risk where components of the system depend on each other
The system shows high risk in units with large interfaces
The system shows high risk where components of the system often interact with each other
The system shows low risk in its duplicated logic.</a:t>
            </a:r>
            <a:endParaRPr lang="en-US" sz="1400" noProof="0" dirty="0"/>
          </a:p>
        </p:txBody>
      </p:sp>
      <p:sp>
        <p:nvSpPr>
          <p:cNvPr id="5" name="Tijdelijke aanduiding voor dianummer 4">
            <a:extLst>
              <a:ext uri="{FF2B5EF4-FFF2-40B4-BE49-F238E27FC236}">
                <a16:creationId xmlns:a16="http://schemas.microsoft.com/office/drawing/2014/main" id="{65651B26-96DD-EACD-2E25-B80757D07B99}"/>
              </a:ext>
            </a:extLst>
          </p:cNvPr>
          <p:cNvSpPr>
            <a:spLocks noGrp="1"/>
          </p:cNvSpPr>
          <p:nvPr>
            <p:ph type="sldNum" sz="quarter" idx="15"/>
          </p:nvPr>
        </p:nvSpPr>
        <p:spPr/>
        <p:txBody>
          <a:bodyPr/>
          <a:lstStyle/>
          <a:p>
            <a:fld id="{E242BD21-9B61-2246-BCB1-4BE5E1BEBE1C}" type="slidenum">
              <a:rPr lang="en-US" noProof="0" smtClean="0"/>
              <a:pPr/>
              <a:t>11</a:t>
            </a:fld>
            <a:endParaRPr lang="en-US" noProof="0" dirty="0"/>
          </a:p>
        </p:txBody>
      </p:sp>
      <p:sp>
        <p:nvSpPr>
          <p:cNvPr id="53" name="Titel 52">
            <a:extLst>
              <a:ext uri="{FF2B5EF4-FFF2-40B4-BE49-F238E27FC236}">
                <a16:creationId xmlns:a16="http://schemas.microsoft.com/office/drawing/2014/main" id="{A6914BE1-1869-02E9-03A8-308091307CA1}"/>
              </a:ext>
            </a:extLst>
          </p:cNvPr>
          <p:cNvSpPr>
            <a:spLocks noGrp="1"/>
          </p:cNvSpPr>
          <p:nvPr>
            <p:ph type="title"/>
          </p:nvPr>
        </p:nvSpPr>
        <p:spPr/>
        <p:txBody>
          <a:bodyPr/>
          <a:lstStyle/>
          <a:p>
            <a:r>
              <a:rPr lang="en-US" noProof="0" dirty="0"/>
              <a:t>Integrationtest-kafka scores at market average for maintainability</a:t>
            </a:r>
          </a:p>
        </p:txBody>
      </p:sp>
      <p:cxnSp>
        <p:nvCxnSpPr>
          <p:cNvPr id="47" name="Rechte verbindingslijn 46">
            <a:extLst>
              <a:ext uri="{FF2B5EF4-FFF2-40B4-BE49-F238E27FC236}">
                <a16:creationId xmlns:a16="http://schemas.microsoft.com/office/drawing/2014/main" id="{EF8E65C2-A45F-F7BE-50AD-120C0B0578AB}"/>
              </a:ext>
            </a:extLst>
          </p:cNvPr>
          <p:cNvCxnSpPr>
            <a:cxnSpLocks noGrp="1" noRot="1" noMove="1" noResize="1" noEditPoints="1" noAdjustHandles="1" noChangeArrowheads="1" noChangeShapeType="1"/>
          </p:cNvCxnSpPr>
          <p:nvPr/>
        </p:nvCxnSpPr>
        <p:spPr>
          <a:xfrm>
            <a:off x="8378314" y="2821727"/>
            <a:ext cx="0" cy="2617144"/>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7" name="Groep 6">
            <a:extLst>
              <a:ext uri="{FF2B5EF4-FFF2-40B4-BE49-F238E27FC236}">
                <a16:creationId xmlns:a16="http://schemas.microsoft.com/office/drawing/2014/main" id="{8058F19A-8E04-B773-2F63-975EE437CF7B}"/>
              </a:ext>
            </a:extLst>
          </p:cNvPr>
          <p:cNvGrpSpPr>
            <a:grpSpLocks noGrp="1" noUngrp="1" noRot="1" noMove="1" noResize="1"/>
          </p:cNvGrpSpPr>
          <p:nvPr/>
        </p:nvGrpSpPr>
        <p:grpSpPr>
          <a:xfrm>
            <a:off x="134319" y="1137285"/>
            <a:ext cx="11923362" cy="1426530"/>
            <a:chOff x="134319" y="1137285"/>
            <a:chExt cx="11923362" cy="1426530"/>
          </a:xfrm>
        </p:grpSpPr>
        <p:sp>
          <p:nvSpPr>
            <p:cNvPr id="26" name="Rechthoek 25">
              <a:extLst>
                <a:ext uri="{FF2B5EF4-FFF2-40B4-BE49-F238E27FC236}">
                  <a16:creationId xmlns:a16="http://schemas.microsoft.com/office/drawing/2014/main" id="{0DCAE605-6045-AE2B-8209-321411B56E14}"/>
                </a:ext>
              </a:extLst>
            </p:cNvPr>
            <p:cNvSpPr>
              <a:spLocks noGrp="1" noRot="1" noMove="1" noResize="1" noEditPoints="1" noAdjustHandles="1" noChangeArrowheads="1" noChangeShapeType="1"/>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7" name="Afgeronde rechthoek 36">
              <a:extLst>
                <a:ext uri="{FF2B5EF4-FFF2-40B4-BE49-F238E27FC236}">
                  <a16:creationId xmlns:a16="http://schemas.microsoft.com/office/drawing/2014/main" id="{A519506A-F642-8B0A-0CD2-170BCE2AA552}"/>
                </a:ext>
              </a:extLst>
            </p:cNvPr>
            <p:cNvSpPr>
              <a:spLocks noGrp="1" noRot="1" noMove="1" noResize="1" noEditPoints="1" noAdjustHandles="1" noChangeArrowheads="1" noChangeShapeType="1"/>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3" name="TextBox 39">
              <a:extLst>
                <a:ext uri="{FF2B5EF4-FFF2-40B4-BE49-F238E27FC236}">
                  <a16:creationId xmlns:a16="http://schemas.microsoft.com/office/drawing/2014/main" id="{8A515EA8-6F7F-CB57-EEF9-6A988D6515A9}"/>
                </a:ext>
              </a:extLst>
            </p:cNvPr>
            <p:cNvSpPr txBox="1">
              <a:spLocks noGrp="1" noRot="1" noMove="1" noResize="1" noEditPoints="1" noAdjustHandles="1" noChangeArrowheads="1" noChangeShapeType="1"/>
            </p:cNvSpPr>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3" name="Afgeronde rechthoek 2">
              <a:extLst>
                <a:ext uri="{FF2B5EF4-FFF2-40B4-BE49-F238E27FC236}">
                  <a16:creationId xmlns:a16="http://schemas.microsoft.com/office/drawing/2014/main" id="{E2EE68DC-9DD1-19EB-B084-5915863A13C4}"/>
                </a:ext>
              </a:extLst>
            </p:cNvPr>
            <p:cNvSpPr>
              <a:spLocks noGrp="1" noRot="1" noMove="1" noResize="1" noEditPoints="1" noAdjustHandles="1" noChangeArrowheads="1" noChangeShapeType="1"/>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9" name="Rechte verbindingslijn 8">
              <a:extLst>
                <a:ext uri="{FF2B5EF4-FFF2-40B4-BE49-F238E27FC236}">
                  <a16:creationId xmlns:a16="http://schemas.microsoft.com/office/drawing/2014/main" id="{16341FD7-C449-69BD-197B-554C11DA7F1D}"/>
                </a:ext>
              </a:extLst>
            </p:cNvPr>
            <p:cNvCxnSpPr>
              <a:cxnSpLocks noGrp="1" noRot="1" noMove="1" noResize="1" noEditPoints="1" noAdjustHandles="1" noChangeArrowheads="1" noChangeShapeType="1"/>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A4959127-23CE-B5B2-54D8-24915B5D939C}"/>
                </a:ext>
              </a:extLst>
            </p:cNvPr>
            <p:cNvCxnSpPr>
              <a:cxnSpLocks noGrp="1" noRot="1" noMove="1" noResize="1" noEditPoints="1" noAdjustHandles="1" noChangeArrowheads="1" noChangeShapeType="1"/>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1" name="Rechte verbindingslijn 10">
              <a:extLst>
                <a:ext uri="{FF2B5EF4-FFF2-40B4-BE49-F238E27FC236}">
                  <a16:creationId xmlns:a16="http://schemas.microsoft.com/office/drawing/2014/main" id="{467EED00-A9A4-745B-FA74-A2589E0935F1}"/>
                </a:ext>
              </a:extLst>
            </p:cNvPr>
            <p:cNvCxnSpPr>
              <a:cxnSpLocks noGrp="1" noRot="1" noMove="1" noResize="1" noEditPoints="1" noAdjustHandles="1" noChangeArrowheads="1" noChangeShapeType="1"/>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12">
              <a:extLst>
                <a:ext uri="{FF2B5EF4-FFF2-40B4-BE49-F238E27FC236}">
                  <a16:creationId xmlns:a16="http://schemas.microsoft.com/office/drawing/2014/main" id="{65D273F6-15EF-5B5D-F9A4-4D7671E31A92}"/>
                </a:ext>
              </a:extLst>
            </p:cNvPr>
            <p:cNvCxnSpPr>
              <a:cxnSpLocks noGrp="1" noRot="1" noMove="1" noResize="1" noEditPoints="1" noAdjustHandles="1" noChangeArrowheads="1" noChangeShapeType="1"/>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5" name="Rechthoek 14">
              <a:extLst>
                <a:ext uri="{FF2B5EF4-FFF2-40B4-BE49-F238E27FC236}">
                  <a16:creationId xmlns:a16="http://schemas.microsoft.com/office/drawing/2014/main" id="{9B50D10F-F915-DCFC-A5F9-B9784D2E0A44}"/>
                </a:ext>
              </a:extLst>
            </p:cNvPr>
            <p:cNvSpPr>
              <a:spLocks noGrp="1" noRot="1" noMove="1" noResize="1" noEditPoints="1" noAdjustHandles="1" noChangeArrowheads="1" noChangeShapeType="1"/>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Afgeronde rechthoek 18">
              <a:extLst>
                <a:ext uri="{FF2B5EF4-FFF2-40B4-BE49-F238E27FC236}">
                  <a16:creationId xmlns:a16="http://schemas.microsoft.com/office/drawing/2014/main" id="{7222BC8B-9E66-91BE-A862-E4B0A9707F5E}"/>
                </a:ext>
              </a:extLst>
            </p:cNvPr>
            <p:cNvSpPr>
              <a:spLocks noGrp="1" noRot="1" noMove="1" noResize="1" noEditPoints="1" noAdjustHandles="1" noChangeArrowheads="1" noChangeShapeType="1"/>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20" name="Afgeronde rechthoek 19">
              <a:extLst>
                <a:ext uri="{FF2B5EF4-FFF2-40B4-BE49-F238E27FC236}">
                  <a16:creationId xmlns:a16="http://schemas.microsoft.com/office/drawing/2014/main" id="{0372C655-B475-E870-9B73-C457C9429959}"/>
                </a:ext>
              </a:extLst>
            </p:cNvPr>
            <p:cNvSpPr>
              <a:spLocks noGrp="1" noRot="1" noMove="1" noResize="1" noEditPoints="1" noAdjustHandles="1" noChangeArrowheads="1" noChangeShapeType="1"/>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21" name="Afgeronde rechthoek 20">
              <a:extLst>
                <a:ext uri="{FF2B5EF4-FFF2-40B4-BE49-F238E27FC236}">
                  <a16:creationId xmlns:a16="http://schemas.microsoft.com/office/drawing/2014/main" id="{A4495646-4CD8-7FE9-D6FA-E6A32F32680C}"/>
                </a:ext>
              </a:extLst>
            </p:cNvPr>
            <p:cNvSpPr>
              <a:spLocks noGrp="1" noRot="1" noMove="1" noResize="1" noEditPoints="1" noAdjustHandles="1" noChangeArrowheads="1" noChangeShapeType="1"/>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22" name="Afgeronde rechthoek 21">
              <a:extLst>
                <a:ext uri="{FF2B5EF4-FFF2-40B4-BE49-F238E27FC236}">
                  <a16:creationId xmlns:a16="http://schemas.microsoft.com/office/drawing/2014/main" id="{81E714D1-2EDD-E6C5-CAAA-EB02239A0D7B}"/>
                </a:ext>
              </a:extLst>
            </p:cNvPr>
            <p:cNvSpPr>
              <a:spLocks noGrp="1" noRot="1" noMove="1" noResize="1" noEditPoints="1" noAdjustHandles="1" noChangeArrowheads="1" noChangeShapeType="1"/>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23" name="Afgeronde rechthoek 22">
              <a:extLst>
                <a:ext uri="{FF2B5EF4-FFF2-40B4-BE49-F238E27FC236}">
                  <a16:creationId xmlns:a16="http://schemas.microsoft.com/office/drawing/2014/main" id="{9FA94012-C64B-FEAF-BEF5-6E878110F952}"/>
                </a:ext>
              </a:extLst>
            </p:cNvPr>
            <p:cNvSpPr>
              <a:spLocks noGrp="1" noRot="1" noMove="1" noResize="1" noEditPoints="1" noAdjustHandles="1" noChangeArrowheads="1" noChangeShapeType="1"/>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24" name="Afgeronde rechthoek 23">
              <a:extLst>
                <a:ext uri="{FF2B5EF4-FFF2-40B4-BE49-F238E27FC236}">
                  <a16:creationId xmlns:a16="http://schemas.microsoft.com/office/drawing/2014/main" id="{06245C99-D1A2-81E1-7A2A-9B3FA54DB5D9}"/>
                </a:ext>
              </a:extLst>
            </p:cNvPr>
            <p:cNvSpPr>
              <a:spLocks noGrp="1" noRot="1" noMove="1" noResize="1" noEditPoints="1" noAdjustHandles="1" noChangeArrowheads="1" noChangeShapeType="1"/>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32" name="Rectangle 29">
              <a:extLst>
                <a:ext uri="{FF2B5EF4-FFF2-40B4-BE49-F238E27FC236}">
                  <a16:creationId xmlns:a16="http://schemas.microsoft.com/office/drawing/2014/main" id="{0D680DAE-6A0A-5F80-9D73-1B3434F7C526}"/>
                </a:ext>
              </a:extLst>
            </p:cNvPr>
            <p:cNvSpPr>
              <a:spLocks noGrp="1" noRot="1" noMove="1" noResize="1" noEditPoints="1" noAdjustHandles="1" noChangeArrowheads="1" noChangeShapeType="1"/>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3" name="Rectangle 34">
              <a:extLst>
                <a:ext uri="{FF2B5EF4-FFF2-40B4-BE49-F238E27FC236}">
                  <a16:creationId xmlns:a16="http://schemas.microsoft.com/office/drawing/2014/main" id="{B95F3709-4127-653F-563F-EB0A748FB34F}"/>
                </a:ext>
              </a:extLst>
            </p:cNvPr>
            <p:cNvSpPr>
              <a:spLocks noGrp="1" noRot="1" noMove="1" noResize="1" noEditPoints="1" noAdjustHandles="1" noChangeArrowheads="1" noChangeShapeType="1"/>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4" name="Rectangle 35">
              <a:extLst>
                <a:ext uri="{FF2B5EF4-FFF2-40B4-BE49-F238E27FC236}">
                  <a16:creationId xmlns:a16="http://schemas.microsoft.com/office/drawing/2014/main" id="{DB3E36D4-BB81-8AF0-CEF6-CCC2706BF831}"/>
                </a:ext>
              </a:extLst>
            </p:cNvPr>
            <p:cNvSpPr>
              <a:spLocks noGrp="1" noRot="1" noMove="1" noResize="1" noEditPoints="1" noAdjustHandles="1" noChangeArrowheads="1" noChangeShapeType="1"/>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35" name="Rectangle 36">
              <a:extLst>
                <a:ext uri="{FF2B5EF4-FFF2-40B4-BE49-F238E27FC236}">
                  <a16:creationId xmlns:a16="http://schemas.microsoft.com/office/drawing/2014/main" id="{3A492A1F-5A7A-07F8-8C38-7C13295E7C41}"/>
                </a:ext>
              </a:extLst>
            </p:cNvPr>
            <p:cNvSpPr>
              <a:spLocks noGrp="1" noRot="1" noMove="1" noResize="1" noEditPoints="1" noAdjustHandles="1" noChangeArrowheads="1" noChangeShapeType="1"/>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6" name="Rectangle 37">
              <a:extLst>
                <a:ext uri="{FF2B5EF4-FFF2-40B4-BE49-F238E27FC236}">
                  <a16:creationId xmlns:a16="http://schemas.microsoft.com/office/drawing/2014/main" id="{8D18C5C7-06E2-49CE-D02A-344D110428DB}"/>
                </a:ext>
              </a:extLst>
            </p:cNvPr>
            <p:cNvSpPr>
              <a:spLocks noGrp="1" noRot="1" noMove="1" noResize="1" noEditPoints="1" noAdjustHandles="1" noChangeArrowheads="1" noChangeShapeType="1"/>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78" name="Rechte verbindingslijn 77">
              <a:extLst>
                <a:ext uri="{FF2B5EF4-FFF2-40B4-BE49-F238E27FC236}">
                  <a16:creationId xmlns:a16="http://schemas.microsoft.com/office/drawing/2014/main" id="{B27569F3-74B0-C2D8-CBC7-DCBA58B39A6A}"/>
                </a:ext>
              </a:extLst>
            </p:cNvPr>
            <p:cNvCxnSpPr>
              <a:cxnSpLocks noGrp="1" noRot="1" noMove="1" noResize="1" noEditPoints="1" noAdjustHandles="1" noChangeArrowheads="1" noChangeShapeType="1"/>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37D11895-5EFF-93B7-DE3D-9A9E9F09F8C1}"/>
                </a:ext>
              </a:extLst>
            </p:cNvPr>
            <p:cNvCxnSpPr>
              <a:cxnSpLocks noGrp="1" noRot="1" noMove="1" noResize="1" noEditPoints="1" noAdjustHandles="1" noChangeArrowheads="1" noChangeShapeType="1"/>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B5BD83E5-4A87-97B5-1F20-E26F1CC99FB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28" name="Rechte verbindingslijn 27">
              <a:extLst>
                <a:ext uri="{FF2B5EF4-FFF2-40B4-BE49-F238E27FC236}">
                  <a16:creationId xmlns:a16="http://schemas.microsoft.com/office/drawing/2014/main" id="{D9F659BC-E5C3-0EB3-2FDA-3439436410A5}"/>
                </a:ext>
              </a:extLst>
            </p:cNvPr>
            <p:cNvCxnSpPr>
              <a:cxnSpLocks noGrp="1" noRot="1" noMove="1" noResize="1" noEditPoints="1" noAdjustHandles="1" noChangeArrowheads="1" noChangeShapeType="1"/>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0F81F54D-AD5F-2ED7-41E7-B4244E747E5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65" name="TextBox 39">
            <a:extLst>
              <a:ext uri="{FF2B5EF4-FFF2-40B4-BE49-F238E27FC236}">
                <a16:creationId xmlns:a16="http://schemas.microsoft.com/office/drawing/2014/main" id="{DDB8BF03-352C-7912-CA4F-E637BDD54DFE}"/>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402C79F4-6E42-178E-24B7-07CA9240FF5A}"/>
              </a:ext>
            </a:extLst>
          </p:cNvPr>
          <p:cNvGraphicFramePr>
            <a:graphicFrameLocks noGrp="1"/>
          </p:cNvGraphicFramePr>
          <p:nvPr>
            <p:extLst>
              <p:ext uri="{D42A27DB-BD31-4B8C-83A1-F6EECF244321}">
                <p14:modId xmlns:p14="http://schemas.microsoft.com/office/powerpoint/2010/main" val="1238816226"/>
              </p:ext>
            </p:extLst>
          </p:nvPr>
        </p:nvGraphicFramePr>
        <p:xfrm>
          <a:off x="8571496" y="3035953"/>
          <a:ext cx="3315521" cy="1691748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dirty="0">
                          <a:ln>
                            <a:noFill/>
                          </a:ln>
                          <a:solidFill>
                            <a:schemeClr val="tx1"/>
                          </a:solidFill>
                          <a:effectLst/>
                          <a:latin typeface="+mn-lt"/>
                        </a:rPr>
                        <a:t>Unit size</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2.2</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entanglement </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2.2</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bl>
          </a:graphicData>
        </a:graphic>
      </p:graphicFrame>
      <p:graphicFrame>
        <p:nvGraphicFramePr>
          <p:cNvPr id="74" name="Table 3">
            <a:extLst>
              <a:ext uri="{FF2B5EF4-FFF2-40B4-BE49-F238E27FC236}">
                <a16:creationId xmlns:a16="http://schemas.microsoft.com/office/drawing/2014/main" id="{77E3437B-5074-14E8-36C7-3DF76B44157A}"/>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AC4EC13-23AB-04D5-0F9F-2B74B25C4A9B}"/>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Maintainability</a:t>
            </a:r>
          </a:p>
        </p:txBody>
      </p:sp>
      <p:sp>
        <p:nvSpPr>
          <p:cNvPr id="76" name="TextBox 39">
            <a:extLst>
              <a:ext uri="{FF2B5EF4-FFF2-40B4-BE49-F238E27FC236}">
                <a16:creationId xmlns:a16="http://schemas.microsoft.com/office/drawing/2014/main" id="{26078FB0-8A8E-B3F7-4DCB-48A08F72175C}"/>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a:t>
            </a:r>
            <a:r>
              <a:rPr lang="en-US" sz="800" noProof="0" dirty="0" err="1">
                <a:solidFill>
                  <a:srgbClr val="152F73"/>
                </a:solidFill>
                <a:latin typeface="Azeret Mono" pitchFamily="2" charset="77"/>
                <a:cs typeface="Azeret Mono" pitchFamily="2" charset="77"/>
              </a:rPr>
              <a:t>30 June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89227F0-045C-CC55-9916-9690A349C77E}"/>
              </a:ext>
            </a:extLst>
          </p:cNvPr>
          <p:cNvGrpSpPr/>
          <p:nvPr/>
        </p:nvGrpSpPr>
        <p:grpSpPr>
          <a:xfrm>
            <a:off x="4753468" y="1466322"/>
            <a:ext cx="913712" cy="884878"/>
            <a:chOff x="5633468" y="1730647"/>
            <a:chExt cx="913712" cy="884878"/>
          </a:xfrm>
        </p:grpSpPr>
        <p:sp>
          <p:nvSpPr>
            <p:cNvPr id="71" name="TextBox 42">
              <a:extLst>
                <a:ext uri="{FF2B5EF4-FFF2-40B4-BE49-F238E27FC236}">
                  <a16:creationId xmlns:a16="http://schemas.microsoft.com/office/drawing/2014/main" id="{630C82FE-1178-32D8-EC14-6C21317BE3E9}"/>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EF195F66-2F7D-44D7-BBBD-D6BE8D7F6FC5}"/>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58D67A48-2556-2ED0-85E0-5AC6B13B7FD3}"/>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2.6</a:t>
              </a:r>
              <a:endParaRPr lang="en-US" sz="1000" noProof="0" dirty="0">
                <a:solidFill>
                  <a:schemeClr val="tx1"/>
                </a:solidFill>
                <a:latin typeface="☞NOIR PRO MEDIUM" pitchFamily="2" charset="0"/>
              </a:endParaRPr>
            </a:p>
          </p:txBody>
        </p:sp>
      </p:grpSp>
      <p:sp>
        <p:nvSpPr>
          <p:cNvPr id="12" name="Footer Placeholder 4">
            <a:extLst>
              <a:ext uri="{FF2B5EF4-FFF2-40B4-BE49-F238E27FC236}">
                <a16:creationId xmlns:a16="http://schemas.microsoft.com/office/drawing/2014/main" id="{CDA89C97-6C2B-CBC6-7C32-011FC35ECB56}"/>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3761129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4D6E7B-3114-F989-0221-CF083D29CE8F}"/>
              </a:ext>
            </a:extLst>
          </p:cNvPr>
          <p:cNvSpPr>
            <a:spLocks noGrp="1"/>
          </p:cNvSpPr>
          <p:nvPr>
            <p:ph type="body" sz="quarter" idx="12"/>
          </p:nvPr>
        </p:nvSpPr>
        <p:spPr>
          <a:xfrm>
            <a:off x="381600" y="129600"/>
            <a:ext cx="2253356" cy="228145"/>
          </a:xfrm>
        </p:spPr>
        <p:txBody>
          <a:bodyPr/>
          <a:lstStyle/>
          <a:p>
            <a:r>
              <a:rPr lang="en-US" noProof="0" dirty="0"/>
              <a:t>Key findings – Technology</a:t>
            </a:r>
          </a:p>
        </p:txBody>
      </p:sp>
      <p:sp>
        <p:nvSpPr>
          <p:cNvPr id="5" name="Slide Number Placeholder 4">
            <a:extLst>
              <a:ext uri="{FF2B5EF4-FFF2-40B4-BE49-F238E27FC236}">
                <a16:creationId xmlns:a16="http://schemas.microsoft.com/office/drawing/2014/main" id="{87DBA139-C731-CD59-94C7-031326B4159B}"/>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6" name="Title 5">
            <a:extLst>
              <a:ext uri="{FF2B5EF4-FFF2-40B4-BE49-F238E27FC236}">
                <a16:creationId xmlns:a16="http://schemas.microsoft.com/office/drawing/2014/main" id="{E94009D2-574F-A208-29BC-1338E3FDD51E}"/>
              </a:ext>
            </a:extLst>
          </p:cNvPr>
          <p:cNvSpPr>
            <a:spLocks noGrp="1"/>
          </p:cNvSpPr>
          <p:nvPr>
            <p:ph type="title"/>
          </p:nvPr>
        </p:nvSpPr>
        <p:spPr/>
        <p:txBody>
          <a:bodyPr/>
          <a:lstStyle/>
          <a:p>
            <a:r>
              <a:rPr lang="en-US" noProof="0" dirty="0"/>
              <a:t>The system is built primarily in Java</a:t>
            </a:r>
          </a:p>
        </p:txBody>
      </p:sp>
      <p:sp>
        <p:nvSpPr>
          <p:cNvPr id="7" name="Content Placeholder 6">
            <a:extLst>
              <a:ext uri="{FF2B5EF4-FFF2-40B4-BE49-F238E27FC236}">
                <a16:creationId xmlns:a16="http://schemas.microsoft.com/office/drawing/2014/main" id="{51AEDC6C-8C3E-727E-1418-2D7B541D7525}"/>
              </a:ext>
            </a:extLst>
          </p:cNvPr>
          <p:cNvSpPr txBox="1">
            <a:spLocks/>
          </p:cNvSpPr>
          <p:nvPr/>
        </p:nvSpPr>
        <p:spPr>
          <a:xfrm>
            <a:off x="154800" y="1411199"/>
            <a:ext cx="3927600" cy="4161697"/>
          </a:xfrm>
          <a:prstGeom prst="rect">
            <a:avLst/>
          </a:prstGeom>
        </p:spPr>
        <p:txBody>
          <a:bodyPr/>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85750" indent="-285750"/>
            <a:r>
              <a:rPr lang="en-US" noProof="0" dirty="0" err="1"/>
              <a:t>The system is built using common and modern technologies.</a:t>
            </a:r>
            <a:endParaRPr lang="en-US" noProof="0" dirty="0"/>
          </a:p>
          <a:p>
            <a:pPr marL="285750" indent="-285750"/>
            <a:r>
              <a:rPr lang="en-US" noProof="0" dirty="0" err="1"/>
              <a:t>The system is mainly built using Java.</a:t>
            </a:r>
            <a:endParaRPr lang="en-US" noProof="0" dirty="0"/>
          </a:p>
        </p:txBody>
      </p:sp>
      <p:cxnSp>
        <p:nvCxnSpPr>
          <p:cNvPr id="8" name="Straight Connector 31">
            <a:extLst>
              <a:ext uri="{FF2B5EF4-FFF2-40B4-BE49-F238E27FC236}">
                <a16:creationId xmlns:a16="http://schemas.microsoft.com/office/drawing/2014/main" id="{DD55A41C-2B82-26B6-9D2A-766F671176C0}"/>
              </a:ext>
            </a:extLst>
          </p:cNvPr>
          <p:cNvCxnSpPr>
            <a:cxnSpLocks/>
          </p:cNvCxnSpPr>
          <p:nvPr/>
        </p:nvCxnSpPr>
        <p:spPr>
          <a:xfrm>
            <a:off x="4176367"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TECHNOLOGY_CHART">
            <a:extLst>
              <a:ext uri="{FF2B5EF4-FFF2-40B4-BE49-F238E27FC236}">
                <a16:creationId xmlns:a16="http://schemas.microsoft.com/office/drawing/2014/main" id="{E5DDF9E1-26B6-EE58-18CE-4DBED266C4BE}"/>
              </a:ext>
            </a:extLst>
          </p:cNvPr>
          <p:cNvGraphicFramePr/>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e 10">
            <a:extLst>
              <a:ext uri="{FF2B5EF4-FFF2-40B4-BE49-F238E27FC236}">
                <a16:creationId xmlns:a16="http://schemas.microsoft.com/office/drawing/2014/main" id="{C4B4064B-3666-8F9B-FEDF-E1E1A99275BE}"/>
              </a:ext>
            </a:extLst>
          </p:cNvPr>
          <p:cNvGraphicFramePr>
            <a:graphicFrameLocks noGrp="1"/>
          </p:cNvGraphicFramePr>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noProof="0" dirty="0">
                          <a:solidFill>
                            <a:schemeClr val="bg1"/>
                          </a:solidFill>
                          <a:latin typeface="+mn-lt"/>
                        </a:rPr>
                        <a:t>Technology</a:t>
                      </a:r>
                      <a:endParaRPr lang="en-US" sz="1400" b="1" i="0" noProof="0" dirty="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noProof="0" dirty="0">
                          <a:solidFill>
                            <a:schemeClr val="bg1"/>
                          </a:solidFill>
                          <a:latin typeface="+mn-lt"/>
                        </a:rPr>
                        <a:t>Lines of Code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i="0" noProof="0" dirty="0">
                          <a:solidFill>
                            <a:schemeClr val="bg1"/>
                          </a:solidFill>
                          <a:latin typeface="+mn-lt"/>
                          <a:cs typeface="TheSans B4 SemiLight"/>
                        </a:rPr>
                        <a:t>Rebuild size (PM)</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Java</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dirty="0">
                          <a:solidFill>
                            <a:schemeClr val="tx1"/>
                          </a:solidFill>
                          <a:effectLst/>
                          <a:latin typeface="Calibri Regular"/>
                        </a:rPr>
                        <a:t>385712</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dirty="0">
                          <a:solidFill>
                            <a:schemeClr val="tx1">
                              <a:lumMod val="60000"/>
                              <a:lumOff val="40000"/>
                            </a:schemeClr>
                          </a:solidFill>
                          <a:effectLst/>
                          <a:latin typeface="Calibri Regular"/>
                        </a:rPr>
                        <a:t>42.9</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Python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747</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0.1</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1" name="Text Placeholder 29">
            <a:extLst>
              <a:ext uri="{FF2B5EF4-FFF2-40B4-BE49-F238E27FC236}">
                <a16:creationId xmlns:a16="http://schemas.microsoft.com/office/drawing/2014/main" id="{F6F2A0BE-E3E4-9A47-906A-32FD433FB0F7}"/>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noProof="0" dirty="0">
                <a:solidFill>
                  <a:schemeClr val="tx1"/>
                </a:solidFill>
              </a:rPr>
              <a:t>System rebuild size:</a:t>
            </a:r>
          </a:p>
        </p:txBody>
      </p:sp>
      <p:sp>
        <p:nvSpPr>
          <p:cNvPr id="12" name="Text Placeholder 29">
            <a:extLst>
              <a:ext uri="{FF2B5EF4-FFF2-40B4-BE49-F238E27FC236}">
                <a16:creationId xmlns:a16="http://schemas.microsoft.com/office/drawing/2014/main" id="{4E5F2948-2383-E59A-7528-F3A85A416090}"/>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dirty="0" err="1">
                <a:solidFill>
                  <a:schemeClr val="tx1"/>
                </a:solidFill>
              </a:rPr>
              <a:t>43.0 PY</a:t>
            </a:r>
          </a:p>
        </p:txBody>
      </p:sp>
      <p:sp>
        <p:nvSpPr>
          <p:cNvPr id="13" name="Text Placeholder 29">
            <a:extLst>
              <a:ext uri="{FF2B5EF4-FFF2-40B4-BE49-F238E27FC236}">
                <a16:creationId xmlns:a16="http://schemas.microsoft.com/office/drawing/2014/main" id="{EDF7FCC4-80F8-93F6-F4FE-6E60740CE42A}"/>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dirty="0" err="1">
                <a:solidFill>
                  <a:schemeClr val="tx1"/>
                </a:solidFill>
              </a:rPr>
              <a:t>386,459 LOC</a:t>
            </a:r>
          </a:p>
        </p:txBody>
      </p:sp>
      <p:sp>
        <p:nvSpPr>
          <p:cNvPr id="3" name="Footer Placeholder 4">
            <a:extLst>
              <a:ext uri="{FF2B5EF4-FFF2-40B4-BE49-F238E27FC236}">
                <a16:creationId xmlns:a16="http://schemas.microsoft.com/office/drawing/2014/main" id="{0F9170FB-EB04-2D52-E4B3-55BBDBB00146}"/>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3325148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72F7C4-C3B1-B0C2-D389-99A8407F9CDC}"/>
              </a:ext>
            </a:extLst>
          </p:cNvPr>
          <p:cNvSpPr>
            <a:spLocks noGrp="1"/>
          </p:cNvSpPr>
          <p:nvPr>
            <p:ph type="body" sz="quarter" idx="12"/>
          </p:nvPr>
        </p:nvSpPr>
        <p:spPr>
          <a:xfrm>
            <a:off x="381600" y="129600"/>
            <a:ext cx="2169037" cy="228145"/>
          </a:xfrm>
        </p:spPr>
        <p:txBody>
          <a:bodyPr/>
          <a:lstStyle/>
          <a:p>
            <a:r>
              <a:rPr lang="en-US" noProof="0" dirty="0"/>
              <a:t>Key findings – Test code</a:t>
            </a:r>
          </a:p>
        </p:txBody>
      </p:sp>
      <p:sp>
        <p:nvSpPr>
          <p:cNvPr id="3" name="Content Placeholder 2">
            <a:extLst>
              <a:ext uri="{FF2B5EF4-FFF2-40B4-BE49-F238E27FC236}">
                <a16:creationId xmlns:a16="http://schemas.microsoft.com/office/drawing/2014/main" id="{009CAEBE-164D-836E-049D-4910A21076B4}"/>
              </a:ext>
            </a:extLst>
          </p:cNvPr>
          <p:cNvSpPr>
            <a:spLocks noGrp="1"/>
          </p:cNvSpPr>
          <p:nvPr>
            <p:ph sz="quarter" idx="13"/>
          </p:nvPr>
        </p:nvSpPr>
        <p:spPr>
          <a:xfrm>
            <a:off x="154800" y="1411200"/>
            <a:ext cx="5620353" cy="4842000"/>
          </a:xfrm>
        </p:spPr>
        <p:txBody>
          <a:bodyPr/>
          <a:lstStyle/>
          <a:p>
            <a:pPr marL="285750" indent="-285750">
              <a:lnSpc>
                <a:spcPct val="113000"/>
              </a:lnSpc>
              <a:buFont typeface="Arial" panose="020B0604020202020204" pitchFamily="34" charset="0"/>
              <a:buChar char="•"/>
            </a:pPr>
            <a:r>
              <a:rPr lang="en-US" noProof="0" dirty="0" err="1">
                <a:solidFill>
                  <a:schemeClr val="tx2"/>
                </a:solidFill>
              </a:rPr>
              <a:t>Integrationtest-kafka scores above market average, with 157% test/production code ratio. </a:t>
            </a:r>
          </a:p>
          <a:p>
            <a:pPr marL="285750" indent="-285750">
              <a:lnSpc>
                <a:spcPct val="113000"/>
              </a:lnSpc>
              <a:buFont typeface="Arial" panose="020B0604020202020204" pitchFamily="34" charset="0"/>
              <a:buChar char="•"/>
            </a:pPr>
            <a:r>
              <a:rPr lang="en-US" noProof="0" dirty="0" err="1">
                <a:solidFill>
                  <a:schemeClr val="tx2"/>
                </a:solidFill>
              </a:rPr>
              <a:t>that an extremely mature automated testing suite is in place, that will likely catch breaking changes at an early stage. This increases developer velocity and reduces bugs in production.</a:t>
            </a:r>
            <a:endParaRPr lang="en-US" noProof="0" dirty="0">
              <a:solidFill>
                <a:schemeClr val="tx2"/>
              </a:solidFill>
            </a:endParaRPr>
          </a:p>
        </p:txBody>
      </p:sp>
      <p:sp>
        <p:nvSpPr>
          <p:cNvPr id="5" name="Slide Number Placeholder 4">
            <a:extLst>
              <a:ext uri="{FF2B5EF4-FFF2-40B4-BE49-F238E27FC236}">
                <a16:creationId xmlns:a16="http://schemas.microsoft.com/office/drawing/2014/main" id="{E66DF9A9-2EED-6BE7-6C07-F39D9AF03C5F}"/>
              </a:ext>
            </a:extLst>
          </p:cNvPr>
          <p:cNvSpPr>
            <a:spLocks noGrp="1"/>
          </p:cNvSpPr>
          <p:nvPr>
            <p:ph type="sldNum" sz="quarter" idx="15"/>
          </p:nvPr>
        </p:nvSpPr>
        <p:spPr/>
        <p:txBody>
          <a:bodyPr/>
          <a:lstStyle/>
          <a:p>
            <a:fld id="{E242BD21-9B61-2246-BCB1-4BE5E1BEBE1C}" type="slidenum">
              <a:rPr lang="en-US" noProof="0" smtClean="0"/>
              <a:pPr/>
              <a:t>13</a:t>
            </a:fld>
            <a:endParaRPr lang="en-US" noProof="0" dirty="0"/>
          </a:p>
        </p:txBody>
      </p:sp>
      <p:sp>
        <p:nvSpPr>
          <p:cNvPr id="6" name="Title 5">
            <a:extLst>
              <a:ext uri="{FF2B5EF4-FFF2-40B4-BE49-F238E27FC236}">
                <a16:creationId xmlns:a16="http://schemas.microsoft.com/office/drawing/2014/main" id="{694AA2B4-9A41-D6AF-11A8-87EF447EE166}"/>
              </a:ext>
            </a:extLst>
          </p:cNvPr>
          <p:cNvSpPr>
            <a:spLocks noGrp="1"/>
          </p:cNvSpPr>
          <p:nvPr>
            <p:ph type="title"/>
          </p:nvPr>
        </p:nvSpPr>
        <p:spPr/>
        <p:txBody>
          <a:bodyPr/>
          <a:lstStyle/>
          <a:p>
            <a:r>
              <a:rPr lang="en-US" noProof="0" dirty="0" err="1"/>
              <a:t>Integrationtest-kafka has a above market average test/code ratio</a:t>
            </a:r>
          </a:p>
        </p:txBody>
      </p:sp>
      <p:cxnSp>
        <p:nvCxnSpPr>
          <p:cNvPr id="7" name="Straight Connector 31">
            <a:extLst>
              <a:ext uri="{FF2B5EF4-FFF2-40B4-BE49-F238E27FC236}">
                <a16:creationId xmlns:a16="http://schemas.microsoft.com/office/drawing/2014/main" id="{5736F781-52FC-C240-8546-50219238C95E}"/>
              </a:ext>
            </a:extLst>
          </p:cNvPr>
          <p:cNvCxnSpPr>
            <a:cxnSpLocks/>
          </p:cNvCxnSpPr>
          <p:nvPr/>
        </p:nvCxnSpPr>
        <p:spPr>
          <a:xfrm>
            <a:off x="6094800"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5AD662-7602-636C-AACA-DB9C425C5BB8}"/>
              </a:ext>
            </a:extLst>
          </p:cNvPr>
          <p:cNvSpPr txBox="1"/>
          <p:nvPr/>
        </p:nvSpPr>
        <p:spPr>
          <a:xfrm>
            <a:off x="6618419" y="1366988"/>
            <a:ext cx="5201030" cy="353558"/>
          </a:xfrm>
          <a:prstGeom prst="rect">
            <a:avLst/>
          </a:prstGeom>
          <a:noFill/>
        </p:spPr>
        <p:txBody>
          <a:bodyPr wrap="square" lIns="90000" rtlCol="0" anchor="t">
            <a:spAutoFit/>
          </a:bodyPr>
          <a:lstStyle/>
          <a:p>
            <a:pPr algn="ctr">
              <a:lnSpc>
                <a:spcPct val="113000"/>
              </a:lnSpc>
            </a:pPr>
            <a:r>
              <a:rPr lang="en-US" sz="1600" noProof="0" dirty="0" err="1">
                <a:latin typeface="Noir Pro Semi Bold" pitchFamily="2" charset="0"/>
              </a:rPr>
              <a:t>157% overall Test/code ratio</a:t>
            </a:r>
          </a:p>
        </p:txBody>
      </p:sp>
      <p:pic>
        <p:nvPicPr>
          <p:cNvPr id="9" name="Picture 8">
            <a:extLst>
              <a:ext uri="{FF2B5EF4-FFF2-40B4-BE49-F238E27FC236}">
                <a16:creationId xmlns:a16="http://schemas.microsoft.com/office/drawing/2014/main" id="{1C33388D-52FF-10DF-3C03-01B6DD6936E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839649" y="5882683"/>
            <a:ext cx="4758570" cy="307564"/>
          </a:xfrm>
          <a:prstGeom prst="rect">
            <a:avLst/>
          </a:prstGeom>
        </p:spPr>
      </p:pic>
      <p:graphicFrame>
        <p:nvGraphicFramePr>
          <p:cNvPr id="10" name="TEST_CODE_RATIO_CHART">
            <a:extLst>
              <a:ext uri="{FF2B5EF4-FFF2-40B4-BE49-F238E27FC236}">
                <a16:creationId xmlns:a16="http://schemas.microsoft.com/office/drawing/2014/main" id="{09595FD5-5B13-CF14-5B29-9E2438F6DBA0}"/>
              </a:ext>
            </a:extLst>
          </p:cNvPr>
          <p:cNvGraphicFramePr>
            <a:graphicFrameLocks/>
          </p:cNvGraphicFramePr>
          <p:nvPr/>
        </p:nvGraphicFramePr>
        <p:xfrm>
          <a:off x="7109907" y="1819134"/>
          <a:ext cx="4218054" cy="4026131"/>
        </p:xfrm>
        <a:graphic>
          <a:graphicData uri="http://schemas.openxmlformats.org/drawingml/2006/chart">
            <c:chart xmlns:c="http://schemas.openxmlformats.org/drawingml/2006/chart" xmlns:r="http://schemas.openxmlformats.org/officeDocument/2006/relationships" r:id="rId3"/>
          </a:graphicData>
        </a:graphic>
      </p:graphicFrame>
      <p:sp>
        <p:nvSpPr>
          <p:cNvPr id="11" name="Footer Placeholder 4">
            <a:extLst>
              <a:ext uri="{FF2B5EF4-FFF2-40B4-BE49-F238E27FC236}">
                <a16:creationId xmlns:a16="http://schemas.microsoft.com/office/drawing/2014/main" id="{ECC94B99-D17E-9114-E33E-B540BB7AA664}"/>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3355961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029-494E-D668-93B1-7F49FC34F0BB}"/>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378968FB-3711-3026-1330-401242361C5B}"/>
              </a:ext>
            </a:extLst>
          </p:cNvPr>
          <p:cNvSpPr/>
          <p:nvPr/>
        </p:nvSpPr>
        <p:spPr>
          <a:xfrm>
            <a:off x="3385191" y="1063763"/>
            <a:ext cx="5340638" cy="5340638"/>
          </a:xfrm>
          <a:prstGeom prst="ellipse">
            <a:avLst/>
          </a:prstGeom>
          <a:gradFill>
            <a:gsLst>
              <a:gs pos="0">
                <a:schemeClr val="accent2">
                  <a:alpha val="15073"/>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5" name="Oval 64">
            <a:extLst>
              <a:ext uri="{FF2B5EF4-FFF2-40B4-BE49-F238E27FC236}">
                <a16:creationId xmlns:a16="http://schemas.microsoft.com/office/drawing/2014/main" id="{D589D5F7-9445-B968-24E7-C852C6FE25B8}"/>
              </a:ext>
            </a:extLst>
          </p:cNvPr>
          <p:cNvSpPr/>
          <p:nvPr/>
        </p:nvSpPr>
        <p:spPr>
          <a:xfrm>
            <a:off x="4004388" y="1634792"/>
            <a:ext cx="4180824" cy="4180824"/>
          </a:xfrm>
          <a:prstGeom prst="ellipse">
            <a:avLst/>
          </a:prstGeom>
          <a:gradFill>
            <a:gsLst>
              <a:gs pos="0">
                <a:schemeClr val="accent2">
                  <a:alpha val="20000"/>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3" name="Text Placeholder 62">
            <a:extLst>
              <a:ext uri="{FF2B5EF4-FFF2-40B4-BE49-F238E27FC236}">
                <a16:creationId xmlns:a16="http://schemas.microsoft.com/office/drawing/2014/main" id="{8492BCF5-82F4-DA5D-4789-A5B31042FCD0}"/>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5" name="Tijdelijke aanduiding voor dianummer 4">
            <a:extLst>
              <a:ext uri="{FF2B5EF4-FFF2-40B4-BE49-F238E27FC236}">
                <a16:creationId xmlns:a16="http://schemas.microsoft.com/office/drawing/2014/main" id="{F0CE3D29-F258-C742-2A14-BCF03986DEC9}"/>
              </a:ext>
            </a:extLst>
          </p:cNvPr>
          <p:cNvSpPr>
            <a:spLocks noGrp="1"/>
          </p:cNvSpPr>
          <p:nvPr>
            <p:ph type="sldNum" sz="quarter" idx="15"/>
          </p:nvPr>
        </p:nvSpPr>
        <p:spPr/>
        <p:txBody>
          <a:bodyPr/>
          <a:lstStyle/>
          <a:p>
            <a:fld id="{E242BD21-9B61-2246-BCB1-4BE5E1BEBE1C}" type="slidenum">
              <a:rPr lang="en-US" noProof="0" smtClean="0"/>
              <a:pPr/>
              <a:t>14</a:t>
            </a:fld>
            <a:endParaRPr lang="en-US" noProof="0" dirty="0"/>
          </a:p>
        </p:txBody>
      </p:sp>
      <p:sp>
        <p:nvSpPr>
          <p:cNvPr id="70" name="Title 69">
            <a:extLst>
              <a:ext uri="{FF2B5EF4-FFF2-40B4-BE49-F238E27FC236}">
                <a16:creationId xmlns:a16="http://schemas.microsoft.com/office/drawing/2014/main" id="{FEE2E2EB-95CB-3211-6E1B-4E3530EAF847}"/>
              </a:ext>
            </a:extLst>
          </p:cNvPr>
          <p:cNvSpPr>
            <a:spLocks noGrp="1"/>
          </p:cNvSpPr>
          <p:nvPr>
            <p:ph type="title"/>
          </p:nvPr>
        </p:nvSpPr>
        <p:spPr/>
        <p:txBody>
          <a:bodyPr/>
          <a:lstStyle/>
          <a:p>
            <a:r>
              <a:rPr lang="en-US" noProof="0" dirty="0"/>
              <a:t>Explanation: The Architecture Quality model has 5 sub-characteristics</a:t>
            </a:r>
          </a:p>
        </p:txBody>
      </p:sp>
      <p:sp>
        <p:nvSpPr>
          <p:cNvPr id="8" name="Oval 7">
            <a:extLst>
              <a:ext uri="{FF2B5EF4-FFF2-40B4-BE49-F238E27FC236}">
                <a16:creationId xmlns:a16="http://schemas.microsoft.com/office/drawing/2014/main" id="{2BBBE6C2-E269-6739-DCEE-23464110F405}"/>
              </a:ext>
            </a:extLst>
          </p:cNvPr>
          <p:cNvSpPr/>
          <p:nvPr/>
        </p:nvSpPr>
        <p:spPr>
          <a:xfrm>
            <a:off x="4673297" y="2304400"/>
            <a:ext cx="2849490" cy="2849490"/>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9" name="Oval 8">
            <a:extLst>
              <a:ext uri="{FF2B5EF4-FFF2-40B4-BE49-F238E27FC236}">
                <a16:creationId xmlns:a16="http://schemas.microsoft.com/office/drawing/2014/main" id="{6FA26AD2-CD18-09AA-6259-47A153EFE58B}"/>
              </a:ext>
            </a:extLst>
          </p:cNvPr>
          <p:cNvSpPr/>
          <p:nvPr/>
        </p:nvSpPr>
        <p:spPr>
          <a:xfrm>
            <a:off x="5029556" y="2660659"/>
            <a:ext cx="2136972" cy="2136972"/>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0" name="Oval 9">
            <a:extLst>
              <a:ext uri="{FF2B5EF4-FFF2-40B4-BE49-F238E27FC236}">
                <a16:creationId xmlns:a16="http://schemas.microsoft.com/office/drawing/2014/main" id="{DFAF19FF-BA37-4380-8088-C15619A977BB}"/>
              </a:ext>
            </a:extLst>
          </p:cNvPr>
          <p:cNvSpPr/>
          <p:nvPr/>
        </p:nvSpPr>
        <p:spPr>
          <a:xfrm>
            <a:off x="5326438" y="2957541"/>
            <a:ext cx="1543208" cy="1543208"/>
          </a:xfrm>
          <a:prstGeom prst="ellipse">
            <a:avLst/>
          </a:prstGeom>
          <a:gradFill>
            <a:gsLst>
              <a:gs pos="9000">
                <a:schemeClr val="accent2"/>
              </a:gs>
              <a:gs pos="50000">
                <a:schemeClr val="accent2">
                  <a:alpha val="15753"/>
                </a:schemeClr>
              </a:gs>
            </a:gsLst>
            <a:lin ang="2700000" scaled="0"/>
          </a:gradFill>
          <a:ln w="12700">
            <a:solidFill>
              <a:schemeClr val="accent2">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18" name="Oval 17">
            <a:extLst>
              <a:ext uri="{FF2B5EF4-FFF2-40B4-BE49-F238E27FC236}">
                <a16:creationId xmlns:a16="http://schemas.microsoft.com/office/drawing/2014/main" id="{D307C4FC-5D3C-8B82-ABE5-E660625B78E4}"/>
              </a:ext>
            </a:extLst>
          </p:cNvPr>
          <p:cNvSpPr/>
          <p:nvPr/>
        </p:nvSpPr>
        <p:spPr>
          <a:xfrm>
            <a:off x="5568436" y="2929751"/>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0" name="Oval 19">
            <a:extLst>
              <a:ext uri="{FF2B5EF4-FFF2-40B4-BE49-F238E27FC236}">
                <a16:creationId xmlns:a16="http://schemas.microsoft.com/office/drawing/2014/main" id="{73E6D6D2-88F4-7BC7-6A46-956C025FCA17}"/>
              </a:ext>
            </a:extLst>
          </p:cNvPr>
          <p:cNvSpPr/>
          <p:nvPr/>
        </p:nvSpPr>
        <p:spPr>
          <a:xfrm>
            <a:off x="6273956" y="2796588"/>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3" name="Oval 22">
            <a:extLst>
              <a:ext uri="{FF2B5EF4-FFF2-40B4-BE49-F238E27FC236}">
                <a16:creationId xmlns:a16="http://schemas.microsoft.com/office/drawing/2014/main" id="{CB747E2F-C70D-5244-BE82-8BC4127DBA7A}"/>
              </a:ext>
            </a:extLst>
          </p:cNvPr>
          <p:cNvSpPr/>
          <p:nvPr/>
        </p:nvSpPr>
        <p:spPr>
          <a:xfrm>
            <a:off x="5366019" y="4285002"/>
            <a:ext cx="53706" cy="537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4" name="Oval 23">
            <a:extLst>
              <a:ext uri="{FF2B5EF4-FFF2-40B4-BE49-F238E27FC236}">
                <a16:creationId xmlns:a16="http://schemas.microsoft.com/office/drawing/2014/main" id="{2E0BE4FB-999C-BF27-B8A7-24066A3BA8E6}"/>
              </a:ext>
            </a:extLst>
          </p:cNvPr>
          <p:cNvSpPr/>
          <p:nvPr/>
        </p:nvSpPr>
        <p:spPr>
          <a:xfrm>
            <a:off x="6782160" y="4192256"/>
            <a:ext cx="125744" cy="1257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6" name="Oval 25">
            <a:extLst>
              <a:ext uri="{FF2B5EF4-FFF2-40B4-BE49-F238E27FC236}">
                <a16:creationId xmlns:a16="http://schemas.microsoft.com/office/drawing/2014/main" id="{28056860-5CC6-F621-9AF7-D77ECA38E4A9}"/>
              </a:ext>
            </a:extLst>
          </p:cNvPr>
          <p:cNvSpPr/>
          <p:nvPr/>
        </p:nvSpPr>
        <p:spPr>
          <a:xfrm>
            <a:off x="5869449" y="4879641"/>
            <a:ext cx="64650" cy="646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7" name="Oval 26">
            <a:extLst>
              <a:ext uri="{FF2B5EF4-FFF2-40B4-BE49-F238E27FC236}">
                <a16:creationId xmlns:a16="http://schemas.microsoft.com/office/drawing/2014/main" id="{B1D96119-A37F-9FA6-9D63-881C9E5767A1}"/>
              </a:ext>
            </a:extLst>
          </p:cNvPr>
          <p:cNvSpPr/>
          <p:nvPr/>
        </p:nvSpPr>
        <p:spPr>
          <a:xfrm>
            <a:off x="6914740" y="4575176"/>
            <a:ext cx="114710" cy="114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0" name="Arc 29">
            <a:extLst>
              <a:ext uri="{FF2B5EF4-FFF2-40B4-BE49-F238E27FC236}">
                <a16:creationId xmlns:a16="http://schemas.microsoft.com/office/drawing/2014/main" id="{14CEDFBA-98DB-3774-1CF7-DBB1D4C2DAFF}"/>
              </a:ext>
            </a:extLst>
          </p:cNvPr>
          <p:cNvSpPr/>
          <p:nvPr/>
        </p:nvSpPr>
        <p:spPr>
          <a:xfrm>
            <a:off x="4854843" y="2491915"/>
            <a:ext cx="2499248" cy="2476634"/>
          </a:xfrm>
          <a:prstGeom prst="arc">
            <a:avLst>
              <a:gd name="adj1" fmla="val 17025432"/>
              <a:gd name="adj2" fmla="val 2774786"/>
            </a:avLst>
          </a:prstGeom>
          <a:ln w="9525">
            <a:gradFill>
              <a:gsLst>
                <a:gs pos="0">
                  <a:schemeClr val="accent4">
                    <a:alpha val="50179"/>
                  </a:schemeClr>
                </a:gs>
                <a:gs pos="99000">
                  <a:schemeClr val="accent4">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32" name="Straight Connector 31">
            <a:extLst>
              <a:ext uri="{FF2B5EF4-FFF2-40B4-BE49-F238E27FC236}">
                <a16:creationId xmlns:a16="http://schemas.microsoft.com/office/drawing/2014/main" id="{D50F3A37-B10B-6BF3-08EA-55E6FC5DEEC4}"/>
              </a:ext>
            </a:extLst>
          </p:cNvPr>
          <p:cNvCxnSpPr>
            <a:cxnSpLocks/>
          </p:cNvCxnSpPr>
          <p:nvPr/>
        </p:nvCxnSpPr>
        <p:spPr>
          <a:xfrm flipH="1">
            <a:off x="6308248" y="2534585"/>
            <a:ext cx="87026" cy="323621"/>
          </a:xfrm>
          <a:prstGeom prst="line">
            <a:avLst/>
          </a:prstGeom>
          <a:ln w="9525">
            <a:solidFill>
              <a:schemeClr val="accent4">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E941E86-D981-FF71-D949-E2216C1311D3}"/>
              </a:ext>
            </a:extLst>
          </p:cNvPr>
          <p:cNvSpPr/>
          <p:nvPr/>
        </p:nvSpPr>
        <p:spPr>
          <a:xfrm>
            <a:off x="6357959" y="2486875"/>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8" name="Oval 27">
            <a:extLst>
              <a:ext uri="{FF2B5EF4-FFF2-40B4-BE49-F238E27FC236}">
                <a16:creationId xmlns:a16="http://schemas.microsoft.com/office/drawing/2014/main" id="{A0731FB3-842F-CE4C-6A7D-C66BFBA979CB}"/>
              </a:ext>
            </a:extLst>
          </p:cNvPr>
          <p:cNvSpPr/>
          <p:nvPr/>
        </p:nvSpPr>
        <p:spPr>
          <a:xfrm>
            <a:off x="7254794" y="3280294"/>
            <a:ext cx="45720" cy="45720"/>
          </a:xfrm>
          <a:prstGeom prst="ellipse">
            <a:avLst/>
          </a:prstGeom>
          <a:solidFill>
            <a:srgbClr val="E98C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1" name="Oval 20">
            <a:extLst>
              <a:ext uri="{FF2B5EF4-FFF2-40B4-BE49-F238E27FC236}">
                <a16:creationId xmlns:a16="http://schemas.microsoft.com/office/drawing/2014/main" id="{5E15D319-A4BF-BADF-EA8F-108D5DB2E930}"/>
              </a:ext>
            </a:extLst>
          </p:cNvPr>
          <p:cNvSpPr/>
          <p:nvPr/>
        </p:nvSpPr>
        <p:spPr>
          <a:xfrm>
            <a:off x="4827909" y="3511470"/>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48" name="Straight Connector 47">
            <a:extLst>
              <a:ext uri="{FF2B5EF4-FFF2-40B4-BE49-F238E27FC236}">
                <a16:creationId xmlns:a16="http://schemas.microsoft.com/office/drawing/2014/main" id="{63B8DC8C-B95F-EDCF-F8D6-2F12C41BCD78}"/>
              </a:ext>
            </a:extLst>
          </p:cNvPr>
          <p:cNvCxnSpPr>
            <a:cxnSpLocks/>
          </p:cNvCxnSpPr>
          <p:nvPr/>
        </p:nvCxnSpPr>
        <p:spPr>
          <a:xfrm>
            <a:off x="6096000" y="4363444"/>
            <a:ext cx="0" cy="263379"/>
          </a:xfrm>
          <a:prstGeom prst="line">
            <a:avLst/>
          </a:prstGeom>
          <a:ln w="9525">
            <a:solidFill>
              <a:schemeClr val="accent2">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FB75F26-044E-8FDB-8FC7-48A801F00A33}"/>
              </a:ext>
            </a:extLst>
          </p:cNvPr>
          <p:cNvSpPr/>
          <p:nvPr/>
        </p:nvSpPr>
        <p:spPr>
          <a:xfrm>
            <a:off x="6060913" y="4603426"/>
            <a:ext cx="70174" cy="70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51" name="Oval 50">
            <a:extLst>
              <a:ext uri="{FF2B5EF4-FFF2-40B4-BE49-F238E27FC236}">
                <a16:creationId xmlns:a16="http://schemas.microsoft.com/office/drawing/2014/main" id="{9BC0DD81-BAF5-A5D9-3061-E49E7A4ED10C}"/>
              </a:ext>
            </a:extLst>
          </p:cNvPr>
          <p:cNvSpPr/>
          <p:nvPr/>
        </p:nvSpPr>
        <p:spPr>
          <a:xfrm>
            <a:off x="6040908" y="4313883"/>
            <a:ext cx="112242" cy="1122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Content Placeholder 70">
            <a:extLst>
              <a:ext uri="{FF2B5EF4-FFF2-40B4-BE49-F238E27FC236}">
                <a16:creationId xmlns:a16="http://schemas.microsoft.com/office/drawing/2014/main" id="{E6055D41-C03E-E248-ACEE-166CE141D420}"/>
              </a:ext>
            </a:extLst>
          </p:cNvPr>
          <p:cNvSpPr txBox="1">
            <a:spLocks/>
          </p:cNvSpPr>
          <p:nvPr/>
        </p:nvSpPr>
        <p:spPr>
          <a:xfrm>
            <a:off x="8399369" y="1411200"/>
            <a:ext cx="3399054" cy="4842000"/>
          </a:xfrm>
          <a:prstGeom prst="rect">
            <a:avLst/>
          </a:prstGeom>
        </p:spPr>
        <p:txBody>
          <a:bodyPr vert="horz" lIns="216000" tIns="0" rIns="91440" bIns="27432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400" noProof="0" dirty="0">
                <a:solidFill>
                  <a:schemeClr val="accent3"/>
                </a:solidFill>
                <a:latin typeface="Azeret Mono" pitchFamily="2" charset="77"/>
                <a:cs typeface="Azeret Mono" pitchFamily="2" charset="77"/>
              </a:rPr>
              <a:t>The SIG Architecture Quality model</a:t>
            </a:r>
            <a:r>
              <a:rPr lang="en-US" sz="1400" noProof="0" dirty="0">
                <a:latin typeface="Azeret Mono" pitchFamily="2" charset="77"/>
                <a:cs typeface="Azeret Mono" pitchFamily="2" charset="77"/>
              </a:rPr>
              <a:t> provides insight into the ability for an application to evolve as business needs change. </a:t>
            </a:r>
          </a:p>
          <a:p>
            <a:r>
              <a:rPr lang="en-US" sz="1400" noProof="0" dirty="0">
                <a:latin typeface="Azeret Mono" pitchFamily="2" charset="77"/>
                <a:cs typeface="Azeret Mono" pitchFamily="2" charset="77"/>
              </a:rPr>
              <a:t>Each of the 5 sub-characteristics represent properties of software architecture that affect the velocity in which foundational changes can be made to a software system.</a:t>
            </a:r>
            <a:endParaRPr lang="en-US" sz="1400" noProof="0" dirty="0">
              <a:solidFill>
                <a:schemeClr val="accent3"/>
              </a:solidFill>
              <a:latin typeface="Azeret Mono" pitchFamily="2" charset="77"/>
              <a:cs typeface="Azeret Mono" pitchFamily="2" charset="77"/>
            </a:endParaRPr>
          </a:p>
        </p:txBody>
      </p:sp>
      <p:sp>
        <p:nvSpPr>
          <p:cNvPr id="78" name="Arc 77">
            <a:extLst>
              <a:ext uri="{FF2B5EF4-FFF2-40B4-BE49-F238E27FC236}">
                <a16:creationId xmlns:a16="http://schemas.microsoft.com/office/drawing/2014/main" id="{7CA71824-DE20-DA21-5CC7-3D536499FC0C}"/>
              </a:ext>
            </a:extLst>
          </p:cNvPr>
          <p:cNvSpPr/>
          <p:nvPr/>
        </p:nvSpPr>
        <p:spPr>
          <a:xfrm>
            <a:off x="4403883" y="2031167"/>
            <a:ext cx="3381834" cy="3405830"/>
          </a:xfrm>
          <a:prstGeom prst="arc">
            <a:avLst>
              <a:gd name="adj1" fmla="val 20386561"/>
              <a:gd name="adj2" fmla="val 13132678"/>
            </a:avLst>
          </a:prstGeom>
          <a:ln w="12700">
            <a:gradFill>
              <a:gsLst>
                <a:gs pos="98000">
                  <a:schemeClr val="bg1">
                    <a:alpha val="0"/>
                  </a:schemeClr>
                </a:gs>
                <a:gs pos="68000">
                  <a:schemeClr val="bg1">
                    <a:alpha val="29485"/>
                  </a:schemeClr>
                </a:gs>
                <a:gs pos="8000">
                  <a:schemeClr val="accent4"/>
                </a:gs>
                <a:gs pos="18000">
                  <a:schemeClr val="accent4">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79" name="Graphic 78">
            <a:extLst>
              <a:ext uri="{FF2B5EF4-FFF2-40B4-BE49-F238E27FC236}">
                <a16:creationId xmlns:a16="http://schemas.microsoft.com/office/drawing/2014/main" id="{DB38BDF3-5B3D-61AB-2CFF-AC99F2B0D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8177" y="5298575"/>
            <a:ext cx="433246" cy="288828"/>
          </a:xfrm>
          <a:prstGeom prst="rect">
            <a:avLst/>
          </a:prstGeom>
          <a:effectLst/>
        </p:spPr>
      </p:pic>
      <p:sp>
        <p:nvSpPr>
          <p:cNvPr id="99" name="Arc 98">
            <a:extLst>
              <a:ext uri="{FF2B5EF4-FFF2-40B4-BE49-F238E27FC236}">
                <a16:creationId xmlns:a16="http://schemas.microsoft.com/office/drawing/2014/main" id="{BC3F6D0B-39A8-7839-4108-79110D4A7C29}"/>
              </a:ext>
            </a:extLst>
          </p:cNvPr>
          <p:cNvSpPr/>
          <p:nvPr/>
        </p:nvSpPr>
        <p:spPr>
          <a:xfrm>
            <a:off x="5176684" y="2825556"/>
            <a:ext cx="1850921" cy="1820186"/>
          </a:xfrm>
          <a:prstGeom prst="arc">
            <a:avLst>
              <a:gd name="adj1" fmla="val 5508426"/>
              <a:gd name="adj2" fmla="val 14121050"/>
            </a:avLst>
          </a:prstGeom>
          <a:ln w="9525">
            <a:gradFill>
              <a:gsLst>
                <a:gs pos="0">
                  <a:schemeClr val="accent2">
                    <a:alpha val="90000"/>
                  </a:schemeClr>
                </a:gs>
                <a:gs pos="99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7" name="Tekstvak 6">
            <a:extLst>
              <a:ext uri="{FF2B5EF4-FFF2-40B4-BE49-F238E27FC236}">
                <a16:creationId xmlns:a16="http://schemas.microsoft.com/office/drawing/2014/main" id="{DDA7093A-1B01-B016-708F-AB00927B2C3C}"/>
              </a:ext>
            </a:extLst>
          </p:cNvPr>
          <p:cNvSpPr txBox="1"/>
          <p:nvPr/>
        </p:nvSpPr>
        <p:spPr>
          <a:xfrm>
            <a:off x="1362254" y="2467036"/>
            <a:ext cx="2137273" cy="357214"/>
          </a:xfrm>
          <a:prstGeom prst="rect">
            <a:avLst/>
          </a:prstGeom>
          <a:noFill/>
        </p:spPr>
        <p:txBody>
          <a:bodyPr wrap="none" lIns="90000" rtlCol="0" anchor="t">
            <a:spAutoFit/>
          </a:bodyPr>
          <a:lstStyle/>
          <a:p>
            <a:pPr algn="r">
              <a:lnSpc>
                <a:spcPct val="113000"/>
              </a:lnSpc>
            </a:pPr>
            <a:r>
              <a:rPr lang="en-US" sz="1600" noProof="0" dirty="0">
                <a:solidFill>
                  <a:schemeClr val="accent2"/>
                </a:solidFill>
                <a:effectLst>
                  <a:outerShdw blurRad="229337" sx="102000" sy="102000" algn="ctr" rotWithShape="0">
                    <a:schemeClr val="accent2">
                      <a:alpha val="20000"/>
                    </a:schemeClr>
                  </a:outerShdw>
                </a:effectLst>
                <a:latin typeface="☞NOIR PRO MEDIUM" pitchFamily="2" charset="0"/>
              </a:rPr>
              <a:t>Architecture Quality</a:t>
            </a:r>
          </a:p>
        </p:txBody>
      </p:sp>
      <p:sp>
        <p:nvSpPr>
          <p:cNvPr id="12" name="Boog 11">
            <a:extLst>
              <a:ext uri="{FF2B5EF4-FFF2-40B4-BE49-F238E27FC236}">
                <a16:creationId xmlns:a16="http://schemas.microsoft.com/office/drawing/2014/main" id="{9C79D787-D6AD-4F8F-4E1E-93558DDEBC19}"/>
              </a:ext>
            </a:extLst>
          </p:cNvPr>
          <p:cNvSpPr>
            <a:spLocks noChangeAspect="1"/>
          </p:cNvSpPr>
          <p:nvPr/>
        </p:nvSpPr>
        <p:spPr>
          <a:xfrm>
            <a:off x="3385191" y="1063763"/>
            <a:ext cx="5342400" cy="5342400"/>
          </a:xfrm>
          <a:prstGeom prst="arc">
            <a:avLst>
              <a:gd name="adj1" fmla="val 8378942"/>
              <a:gd name="adj2" fmla="val 12416581"/>
            </a:avLst>
          </a:prstGeom>
          <a:ln w="12700">
            <a:gradFill>
              <a:gsLst>
                <a:gs pos="83000">
                  <a:schemeClr val="accent2"/>
                </a:gs>
                <a:gs pos="16000">
                  <a:srgbClr val="1763FF"/>
                </a:gs>
                <a:gs pos="0">
                  <a:srgbClr val="1763FF">
                    <a:alpha val="0"/>
                  </a:srgbClr>
                </a:gs>
                <a:gs pos="100000">
                  <a:schemeClr val="accent2">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 name="Ovaal 12">
            <a:extLst>
              <a:ext uri="{FF2B5EF4-FFF2-40B4-BE49-F238E27FC236}">
                <a16:creationId xmlns:a16="http://schemas.microsoft.com/office/drawing/2014/main" id="{7370D5DE-BDC4-C35E-9C2E-91716BD02B09}"/>
              </a:ext>
            </a:extLst>
          </p:cNvPr>
          <p:cNvSpPr/>
          <p:nvPr/>
        </p:nvSpPr>
        <p:spPr>
          <a:xfrm>
            <a:off x="3385191" y="3111240"/>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 name="Ovaal 13">
            <a:extLst>
              <a:ext uri="{FF2B5EF4-FFF2-40B4-BE49-F238E27FC236}">
                <a16:creationId xmlns:a16="http://schemas.microsoft.com/office/drawing/2014/main" id="{05F72ED1-5264-5B67-3E36-3014750C4C2F}"/>
              </a:ext>
            </a:extLst>
          </p:cNvPr>
          <p:cNvSpPr/>
          <p:nvPr/>
        </p:nvSpPr>
        <p:spPr>
          <a:xfrm>
            <a:off x="3323073" y="359028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 name="Ovaal 14">
            <a:extLst>
              <a:ext uri="{FF2B5EF4-FFF2-40B4-BE49-F238E27FC236}">
                <a16:creationId xmlns:a16="http://schemas.microsoft.com/office/drawing/2014/main" id="{D527CEC1-161B-AAA5-0623-23D5400DE1FD}"/>
              </a:ext>
            </a:extLst>
          </p:cNvPr>
          <p:cNvSpPr/>
          <p:nvPr/>
        </p:nvSpPr>
        <p:spPr>
          <a:xfrm>
            <a:off x="3364103" y="4093669"/>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Ovaal 16">
            <a:extLst>
              <a:ext uri="{FF2B5EF4-FFF2-40B4-BE49-F238E27FC236}">
                <a16:creationId xmlns:a16="http://schemas.microsoft.com/office/drawing/2014/main" id="{76D1A933-8CFE-0DCE-2D90-AA32A2AEAE8A}"/>
              </a:ext>
            </a:extLst>
          </p:cNvPr>
          <p:cNvSpPr/>
          <p:nvPr/>
        </p:nvSpPr>
        <p:spPr>
          <a:xfrm>
            <a:off x="3496656" y="4588574"/>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Ovaal 18">
            <a:extLst>
              <a:ext uri="{FF2B5EF4-FFF2-40B4-BE49-F238E27FC236}">
                <a16:creationId xmlns:a16="http://schemas.microsoft.com/office/drawing/2014/main" id="{018CDC19-0EC4-9F41-5100-944A5A79A3FA}"/>
              </a:ext>
            </a:extLst>
          </p:cNvPr>
          <p:cNvSpPr/>
          <p:nvPr/>
        </p:nvSpPr>
        <p:spPr>
          <a:xfrm>
            <a:off x="3728666" y="508934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5" name="Tekstvak 24">
            <a:extLst>
              <a:ext uri="{FF2B5EF4-FFF2-40B4-BE49-F238E27FC236}">
                <a16:creationId xmlns:a16="http://schemas.microsoft.com/office/drawing/2014/main" id="{411E51BD-8E0A-61AA-F8D8-E2C22B791EE6}"/>
              </a:ext>
            </a:extLst>
          </p:cNvPr>
          <p:cNvSpPr txBox="1"/>
          <p:nvPr/>
        </p:nvSpPr>
        <p:spPr>
          <a:xfrm>
            <a:off x="2233759" y="2957541"/>
            <a:ext cx="109371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Structure</a:t>
            </a:r>
          </a:p>
        </p:txBody>
      </p:sp>
      <p:sp>
        <p:nvSpPr>
          <p:cNvPr id="29" name="Tekstvak 28">
            <a:extLst>
              <a:ext uri="{FF2B5EF4-FFF2-40B4-BE49-F238E27FC236}">
                <a16:creationId xmlns:a16="http://schemas.microsoft.com/office/drawing/2014/main" id="{6A376295-9E29-C7D4-23E5-9B1234CB0463}"/>
              </a:ext>
            </a:extLst>
          </p:cNvPr>
          <p:cNvSpPr txBox="1"/>
          <p:nvPr/>
        </p:nvSpPr>
        <p:spPr>
          <a:xfrm>
            <a:off x="1738004" y="3456782"/>
            <a:ext cx="1533005" cy="356764"/>
          </a:xfrm>
          <a:prstGeom prst="rect">
            <a:avLst/>
          </a:prstGeom>
          <a:noFill/>
        </p:spPr>
        <p:txBody>
          <a:bodyPr wrap="none" lIns="90000" rtlCol="0" anchor="t">
            <a:spAutoFit/>
          </a:bodyPr>
          <a:lstStyle>
            <a:defPPr>
              <a:defRPr lang="en-US"/>
            </a:defPPr>
            <a:lvl1pPr algn="r">
              <a:lnSpc>
                <a:spcPct val="113000"/>
              </a:lnSpc>
              <a:defRPr sz="1600">
                <a:solidFill>
                  <a:schemeClr val="bg1"/>
                </a:solidFill>
                <a:latin typeface="☞NOIR PRO MEDIUM" pitchFamily="2" charset="0"/>
              </a:defRPr>
            </a:lvl1pPr>
          </a:lstStyle>
          <a:p>
            <a:r>
              <a:rPr lang="en-US" noProof="0" dirty="0"/>
              <a:t>Communication</a:t>
            </a:r>
          </a:p>
        </p:txBody>
      </p:sp>
      <p:sp>
        <p:nvSpPr>
          <p:cNvPr id="31" name="Tekstvak 30">
            <a:extLst>
              <a:ext uri="{FF2B5EF4-FFF2-40B4-BE49-F238E27FC236}">
                <a16:creationId xmlns:a16="http://schemas.microsoft.com/office/drawing/2014/main" id="{1D693990-F9F5-6A3F-373A-F98CAD402E8F}"/>
              </a:ext>
            </a:extLst>
          </p:cNvPr>
          <p:cNvSpPr txBox="1"/>
          <p:nvPr/>
        </p:nvSpPr>
        <p:spPr>
          <a:xfrm>
            <a:off x="1928405" y="3956023"/>
            <a:ext cx="138225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Data access</a:t>
            </a:r>
          </a:p>
        </p:txBody>
      </p:sp>
      <p:sp>
        <p:nvSpPr>
          <p:cNvPr id="33" name="Tekstvak 32">
            <a:extLst>
              <a:ext uri="{FF2B5EF4-FFF2-40B4-BE49-F238E27FC236}">
                <a16:creationId xmlns:a16="http://schemas.microsoft.com/office/drawing/2014/main" id="{2093B8B8-8C79-64C9-64E5-517C5AA9AA30}"/>
              </a:ext>
            </a:extLst>
          </p:cNvPr>
          <p:cNvSpPr txBox="1"/>
          <p:nvPr/>
        </p:nvSpPr>
        <p:spPr>
          <a:xfrm>
            <a:off x="2353845" y="4455264"/>
            <a:ext cx="1060055"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Evolution</a:t>
            </a:r>
          </a:p>
        </p:txBody>
      </p:sp>
      <p:sp>
        <p:nvSpPr>
          <p:cNvPr id="34" name="Tekstvak 33">
            <a:extLst>
              <a:ext uri="{FF2B5EF4-FFF2-40B4-BE49-F238E27FC236}">
                <a16:creationId xmlns:a16="http://schemas.microsoft.com/office/drawing/2014/main" id="{1C9C562C-B3AC-5C48-5694-72B1C7FF5D8F}"/>
              </a:ext>
            </a:extLst>
          </p:cNvPr>
          <p:cNvSpPr txBox="1"/>
          <p:nvPr/>
        </p:nvSpPr>
        <p:spPr>
          <a:xfrm>
            <a:off x="2385919" y="4954505"/>
            <a:ext cx="124920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Knowledge</a:t>
            </a:r>
          </a:p>
        </p:txBody>
      </p:sp>
      <p:sp>
        <p:nvSpPr>
          <p:cNvPr id="35" name="TextBox 41">
            <a:extLst>
              <a:ext uri="{FF2B5EF4-FFF2-40B4-BE49-F238E27FC236}">
                <a16:creationId xmlns:a16="http://schemas.microsoft.com/office/drawing/2014/main" id="{206057EE-BF64-9DF8-554C-8935F9D2B966}"/>
              </a:ext>
            </a:extLst>
          </p:cNvPr>
          <p:cNvSpPr txBox="1"/>
          <p:nvPr/>
        </p:nvSpPr>
        <p:spPr>
          <a:xfrm rot="4534123">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spc="140" noProof="0" dirty="0">
                <a:gradFill>
                  <a:gsLst>
                    <a:gs pos="26000">
                      <a:srgbClr val="E98C36"/>
                    </a:gs>
                    <a:gs pos="67000">
                      <a:schemeClr val="accent4"/>
                    </a:gs>
                  </a:gsLst>
                  <a:lin ang="9600000" scaled="0"/>
                </a:gradFill>
                <a:latin typeface="Noir Pro Semi Bold" pitchFamily="2" charset="0"/>
              </a:rPr>
              <a:t>SIG Architecture Quality</a:t>
            </a:r>
          </a:p>
        </p:txBody>
      </p:sp>
      <p:sp>
        <p:nvSpPr>
          <p:cNvPr id="49" name="Oval 48">
            <a:extLst>
              <a:ext uri="{FF2B5EF4-FFF2-40B4-BE49-F238E27FC236}">
                <a16:creationId xmlns:a16="http://schemas.microsoft.com/office/drawing/2014/main" id="{B2E0CFBB-7A9C-9929-8E23-E856E40EC156}"/>
              </a:ext>
            </a:extLst>
          </p:cNvPr>
          <p:cNvSpPr/>
          <p:nvPr/>
        </p:nvSpPr>
        <p:spPr>
          <a:xfrm>
            <a:off x="5543925" y="3154882"/>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pic>
        <p:nvPicPr>
          <p:cNvPr id="3" name="Graphic 2">
            <a:extLst>
              <a:ext uri="{FF2B5EF4-FFF2-40B4-BE49-F238E27FC236}">
                <a16:creationId xmlns:a16="http://schemas.microsoft.com/office/drawing/2014/main" id="{A75772D6-9BAE-9A49-D31B-F33891E3DF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0611" y="3175250"/>
            <a:ext cx="881625" cy="876046"/>
          </a:xfrm>
          <a:prstGeom prst="rect">
            <a:avLst/>
          </a:prstGeom>
        </p:spPr>
      </p:pic>
      <p:sp>
        <p:nvSpPr>
          <p:cNvPr id="81" name="Oval 43">
            <a:extLst>
              <a:ext uri="{FF2B5EF4-FFF2-40B4-BE49-F238E27FC236}">
                <a16:creationId xmlns:a16="http://schemas.microsoft.com/office/drawing/2014/main" id="{272F2F13-0896-623C-F051-A762F0144832}"/>
              </a:ext>
            </a:extLst>
          </p:cNvPr>
          <p:cNvSpPr/>
          <p:nvPr/>
        </p:nvSpPr>
        <p:spPr>
          <a:xfrm>
            <a:off x="5541883" y="3153205"/>
            <a:ext cx="1057490" cy="1057490"/>
          </a:xfrm>
          <a:prstGeom prst="ellipse">
            <a:avLst/>
          </a:prstGeom>
          <a:gradFill>
            <a:gsLst>
              <a:gs pos="21000">
                <a:schemeClr val="tx2">
                  <a:alpha val="0"/>
                </a:schemeClr>
              </a:gs>
              <a:gs pos="55000">
                <a:schemeClr val="accent1">
                  <a:alpha val="47523"/>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2" name="Footer Placeholder 4">
            <a:extLst>
              <a:ext uri="{FF2B5EF4-FFF2-40B4-BE49-F238E27FC236}">
                <a16:creationId xmlns:a16="http://schemas.microsoft.com/office/drawing/2014/main" id="{6D4C08B4-CA73-A94F-C526-596AC4A9D879}"/>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884463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1D5E-A2B9-C328-B774-190AA227CD4A}"/>
            </a:ext>
          </a:extLst>
        </p:cNvPr>
        <p:cNvGrpSpPr/>
        <p:nvPr/>
      </p:nvGrpSpPr>
      <p:grpSpPr>
        <a:xfrm>
          <a:off x="0" y="0"/>
          <a:ext cx="0" cy="0"/>
          <a:chOff x="0" y="0"/>
          <a:chExt cx="0" cy="0"/>
        </a:xfrm>
      </p:grpSpPr>
      <p:graphicFrame>
        <p:nvGraphicFramePr>
          <p:cNvPr id="20" name="Tabel 19">
            <a:extLst>
              <a:ext uri="{FF2B5EF4-FFF2-40B4-BE49-F238E27FC236}">
                <a16:creationId xmlns:a16="http://schemas.microsoft.com/office/drawing/2014/main" id="{4348BD50-B7D4-1657-172B-FF11CBC247D8}"/>
              </a:ext>
            </a:extLst>
          </p:cNvPr>
          <p:cNvGraphicFramePr>
            <a:graphicFrameLocks noGrp="1"/>
          </p:cNvGraphicFramePr>
          <p:nvPr/>
        </p:nvGraphicFramePr>
        <p:xfrm>
          <a:off x="154798" y="2717216"/>
          <a:ext cx="11880000" cy="2340000"/>
        </p:xfrm>
        <a:graphic>
          <a:graphicData uri="http://schemas.openxmlformats.org/drawingml/2006/table">
            <a:tbl>
              <a:tblPr>
                <a:tableStyleId>{5C22544A-7EE6-4342-B048-85BDC9FD1C3A}</a:tableStyleId>
              </a:tblPr>
              <a:tblGrid>
                <a:gridCol w="11880000">
                  <a:extLst>
                    <a:ext uri="{9D8B030D-6E8A-4147-A177-3AD203B41FA5}">
                      <a16:colId xmlns:a16="http://schemas.microsoft.com/office/drawing/2014/main" val="946129596"/>
                    </a:ext>
                  </a:extLst>
                </a:gridCol>
              </a:tblGrid>
              <a:tr h="468000">
                <a:tc>
                  <a:txBody>
                    <a:bodyPr/>
                    <a:lstStyle/>
                    <a:p>
                      <a:pPr>
                        <a:lnSpc>
                          <a:spcPct val="90000"/>
                        </a:lnSpc>
                      </a:pPr>
                      <a:r>
                        <a:rPr lang="en-US" sz="1200" b="0" i="0" dirty="0">
                          <a:solidFill>
                            <a:schemeClr val="bg1"/>
                          </a:solidFill>
                          <a:latin typeface="☞NOIR PRO MEDIUM" pitchFamily="2" charset="0"/>
                        </a:rPr>
                        <a:t>Structure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691436511"/>
                  </a:ext>
                </a:extLst>
              </a:tr>
              <a:tr h="468000">
                <a:tc>
                  <a:txBody>
                    <a:bodyPr/>
                    <a:lstStyle/>
                    <a:p>
                      <a:pPr>
                        <a:lnSpc>
                          <a:spcPct val="90000"/>
                        </a:lnSpc>
                      </a:pPr>
                      <a:r>
                        <a:rPr lang="en-US" sz="1200" b="0" i="0" dirty="0">
                          <a:solidFill>
                            <a:schemeClr val="bg1"/>
                          </a:solidFill>
                          <a:latin typeface="☞NOIR PRO MEDIUM" pitchFamily="2" charset="0"/>
                        </a:rPr>
                        <a:t>Communication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026125709"/>
                  </a:ext>
                </a:extLst>
              </a:tr>
              <a:tr h="468000">
                <a:tc>
                  <a:txBody>
                    <a:bodyPr/>
                    <a:lstStyle/>
                    <a:p>
                      <a:pPr>
                        <a:lnSpc>
                          <a:spcPct val="90000"/>
                        </a:lnSpc>
                      </a:pPr>
                      <a:r>
                        <a:rPr lang="en-US" sz="1200" b="0" i="0" dirty="0">
                          <a:solidFill>
                            <a:schemeClr val="bg1"/>
                          </a:solidFill>
                          <a:latin typeface="☞NOIR PRO MEDIUM" pitchFamily="2" charset="0"/>
                        </a:rPr>
                        <a:t>Data access</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328417789"/>
                  </a:ext>
                </a:extLst>
              </a:tr>
              <a:tr h="468000">
                <a:tc>
                  <a:txBody>
                    <a:bodyPr/>
                    <a:lstStyle/>
                    <a:p>
                      <a:pPr>
                        <a:lnSpc>
                          <a:spcPct val="90000"/>
                        </a:lnSpc>
                      </a:pPr>
                      <a:r>
                        <a:rPr lang="en-US" sz="1200" b="0" i="0" dirty="0">
                          <a:solidFill>
                            <a:schemeClr val="bg1"/>
                          </a:solidFill>
                          <a:latin typeface="☞NOIR PRO MEDIUM" pitchFamily="2" charset="0"/>
                        </a:rPr>
                        <a:t>Evolution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1500965361"/>
                  </a:ext>
                </a:extLst>
              </a:tr>
              <a:tr h="468000">
                <a:tc>
                  <a:txBody>
                    <a:bodyPr/>
                    <a:lstStyle/>
                    <a:p>
                      <a:pPr>
                        <a:lnSpc>
                          <a:spcPct val="90000"/>
                        </a:lnSpc>
                      </a:pPr>
                      <a:r>
                        <a:rPr lang="en-US" sz="1200" b="0" i="0" dirty="0">
                          <a:solidFill>
                            <a:schemeClr val="bg1"/>
                          </a:solidFill>
                          <a:latin typeface="☞NOIR PRO MEDIUM" pitchFamily="2" charset="0"/>
                        </a:rPr>
                        <a:t>Knowledge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2866552359"/>
                  </a:ext>
                </a:extLst>
              </a:tr>
            </a:tbl>
          </a:graphicData>
        </a:graphic>
      </p:graphicFrame>
      <p:sp>
        <p:nvSpPr>
          <p:cNvPr id="2" name="Afgeronde rechthoek 1">
            <a:extLst>
              <a:ext uri="{FF2B5EF4-FFF2-40B4-BE49-F238E27FC236}">
                <a16:creationId xmlns:a16="http://schemas.microsoft.com/office/drawing/2014/main" id="{B727BF5E-99B6-49EF-E4BA-CF8DCB737B80}"/>
              </a:ext>
            </a:extLst>
          </p:cNvPr>
          <p:cNvSpPr>
            <a:spLocks/>
          </p:cNvSpPr>
          <p:nvPr/>
        </p:nvSpPr>
        <p:spPr>
          <a:xfrm>
            <a:off x="1738994" y="2119302"/>
            <a:ext cx="9839056" cy="3422188"/>
          </a:xfrm>
          <a:prstGeom prst="roundRect">
            <a:avLst>
              <a:gd name="adj" fmla="val 4344"/>
            </a:avLst>
          </a:prstGeom>
          <a:gradFill>
            <a:gsLst>
              <a:gs pos="0">
                <a:srgbClr val="1763FF">
                  <a:alpha val="26798"/>
                </a:srgbClr>
              </a:gs>
              <a:gs pos="7000">
                <a:schemeClr val="accent2">
                  <a:alpha val="9069"/>
                </a:schemeClr>
              </a:gs>
              <a:gs pos="42000">
                <a:schemeClr val="accent2">
                  <a:alpha val="0"/>
                </a:schemeClr>
              </a:gs>
            </a:gsLst>
            <a:lin ang="4200000" scaled="0"/>
          </a:gradFill>
          <a:ln w="9525">
            <a:gradFill>
              <a:gsLst>
                <a:gs pos="0">
                  <a:schemeClr val="accent3">
                    <a:alpha val="34000"/>
                  </a:schemeClr>
                </a:gs>
                <a:gs pos="23000">
                  <a:schemeClr val="accent3">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70" name="Text Placeholder 169">
            <a:extLst>
              <a:ext uri="{FF2B5EF4-FFF2-40B4-BE49-F238E27FC236}">
                <a16:creationId xmlns:a16="http://schemas.microsoft.com/office/drawing/2014/main" id="{8A7018F4-6ACE-298D-AE34-CBEDCC026F34}"/>
              </a:ext>
            </a:extLst>
          </p:cNvPr>
          <p:cNvSpPr>
            <a:spLocks noGrp="1"/>
          </p:cNvSpPr>
          <p:nvPr>
            <p:ph type="body" sz="quarter" idx="12"/>
          </p:nvPr>
        </p:nvSpPr>
        <p:spPr>
          <a:xfrm>
            <a:off x="381000" y="129577"/>
            <a:ext cx="1663129" cy="228209"/>
          </a:xfrm>
        </p:spPr>
        <p:txBody>
          <a:bodyPr/>
          <a:lstStyle/>
          <a:p>
            <a:r>
              <a:rPr lang="en-GB" dirty="0"/>
              <a:t>Model introduction</a:t>
            </a:r>
          </a:p>
        </p:txBody>
      </p:sp>
      <p:sp>
        <p:nvSpPr>
          <p:cNvPr id="4" name="Slide Number Placeholder 3">
            <a:extLst>
              <a:ext uri="{FF2B5EF4-FFF2-40B4-BE49-F238E27FC236}">
                <a16:creationId xmlns:a16="http://schemas.microsoft.com/office/drawing/2014/main" id="{F62980CA-BB04-6BB3-C0C8-A9D4C2BCC14F}"/>
              </a:ext>
            </a:extLst>
          </p:cNvPr>
          <p:cNvSpPr>
            <a:spLocks noGrp="1"/>
          </p:cNvSpPr>
          <p:nvPr>
            <p:ph type="sldNum" sz="quarter" idx="15"/>
          </p:nvPr>
        </p:nvSpPr>
        <p:spPr>
          <a:xfrm>
            <a:off x="11408399" y="6469694"/>
            <a:ext cx="626400" cy="231923"/>
          </a:xfrm>
        </p:spPr>
        <p:txBody>
          <a:bodyPr/>
          <a:lstStyle/>
          <a:p>
            <a:fld id="{E242BD21-9B61-2246-BCB1-4BE5E1BEBE1C}" type="slidenum">
              <a:rPr lang="nl-NL" smtClean="0"/>
              <a:pPr/>
              <a:t>15</a:t>
            </a:fld>
            <a:endParaRPr lang="nl-NL"/>
          </a:p>
        </p:txBody>
      </p:sp>
      <p:sp>
        <p:nvSpPr>
          <p:cNvPr id="169" name="Title 168">
            <a:extLst>
              <a:ext uri="{FF2B5EF4-FFF2-40B4-BE49-F238E27FC236}">
                <a16:creationId xmlns:a16="http://schemas.microsoft.com/office/drawing/2014/main" id="{BC78F56D-3B9B-285C-51D5-D64BCFD4ED90}"/>
              </a:ext>
            </a:extLst>
          </p:cNvPr>
          <p:cNvSpPr>
            <a:spLocks noGrp="1"/>
          </p:cNvSpPr>
          <p:nvPr>
            <p:ph type="title"/>
          </p:nvPr>
        </p:nvSpPr>
        <p:spPr>
          <a:xfrm>
            <a:off x="154800" y="594000"/>
            <a:ext cx="11880000" cy="402291"/>
          </a:xfrm>
        </p:spPr>
        <p:txBody>
          <a:bodyPr/>
          <a:lstStyle/>
          <a:p>
            <a:r>
              <a:rPr lang="en-US" dirty="0"/>
              <a:t>SIG’s Architecture Model maps the sub-characteristics to 10 system properties</a:t>
            </a:r>
          </a:p>
        </p:txBody>
      </p:sp>
      <p:sp>
        <p:nvSpPr>
          <p:cNvPr id="5" name="Afgeronde rechthoek 4">
            <a:extLst>
              <a:ext uri="{FF2B5EF4-FFF2-40B4-BE49-F238E27FC236}">
                <a16:creationId xmlns:a16="http://schemas.microsoft.com/office/drawing/2014/main" id="{C0978B86-C287-03A1-FB46-4DAE9843BB13}"/>
              </a:ext>
            </a:extLst>
          </p:cNvPr>
          <p:cNvSpPr/>
          <p:nvPr/>
        </p:nvSpPr>
        <p:spPr>
          <a:xfrm>
            <a:off x="1766208" y="2788139"/>
            <a:ext cx="5301886"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44" name="Text Placeholder 169">
            <a:extLst>
              <a:ext uri="{FF2B5EF4-FFF2-40B4-BE49-F238E27FC236}">
                <a16:creationId xmlns:a16="http://schemas.microsoft.com/office/drawing/2014/main" id="{1AB1CC70-BC7D-E198-3D05-AE50FFA71C7D}"/>
              </a:ext>
            </a:extLst>
          </p:cNvPr>
          <p:cNvSpPr txBox="1"/>
          <p:nvPr/>
        </p:nvSpPr>
        <p:spPr>
          <a:xfrm>
            <a:off x="154798" y="1481773"/>
            <a:ext cx="3513435"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GB" sz="2000" spc="0" dirty="0">
                <a:gradFill>
                  <a:gsLst>
                    <a:gs pos="100000">
                      <a:srgbClr val="EC9232"/>
                    </a:gs>
                    <a:gs pos="24000">
                      <a:srgbClr val="F9C716"/>
                    </a:gs>
                  </a:gsLst>
                  <a:lin ang="3600000" scaled="0"/>
                </a:gradFill>
                <a:latin typeface="Noir Pro Semi Bold" pitchFamily="2" charset="0"/>
              </a:rPr>
              <a:t>Architecture Quality</a:t>
            </a:r>
          </a:p>
        </p:txBody>
      </p:sp>
      <p:sp>
        <p:nvSpPr>
          <p:cNvPr id="46" name="Tekstvak 45">
            <a:extLst>
              <a:ext uri="{FF2B5EF4-FFF2-40B4-BE49-F238E27FC236}">
                <a16:creationId xmlns:a16="http://schemas.microsoft.com/office/drawing/2014/main" id="{A31936F0-9E5C-E499-ABD8-64AAF5C184BD}"/>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chemeClr val="accent2">
              <a:lumMod val="75000"/>
            </a:schemeClr>
          </a:solidFill>
          <a:effectLst>
            <a:outerShdw blurRad="286568" dist="101276" dir="16200000" rotWithShape="0">
              <a:prstClr val="black">
                <a:alpha val="15439"/>
              </a:prstClr>
            </a:outerShdw>
          </a:effectLst>
        </p:spPr>
        <p:txBody>
          <a:bodyPr wrap="square" lIns="720000" tIns="234000" rIns="0" bIns="108000" rtlCol="0" anchor="t">
            <a:noAutofit/>
          </a:bodyPr>
          <a:lstStyle/>
          <a:p>
            <a:pPr>
              <a:lnSpc>
                <a:spcPct val="80000"/>
              </a:lnSpc>
            </a:pPr>
            <a:endParaRPr lang="en-GB" sz="1400" dirty="0">
              <a:solidFill>
                <a:schemeClr val="bg1"/>
              </a:solidFill>
              <a:latin typeface="☞NOIR PRO MEDIUM" pitchFamily="2" charset="0"/>
            </a:endParaRPr>
          </a:p>
        </p:txBody>
      </p:sp>
      <p:sp>
        <p:nvSpPr>
          <p:cNvPr id="19" name="TextBox 121">
            <a:extLst>
              <a:ext uri="{FF2B5EF4-FFF2-40B4-BE49-F238E27FC236}">
                <a16:creationId xmlns:a16="http://schemas.microsoft.com/office/drawing/2014/main" id="{ABDAF8EC-3B95-C9D7-0FE9-71A7721CFF9D}"/>
              </a:ext>
            </a:extLst>
          </p:cNvPr>
          <p:cNvSpPr txBox="1"/>
          <p:nvPr/>
        </p:nvSpPr>
        <p:spPr>
          <a:xfrm>
            <a:off x="1738994" y="2111134"/>
            <a:ext cx="10295804" cy="631068"/>
          </a:xfrm>
          <a:prstGeom prst="roundRect">
            <a:avLst>
              <a:gd name="adj" fmla="val 26823"/>
            </a:avLst>
          </a:prstGeom>
          <a:solidFill>
            <a:schemeClr val="accent2"/>
          </a:solidFill>
          <a:effectLst>
            <a:outerShdw blurRad="286568" dist="101276" dir="16200000" rotWithShape="0">
              <a:prstClr val="black">
                <a:alpha val="15439"/>
              </a:prstClr>
            </a:outerShdw>
          </a:effectLst>
        </p:spPr>
        <p:txBody>
          <a:bodyPr wrap="square" lIns="648000" tIns="125999" rIns="0" bIns="108000" rtlCol="0" anchor="t">
            <a:noAutofit/>
          </a:bodyPr>
          <a:lstStyle/>
          <a:p>
            <a:pPr>
              <a:lnSpc>
                <a:spcPct val="80000"/>
              </a:lnSpc>
            </a:pPr>
            <a:endParaRPr lang="en-GB" sz="1400" dirty="0">
              <a:solidFill>
                <a:schemeClr val="bg1"/>
              </a:solidFill>
              <a:latin typeface="☞NOIR PRO MEDIUM" pitchFamily="2" charset="0"/>
            </a:endParaRPr>
          </a:p>
        </p:txBody>
      </p:sp>
      <p:pic>
        <p:nvPicPr>
          <p:cNvPr id="43" name="Graphic 42">
            <a:extLst>
              <a:ext uri="{FF2B5EF4-FFF2-40B4-BE49-F238E27FC236}">
                <a16:creationId xmlns:a16="http://schemas.microsoft.com/office/drawing/2014/main" id="{568E0D71-CA53-AF66-00DE-458ABAFFF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740" y="2226642"/>
            <a:ext cx="590770" cy="393845"/>
          </a:xfrm>
          <a:prstGeom prst="rect">
            <a:avLst/>
          </a:prstGeom>
          <a:effectLst>
            <a:outerShdw blurRad="237234" sx="102000" sy="102000" algn="ctr" rotWithShape="0">
              <a:schemeClr val="accent4">
                <a:alpha val="0"/>
              </a:schemeClr>
            </a:outerShdw>
          </a:effectLst>
        </p:spPr>
      </p:pic>
      <p:graphicFrame>
        <p:nvGraphicFramePr>
          <p:cNvPr id="48" name="Tabel 47">
            <a:extLst>
              <a:ext uri="{FF2B5EF4-FFF2-40B4-BE49-F238E27FC236}">
                <a16:creationId xmlns:a16="http://schemas.microsoft.com/office/drawing/2014/main" id="{FC0D4C37-D231-E6B4-2BEB-A2CB6974D4EA}"/>
              </a:ext>
            </a:extLst>
          </p:cNvPr>
          <p:cNvGraphicFramePr>
            <a:graphicFrameLocks noGrp="1"/>
          </p:cNvGraphicFramePr>
          <p:nvPr/>
        </p:nvGraphicFramePr>
        <p:xfrm>
          <a:off x="1724933" y="2194935"/>
          <a:ext cx="10295800" cy="457200"/>
        </p:xfrm>
        <a:graphic>
          <a:graphicData uri="http://schemas.openxmlformats.org/drawingml/2006/table">
            <a:tbl>
              <a:tblPr>
                <a:tableStyleId>{5C22544A-7EE6-4342-B048-85BDC9FD1C3A}</a:tableStyleId>
              </a:tblPr>
              <a:tblGrid>
                <a:gridCol w="1029580">
                  <a:extLst>
                    <a:ext uri="{9D8B030D-6E8A-4147-A177-3AD203B41FA5}">
                      <a16:colId xmlns:a16="http://schemas.microsoft.com/office/drawing/2014/main" val="3756218328"/>
                    </a:ext>
                  </a:extLst>
                </a:gridCol>
                <a:gridCol w="1029580">
                  <a:extLst>
                    <a:ext uri="{9D8B030D-6E8A-4147-A177-3AD203B41FA5}">
                      <a16:colId xmlns:a16="http://schemas.microsoft.com/office/drawing/2014/main" val="2899638353"/>
                    </a:ext>
                  </a:extLst>
                </a:gridCol>
                <a:gridCol w="1029580">
                  <a:extLst>
                    <a:ext uri="{9D8B030D-6E8A-4147-A177-3AD203B41FA5}">
                      <a16:colId xmlns:a16="http://schemas.microsoft.com/office/drawing/2014/main" val="3980836888"/>
                    </a:ext>
                  </a:extLst>
                </a:gridCol>
                <a:gridCol w="957207">
                  <a:extLst>
                    <a:ext uri="{9D8B030D-6E8A-4147-A177-3AD203B41FA5}">
                      <a16:colId xmlns:a16="http://schemas.microsoft.com/office/drawing/2014/main" val="337405862"/>
                    </a:ext>
                  </a:extLst>
                </a:gridCol>
                <a:gridCol w="1239520">
                  <a:extLst>
                    <a:ext uri="{9D8B030D-6E8A-4147-A177-3AD203B41FA5}">
                      <a16:colId xmlns:a16="http://schemas.microsoft.com/office/drawing/2014/main" val="2409438331"/>
                    </a:ext>
                  </a:extLst>
                </a:gridCol>
                <a:gridCol w="892013">
                  <a:extLst>
                    <a:ext uri="{9D8B030D-6E8A-4147-A177-3AD203B41FA5}">
                      <a16:colId xmlns:a16="http://schemas.microsoft.com/office/drawing/2014/main" val="1015334204"/>
                    </a:ext>
                  </a:extLst>
                </a:gridCol>
                <a:gridCol w="1029580">
                  <a:extLst>
                    <a:ext uri="{9D8B030D-6E8A-4147-A177-3AD203B41FA5}">
                      <a16:colId xmlns:a16="http://schemas.microsoft.com/office/drawing/2014/main" val="1771938756"/>
                    </a:ext>
                  </a:extLst>
                </a:gridCol>
                <a:gridCol w="1029580">
                  <a:extLst>
                    <a:ext uri="{9D8B030D-6E8A-4147-A177-3AD203B41FA5}">
                      <a16:colId xmlns:a16="http://schemas.microsoft.com/office/drawing/2014/main" val="2602381078"/>
                    </a:ext>
                  </a:extLst>
                </a:gridCol>
                <a:gridCol w="1029580">
                  <a:extLst>
                    <a:ext uri="{9D8B030D-6E8A-4147-A177-3AD203B41FA5}">
                      <a16:colId xmlns:a16="http://schemas.microsoft.com/office/drawing/2014/main" val="1643199352"/>
                    </a:ext>
                  </a:extLst>
                </a:gridCol>
                <a:gridCol w="1029580">
                  <a:extLst>
                    <a:ext uri="{9D8B030D-6E8A-4147-A177-3AD203B41FA5}">
                      <a16:colId xmlns:a16="http://schemas.microsoft.com/office/drawing/2014/main" val="288504836"/>
                    </a:ext>
                  </a:extLst>
                </a:gridCol>
              </a:tblGrid>
              <a:tr h="370840">
                <a:tc>
                  <a:txBody>
                    <a:bodyPr/>
                    <a:lstStyle/>
                    <a:p>
                      <a:pPr algn="ctr"/>
                      <a:r>
                        <a:rPr lang="en-US" sz="1200" b="0" i="0" dirty="0">
                          <a:solidFill>
                            <a:schemeClr val="bg1"/>
                          </a:solidFill>
                          <a:latin typeface="☞NOIR PRO MEDIUM" pitchFamily="2" charset="0"/>
                        </a:rPr>
                        <a:t>Code</a:t>
                      </a:r>
                    </a:p>
                    <a:p>
                      <a:pPr algn="ctr"/>
                      <a:r>
                        <a:rPr lang="en-US" sz="1200" b="0" i="0" dirty="0">
                          <a:solidFill>
                            <a:schemeClr val="bg1"/>
                          </a:solidFill>
                          <a:latin typeface="☞NOIR PRO MEDIUM" pitchFamily="2" charset="0"/>
                        </a:rPr>
                        <a:t>breakdown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dirty="0">
                          <a:solidFill>
                            <a:schemeClr val="bg1"/>
                          </a:solidFill>
                          <a:latin typeface="☞NOIR PRO MEDIUM" pitchFamily="2" charset="0"/>
                        </a:rPr>
                        <a:t>Component</a:t>
                      </a:r>
                    </a:p>
                    <a:p>
                      <a:pPr algn="ctr"/>
                      <a:r>
                        <a:rPr lang="en-US" sz="1200" b="0" i="0" dirty="0">
                          <a:solidFill>
                            <a:schemeClr val="bg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dirty="0">
                          <a:solidFill>
                            <a:schemeClr val="bg1"/>
                          </a:solidFill>
                          <a:latin typeface="☞NOIR PRO MEDIUM" pitchFamily="2" charset="0"/>
                        </a:rPr>
                        <a:t>Component </a:t>
                      </a:r>
                    </a:p>
                    <a:p>
                      <a:pPr algn="ctr"/>
                      <a:r>
                        <a:rPr lang="en-US" sz="1200" b="0" i="0" dirty="0">
                          <a:solidFill>
                            <a:schemeClr val="bg1"/>
                          </a:solidFill>
                          <a:latin typeface="☞NOIR PRO MEDIUM" pitchFamily="2" charset="0"/>
                        </a:rPr>
                        <a:t>adjacency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dirty="0">
                          <a:solidFill>
                            <a:schemeClr val="bg1"/>
                          </a:solidFill>
                          <a:latin typeface="☞NOIR PRO MEDIUM" pitchFamily="2" charset="0"/>
                        </a:rPr>
                        <a:t>Component</a:t>
                      </a:r>
                    </a:p>
                    <a:p>
                      <a:pPr algn="ctr"/>
                      <a:r>
                        <a:rPr lang="en-US" sz="1200" b="0" i="0" dirty="0">
                          <a:solidFill>
                            <a:schemeClr val="bg1"/>
                          </a:solidFill>
                          <a:latin typeface="☞NOIR PRO MEDIUM" pitchFamily="2" charset="0"/>
                        </a:rPr>
                        <a:t>cohesion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dirty="0">
                          <a:solidFill>
                            <a:schemeClr val="bg1"/>
                          </a:solidFill>
                          <a:latin typeface="☞NOIR PRO MEDIUM" pitchFamily="2" charset="0"/>
                        </a:rPr>
                        <a:t>Communication</a:t>
                      </a:r>
                    </a:p>
                    <a:p>
                      <a:pPr algn="ctr"/>
                      <a:r>
                        <a:rPr lang="en-US" sz="1200" b="0" i="0" dirty="0">
                          <a:solidFill>
                            <a:schemeClr val="bg1"/>
                          </a:solidFill>
                          <a:latin typeface="☞NOIR PRO MEDIUM" pitchFamily="2" charset="0"/>
                        </a:rPr>
                        <a:t>centralization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dirty="0">
                          <a:solidFill>
                            <a:schemeClr val="bg1"/>
                          </a:solidFill>
                          <a:latin typeface="☞NOIR PRO MEDIUM" pitchFamily="2" charset="0"/>
                        </a:rPr>
                        <a:t>Data</a:t>
                      </a:r>
                    </a:p>
                    <a:p>
                      <a:pPr algn="ctr"/>
                      <a:r>
                        <a:rPr lang="en-US" sz="1200" b="0" i="0" dirty="0">
                          <a:solidFill>
                            <a:schemeClr val="bg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dirty="0">
                          <a:solidFill>
                            <a:schemeClr val="bg1"/>
                          </a:solidFill>
                          <a:latin typeface="☞NOIR PRO MEDIUM" pitchFamily="2" charset="0"/>
                        </a:rPr>
                        <a:t>Bounded</a:t>
                      </a:r>
                    </a:p>
                    <a:p>
                      <a:pPr algn="ctr"/>
                      <a:r>
                        <a:rPr lang="en-US" sz="1200" b="0" i="0" dirty="0">
                          <a:solidFill>
                            <a:schemeClr val="bg1"/>
                          </a:solidFill>
                          <a:latin typeface="☞NOIR PRO MEDIUM" pitchFamily="2" charset="0"/>
                        </a:rPr>
                        <a:t>evolution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dirty="0">
                          <a:solidFill>
                            <a:schemeClr val="bg1"/>
                          </a:solidFill>
                          <a:latin typeface="☞NOIR PRO MEDIUM" pitchFamily="2" charset="0"/>
                        </a:rPr>
                        <a:t>Knowledge</a:t>
                      </a:r>
                    </a:p>
                    <a:p>
                      <a:pPr algn="ctr"/>
                      <a:r>
                        <a:rPr lang="en-US" sz="1200" b="0" i="0" dirty="0">
                          <a:solidFill>
                            <a:schemeClr val="bg1"/>
                          </a:solidFill>
                          <a:latin typeface="☞NOIR PRO MEDIUM" pitchFamily="2" charset="0"/>
                        </a:rPr>
                        <a:t>awareness</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dirty="0">
                          <a:solidFill>
                            <a:schemeClr val="bg1"/>
                          </a:solidFill>
                          <a:latin typeface="☞NOIR PRO MEDIUM" pitchFamily="2" charset="0"/>
                        </a:rPr>
                        <a:t>Component</a:t>
                      </a:r>
                    </a:p>
                    <a:p>
                      <a:pPr algn="ctr"/>
                      <a:r>
                        <a:rPr lang="en-US" sz="1200" b="0" i="0" dirty="0">
                          <a:solidFill>
                            <a:schemeClr val="bg1"/>
                          </a:solidFill>
                          <a:latin typeface="☞NOIR PRO MEDIUM" pitchFamily="2" charset="0"/>
                        </a:rPr>
                        <a:t>Freshness</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dirty="0">
                          <a:solidFill>
                            <a:schemeClr val="bg1"/>
                          </a:solidFill>
                          <a:latin typeface="☞NOIR PRO MEDIUM" pitchFamily="2" charset="0"/>
                        </a:rPr>
                        <a:t>Team stability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52" name="Ovaal 51">
            <a:extLst>
              <a:ext uri="{FF2B5EF4-FFF2-40B4-BE49-F238E27FC236}">
                <a16:creationId xmlns:a16="http://schemas.microsoft.com/office/drawing/2014/main" id="{9E752103-7BCC-D47D-0E41-3D3118080490}"/>
              </a:ext>
            </a:extLst>
          </p:cNvPr>
          <p:cNvSpPr/>
          <p:nvPr/>
        </p:nvSpPr>
        <p:spPr>
          <a:xfrm>
            <a:off x="399461" y="1502952"/>
            <a:ext cx="354604" cy="354604"/>
          </a:xfrm>
          <a:prstGeom prst="ellipse">
            <a:avLst/>
          </a:prstGeom>
          <a:gradFill>
            <a:gsLst>
              <a:gs pos="19000">
                <a:srgbClr val="E98C36"/>
              </a:gs>
              <a:gs pos="53000">
                <a:srgbClr val="F9C716"/>
              </a:gs>
            </a:gsLst>
            <a:lin ang="2700000" scaled="0"/>
          </a:gradFill>
          <a:ln>
            <a:noFill/>
          </a:ln>
          <a:effectLst>
            <a:outerShdw blurRad="216637" dist="38100" dir="5400000" algn="t" rotWithShape="0">
              <a:schemeClr val="accent4">
                <a:alpha val="1464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pic>
        <p:nvPicPr>
          <p:cNvPr id="56" name="Graphic 55">
            <a:extLst>
              <a:ext uri="{FF2B5EF4-FFF2-40B4-BE49-F238E27FC236}">
                <a16:creationId xmlns:a16="http://schemas.microsoft.com/office/drawing/2014/main" id="{E447C6ED-5A30-ACDA-F05F-C9EE4524BE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9035" y="1523454"/>
            <a:ext cx="295455" cy="293586"/>
          </a:xfrm>
          <a:prstGeom prst="rect">
            <a:avLst/>
          </a:prstGeom>
        </p:spPr>
      </p:pic>
      <p:sp>
        <p:nvSpPr>
          <p:cNvPr id="10" name="Ovaal 9">
            <a:extLst>
              <a:ext uri="{FF2B5EF4-FFF2-40B4-BE49-F238E27FC236}">
                <a16:creationId xmlns:a16="http://schemas.microsoft.com/office/drawing/2014/main" id="{EEC047B5-4675-87BB-C77D-525A9C15C89C}"/>
              </a:ext>
            </a:extLst>
          </p:cNvPr>
          <p:cNvSpPr/>
          <p:nvPr/>
        </p:nvSpPr>
        <p:spPr>
          <a:xfrm>
            <a:off x="2170570" y="2889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1" name="Ovaal 10">
            <a:extLst>
              <a:ext uri="{FF2B5EF4-FFF2-40B4-BE49-F238E27FC236}">
                <a16:creationId xmlns:a16="http://schemas.microsoft.com/office/drawing/2014/main" id="{B27E223E-7F96-98A3-1BCE-3C7E3476061A}"/>
              </a:ext>
            </a:extLst>
          </p:cNvPr>
          <p:cNvSpPr/>
          <p:nvPr/>
        </p:nvSpPr>
        <p:spPr>
          <a:xfrm>
            <a:off x="5218304" y="290013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2" name="Ovaal 11">
            <a:extLst>
              <a:ext uri="{FF2B5EF4-FFF2-40B4-BE49-F238E27FC236}">
                <a16:creationId xmlns:a16="http://schemas.microsoft.com/office/drawing/2014/main" id="{0490248B-B552-3119-224F-718F14ACB6C5}"/>
              </a:ext>
            </a:extLst>
          </p:cNvPr>
          <p:cNvSpPr/>
          <p:nvPr/>
        </p:nvSpPr>
        <p:spPr>
          <a:xfrm>
            <a:off x="6303086" y="2889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38" name="Ovaal 11">
            <a:extLst>
              <a:ext uri="{FF2B5EF4-FFF2-40B4-BE49-F238E27FC236}">
                <a16:creationId xmlns:a16="http://schemas.microsoft.com/office/drawing/2014/main" id="{6874EC91-042A-605C-8D6E-0521908AC107}"/>
              </a:ext>
            </a:extLst>
          </p:cNvPr>
          <p:cNvSpPr/>
          <p:nvPr/>
        </p:nvSpPr>
        <p:spPr>
          <a:xfrm>
            <a:off x="6303086" y="3353884"/>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39" name="Ovaal 10">
            <a:extLst>
              <a:ext uri="{FF2B5EF4-FFF2-40B4-BE49-F238E27FC236}">
                <a16:creationId xmlns:a16="http://schemas.microsoft.com/office/drawing/2014/main" id="{7E0F3336-7E00-3017-BF4A-E0D62E8C679F}"/>
              </a:ext>
            </a:extLst>
          </p:cNvPr>
          <p:cNvSpPr/>
          <p:nvPr/>
        </p:nvSpPr>
        <p:spPr>
          <a:xfrm>
            <a:off x="4218552" y="334365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40" name="Ovaal 10">
            <a:extLst>
              <a:ext uri="{FF2B5EF4-FFF2-40B4-BE49-F238E27FC236}">
                <a16:creationId xmlns:a16="http://schemas.microsoft.com/office/drawing/2014/main" id="{4CBA9FF2-A29A-B056-CCF4-3E8F6BF1E2B9}"/>
              </a:ext>
            </a:extLst>
          </p:cNvPr>
          <p:cNvSpPr/>
          <p:nvPr/>
        </p:nvSpPr>
        <p:spPr>
          <a:xfrm>
            <a:off x="3155075" y="333780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41" name="Ovaal 11">
            <a:extLst>
              <a:ext uri="{FF2B5EF4-FFF2-40B4-BE49-F238E27FC236}">
                <a16:creationId xmlns:a16="http://schemas.microsoft.com/office/drawing/2014/main" id="{BC564ED3-A53F-4681-0C82-114FB291ABF6}"/>
              </a:ext>
            </a:extLst>
          </p:cNvPr>
          <p:cNvSpPr/>
          <p:nvPr/>
        </p:nvSpPr>
        <p:spPr>
          <a:xfrm>
            <a:off x="7366562" y="334630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42" name="Ovaal 11">
            <a:extLst>
              <a:ext uri="{FF2B5EF4-FFF2-40B4-BE49-F238E27FC236}">
                <a16:creationId xmlns:a16="http://schemas.microsoft.com/office/drawing/2014/main" id="{498A5593-0A46-DE2F-22E7-1DCB40AE2D00}"/>
              </a:ext>
            </a:extLst>
          </p:cNvPr>
          <p:cNvSpPr/>
          <p:nvPr/>
        </p:nvSpPr>
        <p:spPr>
          <a:xfrm>
            <a:off x="8387620" y="3349314"/>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48" name="Ovaal 11">
            <a:extLst>
              <a:ext uri="{FF2B5EF4-FFF2-40B4-BE49-F238E27FC236}">
                <a16:creationId xmlns:a16="http://schemas.microsoft.com/office/drawing/2014/main" id="{9CC9673A-F89B-12EB-21B8-75E30C9D2080}"/>
              </a:ext>
            </a:extLst>
          </p:cNvPr>
          <p:cNvSpPr/>
          <p:nvPr/>
        </p:nvSpPr>
        <p:spPr>
          <a:xfrm>
            <a:off x="6307759" y="382272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49" name="Ovaal 10">
            <a:extLst>
              <a:ext uri="{FF2B5EF4-FFF2-40B4-BE49-F238E27FC236}">
                <a16:creationId xmlns:a16="http://schemas.microsoft.com/office/drawing/2014/main" id="{828AC1A7-9160-FEB7-DB79-3435941438F6}"/>
              </a:ext>
            </a:extLst>
          </p:cNvPr>
          <p:cNvSpPr/>
          <p:nvPr/>
        </p:nvSpPr>
        <p:spPr>
          <a:xfrm>
            <a:off x="4218552" y="383469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50" name="Ovaal 10">
            <a:extLst>
              <a:ext uri="{FF2B5EF4-FFF2-40B4-BE49-F238E27FC236}">
                <a16:creationId xmlns:a16="http://schemas.microsoft.com/office/drawing/2014/main" id="{61B86929-CAFC-4B95-0C1C-51AC05D784F0}"/>
              </a:ext>
            </a:extLst>
          </p:cNvPr>
          <p:cNvSpPr/>
          <p:nvPr/>
        </p:nvSpPr>
        <p:spPr>
          <a:xfrm>
            <a:off x="3155075" y="383039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51" name="Ovaal 11">
            <a:extLst>
              <a:ext uri="{FF2B5EF4-FFF2-40B4-BE49-F238E27FC236}">
                <a16:creationId xmlns:a16="http://schemas.microsoft.com/office/drawing/2014/main" id="{C9115110-8ADA-848B-D863-F06FB80DED4F}"/>
              </a:ext>
            </a:extLst>
          </p:cNvPr>
          <p:cNvSpPr/>
          <p:nvPr/>
        </p:nvSpPr>
        <p:spPr>
          <a:xfrm>
            <a:off x="7366562" y="382881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56" name="Ovaal 9">
            <a:extLst>
              <a:ext uri="{FF2B5EF4-FFF2-40B4-BE49-F238E27FC236}">
                <a16:creationId xmlns:a16="http://schemas.microsoft.com/office/drawing/2014/main" id="{9BDEE888-167D-966F-C1F2-B5417B5DA84B}"/>
              </a:ext>
            </a:extLst>
          </p:cNvPr>
          <p:cNvSpPr/>
          <p:nvPr/>
        </p:nvSpPr>
        <p:spPr>
          <a:xfrm>
            <a:off x="2171602"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57" name="Ovaal 10">
            <a:extLst>
              <a:ext uri="{FF2B5EF4-FFF2-40B4-BE49-F238E27FC236}">
                <a16:creationId xmlns:a16="http://schemas.microsoft.com/office/drawing/2014/main" id="{A8E55C29-424F-C86E-9059-BB74D2141A3C}"/>
              </a:ext>
            </a:extLst>
          </p:cNvPr>
          <p:cNvSpPr/>
          <p:nvPr/>
        </p:nvSpPr>
        <p:spPr>
          <a:xfrm>
            <a:off x="5218304" y="428178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59" name="Ovaal 10">
            <a:extLst>
              <a:ext uri="{FF2B5EF4-FFF2-40B4-BE49-F238E27FC236}">
                <a16:creationId xmlns:a16="http://schemas.microsoft.com/office/drawing/2014/main" id="{1C67472D-7DB0-3A78-43FA-FFD2DD48FC01}"/>
              </a:ext>
            </a:extLst>
          </p:cNvPr>
          <p:cNvSpPr/>
          <p:nvPr/>
        </p:nvSpPr>
        <p:spPr>
          <a:xfrm>
            <a:off x="4218552" y="287523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60" name="Ovaal 10">
            <a:extLst>
              <a:ext uri="{FF2B5EF4-FFF2-40B4-BE49-F238E27FC236}">
                <a16:creationId xmlns:a16="http://schemas.microsoft.com/office/drawing/2014/main" id="{1FC6962A-C121-CBE7-BDBD-17AB17923A72}"/>
              </a:ext>
            </a:extLst>
          </p:cNvPr>
          <p:cNvSpPr/>
          <p:nvPr/>
        </p:nvSpPr>
        <p:spPr>
          <a:xfrm>
            <a:off x="3155075" y="428178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62" name="Ovaal 11">
            <a:extLst>
              <a:ext uri="{FF2B5EF4-FFF2-40B4-BE49-F238E27FC236}">
                <a16:creationId xmlns:a16="http://schemas.microsoft.com/office/drawing/2014/main" id="{1F2D0029-FADC-9339-9382-49C8069FF25F}"/>
              </a:ext>
            </a:extLst>
          </p:cNvPr>
          <p:cNvSpPr/>
          <p:nvPr/>
        </p:nvSpPr>
        <p:spPr>
          <a:xfrm>
            <a:off x="8387619" y="428178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63" name="Ovaal 11">
            <a:extLst>
              <a:ext uri="{FF2B5EF4-FFF2-40B4-BE49-F238E27FC236}">
                <a16:creationId xmlns:a16="http://schemas.microsoft.com/office/drawing/2014/main" id="{6E7AABD6-937F-DAFB-B1F0-EE0A04634B74}"/>
              </a:ext>
            </a:extLst>
          </p:cNvPr>
          <p:cNvSpPr/>
          <p:nvPr/>
        </p:nvSpPr>
        <p:spPr>
          <a:xfrm>
            <a:off x="9423812" y="428178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85" name="Ovaal 11">
            <a:extLst>
              <a:ext uri="{FF2B5EF4-FFF2-40B4-BE49-F238E27FC236}">
                <a16:creationId xmlns:a16="http://schemas.microsoft.com/office/drawing/2014/main" id="{A8F5F29E-A2FB-9091-E6B6-74785EEC2691}"/>
              </a:ext>
            </a:extLst>
          </p:cNvPr>
          <p:cNvSpPr/>
          <p:nvPr/>
        </p:nvSpPr>
        <p:spPr>
          <a:xfrm>
            <a:off x="10466349" y="473574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86" name="Ovaal 11">
            <a:extLst>
              <a:ext uri="{FF2B5EF4-FFF2-40B4-BE49-F238E27FC236}">
                <a16:creationId xmlns:a16="http://schemas.microsoft.com/office/drawing/2014/main" id="{2B5D5729-583E-8BF0-5AC8-486005BA6A0F}"/>
              </a:ext>
            </a:extLst>
          </p:cNvPr>
          <p:cNvSpPr/>
          <p:nvPr/>
        </p:nvSpPr>
        <p:spPr>
          <a:xfrm>
            <a:off x="11508886" y="473574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87" name="Afgeronde rechthoek 4">
            <a:extLst>
              <a:ext uri="{FF2B5EF4-FFF2-40B4-BE49-F238E27FC236}">
                <a16:creationId xmlns:a16="http://schemas.microsoft.com/office/drawing/2014/main" id="{6512E9E4-9B95-7954-3745-5B7DFC710C19}"/>
              </a:ext>
            </a:extLst>
          </p:cNvPr>
          <p:cNvSpPr/>
          <p:nvPr/>
        </p:nvSpPr>
        <p:spPr>
          <a:xfrm>
            <a:off x="2794000" y="3250502"/>
            <a:ext cx="6119115"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88" name="Afgeronde rechthoek 4">
            <a:extLst>
              <a:ext uri="{FF2B5EF4-FFF2-40B4-BE49-F238E27FC236}">
                <a16:creationId xmlns:a16="http://schemas.microsoft.com/office/drawing/2014/main" id="{F27BC448-4468-EA9E-A482-26966DD5E0A7}"/>
              </a:ext>
            </a:extLst>
          </p:cNvPr>
          <p:cNvSpPr/>
          <p:nvPr/>
        </p:nvSpPr>
        <p:spPr>
          <a:xfrm>
            <a:off x="2878468" y="3717283"/>
            <a:ext cx="4995554"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89" name="Afgeronde rechthoek 4">
            <a:extLst>
              <a:ext uri="{FF2B5EF4-FFF2-40B4-BE49-F238E27FC236}">
                <a16:creationId xmlns:a16="http://schemas.microsoft.com/office/drawing/2014/main" id="{DCBB745F-1E7A-DCD4-F9CA-B9BE6C18EB8A}"/>
              </a:ext>
            </a:extLst>
          </p:cNvPr>
          <p:cNvSpPr/>
          <p:nvPr/>
        </p:nvSpPr>
        <p:spPr>
          <a:xfrm>
            <a:off x="1769459" y="4194000"/>
            <a:ext cx="8250939"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90" name="Afgeronde rechthoek 4">
            <a:extLst>
              <a:ext uri="{FF2B5EF4-FFF2-40B4-BE49-F238E27FC236}">
                <a16:creationId xmlns:a16="http://schemas.microsoft.com/office/drawing/2014/main" id="{8FDE29E0-E140-7AE4-ABB5-5DF38D348344}"/>
              </a:ext>
            </a:extLst>
          </p:cNvPr>
          <p:cNvSpPr/>
          <p:nvPr/>
        </p:nvSpPr>
        <p:spPr>
          <a:xfrm>
            <a:off x="9084347" y="4644777"/>
            <a:ext cx="2764004"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6" name="Ovaal 11">
            <a:extLst>
              <a:ext uri="{FF2B5EF4-FFF2-40B4-BE49-F238E27FC236}">
                <a16:creationId xmlns:a16="http://schemas.microsoft.com/office/drawing/2014/main" id="{49FD37FC-78C6-8AE7-1213-80B6F7C3AF38}"/>
              </a:ext>
            </a:extLst>
          </p:cNvPr>
          <p:cNvSpPr/>
          <p:nvPr/>
        </p:nvSpPr>
        <p:spPr>
          <a:xfrm>
            <a:off x="9423812" y="473574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8" name="Ovaal 9">
            <a:extLst>
              <a:ext uri="{FF2B5EF4-FFF2-40B4-BE49-F238E27FC236}">
                <a16:creationId xmlns:a16="http://schemas.microsoft.com/office/drawing/2014/main" id="{E5033087-6D00-921C-BBC1-59A13BC7FF0E}"/>
              </a:ext>
            </a:extLst>
          </p:cNvPr>
          <p:cNvSpPr/>
          <p:nvPr/>
        </p:nvSpPr>
        <p:spPr>
          <a:xfrm>
            <a:off x="3155076" y="290536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5" name="Footer Placeholder 4">
            <a:extLst>
              <a:ext uri="{FF2B5EF4-FFF2-40B4-BE49-F238E27FC236}">
                <a16:creationId xmlns:a16="http://schemas.microsoft.com/office/drawing/2014/main" id="{928B15C3-9AA0-9340-025A-FDC5790289E7}"/>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3865637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6B8A-7C00-C575-7457-191C7FD7CFAD}"/>
            </a:ext>
          </a:extLst>
        </p:cNvPr>
        <p:cNvGrpSpPr/>
        <p:nvPr/>
      </p:nvGrpSpPr>
      <p:grpSpPr>
        <a:xfrm>
          <a:off x="0" y="0"/>
          <a:ext cx="0" cy="0"/>
          <a:chOff x="0" y="0"/>
          <a:chExt cx="0" cy="0"/>
        </a:xfrm>
      </p:grpSpPr>
      <p:sp>
        <p:nvSpPr>
          <p:cNvPr id="12" name="Tijdelijke aanduiding voor inhoud 53">
            <a:extLst>
              <a:ext uri="{FF2B5EF4-FFF2-40B4-BE49-F238E27FC236}">
                <a16:creationId xmlns:a16="http://schemas.microsoft.com/office/drawing/2014/main" id="{8EB15A5B-28E6-B0D0-3A64-FDA8C14C1408}"/>
              </a:ext>
            </a:extLst>
          </p:cNvPr>
          <p:cNvSpPr>
            <a:spLocks noGrp="1"/>
          </p:cNvSpPr>
          <p:nvPr>
            <p:ph sz="quarter" idx="13"/>
          </p:nvPr>
        </p:nvSpPr>
        <p:spPr>
          <a:xfrm>
            <a:off x="154799" y="2738112"/>
            <a:ext cx="8090297" cy="3525887"/>
          </a:xfrm>
        </p:spPr>
        <p:txBody>
          <a:bodyPr/>
          <a:lstStyle/>
          <a:p>
            <a:r>
              <a:rPr lang="en-US" sz="1400" dirty="0"/>
              <a:t>The system's low score in Team Stability indicates a continuity risk, having an unstable team means it will be hard to ensure knowledge retention moving forward.</a:t>
            </a:r>
          </a:p>
          <a:p>
            <a:br>
              <a:rPr lang="en-US" sz="1400" dirty="0"/>
            </a:br>
            <a:r>
              <a:rPr lang="en-US" sz="1400" dirty="0"/>
              <a:t>The system's high score in Bounded Evolution signifies limited updates for components, preventing excessive dependencies and knowledge centralization, and promoting a more balanced and adaptable system.</a:t>
            </a:r>
            <a:endParaRPr lang="en-US" sz="2000" dirty="0"/>
          </a:p>
        </p:txBody>
      </p:sp>
      <p:grpSp>
        <p:nvGrpSpPr>
          <p:cNvPr id="68" name="Groep 6">
            <a:extLst>
              <a:ext uri="{FF2B5EF4-FFF2-40B4-BE49-F238E27FC236}">
                <a16:creationId xmlns:a16="http://schemas.microsoft.com/office/drawing/2014/main" id="{6B0DEB51-B2FE-F834-8777-2603B3D20B39}"/>
              </a:ext>
            </a:extLst>
          </p:cNvPr>
          <p:cNvGrpSpPr/>
          <p:nvPr/>
        </p:nvGrpSpPr>
        <p:grpSpPr>
          <a:xfrm>
            <a:off x="134319" y="1137285"/>
            <a:ext cx="11923362" cy="1426530"/>
            <a:chOff x="134319" y="1137285"/>
            <a:chExt cx="11923362" cy="1426530"/>
          </a:xfrm>
        </p:grpSpPr>
        <p:sp>
          <p:nvSpPr>
            <p:cNvPr id="69" name="Rechthoek 25">
              <a:extLst>
                <a:ext uri="{FF2B5EF4-FFF2-40B4-BE49-F238E27FC236}">
                  <a16:creationId xmlns:a16="http://schemas.microsoft.com/office/drawing/2014/main" id="{F62F3BBE-F027-D806-FFCD-85040BCE7D01}"/>
                </a:ext>
              </a:extLst>
            </p:cNvPr>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0" name="Afgeronde rechthoek 36">
              <a:extLst>
                <a:ext uri="{FF2B5EF4-FFF2-40B4-BE49-F238E27FC236}">
                  <a16:creationId xmlns:a16="http://schemas.microsoft.com/office/drawing/2014/main" id="{E1A4E865-37F0-9A34-FD7D-835BA918DD1E}"/>
                </a:ext>
              </a:extLst>
            </p:cNvPr>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TextBox 39">
              <a:extLst>
                <a:ext uri="{FF2B5EF4-FFF2-40B4-BE49-F238E27FC236}">
                  <a16:creationId xmlns:a16="http://schemas.microsoft.com/office/drawing/2014/main" id="{E0DB69D7-1842-B942-7F31-5E79154351F4}"/>
                </a:ext>
              </a:extLst>
            </p:cNvPr>
            <p:cNvSpPr txBox="1"/>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77" name="Afgeronde rechthoek 2">
              <a:extLst>
                <a:ext uri="{FF2B5EF4-FFF2-40B4-BE49-F238E27FC236}">
                  <a16:creationId xmlns:a16="http://schemas.microsoft.com/office/drawing/2014/main" id="{4E632430-34C6-9115-5659-8CA345289B29}"/>
                </a:ext>
              </a:extLst>
            </p:cNvPr>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79" name="Rechte verbindingslijn 8">
              <a:extLst>
                <a:ext uri="{FF2B5EF4-FFF2-40B4-BE49-F238E27FC236}">
                  <a16:creationId xmlns:a16="http://schemas.microsoft.com/office/drawing/2014/main" id="{DF949A42-8A7E-EEDC-FDCB-2F42B36E3D8F}"/>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1" name="Rechte verbindingslijn 9">
              <a:extLst>
                <a:ext uri="{FF2B5EF4-FFF2-40B4-BE49-F238E27FC236}">
                  <a16:creationId xmlns:a16="http://schemas.microsoft.com/office/drawing/2014/main" id="{82321C5C-F1A3-1ADC-CFDB-1BE9EE1CFE45}"/>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2" name="Rechte verbindingslijn 10">
              <a:extLst>
                <a:ext uri="{FF2B5EF4-FFF2-40B4-BE49-F238E27FC236}">
                  <a16:creationId xmlns:a16="http://schemas.microsoft.com/office/drawing/2014/main" id="{E108268E-41B0-FD95-ED4E-7897ADD92B47}"/>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3" name="Rechte verbindingslijn 12">
              <a:extLst>
                <a:ext uri="{FF2B5EF4-FFF2-40B4-BE49-F238E27FC236}">
                  <a16:creationId xmlns:a16="http://schemas.microsoft.com/office/drawing/2014/main" id="{03CDD57C-F5C9-5D96-0FF3-F3D5249E2A9E}"/>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4" name="Rechthoek 14">
              <a:extLst>
                <a:ext uri="{FF2B5EF4-FFF2-40B4-BE49-F238E27FC236}">
                  <a16:creationId xmlns:a16="http://schemas.microsoft.com/office/drawing/2014/main" id="{7663298D-4D08-EA75-E570-301709FB63B5}"/>
                </a:ext>
              </a:extLst>
            </p:cNvPr>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5" name="Afgeronde rechthoek 18">
              <a:extLst>
                <a:ext uri="{FF2B5EF4-FFF2-40B4-BE49-F238E27FC236}">
                  <a16:creationId xmlns:a16="http://schemas.microsoft.com/office/drawing/2014/main" id="{A5FAAF41-C124-ED48-3B06-0E05FE2716BD}"/>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86" name="Afgeronde rechthoek 19">
              <a:extLst>
                <a:ext uri="{FF2B5EF4-FFF2-40B4-BE49-F238E27FC236}">
                  <a16:creationId xmlns:a16="http://schemas.microsoft.com/office/drawing/2014/main" id="{498A98D2-8FFB-F176-FF97-11B1FF459B19}"/>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87" name="Afgeronde rechthoek 20">
              <a:extLst>
                <a:ext uri="{FF2B5EF4-FFF2-40B4-BE49-F238E27FC236}">
                  <a16:creationId xmlns:a16="http://schemas.microsoft.com/office/drawing/2014/main" id="{7F5F2E8F-73B0-A7E0-AAF4-9EE5770CF8D5}"/>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88" name="Afgeronde rechthoek 21">
              <a:extLst>
                <a:ext uri="{FF2B5EF4-FFF2-40B4-BE49-F238E27FC236}">
                  <a16:creationId xmlns:a16="http://schemas.microsoft.com/office/drawing/2014/main" id="{CE4A8CD8-E211-19E8-2A9B-E2339DFE182C}"/>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89" name="Afgeronde rechthoek 22">
              <a:extLst>
                <a:ext uri="{FF2B5EF4-FFF2-40B4-BE49-F238E27FC236}">
                  <a16:creationId xmlns:a16="http://schemas.microsoft.com/office/drawing/2014/main" id="{91EA6B1C-419C-984B-628F-BF569F9E6635}"/>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90" name="Afgeronde rechthoek 23">
              <a:extLst>
                <a:ext uri="{FF2B5EF4-FFF2-40B4-BE49-F238E27FC236}">
                  <a16:creationId xmlns:a16="http://schemas.microsoft.com/office/drawing/2014/main" id="{57F1BCDC-2201-676E-E672-58D1F045E3EC}"/>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91" name="Rectangle 29">
              <a:extLst>
                <a:ext uri="{FF2B5EF4-FFF2-40B4-BE49-F238E27FC236}">
                  <a16:creationId xmlns:a16="http://schemas.microsoft.com/office/drawing/2014/main" id="{8F2CF3F5-6DDD-DD26-B94B-228E7E2A9207}"/>
                </a:ext>
              </a:extLst>
            </p:cNvPr>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2" name="Rectangle 34">
              <a:extLst>
                <a:ext uri="{FF2B5EF4-FFF2-40B4-BE49-F238E27FC236}">
                  <a16:creationId xmlns:a16="http://schemas.microsoft.com/office/drawing/2014/main" id="{A9B6994F-DDB5-543C-0A4C-09D790753C2A}"/>
                </a:ext>
              </a:extLst>
            </p:cNvPr>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3" name="Rectangle 35">
              <a:extLst>
                <a:ext uri="{FF2B5EF4-FFF2-40B4-BE49-F238E27FC236}">
                  <a16:creationId xmlns:a16="http://schemas.microsoft.com/office/drawing/2014/main" id="{CDFCB27B-9C34-D648-B912-48313CC5A18A}"/>
                </a:ext>
              </a:extLst>
            </p:cNvPr>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94" name="Rectangle 36">
              <a:extLst>
                <a:ext uri="{FF2B5EF4-FFF2-40B4-BE49-F238E27FC236}">
                  <a16:creationId xmlns:a16="http://schemas.microsoft.com/office/drawing/2014/main" id="{D6D645DA-F400-D23F-2E6A-8F7B3B74EB03}"/>
                </a:ext>
              </a:extLst>
            </p:cNvPr>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5" name="Rectangle 37">
              <a:extLst>
                <a:ext uri="{FF2B5EF4-FFF2-40B4-BE49-F238E27FC236}">
                  <a16:creationId xmlns:a16="http://schemas.microsoft.com/office/drawing/2014/main" id="{02A52E32-90C2-9F1D-5BEC-07FB7A0CC76C}"/>
                </a:ext>
              </a:extLst>
            </p:cNvPr>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96" name="Rechte verbindingslijn 77">
              <a:extLst>
                <a:ext uri="{FF2B5EF4-FFF2-40B4-BE49-F238E27FC236}">
                  <a16:creationId xmlns:a16="http://schemas.microsoft.com/office/drawing/2014/main" id="{A6E6830D-28D0-4E29-B40C-0F125AB5CEB2}"/>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97" name="Rechte verbindingslijn 79">
              <a:extLst>
                <a:ext uri="{FF2B5EF4-FFF2-40B4-BE49-F238E27FC236}">
                  <a16:creationId xmlns:a16="http://schemas.microsoft.com/office/drawing/2014/main" id="{E3D5E980-DCCD-CC53-AEBE-BD8A28D28CDF}"/>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98" name="Graphic 97">
              <a:extLst>
                <a:ext uri="{FF2B5EF4-FFF2-40B4-BE49-F238E27FC236}">
                  <a16:creationId xmlns:a16="http://schemas.microsoft.com/office/drawing/2014/main" id="{6184C160-E2F7-3EE1-80A1-FA0E7C453FAF}"/>
                </a:ext>
              </a:extLst>
            </p:cNvPr>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99" name="Rechte verbindingslijn 27">
              <a:extLst>
                <a:ext uri="{FF2B5EF4-FFF2-40B4-BE49-F238E27FC236}">
                  <a16:creationId xmlns:a16="http://schemas.microsoft.com/office/drawing/2014/main" id="{D4B51BB0-9CB9-13BD-8469-038BBA75B4CA}"/>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100" name="Graphic 99">
              <a:extLst>
                <a:ext uri="{FF2B5EF4-FFF2-40B4-BE49-F238E27FC236}">
                  <a16:creationId xmlns:a16="http://schemas.microsoft.com/office/drawing/2014/main" id="{00092586-1408-3B9B-0915-DD60B92E3ACB}"/>
                </a:ext>
              </a:extLst>
            </p:cNvPr>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2" name="Tijdelijke aanduiding voor tekst 1">
            <a:extLst>
              <a:ext uri="{FF2B5EF4-FFF2-40B4-BE49-F238E27FC236}">
                <a16:creationId xmlns:a16="http://schemas.microsoft.com/office/drawing/2014/main" id="{C9023B7C-A473-4E6D-F108-E3D1F0A95D94}"/>
              </a:ext>
            </a:extLst>
          </p:cNvPr>
          <p:cNvSpPr>
            <a:spLocks noGrp="1"/>
          </p:cNvSpPr>
          <p:nvPr>
            <p:ph type="body" sz="quarter" idx="12"/>
          </p:nvPr>
        </p:nvSpPr>
        <p:spPr>
          <a:xfrm>
            <a:off x="381000" y="129609"/>
            <a:ext cx="3096535" cy="228145"/>
          </a:xfrm>
        </p:spPr>
        <p:txBody>
          <a:bodyPr/>
          <a:lstStyle/>
          <a:p>
            <a:r>
              <a:rPr lang="en-US" noProof="0"/>
              <a:t>Key findings – Architecture quality</a:t>
            </a:r>
            <a:endParaRPr lang="en-US" noProof="0" dirty="0"/>
          </a:p>
        </p:txBody>
      </p:sp>
      <p:sp>
        <p:nvSpPr>
          <p:cNvPr id="5" name="Tijdelijke aanduiding voor dianummer 4">
            <a:extLst>
              <a:ext uri="{FF2B5EF4-FFF2-40B4-BE49-F238E27FC236}">
                <a16:creationId xmlns:a16="http://schemas.microsoft.com/office/drawing/2014/main" id="{5278C1DA-0A09-03B2-12F4-1C97F1DE4444}"/>
              </a:ext>
            </a:extLst>
          </p:cNvPr>
          <p:cNvSpPr>
            <a:spLocks noGrp="1"/>
          </p:cNvSpPr>
          <p:nvPr>
            <p:ph type="sldNum" sz="quarter" idx="15"/>
          </p:nvPr>
        </p:nvSpPr>
        <p:spPr/>
        <p:txBody>
          <a:bodyPr/>
          <a:lstStyle/>
          <a:p>
            <a:fld id="{E242BD21-9B61-2246-BCB1-4BE5E1BEBE1C}" type="slidenum">
              <a:rPr lang="en-US" noProof="0" smtClean="0"/>
              <a:pPr/>
              <a:t>16</a:t>
            </a:fld>
            <a:endParaRPr lang="en-US" noProof="0" dirty="0"/>
          </a:p>
        </p:txBody>
      </p:sp>
      <p:sp>
        <p:nvSpPr>
          <p:cNvPr id="53" name="Titel 52">
            <a:extLst>
              <a:ext uri="{FF2B5EF4-FFF2-40B4-BE49-F238E27FC236}">
                <a16:creationId xmlns:a16="http://schemas.microsoft.com/office/drawing/2014/main" id="{096AE361-6DBC-B794-EDAB-4DC17958C495}"/>
              </a:ext>
            </a:extLst>
          </p:cNvPr>
          <p:cNvSpPr>
            <a:spLocks noGrp="1"/>
          </p:cNvSpPr>
          <p:nvPr>
            <p:ph type="title"/>
          </p:nvPr>
        </p:nvSpPr>
        <p:spPr>
          <a:xfrm>
            <a:off x="154800" y="440112"/>
            <a:ext cx="11880000" cy="710067"/>
          </a:xfrm>
        </p:spPr>
        <p:txBody>
          <a:bodyPr/>
          <a:lstStyle/>
          <a:p>
            <a:r>
              <a:rPr lang="en-US" noProof="0"/>
              <a:t>Integrationtest-kafka scores below market average (2.4 </a:t>
            </a:r>
            <a:r>
              <a:rPr lang="en-US" noProof="0">
                <a:latin typeface="Calibri" panose="020F0502020204030204" pitchFamily="34" charset="0"/>
                <a:cs typeface="Calibri" panose="020F0502020204030204" pitchFamily="34" charset="0"/>
              </a:rPr>
              <a:t>★</a:t>
            </a:r>
            <a:r>
              <a:rPr lang="en-US" noProof="0"/>
              <a:t>) for Architecture Quality</a:t>
            </a:r>
            <a:endParaRPr lang="en-US" noProof="0" dirty="0"/>
          </a:p>
        </p:txBody>
      </p:sp>
      <p:cxnSp>
        <p:nvCxnSpPr>
          <p:cNvPr id="47" name="Rechte verbindingslijn 46">
            <a:extLst>
              <a:ext uri="{FF2B5EF4-FFF2-40B4-BE49-F238E27FC236}">
                <a16:creationId xmlns:a16="http://schemas.microsoft.com/office/drawing/2014/main" id="{25670B74-994D-55A0-AD07-98A248D48DB6}"/>
              </a:ext>
            </a:extLst>
          </p:cNvPr>
          <p:cNvCxnSpPr>
            <a:cxnSpLocks/>
          </p:cNvCxnSpPr>
          <p:nvPr/>
        </p:nvCxnSpPr>
        <p:spPr>
          <a:xfrm>
            <a:off x="8234879" y="2821727"/>
            <a:ext cx="0" cy="2897755"/>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4DBF2D50-43B3-9D1D-1C7D-6BB92C13BCD3}"/>
              </a:ext>
            </a:extLst>
          </p:cNvPr>
          <p:cNvSpPr txBox="1">
            <a:spLocks noGrp="1" noRot="1" noMove="1" noResize="1" noEditPoints="1" noAdjustHandles="1" noChangeArrowheads="1" noChangeShapeType="1"/>
          </p:cNvSpPr>
          <p:nvPr/>
        </p:nvSpPr>
        <p:spPr>
          <a:xfrm>
            <a:off x="8395675"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EC064487-82CA-6298-4D63-838846DA7153}"/>
              </a:ext>
            </a:extLst>
          </p:cNvPr>
          <p:cNvGraphicFramePr>
            <a:graphicFrameLocks noGrp="1"/>
          </p:cNvGraphicFramePr>
          <p:nvPr>
            <p:extLst>
              <p:ext uri="{D42A27DB-BD31-4B8C-83A1-F6EECF244321}">
                <p14:modId xmlns:p14="http://schemas.microsoft.com/office/powerpoint/2010/main" val="420317445"/>
              </p:ext>
            </p:extLst>
          </p:nvPr>
        </p:nvGraphicFramePr>
        <p:xfrm>
          <a:off x="8245096" y="3035953"/>
          <a:ext cx="3754745" cy="13613040"/>
        </p:xfrm>
        <a:graphic>
          <a:graphicData uri="http://schemas.openxmlformats.org/drawingml/2006/table">
            <a:tbl>
              <a:tblPr>
                <a:tableStyleId>{5940675A-B579-460E-94D1-54222C63F5DA}</a:tableStyleId>
              </a:tblPr>
              <a:tblGrid>
                <a:gridCol w="1972960">
                  <a:extLst>
                    <a:ext uri="{9D8B030D-6E8A-4147-A177-3AD203B41FA5}">
                      <a16:colId xmlns:a16="http://schemas.microsoft.com/office/drawing/2014/main" val="20000"/>
                    </a:ext>
                  </a:extLst>
                </a:gridCol>
                <a:gridCol w="1109625">
                  <a:extLst>
                    <a:ext uri="{9D8B030D-6E8A-4147-A177-3AD203B41FA5}">
                      <a16:colId xmlns:a16="http://schemas.microsoft.com/office/drawing/2014/main" val="335839943"/>
                    </a:ext>
                  </a:extLst>
                </a:gridCol>
                <a:gridCol w="672160">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1.7</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cohesion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2.7</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4.9</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Knowledge awareness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3.7</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1.9</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1855687"/>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Team stability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a:ln>
                            <a:noFill/>
                          </a:ln>
                          <a:solidFill>
                            <a:schemeClr val="tx1"/>
                          </a:solidFill>
                          <a:effectLst/>
                          <a:latin typeface="+mn-lt"/>
                          <a:ea typeface="ＭＳ Ｐゴシック" charset="0"/>
                          <a:cs typeface="TheSans B7 Bold"/>
                        </a:rPr>
                        <a: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rPr>
                        <a:t>0.7</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605174"/>
                  </a:ext>
                </a:extLst>
              </a:tr>
            </a:tbl>
          </a:graphicData>
        </a:graphic>
      </p:graphicFrame>
      <p:graphicFrame>
        <p:nvGraphicFramePr>
          <p:cNvPr id="74" name="Table 3">
            <a:extLst>
              <a:ext uri="{FF2B5EF4-FFF2-40B4-BE49-F238E27FC236}">
                <a16:creationId xmlns:a16="http://schemas.microsoft.com/office/drawing/2014/main" id="{823BDAA0-459C-E350-9690-A1457832995E}"/>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A05C33E1-20E4-89ED-347A-3028FC9719E4}"/>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Architecture quality</a:t>
            </a:r>
          </a:p>
        </p:txBody>
      </p:sp>
      <p:sp>
        <p:nvSpPr>
          <p:cNvPr id="76" name="TextBox 39">
            <a:extLst>
              <a:ext uri="{FF2B5EF4-FFF2-40B4-BE49-F238E27FC236}">
                <a16:creationId xmlns:a16="http://schemas.microsoft.com/office/drawing/2014/main" id="{627BA5DB-ADE1-55DF-349E-456F831C4234}"/>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a:t>
            </a:r>
            <a:r>
              <a:rPr lang="en-US" sz="800" noProof="0" dirty="0" err="1">
                <a:solidFill>
                  <a:srgbClr val="152F73"/>
                </a:solidFill>
                <a:latin typeface="Azeret Mono" pitchFamily="2" charset="77"/>
                <a:cs typeface="Azeret Mono" pitchFamily="2" charset="77"/>
              </a:rPr>
              <a:t>30 June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A90CCEF1-0D7F-A990-DCAA-3B1F056EDCF7}"/>
              </a:ext>
            </a:extLst>
          </p:cNvPr>
          <p:cNvGrpSpPr/>
          <p:nvPr/>
        </p:nvGrpSpPr>
        <p:grpSpPr>
          <a:xfrm>
            <a:off x="4313468" y="1466322"/>
            <a:ext cx="913712" cy="884878"/>
            <a:chOff x="5633468" y="1730647"/>
            <a:chExt cx="913712" cy="884878"/>
          </a:xfrm>
        </p:grpSpPr>
        <p:sp>
          <p:nvSpPr>
            <p:cNvPr id="71" name="TextBox 42">
              <a:extLst>
                <a:ext uri="{FF2B5EF4-FFF2-40B4-BE49-F238E27FC236}">
                  <a16:creationId xmlns:a16="http://schemas.microsoft.com/office/drawing/2014/main" id="{83DAF973-8321-71A3-7FE1-2C44138B02F1}"/>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EE0ABF83-8B60-6866-F885-2186595DE31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4CE8562A-8EBE-7476-822E-7617D83FB982}"/>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2.4</a:t>
              </a:r>
              <a:endParaRPr lang="en-US" sz="1000" noProof="0" dirty="0">
                <a:solidFill>
                  <a:schemeClr val="tx1"/>
                </a:solidFill>
                <a:latin typeface="☞NOIR PRO MEDIUM" pitchFamily="2" charset="0"/>
              </a:endParaRPr>
            </a:p>
          </p:txBody>
        </p:sp>
      </p:grpSp>
      <p:sp>
        <p:nvSpPr>
          <p:cNvPr id="3" name="Footer Placeholder 4">
            <a:extLst>
              <a:ext uri="{FF2B5EF4-FFF2-40B4-BE49-F238E27FC236}">
                <a16:creationId xmlns:a16="http://schemas.microsoft.com/office/drawing/2014/main" id="{B23964EB-0BB8-77A0-1CCD-99E2E09C8937}"/>
              </a:ext>
            </a:extLst>
          </p:cNvPr>
          <p:cNvSpPr>
            <a:spLocks noGrp="1"/>
          </p:cNvSpPr>
          <p:nvPr>
            <p:ph type="ftr" sz="quarter" idx="3"/>
          </p:nvPr>
        </p:nvSpPr>
        <p:spPr>
          <a:xfrm>
            <a:off x="192158" y="6392274"/>
            <a:ext cx="1763922" cy="370422"/>
          </a:xfrm>
        </p:spPr>
        <p:txBody>
          <a:bodyPr/>
          <a:lstStyle/>
          <a:p>
            <a:r>
              <a:rPr lang="nl-NL"/>
              <a:t>Generated with Sigrid</a:t>
            </a:r>
          </a:p>
          <a:p>
            <a:r>
              <a:rPr lang="nl-NL"/>
              <a:t>for Reportgeneratordemo</a:t>
            </a:r>
            <a:endParaRPr lang="nl-NL" dirty="0"/>
          </a:p>
        </p:txBody>
      </p:sp>
    </p:spTree>
    <p:extLst>
      <p:ext uri="{BB962C8B-B14F-4D97-AF65-F5344CB8AC3E}">
        <p14:creationId xmlns:p14="http://schemas.microsoft.com/office/powerpoint/2010/main" val="1110005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3691-EEF8-B68C-5A5F-30410C866211}"/>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B6C70F8F-27F3-4CF3-FECD-439D34C6752D}"/>
              </a:ext>
            </a:extLst>
          </p:cNvPr>
          <p:cNvSpPr>
            <a:spLocks noGrp="1" noRot="1" noMove="1" noResize="1" noEditPoints="1" noAdjustHandles="1" noChangeArrowheads="1" noChangeShapeType="1"/>
          </p:cNvSpPr>
          <p:nvPr/>
        </p:nvSpPr>
        <p:spPr>
          <a:xfrm>
            <a:off x="3385191" y="1063763"/>
            <a:ext cx="5340638" cy="5340638"/>
          </a:xfrm>
          <a:prstGeom prst="ellipse">
            <a:avLst/>
          </a:prstGeom>
          <a:gradFill>
            <a:gsLst>
              <a:gs pos="0">
                <a:schemeClr val="accent3">
                  <a:alpha val="15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95C27F98-D0CE-D5B9-C55D-97BBC5A5BFF2}"/>
              </a:ext>
            </a:extLst>
          </p:cNvPr>
          <p:cNvSpPr>
            <a:spLocks noGrp="1" noRot="1" noMove="1" noResize="1" noEditPoints="1" noAdjustHandles="1" noChangeArrowheads="1" noChangeShapeType="1"/>
          </p:cNvSpPr>
          <p:nvPr/>
        </p:nvSpPr>
        <p:spPr>
          <a:xfrm>
            <a:off x="4004388" y="1634792"/>
            <a:ext cx="4180824" cy="4180824"/>
          </a:xfrm>
          <a:prstGeom prst="ellipse">
            <a:avLst/>
          </a:prstGeom>
          <a:gradFill>
            <a:gsLst>
              <a:gs pos="0">
                <a:schemeClr val="accent3">
                  <a:alpha val="30871"/>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99C9D0E3-9C9E-5F23-111D-96C14386A39D}"/>
              </a:ext>
            </a:extLst>
          </p:cNvPr>
          <p:cNvSpPr txBox="1">
            <a:spLocks noGrp="1" noRot="1" noMove="1" noResize="1" noEditPoints="1" noAdjustHandles="1" noChangeArrowheads="1" noChangeShapeType="1"/>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43000">
                      <a:srgbClr val="FFFFFF"/>
                    </a:gs>
                    <a:gs pos="9000">
                      <a:srgbClr val="88ADF5">
                        <a:lumMod val="60000"/>
                        <a:lumOff val="40000"/>
                      </a:srgbClr>
                    </a:gs>
                  </a:gsLst>
                  <a:lin ang="9600000" scaled="0"/>
                </a:gradFill>
                <a:effectLst>
                  <a:outerShdw blurRad="113571" dist="44478" dir="16200000" rotWithShape="0">
                    <a:prstClr val="black">
                      <a:alpha val="40000"/>
                    </a:prstClr>
                  </a:outerShdw>
                </a:effectLst>
                <a:uLnTx/>
                <a:uFillTx/>
                <a:latin typeface="Noir Pro Semi Bold" pitchFamily="2" charset="0"/>
                <a:ea typeface="+mn-ea"/>
                <a:cs typeface="+mn-cs"/>
              </a:rPr>
              <a:t>Open Source Health</a:t>
            </a:r>
          </a:p>
        </p:txBody>
      </p:sp>
      <p:sp>
        <p:nvSpPr>
          <p:cNvPr id="63" name="Text Placeholder 62">
            <a:extLst>
              <a:ext uri="{FF2B5EF4-FFF2-40B4-BE49-F238E27FC236}">
                <a16:creationId xmlns:a16="http://schemas.microsoft.com/office/drawing/2014/main" id="{4470666D-AB22-177C-6C7A-D16FF6FB971C}"/>
              </a:ext>
            </a:extLst>
          </p:cNvPr>
          <p:cNvSpPr>
            <a:spLocks noGrp="1" noRot="1" noMove="1" noResize="1" noEditPoints="1" noAdjustHandles="1" noChangeArrowheads="1" noChangeShapeType="1"/>
          </p:cNvSpPr>
          <p:nvPr>
            <p:ph type="body" sz="quarter" idx="12"/>
          </p:nvPr>
        </p:nvSpPr>
        <p:spPr>
          <a:xfrm>
            <a:off x="381600" y="129568"/>
            <a:ext cx="1663129" cy="228209"/>
          </a:xfrm>
        </p:spPr>
        <p:txBody>
          <a:bodyPr/>
          <a:lstStyle/>
          <a:p>
            <a:r>
              <a:rPr lang="en-US" noProof="0" dirty="0"/>
              <a:t>Model Introduction</a:t>
            </a:r>
          </a:p>
        </p:txBody>
      </p:sp>
      <p:sp>
        <p:nvSpPr>
          <p:cNvPr id="5" name="Tijdelijke aanduiding voor dianummer 4">
            <a:extLst>
              <a:ext uri="{FF2B5EF4-FFF2-40B4-BE49-F238E27FC236}">
                <a16:creationId xmlns:a16="http://schemas.microsoft.com/office/drawing/2014/main" id="{35FAE676-1E79-98D7-3514-335462A7999D}"/>
              </a:ext>
            </a:extLst>
          </p:cNvPr>
          <p:cNvSpPr>
            <a:spLocks noGrp="1" noRot="1" noMove="1" noResize="1" noEditPoints="1" noAdjustHandles="1" noChangeArrowheads="1" noChangeShapeType="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242BD21-9B61-2246-BCB1-4BE5E1BEBE1C}" type="slidenum">
              <a:rPr kumimoji="0" lang="en-US" sz="900" b="0" i="0" u="none" strike="noStrike" kern="1200" cap="none" spc="10" normalizeH="0" baseline="0" noProof="0" smtClean="0">
                <a:ln>
                  <a:noFill/>
                </a:ln>
                <a:solidFill>
                  <a:srgbClr val="FFFFFF"/>
                </a:solidFill>
                <a:effectLst/>
                <a:uLnTx/>
                <a:uFillTx/>
                <a:latin typeface="Azeret Mono" pitchFamily="2" charset="77"/>
                <a:ea typeface="+mn-ea"/>
                <a:cs typeface="Azeret Mono"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10" normalizeH="0" baseline="0" noProof="0" dirty="0">
              <a:ln>
                <a:noFill/>
              </a:ln>
              <a:solidFill>
                <a:srgbClr val="FFFFFF"/>
              </a:solidFill>
              <a:effectLst/>
              <a:uLnTx/>
              <a:uFillTx/>
              <a:latin typeface="Azeret Mono" pitchFamily="2" charset="77"/>
              <a:ea typeface="+mn-ea"/>
              <a:cs typeface="Azeret Mono" pitchFamily="2" charset="77"/>
            </a:endParaRPr>
          </a:p>
        </p:txBody>
      </p:sp>
      <p:sp>
        <p:nvSpPr>
          <p:cNvPr id="70" name="Title 69">
            <a:extLst>
              <a:ext uri="{FF2B5EF4-FFF2-40B4-BE49-F238E27FC236}">
                <a16:creationId xmlns:a16="http://schemas.microsoft.com/office/drawing/2014/main" id="{3EF7774A-211E-088E-C9B6-6A86C440503F}"/>
              </a:ext>
            </a:extLst>
          </p:cNvPr>
          <p:cNvSpPr>
            <a:spLocks noGrp="1" noRot="1" noMove="1" noResize="1" noEditPoints="1" noAdjustHandles="1" noChangeArrowheads="1" noChangeShapeType="1"/>
          </p:cNvSpPr>
          <p:nvPr>
            <p:ph type="title"/>
          </p:nvPr>
        </p:nvSpPr>
        <p:spPr/>
        <p:txBody>
          <a:bodyPr/>
          <a:lstStyle/>
          <a:p>
            <a:r>
              <a:rPr lang="en-US" noProof="0" dirty="0"/>
              <a:t>SIG assesses the use of Open Source and IP in five key areas</a:t>
            </a:r>
          </a:p>
        </p:txBody>
      </p:sp>
      <p:sp>
        <p:nvSpPr>
          <p:cNvPr id="8" name="Oval 7">
            <a:extLst>
              <a:ext uri="{FF2B5EF4-FFF2-40B4-BE49-F238E27FC236}">
                <a16:creationId xmlns:a16="http://schemas.microsoft.com/office/drawing/2014/main" id="{29F3FDDD-3858-C838-0AD0-612548D292DE}"/>
              </a:ext>
            </a:extLst>
          </p:cNvPr>
          <p:cNvSpPr>
            <a:spLocks noGrp="1" noRot="1" noMove="1" noResize="1" noEditPoints="1" noAdjustHandles="1" noChangeArrowheads="1" noChangeShapeType="1"/>
          </p:cNvSpPr>
          <p:nvPr/>
        </p:nvSpPr>
        <p:spPr>
          <a:xfrm>
            <a:off x="4673297" y="2304400"/>
            <a:ext cx="2849490" cy="2849490"/>
          </a:xfrm>
          <a:prstGeom prst="ellipse">
            <a:avLst/>
          </a:prstGeom>
          <a:solidFill>
            <a:schemeClr val="accent3">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533F8D7-DBCC-1E52-6611-0BE5FFCA74B9}"/>
              </a:ext>
            </a:extLst>
          </p:cNvPr>
          <p:cNvSpPr>
            <a:spLocks noGrp="1" noRot="1" noMove="1" noResize="1" noEditPoints="1" noAdjustHandles="1" noChangeArrowheads="1" noChangeShapeType="1"/>
          </p:cNvSpPr>
          <p:nvPr/>
        </p:nvSpPr>
        <p:spPr>
          <a:xfrm>
            <a:off x="5029556" y="2660659"/>
            <a:ext cx="2136972" cy="2136972"/>
          </a:xfrm>
          <a:prstGeom prst="ellipse">
            <a:avLst/>
          </a:prstGeom>
          <a:gradFill>
            <a:gsLst>
              <a:gs pos="23000">
                <a:schemeClr val="accent3">
                  <a:lumMod val="60000"/>
                  <a:lumOff val="40000"/>
                  <a:alpha val="33841"/>
                </a:schemeClr>
              </a:gs>
              <a:gs pos="61000">
                <a:schemeClr val="accent3">
                  <a:lumMod val="60000"/>
                  <a:lumOff val="40000"/>
                  <a:alpha val="16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C63A583D-6BE0-A8F1-39D1-114B3FDEE8C6}"/>
              </a:ext>
            </a:extLst>
          </p:cNvPr>
          <p:cNvSpPr>
            <a:spLocks noGrp="1" noRot="1" noMove="1" noResize="1" noEditPoints="1" noAdjustHandles="1" noChangeArrowheads="1" noChangeShapeType="1"/>
          </p:cNvSpPr>
          <p:nvPr/>
        </p:nvSpPr>
        <p:spPr>
          <a:xfrm>
            <a:off x="5326438" y="2957541"/>
            <a:ext cx="1543208" cy="1543208"/>
          </a:xfrm>
          <a:prstGeom prst="ellipse">
            <a:avLst/>
          </a:prstGeom>
          <a:gradFill>
            <a:gsLst>
              <a:gs pos="23000">
                <a:schemeClr val="bg1"/>
              </a:gs>
              <a:gs pos="61000">
                <a:schemeClr val="accent3">
                  <a:lumMod val="40000"/>
                  <a:lumOff val="60000"/>
                  <a:alpha val="29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18" name="Oval 17">
            <a:extLst>
              <a:ext uri="{FF2B5EF4-FFF2-40B4-BE49-F238E27FC236}">
                <a16:creationId xmlns:a16="http://schemas.microsoft.com/office/drawing/2014/main" id="{28E6CC9E-A042-4D41-4D82-5012869DD8F0}"/>
              </a:ext>
            </a:extLst>
          </p:cNvPr>
          <p:cNvSpPr>
            <a:spLocks noGrp="1" noRot="1" noMove="1" noResize="1" noEditPoints="1" noAdjustHandles="1" noChangeArrowheads="1" noChangeShapeType="1"/>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6E013D36-4866-963A-B984-D0771F1F8F91}"/>
              </a:ext>
            </a:extLst>
          </p:cNvPr>
          <p:cNvSpPr>
            <a:spLocks noGrp="1" noRot="1" noMove="1" noResize="1" noEditPoints="1" noAdjustHandles="1" noChangeArrowheads="1" noChangeShapeType="1"/>
          </p:cNvSpPr>
          <p:nvPr/>
        </p:nvSpPr>
        <p:spPr>
          <a:xfrm>
            <a:off x="5366019" y="4285002"/>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761F8860-D3BD-ADF7-947C-66743FAA2346}"/>
              </a:ext>
            </a:extLst>
          </p:cNvPr>
          <p:cNvSpPr>
            <a:spLocks noGrp="1" noRot="1" noMove="1" noResize="1" noEditPoints="1" noAdjustHandles="1" noChangeArrowheads="1" noChangeShapeType="1"/>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cxnSp>
        <p:nvCxnSpPr>
          <p:cNvPr id="48" name="Straight Connector 47">
            <a:extLst>
              <a:ext uri="{FF2B5EF4-FFF2-40B4-BE49-F238E27FC236}">
                <a16:creationId xmlns:a16="http://schemas.microsoft.com/office/drawing/2014/main" id="{4EEE0137-8821-1C78-1860-272D52AD6A69}"/>
              </a:ext>
            </a:extLst>
          </p:cNvPr>
          <p:cNvCxnSpPr>
            <a:cxnSpLocks noGrp="1" noRot="1" noMove="1" noResize="1" noEditPoints="1" noAdjustHandles="1" noChangeArrowheads="1" noChangeShapeType="1"/>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035F2BD-9708-0AD0-BD3B-D333B7293EE0}"/>
              </a:ext>
            </a:extLst>
          </p:cNvPr>
          <p:cNvSpPr>
            <a:spLocks noGrp="1" noRot="1" noMove="1" noResize="1" noEditPoints="1" noAdjustHandles="1" noChangeArrowheads="1" noChangeShapeType="1"/>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2A041D92-70F1-8E69-18DA-1A12061BCB4D}"/>
              </a:ext>
            </a:extLst>
          </p:cNvPr>
          <p:cNvSpPr>
            <a:spLocks noGrp="1" noRot="1" noMove="1" noResize="1" noEditPoints="1" noAdjustHandles="1" noChangeArrowheads="1" noChangeShapeType="1"/>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2" name="Content Placeholder 70">
            <a:extLst>
              <a:ext uri="{FF2B5EF4-FFF2-40B4-BE49-F238E27FC236}">
                <a16:creationId xmlns:a16="http://schemas.microsoft.com/office/drawing/2014/main" id="{D5037DEE-D3A7-543A-B3E5-6F22ECB1E9B3}"/>
              </a:ext>
            </a:extLst>
          </p:cNvPr>
          <p:cNvSpPr txBox="1">
            <a:spLocks noGrp="1" noRot="1" noMove="1" noResize="1" noEditPoints="1" noAdjustHandles="1" noChangeArrowheads="1" noChangeShapeType="1"/>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1"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Open Source Health (OSH)</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systems in scope are assessed for risks resulting from the use of open source software.</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key sources for this check are configuration files of common dependency management systems (e.g. </a:t>
            </a:r>
            <a:r>
              <a:rPr kumimoji="0" lang="en-US" sz="1200" b="0" i="0" u="none" strike="noStrike" kern="1200" cap="none" spc="0" normalizeH="0" baseline="0" noProof="0" dirty="0" err="1">
                <a:ln>
                  <a:noFill/>
                </a:ln>
                <a:solidFill>
                  <a:srgbClr val="88ADF5"/>
                </a:solidFill>
                <a:effectLst/>
                <a:uLnTx/>
                <a:uFillTx/>
                <a:latin typeface="Azeret Mono" pitchFamily="2" charset="77"/>
                <a:ea typeface="+mn-ea"/>
                <a:cs typeface="Azeret Mono" pitchFamily="2" charset="77"/>
              </a:rPr>
              <a:t>Nuget</a:t>
            </a: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 Maven, and </a:t>
            </a:r>
            <a:r>
              <a:rPr kumimoji="0" lang="en-US" sz="1200" b="0" i="0" u="none" strike="noStrike" kern="1200" cap="none" spc="0" normalizeH="0" baseline="0" noProof="0" dirty="0" err="1">
                <a:ln>
                  <a:noFill/>
                </a:ln>
                <a:solidFill>
                  <a:srgbClr val="88ADF5"/>
                </a:solidFill>
                <a:effectLst/>
                <a:uLnTx/>
                <a:uFillTx/>
                <a:latin typeface="Azeret Mono" pitchFamily="2" charset="77"/>
                <a:ea typeface="+mn-ea"/>
                <a:cs typeface="Azeret Mono" pitchFamily="2" charset="77"/>
              </a:rPr>
              <a:t>NPM</a:t>
            </a: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This information is used to uncover risks related to known vulnerabilities, freshness, license usage, activity and management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p:txBody>
      </p:sp>
      <p:sp>
        <p:nvSpPr>
          <p:cNvPr id="78" name="Arc 77">
            <a:extLst>
              <a:ext uri="{FF2B5EF4-FFF2-40B4-BE49-F238E27FC236}">
                <a16:creationId xmlns:a16="http://schemas.microsoft.com/office/drawing/2014/main" id="{AE202C74-D8C9-84F4-7CCF-66BFEFFF7D22}"/>
              </a:ext>
            </a:extLst>
          </p:cNvPr>
          <p:cNvSpPr>
            <a:spLocks noGrp="1" noRot="1" noMove="1" noResize="1" noEditPoints="1" noAdjustHandles="1" noChangeArrowheads="1" noChangeShapeType="1"/>
          </p:cNvSpPr>
          <p:nvPr/>
        </p:nvSpPr>
        <p:spPr>
          <a:xfrm>
            <a:off x="4403883" y="2031167"/>
            <a:ext cx="3381834" cy="3405830"/>
          </a:xfrm>
          <a:prstGeom prst="arc">
            <a:avLst>
              <a:gd name="adj1" fmla="val 18941193"/>
              <a:gd name="adj2" fmla="val 13132678"/>
            </a:avLst>
          </a:prstGeom>
          <a:ln w="12700">
            <a:gradFill>
              <a:gsLst>
                <a:gs pos="98000">
                  <a:schemeClr val="bg1">
                    <a:alpha val="0"/>
                  </a:schemeClr>
                </a:gs>
                <a:gs pos="68000">
                  <a:schemeClr val="bg1">
                    <a:alpha val="29485"/>
                  </a:schemeClr>
                </a:gs>
                <a:gs pos="8000">
                  <a:schemeClr val="accent3"/>
                </a:gs>
                <a:gs pos="18000">
                  <a:schemeClr val="accent3">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99" name="Arc 98">
            <a:extLst>
              <a:ext uri="{FF2B5EF4-FFF2-40B4-BE49-F238E27FC236}">
                <a16:creationId xmlns:a16="http://schemas.microsoft.com/office/drawing/2014/main" id="{86B057A7-8157-80A0-0AA7-9BDCD7BBB467}"/>
              </a:ext>
            </a:extLst>
          </p:cNvPr>
          <p:cNvSpPr>
            <a:spLocks noGrp="1" noRot="1" noMove="1" noResize="1" noEditPoints="1" noAdjustHandles="1" noChangeArrowheads="1" noChangeShapeType="1"/>
          </p:cNvSpPr>
          <p:nvPr/>
        </p:nvSpPr>
        <p:spPr>
          <a:xfrm>
            <a:off x="5176684" y="2825556"/>
            <a:ext cx="1850921" cy="1820186"/>
          </a:xfrm>
          <a:prstGeom prst="arc">
            <a:avLst>
              <a:gd name="adj1" fmla="val 5508426"/>
              <a:gd name="adj2" fmla="val 14121050"/>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25FF9DAC-CBE3-1B3F-9290-7F5D371A540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rcRect/>
          <a:stretch/>
        </p:blipFill>
        <p:spPr>
          <a:xfrm>
            <a:off x="5900476" y="1504866"/>
            <a:ext cx="403047" cy="345174"/>
          </a:xfrm>
          <a:prstGeom prst="rect">
            <a:avLst/>
          </a:prstGeom>
        </p:spPr>
      </p:pic>
      <p:pic>
        <p:nvPicPr>
          <p:cNvPr id="79" name="Graphic 78">
            <a:extLst>
              <a:ext uri="{FF2B5EF4-FFF2-40B4-BE49-F238E27FC236}">
                <a16:creationId xmlns:a16="http://schemas.microsoft.com/office/drawing/2014/main" id="{488B6BB2-C968-8F30-797C-D8BF8F77ADF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11" name="Oval 43">
            <a:extLst>
              <a:ext uri="{FF2B5EF4-FFF2-40B4-BE49-F238E27FC236}">
                <a16:creationId xmlns:a16="http://schemas.microsoft.com/office/drawing/2014/main" id="{72B4FB6F-6763-191D-367B-6D9493FDE909}"/>
              </a:ext>
            </a:extLst>
          </p:cNvPr>
          <p:cNvSpPr>
            <a:spLocks noGrp="1" noRot="1" noMove="1" noResize="1" noEditPoints="1" noAdjustHandles="1" noChangeArrowheads="1" noChangeShapeType="1"/>
          </p:cNvSpPr>
          <p:nvPr/>
        </p:nvSpPr>
        <p:spPr>
          <a:xfrm>
            <a:off x="5569297" y="3200400"/>
            <a:ext cx="1057490" cy="1057490"/>
          </a:xfrm>
          <a:prstGeom prst="ellipse">
            <a:avLst/>
          </a:prstGeom>
          <a:gradFill>
            <a:gsLst>
              <a:gs pos="21000">
                <a:schemeClr val="tx2">
                  <a:alpha val="0"/>
                </a:schemeClr>
              </a:gs>
              <a:gs pos="55000">
                <a:schemeClr val="accent1">
                  <a:alpha val="14976"/>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31" name="Boog 30">
            <a:extLst>
              <a:ext uri="{FF2B5EF4-FFF2-40B4-BE49-F238E27FC236}">
                <a16:creationId xmlns:a16="http://schemas.microsoft.com/office/drawing/2014/main" id="{2E76718F-E362-2675-C4E3-B79D88D026C1}"/>
              </a:ext>
            </a:extLst>
          </p:cNvPr>
          <p:cNvSpPr>
            <a:spLocks noGrp="1" noRot="1" noChangeAspect="1" noMove="1" noResize="1" noEditPoints="1" noAdjustHandles="1" noChangeArrowheads="1" noChangeShapeType="1"/>
          </p:cNvSpPr>
          <p:nvPr/>
        </p:nvSpPr>
        <p:spPr>
          <a:xfrm>
            <a:off x="3385191" y="1063763"/>
            <a:ext cx="5342400" cy="5342400"/>
          </a:xfrm>
          <a:prstGeom prst="arc">
            <a:avLst>
              <a:gd name="adj1" fmla="val 8266711"/>
              <a:gd name="adj2" fmla="val 12416581"/>
            </a:avLst>
          </a:prstGeom>
          <a:ln w="12700">
            <a:gradFill>
              <a:gsLst>
                <a:gs pos="83000">
                  <a:schemeClr val="accent3"/>
                </a:gs>
                <a:gs pos="16000">
                  <a:schemeClr val="accent3"/>
                </a:gs>
                <a:gs pos="0">
                  <a:schemeClr val="accent3">
                    <a:alpha val="0"/>
                  </a:schemeClr>
                </a:gs>
                <a:gs pos="100000">
                  <a:schemeClr val="accent3">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E8DECA9-24CF-753A-9E3D-ED81D7412706}"/>
              </a:ext>
            </a:extLst>
          </p:cNvPr>
          <p:cNvSpPr txBox="1">
            <a:spLocks noGrp="1" noRot="1" noMove="1" noResize="1" noEditPoints="1" noAdjustHandles="1" noChangeArrowheads="1" noChangeShapeType="1"/>
          </p:cNvSpPr>
          <p:nvPr/>
        </p:nvSpPr>
        <p:spPr>
          <a:xfrm>
            <a:off x="773951" y="2467036"/>
            <a:ext cx="2725576" cy="357277"/>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8ADF5"/>
                </a:solidFill>
                <a:effectLst>
                  <a:outerShdw blurRad="229337" sx="102000" sy="102000" algn="ctr" rotWithShape="0">
                    <a:srgbClr val="1763FF">
                      <a:alpha val="20000"/>
                    </a:srgbClr>
                  </a:outerShdw>
                </a:effectLst>
                <a:uLnTx/>
                <a:uFillTx/>
                <a:latin typeface="☞NOIR PRO MEDIUM" pitchFamily="2" charset="0"/>
                <a:ea typeface="+mn-ea"/>
                <a:cs typeface="+mn-cs"/>
              </a:rPr>
              <a:t>Model sub-characteristics</a:t>
            </a:r>
          </a:p>
        </p:txBody>
      </p:sp>
      <p:sp>
        <p:nvSpPr>
          <p:cNvPr id="29" name="Ovaal 28">
            <a:extLst>
              <a:ext uri="{FF2B5EF4-FFF2-40B4-BE49-F238E27FC236}">
                <a16:creationId xmlns:a16="http://schemas.microsoft.com/office/drawing/2014/main" id="{FB20B4AB-9225-343C-3039-7D6D4668EBFC}"/>
              </a:ext>
            </a:extLst>
          </p:cNvPr>
          <p:cNvSpPr>
            <a:spLocks noGrp="1" noRot="1" noMove="1" noResize="1" noEditPoints="1" noAdjustHandles="1" noChangeArrowheads="1" noChangeShapeType="1"/>
          </p:cNvSpPr>
          <p:nvPr/>
        </p:nvSpPr>
        <p:spPr>
          <a:xfrm>
            <a:off x="3385191" y="3111240"/>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0" name="Ovaal 29">
            <a:extLst>
              <a:ext uri="{FF2B5EF4-FFF2-40B4-BE49-F238E27FC236}">
                <a16:creationId xmlns:a16="http://schemas.microsoft.com/office/drawing/2014/main" id="{2E5481D9-8C0E-A2F0-820F-EC973CFB7F55}"/>
              </a:ext>
            </a:extLst>
          </p:cNvPr>
          <p:cNvSpPr>
            <a:spLocks noGrp="1" noRot="1" noMove="1" noResize="1" noEditPoints="1" noAdjustHandles="1" noChangeArrowheads="1" noChangeShapeType="1"/>
          </p:cNvSpPr>
          <p:nvPr/>
        </p:nvSpPr>
        <p:spPr>
          <a:xfrm>
            <a:off x="3323073" y="3590288"/>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2" name="Ovaal 31">
            <a:extLst>
              <a:ext uri="{FF2B5EF4-FFF2-40B4-BE49-F238E27FC236}">
                <a16:creationId xmlns:a16="http://schemas.microsoft.com/office/drawing/2014/main" id="{F992DA66-29D9-1466-1F41-2D8827291212}"/>
              </a:ext>
            </a:extLst>
          </p:cNvPr>
          <p:cNvSpPr>
            <a:spLocks noGrp="1" noRot="1" noMove="1" noResize="1" noEditPoints="1" noAdjustHandles="1" noChangeArrowheads="1" noChangeShapeType="1"/>
          </p:cNvSpPr>
          <p:nvPr/>
        </p:nvSpPr>
        <p:spPr>
          <a:xfrm>
            <a:off x="3364103" y="4093669"/>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Ovaal 35">
            <a:extLst>
              <a:ext uri="{FF2B5EF4-FFF2-40B4-BE49-F238E27FC236}">
                <a16:creationId xmlns:a16="http://schemas.microsoft.com/office/drawing/2014/main" id="{B435B4C7-661B-FDF9-E7D5-7747088120FF}"/>
              </a:ext>
            </a:extLst>
          </p:cNvPr>
          <p:cNvSpPr>
            <a:spLocks noGrp="1" noRot="1" noMove="1" noResize="1" noEditPoints="1" noAdjustHandles="1" noChangeArrowheads="1" noChangeShapeType="1"/>
          </p:cNvSpPr>
          <p:nvPr/>
        </p:nvSpPr>
        <p:spPr>
          <a:xfrm>
            <a:off x="3496656" y="4588574"/>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7" name="Ovaal 36">
            <a:extLst>
              <a:ext uri="{FF2B5EF4-FFF2-40B4-BE49-F238E27FC236}">
                <a16:creationId xmlns:a16="http://schemas.microsoft.com/office/drawing/2014/main" id="{FCBA4432-7F01-F84E-2492-55FE1ECE0C9D}"/>
              </a:ext>
            </a:extLst>
          </p:cNvPr>
          <p:cNvSpPr>
            <a:spLocks noGrp="1" noRot="1" noMove="1" noResize="1" noEditPoints="1" noAdjustHandles="1" noChangeArrowheads="1" noChangeShapeType="1"/>
          </p:cNvSpPr>
          <p:nvPr/>
        </p:nvSpPr>
        <p:spPr>
          <a:xfrm>
            <a:off x="3728666" y="5089348"/>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8" name="Tekstvak 37">
            <a:extLst>
              <a:ext uri="{FF2B5EF4-FFF2-40B4-BE49-F238E27FC236}">
                <a16:creationId xmlns:a16="http://schemas.microsoft.com/office/drawing/2014/main" id="{10D3DB77-BAAE-D993-38A8-5175851EB1D3}"/>
              </a:ext>
            </a:extLst>
          </p:cNvPr>
          <p:cNvSpPr txBox="1">
            <a:spLocks noGrp="1" noRot="1" noMove="1" noResize="1" noEditPoints="1" noAdjustHandles="1" noChangeArrowheads="1" noChangeShapeType="1"/>
          </p:cNvSpPr>
          <p:nvPr/>
        </p:nvSpPr>
        <p:spPr>
          <a:xfrm>
            <a:off x="1754462" y="2957541"/>
            <a:ext cx="1573016"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Vulnerabilities</a:t>
            </a:r>
          </a:p>
        </p:txBody>
      </p:sp>
      <p:sp>
        <p:nvSpPr>
          <p:cNvPr id="39" name="Tekstvak 38">
            <a:extLst>
              <a:ext uri="{FF2B5EF4-FFF2-40B4-BE49-F238E27FC236}">
                <a16:creationId xmlns:a16="http://schemas.microsoft.com/office/drawing/2014/main" id="{7E259356-0193-A86A-4CEE-5A1813E29242}"/>
              </a:ext>
            </a:extLst>
          </p:cNvPr>
          <p:cNvSpPr txBox="1">
            <a:spLocks noGrp="1" noRot="1" noMove="1" noResize="1" noEditPoints="1" noAdjustHandles="1" noChangeArrowheads="1" noChangeShapeType="1"/>
          </p:cNvSpPr>
          <p:nvPr/>
        </p:nvSpPr>
        <p:spPr>
          <a:xfrm>
            <a:off x="880462" y="3456782"/>
            <a:ext cx="2390547"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Dependency freshness</a:t>
            </a:r>
          </a:p>
        </p:txBody>
      </p:sp>
      <p:sp>
        <p:nvSpPr>
          <p:cNvPr id="40" name="Tekstvak 39">
            <a:extLst>
              <a:ext uri="{FF2B5EF4-FFF2-40B4-BE49-F238E27FC236}">
                <a16:creationId xmlns:a16="http://schemas.microsoft.com/office/drawing/2014/main" id="{5F0DC96E-F7E0-F74E-E1F1-46E5AC30F48C}"/>
              </a:ext>
            </a:extLst>
          </p:cNvPr>
          <p:cNvSpPr txBox="1">
            <a:spLocks noGrp="1" noRot="1" noMove="1" noResize="1" noEditPoints="1" noAdjustHandles="1" noChangeArrowheads="1" noChangeShapeType="1"/>
          </p:cNvSpPr>
          <p:nvPr/>
        </p:nvSpPr>
        <p:spPr>
          <a:xfrm>
            <a:off x="1997335" y="3956023"/>
            <a:ext cx="1313329"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License Use</a:t>
            </a:r>
          </a:p>
        </p:txBody>
      </p:sp>
      <p:sp>
        <p:nvSpPr>
          <p:cNvPr id="41" name="Tekstvak 40">
            <a:extLst>
              <a:ext uri="{FF2B5EF4-FFF2-40B4-BE49-F238E27FC236}">
                <a16:creationId xmlns:a16="http://schemas.microsoft.com/office/drawing/2014/main" id="{F793CE3A-19AA-C87F-F0EE-2C1B9143E48E}"/>
              </a:ext>
            </a:extLst>
          </p:cNvPr>
          <p:cNvSpPr txBox="1">
            <a:spLocks noGrp="1" noRot="1" noMove="1" noResize="1" noEditPoints="1" noAdjustHandles="1" noChangeArrowheads="1" noChangeShapeType="1"/>
          </p:cNvSpPr>
          <p:nvPr/>
        </p:nvSpPr>
        <p:spPr>
          <a:xfrm>
            <a:off x="2515749" y="4455264"/>
            <a:ext cx="898151"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Activity</a:t>
            </a:r>
          </a:p>
        </p:txBody>
      </p:sp>
      <p:sp>
        <p:nvSpPr>
          <p:cNvPr id="43" name="Tekstvak 42">
            <a:extLst>
              <a:ext uri="{FF2B5EF4-FFF2-40B4-BE49-F238E27FC236}">
                <a16:creationId xmlns:a16="http://schemas.microsoft.com/office/drawing/2014/main" id="{27320431-995A-9BDB-9C53-5D7D2B38AA23}"/>
              </a:ext>
            </a:extLst>
          </p:cNvPr>
          <p:cNvSpPr txBox="1">
            <a:spLocks noGrp="1" noRot="1" noMove="1" noResize="1" noEditPoints="1" noAdjustHandles="1" noChangeArrowheads="1" noChangeShapeType="1"/>
          </p:cNvSpPr>
          <p:nvPr/>
        </p:nvSpPr>
        <p:spPr>
          <a:xfrm>
            <a:off x="2171116" y="4954505"/>
            <a:ext cx="1464012"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Management</a:t>
            </a:r>
          </a:p>
        </p:txBody>
      </p:sp>
      <p:sp>
        <p:nvSpPr>
          <p:cNvPr id="3" name="Footer Placeholder 4">
            <a:extLst>
              <a:ext uri="{FF2B5EF4-FFF2-40B4-BE49-F238E27FC236}">
                <a16:creationId xmlns:a16="http://schemas.microsoft.com/office/drawing/2014/main" id="{D4A056AD-5C98-2081-69A4-5F42AF9892F2}"/>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150897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657C-97FB-B1AA-E71A-0A0A45FB21D7}"/>
            </a:ext>
          </a:extLst>
        </p:cNvPr>
        <p:cNvGrpSpPr/>
        <p:nvPr/>
      </p:nvGrpSpPr>
      <p:grpSpPr>
        <a:xfrm>
          <a:off x="0" y="0"/>
          <a:ext cx="0" cy="0"/>
          <a:chOff x="0" y="0"/>
          <a:chExt cx="0" cy="0"/>
        </a:xfrm>
      </p:grpSpPr>
      <p:grpSp>
        <p:nvGrpSpPr>
          <p:cNvPr id="12" name="Groep 6">
            <a:extLst>
              <a:ext uri="{FF2B5EF4-FFF2-40B4-BE49-F238E27FC236}">
                <a16:creationId xmlns:a16="http://schemas.microsoft.com/office/drawing/2014/main" id="{4CE14A0A-B8B6-7D0D-3564-33C85D8F48B0}"/>
              </a:ext>
            </a:extLst>
          </p:cNvPr>
          <p:cNvGrpSpPr/>
          <p:nvPr/>
        </p:nvGrpSpPr>
        <p:grpSpPr>
          <a:xfrm>
            <a:off x="134319" y="1137285"/>
            <a:ext cx="11923362" cy="1426530"/>
            <a:chOff x="134319" y="1137285"/>
            <a:chExt cx="11923362" cy="1426530"/>
          </a:xfrm>
        </p:grpSpPr>
        <p:sp>
          <p:nvSpPr>
            <p:cNvPr id="14" name="Rechthoek 25">
              <a:extLst>
                <a:ext uri="{FF2B5EF4-FFF2-40B4-BE49-F238E27FC236}">
                  <a16:creationId xmlns:a16="http://schemas.microsoft.com/office/drawing/2014/main" id="{6024112E-385A-46B2-9146-3B430094ECEE}"/>
                </a:ext>
              </a:extLst>
            </p:cNvPr>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 name="Afgeronde rechthoek 36">
              <a:extLst>
                <a:ext uri="{FF2B5EF4-FFF2-40B4-BE49-F238E27FC236}">
                  <a16:creationId xmlns:a16="http://schemas.microsoft.com/office/drawing/2014/main" id="{D5AF62F9-2731-16DA-3D50-41C5C6913927}"/>
                </a:ext>
              </a:extLst>
            </p:cNvPr>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TextBox 39">
              <a:extLst>
                <a:ext uri="{FF2B5EF4-FFF2-40B4-BE49-F238E27FC236}">
                  <a16:creationId xmlns:a16="http://schemas.microsoft.com/office/drawing/2014/main" id="{5F9B5B7F-C4FB-ED20-5174-E893C3E53456}"/>
                </a:ext>
              </a:extLst>
            </p:cNvPr>
            <p:cNvSpPr txBox="1"/>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25" name="Afgeronde rechthoek 2">
              <a:extLst>
                <a:ext uri="{FF2B5EF4-FFF2-40B4-BE49-F238E27FC236}">
                  <a16:creationId xmlns:a16="http://schemas.microsoft.com/office/drawing/2014/main" id="{4BA3C8BC-C5A7-3237-B1EA-EEA17EC91199}"/>
                </a:ext>
              </a:extLst>
            </p:cNvPr>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29" name="Rechte verbindingslijn 8">
              <a:extLst>
                <a:ext uri="{FF2B5EF4-FFF2-40B4-BE49-F238E27FC236}">
                  <a16:creationId xmlns:a16="http://schemas.microsoft.com/office/drawing/2014/main" id="{A3239A47-7688-AC30-090B-A22E630FC15C}"/>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0" name="Rechte verbindingslijn 9">
              <a:extLst>
                <a:ext uri="{FF2B5EF4-FFF2-40B4-BE49-F238E27FC236}">
                  <a16:creationId xmlns:a16="http://schemas.microsoft.com/office/drawing/2014/main" id="{AB03C8D2-A77E-F86D-699F-61EEAF3A6F6D}"/>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1" name="Rechte verbindingslijn 10">
              <a:extLst>
                <a:ext uri="{FF2B5EF4-FFF2-40B4-BE49-F238E27FC236}">
                  <a16:creationId xmlns:a16="http://schemas.microsoft.com/office/drawing/2014/main" id="{A14CB0E1-CAAE-D4CC-52AE-D4F8F65D414D}"/>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9" name="Rechte verbindingslijn 12">
              <a:extLst>
                <a:ext uri="{FF2B5EF4-FFF2-40B4-BE49-F238E27FC236}">
                  <a16:creationId xmlns:a16="http://schemas.microsoft.com/office/drawing/2014/main" id="{0A8A6778-B9CF-3E87-C97E-26A24A41A976}"/>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0" name="Rechthoek 14">
              <a:extLst>
                <a:ext uri="{FF2B5EF4-FFF2-40B4-BE49-F238E27FC236}">
                  <a16:creationId xmlns:a16="http://schemas.microsoft.com/office/drawing/2014/main" id="{1A9FF113-390D-B765-CB3B-9A27EC9E0043}"/>
                </a:ext>
              </a:extLst>
            </p:cNvPr>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1" name="Afgeronde rechthoek 18">
              <a:extLst>
                <a:ext uri="{FF2B5EF4-FFF2-40B4-BE49-F238E27FC236}">
                  <a16:creationId xmlns:a16="http://schemas.microsoft.com/office/drawing/2014/main" id="{60755CF8-D102-5653-00B8-BE78247EA5F1}"/>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42" name="Afgeronde rechthoek 19">
              <a:extLst>
                <a:ext uri="{FF2B5EF4-FFF2-40B4-BE49-F238E27FC236}">
                  <a16:creationId xmlns:a16="http://schemas.microsoft.com/office/drawing/2014/main" id="{DEE64A5D-4E01-5524-F799-1F6F1ECA090D}"/>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43" name="Afgeronde rechthoek 20">
              <a:extLst>
                <a:ext uri="{FF2B5EF4-FFF2-40B4-BE49-F238E27FC236}">
                  <a16:creationId xmlns:a16="http://schemas.microsoft.com/office/drawing/2014/main" id="{BEBD6C4E-1E55-C06A-BBF3-8958FF7D7C43}"/>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44" name="Afgeronde rechthoek 21">
              <a:extLst>
                <a:ext uri="{FF2B5EF4-FFF2-40B4-BE49-F238E27FC236}">
                  <a16:creationId xmlns:a16="http://schemas.microsoft.com/office/drawing/2014/main" id="{51CB4841-8577-D508-2FD2-5FE829BE9E20}"/>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45" name="Afgeronde rechthoek 22">
              <a:extLst>
                <a:ext uri="{FF2B5EF4-FFF2-40B4-BE49-F238E27FC236}">
                  <a16:creationId xmlns:a16="http://schemas.microsoft.com/office/drawing/2014/main" id="{424AEB5C-E6BC-5C31-CBB0-CB678E021394}"/>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46" name="Afgeronde rechthoek 23">
              <a:extLst>
                <a:ext uri="{FF2B5EF4-FFF2-40B4-BE49-F238E27FC236}">
                  <a16:creationId xmlns:a16="http://schemas.microsoft.com/office/drawing/2014/main" id="{B28E507D-44A0-F88A-01F1-566B0FAD0FC8}"/>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48" name="Rectangle 29">
              <a:extLst>
                <a:ext uri="{FF2B5EF4-FFF2-40B4-BE49-F238E27FC236}">
                  <a16:creationId xmlns:a16="http://schemas.microsoft.com/office/drawing/2014/main" id="{5AA3918E-C243-8940-15ED-6DCB20D268B1}"/>
                </a:ext>
              </a:extLst>
            </p:cNvPr>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49" name="Rectangle 34">
              <a:extLst>
                <a:ext uri="{FF2B5EF4-FFF2-40B4-BE49-F238E27FC236}">
                  <a16:creationId xmlns:a16="http://schemas.microsoft.com/office/drawing/2014/main" id="{2B7654F3-F274-18DB-3333-74D092A89FB0}"/>
                </a:ext>
              </a:extLst>
            </p:cNvPr>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51" name="Rectangle 35">
              <a:extLst>
                <a:ext uri="{FF2B5EF4-FFF2-40B4-BE49-F238E27FC236}">
                  <a16:creationId xmlns:a16="http://schemas.microsoft.com/office/drawing/2014/main" id="{ED200687-7BC1-C02E-D320-49D6FB896F25}"/>
                </a:ext>
              </a:extLst>
            </p:cNvPr>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52" name="Rectangle 36">
              <a:extLst>
                <a:ext uri="{FF2B5EF4-FFF2-40B4-BE49-F238E27FC236}">
                  <a16:creationId xmlns:a16="http://schemas.microsoft.com/office/drawing/2014/main" id="{50A96A4F-95C3-61B9-5011-65B391A77225}"/>
                </a:ext>
              </a:extLst>
            </p:cNvPr>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55" name="Rectangle 37">
              <a:extLst>
                <a:ext uri="{FF2B5EF4-FFF2-40B4-BE49-F238E27FC236}">
                  <a16:creationId xmlns:a16="http://schemas.microsoft.com/office/drawing/2014/main" id="{367A8A67-3457-4FA2-A363-B3F14A43072E}"/>
                </a:ext>
              </a:extLst>
            </p:cNvPr>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56" name="Rechte verbindingslijn 77">
              <a:extLst>
                <a:ext uri="{FF2B5EF4-FFF2-40B4-BE49-F238E27FC236}">
                  <a16:creationId xmlns:a16="http://schemas.microsoft.com/office/drawing/2014/main" id="{BA782917-279D-CB2D-D97E-3910DF4196B4}"/>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57" name="Rechte verbindingslijn 79">
              <a:extLst>
                <a:ext uri="{FF2B5EF4-FFF2-40B4-BE49-F238E27FC236}">
                  <a16:creationId xmlns:a16="http://schemas.microsoft.com/office/drawing/2014/main" id="{2667CBF8-AB62-D99D-BA51-142C08F5CF79}"/>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58" name="Graphic 57">
              <a:extLst>
                <a:ext uri="{FF2B5EF4-FFF2-40B4-BE49-F238E27FC236}">
                  <a16:creationId xmlns:a16="http://schemas.microsoft.com/office/drawing/2014/main" id="{E2BAF064-7635-1B45-EA75-1067691D05F4}"/>
                </a:ext>
              </a:extLst>
            </p:cNvPr>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59" name="Rechte verbindingslijn 27">
              <a:extLst>
                <a:ext uri="{FF2B5EF4-FFF2-40B4-BE49-F238E27FC236}">
                  <a16:creationId xmlns:a16="http://schemas.microsoft.com/office/drawing/2014/main" id="{2DD03688-C2CE-72C7-2E9D-3FF562749A55}"/>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60" name="Graphic 59">
              <a:extLst>
                <a:ext uri="{FF2B5EF4-FFF2-40B4-BE49-F238E27FC236}">
                  <a16:creationId xmlns:a16="http://schemas.microsoft.com/office/drawing/2014/main" id="{E7C1EB5F-382D-9F3C-AD26-C3E7BE7E26CB}"/>
                </a:ext>
              </a:extLst>
            </p:cNvPr>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2" name="Tijdelijke aanduiding voor tekst 1">
            <a:extLst>
              <a:ext uri="{FF2B5EF4-FFF2-40B4-BE49-F238E27FC236}">
                <a16:creationId xmlns:a16="http://schemas.microsoft.com/office/drawing/2014/main" id="{3AC69A2C-A802-2564-B045-52FACE4578A8}"/>
              </a:ext>
            </a:extLst>
          </p:cNvPr>
          <p:cNvSpPr>
            <a:spLocks noGrp="1"/>
          </p:cNvSpPr>
          <p:nvPr>
            <p:ph type="body" sz="quarter" idx="12"/>
          </p:nvPr>
        </p:nvSpPr>
        <p:spPr>
          <a:xfrm>
            <a:off x="381000" y="129609"/>
            <a:ext cx="2927899" cy="228145"/>
          </a:xfrm>
        </p:spPr>
        <p:txBody>
          <a:bodyPr/>
          <a:lstStyle/>
          <a:p>
            <a:r>
              <a:rPr lang="en-US" noProof="0" dirty="0"/>
              <a:t>Key findings – Open Source and IP</a:t>
            </a:r>
          </a:p>
        </p:txBody>
      </p:sp>
      <p:sp>
        <p:nvSpPr>
          <p:cNvPr id="54" name="Tijdelijke aanduiding voor inhoud 53">
            <a:extLst>
              <a:ext uri="{FF2B5EF4-FFF2-40B4-BE49-F238E27FC236}">
                <a16:creationId xmlns:a16="http://schemas.microsoft.com/office/drawing/2014/main" id="{92F6EBB4-2CFF-E11E-C500-7D4D087C5FD3}"/>
              </a:ext>
            </a:extLst>
          </p:cNvPr>
          <p:cNvSpPr>
            <a:spLocks noGrp="1"/>
          </p:cNvSpPr>
          <p:nvPr>
            <p:ph sz="quarter" idx="13"/>
          </p:nvPr>
        </p:nvSpPr>
        <p:spPr>
          <a:xfrm>
            <a:off x="154799" y="2738112"/>
            <a:ext cx="8090297" cy="3525887"/>
          </a:xfrm>
        </p:spPr>
        <p:txBody>
          <a:bodyPr/>
          <a:lstStyle/>
          <a:p>
            <a:r>
              <a:rPr lang="en-US" sz="1400" noProof="0" dirty="0" err="1"/>
              <a:t>67% of dependencies (8 in total) used in the system contain one or more known vulnerabilities.</a:t>
            </a:r>
            <a:endParaRPr lang="en-US" sz="1400" noProof="0" dirty="0"/>
          </a:p>
          <a:p>
            <a:r>
              <a:rPr lang="en-US" sz="1400" noProof="0" dirty="0" err="1"/>
              <a:t>50% of dependencies (6 in total) uses a potentially restrictive open-source license (e.g. GPL/AGPL).</a:t>
            </a:r>
            <a:endParaRPr lang="en-US" sz="1400" noProof="0" dirty="0"/>
          </a:p>
          <a:p>
            <a:r>
              <a:rPr lang="en-US" sz="1400" noProof="0" dirty="0" err="1"/>
              <a:t>50% of dependencies (6 in total) used in the system have not been updated for over 2 years.</a:t>
            </a:r>
            <a:endParaRPr lang="en-US" sz="1400" noProof="0" dirty="0"/>
          </a:p>
          <a:p>
            <a:r>
              <a:rPr lang="en-US" sz="1400" noProof="0" dirty="0" err="1"/>
              <a:t>67% of dependencies (8 in total) does not use a package manager but is placed in the codebase directly.</a:t>
            </a:r>
            <a:endParaRPr lang="en-US" sz="1400" noProof="0" dirty="0"/>
          </a:p>
        </p:txBody>
      </p:sp>
      <p:sp>
        <p:nvSpPr>
          <p:cNvPr id="5" name="Tijdelijke aanduiding voor dianummer 4">
            <a:extLst>
              <a:ext uri="{FF2B5EF4-FFF2-40B4-BE49-F238E27FC236}">
                <a16:creationId xmlns:a16="http://schemas.microsoft.com/office/drawing/2014/main" id="{39F0A056-8E36-38AE-2AC7-E82BB91DEF6E}"/>
              </a:ext>
            </a:extLst>
          </p:cNvPr>
          <p:cNvSpPr>
            <a:spLocks noGrp="1"/>
          </p:cNvSpPr>
          <p:nvPr>
            <p:ph type="sldNum" sz="quarter" idx="15"/>
          </p:nvPr>
        </p:nvSpPr>
        <p:spPr/>
        <p:txBody>
          <a:bodyPr/>
          <a:lstStyle/>
          <a:p>
            <a:fld id="{E242BD21-9B61-2246-BCB1-4BE5E1BEBE1C}" type="slidenum">
              <a:rPr lang="en-US" noProof="0" smtClean="0"/>
              <a:pPr/>
              <a:t>18</a:t>
            </a:fld>
            <a:endParaRPr lang="en-US" noProof="0" dirty="0"/>
          </a:p>
        </p:txBody>
      </p:sp>
      <p:sp>
        <p:nvSpPr>
          <p:cNvPr id="53" name="Titel 52">
            <a:extLst>
              <a:ext uri="{FF2B5EF4-FFF2-40B4-BE49-F238E27FC236}">
                <a16:creationId xmlns:a16="http://schemas.microsoft.com/office/drawing/2014/main" id="{C627CDF4-44FD-FE7F-BEB6-F93F1653279A}"/>
              </a:ext>
            </a:extLst>
          </p:cNvPr>
          <p:cNvSpPr>
            <a:spLocks noGrp="1"/>
          </p:cNvSpPr>
          <p:nvPr>
            <p:ph type="title"/>
          </p:nvPr>
        </p:nvSpPr>
        <p:spPr/>
        <p:txBody>
          <a:bodyPr/>
          <a:lstStyle/>
          <a:p>
            <a:r>
              <a:rPr lang="en-US" noProof="0" dirty="0" err="1"/>
              <a:t>Integrationtest-kafka rates above market average in Open-Source health</a:t>
            </a:r>
          </a:p>
        </p:txBody>
      </p:sp>
      <p:cxnSp>
        <p:nvCxnSpPr>
          <p:cNvPr id="47" name="Rechte verbindingslijn 46">
            <a:extLst>
              <a:ext uri="{FF2B5EF4-FFF2-40B4-BE49-F238E27FC236}">
                <a16:creationId xmlns:a16="http://schemas.microsoft.com/office/drawing/2014/main" id="{071C9F9A-A1FA-AA10-D877-152A912912CC}"/>
              </a:ext>
            </a:extLst>
          </p:cNvPr>
          <p:cNvCxnSpPr>
            <a:cxnSpLocks noGrp="1" noRot="1" noMove="1" noResize="1" noEditPoints="1" noAdjustHandles="1" noChangeArrowheads="1" noChangeShapeType="1"/>
          </p:cNvCxnSpPr>
          <p:nvPr/>
        </p:nvCxnSpPr>
        <p:spPr>
          <a:xfrm>
            <a:off x="8378314" y="2821727"/>
            <a:ext cx="0" cy="1679328"/>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0EE68FF8-4CD1-81B5-DCFE-9E07D30C1415}"/>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DA65BE2A-A98A-8EBA-0757-212F21D72736}"/>
              </a:ext>
            </a:extLst>
          </p:cNvPr>
          <p:cNvGraphicFramePr>
            <a:graphicFrameLocks noGrp="1"/>
          </p:cNvGraphicFramePr>
          <p:nvPr>
            <p:extLst>
              <p:ext uri="{D42A27DB-BD31-4B8C-83A1-F6EECF244321}">
                <p14:modId xmlns:p14="http://schemas.microsoft.com/office/powerpoint/2010/main" val="808742044"/>
              </p:ext>
            </p:extLst>
          </p:nvPr>
        </p:nvGraphicFramePr>
        <p:xfrm>
          <a:off x="8571496" y="3035953"/>
          <a:ext cx="3315521" cy="918396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Vulnerability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3.0</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3.0</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bl>
          </a:graphicData>
        </a:graphic>
      </p:graphicFrame>
      <p:graphicFrame>
        <p:nvGraphicFramePr>
          <p:cNvPr id="74" name="Table 3">
            <a:extLst>
              <a:ext uri="{FF2B5EF4-FFF2-40B4-BE49-F238E27FC236}">
                <a16:creationId xmlns:a16="http://schemas.microsoft.com/office/drawing/2014/main" id="{D0BD417E-8466-1687-21C5-BCB913951ADD}"/>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8BF66FC-97CC-BD90-B24F-F210E66AFE61}"/>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Open source health</a:t>
            </a:r>
          </a:p>
        </p:txBody>
      </p:sp>
      <p:sp>
        <p:nvSpPr>
          <p:cNvPr id="76" name="TextBox 39">
            <a:extLst>
              <a:ext uri="{FF2B5EF4-FFF2-40B4-BE49-F238E27FC236}">
                <a16:creationId xmlns:a16="http://schemas.microsoft.com/office/drawing/2014/main" id="{A5AE3144-E72D-C395-031F-513B7A7FDF02}"/>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01 </a:t>
            </a:r>
            <a:r>
              <a:rPr lang="en-US" sz="800" noProof="0" dirty="0" err="1">
                <a:solidFill>
                  <a:srgbClr val="152F73"/>
                </a:solidFill>
                <a:latin typeface="Azeret Mono" pitchFamily="2" charset="77"/>
                <a:cs typeface="Azeret Mono" pitchFamily="2" charset="77"/>
              </a:rPr>
              <a:t>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DF6022E-F95A-14F7-D500-BA24EAC5E025}"/>
              </a:ext>
            </a:extLst>
          </p:cNvPr>
          <p:cNvGrpSpPr/>
          <p:nvPr/>
        </p:nvGrpSpPr>
        <p:grpSpPr>
          <a:xfrm>
            <a:off x="7393468" y="1466322"/>
            <a:ext cx="913712" cy="884878"/>
            <a:chOff x="5633468" y="1730647"/>
            <a:chExt cx="913712" cy="884878"/>
          </a:xfrm>
        </p:grpSpPr>
        <p:sp>
          <p:nvSpPr>
            <p:cNvPr id="71" name="TextBox 42">
              <a:extLst>
                <a:ext uri="{FF2B5EF4-FFF2-40B4-BE49-F238E27FC236}">
                  <a16:creationId xmlns:a16="http://schemas.microsoft.com/office/drawing/2014/main" id="{6C2EB2A0-888F-966A-64D7-A852BEDF2006}"/>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5447EB1B-609A-3757-DFA1-735B9D7E3B0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0C3D3AB2-F054-4EFB-3435-62E5C0FA49AB}"/>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3.8</a:t>
              </a:r>
              <a:endParaRPr lang="en-US" sz="1000" noProof="0" dirty="0">
                <a:solidFill>
                  <a:schemeClr val="tx1"/>
                </a:solidFill>
                <a:latin typeface="☞NOIR PRO MEDIUM" pitchFamily="2" charset="0"/>
              </a:endParaRPr>
            </a:p>
          </p:txBody>
        </p:sp>
      </p:grpSp>
      <p:sp>
        <p:nvSpPr>
          <p:cNvPr id="3" name="Footer Placeholder 4">
            <a:extLst>
              <a:ext uri="{FF2B5EF4-FFF2-40B4-BE49-F238E27FC236}">
                <a16:creationId xmlns:a16="http://schemas.microsoft.com/office/drawing/2014/main" id="{0176990D-E053-DFD3-6F1D-6FADB027FCCD}"/>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1164340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pPr>
              <a:spcAft>
                <a:spcPts val="1000"/>
              </a:spcAft>
            </a:pPr>
            <a:r>
              <a:rPr lang="en-US" noProof="0" dirty="0" err="1">
                <a:solidFill>
                  <a:schemeClr val="tx1"/>
                </a:solidFill>
              </a:rPr>
              <a:t>67% of dependencies (8 in total) used in the system contain one or more known vulnerabilities.</a:t>
            </a:r>
            <a:endParaRPr lang="en-US" noProof="0" dirty="0">
              <a:solidFill>
                <a:schemeClr val="tx1"/>
              </a:solidFill>
            </a:endParaRPr>
          </a:p>
          <a:p>
            <a:pPr>
              <a:spcAft>
                <a:spcPts val="1000"/>
              </a:spcAft>
            </a:pPr>
            <a:r>
              <a:rPr lang="en-US" noProof="0" dirty="0" err="1">
                <a:solidFill>
                  <a:schemeClr val="tx1"/>
                </a:solidFill>
              </a:rPr>
              <a:t>50% of dependencies (6 in total) uses a potentially restrictive open-source license (e.g. GPL/AGPL).</a:t>
            </a:r>
            <a:endParaRPr lang="en-US" noProof="0" dirty="0">
              <a:solidFill>
                <a:schemeClr val="tx1"/>
              </a:solidFill>
            </a:endParaRPr>
          </a:p>
          <a:p>
            <a:pPr>
              <a:spcAft>
                <a:spcPts val="1000"/>
              </a:spcAft>
            </a:pPr>
            <a:r>
              <a:rPr lang="en-US" noProof="0" dirty="0" err="1">
                <a:solidFill>
                  <a:schemeClr val="tx1"/>
                </a:solidFill>
              </a:rPr>
              <a:t>50% of dependencies (6 in total) used in the system have not been updated for over 2 years.</a:t>
            </a:r>
            <a:endParaRPr lang="en-US" noProof="0" dirty="0">
              <a:solidFill>
                <a:schemeClr val="tx1"/>
              </a:solidFill>
            </a:endParaRPr>
          </a:p>
          <a:p>
            <a:pPr>
              <a:spcAft>
                <a:spcPts val="1000"/>
              </a:spcAft>
            </a:pPr>
            <a:r>
              <a:rPr lang="en-US" noProof="0" dirty="0" err="1">
                <a:solidFill>
                  <a:schemeClr val="tx1"/>
                </a:solidFill>
              </a:rPr>
              <a:t>67% of dependencies (8 in total) does not use a package manager but is placed in the codebase directly.</a:t>
            </a:r>
            <a:endParaRPr lang="en-US" noProof="0" dirty="0">
              <a:solidFill>
                <a:schemeClr val="tx1"/>
              </a:solidFill>
            </a:endParaRP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p:txBody>
          <a:bodyPr>
            <a:noAutofit/>
          </a:bodyPr>
          <a:lstStyle/>
          <a:p>
            <a:r>
              <a:rPr lang="en-US" sz="1400" noProof="0" dirty="0" err="1"/>
              <a:t>12</a:t>
            </a:r>
            <a:endParaRPr lang="en-US" sz="1400" noProof="0" dirty="0"/>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Autofit/>
          </a:bodyPr>
          <a:lstStyle/>
          <a:p>
            <a:r>
              <a:rPr lang="en-US" sz="1400" dirty="0"/>
              <a:t>0</a:t>
            </a:r>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Autofit/>
          </a:bodyPr>
          <a:lstStyle/>
          <a:p>
            <a:r>
              <a:rPr lang="en-US" sz="1400" dirty="0"/>
              <a:t>0</a:t>
            </a:r>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Autofit/>
          </a:bodyPr>
          <a:lstStyle/>
          <a:p>
            <a:r>
              <a:rPr lang="en-US" sz="1400" dirty="0"/>
              <a:t>0</a:t>
            </a:r>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Autofit/>
          </a:bodyPr>
          <a:lstStyle/>
          <a:p>
            <a:r>
              <a:rPr lang="en-US" sz="1400" dirty="0"/>
              <a:t>0</a:t>
            </a:r>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Autofit/>
          </a:bodyPr>
          <a:lstStyle/>
          <a:p>
            <a:r>
              <a:rPr lang="en-US" sz="1400" noProof="0" dirty="0"/>
              <a:t>12</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noProof="0" dirty="0" err="1"/>
              <a:t>8 vulnerable 3rd party open-source dependencies were identified</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p:txBody>
          <a:bodyPr/>
          <a:lstStyle/>
          <a:p>
            <a:fld id="{E242BD21-9B61-2246-BCB1-4BE5E1BEBE1C}" type="slidenum">
              <a:rPr lang="en-US" noProof="0" smtClean="0"/>
              <a:pPr/>
              <a:t>19</a:t>
            </a:fld>
            <a:endParaRPr lang="en-US" noProof="0" dirty="0"/>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600"/>
            <a:ext cx="2927899" cy="228145"/>
          </a:xfrm>
        </p:spPr>
        <p:txBody>
          <a:bodyPr/>
          <a:lstStyle/>
          <a:p>
            <a:r>
              <a:rPr lang="en-US" noProof="0" dirty="0"/>
              <a:t>Key findings – Open Source and IP</a:t>
            </a:r>
          </a:p>
        </p:txBody>
      </p:sp>
      <p:graphicFrame>
        <p:nvGraphicFramePr>
          <p:cNvPr id="2" name="OSH_VULN_LEGAL_GRAPH">
            <a:extLst>
              <a:ext uri="{FF2B5EF4-FFF2-40B4-BE49-F238E27FC236}">
                <a16:creationId xmlns:a16="http://schemas.microsoft.com/office/drawing/2014/main" id="{663304D0-0E7B-1454-8672-C6C89EF3BF5C}"/>
              </a:ext>
            </a:extLst>
          </p:cNvPr>
          <p:cNvGraphicFramePr>
            <a:graphicFrameLocks/>
          </p:cNvGraphicFramePr>
          <p:nvPr>
            <p:extLst>
              <p:ext uri="{D42A27DB-BD31-4B8C-83A1-F6EECF244321}">
                <p14:modId xmlns:p14="http://schemas.microsoft.com/office/powerpoint/2010/main" val="1432000087"/>
              </p:ext>
            </p:extLst>
          </p:nvPr>
        </p:nvGraphicFramePr>
        <p:xfrm>
          <a:off x="2993512" y="2856792"/>
          <a:ext cx="3102882" cy="11243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OTHER_RISKS_GRAPH">
            <a:extLst>
              <a:ext uri="{FF2B5EF4-FFF2-40B4-BE49-F238E27FC236}">
                <a16:creationId xmlns:a16="http://schemas.microsoft.com/office/drawing/2014/main" id="{F710C4F3-29D3-2E11-A1BF-518BE8D05501}"/>
              </a:ext>
            </a:extLst>
          </p:cNvPr>
          <p:cNvGraphicFramePr>
            <a:graphicFrameLocks/>
          </p:cNvGraphicFramePr>
          <p:nvPr>
            <p:extLst>
              <p:ext uri="{D42A27DB-BD31-4B8C-83A1-F6EECF244321}">
                <p14:modId xmlns:p14="http://schemas.microsoft.com/office/powerpoint/2010/main" val="4255695836"/>
              </p:ext>
            </p:extLst>
          </p:nvPr>
        </p:nvGraphicFramePr>
        <p:xfrm>
          <a:off x="2995636" y="3732550"/>
          <a:ext cx="3100364" cy="2585449"/>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4">
            <a:extLst>
              <a:ext uri="{FF2B5EF4-FFF2-40B4-BE49-F238E27FC236}">
                <a16:creationId xmlns:a16="http://schemas.microsoft.com/office/drawing/2014/main" id="{5A5F9FC3-B21B-D813-DD82-33A7B1600993}"/>
              </a:ext>
            </a:extLst>
          </p:cNvPr>
          <p:cNvSpPr>
            <a:spLocks noGrp="1"/>
          </p:cNvSpPr>
          <p:nvPr>
            <p:ph type="ftr" sz="quarter" idx="3"/>
          </p:nvPr>
        </p:nvSpPr>
        <p:spPr>
          <a:xfrm>
            <a:off x="192158" y="6392274"/>
            <a:ext cx="1763922" cy="370422"/>
          </a:xfrm>
        </p:spPr>
        <p:txBody>
          <a:bodyPr/>
          <a:lstStyle/>
          <a:p>
            <a:r>
              <a:rPr lang="nl-NL" dirty="0" err="1"/>
              <a:t>Generated</a:t>
            </a:r>
            <a:r>
              <a:rPr lang="nl-NL" dirty="0"/>
              <a:t> </a:t>
            </a:r>
            <a:r>
              <a:rPr lang="nl-NL" dirty="0" err="1"/>
              <a:t>with</a:t>
            </a:r>
            <a:r>
              <a:rPr lang="nl-NL" dirty="0"/>
              <a:t> Sigrid</a:t>
            </a:r>
          </a:p>
          <a:p>
            <a:r>
              <a:rPr lang="nl-NL" dirty="0" err="1"/>
              <a:t>for Reportgeneratordemo</a:t>
            </a:r>
          </a:p>
        </p:txBody>
      </p:sp>
    </p:spTree>
    <p:extLst>
      <p:ext uri="{BB962C8B-B14F-4D97-AF65-F5344CB8AC3E}">
        <p14:creationId xmlns:p14="http://schemas.microsoft.com/office/powerpoint/2010/main" val="3162055397"/>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88AD9160-B56A-4FCD-857D-8AE63521E7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11481</TotalTime>
  <Words>2055</Words>
  <Application>Microsoft Macintosh PowerPoint</Application>
  <PresentationFormat>Widescreen</PresentationFormat>
  <Paragraphs>439</Paragraphs>
  <Slides>19</Slides>
  <Notes>3</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19</vt:i4>
      </vt:variant>
    </vt:vector>
  </HeadingPairs>
  <TitlesOfParts>
    <vt:vector size="37" baseType="lpstr">
      <vt:lpstr>.AppleSystemUIFont</vt:lpstr>
      <vt:lpstr>☞NOIR PRO MEDIUM</vt:lpstr>
      <vt:lpstr>Arial</vt:lpstr>
      <vt:lpstr>Azeret Mono</vt:lpstr>
      <vt:lpstr>Azeret Mono Medium</vt:lpstr>
      <vt:lpstr>Calibri</vt:lpstr>
      <vt:lpstr>Calibri Bold</vt:lpstr>
      <vt:lpstr>Calibri Regular</vt:lpstr>
      <vt:lpstr>Google Sans</vt:lpstr>
      <vt:lpstr>Helvetica Neue Bold</vt:lpstr>
      <vt:lpstr>Noir Pro</vt:lpstr>
      <vt:lpstr>Noir Pro Medium</vt:lpstr>
      <vt:lpstr>Noir Pro Semi Bold</vt:lpstr>
      <vt:lpstr>Sigsterren</vt:lpstr>
      <vt:lpstr>TheSansMono M5</vt:lpstr>
      <vt:lpstr>Wingdings</vt:lpstr>
      <vt:lpstr>Light theme (default)</vt:lpstr>
      <vt:lpstr>Dark theme</vt:lpstr>
      <vt:lpstr>PowerPoint Presentation</vt:lpstr>
      <vt:lpstr>Outline of topics</vt:lpstr>
      <vt:lpstr>Metadata overview for system SYSTEM_NAME</vt:lpstr>
      <vt:lpstr>System "SYSTEM_NAME" technical quality: management summary</vt:lpstr>
      <vt:lpstr>Outline of topics</vt:lpstr>
      <vt:lpstr>Explanation: The Cost Estimation model combines Sigrid analysis results with SIG benchmarks</vt:lpstr>
      <vt:lpstr>SYSTEM_NAME technical debt is RENOVATION_EFFORT_PY person years (RENOVATION_EFFORT_PERCENTAGE% of its volume)</vt:lpstr>
      <vt:lpstr>Explanation: The ISO 25010 standard for Maintainability has 5 sub-characteristics</vt:lpstr>
      <vt:lpstr>The SIG/TÜViT model maps the sub-characteristics to the system properties</vt:lpstr>
      <vt:lpstr>SYSTEM_NAME is a system of SYSTEM_PY PY which scores MAINT_RATING for maintainability </vt:lpstr>
      <vt:lpstr>SYSTEM_NAME scores MAINT_RELATIVE market average for maintainability</vt:lpstr>
      <vt:lpstr>The system is built primarily in TECH_1_NAME</vt:lpstr>
      <vt:lpstr>SYSTEM_NAME has a TEST_CODE_RELATIVE test/code ratio</vt:lpstr>
      <vt:lpstr>Explanation: The Architecture Quality model has 5 sub-characteristics</vt:lpstr>
      <vt:lpstr>SIG’s Architecture Model maps the sub-characteristics to 10 system properties</vt:lpstr>
      <vt:lpstr>SYSTEM_NAME scores ARCH_AT_BELOW market average (ARCH_RATING ★) for Architecture Quality</vt:lpstr>
      <vt:lpstr>SIG assesses the use of Open Source and IP in five key areas</vt:lpstr>
      <vt:lpstr>SYSTEM_NAME rates OSH_RELATIVE in Open-Source health</vt:lpstr>
      <vt:lpstr>OSH_TOTAL_VULN vulnerable 3rd party open-source dependencies were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Maxim Janssen</cp:lastModifiedBy>
  <cp:revision>237</cp:revision>
  <cp:lastPrinted>2020-04-20T09:37:43Z</cp:lastPrinted>
  <dcterms:created xsi:type="dcterms:W3CDTF">2025-10-22T11:22:13Z</dcterms:created>
  <dcterms:modified xsi:type="dcterms:W3CDTF">2026-07-14T09:19:04Z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