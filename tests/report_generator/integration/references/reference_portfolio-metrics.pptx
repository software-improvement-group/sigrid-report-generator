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4" r:id="rId5"/>
  </p:sldMasterIdLst>
  <p:notesMasterIdLst>
    <p:notesMasterId r:id="rId49"/>
  </p:notesMasterIdLst>
  <p:handoutMasterIdLst>
    <p:handoutMasterId r:id="rId50"/>
  </p:handoutMasterIdLst>
  <p:sldIdLst>
    <p:sldId id="1973" r:id="rId6"/>
    <p:sldId id="2022" r:id="rId7"/>
    <p:sldId id="11601" r:id="rId8"/>
    <p:sldId id="11602" r:id="rId9"/>
    <p:sldId id="11603" r:id="rId10"/>
    <p:sldId id="11604" r:id="rId11"/>
    <p:sldId id="11605" r:id="rId12"/>
    <p:sldId id="11606" r:id="rId13"/>
    <p:sldId id="11607" r:id="rId14"/>
    <p:sldId id="11608" r:id="rId15"/>
    <p:sldId id="11609" r:id="rId16"/>
    <p:sldId id="11610" r:id="rId17"/>
    <p:sldId id="11611" r:id="rId18"/>
    <p:sldId id="11612" r:id="rId19"/>
    <p:sldId id="11613" r:id="rId20"/>
    <p:sldId id="11614" r:id="rId21"/>
    <p:sldId id="2023" r:id="rId22"/>
    <p:sldId id="11615" r:id="rId23"/>
    <p:sldId id="11570" r:id="rId24"/>
    <p:sldId id="11616" r:id="rId25"/>
    <p:sldId id="11572" r:id="rId26"/>
    <p:sldId id="11617" r:id="rId27"/>
    <p:sldId id="11574" r:id="rId28"/>
    <p:sldId id="11618" r:id="rId29"/>
    <p:sldId id="11576" r:id="rId30"/>
    <p:sldId id="11619" r:id="rId31"/>
    <p:sldId id="11620" r:id="rId32"/>
    <p:sldId id="11621" r:id="rId33"/>
    <p:sldId id="11622" r:id="rId34"/>
    <p:sldId id="11625" r:id="rId35"/>
    <p:sldId id="11626" r:id="rId36"/>
    <p:sldId id="11629" r:id="rId37"/>
    <p:sldId id="11630" r:id="rId38"/>
    <p:sldId id="11631" r:id="rId39"/>
    <p:sldId id="11632" r:id="rId40"/>
    <p:sldId id="11633" r:id="rId41"/>
    <p:sldId id="11634" r:id="rId42"/>
    <p:sldId id="2024" r:id="rId43"/>
    <p:sldId id="11635" r:id="rId44"/>
    <p:sldId id="11636" r:id="rId45"/>
    <p:sldId id="11637" r:id="rId46"/>
    <p:sldId id="11638" r:id="rId47"/>
    <p:sldId id="1163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6A477B1-2C54-A644-8CEF-050146F58422}">
          <p14:sldIdLst>
            <p14:sldId id="1973"/>
          </p14:sldIdLst>
        </p14:section>
        <p14:section name="Untitled Section" id="{31B79D2E-C635-F04E-A4F6-74A549C95224}">
          <p14:sldIdLst>
            <p14:sldId id="2022"/>
            <p14:sldId id="11601"/>
            <p14:sldId id="11602"/>
            <p14:sldId id="11603"/>
            <p14:sldId id="11604"/>
            <p14:sldId id="11605"/>
            <p14:sldId id="11606"/>
            <p14:sldId id="11607"/>
            <p14:sldId id="11608"/>
            <p14:sldId id="11609"/>
            <p14:sldId id="11610"/>
            <p14:sldId id="11611"/>
            <p14:sldId id="11612"/>
            <p14:sldId id="11613"/>
            <p14:sldId id="11614"/>
            <p14:sldId id="2023"/>
            <p14:sldId id="11615"/>
            <p14:sldId id="11570"/>
            <p14:sldId id="11616"/>
            <p14:sldId id="11572"/>
            <p14:sldId id="11617"/>
            <p14:sldId id="11574"/>
            <p14:sldId id="11618"/>
            <p14:sldId id="11576"/>
            <p14:sldId id="11619"/>
            <p14:sldId id="11620"/>
            <p14:sldId id="11621"/>
            <p14:sldId id="11622"/>
            <p14:sldId id="11625"/>
            <p14:sldId id="11626"/>
            <p14:sldId id="11629"/>
            <p14:sldId id="11630"/>
            <p14:sldId id="11631"/>
            <p14:sldId id="11632"/>
            <p14:sldId id="11633"/>
            <p14:sldId id="11634"/>
            <p14:sldId id="2024"/>
            <p14:sldId id="11635"/>
            <p14:sldId id="11636"/>
            <p14:sldId id="11637"/>
            <p14:sldId id="11638"/>
            <p14:sldId id="116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2"/>
    <p:restoredTop sz="96763"/>
  </p:normalViewPr>
  <p:slideViewPr>
    <p:cSldViewPr snapToGrid="0" snapToObjects="1" showGuides="1">
      <p:cViewPr varScale="1">
        <p:scale>
          <a:sx n="127" d="100"/>
          <a:sy n="127" d="100"/>
        </p:scale>
        <p:origin x="93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notesMaster" Target="notesMasters/notesMaster1.xml"/><Relationship Id="rId50" Type="http://schemas.openxmlformats.org/officeDocument/2006/relationships/handoutMaster" Target="handoutMasters/handout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6.svg"/><Relationship Id="rId6" Type="http://schemas.openxmlformats.org/officeDocument/2006/relationships/image" Target="../media/image7.svg"/><Relationship Id="rId7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120FC2D-DB38-A66D-B4BE-8E608C2A5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1D583B0-04E8-97BC-998D-5328C105E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8077D-F430-EB3F-E631-8256B604A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4118498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Relationship Id="rId3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555" y="6388767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93" r:id="rId4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5208" y="640791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 marL="0" algn="l" defTabSz="914400" rtl="0" eaLnBrk="1" latinLnBrk="0" hangingPunct="1"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Generated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with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Sigrid</a:t>
            </a:r>
          </a:p>
          <a:p>
            <a:r>
              <a:rPr lang="nl-NL" sz="900" b="0" kern="1200" cap="none" spc="0" baseline="0" dirty="0" err="1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for</a:t>
            </a:r>
            <a:r>
              <a:rPr lang="nl-NL" sz="900" b="0" kern="1200" cap="none" spc="0" baseline="0" dirty="0">
                <a:solidFill>
                  <a:srgbClr val="FFFFFF"/>
                </a:solidFill>
                <a:latin typeface="Azeret Mono" pitchFamily="2" charset="77"/>
                <a:ea typeface="+mn-ea"/>
                <a:cs typeface="Azeret Mono" pitchFamily="2" charset="77"/>
              </a:rPr>
              <a:t> CUSTOMER_NAME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373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Reportgeneratordemo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Portfolio Metrics Overview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 Reportgeneratordemo</a:t>
            </a:r>
          </a:p>
          <a:p>
            <a:endParaRPr lang="en-GB" dirty="0"/>
          </a:p>
        </p:txBody>
      </p:sp>
      <p:sp>
        <p:nvSpPr>
          <p:cNvPr id="4" name="Tijdelijke aanduiding voor tekst 1">
            <a:extLst>
              <a:ext uri="{FF2B5EF4-FFF2-40B4-BE49-F238E27FC236}">
                <a16:creationId xmlns:a16="http://schemas.microsoft.com/office/drawing/2014/main" id="{9AD8A29F-88B6-1458-3D23-92698A071436}"/>
              </a:ext>
            </a:extLst>
          </p:cNvPr>
          <p:cNvSpPr txBox="1">
            <a:spLocks/>
          </p:cNvSpPr>
          <p:nvPr/>
        </p:nvSpPr>
        <p:spPr>
          <a:xfrm>
            <a:off x="395999" y="2959200"/>
            <a:ext cx="11174400" cy="450000"/>
          </a:xfrm>
          <a:prstGeom prst="rect">
            <a:avLst/>
          </a:prstGeom>
        </p:spPr>
        <p:txBody>
          <a:bodyPr vert="horz" wrap="none" lIns="216000" tIns="46800" rIns="234000" bIns="4680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64FF"/>
              </a:buClr>
              <a:buFont typeface="Arial" panose="020B0604020202020204" pitchFamily="34" charset="0"/>
              <a:buNone/>
              <a:defRPr lang="en-US" sz="2800" b="0" i="0" kern="120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ea typeface="+mn-ea"/>
                <a:cs typeface="Calibri Light" panose="020F0302020204030204" pitchFamily="34" charset="0"/>
              </a:defRPr>
            </a:lvl1pPr>
            <a:lvl2pPr marL="4572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rgbClr val="DFC12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FAAAC3-03E2-1E82-24A5-0097FAFA71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25011F-6250-5727-D825-C4BC235ED5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873849-ED0F-8E7D-9221-DB920248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Index of Metrics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864AFF-8AE9-6747-55C1-D2047BB4A87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US" dirty="0"/>
              <a:t>Maintainability </a:t>
            </a:r>
          </a:p>
          <a:p>
            <a:r>
              <a:rPr lang="en-US" dirty="0"/>
              <a:t>Architecture Quality</a:t>
            </a:r>
          </a:p>
          <a:p>
            <a:r>
              <a:rPr lang="en-US" dirty="0"/>
              <a:t>Open Source Health</a:t>
            </a:r>
          </a:p>
        </p:txBody>
      </p:sp>
      <p:sp>
        <p:nvSpPr>
          <p:cNvPr id="6" name="Afgeronde rechthoek 33">
            <a:extLst>
              <a:ext uri="{FF2B5EF4-FFF2-40B4-BE49-F238E27FC236}">
                <a16:creationId xmlns:a16="http://schemas.microsoft.com/office/drawing/2014/main" id="{62AC8E64-6993-BFDC-20FC-716CD59A1B54}"/>
              </a:ext>
            </a:extLst>
          </p:cNvPr>
          <p:cNvSpPr/>
          <p:nvPr/>
        </p:nvSpPr>
        <p:spPr>
          <a:xfrm>
            <a:off x="4454347" y="754749"/>
            <a:ext cx="7567201" cy="672117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49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10176" cy="228145"/>
          </a:xfrm>
        </p:spPr>
        <p:txBody>
          <a:bodyPr>
            <a:spAutoFit/>
          </a:bodyPr>
          <a:lstStyle/>
          <a:p>
            <a:r>
              <a:rPr lang="en-US"/>
              <a:t>Maintainability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Duplication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Duplication rating for the portfolio is 2.9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58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17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25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8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Duplication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Duplication has decreased in score by -0.01★ on average across the portfolio.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17% of systems has seen an increase in their Duplication rating. 25% of systems has remained stable. 58%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Duplication rating was experienced by integrationtest-bazel (0.1 stars). The largest decrease in Duplication rating was experienced by integrationtest-webpack (-0.1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2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Unit Size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Unit Size rating for the portfolio is 2.6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8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42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50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030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Unit Size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Unit Size has remained stable in score (+0.00★) on average across the portfolio.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17% of systems has seen an increase in their Unit Size rating. 50% of systems has remained stable. 33%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Unit Size rating was experienced by integrationtest-zuul (0.0 stars). The largest decrease in Unit Size rating was experienced by integrationtest-electron (-0.1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89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Unit Complexity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Unit Complexity rating for the portfolio is 2.6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0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33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67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52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Unit Complexity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Unit Complexity has decreased in score by -0.01★ on average across the portfolio.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8% of systems has seen an increase in their Unit Complexity rating. 42% of systems has remained stable. 50%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Unit Complexity rating was experienced by integrationtest-druid (0.0 stars). The largest decrease in Unit Complexity rating was experienced by integrationtest-facebookyoga (-0.1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49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Unit Interfacing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Unit Interfacing rating for the portfolio is 2.2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8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17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75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63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Unit Interfacing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Unit Interfacing has decreased in score by -0.01★ on average across the portfolio.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17% of systems has seen an increase in their Unit Interfacing rating. 33% of systems has remained stable. 50%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Unit Interfacing rating was experienced by integrationtest-airflow (0.0 stars). The largest decrease in Unit Interfacing rating was experienced by integrationtest-facebookyoga (-0.0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4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Module Coupling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Module Coupling rating for the portfolio is 2.2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33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67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88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Module Coupling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Module Coupling has decreased in score by -0.01★ on average across the portfolio.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33% of systems has seen an increase in their Module Coupling rating. 25% of systems has remained stable. 42%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Module Coupling rating was experienced by integrationtest-facebookyoga (0.0 stars). The largest decrease in Module Coupling rating was experienced by integrationtest-electron (-0.1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12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Independence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Independence rating for the portfolio is 3.0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50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25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25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20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Independence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Component Independence has decreased in score by -0.03★ on average across the portfolio.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17% of systems has seen an increase in their Component Independence rating. 58% of systems has remained stable. 25%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Component Independence rating was experienced by integrationtest-jruby (0.1 stars). The largest decrease in Component Independence rating was experienced by integrationtest-vscode (-0.3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0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Entanglement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Entanglement rating for the portfolio is 2.7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50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17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33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024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410176" cy="228145"/>
          </a:xfrm>
        </p:spPr>
        <p:txBody>
          <a:bodyPr>
            <a:spAutoFit/>
          </a:bodyPr>
          <a:lstStyle/>
          <a:p>
            <a:r>
              <a:rPr lang="en-US" dirty="0"/>
              <a:t>Maintainability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Entanglement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 err="1">
                <a:ea typeface="Calibri"/>
                <a:cs typeface="Calibri"/>
              </a:rPr>
              <a:t>Component Entanglement has decreased in score by -0.18★ on average across the portfolio.</a:t>
            </a:r>
            <a:endParaRPr lang="en-GB" sz="1550" dirty="0">
              <a:ea typeface="Calibri"/>
              <a:cs typeface="Calibri"/>
            </a:endParaRPr>
          </a:p>
          <a:p>
            <a:pPr indent="-283845"/>
            <a:r>
              <a:rPr lang="en-GB" sz="1550" dirty="0" err="1">
                <a:ea typeface="Calibri"/>
                <a:cs typeface="Calibri"/>
              </a:rPr>
              <a:t>0% of systems has seen an increase in their Component Entanglement rating. 58% of systems has remained stable. 42%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decrease in Component Entanglement rating was experienced by integrationtest-airflow (-0.6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12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9DAED-12F5-A259-BC91-56EC7C1D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8ED157-A2D5-52AF-255A-424BB0A762D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6A4176-AD1E-9A14-096D-40AD01C407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17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2B9473-68A5-9566-236F-C2E388AAE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Index of Metrics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42849-2FC7-08E3-5336-D0F86AAB7F1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US" dirty="0"/>
              <a:t>Maintainability </a:t>
            </a:r>
          </a:p>
          <a:p>
            <a:r>
              <a:rPr lang="en-US" dirty="0"/>
              <a:t>Architecture Quality</a:t>
            </a:r>
          </a:p>
          <a:p>
            <a:r>
              <a:rPr lang="en-US" dirty="0"/>
              <a:t>Open Source Health</a:t>
            </a:r>
          </a:p>
        </p:txBody>
      </p:sp>
      <p:sp>
        <p:nvSpPr>
          <p:cNvPr id="6" name="Afgeronde rechthoek 33">
            <a:extLst>
              <a:ext uri="{FF2B5EF4-FFF2-40B4-BE49-F238E27FC236}">
                <a16:creationId xmlns:a16="http://schemas.microsoft.com/office/drawing/2014/main" id="{4B2109DD-DFE3-4DAC-D878-F79657C4BC34}"/>
              </a:ext>
            </a:extLst>
          </p:cNvPr>
          <p:cNvSpPr/>
          <p:nvPr/>
        </p:nvSpPr>
        <p:spPr>
          <a:xfrm>
            <a:off x="4467600" y="1438444"/>
            <a:ext cx="7567201" cy="672117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60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Code Breakdown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Code Breakdown rating for the portfolio is 2.6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17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33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50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79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Code Breakdown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25% of systems has seen an increase in their Code Breakdown rating. 0% of systems has remained stable. 75%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Code Breakdown rating was experienced by integrationtest-airflow (0.0 stars). The largest decrease in Code Breakdown rating was experienced by integrationtest-bazel (-0.1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13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Coupling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Coupling rating for the portfolio is 1.7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33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25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42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51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Coupling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17% of systems has seen an increase in their Component Coupling rating. 0% of systems has remained stable. 83%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Component Coupling rating was experienced by integrationtest-webpack (0.0 stars). The largest decrease in Component Coupling rating was experienced by integrationtest-vscode (-0.6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80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Adjacency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Adjacency rating for the portfolio is 2.0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33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25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42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42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Adjacency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17% of systems has seen an increase in their Component Adjacency rating. 0% of systems has remained stable. 83%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Component Adjacency rating was experienced by integrationtest-bazel (0.1 stars). The largest decrease in Component Adjacency rating was experienced by integrationtest-vscode (-0.5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640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dirty="0"/>
              <a:t>Architecture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Cohesion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Cohesion rating for the portfolio is 3.4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42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58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28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Cohesion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25% of systems has seen an increase in their Component Cohesion rating. 0% of systems has remained stable. 75%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Component Cohesion rating was experienced by integrationtest-webpack (0.0 stars). The largest decrease in Component Cohesion rating was experienced by integrationtest-vscode (-0.2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185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Communication Centralization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Communication Centralization rating for the portfolio is 2.9★.</a:t>
            </a:r>
          </a:p>
          <a:p>
            <a:pPr indent="-283845"/>
            <a:r>
              <a:rPr lang="en-US" dirty="0"/>
              <a:t>42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17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42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79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Communication Centralization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25% of systems has seen an increase in their Communication Centralization rating. 0% of systems has remained stable. 75%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Communication Centralization rating was experienced by integrationtest-webpack (0.1 stars). The largest decrease in Communication Centralization rating was experienced by integrationtest-vscode (-0.2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473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Data Coupling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Data Coupling rating for the portfolio is 2.5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33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8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58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35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Data Coupling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0% of systems has seen an increase in their Data Coupling rating. 100% of systems has remained stable. 0%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/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64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Bounded Evolution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Bounded Evolution rating for the portfolio is 0.2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17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83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95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Bounded Evolution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8% of systems has seen an increase in their Bounded Evolution rating. 17% of systems has remained stable. 75%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Bounded Evolution rating was experienced by integrationtest-druid (0.2 stars). The largest decrease in Bounded Evolution rating was experienced by integrationtest-jruby (-4.8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47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Knowledge Awareness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Knowledge Awareness rating for the portfolio is N/A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0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100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7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Knowledge Awareness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0% of systems has seen an increase in their Knowledge Awareness rating. 100% of systems has remained stable. 0%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/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15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Component Freshness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Component Freshness rating for the portfolio is N/A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0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100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60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Component Freshness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8% of systems has seen an increase in their Component Freshness rating. 8% of systems has remained stable. 83%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>The largest increase in Component Freshness rating was experienced by integrationtest-druid (0.1 stars). The largest decrease in Component Freshness rating was experienced by integrationtest-airflow (-4.0 stars).</a:t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048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Team Stability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Team Stability rating for the portfolio is N/A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0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100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5438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156940" cy="228145"/>
          </a:xfrm>
        </p:spPr>
        <p:txBody>
          <a:bodyPr>
            <a:spAutoFit/>
          </a:bodyPr>
          <a:lstStyle/>
          <a:p>
            <a:r>
              <a:rPr lang="en-US" dirty="0"/>
              <a:t>Architecture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Change in Team Stability metric for portfolio Reportgeneratordemo</a:t>
            </a:r>
          </a:p>
        </p:txBody>
      </p:sp>
      <p:sp>
        <p:nvSpPr>
          <p:cNvPr id="2004" name="Footer Placeholder 2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2017" name="TextBox 2017"/>
          <p:cNvSpPr txBox="1"/>
          <p:nvPr/>
        </p:nvSpPr>
        <p:spPr>
          <a:xfrm>
            <a:off x="594360" y="5826140"/>
            <a:ext cx="300232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-</a:t>
            </a:r>
            <a:r>
              <a:rPr lang="en-US" sz="800" dirty="0"/>
              <a:t>★</a:t>
            </a:r>
          </a:p>
        </p:txBody>
      </p:sp>
      <p:sp>
        <p:nvSpPr>
          <p:cNvPr id="2011" name="Rounded Rectangle 2011"/>
          <p:cNvSpPr>
            <a:spLocks noChangeAspect="1"/>
          </p:cNvSpPr>
          <p:nvPr/>
        </p:nvSpPr>
        <p:spPr>
          <a:xfrm>
            <a:off x="961418" y="5889905"/>
            <a:ext cx="91440" cy="91440"/>
          </a:xfrm>
          <a:prstGeom prst="roundRect">
            <a:avLst/>
          </a:prstGeom>
          <a:solidFill>
            <a:srgbClr val="F163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2" name="Rounded Rectangle 2012"/>
          <p:cNvSpPr>
            <a:spLocks noChangeAspect="1"/>
          </p:cNvSpPr>
          <p:nvPr/>
        </p:nvSpPr>
        <p:spPr>
          <a:xfrm>
            <a:off x="1121288" y="5889905"/>
            <a:ext cx="91440" cy="91440"/>
          </a:xfrm>
          <a:prstGeom prst="roundRect">
            <a:avLst/>
          </a:prstGeom>
          <a:solidFill>
            <a:srgbClr val="F8DC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3" name="Rounded Rectangle 2013"/>
          <p:cNvSpPr>
            <a:spLocks noChangeAspect="1"/>
          </p:cNvSpPr>
          <p:nvPr/>
        </p:nvSpPr>
        <p:spPr>
          <a:xfrm>
            <a:off x="1281158" y="5889905"/>
            <a:ext cx="91440" cy="91440"/>
          </a:xfrm>
          <a:prstGeom prst="roundRect">
            <a:avLst/>
          </a:prstGeom>
          <a:solidFill>
            <a:srgbClr val="F7F9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4" name="Rounded Rectangle 2014"/>
          <p:cNvSpPr>
            <a:spLocks noChangeAspect="1"/>
          </p:cNvSpPr>
          <p:nvPr/>
        </p:nvSpPr>
        <p:spPr>
          <a:xfrm>
            <a:off x="1441028" y="5889905"/>
            <a:ext cx="91440" cy="91440"/>
          </a:xfrm>
          <a:prstGeom prst="roundRect">
            <a:avLst/>
          </a:prstGeom>
          <a:solidFill>
            <a:srgbClr val="D4EF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5" name="Rounded Rectangle 2015"/>
          <p:cNvSpPr>
            <a:spLocks noChangeAspect="1"/>
          </p:cNvSpPr>
          <p:nvPr/>
        </p:nvSpPr>
        <p:spPr>
          <a:xfrm>
            <a:off x="1600898" y="5889905"/>
            <a:ext cx="91440" cy="91440"/>
          </a:xfrm>
          <a:prstGeom prst="roundRect">
            <a:avLst/>
          </a:prstGeom>
          <a:solidFill>
            <a:srgbClr val="008A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GB" sz="1600" dirty="0">
              <a:solidFill>
                <a:schemeClr val="bg1"/>
              </a:solidFill>
            </a:endParaRPr>
          </a:p>
        </p:txBody>
      </p:sp>
      <p:sp>
        <p:nvSpPr>
          <p:cNvPr id="2016" name="TextBox 2016"/>
          <p:cNvSpPr txBox="1"/>
          <p:nvPr/>
        </p:nvSpPr>
        <p:spPr>
          <a:xfrm>
            <a:off x="1760767" y="5826140"/>
            <a:ext cx="319468" cy="218971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13000"/>
              </a:lnSpc>
            </a:pPr>
            <a:r>
              <a:rPr lang="en-GB" sz="800" b="1" dirty="0">
                <a:solidFill>
                  <a:schemeClr val="tx2"/>
                </a:solidFill>
              </a:rPr>
              <a:t>+</a:t>
            </a:r>
            <a:r>
              <a:rPr lang="en-US" sz="800" dirty="0"/>
              <a:t>★</a:t>
            </a:r>
          </a:p>
        </p:txBody>
      </p:sp>
      <p:sp>
        <p:nvSpPr>
          <p:cNvPr id="2071" name="TextBox 2071"/>
          <p:cNvSpPr txBox="1"/>
          <p:nvPr/>
        </p:nvSpPr>
        <p:spPr>
          <a:xfrm>
            <a:off x="2078631" y="58261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060" name="TextBox 2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GB" sz="1550" dirty="0">
                <a:ea typeface="Calibri"/>
                <a:cs typeface="Calibri"/>
              </a:rPr>
              <a:t>0% of systems has seen an increase in their Team Stability rating. 100% of systems has remained stable. 0% of systems has seen a decrease in maintainability.</a:t>
            </a:r>
          </a:p>
          <a:p>
            <a:pPr indent="-283845"/>
            <a:r>
              <a:rPr lang="en-GB" sz="1550" dirty="0">
                <a:ea typeface="Calibri"/>
                <a:cs typeface="Calibri"/>
              </a:rPr>
              <a:t/>
            </a:r>
          </a:p>
        </p:txBody>
      </p:sp>
      <p:pic>
        <p:nvPicPr>
          <p:cNvPr id="2072" name="Picture 2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36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2A848-3C3B-60D0-07AA-C794FB3D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78832CF-89C8-A678-3DE3-0B8570E1CDF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C0FA17-A24A-8F00-536B-10B083EAB6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38</a:t>
            </a:fld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CCD467-505B-0161-53C5-DD337156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600" y="1220743"/>
            <a:ext cx="3560400" cy="1218795"/>
          </a:xfrm>
        </p:spPr>
        <p:txBody>
          <a:bodyPr/>
          <a:lstStyle/>
          <a:p>
            <a:r>
              <a:rPr lang="en-US" dirty="0"/>
              <a:t>Index of Metrics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9133B35-BDB7-23F8-73B5-D80C3CA774C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2073007"/>
          </a:xfrm>
        </p:spPr>
        <p:txBody>
          <a:bodyPr/>
          <a:lstStyle/>
          <a:p>
            <a:r>
              <a:rPr lang="en-US" dirty="0"/>
              <a:t>Maintainability </a:t>
            </a:r>
          </a:p>
          <a:p>
            <a:r>
              <a:rPr lang="en-US" dirty="0"/>
              <a:t>Architecture Quality</a:t>
            </a:r>
          </a:p>
          <a:p>
            <a:r>
              <a:rPr lang="en-US" dirty="0"/>
              <a:t>Open Source Health</a:t>
            </a:r>
          </a:p>
        </p:txBody>
      </p:sp>
      <p:sp>
        <p:nvSpPr>
          <p:cNvPr id="6" name="Afgeronde rechthoek 33">
            <a:extLst>
              <a:ext uri="{FF2B5EF4-FFF2-40B4-BE49-F238E27FC236}">
                <a16:creationId xmlns:a16="http://schemas.microsoft.com/office/drawing/2014/main" id="{D0F816A6-BE10-E46B-5A30-AEE2C76C6193}"/>
              </a:ext>
            </a:extLst>
          </p:cNvPr>
          <p:cNvSpPr/>
          <p:nvPr/>
        </p:nvSpPr>
        <p:spPr>
          <a:xfrm>
            <a:off x="4467600" y="2103479"/>
            <a:ext cx="7567201" cy="672117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GB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434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411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Vulnerability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Vulnerability rating for the portfolio is 4.0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75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25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7671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411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Licenses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Licenses rating for the portfolio is 3.2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67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33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953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411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Freshness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Freshness rating for the portfolio is 3.0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0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100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15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129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Management metric for portfolio Reportgeneratordemo</a:t>
            </a:r>
          </a:p>
        </p:txBody>
      </p:sp>
      <p:sp>
        <p:nvSpPr>
          <p:cNvPr id="1004" name="Footer Placeholder 100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grpSp>
        <p:nvGrpSpPr>
          <p:cNvPr id="1030" name="Group 1030"/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1031" name="TextBox 1031"/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032" name="Rounded Rectangle 1032"/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3" name="Group 1033"/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034" name="TextBox 1034"/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035" name="Rounded Rectangle 1035"/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6" name="Group 1036"/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037" name="TextBox 1037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038" name="Rounded Rectangle 1038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39" name="Group 1039"/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040" name="TextBox 1040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041" name="Rounded Rectangle 1041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42" name="Group 1042"/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1043" name="TextBox 1043"/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1044" name="Rounded Rectangle 1044"/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Management rating for the portfolio is 2.8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25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75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0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160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600" y="129599"/>
            <a:ext cx="1663411" cy="228145"/>
          </a:xfrm>
        </p:spPr>
        <p:txBody>
          <a:bodyPr>
            <a:spAutoFit/>
          </a:bodyPr>
          <a:lstStyle/>
          <a:p>
            <a:r>
              <a:rPr lang="en-US" dirty="0"/>
              <a:t>Open Source Health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Overview of Activity metric for portfolio Reportgeneratordemo</a:t>
            </a:r>
          </a:p>
        </p:txBody>
      </p:sp>
      <p:sp>
        <p:nvSpPr>
          <p:cNvPr id="22" name="Footer Placeholder 1004">
            <a:extLst>
              <a:ext uri="{FF2B5EF4-FFF2-40B4-BE49-F238E27FC236}">
                <a16:creationId xmlns:a16="http://schemas.microsoft.com/office/drawing/2014/main" id="{3003FB07-67E0-4E3E-208C-0F579A9ED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Generated with Sigrid</a:t>
            </a:r>
          </a:p>
          <a:p>
            <a:r>
              <a:rPr lang="en-US" dirty="0"/>
              <a:t>for Reportgeneratordemo</a:t>
            </a:r>
          </a:p>
        </p:txBody>
      </p:sp>
      <p:sp>
        <p:nvSpPr>
          <p:cNvPr id="1071" name="TextBox 1071"/>
          <p:cNvSpPr txBox="1"/>
          <p:nvPr/>
        </p:nvSpPr>
        <p:spPr>
          <a:xfrm>
            <a:off x="2817202" y="5844428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GB" sz="800" dirty="0">
                <a:solidFill>
                  <a:schemeClr val="tx2"/>
                </a:solidFill>
              </a:rPr>
              <a:t>Systems grouped by </a:t>
            </a:r>
            <a:r>
              <a:rPr lang="en-GB" sz="8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1060" name="TextBox 1060"/>
          <p:cNvSpPr txBox="1"/>
          <p:nvPr/>
        </p:nvSpPr>
        <p:spPr>
          <a:xfrm>
            <a:off x="223094" y="1411288"/>
            <a:ext cx="11515250" cy="156051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indent="-283845"/>
            <a:r>
              <a:rPr lang="en-US" dirty="0"/>
              <a:t>The average Activity rating for the portfolio is 2.8</a:t>
            </a:r>
            <a:r>
              <a:rPr lang="en-US" sz="100" dirty="0"/>
              <a:t> </a:t>
            </a:r>
            <a:r>
              <a:rPr lang="en-US" dirty="0"/>
              <a:t>★.</a:t>
            </a:r>
          </a:p>
          <a:p>
            <a:pPr indent="-283845"/>
            <a:r>
              <a:rPr lang="en-US" dirty="0"/>
              <a:t>33</a:t>
            </a:r>
            <a:r>
              <a:rPr lang="en-GB" sz="1550" noProof="0" dirty="0"/>
              <a:t>% of systems score above market average (≥3.5</a:t>
            </a:r>
            <a:r>
              <a:rPr lang="en-US" sz="1400" dirty="0"/>
              <a:t>★</a:t>
            </a:r>
            <a:r>
              <a:rPr lang="en-GB" sz="1550" noProof="0" dirty="0"/>
              <a:t>).</a:t>
            </a:r>
          </a:p>
          <a:p>
            <a:pPr indent="-283845"/>
            <a:r>
              <a:rPr lang="en-US" dirty="0"/>
              <a:t>42</a:t>
            </a:r>
            <a:r>
              <a:rPr lang="en-GB" sz="1550" dirty="0">
                <a:ea typeface="Calibri"/>
                <a:cs typeface="Calibri"/>
              </a:rPr>
              <a:t>% of systems score market average (3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  <a:p>
            <a:pPr indent="-283845"/>
            <a:r>
              <a:rPr lang="en-US" dirty="0"/>
              <a:t>25</a:t>
            </a:r>
            <a:r>
              <a:rPr lang="en-GB" sz="1550" dirty="0">
                <a:ea typeface="Calibri"/>
                <a:cs typeface="Calibri"/>
              </a:rPr>
              <a:t>% of systems score below market average (≤2.5</a:t>
            </a:r>
            <a:r>
              <a:rPr lang="en-US" sz="1400" dirty="0"/>
              <a:t>★</a:t>
            </a:r>
            <a:r>
              <a:rPr lang="en-GB" sz="1550" dirty="0">
                <a:ea typeface="Calibri"/>
                <a:cs typeface="Calibri"/>
              </a:rPr>
              <a:t>).</a:t>
            </a:r>
          </a:p>
        </p:txBody>
      </p:sp>
      <p:grpSp>
        <p:nvGrpSpPr>
          <p:cNvPr id="6" name="Group 1030">
            <a:extLst>
              <a:ext uri="{FF2B5EF4-FFF2-40B4-BE49-F238E27FC236}">
                <a16:creationId xmlns:a16="http://schemas.microsoft.com/office/drawing/2014/main" id="{99AFEB87-0CCD-A5AC-7E55-A8E60931ECD5}"/>
              </a:ext>
            </a:extLst>
          </p:cNvPr>
          <p:cNvGrpSpPr/>
          <p:nvPr/>
        </p:nvGrpSpPr>
        <p:grpSpPr>
          <a:xfrm>
            <a:off x="690538" y="5907042"/>
            <a:ext cx="300732" cy="98617"/>
            <a:chOff x="586253" y="6116391"/>
            <a:chExt cx="300732" cy="98617"/>
          </a:xfrm>
        </p:grpSpPr>
        <p:sp>
          <p:nvSpPr>
            <p:cNvPr id="8" name="TextBox 1031">
              <a:extLst>
                <a:ext uri="{FF2B5EF4-FFF2-40B4-BE49-F238E27FC236}">
                  <a16:creationId xmlns:a16="http://schemas.microsoft.com/office/drawing/2014/main" id="{D76B4ABE-E39A-C561-402E-9E302879EEFD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9" name="Rounded Rectangle 1032">
              <a:extLst>
                <a:ext uri="{FF2B5EF4-FFF2-40B4-BE49-F238E27FC236}">
                  <a16:creationId xmlns:a16="http://schemas.microsoft.com/office/drawing/2014/main" id="{6FBCB493-E9C2-EFBB-FBE4-182DA74247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F163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Group 1033">
            <a:extLst>
              <a:ext uri="{FF2B5EF4-FFF2-40B4-BE49-F238E27FC236}">
                <a16:creationId xmlns:a16="http://schemas.microsoft.com/office/drawing/2014/main" id="{F4A7F3FD-0B04-7430-64C3-66D73D44FDFB}"/>
              </a:ext>
            </a:extLst>
          </p:cNvPr>
          <p:cNvGrpSpPr/>
          <p:nvPr/>
        </p:nvGrpSpPr>
        <p:grpSpPr>
          <a:xfrm>
            <a:off x="1107915" y="5907042"/>
            <a:ext cx="331190" cy="98617"/>
            <a:chOff x="961765" y="6117353"/>
            <a:chExt cx="331190" cy="98617"/>
          </a:xfrm>
        </p:grpSpPr>
        <p:sp>
          <p:nvSpPr>
            <p:cNvPr id="11" name="TextBox 1034">
              <a:extLst>
                <a:ext uri="{FF2B5EF4-FFF2-40B4-BE49-F238E27FC236}">
                  <a16:creationId xmlns:a16="http://schemas.microsoft.com/office/drawing/2014/main" id="{B9650F97-8672-3BEA-FA99-CF3043EDFB02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12" name="Rounded Rectangle 1035">
              <a:extLst>
                <a:ext uri="{FF2B5EF4-FFF2-40B4-BE49-F238E27FC236}">
                  <a16:creationId xmlns:a16="http://schemas.microsoft.com/office/drawing/2014/main" id="{FFADB97F-2BF7-4867-DCDB-A9D48DC52A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F69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Group 1036">
            <a:extLst>
              <a:ext uri="{FF2B5EF4-FFF2-40B4-BE49-F238E27FC236}">
                <a16:creationId xmlns:a16="http://schemas.microsoft.com/office/drawing/2014/main" id="{D7604836-9265-A1A8-0D56-2C140B29F83E}"/>
              </a:ext>
            </a:extLst>
          </p:cNvPr>
          <p:cNvGrpSpPr/>
          <p:nvPr/>
        </p:nvGrpSpPr>
        <p:grpSpPr>
          <a:xfrm>
            <a:off x="1555751" y="5907042"/>
            <a:ext cx="331190" cy="98617"/>
            <a:chOff x="1114165" y="6269753"/>
            <a:chExt cx="331190" cy="98617"/>
          </a:xfrm>
        </p:grpSpPr>
        <p:sp>
          <p:nvSpPr>
            <p:cNvPr id="14" name="TextBox 1037">
              <a:extLst>
                <a:ext uri="{FF2B5EF4-FFF2-40B4-BE49-F238E27FC236}">
                  <a16:creationId xmlns:a16="http://schemas.microsoft.com/office/drawing/2014/main" id="{C73D936E-59D4-6831-50F0-AB8CEB499B66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15" name="Rounded Rectangle 1038">
              <a:extLst>
                <a:ext uri="{FF2B5EF4-FFF2-40B4-BE49-F238E27FC236}">
                  <a16:creationId xmlns:a16="http://schemas.microsoft.com/office/drawing/2014/main" id="{AD985571-355E-A893-64A2-BBBC0A52D4D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1C10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039">
            <a:extLst>
              <a:ext uri="{FF2B5EF4-FFF2-40B4-BE49-F238E27FC236}">
                <a16:creationId xmlns:a16="http://schemas.microsoft.com/office/drawing/2014/main" id="{EA407F70-674E-C448-46FF-DAC346F52A85}"/>
              </a:ext>
            </a:extLst>
          </p:cNvPr>
          <p:cNvGrpSpPr/>
          <p:nvPr/>
        </p:nvGrpSpPr>
        <p:grpSpPr>
          <a:xfrm>
            <a:off x="2003587" y="5907042"/>
            <a:ext cx="331190" cy="98617"/>
            <a:chOff x="1114165" y="6269753"/>
            <a:chExt cx="331190" cy="98617"/>
          </a:xfrm>
        </p:grpSpPr>
        <p:sp>
          <p:nvSpPr>
            <p:cNvPr id="17" name="TextBox 1040">
              <a:extLst>
                <a:ext uri="{FF2B5EF4-FFF2-40B4-BE49-F238E27FC236}">
                  <a16:creationId xmlns:a16="http://schemas.microsoft.com/office/drawing/2014/main" id="{F0FF61F8-4401-D061-4AC6-47B3AC5BBA1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18" name="Rounded Rectangle 1041">
              <a:extLst>
                <a:ext uri="{FF2B5EF4-FFF2-40B4-BE49-F238E27FC236}">
                  <a16:creationId xmlns:a16="http://schemas.microsoft.com/office/drawing/2014/main" id="{F47CC817-B00D-E027-7B3D-415586015C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40C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042">
            <a:extLst>
              <a:ext uri="{FF2B5EF4-FFF2-40B4-BE49-F238E27FC236}">
                <a16:creationId xmlns:a16="http://schemas.microsoft.com/office/drawing/2014/main" id="{F16CAD8B-5312-A8AE-4012-68F182A02B54}"/>
              </a:ext>
            </a:extLst>
          </p:cNvPr>
          <p:cNvGrpSpPr/>
          <p:nvPr/>
        </p:nvGrpSpPr>
        <p:grpSpPr>
          <a:xfrm>
            <a:off x="2451422" y="5907042"/>
            <a:ext cx="331190" cy="98617"/>
            <a:chOff x="1114165" y="6269753"/>
            <a:chExt cx="331190" cy="98617"/>
          </a:xfrm>
        </p:grpSpPr>
        <p:sp>
          <p:nvSpPr>
            <p:cNvPr id="20" name="TextBox 1043">
              <a:extLst>
                <a:ext uri="{FF2B5EF4-FFF2-40B4-BE49-F238E27FC236}">
                  <a16:creationId xmlns:a16="http://schemas.microsoft.com/office/drawing/2014/main" id="{9338EA57-AEDC-B417-24A7-2B066B9B45D4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GB" sz="8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21" name="Rounded Rectangle 1044">
              <a:extLst>
                <a:ext uri="{FF2B5EF4-FFF2-40B4-BE49-F238E27FC236}">
                  <a16:creationId xmlns:a16="http://schemas.microsoft.com/office/drawing/2014/main" id="{FB244793-B8B6-6212-8052-82DC320F85F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008A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GB" sz="1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072" name="Picture 10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6" y="2961823"/>
            <a:ext cx="10867079" cy="290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947613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A1475D-C9B4-4340-AC97-53E7D60D3545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bea3a859-62ab-42e4-a198-05891709eb96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22981</TotalTime>
  <Words>4871</Words>
  <Application>Microsoft Macintosh PowerPoint</Application>
  <PresentationFormat>Widescreen</PresentationFormat>
  <Paragraphs>530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☞NOIR PRO MEDIUM</vt:lpstr>
      <vt:lpstr>Arial</vt:lpstr>
      <vt:lpstr>Azeret Mono</vt:lpstr>
      <vt:lpstr>Azeret Mono Medium</vt:lpstr>
      <vt:lpstr>Calibri</vt:lpstr>
      <vt:lpstr>Calibri Bold</vt:lpstr>
      <vt:lpstr>Helvetica Neue Bold</vt:lpstr>
      <vt:lpstr>Noir Pro</vt:lpstr>
      <vt:lpstr>Noir Pro Medium</vt:lpstr>
      <vt:lpstr>Noir Pro Semi Bold</vt:lpstr>
      <vt:lpstr>TheSansMono M5</vt:lpstr>
      <vt:lpstr>Light theme (default)</vt:lpstr>
      <vt:lpstr>Dark theme</vt:lpstr>
      <vt:lpstr>PowerPoint Presentation</vt:lpstr>
      <vt:lpstr>Index of Metrics</vt:lpstr>
      <vt:lpstr>Overview of Duplication metric for portfolio CUSTOMER_NAME</vt:lpstr>
      <vt:lpstr>Change in Duplication metric for portfolio CUSTOMER_NAME</vt:lpstr>
      <vt:lpstr>Overview of Unit Size metric for portfolio CUSTOMER_NAME</vt:lpstr>
      <vt:lpstr>Change in Unit Size metric for portfolio CUSTOMER_NAME</vt:lpstr>
      <vt:lpstr>Overview of Unit Complexity metric for portfolio CUSTOMER_NAME</vt:lpstr>
      <vt:lpstr>Change in Unit Complexity metric for portfolio CUSTOMER_NAME</vt:lpstr>
      <vt:lpstr>Overview of Unit Interfacing metric for portfolio CUSTOMER_NAME</vt:lpstr>
      <vt:lpstr>Change in Unit Interfacing metric for portfolio CUSTOMER_NAME</vt:lpstr>
      <vt:lpstr>Overview of Module Coupling metric for portfolio CUSTOMER_NAME</vt:lpstr>
      <vt:lpstr>Change in Module Coupling metric for portfolio CUSTOMER_NAME</vt:lpstr>
      <vt:lpstr>Overview of Component Independence metric for portfolio CUSTOMER_NAME</vt:lpstr>
      <vt:lpstr>Change in Component Independence metric for portfolio CUSTOMER_NAME</vt:lpstr>
      <vt:lpstr>Overview of Component Entanglement metric for portfolio CUSTOMER_NAME</vt:lpstr>
      <vt:lpstr>Change in Component Entanglement metric for portfolio CUSTOMER_NAME</vt:lpstr>
      <vt:lpstr>Index of Metrics</vt:lpstr>
      <vt:lpstr>Overview of Code Breakdown metric for portfolio CUSTOMER_NAME</vt:lpstr>
      <vt:lpstr>Change in Code Breakdown metric for portfolio CUSTOMER_NAME</vt:lpstr>
      <vt:lpstr>Overview of Component Coupling metric for portfolio CUSTOMER_NAME</vt:lpstr>
      <vt:lpstr>Change in Component Coupling metric for portfolio CUSTOMER_NAME</vt:lpstr>
      <vt:lpstr>Overview of Component Adjacency metric for portfolio CUSTOMER_NAME</vt:lpstr>
      <vt:lpstr>Change in Component Adjacency metric for portfolio CUSTOMER_NAME</vt:lpstr>
      <vt:lpstr>Overview of Component Cohesion metric for portfolio CUSTOMER_NAME</vt:lpstr>
      <vt:lpstr>Change in Component Cohesion metric for portfolio CUSTOMER_NAME</vt:lpstr>
      <vt:lpstr>Overview of Communication Centralization metric for portfolio CUSTOMER_NAME</vt:lpstr>
      <vt:lpstr>Change in Communication Centralization metric for portfolio CUSTOMER_NAME</vt:lpstr>
      <vt:lpstr>Overview of Data Coupling metric for portfolio CUSTOMER_NAME</vt:lpstr>
      <vt:lpstr>Change in Data Coupling metric for portfolio CUSTOMER_NAME</vt:lpstr>
      <vt:lpstr>Overview of Bounded Evolution metric for portfolio CUSTOMER_NAME</vt:lpstr>
      <vt:lpstr>Change in Bounded Evolution metric for portfolio CUSTOMER_NAME</vt:lpstr>
      <vt:lpstr>Overview of Knowledge Awareness metric for portfolio CUSTOMER_NAME</vt:lpstr>
      <vt:lpstr>Change in Knowledge Awareness metric for portfolio CUSTOMER_NAME</vt:lpstr>
      <vt:lpstr>Overview of Component Freshness metric for portfolio CUSTOMER_NAME</vt:lpstr>
      <vt:lpstr>Change in Component Freshness metric for portfolio CUSTOMER_NAME</vt:lpstr>
      <vt:lpstr>Overview of Team Stability metric for portfolio CUSTOMER_NAME</vt:lpstr>
      <vt:lpstr>Change in Team Stability metric for portfolio CUSTOMER_NAME</vt:lpstr>
      <vt:lpstr>Index of Metrics</vt:lpstr>
      <vt:lpstr>Overview of Vulnerability metric for portfolio CUSTOMER_NAME</vt:lpstr>
      <vt:lpstr>Overview of Licenses metric for portfolio CUSTOMER_NAME</vt:lpstr>
      <vt:lpstr>Overview of Freshness metric for portfolio CUSTOMER_NAME</vt:lpstr>
      <vt:lpstr>Overview of Management metric for portfolio CUSTOMER_NAME</vt:lpstr>
      <vt:lpstr>Overview of Activity metric for portfolio CUSTOMER_NAME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Floris van Leeuwen</cp:lastModifiedBy>
  <cp:revision>225</cp:revision>
  <cp:lastPrinted>2020-04-20T09:37:43Z</cp:lastPrinted>
  <dcterms:created xsi:type="dcterms:W3CDTF">2025-10-22T11:22:13Z</dcterms:created>
  <dcterms:modified xsi:type="dcterms:W3CDTF">2026-09-11T09:39:46Z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