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20.svg" ContentType="image/svg+xml"/>
  <Override PartName="/ppt/media/image21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46"/>
    <p:restoredTop sz="96327"/>
  </p:normalViewPr>
  <p:slideViewPr>
    <p:cSldViewPr snapToGrid="0" snapToObjects="1" showGuides="1">
      <p:cViewPr varScale="1">
        <p:scale>
          <a:sx n="221" d="100"/>
          <a:sy n="221" d="100"/>
        </p:scale>
        <p:origin x="184" y="-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integrationtest-electron</c:v>
                </c:pt>
                <c:pt idx="8">
                  <c:v>integrationtest-webpack</c:v>
                </c:pt>
                <c:pt idx="9">
                  <c:v>integrationtest-bazel</c:v>
                </c:pt>
                <c:pt idx="10">
                  <c:v>integrationtest-facebookyoga</c:v>
                </c:pt>
                <c:pt idx="11">
                  <c:v>integrationtest-zuul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138.76191</c:v>
                </c:pt>
                <c:pt idx="1">
                  <c:v>34.85719</c:v>
                </c:pt>
                <c:pt idx="2">
                  <c:v>24.57473</c:v>
                </c:pt>
                <c:pt idx="3">
                  <c:v>18.88447</c:v>
                </c:pt>
                <c:pt idx="4">
                  <c:v>18.38069</c:v>
                </c:pt>
                <c:pt idx="5">
                  <c:v>18.16938</c:v>
                </c:pt>
                <c:pt idx="6">
                  <c:v>12.48652</c:v>
                </c:pt>
                <c:pt idx="7">
                  <c:v>3.17265</c:v>
                </c:pt>
                <c:pt idx="8">
                  <c:v>2.69231</c:v>
                </c:pt>
                <c:pt idx="9">
                  <c:v>1.53173</c:v>
                </c:pt>
                <c:pt idx="10">
                  <c:v>1.04072</c:v>
                </c:pt>
                <c:pt idx="11">
                  <c:v>0.52362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integrationtest-electron</c:v>
                </c:pt>
                <c:pt idx="8">
                  <c:v>integrationtest-webpack</c:v>
                </c:pt>
                <c:pt idx="9">
                  <c:v>integrationtest-bazel</c:v>
                </c:pt>
                <c:pt idx="10">
                  <c:v>integrationtest-facebookyoga</c:v>
                </c:pt>
                <c:pt idx="11">
                  <c:v>integrationtest-zuul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126.00943488858826</c:v>
                </c:pt>
                <c:pt idx="1">
                  <c:v>21.683513046341687</c:v>
                </c:pt>
                <c:pt idx="2">
                  <c:v>12.391236676501368</c:v>
                </c:pt>
                <c:pt idx="3">
                  <c:v>58.74034676610504</c:v>
                </c:pt>
                <c:pt idx="4">
                  <c:v>17.402782706155662</c:v>
                </c:pt>
                <c:pt idx="5">
                  <c:v>24.80422763888895</c:v>
                </c:pt>
                <c:pt idx="6">
                  <c:v>14.749963870967802</c:v>
                </c:pt>
                <c:pt idx="7">
                  <c:v>9.819366324817128</c:v>
                </c:pt>
                <c:pt idx="8">
                  <c:v>8.332723851055352</c:v>
                </c:pt>
                <c:pt idx="9">
                  <c:v>5.2096993699186935</c:v>
                </c:pt>
                <c:pt idx="10">
                  <c:v>2.5651353173961375</c:v>
                </c:pt>
                <c:pt idx="11">
                  <c:v>1.6227133333333315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Sheet1!$A$2:$A$1</c:f>
              <c:numCache>
                <c:formatCode>General</c:formatCode>
                <c:ptCount val="0"/>
              </c:numCache>
            </c:numRef>
          </c:xVal>
          <c:yVal>
            <c:numRef>
              <c:f>Sheet1!$B$2:$B$1</c:f>
              <c:numCache>
                <c:formatCode>General</c:formatCode>
                <c:ptCount val="0"/>
              </c:numCache>
            </c:numRef>
          </c:yVal>
          <c:bubbleSize>
            <c:numRef>
              <c:f>Sheet1!$C$2:$C$1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1"/>
          <c:order val="1"/>
          <c:tx>
            <c:strRef>
              <c:f>Sheet1!$B$3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Sheet1!$A$4:$A$3</c:f>
              <c:numCache>
                <c:formatCode>General</c:formatCode>
                <c:ptCount val="0"/>
              </c:numCache>
            </c:numRef>
          </c:xVal>
          <c:yVal>
            <c:numRef>
              <c:f>Sheet1!$B$4:$B$3</c:f>
              <c:numCache>
                <c:formatCode>General</c:formatCode>
                <c:ptCount val="0"/>
              </c:numCache>
            </c:numRef>
          </c:yVal>
          <c:bubbleSize>
            <c:numRef>
              <c:f>Sheet1!$C$4:$C$3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2"/>
          <c:order val="2"/>
          <c:tx>
            <c:strRef>
              <c:f>Sheet1!$B$5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Sheet1!$A$6:$A$5</c:f>
              <c:numCache>
                <c:formatCode>General</c:formatCode>
                <c:ptCount val="0"/>
              </c:numCache>
            </c:numRef>
          </c:xVal>
          <c:yVal>
            <c:numRef>
              <c:f>Sheet1!$B$6:$B$5</c:f>
              <c:numCache>
                <c:formatCode>General</c:formatCode>
                <c:ptCount val="0"/>
              </c:numCache>
            </c:numRef>
          </c:yVal>
          <c:bubbleSize>
            <c:numRef>
              <c:f>Sheet1!$C$6:$C$5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3"/>
          <c:order val="3"/>
          <c:tx>
            <c:strRef>
              <c:f>Sheet1!$B$7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Sheet1!$A$8:$A$7</c:f>
              <c:numCache>
                <c:formatCode>General</c:formatCode>
                <c:ptCount val="0"/>
              </c:numCache>
            </c:numRef>
          </c:xVal>
          <c:yVal>
            <c:numRef>
              <c:f>Sheet1!$B$8:$B$7</c:f>
              <c:numCache>
                <c:formatCode>General</c:formatCode>
                <c:ptCount val="0"/>
              </c:numCache>
            </c:numRef>
          </c:yVal>
          <c:bubbleSize>
            <c:numRef>
              <c:f>Sheet1!$C$8:$C$7</c:f>
              <c:numCache>
                <c:formatCode>General</c:formatCode>
                <c:ptCount val="0"/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4"/>
          <c:order val="4"/>
          <c:tx>
            <c:strRef>
              <c:f>Sheet1!$B$9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Pt>
            <c:idx val="11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Sheet1!$A$10:$A$21</c:f>
              <c:numCache>
                <c:formatCode>General</c:formatCode>
                <c:ptCount val="12"/>
                <c:pt idx="0">
                  <c:v>138.76191</c:v>
                </c:pt>
                <c:pt idx="1">
                  <c:v>34.85719</c:v>
                </c:pt>
                <c:pt idx="2">
                  <c:v>18.88447</c:v>
                </c:pt>
                <c:pt idx="3">
                  <c:v>24.57473</c:v>
                </c:pt>
                <c:pt idx="4">
                  <c:v>18.16938</c:v>
                </c:pt>
                <c:pt idx="5">
                  <c:v>18.38069</c:v>
                </c:pt>
                <c:pt idx="6">
                  <c:v>12.48652</c:v>
                </c:pt>
                <c:pt idx="7">
                  <c:v>2.69231</c:v>
                </c:pt>
                <c:pt idx="8">
                  <c:v>3.17265</c:v>
                </c:pt>
                <c:pt idx="9">
                  <c:v>1.53173</c:v>
                </c:pt>
                <c:pt idx="10">
                  <c:v>1.04072</c:v>
                </c:pt>
                <c:pt idx="11">
                  <c:v>0.52362</c:v>
                </c:pt>
              </c:numCache>
            </c:numRef>
          </c:xVal>
          <c:yVal>
            <c:numRef>
              <c:f>Sheet1!$B$10:$B$21</c:f>
              <c:numCache>
                <c:formatCode>General</c:formatCode>
                <c:ptCount val="12"/>
                <c:pt idx="0">
                  <c:v>88.2573</c:v>
                </c:pt>
                <c:pt idx="1">
                  <c:v>80.33779</c:v>
                </c:pt>
                <c:pt idx="2">
                  <c:v>46.60242</c:v>
                </c:pt>
                <c:pt idx="3">
                  <c:v>96.01779</c:v>
                </c:pt>
                <c:pt idx="4">
                  <c:v>77.13151</c:v>
                </c:pt>
                <c:pt idx="5">
                  <c:v>86.40853</c:v>
                </c:pt>
                <c:pt idx="6">
                  <c:v>83.28291</c:v>
                </c:pt>
                <c:pt idx="7">
                  <c:v>57.96047</c:v>
                </c:pt>
                <c:pt idx="8">
                  <c:v>29.89517</c:v>
                </c:pt>
                <c:pt idx="9">
                  <c:v>39.07102</c:v>
                </c:pt>
                <c:pt idx="10">
                  <c:v>38.19532</c:v>
                </c:pt>
                <c:pt idx="11">
                  <c:v>46.80238</c:v>
                </c:pt>
              </c:numCache>
            </c:numRef>
          </c:yVal>
          <c:bubbleSize>
            <c:numRef>
              <c:f>Sheet1!$C$10:$C$21</c:f>
              <c:numCache>
                <c:formatCode>General</c:formatCode>
                <c:ptCount val="12"/>
                <c:pt idx="0">
                  <c:v>264.77134488858826</c:v>
                </c:pt>
                <c:pt idx="1">
                  <c:v>56.54070304634169</c:v>
                </c:pt>
                <c:pt idx="2">
                  <c:v>77.62481676610504</c:v>
                </c:pt>
                <c:pt idx="3">
                  <c:v>36.96596667650137</c:v>
                </c:pt>
                <c:pt idx="4">
                  <c:v>42.97360763888895</c:v>
                </c:pt>
                <c:pt idx="5">
                  <c:v>35.78347270615566</c:v>
                </c:pt>
                <c:pt idx="6">
                  <c:v>27.236483870967803</c:v>
                </c:pt>
                <c:pt idx="7">
                  <c:v>11.025033851055353</c:v>
                </c:pt>
                <c:pt idx="8">
                  <c:v>12.992016324817127</c:v>
                </c:pt>
                <c:pt idx="9">
                  <c:v>6.741429369918694</c:v>
                </c:pt>
                <c:pt idx="10">
                  <c:v>3.605855317396138</c:v>
                </c:pt>
                <c:pt idx="11">
                  <c:v>2.1463333333333314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  <c:min val="0.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eg"/><Relationship Id="rId3" Type="http://schemas.openxmlformats.org/officeDocument/2006/relationships/image" Target="../media/image12.emf"/><Relationship Id="rId4" Type="http://schemas.openxmlformats.org/officeDocument/2006/relationships/image" Target="../media/image13.emf"/><Relationship Id="rId5" Type="http://schemas.openxmlformats.org/officeDocument/2006/relationships/image" Target="../media/image1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emf"/><Relationship Id="rId3" Type="http://schemas.openxmlformats.org/officeDocument/2006/relationships/image" Target="../media/image16.emf"/><Relationship Id="rId4" Type="http://schemas.openxmlformats.org/officeDocument/2006/relationships/image" Target="../media/image17.tif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svg"/><Relationship Id="rId3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Reportgeneratordemo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08,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301897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275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531039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+ 78%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4862323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578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173419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56.5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43.4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integrationtest-vscode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77.6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+ 47%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integrationtest-git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6.4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24.6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integrationtest-kafka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+ 77%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integrationtest-jruby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35.8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integrationtest-druid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27.2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+ 83%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12.5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integrationtest-webpack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+ 58%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integrationtest-electron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integrationtest-bazel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6.7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integrationtest-facebookyoga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graphicFrame>
        <p:nvGraphicFramePr>
          <p:cNvPr id="8" name="TECHNICAL_DEBT_SYSTEMS_CHART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346089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1213908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31146</TotalTime>
  <Words>817</Words>
  <Application>Microsoft Macintosh PowerPoint</Application>
  <PresentationFormat>Widescreen</PresentationFormat>
  <Paragraphs>169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259</cp:revision>
  <cp:lastPrinted>2020-07-02T15:41:27Z</cp:lastPrinted>
  <dcterms:created xsi:type="dcterms:W3CDTF">2024-01-03T15:04:34Z</dcterms:created>
  <dcterms:modified xsi:type="dcterms:W3CDTF">2026-03-12T15:45:10Z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