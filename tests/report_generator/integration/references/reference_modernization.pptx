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20.svg" ContentType="image/svg+xml"/>
  <Override PartName="/ppt/media/image21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446"/>
    <p:restoredTop sz="96327"/>
  </p:normalViewPr>
  <p:slideViewPr>
    <p:cSldViewPr snapToGrid="0" snapToObjects="1" showGuides="1">
      <p:cViewPr varScale="1">
        <p:scale>
          <a:sx n="221" d="100"/>
          <a:sy n="221" d="100"/>
        </p:scale>
        <p:origin x="184" y="-1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043513688066"/>
          <c:y val="7.1697246744931845E-2"/>
          <c:w val="0.81894294916779253"/>
          <c:h val="0.879903086336240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Sheet1!$A$2:$A$13</c:f>
              <c:strCache>
                <c:ptCount val="12"/>
                <c:pt idx="0">
                  <c:v>integrationtest-elasticsearch</c:v>
                </c:pt>
                <c:pt idx="1">
                  <c:v>integrationtest-airflow</c:v>
                </c:pt>
                <c:pt idx="2">
                  <c:v>integrationtest-git</c:v>
                </c:pt>
                <c:pt idx="3">
                  <c:v>integrationtest-vscode</c:v>
                </c:pt>
                <c:pt idx="4">
                  <c:v>integrationtest-jruby</c:v>
                </c:pt>
                <c:pt idx="5">
                  <c:v>integrationtest-kafka</c:v>
                </c:pt>
                <c:pt idx="6">
                  <c:v>integrationtest-druid</c:v>
                </c:pt>
                <c:pt idx="7">
                  <c:v>integrationtest-webpack</c:v>
                </c:pt>
                <c:pt idx="8">
                  <c:v>integrationtest-electron</c:v>
                </c:pt>
                <c:pt idx="9">
                  <c:v>integrationtest-facebookyoga</c:v>
                </c:pt>
                <c:pt idx="10">
                  <c:v>integrationtest-bazel</c:v>
                </c:pt>
                <c:pt idx="11">
                  <c:v>integrationtest-zuul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108.48478</c:v>
                </c:pt>
                <c:pt idx="1">
                  <c:v>36.34167</c:v>
                </c:pt>
                <c:pt idx="2">
                  <c:v>28.80113</c:v>
                </c:pt>
                <c:pt idx="3">
                  <c:v>19.61225</c:v>
                </c:pt>
                <c:pt idx="4">
                  <c:v>18.47737</c:v>
                </c:pt>
                <c:pt idx="5">
                  <c:v>17.31447</c:v>
                </c:pt>
                <c:pt idx="6">
                  <c:v>16.44181</c:v>
                </c:pt>
                <c:pt idx="7">
                  <c:v>3.4946</c:v>
                </c:pt>
                <c:pt idx="8">
                  <c:v>3.2257</c:v>
                </c:pt>
                <c:pt idx="9">
                  <c:v>1.72856</c:v>
                </c:pt>
                <c:pt idx="10">
                  <c:v>1.54285</c:v>
                </c:pt>
                <c:pt idx="11">
                  <c:v>0.52362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integrationtest-elasticsearch</c:v>
                </c:pt>
                <c:pt idx="1">
                  <c:v>integrationtest-airflow</c:v>
                </c:pt>
                <c:pt idx="2">
                  <c:v>integrationtest-git</c:v>
                </c:pt>
                <c:pt idx="3">
                  <c:v>integrationtest-vscode</c:v>
                </c:pt>
                <c:pt idx="4">
                  <c:v>integrationtest-jruby</c:v>
                </c:pt>
                <c:pt idx="5">
                  <c:v>integrationtest-kafka</c:v>
                </c:pt>
                <c:pt idx="6">
                  <c:v>integrationtest-druid</c:v>
                </c:pt>
                <c:pt idx="7">
                  <c:v>integrationtest-webpack</c:v>
                </c:pt>
                <c:pt idx="8">
                  <c:v>integrationtest-electron</c:v>
                </c:pt>
                <c:pt idx="9">
                  <c:v>integrationtest-facebookyoga</c:v>
                </c:pt>
                <c:pt idx="10">
                  <c:v>integrationtest-bazel</c:v>
                </c:pt>
                <c:pt idx="11">
                  <c:v>integrationtest-zuul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142.72470754710108</c:v>
                </c:pt>
                <c:pt idx="1">
                  <c:v>22.000738009923396</c:v>
                </c:pt>
                <c:pt idx="2">
                  <c:v>8.632724639585831</c:v>
                </c:pt>
                <c:pt idx="3">
                  <c:v>61.004104966579234</c:v>
                </c:pt>
                <c:pt idx="4">
                  <c:v>17.31500213403882</c:v>
                </c:pt>
                <c:pt idx="5">
                  <c:v>25.662902759856742</c:v>
                </c:pt>
                <c:pt idx="6">
                  <c:v>10.799412222222323</c:v>
                </c:pt>
                <c:pt idx="7">
                  <c:v>7.898066666666669</c:v>
                </c:pt>
                <c:pt idx="8">
                  <c:v>9.983566703427993</c:v>
                </c:pt>
                <c:pt idx="9">
                  <c:v>1.8997035174463133</c:v>
                </c:pt>
                <c:pt idx="10">
                  <c:v>5.244141636798087</c:v>
                </c:pt>
                <c:pt idx="11">
                  <c:v>1.6227133333333323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Sheet1!$A$2:$A$1</c:f>
              <c:numCache>
                <c:formatCode>General</c:formatCode>
                <c:ptCount val="0"/>
              </c:numCache>
            </c:numRef>
          </c:xVal>
          <c:yVal>
            <c:numRef>
              <c:f>Sheet1!$B$2:$B$1</c:f>
              <c:numCache>
                <c:formatCode>General</c:formatCode>
                <c:ptCount val="0"/>
              </c:numCache>
            </c:numRef>
          </c:yVal>
          <c:bubbleSize>
            <c:numRef>
              <c:f>Sheet1!$C$2:$C$1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1"/>
          <c:order val="1"/>
          <c:tx>
            <c:strRef>
              <c:f>Sheet1!$B$3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Sheet1!$A$4:$A$3</c:f>
              <c:numCache>
                <c:formatCode>General</c:formatCode>
                <c:ptCount val="0"/>
              </c:numCache>
            </c:numRef>
          </c:xVal>
          <c:yVal>
            <c:numRef>
              <c:f>Sheet1!$B$4:$B$3</c:f>
              <c:numCache>
                <c:formatCode>General</c:formatCode>
                <c:ptCount val="0"/>
              </c:numCache>
            </c:numRef>
          </c:yVal>
          <c:bubbleSize>
            <c:numRef>
              <c:f>Sheet1!$C$4:$C$3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2"/>
          <c:order val="2"/>
          <c:tx>
            <c:strRef>
              <c:f>Sheet1!$B$5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Sheet1!$A$6:$A$5</c:f>
              <c:numCache>
                <c:formatCode>General</c:formatCode>
                <c:ptCount val="0"/>
              </c:numCache>
            </c:numRef>
          </c:xVal>
          <c:yVal>
            <c:numRef>
              <c:f>Sheet1!$B$6:$B$5</c:f>
              <c:numCache>
                <c:formatCode>General</c:formatCode>
                <c:ptCount val="0"/>
              </c:numCache>
            </c:numRef>
          </c:yVal>
          <c:bubbleSize>
            <c:numRef>
              <c:f>Sheet1!$C$6:$C$5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3"/>
          <c:order val="3"/>
          <c:tx>
            <c:strRef>
              <c:f>Sheet1!$B$7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Sheet1!$A$8:$A$7</c:f>
              <c:numCache>
                <c:formatCode>General</c:formatCode>
                <c:ptCount val="0"/>
              </c:numCache>
            </c:numRef>
          </c:xVal>
          <c:yVal>
            <c:numRef>
              <c:f>Sheet1!$B$8:$B$7</c:f>
              <c:numCache>
                <c:formatCode>General</c:formatCode>
                <c:ptCount val="0"/>
              </c:numCache>
            </c:numRef>
          </c:yVal>
          <c:bubbleSize>
            <c:numRef>
              <c:f>Sheet1!$C$8:$C$7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4"/>
          <c:order val="4"/>
          <c:tx>
            <c:strRef>
              <c:f>Sheet1!$B$9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10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11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Sheet1!$A$10:$A$21</c:f>
              <c:numCache>
                <c:formatCode>General</c:formatCode>
                <c:ptCount val="12"/>
                <c:pt idx="0">
                  <c:v>108.48478</c:v>
                </c:pt>
                <c:pt idx="1">
                  <c:v>36.34167</c:v>
                </c:pt>
                <c:pt idx="2">
                  <c:v>19.61225</c:v>
                </c:pt>
                <c:pt idx="3">
                  <c:v>28.80113</c:v>
                </c:pt>
                <c:pt idx="4">
                  <c:v>17.31447</c:v>
                </c:pt>
                <c:pt idx="5">
                  <c:v>18.47737</c:v>
                </c:pt>
                <c:pt idx="6">
                  <c:v>16.44181</c:v>
                </c:pt>
                <c:pt idx="7">
                  <c:v>3.4946</c:v>
                </c:pt>
                <c:pt idx="8">
                  <c:v>3.2257</c:v>
                </c:pt>
                <c:pt idx="9">
                  <c:v>1.54285</c:v>
                </c:pt>
                <c:pt idx="10">
                  <c:v>1.72856</c:v>
                </c:pt>
                <c:pt idx="11">
                  <c:v>0.52362</c:v>
                </c:pt>
              </c:numCache>
            </c:numRef>
          </c:xVal>
          <c:yVal>
            <c:numRef>
              <c:f>Sheet1!$B$10:$B$21</c:f>
              <c:numCache>
                <c:formatCode>General</c:formatCode>
                <c:ptCount val="12"/>
                <c:pt idx="0">
                  <c:v>86.44004</c:v>
                </c:pt>
                <c:pt idx="1">
                  <c:v>84.26928</c:v>
                </c:pt>
                <c:pt idx="2">
                  <c:v>48.80588</c:v>
                </c:pt>
                <c:pt idx="3">
                  <c:v>99.59924</c:v>
                </c:pt>
                <c:pt idx="4">
                  <c:v>77.77216</c:v>
                </c:pt>
                <c:pt idx="5">
                  <c:v>85.61315</c:v>
                </c:pt>
                <c:pt idx="6">
                  <c:v>91.35032</c:v>
                </c:pt>
                <c:pt idx="7">
                  <c:v>66.12987</c:v>
                </c:pt>
                <c:pt idx="8">
                  <c:v>28.31637</c:v>
                </c:pt>
                <c:pt idx="9">
                  <c:v>49.3439</c:v>
                </c:pt>
                <c:pt idx="10">
                  <c:v>52.33782</c:v>
                </c:pt>
                <c:pt idx="11">
                  <c:v>59.27437</c:v>
                </c:pt>
              </c:numCache>
            </c:numRef>
          </c:yVal>
          <c:bubbleSize>
            <c:numRef>
              <c:f>Sheet1!$C$10:$C$21</c:f>
              <c:numCache>
                <c:formatCode>General</c:formatCode>
                <c:ptCount val="12"/>
                <c:pt idx="0">
                  <c:v>251.20948754710108</c:v>
                </c:pt>
                <c:pt idx="1">
                  <c:v>58.342408009923396</c:v>
                </c:pt>
                <c:pt idx="2">
                  <c:v>80.61635496657924</c:v>
                </c:pt>
                <c:pt idx="3">
                  <c:v>37.43385463958583</c:v>
                </c:pt>
                <c:pt idx="4">
                  <c:v>42.97737275985674</c:v>
                </c:pt>
                <c:pt idx="5">
                  <c:v>35.79237213403882</c:v>
                </c:pt>
                <c:pt idx="6">
                  <c:v>27.241222222222323</c:v>
                </c:pt>
                <c:pt idx="7">
                  <c:v>11.392666666666669</c:v>
                </c:pt>
                <c:pt idx="8">
                  <c:v>13.209266703427993</c:v>
                </c:pt>
                <c:pt idx="9">
                  <c:v>6.786991636798088</c:v>
                </c:pt>
                <c:pt idx="10">
                  <c:v>3.6282635174463134</c:v>
                </c:pt>
                <c:pt idx="11">
                  <c:v>2.1463333333333323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  <c:min val="0.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eg"/><Relationship Id="rId3" Type="http://schemas.openxmlformats.org/officeDocument/2006/relationships/image" Target="../media/image12.emf"/><Relationship Id="rId4" Type="http://schemas.openxmlformats.org/officeDocument/2006/relationships/image" Target="../media/image13.emf"/><Relationship Id="rId5" Type="http://schemas.openxmlformats.org/officeDocument/2006/relationships/image" Target="../media/image1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emf"/><Relationship Id="rId3" Type="http://schemas.openxmlformats.org/officeDocument/2006/relationships/image" Target="../media/image16.emf"/><Relationship Id="rId4" Type="http://schemas.openxmlformats.org/officeDocument/2006/relationships/image" Target="../media/image17.tiff"/><Relationship Id="rId5" Type="http://schemas.openxmlformats.org/officeDocument/2006/relationships/image" Target="../media/image18.emf"/><Relationship Id="rId6" Type="http://schemas.openxmlformats.org/officeDocument/2006/relationships/image" Target="../media/image19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svg"/><Relationship Id="rId3" Type="http://schemas.openxmlformats.org/officeDocument/2006/relationships/image" Target="../media/image21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Reportgeneratordemo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08,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893888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065644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F191D14-9172-C235-983B-F2675F67A7B2}"/>
              </a:ext>
            </a:extLst>
          </p:cNvPr>
          <p:cNvGrpSpPr/>
          <p:nvPr/>
        </p:nvGrpSpPr>
        <p:grpSpPr>
          <a:xfrm>
            <a:off x="3175467" y="4160857"/>
            <a:ext cx="5513433" cy="988601"/>
            <a:chOff x="3175467" y="3718593"/>
            <a:chExt cx="5513433" cy="98860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6E004EC-5DD7-630E-DD97-73BB105447D9}"/>
                </a:ext>
              </a:extLst>
            </p:cNvPr>
            <p:cNvSpPr/>
            <p:nvPr/>
          </p:nvSpPr>
          <p:spPr>
            <a:xfrm flipH="1">
              <a:off x="4585215" y="4205625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09308EB-33D2-D378-2B71-06F03D8AC3BF}"/>
                </a:ext>
              </a:extLst>
            </p:cNvPr>
            <p:cNvSpPr/>
            <p:nvPr/>
          </p:nvSpPr>
          <p:spPr>
            <a:xfrm>
              <a:off x="6193566" y="3991186"/>
              <a:ext cx="378144" cy="301667"/>
            </a:xfrm>
            <a:custGeom>
              <a:avLst/>
              <a:gdLst>
                <a:gd name="connsiteX0" fmla="*/ 184470 w 343767"/>
                <a:gd name="connsiteY0" fmla="*/ 294400 h 301667"/>
                <a:gd name="connsiteX1" fmla="*/ 159298 w 343767"/>
                <a:gd name="connsiteY1" fmla="*/ 294400 h 301667"/>
                <a:gd name="connsiteX2" fmla="*/ 1966 w 343767"/>
                <a:gd name="connsiteY2" fmla="*/ 21807 h 301667"/>
                <a:gd name="connsiteX3" fmla="*/ 14552 w 343767"/>
                <a:gd name="connsiteY3" fmla="*/ 0 h 301667"/>
                <a:gd name="connsiteX4" fmla="*/ 329216 w 343767"/>
                <a:gd name="connsiteY4" fmla="*/ 0 h 301667"/>
                <a:gd name="connsiteX5" fmla="*/ 341802 w 343767"/>
                <a:gd name="connsiteY5" fmla="*/ 21807 h 301667"/>
                <a:gd name="connsiteX6" fmla="*/ 184470 w 343767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7" h="301667">
                  <a:moveTo>
                    <a:pt x="184470" y="294400"/>
                  </a:moveTo>
                  <a:cubicBezTo>
                    <a:pt x="178874" y="304090"/>
                    <a:pt x="164894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256 PY
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80FF2A0-2A6E-3FEB-983A-AF96E9799909}"/>
                </a:ext>
              </a:extLst>
            </p:cNvPr>
            <p:cNvSpPr txBox="1"/>
            <p:nvPr/>
          </p:nvSpPr>
          <p:spPr>
            <a:xfrm>
              <a:off x="8212338" y="4211799"/>
              <a:ext cx="476562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E17526"/>
                  </a:solidFill>
                </a:rPr>
                <a:t>High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F723BDF-6B35-4615-25B1-A780E66F8EDE}"/>
                </a:ext>
              </a:extLst>
            </p:cNvPr>
            <p:cNvGrpSpPr/>
            <p:nvPr/>
          </p:nvGrpSpPr>
          <p:grpSpPr>
            <a:xfrm>
              <a:off x="3175467" y="3718593"/>
              <a:ext cx="1090012" cy="988601"/>
              <a:chOff x="3175467" y="3718593"/>
              <a:chExt cx="1090012" cy="988601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D8219B0-F329-793E-CC73-F3C72202561E}"/>
                  </a:ext>
                </a:extLst>
              </p:cNvPr>
              <p:cNvSpPr/>
              <p:nvPr/>
            </p:nvSpPr>
            <p:spPr>
              <a:xfrm>
                <a:off x="3175467" y="371859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AF88E4A-3FC6-78C6-09AF-810DBCFED102}"/>
                  </a:ext>
                </a:extLst>
              </p:cNvPr>
              <p:cNvSpPr txBox="1"/>
              <p:nvPr/>
            </p:nvSpPr>
            <p:spPr>
              <a:xfrm>
                <a:off x="3175467" y="4416584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Renovation effort</a:t>
                </a: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ED4C63B-3DE4-5CA5-C815-046602139C1B}"/>
                  </a:ext>
                </a:extLst>
              </p:cNvPr>
              <p:cNvSpPr/>
              <p:nvPr/>
            </p:nvSpPr>
            <p:spPr>
              <a:xfrm>
                <a:off x="3582405" y="3877209"/>
                <a:ext cx="277167" cy="436147"/>
              </a:xfrm>
              <a:custGeom>
                <a:avLst/>
                <a:gdLst>
                  <a:gd name="connsiteX0" fmla="*/ 266486 w 277167"/>
                  <a:gd name="connsiteY0" fmla="*/ 327097 h 436147"/>
                  <a:gd name="connsiteX1" fmla="*/ 237092 w 277167"/>
                  <a:gd name="connsiteY1" fmla="*/ 360840 h 436147"/>
                  <a:gd name="connsiteX2" fmla="*/ 192336 w 277167"/>
                  <a:gd name="connsiteY2" fmla="*/ 381259 h 436147"/>
                  <a:gd name="connsiteX3" fmla="*/ 168741 w 277167"/>
                  <a:gd name="connsiteY3" fmla="*/ 385598 h 436147"/>
                  <a:gd name="connsiteX4" fmla="*/ 168741 w 277167"/>
                  <a:gd name="connsiteY4" fmla="*/ 436148 h 436147"/>
                  <a:gd name="connsiteX5" fmla="*/ 108427 w 277167"/>
                  <a:gd name="connsiteY5" fmla="*/ 436148 h 436147"/>
                  <a:gd name="connsiteX6" fmla="*/ 108427 w 277167"/>
                  <a:gd name="connsiteY6" fmla="*/ 386609 h 436147"/>
                  <a:gd name="connsiteX7" fmla="*/ 59369 w 277167"/>
                  <a:gd name="connsiteY7" fmla="*/ 378220 h 436147"/>
                  <a:gd name="connsiteX8" fmla="*/ 4856 w 277167"/>
                  <a:gd name="connsiteY8" fmla="*/ 345638 h 436147"/>
                  <a:gd name="connsiteX9" fmla="*/ 79 w 277167"/>
                  <a:gd name="connsiteY9" fmla="*/ 338372 h 436147"/>
                  <a:gd name="connsiteX10" fmla="*/ 2900 w 277167"/>
                  <a:gd name="connsiteY10" fmla="*/ 330119 h 436147"/>
                  <a:gd name="connsiteX11" fmla="*/ 33117 w 277167"/>
                  <a:gd name="connsiteY11" fmla="*/ 299878 h 436147"/>
                  <a:gd name="connsiteX12" fmla="*/ 45345 w 277167"/>
                  <a:gd name="connsiteY12" fmla="*/ 298440 h 436147"/>
                  <a:gd name="connsiteX13" fmla="*/ 85101 w 277167"/>
                  <a:gd name="connsiteY13" fmla="*/ 322771 h 436147"/>
                  <a:gd name="connsiteX14" fmla="*/ 136208 w 277167"/>
                  <a:gd name="connsiteY14" fmla="*/ 329773 h 436147"/>
                  <a:gd name="connsiteX15" fmla="*/ 189313 w 277167"/>
                  <a:gd name="connsiteY15" fmla="*/ 318432 h 436147"/>
                  <a:gd name="connsiteX16" fmla="*/ 210365 w 277167"/>
                  <a:gd name="connsiteY16" fmla="*/ 282974 h 436147"/>
                  <a:gd name="connsiteX17" fmla="*/ 200002 w 277167"/>
                  <a:gd name="connsiteY17" fmla="*/ 255554 h 436147"/>
                  <a:gd name="connsiteX18" fmla="*/ 164926 w 277167"/>
                  <a:gd name="connsiteY18" fmla="*/ 242870 h 436147"/>
                  <a:gd name="connsiteX19" fmla="*/ 110796 w 277167"/>
                  <a:gd name="connsiteY19" fmla="*/ 238211 h 436147"/>
                  <a:gd name="connsiteX20" fmla="*/ 36656 w 277167"/>
                  <a:gd name="connsiteY20" fmla="*/ 211484 h 436147"/>
                  <a:gd name="connsiteX21" fmla="*/ 10590 w 277167"/>
                  <a:gd name="connsiteY21" fmla="*/ 144653 h 436147"/>
                  <a:gd name="connsiteX22" fmla="*/ 20610 w 277167"/>
                  <a:gd name="connsiteY22" fmla="*/ 100531 h 436147"/>
                  <a:gd name="connsiteX23" fmla="*/ 48006 w 277167"/>
                  <a:gd name="connsiteY23" fmla="*/ 67801 h 436147"/>
                  <a:gd name="connsiteX24" fmla="*/ 88429 w 277167"/>
                  <a:gd name="connsiteY24" fmla="*/ 47755 h 436147"/>
                  <a:gd name="connsiteX25" fmla="*/ 108427 w 277167"/>
                  <a:gd name="connsiteY25" fmla="*/ 43549 h 436147"/>
                  <a:gd name="connsiteX26" fmla="*/ 108427 w 277167"/>
                  <a:gd name="connsiteY26" fmla="*/ 0 h 436147"/>
                  <a:gd name="connsiteX27" fmla="*/ 168741 w 277167"/>
                  <a:gd name="connsiteY27" fmla="*/ 0 h 436147"/>
                  <a:gd name="connsiteX28" fmla="*/ 168741 w 277167"/>
                  <a:gd name="connsiteY28" fmla="*/ 42673 h 436147"/>
                  <a:gd name="connsiteX29" fmla="*/ 208686 w 277167"/>
                  <a:gd name="connsiteY29" fmla="*/ 49754 h 436147"/>
                  <a:gd name="connsiteX30" fmla="*/ 252061 w 277167"/>
                  <a:gd name="connsiteY30" fmla="*/ 72914 h 436147"/>
                  <a:gd name="connsiteX31" fmla="*/ 257213 w 277167"/>
                  <a:gd name="connsiteY31" fmla="*/ 80155 h 436147"/>
                  <a:gd name="connsiteX32" fmla="*/ 254474 w 277167"/>
                  <a:gd name="connsiteY32" fmla="*/ 88647 h 436147"/>
                  <a:gd name="connsiteX33" fmla="*/ 226134 w 277167"/>
                  <a:gd name="connsiteY33" fmla="*/ 117423 h 436147"/>
                  <a:gd name="connsiteX34" fmla="*/ 214580 w 277167"/>
                  <a:gd name="connsiteY34" fmla="*/ 119287 h 436147"/>
                  <a:gd name="connsiteX35" fmla="*/ 183296 w 277167"/>
                  <a:gd name="connsiteY35" fmla="*/ 103555 h 436147"/>
                  <a:gd name="connsiteX36" fmla="*/ 137552 w 277167"/>
                  <a:gd name="connsiteY36" fmla="*/ 97857 h 436147"/>
                  <a:gd name="connsiteX37" fmla="*/ 91118 w 277167"/>
                  <a:gd name="connsiteY37" fmla="*/ 109876 h 436147"/>
                  <a:gd name="connsiteX38" fmla="*/ 76112 w 277167"/>
                  <a:gd name="connsiteY38" fmla="*/ 141288 h 436147"/>
                  <a:gd name="connsiteX39" fmla="*/ 86779 w 277167"/>
                  <a:gd name="connsiteY39" fmla="*/ 168001 h 436147"/>
                  <a:gd name="connsiteX40" fmla="*/ 122851 w 277167"/>
                  <a:gd name="connsiteY40" fmla="*/ 180034 h 436147"/>
                  <a:gd name="connsiteX41" fmla="*/ 170289 w 277167"/>
                  <a:gd name="connsiteY41" fmla="*/ 184080 h 436147"/>
                  <a:gd name="connsiteX42" fmla="*/ 250107 w 277167"/>
                  <a:gd name="connsiteY42" fmla="*/ 212125 h 436147"/>
                  <a:gd name="connsiteX43" fmla="*/ 277168 w 277167"/>
                  <a:gd name="connsiteY43" fmla="*/ 280286 h 436147"/>
                  <a:gd name="connsiteX44" fmla="*/ 266486 w 277167"/>
                  <a:gd name="connsiteY44" fmla="*/ 327097 h 436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277167" h="436147">
                    <a:moveTo>
                      <a:pt x="266486" y="327097"/>
                    </a:moveTo>
                    <a:cubicBezTo>
                      <a:pt x="259343" y="340501"/>
                      <a:pt x="249525" y="351681"/>
                      <a:pt x="237092" y="360840"/>
                    </a:cubicBezTo>
                    <a:cubicBezTo>
                      <a:pt x="224615" y="369970"/>
                      <a:pt x="209682" y="376774"/>
                      <a:pt x="192336" y="381259"/>
                    </a:cubicBezTo>
                    <a:cubicBezTo>
                      <a:pt x="184750" y="383170"/>
                      <a:pt x="176807" y="384508"/>
                      <a:pt x="168741" y="385598"/>
                    </a:cubicBezTo>
                    <a:lnTo>
                      <a:pt x="168741" y="436148"/>
                    </a:lnTo>
                    <a:lnTo>
                      <a:pt x="108427" y="436148"/>
                    </a:lnTo>
                    <a:lnTo>
                      <a:pt x="108427" y="386609"/>
                    </a:lnTo>
                    <a:cubicBezTo>
                      <a:pt x="91248" y="385155"/>
                      <a:pt x="74833" y="382480"/>
                      <a:pt x="59369" y="378220"/>
                    </a:cubicBezTo>
                    <a:cubicBezTo>
                      <a:pt x="35765" y="371751"/>
                      <a:pt x="4856" y="345638"/>
                      <a:pt x="4856" y="345638"/>
                    </a:cubicBezTo>
                    <a:cubicBezTo>
                      <a:pt x="2208" y="344094"/>
                      <a:pt x="451" y="341379"/>
                      <a:pt x="79" y="338372"/>
                    </a:cubicBezTo>
                    <a:cubicBezTo>
                      <a:pt x="-307" y="335337"/>
                      <a:pt x="732" y="332276"/>
                      <a:pt x="2900" y="330119"/>
                    </a:cubicBezTo>
                    <a:lnTo>
                      <a:pt x="33117" y="299878"/>
                    </a:lnTo>
                    <a:cubicBezTo>
                      <a:pt x="36377" y="296657"/>
                      <a:pt x="41434" y="296045"/>
                      <a:pt x="45345" y="298440"/>
                    </a:cubicBezTo>
                    <a:cubicBezTo>
                      <a:pt x="45345" y="298440"/>
                      <a:pt x="67966" y="318086"/>
                      <a:pt x="85101" y="322771"/>
                    </a:cubicBezTo>
                    <a:cubicBezTo>
                      <a:pt x="102243" y="327430"/>
                      <a:pt x="119247" y="329773"/>
                      <a:pt x="136208" y="329773"/>
                    </a:cubicBezTo>
                    <a:cubicBezTo>
                      <a:pt x="157608" y="329773"/>
                      <a:pt x="175288" y="325992"/>
                      <a:pt x="189313" y="318432"/>
                    </a:cubicBezTo>
                    <a:cubicBezTo>
                      <a:pt x="203367" y="310819"/>
                      <a:pt x="210365" y="299053"/>
                      <a:pt x="210365" y="282974"/>
                    </a:cubicBezTo>
                    <a:cubicBezTo>
                      <a:pt x="210365" y="271394"/>
                      <a:pt x="206935" y="262263"/>
                      <a:pt x="200002" y="255554"/>
                    </a:cubicBezTo>
                    <a:cubicBezTo>
                      <a:pt x="193092" y="248899"/>
                      <a:pt x="181414" y="244707"/>
                      <a:pt x="164926" y="242870"/>
                    </a:cubicBezTo>
                    <a:lnTo>
                      <a:pt x="110796" y="238211"/>
                    </a:lnTo>
                    <a:cubicBezTo>
                      <a:pt x="78742" y="235083"/>
                      <a:pt x="54021" y="226138"/>
                      <a:pt x="36656" y="211484"/>
                    </a:cubicBezTo>
                    <a:cubicBezTo>
                      <a:pt x="19239" y="196776"/>
                      <a:pt x="10590" y="174469"/>
                      <a:pt x="10590" y="144653"/>
                    </a:cubicBezTo>
                    <a:cubicBezTo>
                      <a:pt x="10590" y="128149"/>
                      <a:pt x="13916" y="113454"/>
                      <a:pt x="20610" y="100531"/>
                    </a:cubicBezTo>
                    <a:cubicBezTo>
                      <a:pt x="27316" y="87606"/>
                      <a:pt x="36417" y="76692"/>
                      <a:pt x="48006" y="67801"/>
                    </a:cubicBezTo>
                    <a:cubicBezTo>
                      <a:pt x="59580" y="58883"/>
                      <a:pt x="73074" y="52200"/>
                      <a:pt x="88429" y="47755"/>
                    </a:cubicBezTo>
                    <a:cubicBezTo>
                      <a:pt x="94860" y="45891"/>
                      <a:pt x="101589" y="44667"/>
                      <a:pt x="108427" y="43549"/>
                    </a:cubicBezTo>
                    <a:lnTo>
                      <a:pt x="108427" y="0"/>
                    </a:lnTo>
                    <a:lnTo>
                      <a:pt x="168741" y="0"/>
                    </a:lnTo>
                    <a:lnTo>
                      <a:pt x="168741" y="42673"/>
                    </a:lnTo>
                    <a:cubicBezTo>
                      <a:pt x="182824" y="44057"/>
                      <a:pt x="196216" y="46320"/>
                      <a:pt x="208686" y="49754"/>
                    </a:cubicBezTo>
                    <a:cubicBezTo>
                      <a:pt x="229840" y="55530"/>
                      <a:pt x="252061" y="72914"/>
                      <a:pt x="252061" y="72914"/>
                    </a:cubicBezTo>
                    <a:cubicBezTo>
                      <a:pt x="254845" y="74352"/>
                      <a:pt x="256734" y="77067"/>
                      <a:pt x="257213" y="80155"/>
                    </a:cubicBezTo>
                    <a:cubicBezTo>
                      <a:pt x="257693" y="83296"/>
                      <a:pt x="256669" y="86385"/>
                      <a:pt x="254474" y="88647"/>
                    </a:cubicBezTo>
                    <a:lnTo>
                      <a:pt x="226134" y="117423"/>
                    </a:lnTo>
                    <a:cubicBezTo>
                      <a:pt x="223111" y="120485"/>
                      <a:pt x="218438" y="121283"/>
                      <a:pt x="214580" y="119287"/>
                    </a:cubicBezTo>
                    <a:cubicBezTo>
                      <a:pt x="214580" y="119287"/>
                      <a:pt x="197801" y="107335"/>
                      <a:pt x="183296" y="103555"/>
                    </a:cubicBezTo>
                    <a:cubicBezTo>
                      <a:pt x="168806" y="99774"/>
                      <a:pt x="153590" y="97857"/>
                      <a:pt x="137552" y="97857"/>
                    </a:cubicBezTo>
                    <a:cubicBezTo>
                      <a:pt x="116595" y="97857"/>
                      <a:pt x="101109" y="101877"/>
                      <a:pt x="91118" y="109876"/>
                    </a:cubicBezTo>
                    <a:cubicBezTo>
                      <a:pt x="81082" y="117929"/>
                      <a:pt x="76112" y="128390"/>
                      <a:pt x="76112" y="141288"/>
                    </a:cubicBezTo>
                    <a:cubicBezTo>
                      <a:pt x="76112" y="152908"/>
                      <a:pt x="79607" y="161799"/>
                      <a:pt x="86779" y="168001"/>
                    </a:cubicBezTo>
                    <a:cubicBezTo>
                      <a:pt x="93901" y="174257"/>
                      <a:pt x="105913" y="178316"/>
                      <a:pt x="122851" y="180034"/>
                    </a:cubicBezTo>
                    <a:lnTo>
                      <a:pt x="170289" y="184080"/>
                    </a:lnTo>
                    <a:cubicBezTo>
                      <a:pt x="205453" y="187195"/>
                      <a:pt x="232078" y="196538"/>
                      <a:pt x="250107" y="212125"/>
                    </a:cubicBezTo>
                    <a:cubicBezTo>
                      <a:pt x="268165" y="227737"/>
                      <a:pt x="277168" y="250472"/>
                      <a:pt x="277168" y="280286"/>
                    </a:cubicBezTo>
                    <a:cubicBezTo>
                      <a:pt x="277175" y="298162"/>
                      <a:pt x="273607" y="313720"/>
                      <a:pt x="266486" y="327097"/>
                    </a:cubicBezTo>
                    <a:close/>
                  </a:path>
                </a:pathLst>
              </a:custGeom>
              <a:noFill/>
              <a:ln w="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F66163-B57E-3B36-7B32-0E916195F142}"/>
                </a:ext>
              </a:extLst>
            </p:cNvPr>
            <p:cNvSpPr txBox="1"/>
            <p:nvPr/>
          </p:nvSpPr>
          <p:spPr>
            <a:xfrm>
              <a:off x="4481963" y="4211799"/>
              <a:ext cx="447387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Low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1AA58A-1827-0E81-71E9-3143BF0EBE18}"/>
              </a:ext>
            </a:extLst>
          </p:cNvPr>
          <p:cNvGrpSpPr/>
          <p:nvPr/>
        </p:nvGrpSpPr>
        <p:grpSpPr>
          <a:xfrm>
            <a:off x="3175467" y="2989100"/>
            <a:ext cx="5513433" cy="988601"/>
            <a:chOff x="3175467" y="2555533"/>
            <a:chExt cx="5513433" cy="988601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2AF553E-630F-A3D7-EEE7-C3302EE3FBAC}"/>
                </a:ext>
              </a:extLst>
            </p:cNvPr>
            <p:cNvSpPr/>
            <p:nvPr/>
          </p:nvSpPr>
          <p:spPr>
            <a:xfrm>
              <a:off x="4585215" y="3042564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FD0732-87D6-6F51-90E0-5730B444D262}"/>
                </a:ext>
              </a:extLst>
            </p:cNvPr>
            <p:cNvSpPr/>
            <p:nvPr/>
          </p:nvSpPr>
          <p:spPr>
            <a:xfrm>
              <a:off x="7550999" y="2806318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+ 79%
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AD70E39-AF26-E925-204C-B75F716B4191}"/>
                </a:ext>
              </a:extLst>
            </p:cNvPr>
            <p:cNvGrpSpPr/>
            <p:nvPr/>
          </p:nvGrpSpPr>
          <p:grpSpPr>
            <a:xfrm>
              <a:off x="3175467" y="2555533"/>
              <a:ext cx="1090012" cy="988601"/>
              <a:chOff x="3175467" y="2555533"/>
              <a:chExt cx="1090012" cy="988601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C136603-2216-7601-C5DF-D85D8F43160F}"/>
                  </a:ext>
                </a:extLst>
              </p:cNvPr>
              <p:cNvSpPr/>
              <p:nvPr/>
            </p:nvSpPr>
            <p:spPr>
              <a:xfrm>
                <a:off x="3175467" y="255553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3971604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Graphic 67">
                <a:extLst>
                  <a:ext uri="{FF2B5EF4-FFF2-40B4-BE49-F238E27FC236}">
                    <a16:creationId xmlns:a16="http://schemas.microsoft.com/office/drawing/2014/main" id="{5B8B6CE0-96F1-FE31-6A30-9D720FFCF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422441" y="2682083"/>
                <a:ext cx="582058" cy="498480"/>
              </a:xfrm>
              <a:prstGeom prst="rect">
                <a:avLst/>
              </a:prstGeom>
            </p:spPr>
          </p:pic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89C0F40-A36E-1F14-8EA9-2B436B82C6AD}"/>
                  </a:ext>
                </a:extLst>
              </p:cNvPr>
              <p:cNvSpPr txBox="1"/>
              <p:nvPr/>
            </p:nvSpPr>
            <p:spPr>
              <a:xfrm>
                <a:off x="3175467" y="3256157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Potential return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2AD63B6-A060-37AC-AE10-A89553C98806}"/>
                </a:ext>
              </a:extLst>
            </p:cNvPr>
            <p:cNvSpPr txBox="1"/>
            <p:nvPr/>
          </p:nvSpPr>
          <p:spPr>
            <a:xfrm>
              <a:off x="4481963" y="3051373"/>
              <a:ext cx="1428296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DF6837"/>
                  </a:solidFill>
                </a:rPr>
                <a:t>Low speed increase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171B44-7D55-3C69-AF53-2A643B381D0B}"/>
                </a:ext>
              </a:extLst>
            </p:cNvPr>
            <p:cNvSpPr txBox="1"/>
            <p:nvPr/>
          </p:nvSpPr>
          <p:spPr>
            <a:xfrm>
              <a:off x="7231430" y="3051373"/>
              <a:ext cx="145747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High speed increase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E83F57-1D7F-B025-D7A5-EA55FD7B6A9D}"/>
              </a:ext>
            </a:extLst>
          </p:cNvPr>
          <p:cNvGrpSpPr/>
          <p:nvPr/>
        </p:nvGrpSpPr>
        <p:grpSpPr>
          <a:xfrm>
            <a:off x="3175467" y="1817344"/>
            <a:ext cx="5513433" cy="988601"/>
            <a:chOff x="3175467" y="1375080"/>
            <a:chExt cx="5513433" cy="988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716B20-B5AF-DC6F-3740-306AD6C65D67}"/>
                </a:ext>
              </a:extLst>
            </p:cNvPr>
            <p:cNvGrpSpPr/>
            <p:nvPr/>
          </p:nvGrpSpPr>
          <p:grpSpPr>
            <a:xfrm>
              <a:off x="3175467" y="1375080"/>
              <a:ext cx="1090012" cy="988601"/>
              <a:chOff x="3175467" y="1375080"/>
              <a:chExt cx="1090012" cy="988601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B2E99E9-6FC9-F31E-927C-6F26B225088A}"/>
                  </a:ext>
                </a:extLst>
              </p:cNvPr>
              <p:cNvSpPr/>
              <p:nvPr/>
            </p:nvSpPr>
            <p:spPr>
              <a:xfrm>
                <a:off x="3175467" y="1375080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B66FF"/>
                  </a:gs>
                  <a:gs pos="50000">
                    <a:srgbClr val="183E98"/>
                  </a:gs>
                  <a:gs pos="100000">
                    <a:srgbClr val="151632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E418F06E-C20B-037A-E6C6-026F0159D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458380" y="1520447"/>
                <a:ext cx="515100" cy="436659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830E433-EC1A-9E7D-C276-49B7EEF215C7}"/>
                  </a:ext>
                </a:extLst>
              </p:cNvPr>
              <p:cNvSpPr txBox="1"/>
              <p:nvPr/>
            </p:nvSpPr>
            <p:spPr>
              <a:xfrm>
                <a:off x="3175467" y="2067739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9000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Portfolio size</a:t>
                </a:r>
              </a:p>
            </p:txBody>
          </p:sp>
        </p:grp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59BC7AE-1850-9CF5-C1C7-5F5104F1B756}"/>
                </a:ext>
              </a:extLst>
            </p:cNvPr>
            <p:cNvSpPr/>
            <p:nvPr/>
          </p:nvSpPr>
          <p:spPr>
            <a:xfrm flipH="1">
              <a:off x="4541614" y="1809446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436FEF-2734-3E85-C550-879300A56BB7}"/>
                </a:ext>
              </a:extLst>
            </p:cNvPr>
            <p:cNvSpPr/>
            <p:nvPr/>
          </p:nvSpPr>
          <p:spPr>
            <a:xfrm>
              <a:off x="4856219" y="1595006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571 PY
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4B64E5A-9179-448E-090A-5864C363F480}"/>
                </a:ext>
              </a:extLst>
            </p:cNvPr>
            <p:cNvSpPr txBox="1"/>
            <p:nvPr/>
          </p:nvSpPr>
          <p:spPr>
            <a:xfrm>
              <a:off x="4481963" y="1818652"/>
              <a:ext cx="591978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67E77F"/>
                  </a:solidFill>
                </a:rPr>
                <a:t>Small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2B9148E-E5DB-E38E-63D0-559E35AAA3C9}"/>
                </a:ext>
              </a:extLst>
            </p:cNvPr>
            <p:cNvSpPr txBox="1"/>
            <p:nvPr/>
          </p:nvSpPr>
          <p:spPr>
            <a:xfrm>
              <a:off x="8107374" y="1818652"/>
              <a:ext cx="581526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E17526"/>
                  </a:solidFill>
                </a:rPr>
                <a:t>Large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5430348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5437576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22899"/>
              </p:ext>
            </p:extLst>
          </p:nvPr>
        </p:nvGraphicFramePr>
        <p:xfrm>
          <a:off x="937766" y="1466791"/>
          <a:ext cx="10316468" cy="173419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integrationtest-airflow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58.3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39.7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+ 84%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36.3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2.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integrationtest-vscode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80.6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26.8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+ 49%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19.6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3.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integrationtest-git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37.4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+ 100%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28.8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4.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integrationtest-kafka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17.3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5.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integrationtest-jruby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35.8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18.5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6.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integrationtest-druid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27.2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1.8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+ 91%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16.4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7.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integrationtest-webpack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11.4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+ 66%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8.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integrationtest-electron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+ 28%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9.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integrationtest-bazel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6.8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+ 49%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10.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integrationtest-facebookyoga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+ 52%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graphicFrame>
        <p:nvGraphicFramePr>
          <p:cNvPr id="8" name="TECHNICAL_DEBT_SYSTEMS_CHART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3346089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MODERNIZATION_SCATTER_PLOT_CHART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1213908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31146</TotalTime>
  <Words>817</Words>
  <Application>Microsoft Macintosh PowerPoint</Application>
  <PresentationFormat>Widescreen</PresentationFormat>
  <Paragraphs>169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259</cp:revision>
  <cp:lastPrinted>2020-07-02T15:41:27Z</cp:lastPrinted>
  <dcterms:created xsi:type="dcterms:W3CDTF">2024-01-03T15:04:34Z</dcterms:created>
  <dcterms:modified xsi:type="dcterms:W3CDTF">2026-03-12T15:45:10Z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