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374" r:id="rId28"/>
    <p:sldId id="11405" r:id="rId29"/>
    <p:sldId id="11406" r:id="rId30"/>
    <p:sldId id="11402" r:id="rId31"/>
    <p:sldId id="11376" r:id="rId32"/>
    <p:sldId id="11284" r:id="rId33"/>
    <p:sldId id="1137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52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50</c:v>
                </c:pt>
                <c:pt idx="8">
                  <c:v>50</c:v>
                </c:pt>
                <c:pt idx="9">
                  <c:v>65</c:v>
                </c:pt>
                <c:pt idx="10">
                  <c:v>50</c:v>
                </c:pt>
                <c:pt idx="11">
                  <c:v>53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33</c:v>
                </c:pt>
                <c:pt idx="2">
                  <c:v>73</c:v>
                </c:pt>
                <c:pt idx="3">
                  <c:v>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</c:v>
                </c:pt>
                <c:pt idx="1">
                  <c:v>66.666666666666657</c:v>
                </c:pt>
                <c:pt idx="2">
                  <c:v>27.272727272727266</c:v>
                </c:pt>
                <c:pt idx="3">
                  <c:v>53.846153846153847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73</c:v>
                </c:pt>
                <c:pt idx="10">
                  <c:v>73</c:v>
                </c:pt>
                <c:pt idx="11">
                  <c:v>73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33</c:v>
                </c:pt>
                <c:pt idx="11">
                  <c:v>41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66.666666666666671</c:v>
                </c:pt>
                <c:pt idx="1">
                  <c:v>46.153846153846153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46.153846153846153</c:v>
                </c:pt>
                <c:pt idx="2">
                  <c:v>66.666666666666671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7.6923076923076925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94.594594594594597</c:v>
                </c:pt>
                <c:pt idx="8">
                  <c:v>94.594594594594597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8.3333333333333339</c:v>
                </c:pt>
                <c:pt idx="8">
                  <c:v>8.3333333333333339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66.666666666666671</c:v>
                </c:pt>
                <c:pt idx="1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91.666666666666671</c:v>
                </c:pt>
                <c:pt idx="8">
                  <c:v>91.666666666666671</c:v>
                </c:pt>
                <c:pt idx="9">
                  <c:v>66.666666666666671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46.153846153846153</c:v>
                </c:pt>
                <c:pt idx="10">
                  <c:v>46.153846153846153</c:v>
                </c:pt>
                <c:pt idx="11">
                  <c:v>46.153846153846153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46.153846153846153</c:v>
                </c:pt>
                <c:pt idx="10">
                  <c:v>53.846153846153847</c:v>
                </c:pt>
                <c:pt idx="11">
                  <c:v>53.846153846153847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7.6923076923076925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92.307692307692307</c:v>
                </c:pt>
                <c:pt idx="8">
                  <c:v>92.307692307692307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66.666666666666671</c:v>
                </c:pt>
                <c:pt idx="10">
                  <c:v>66.666666666666671</c:v>
                </c:pt>
                <c:pt idx="11">
                  <c:v>66.666666666666671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25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8.3333333333333339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8.3333333333333339</c:v>
                </c:pt>
                <c:pt idx="10">
                  <c:v>8.3333333333333339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38% of systems score above market average for Architecture Quality (≥3.5★).</a:t>
            </a:r>
          </a:p>
          <a:p>
            <a:pPr indent="-283845"/>
            <a:r>
              <a:rPr lang="en-US" dirty="0"/>
              <a:t>31% of systems score market average for Architecture Quality (3★).</a:t>
            </a:r>
          </a:p>
          <a:p>
            <a:pPr indent="-283845"/>
            <a:r>
              <a:rPr lang="en-US" dirty="0"/>
              <a:t>31%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826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1271</Words>
  <Application>Microsoft Macintosh PowerPoint</Application>
  <PresentationFormat>Widescreen</PresentationFormat>
  <Paragraphs>263</Paragraphs>
  <Slides>30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2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January 2026 and March 2026</vt:lpstr>
      <vt:lpstr>Progress towards objectives over time</vt:lpstr>
      <vt:lpstr>Progress towards objectives per capability between January 2026 and March 2026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January 2026 and March 2026</vt:lpstr>
      <vt:lpstr>Progress towards objectives per team between January 2026 and March 2026</vt:lpstr>
      <vt:lpstr>Progress towards objectives per capability between January 2026 and March 2026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About 7 (58%) systems score market average on maintainability</vt:lpstr>
      <vt:lpstr>Maintainability Grouped by Lifecycle</vt:lpstr>
      <vt:lpstr>Maintainability Grouped by Deployment Type</vt:lpstr>
      <vt:lpstr>Maintainability Grouped by Business Criticality</vt:lpstr>
      <vt:lpstr>The portfolio's maintainability has increased (with 2.5 to 2.5) during the measured period</vt:lpstr>
      <vt:lpstr>Change in volume (effort) of the portfolio between 11 January 2026 and 8 March 2026</vt:lpstr>
      <vt:lpstr>Test-to-production code ratios of the portfolio between 11 January 2026 and 8 March 2026</vt:lpstr>
      <vt:lpstr>Change in test-to-production code ratios of the portfolio between 11 January 2026 and 8 March 2026</vt:lpstr>
      <vt:lpstr>Architecture ratings of the portfolio between 11 January 2026 and 8 March 2026</vt:lpstr>
      <vt:lpstr>Open-source health ratings of the portfolio between 11 January 2026 and 8 March 2026</vt:lpstr>
      <vt:lpstr>Overall Open Source Health Library Risks Overview</vt:lpstr>
      <vt:lpstr>Security ratings of the portfolio between 11 January 2026 and 8 March 2026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Floris van Leeuwen</cp:lastModifiedBy>
  <cp:revision>169</cp:revision>
  <cp:lastPrinted>2020-04-20T09:37:43Z</cp:lastPrinted>
  <dcterms:created xsi:type="dcterms:W3CDTF">2025-10-22T11:22:13Z</dcterms:created>
  <dcterms:modified xsi:type="dcterms:W3CDTF">2026-03-20T14:29:17Z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