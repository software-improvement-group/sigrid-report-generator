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10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4"/>
  </p:notesMasterIdLst>
  <p:handoutMasterIdLst>
    <p:handoutMasterId r:id="rId45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84" r:id="rId32"/>
    <p:sldId id="11374" r:id="rId33"/>
    <p:sldId id="11405" r:id="rId34"/>
    <p:sldId id="11406" r:id="rId35"/>
    <p:sldId id="11402" r:id="rId36"/>
    <p:sldId id="11376" r:id="rId37"/>
    <p:sldId id="11284" r:id="rId38"/>
    <p:sldId id="11377" r:id="rId39"/>
    <p:sldId id="11415" r:id="rId40"/>
    <p:sldId id="11416" r:id="rId41"/>
    <p:sldId id="11417" r:id="rId42"/>
    <p:sldId id="114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0"/>
    <p:restoredTop sz="96763"/>
  </p:normalViewPr>
  <p:slideViewPr>
    <p:cSldViewPr snapToGrid="0" snapToObjects="1" showGuides="1">
      <p:cViewPr varScale="1">
        <p:scale>
          <a:sx n="160" d="100"/>
          <a:sy n="160" d="100"/>
        </p:scale>
        <p:origin x="224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7</c:v>
                </c:pt>
                <c:pt idx="31">
                  <c:v>0</c:v>
                </c:pt>
                <c:pt idx="32">
                  <c:v>0</c:v>
                </c:pt>
                <c:pt idx="33">
                  <c:v>334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22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15</c:v>
                </c:pt>
                <c:pt idx="28">
                  <c:v>0</c:v>
                </c:pt>
                <c:pt idx="29">
                  <c:v>0</c:v>
                </c:pt>
                <c:pt idx="30">
                  <c:v>22</c:v>
                </c:pt>
                <c:pt idx="31">
                  <c:v>0</c:v>
                </c:pt>
                <c:pt idx="32">
                  <c:v>0</c:v>
                </c:pt>
                <c:pt idx="33">
                  <c:v>356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0</c:v>
                </c:pt>
                <c:pt idx="29">
                  <c:v>0</c:v>
                </c:pt>
                <c:pt idx="30">
                  <c:v>29</c:v>
                </c:pt>
                <c:pt idx="31">
                  <c:v>0</c:v>
                </c:pt>
                <c:pt idx="32">
                  <c:v>0</c:v>
                </c:pt>
                <c:pt idx="33">
                  <c:v>2003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15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9</c:v>
                </c:pt>
                <c:pt idx="29">
                  <c:v>0</c:v>
                </c:pt>
                <c:pt idx="30">
                  <c:v>0</c:v>
                </c:pt>
                <c:pt idx="31">
                  <c:v>11</c:v>
                </c:pt>
                <c:pt idx="32">
                  <c:v>0</c:v>
                </c:pt>
                <c:pt idx="33">
                  <c:v>0</c:v>
                </c:pt>
                <c:pt idx="3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22</c:v>
                </c:pt>
                <c:pt idx="28">
                  <c:v>9</c:v>
                </c:pt>
                <c:pt idx="29">
                  <c:v>0</c:v>
                </c:pt>
                <c:pt idx="30">
                  <c:v>44</c:v>
                </c:pt>
                <c:pt idx="31">
                  <c:v>11</c:v>
                </c:pt>
                <c:pt idx="32">
                  <c:v>0</c:v>
                </c:pt>
                <c:pt idx="33">
                  <c:v>2041</c:v>
                </c:pt>
                <c:pt idx="34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0</c:v>
                </c:pt>
                <c:pt idx="29">
                  <c:v>0</c:v>
                </c:pt>
                <c:pt idx="30">
                  <c:v>23</c:v>
                </c:pt>
                <c:pt idx="31">
                  <c:v>0</c:v>
                </c:pt>
                <c:pt idx="32">
                  <c:v>0</c:v>
                </c:pt>
                <c:pt idx="33">
                  <c:v>1188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25</c:v>
                </c:pt>
                <c:pt idx="31">
                  <c:v>0</c:v>
                </c:pt>
                <c:pt idx="32">
                  <c:v>0</c:v>
                </c:pt>
                <c:pt idx="33">
                  <c:v>38</c:v>
                </c:pt>
                <c:pt idx="3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2</c:v>
                </c:pt>
                <c:pt idx="29">
                  <c:v>0</c:v>
                </c:pt>
                <c:pt idx="30">
                  <c:v>0</c:v>
                </c:pt>
                <c:pt idx="31">
                  <c:v>1</c:v>
                </c:pt>
                <c:pt idx="32">
                  <c:v>0</c:v>
                </c:pt>
                <c:pt idx="33">
                  <c:v>0</c:v>
                </c:pt>
                <c:pt idx="3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Sheet1!$A$2:$A$36</c:f>
              <c:strCache>
                <c:ptCount val="35"/>
                <c:pt idx="0">
                  <c:v>Apr</c:v>
                </c:pt>
                <c:pt idx="1">
                  <c:v/>
                </c:pt>
                <c:pt idx="2">
                  <c:v/>
                </c:pt>
                <c:pt idx="3">
                  <c:v>May</c:v>
                </c:pt>
                <c:pt idx="4">
                  <c:v/>
                </c:pt>
                <c:pt idx="5">
                  <c:v/>
                </c:pt>
                <c:pt idx="6">
                  <c:v>Jun</c:v>
                </c:pt>
                <c:pt idx="7">
                  <c:v/>
                </c:pt>
                <c:pt idx="8">
                  <c:v/>
                </c:pt>
                <c:pt idx="9">
                  <c:v>Jul</c:v>
                </c:pt>
                <c:pt idx="10">
                  <c:v/>
                </c:pt>
                <c:pt idx="11">
                  <c:v/>
                </c:pt>
                <c:pt idx="12">
                  <c:v>Aug</c:v>
                </c:pt>
                <c:pt idx="13">
                  <c:v/>
                </c:pt>
                <c:pt idx="14">
                  <c:v/>
                </c:pt>
                <c:pt idx="15">
                  <c:v>Sep</c:v>
                </c:pt>
                <c:pt idx="16">
                  <c:v/>
                </c:pt>
                <c:pt idx="17">
                  <c:v/>
                </c:pt>
                <c:pt idx="18">
                  <c:v>Oct</c:v>
                </c:pt>
                <c:pt idx="19">
                  <c:v/>
                </c:pt>
                <c:pt idx="20">
                  <c:v/>
                </c:pt>
                <c:pt idx="21">
                  <c:v>Nov</c:v>
                </c:pt>
                <c:pt idx="22">
                  <c:v/>
                </c:pt>
                <c:pt idx="23">
                  <c:v/>
                </c:pt>
                <c:pt idx="24">
                  <c:v>Dec</c:v>
                </c:pt>
                <c:pt idx="25">
                  <c:v/>
                </c:pt>
                <c:pt idx="26">
                  <c:v/>
                </c:pt>
                <c:pt idx="27">
                  <c:v>Jan</c:v>
                </c:pt>
                <c:pt idx="28">
                  <c:v/>
                </c:pt>
                <c:pt idx="29">
                  <c:v/>
                </c:pt>
                <c:pt idx="30">
                  <c:v>Feb</c:v>
                </c:pt>
                <c:pt idx="31">
                  <c:v/>
                </c:pt>
                <c:pt idx="32">
                  <c:v/>
                </c:pt>
                <c:pt idx="33">
                  <c:v>Mar</c:v>
                </c:pt>
                <c:pt idx="34">
                  <c:v/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26</c:v>
                </c:pt>
                <c:pt idx="28">
                  <c:v>2</c:v>
                </c:pt>
                <c:pt idx="29">
                  <c:v>0</c:v>
                </c:pt>
                <c:pt idx="30">
                  <c:v>48</c:v>
                </c:pt>
                <c:pt idx="31">
                  <c:v>1</c:v>
                </c:pt>
                <c:pt idx="32">
                  <c:v>0</c:v>
                </c:pt>
                <c:pt idx="33">
                  <c:v>1226</c:v>
                </c:pt>
                <c:pt idx="34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7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7 and 14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30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14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5</c:v>
                </c:pt>
                <c:pt idx="10">
                  <c:v>3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14 and 30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4</c:v>
                </c:pt>
                <c:pt idx="10">
                  <c:v>7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180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</c:v>
                </c:pt>
                <c:pt idx="10">
                  <c:v>11</c:v>
                </c:pt>
                <c:pt idx="11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most 30 days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between 30 and 180 days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between 180 and 270 days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at least 270 days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Sheet1!$F$1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</c:v>
                </c:pt>
                <c:pt idx="10">
                  <c:v>1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2.xml"/><Relationship Id="rId3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svg"/><Relationship Id="rId4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svg"/><Relationship Id="rId4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svg"/><Relationship Id="rId4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svg"/><Relationship Id="rId4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tiff"/><Relationship Id="rId4" Type="http://schemas.openxmlformats.org/officeDocument/2006/relationships/chart" Target="../charts/chart16.xml"/><Relationship Id="rId5" Type="http://schemas.openxmlformats.org/officeDocument/2006/relationships/image" Target="../media/image12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5.png"/><Relationship Id="rId4" Type="http://schemas.openxmlformats.org/officeDocument/2006/relationships/image" Target="../media/image21.png"/><Relationship Id="rId5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svg"/><Relationship Id="rId4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sv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1.xml"/><Relationship Id="rId4" Type="http://schemas.openxmlformats.org/officeDocument/2006/relationships/chart" Target="../charts/chart22.xml"/><Relationship Id="rId5" Type="http://schemas.openxmlformats.org/officeDocument/2006/relationships/chart" Target="../charts/chart23.xml"/><Relationship Id="rId6" Type="http://schemas.openxmlformats.org/officeDocument/2006/relationships/chart" Target="../charts/chart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svg"/><Relationship Id="rId3" Type="http://schemas.openxmlformats.org/officeDocument/2006/relationships/chart" Target="../charts/chart28.xml"/><Relationship Id="rId4" Type="http://schemas.openxmlformats.org/officeDocument/2006/relationships/chart" Target="../charts/chart29.xml"/><Relationship Id="rId5" Type="http://schemas.openxmlformats.org/officeDocument/2006/relationships/chart" Target="../charts/char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46F1-4C2E-3E8E-B8CF-472DCCEA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F309309-A96C-94CD-FD90-AEC66468BD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AC8139-63F5-DD9B-84D1-A0E0FE1373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DACB4F8-DCF6-6037-2620-E3F7A90BD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delta quality ratings of the portfolio between 11 January 2026 and 8 March 2026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59FE4D2-6709-94D1-92D9-43374854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673761-5FC2-9029-6267-B19DD2C2F08B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242F203-49FD-78B9-B03E-4B9D44080378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7BC1B3-A2C3-BB29-2484-DB2065CFD8C1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FA531F56-1E0E-6966-F40D-82C11CD93C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695109-2321-E534-0496-0ADC19043553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620934-284F-2137-983F-DA633CD4E2E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435BBC8-9793-F0F4-6F77-AC9C450E21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19A2AF-EE85-F130-2282-3114CACC0253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5B8074A-2CFD-EC0C-FB62-DDD31D98A52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9DA4B9E-871A-CA27-7E89-0340C130DD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1B07BA2-B357-2D15-D5DF-CA3BD8F33EB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3C6C928-3648-4252-D644-F64A97E52B4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CD3E39B9-2702-25B6-A505-D5656EBFEB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DE2C6F-AEEE-26B4-005C-17E9581A5312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01A3FAA-9759-8285-2BDD-A70A6DD18FC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A12D9BB-7561-E3D0-BCAD-DE466F39D2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CC2EDDF-C97F-C25E-F440-BBC1D7D1DC85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73620C-AE1D-DD22-A4B2-1F42A19EE0DC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/>
              <a:t>Changed</a:t>
            </a:r>
            <a:r>
              <a:rPr lang="en-GB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9C04E7-0175-768A-89BA-8351440D4908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600" b="1" dirty="0">
                <a:solidFill>
                  <a:schemeClr val="tx1"/>
                </a:solidFill>
              </a:rPr>
              <a:t>New and changed code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35B06959-AA64-6199-960B-820EF741F6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499" y="1838036"/>
            <a:ext cx="3847501" cy="4145376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0" y="1838036"/>
            <a:ext cx="3847501" cy="4145376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248" y="1838036"/>
            <a:ext cx="3847501" cy="414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802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(-2.3%).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(+3.9%).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33% of systems score above market average for Architecture Quality (≥3.5★).</a:t>
            </a:r>
          </a:p>
          <a:p>
            <a:pPr indent="-283845"/>
            <a:r>
              <a:rPr lang="en-US" dirty="0"/>
              <a:t>33% of systems score market average for Architecture Quality (3★).</a:t>
            </a:r>
          </a:p>
          <a:p>
            <a:pPr indent="-283845"/>
            <a:r>
              <a:rPr lang="en-US" dirty="0"/>
              <a:t>33% of systems score below market average for Architecture Quality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251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158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855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174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1.8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8% of systems score above market average for Security (≥3.5★).</a:t>
            </a:r>
          </a:p>
          <a:p>
            <a:pPr indent="-283845"/>
            <a:r>
              <a:rPr lang="en-US" dirty="0"/>
              <a:t>25% of systems score market average for Security (3★).</a:t>
            </a:r>
          </a:p>
          <a:p>
            <a:pPr indent="-283845"/>
            <a:r>
              <a:rPr lang="en-US" dirty="0"/>
              <a:t>67% of systems score below market average for Security(≤2.5★).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2025-04-01, 0 critical security findings have been resolved while 356 new critical findings were discovered. Overall, there has been an increase in critical security findings of 356.</a:t>
            </a:r>
          </a:p>
          <a:p>
            <a:pPr indent="-283845"/>
            <a:r>
              <a:rPr lang="en-GB" sz="1550" dirty="0"/>
              <a:t>Of the resolved critical findings, most were resolved in at most 7 days (0 findings). 0 findings were resolved within the recommended 7 days while 0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2025-04-01, 26 high security findings have been resolved while 2054 new high findings were discovered. Overall, there has been an increase in high security findings of 2028.</a:t>
            </a:r>
          </a:p>
          <a:p>
            <a:pPr indent="-283845"/>
            <a:r>
              <a:rPr lang="en-GB" sz="1550" dirty="0"/>
              <a:t>Of the resolved high findings, most were resolved in between 14 and 30 days (11 findings). 8 findings were resolved within the recommended 14 days while 0 were resolved after 180 days or more. </a:t>
            </a:r>
          </a:p>
          <a:p>
            <a:pPr indent="-283845"/>
            <a:r>
              <a:rPr lang="en-GB" sz="1550" dirty="0"/>
              <a:t>13 medium security findings have been resolved while 1237 new medium findings were discovered. Overall, there has been an increase in medium security findings of 1224.</a:t>
            </a:r>
          </a:p>
          <a:p>
            <a:pPr indent="-283845"/>
            <a:r>
              <a:rPr lang="en-GB" sz="1550" dirty="0"/>
              <a:t>Of the resolved medium findings, most were resolved in at most 30 days (2 findings). 2 findings were resolved within the recommended 30 days while 0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8 March 2026)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18339</TotalTime>
  <Words>2655</Words>
  <Application>Microsoft Macintosh PowerPoint</Application>
  <PresentationFormat>Widescreen</PresentationFormat>
  <Paragraphs>415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199</cp:revision>
  <cp:lastPrinted>2020-04-20T09:37:43Z</cp:lastPrinted>
  <dcterms:created xsi:type="dcterms:W3CDTF">2025-10-22T11:22:13Z</dcterms:created>
  <dcterms:modified xsi:type="dcterms:W3CDTF">2026-05-19T13:01:11Z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