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1403" r:id="rId27"/>
    <p:sldId id="11404" r:id="rId28"/>
    <p:sldId id="11387" r:id="rId29"/>
    <p:sldId id="11384" r:id="rId30"/>
    <p:sldId id="11374" r:id="rId31"/>
    <p:sldId id="11405" r:id="rId32"/>
    <p:sldId id="11406" r:id="rId33"/>
    <p:sldId id="11402" r:id="rId34"/>
    <p:sldId id="11376" r:id="rId35"/>
    <p:sldId id="11284" r:id="rId36"/>
    <p:sldId id="11377" r:id="rId37"/>
    <p:sldId id="11415" r:id="rId38"/>
    <p:sldId id="11416" r:id="rId39"/>
    <p:sldId id="11417" r:id="rId40"/>
    <p:sldId id="11418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18"/>
    <p:restoredTop sz="96763"/>
  </p:normalViewPr>
  <p:slideViewPr>
    <p:cSldViewPr snapToGrid="0" snapToObjects="1" showGuides="1">
      <p:cViewPr>
        <p:scale>
          <a:sx n="95" d="100"/>
          <a:sy n="95" d="100"/>
        </p:scale>
        <p:origin x="2136" y="8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50</c:v>
                </c:pt>
                <c:pt idx="8">
                  <c:v>50</c:v>
                </c:pt>
                <c:pt idx="9">
                  <c:v>65</c:v>
                </c:pt>
                <c:pt idx="10">
                  <c:v>50</c:v>
                </c:pt>
                <c:pt idx="11">
                  <c:v>53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33</c:v>
                </c:pt>
                <c:pt idx="2">
                  <c:v>73</c:v>
                </c:pt>
                <c:pt idx="3">
                  <c:v>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</c:v>
                </c:pt>
                <c:pt idx="1">
                  <c:v>66.666666666666657</c:v>
                </c:pt>
                <c:pt idx="2">
                  <c:v>27.272727272727266</c:v>
                </c:pt>
                <c:pt idx="3">
                  <c:v>53.846153846153847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46</c:v>
                </c:pt>
                <c:pt idx="10">
                  <c:v>46</c:v>
                </c:pt>
                <c:pt idx="11">
                  <c:v>46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73</c:v>
                </c:pt>
                <c:pt idx="10">
                  <c:v>73</c:v>
                </c:pt>
                <c:pt idx="11">
                  <c:v>73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33</c:v>
                </c:pt>
                <c:pt idx="11">
                  <c:v>41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66.666666666666671</c:v>
                </c:pt>
                <c:pt idx="1">
                  <c:v>46.153846153846153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46.153846153846153</c:v>
                </c:pt>
                <c:pt idx="2">
                  <c:v>66.666666666666671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8.3333333333333339</c:v>
                </c:pt>
                <c:pt idx="1">
                  <c:v>7.6923076923076925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8.3333333333333339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5.4054054054054053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94.594594594594597</c:v>
                </c:pt>
                <c:pt idx="8">
                  <c:v>94.594594594594597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8.3333333333333339</c:v>
                </c:pt>
                <c:pt idx="8">
                  <c:v>8.3333333333333339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8.3333333333333339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66.666666666666671</c:v>
                </c:pt>
                <c:pt idx="11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91.666666666666671</c:v>
                </c:pt>
                <c:pt idx="8">
                  <c:v>91.666666666666671</c:v>
                </c:pt>
                <c:pt idx="9">
                  <c:v>66.666666666666671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46.153846153846153</c:v>
                </c:pt>
                <c:pt idx="10">
                  <c:v>46.153846153846153</c:v>
                </c:pt>
                <c:pt idx="11">
                  <c:v>46.153846153846153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46.153846153846153</c:v>
                </c:pt>
                <c:pt idx="10">
                  <c:v>53.846153846153847</c:v>
                </c:pt>
                <c:pt idx="11">
                  <c:v>53.846153846153847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7.6923076923076925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92.307692307692307</c:v>
                </c:pt>
                <c:pt idx="8">
                  <c:v>92.307692307692307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66.666666666666671</c:v>
                </c:pt>
                <c:pt idx="10">
                  <c:v>66.666666666666671</c:v>
                </c:pt>
                <c:pt idx="11">
                  <c:v>66.666666666666671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8.3333333333333339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25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8.3333333333333339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8.3333333333333339</c:v>
                </c:pt>
                <c:pt idx="10">
                  <c:v>8.3333333333333339</c:v>
                </c:pt>
                <c:pt idx="11">
                  <c:v>8.3333333333333339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79</c:v>
                </c:pt>
                <c:pt idx="1">
                  <c:v>0</c:v>
                </c:pt>
                <c:pt idx="2">
                  <c:v>0</c:v>
                </c:pt>
                <c:pt idx="3">
                  <c:v>122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93</c:v>
                </c:pt>
                <c:pt idx="3">
                  <c:v>102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93</c:v>
                </c:pt>
                <c:pt idx="1">
                  <c:v>0</c:v>
                </c:pt>
                <c:pt idx="2">
                  <c:v>0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18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27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33</c:v>
                </c:pt>
                <c:pt idx="31">
                  <c:v>11</c:v>
                </c:pt>
                <c:pt idx="32">
                  <c:v>0</c:v>
                </c:pt>
                <c:pt idx="33">
                  <c:v>2030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1185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1223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18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27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33</c:v>
                </c:pt>
                <c:pt idx="31">
                  <c:v>11</c:v>
                </c:pt>
                <c:pt idx="32">
                  <c:v>0</c:v>
                </c:pt>
                <c:pt idx="33">
                  <c:v>2030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1185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3">
                  <c:v>May</c:v>
                </c:pt>
                <c:pt idx="6">
                  <c:v>Jun</c:v>
                </c:pt>
                <c:pt idx="9">
                  <c:v>Jul</c:v>
                </c:pt>
                <c:pt idx="12">
                  <c:v>Aug</c:v>
                </c:pt>
                <c:pt idx="15">
                  <c:v>Sep</c:v>
                </c:pt>
                <c:pt idx="18">
                  <c:v>Oct</c:v>
                </c:pt>
                <c:pt idx="21">
                  <c:v>Nov</c:v>
                </c:pt>
                <c:pt idx="24">
                  <c:v>Dec</c:v>
                </c:pt>
                <c:pt idx="27">
                  <c:v>Jan</c:v>
                </c:pt>
                <c:pt idx="30">
                  <c:v>Feb</c:v>
                </c:pt>
                <c:pt idx="33">
                  <c:v>Mar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1223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chart" Target="../charts/chart18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3.xml"/><Relationship Id="rId5" Type="http://schemas.openxmlformats.org/officeDocument/2006/relationships/chart" Target="../charts/chart22.xml"/><Relationship Id="rId4" Type="http://schemas.openxmlformats.org/officeDocument/2006/relationships/chart" Target="../charts/chart2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4.xm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6.xml"/><Relationship Id="rId4" Type="http://schemas.openxmlformats.org/officeDocument/2006/relationships/chart" Target="../charts/chart2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9.xml"/><Relationship Id="rId4" Type="http://schemas.openxmlformats.org/officeDocument/2006/relationships/chart" Target="../charts/char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portfolio's maintainability has increased (with 2.5 to 2.5) during the measured period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maintainability. 0%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1F98-52B8-0076-76CB-238BEE6E686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2026-01-11 and 2026-03-08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74C2F-D188-5116-64A1-84C15F30C53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2026-01-11 and 2026-03-08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46F1-4C2E-3E8E-B8CF-472DCCEA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309309-A96C-94CD-FD90-AEC66468BD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77DDD-2A9C-A11A-BCC8-78FB2B6B00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C8139-63F5-DD9B-84D1-A0E0FE1373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ACB4F8-DCF6-6037-2620-E3F7A90BD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delta quality ratings of the portfolio between 2026-01-11 and 2026-03-08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59FE4D2-6709-94D1-92D9-433748541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673761-5FC2-9029-6267-B19DD2C2F0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42F203-49FD-78B9-B03E-4B9D44080378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7BC1B3-A2C3-BB29-2484-DB2065CFD8C1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531F56-1E0E-6966-F40D-82C11CD93C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695109-2321-E534-0496-0ADC19043553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620934-284F-2137-983F-DA633CD4E2E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435BBC8-9793-F0F4-6F77-AC9C450E21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19A2AF-EE85-F130-2282-3114CACC0253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5B8074A-2CFD-EC0C-FB62-DDD31D98A52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9DA4B9E-871A-CA27-7E89-0340C130DD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B07BA2-B357-2D15-D5DF-CA3BD8F33EB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6C928-3648-4252-D644-F64A97E52B4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D3E39B9-2702-25B6-A505-D5656EBFEB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DE2C6F-AEEE-26B4-005C-17E9581A5312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1A3FAA-9759-8285-2BDD-A70A6DD18FC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A12D9BB-7561-E3D0-BCAD-DE466F39D2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CC2EDDF-C97F-C25E-F440-BBC1D7D1DC85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3620C-AE1D-DD22-A4B2-1F42A19EE0DC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/>
              <a:t>Changed</a:t>
            </a:r>
            <a:r>
              <a:rPr lang="en-GB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9C04E7-0175-768A-89BA-8351440D4908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and changed code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499" y="1838036"/>
            <a:ext cx="3847501" cy="4145376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2248" y="1838036"/>
            <a:ext cx="3847501" cy="4145376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000" y="1838036"/>
            <a:ext cx="3847501" cy="414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802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2026-01-11 and 2026-03-08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2026-01-11 and 2026-03-08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2026-01-11 and 2026-03-08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(-2.4%).</a:t>
            </a:r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(+3.3%).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2026-01-11 and 2026-03-08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38% of systems score above market average for Architecture Quality (≥3.5★).</a:t>
            </a:r>
          </a:p>
          <a:p>
            <a:pPr indent="-283845"/>
            <a:r>
              <a:rPr lang="en-US" dirty="0"/>
              <a:t>31% of systems score market average for Architecture Quality (3★).</a:t>
            </a:r>
          </a:p>
          <a:p>
            <a:pPr indent="-283845"/>
            <a:r>
              <a:rPr lang="en-US" dirty="0"/>
              <a:t>31% of systems score below market average for Architecture Quality 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2026-01-11 and 2026-03-08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58% of systems score above market average for Open Source Health (≥3.5★).</a:t>
            </a:r>
          </a:p>
          <a:p>
            <a:pPr indent="-283845"/>
            <a:r>
              <a:rPr lang="en-US" dirty="0"/>
              <a:t>33% of systems score market average for Open Source Health (3★).</a:t>
            </a:r>
          </a:p>
          <a:p>
            <a:pPr indent="-283845"/>
            <a:r>
              <a:rPr lang="en-US" dirty="0"/>
              <a:t>8% of systems score below market average for Open Source Health (≤2.5★).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3% of dependencies (40 in total) used in the system contain one or more known vulnerabilities.</a:t>
            </a:r>
          </a:p>
          <a:p>
            <a:r>
              <a:rPr lang="en-US" dirty="0"/>
              <a:t>1% of dependencies (5 in total) uses a potentially restrictive open-source license (e.g. GPL/AGPL).</a:t>
            </a:r>
          </a:p>
          <a:p>
            <a:r>
              <a:rPr lang="en-US" dirty="0"/>
              <a:t>12% of dependencies (190 in total) used in the system have not been updated for over 2 years.</a:t>
            </a:r>
          </a:p>
          <a:p>
            <a:r>
              <a:rPr lang="en-US" dirty="0"/>
              <a:t>6% of dependencies (93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1529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91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243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154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826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167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32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13050122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2026-01-11 and 2026-03-08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2.0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17%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50% of systems score below market average for Security(≤2.5★).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Critical findings trends of the last 12 months (ending at 2025-12-31)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2025-01-01, 675 critical security findings have been resolved while 731 new critical findings were discovered. Overall, there has been an increase in critical security findings of 56.</a:t>
            </a:r>
          </a:p>
          <a:p>
            <a:pPr indent="-283845"/>
            <a:r>
              <a:rPr lang="en-GB" sz="1550" dirty="0"/>
              <a:t>Of the resolved critical findings, most were resolved in at least 30 days (518 findings). 37 findings were resolved within the recommended 7 days while 518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5211144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9514578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resolution times of the portfolio of the last 12 months (ending at 2026-03-08)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2025-04-01, 26 high security findings have been resolved while 2043 new high findings were discovered. Overall, there has been an increase in high security findings of 2017.</a:t>
            </a:r>
          </a:p>
          <a:p>
            <a:pPr indent="-283845"/>
            <a:r>
              <a:rPr lang="en-GB" sz="1550" dirty="0"/>
              <a:t>Of the resolved high findings, most were resolved in between 14 and 30 days (11 findings). 8 findings were resolved within the recommended 14 days while 0 were resolved after 180 days or more. </a:t>
            </a:r>
          </a:p>
          <a:p>
            <a:pPr indent="-283845"/>
            <a:r>
              <a:rPr lang="en-GB" sz="1550" dirty="0"/>
              <a:t>13 medium security findings have been resolved while 1234 new medium findings were discovered. Overall, there has been an increase in medium security findings of 1221.</a:t>
            </a:r>
          </a:p>
          <a:p>
            <a:pPr indent="-283845"/>
            <a:r>
              <a:rPr lang="en-GB" sz="1550" dirty="0"/>
              <a:t>Of the resolved medium findings, most were resolved in at most 30 days (2 findings). 2 findings were resolved within the recommended 30 days while 0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2026-03-08)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2026-03-08)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11111</TotalTime>
  <Words>1703</Words>
  <Application>Microsoft Macintosh PowerPoint</Application>
  <PresentationFormat>Widescreen</PresentationFormat>
  <Paragraphs>337</Paragraphs>
  <Slides>37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January 2026 and March 2026</vt:lpstr>
      <vt:lpstr>Progress towards objectives over time</vt:lpstr>
      <vt:lpstr>Progress towards objectives per capability between January 2026 and March 2026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January 2026 and March 2026</vt:lpstr>
      <vt:lpstr>Progress towards objectives per team between January 2026 and March 2026</vt:lpstr>
      <vt:lpstr>Progress towards objectives per capability between January 2026 and March 2026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About 7 (58%) systems score market average on maintainability</vt:lpstr>
      <vt:lpstr>Maintainability Grouped by Lifecycle</vt:lpstr>
      <vt:lpstr>Maintainability Grouped by Deployment Type</vt:lpstr>
      <vt:lpstr>Maintainability Grouped by Business Criticality</vt:lpstr>
      <vt:lpstr>The portfolio's maintainability has increased (with 2.5 to 2.5) during the measured period</vt:lpstr>
      <vt:lpstr>Maintainability ratings of newly written code between 2026-01-11 and 2026-03-08</vt:lpstr>
      <vt:lpstr>Maintainability ratings of changed code between 2026-01-11 and 2026-03-08</vt:lpstr>
      <vt:lpstr>Maintainability delta quality ratings of the portfolio between 2026-01-11 and 2026-03-08</vt:lpstr>
      <vt:lpstr>Change in volume (effort) of the portfolio between 2026-01-11 and 2026-03-08</vt:lpstr>
      <vt:lpstr>Test-to-production code ratios of the portfolio between 2026-01-11 and 2026-03-08</vt:lpstr>
      <vt:lpstr>Change in test-to-production code ratios of the portfolio between 2026-01-11 and 2026-03-08</vt:lpstr>
      <vt:lpstr>Architecture ratings of the portfolio between 2026-01-11 and 2026-03-08</vt:lpstr>
      <vt:lpstr>Open-source health ratings of the portfolio between 2026-01-11 and 2026-03-08</vt:lpstr>
      <vt:lpstr>Overall Open Source Health Library Risks Overview</vt:lpstr>
      <vt:lpstr>Security ratings of the portfolio between 2026-01-11 and 2026-03-08</vt:lpstr>
      <vt:lpstr>Critical findings trends of the last 12 months (ending at 2025-12-31)</vt:lpstr>
      <vt:lpstr>Security resolution times of the portfolio of the last 12 months (ending at 2026-03-08)</vt:lpstr>
      <vt:lpstr>Security findings of the portfolio of the last 12 months (ending at 2026-03-08)</vt:lpstr>
      <vt:lpstr>Security findings of the portfolio of the last 12 months (ending at 2026-03-08)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Floris van Leeuwen</cp:lastModifiedBy>
  <cp:revision>156</cp:revision>
  <cp:lastPrinted>2020-04-20T09:37:43Z</cp:lastPrinted>
  <dcterms:created xsi:type="dcterms:W3CDTF">2025-10-22T11:22:13Z</dcterms:created>
  <dcterms:modified xsi:type="dcterms:W3CDTF">2026-03-20T13:57:07Z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