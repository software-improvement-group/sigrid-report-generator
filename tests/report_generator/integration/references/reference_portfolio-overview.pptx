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30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30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5"/>
  </p:notesMasterIdLst>
  <p:handoutMasterIdLst>
    <p:handoutMasterId r:id="rId46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74" r:id="rId32"/>
    <p:sldId id="11405" r:id="rId33"/>
    <p:sldId id="11419" r:id="rId34"/>
    <p:sldId id="11406" r:id="rId35"/>
    <p:sldId id="11402" r:id="rId36"/>
    <p:sldId id="11376" r:id="rId37"/>
    <p:sldId id="11284" r:id="rId38"/>
    <p:sldId id="11377" r:id="rId39"/>
    <p:sldId id="11421" r:id="rId40"/>
    <p:sldId id="11415" r:id="rId41"/>
    <p:sldId id="11416" r:id="rId42"/>
    <p:sldId id="11417" r:id="rId43"/>
    <p:sldId id="11418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46" Type="http://schemas.openxmlformats.org/officeDocument/2006/relationships/handoutMaster" Target="handoutMasters/handout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Relationship Id="rId51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microsoft.com/office/2011/relationships/chartStyle" Target="style21.xml"/><Relationship Id="rId2" Type="http://schemas.microsoft.com/office/2011/relationships/chartColorStyle" Target="colors21.xml"/><Relationship Id="rId3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microsoft.com/office/2011/relationships/chartStyle" Target="style22.xml"/><Relationship Id="rId2" Type="http://schemas.microsoft.com/office/2011/relationships/chartColorStyle" Target="colors22.xml"/><Relationship Id="rId3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<Relationship Id="rId3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microsoft.com/office/2011/relationships/chartStyle" Target="style24.xml"/><Relationship Id="rId2" Type="http://schemas.microsoft.com/office/2011/relationships/chartColorStyle" Target="colors24.xml"/><Relationship Id="rId3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microsoft.com/office/2011/relationships/chartStyle" Target="style25.xml"/><Relationship Id="rId2" Type="http://schemas.microsoft.com/office/2011/relationships/chartColorStyle" Target="colors25.xml"/><Relationship Id="rId3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microsoft.com/office/2011/relationships/chartStyle" Target="style26.xml"/><Relationship Id="rId2" Type="http://schemas.microsoft.com/office/2011/relationships/chartColorStyle" Target="colors26.xml"/><Relationship Id="rId3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microsoft.com/office/2011/relationships/chartStyle" Target="style27.xml"/><Relationship Id="rId2" Type="http://schemas.microsoft.com/office/2011/relationships/chartColorStyle" Target="colors27.xml"/><Relationship Id="rId3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microsoft.com/office/2011/relationships/chartStyle" Target="style28.xml"/><Relationship Id="rId2" Type="http://schemas.microsoft.com/office/2011/relationships/chartColorStyle" Target="colors28.xml"/><Relationship Id="rId3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microsoft.com/office/2011/relationships/chartStyle" Target="style29.xml"/><Relationship Id="rId2" Type="http://schemas.microsoft.com/office/2011/relationships/chartColorStyle" Target="colors29.xml"/><Relationship Id="rId3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microsoft.com/office/2011/relationships/chartStyle" Target="style30.xml"/><Relationship Id="rId2" Type="http://schemas.microsoft.com/office/2011/relationships/chartColorStyle" Target="colors30.xml"/><Relationship Id="rId3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50.0</c:v>
                </c:pt>
                <c:pt idx="8">
                  <c:v>50.0</c:v>
                </c:pt>
                <c:pt idx="9">
                  <c:v>65.0</c:v>
                </c:pt>
                <c:pt idx="10">
                  <c:v>50.0</c:v>
                </c:pt>
                <c:pt idx="11">
                  <c:v>53.0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33.0</c:v>
                </c:pt>
                <c:pt idx="2">
                  <c:v>73.0</c:v>
                </c:pt>
                <c:pt idx="3">
                  <c:v>46.0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100.0</c:v>
                </c:pt>
                <c:pt idx="1">
                  <c:v>66.66666666666666</c:v>
                </c:pt>
                <c:pt idx="2">
                  <c:v>27.272727272727266</c:v>
                </c:pt>
                <c:pt idx="3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46.0</c:v>
                </c:pt>
                <c:pt idx="10">
                  <c:v>46.0</c:v>
                </c:pt>
                <c:pt idx="11">
                  <c:v>46.0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73.0</c:v>
                </c:pt>
                <c:pt idx="10">
                  <c:v>73.0</c:v>
                </c:pt>
                <c:pt idx="11">
                  <c:v>73.0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33.0</c:v>
                </c:pt>
                <c:pt idx="11">
                  <c:v>41.0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43.24324324324324</c:v>
                </c:pt>
                <c:pt idx="11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5.405405405405405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8.333333333333334</c:v>
                </c:pt>
                <c:pt idx="11">
                  <c:v>25.0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16.666666666666668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70.4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70.4"/>
          <c:min val="0.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29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44</c:v>
                </c:pt>
                <c:pt idx="31">
                  <c:v>11</c:v>
                </c:pt>
                <c:pt idx="32">
                  <c:v>0</c:v>
                </c:pt>
                <c:pt idx="33">
                  <c:v>2041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1226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29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44</c:v>
                </c:pt>
                <c:pt idx="31">
                  <c:v>11</c:v>
                </c:pt>
                <c:pt idx="32">
                  <c:v>0</c:v>
                </c:pt>
                <c:pt idx="33">
                  <c:v>2041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1226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2.xml"/><Relationship Id="rId3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svg"/><Relationship Id="rId4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svg"/><Relationship Id="rId4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svg"/><Relationship Id="rId4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svg"/><Relationship Id="rId4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tiff"/><Relationship Id="rId4" Type="http://schemas.openxmlformats.org/officeDocument/2006/relationships/chart" Target="../charts/chart16.xml"/><Relationship Id="rId5" Type="http://schemas.openxmlformats.org/officeDocument/2006/relationships/image" Target="../media/image12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svg"/><Relationship Id="rId4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1.xml"/><Relationship Id="rId4" Type="http://schemas.openxmlformats.org/officeDocument/2006/relationships/chart" Target="../charts/chart22.xml"/><Relationship Id="rId5" Type="http://schemas.openxmlformats.org/officeDocument/2006/relationships/chart" Target="../charts/chart23.xml"/><Relationship Id="rId6" Type="http://schemas.openxmlformats.org/officeDocument/2006/relationships/chart" Target="../charts/chart2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5.xml"/><Relationship Id="rId4" Type="http://schemas.openxmlformats.org/officeDocument/2006/relationships/chart" Target="../charts/chart26.xml"/><Relationship Id="rId5" Type="http://schemas.openxmlformats.org/officeDocument/2006/relationships/chart" Target="../charts/chart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portfolio's maintainability has decreased (with -0.7 to 2.5) during the measured period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11 January 2026 and 8 March 2026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(-2.3%).</a:t>
            </a:r>
            <a:endParaRPr lang="en-GB" sz="1550" noProof="0" dirty="0"/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(+3.9%).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2.4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25% of systems score above market average for Architecture Quality (≥3.5★).</a:t>
            </a:r>
          </a:p>
          <a:p>
            <a:pPr indent="-283845"/>
            <a:r>
              <a:rPr lang="en-US" dirty="0"/>
              <a:t>33% of systems score market average for Architecture Quality (3★).</a:t>
            </a:r>
          </a:p>
          <a:p>
            <a:pPr indent="-283845"/>
            <a:r>
              <a:rPr lang="en-US" dirty="0"/>
              <a:t>42% of systems score below market average for Architecture Quality 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2.9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33% of systems score above market average for Open Source Health (≥3.5★).</a:t>
            </a:r>
          </a:p>
          <a:p>
            <a:pPr indent="-283845"/>
            <a:r>
              <a:rPr lang="en-US" dirty="0"/>
              <a:t>42% of systems score market average for Open Source Health (3★).</a:t>
            </a:r>
          </a:p>
          <a:p>
            <a:pPr indent="-283845"/>
            <a:r>
              <a:rPr lang="en-US" dirty="0"/>
              <a:t>25% of systems score below market average for Open Source Health 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67% of dependencies (64 in total) used in the system contain one or more known vulnerabilities.</a:t>
            </a:r>
          </a:p>
          <a:p>
            <a:r>
              <a:rPr lang="en-US" dirty="0"/>
              <a:t>50% of dependencies (48 in total) uses a potentially restrictive open-source license (e.g. GPL/AGPL).</a:t>
            </a:r>
          </a:p>
          <a:p>
            <a:r>
              <a:rPr lang="en-US" dirty="0"/>
              <a:t>50% of dependencies (48 in total) used in the system have not been updated for over 2 years.</a:t>
            </a:r>
          </a:p>
          <a:p>
            <a:r>
              <a:rPr lang="en-US" dirty="0"/>
              <a:t>67% of dependencies (64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96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96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33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3.7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33% of systems score above market average for Security (≥3.5★).</a:t>
            </a:r>
          </a:p>
          <a:p>
            <a:pPr indent="-283845"/>
            <a:r>
              <a:rPr lang="en-US" dirty="0"/>
              <a:t>33% of systems score market average for Security (3★).</a:t>
            </a:r>
          </a:p>
          <a:p>
            <a:pPr indent="-283845"/>
            <a:r>
              <a:rPr lang="en-US" dirty="0"/>
              <a:t>33% of systems score below market average for Security(≤2.5★).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F75C0-C207-4E2C-BD14-5A81D230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71CDFD-E671-9983-BCFA-61E6FDA0C8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53550-5F0E-C6E4-29B9-7E84B37C218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6C1924E-BF8A-82D4-91C3-65F9207E4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The portfolio remained stable (3.7) during the measured period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6C283A-7F67-5B7A-1592-8EF4CE26A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C8211A-4BD1-17C2-157E-E7A75825DE5A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8E10F2-10CD-AA74-5A2C-170808E6F640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F34314D-E3B4-A17A-A9F3-35718FEFCD7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668F8B1-8163-0280-E7AD-6FC40A4B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A9E2695-4C11-2982-75D5-4E0C6BE811D7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DC72B0-8D25-2365-9A54-C46D71FCEAA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D2D5440-4938-251B-AD71-3D41CEF842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76B1B-254E-3717-798E-FD0631037E7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80C7ED-B514-CF66-35D7-4A66EC00BCA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D8B81D40-7E02-2FB1-644E-20F77CD0B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F90A97-85BE-3BEB-5DD6-BDE4DB13BE1F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38FF40-E3F2-25D4-9EA0-FC948E18EE7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A1CAA676-894E-9A77-8893-A491CE6C61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FE4119A-FB59-D48B-0115-817DF87E7E5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CD1D60-85B7-3420-38E5-9562602AA3F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445541FA-1456-41B3-1BCE-43D44804C6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845E37-BF7A-036F-1036-4DCCAD4A0C5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0% of systems has seen an increase in security ratings. 100% of systems has remained stable. 0%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/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53814472-2F91-8C00-BB5E-647E58883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3395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2025-04-01, 0 critical security findings have been resolved while 356 new critical findings were discovered. Overall, there has been an increase in critical security findings of 356.</a:t>
            </a:r>
          </a:p>
          <a:p>
            <a:pPr indent="-283845"/>
            <a:r>
              <a:rPr lang="en-GB" sz="1550" dirty="0"/>
              <a:t>Of the resolved critical findings, most were resolved in at most 7 days (0 findings). 0 findings were resolved within the recommended 7 days while 0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2025-04-01, 26 high security findings have been resolved while 2054 new high findings were discovered. Overall, there has been an increase in high security findings of 2028.</a:t>
            </a:r>
          </a:p>
          <a:p>
            <a:pPr indent="-283845"/>
            <a:r>
              <a:rPr lang="en-GB" sz="1550" dirty="0"/>
              <a:t>Of the resolved high findings, most were resolved in between 14 and 30 days (11 findings). 8 findings were resolved within the recommended 14 days while 0 were resolved after 180 days or more. </a:t>
            </a:r>
          </a:p>
          <a:p>
            <a:pPr indent="-283845"/>
            <a:r>
              <a:rPr lang="en-GB" sz="1550" dirty="0"/>
              <a:t>13 medium security findings have been resolved while 1237 new medium findings were discovered. Overall, there has been an increase in medium security findings of 1224.</a:t>
            </a:r>
          </a:p>
          <a:p>
            <a:pPr indent="-283845"/>
            <a:r>
              <a:rPr lang="en-GB" sz="1550" dirty="0"/>
              <a:t>Of the resolved medium findings, most were resolved in at most 30 days (2 findings). 2 findings were resolved within the recommended 30 days while 0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18379</TotalTime>
  <Words>2700</Words>
  <Application>Microsoft Macintosh PowerPoint</Application>
  <PresentationFormat>Widescreen</PresentationFormat>
  <Paragraphs>424</Paragraphs>
  <Slides>39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53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PORTFOLIO_PERIOD_SEC_CHANGE_SHORT_SUMMARY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206</cp:revision>
  <cp:lastPrinted>2020-04-20T09:37:43Z</cp:lastPrinted>
  <dcterms:created xsi:type="dcterms:W3CDTF">2025-10-22T11:22:13Z</dcterms:created>
  <dcterms:modified xsi:type="dcterms:W3CDTF">2026-07-13T18:35:40Z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