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handoutMasters/handoutMaster1.xml" ContentType="application/vnd.openxmlformats-officedocument.presentationml.handoutMaster+xml"/>
  <Override PartName="/ppt/media/image3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1973" r:id="rId5"/>
    <p:sldId id="11390" r:id="rId6"/>
    <p:sldId id="10749" r:id="rId7"/>
    <p:sldId id="10751" r:id="rId8"/>
    <p:sldId id="10753" r:id="rId9"/>
    <p:sldId id="10750" r:id="rId10"/>
    <p:sldId id="10754" r:id="rId11"/>
    <p:sldId id="10755" r:id="rId12"/>
    <p:sldId id="10756" r:id="rId13"/>
    <p:sldId id="11363" r:id="rId14"/>
    <p:sldId id="11364" r:id="rId15"/>
    <p:sldId id="11365" r:id="rId16"/>
    <p:sldId id="11366" r:id="rId17"/>
    <p:sldId id="11367" r:id="rId18"/>
    <p:sldId id="11368" r:id="rId19"/>
    <p:sldId id="11369" r:id="rId20"/>
    <p:sldId id="11370" r:id="rId21"/>
    <p:sldId id="11389" r:id="rId22"/>
    <p:sldId id="11371" r:id="rId23"/>
    <p:sldId id="10757" r:id="rId24"/>
    <p:sldId id="11409" r:id="rId25"/>
    <p:sldId id="11410" r:id="rId26"/>
    <p:sldId id="1824" r:id="rId27"/>
    <p:sldId id="11403" r:id="rId28"/>
    <p:sldId id="11374" r:id="rId29"/>
    <p:sldId id="11405" r:id="rId30"/>
    <p:sldId id="11406" r:id="rId31"/>
    <p:sldId id="11402" r:id="rId32"/>
    <p:sldId id="11376" r:id="rId33"/>
    <p:sldId id="11284" r:id="rId34"/>
    <p:sldId id="1137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64"/>
    <p:restoredTop sz="96763"/>
  </p:normalViewPr>
  <p:slideViewPr>
    <p:cSldViewPr snapToGrid="0" snapToObjects="1" showGuides="1">
      <p:cViewPr varScale="1">
        <p:scale>
          <a:sx n="128" d="100"/>
          <a:sy n="128" d="100"/>
        </p:scale>
        <p:origin x="936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50.0</c:v>
                </c:pt>
                <c:pt idx="8">
                  <c:v>50.0</c:v>
                </c:pt>
                <c:pt idx="9">
                  <c:v>65.0</c:v>
                </c:pt>
                <c:pt idx="10">
                  <c:v>50.0</c:v>
                </c:pt>
                <c:pt idx="11">
                  <c:v>53.0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33.0</c:v>
                </c:pt>
                <c:pt idx="2">
                  <c:v>73.0</c:v>
                </c:pt>
                <c:pt idx="3">
                  <c:v>46.0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Security</c:v>
                </c:pt>
                <c:pt idx="1">
                  <c:v>Open Source Health</c:v>
                </c:pt>
                <c:pt idx="2">
                  <c:v>Architecture Quality</c:v>
                </c:pt>
                <c:pt idx="3">
                  <c:v>Maintainability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100.0</c:v>
                </c:pt>
                <c:pt idx="1">
                  <c:v>66.66666666666666</c:v>
                </c:pt>
                <c:pt idx="2">
                  <c:v>27.272727272727266</c:v>
                </c:pt>
                <c:pt idx="3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46.0</c:v>
                </c:pt>
                <c:pt idx="10">
                  <c:v>46.0</c:v>
                </c:pt>
                <c:pt idx="11">
                  <c:v>46.0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73.0</c:v>
                </c:pt>
                <c:pt idx="10">
                  <c:v>73.0</c:v>
                </c:pt>
                <c:pt idx="11">
                  <c:v>73.0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33.0</c:v>
                </c:pt>
                <c:pt idx="11">
                  <c:v>41.0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48.648648648648646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43.24324324324324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Sheet1!$A$2:$A$2</c:f>
              <c:strCache>
                <c:ptCount val="1"/>
                <c:pt idx="0">
                  <c:v>Unknown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66.66666666666667</c:v>
                </c:pt>
                <c:pt idx="1">
                  <c:v>46.15384615384615</c:v>
                </c:pt>
                <c:pt idx="2">
                  <c:v>33.333333333333336</c:v>
                </c:pt>
                <c:pt idx="3">
                  <c:v>0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16.666666666666668</c:v>
                </c:pt>
                <c:pt idx="1">
                  <c:v>46.15384615384615</c:v>
                </c:pt>
                <c:pt idx="2">
                  <c:v>66.66666666666667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7.6923076923076925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Architecture Quality</c:v>
                </c:pt>
                <c:pt idx="1">
                  <c:v>Maintainability</c:v>
                </c:pt>
                <c:pt idx="2">
                  <c:v>Open Source Health</c:v>
                </c:pt>
                <c:pt idx="3">
                  <c:v>Security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8.333333333333334</c:v>
                </c:pt>
                <c:pt idx="1">
                  <c:v>0.0</c:v>
                </c:pt>
                <c:pt idx="2">
                  <c:v>0.0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48.648648648648646</c:v>
                </c:pt>
                <c:pt idx="10">
                  <c:v>48.648648648648646</c:v>
                </c:pt>
                <c:pt idx="11">
                  <c:v>51.351351351351354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5.405405405405405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2.7027027027027026</c:v>
                </c:pt>
                <c:pt idx="8">
                  <c:v>2.7027027027027026</c:v>
                </c:pt>
                <c:pt idx="9">
                  <c:v>24.324324324324323</c:v>
                </c:pt>
                <c:pt idx="10">
                  <c:v>45.945945945945944</c:v>
                </c:pt>
                <c:pt idx="11">
                  <c:v>40.54054054054054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2.7027027027027026</c:v>
                </c:pt>
                <c:pt idx="10">
                  <c:v>2.7027027027027026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94.5945945945946</c:v>
                </c:pt>
                <c:pt idx="8">
                  <c:v>94.5945945945946</c:v>
                </c:pt>
                <c:pt idx="9">
                  <c:v>24.324324324324323</c:v>
                </c:pt>
                <c:pt idx="10">
                  <c:v>2.7027027027027026</c:v>
                </c:pt>
                <c:pt idx="11">
                  <c:v>2.7027027027027026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8.333333333333334</c:v>
                </c:pt>
                <c:pt idx="8">
                  <c:v>8.333333333333334</c:v>
                </c:pt>
                <c:pt idx="9">
                  <c:v>33.333333333333336</c:v>
                </c:pt>
                <c:pt idx="10">
                  <c:v>33.333333333333336</c:v>
                </c:pt>
                <c:pt idx="11">
                  <c:v>41.666666666666664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66.66666666666667</c:v>
                </c:pt>
                <c:pt idx="11">
                  <c:v>50.0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91.66666666666667</c:v>
                </c:pt>
                <c:pt idx="8">
                  <c:v>91.66666666666667</c:v>
                </c:pt>
                <c:pt idx="9">
                  <c:v>66.66666666666667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46.15384615384615</c:v>
                </c:pt>
                <c:pt idx="10">
                  <c:v>46.15384615384615</c:v>
                </c:pt>
                <c:pt idx="11">
                  <c:v>46.15384615384615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7.6923076923076925</c:v>
                </c:pt>
                <c:pt idx="8">
                  <c:v>7.6923076923076925</c:v>
                </c:pt>
                <c:pt idx="9">
                  <c:v>46.15384615384615</c:v>
                </c:pt>
                <c:pt idx="10">
                  <c:v>53.84615384615385</c:v>
                </c:pt>
                <c:pt idx="11">
                  <c:v>53.84615384615385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7.6923076923076925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92.3076923076923</c:v>
                </c:pt>
                <c:pt idx="8">
                  <c:v>92.3076923076923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66.66666666666667</c:v>
                </c:pt>
                <c:pt idx="10">
                  <c:v>66.66666666666667</c:v>
                </c:pt>
                <c:pt idx="11">
                  <c:v>66.66666666666667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25.0</c:v>
                </c:pt>
                <c:pt idx="10">
                  <c:v>16.666666666666668</c:v>
                </c:pt>
                <c:pt idx="11">
                  <c:v>16.666666666666668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8.333333333333334</c:v>
                </c:pt>
                <c:pt idx="11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Percentage of portfolio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04/2025</c:v>
                </c:pt>
                <c:pt idx="1">
                  <c:v>05/2025</c:v>
                </c:pt>
                <c:pt idx="2">
                  <c:v>06/2025</c:v>
                </c:pt>
                <c:pt idx="3">
                  <c:v>07/2025</c:v>
                </c:pt>
                <c:pt idx="4">
                  <c:v>08/2025</c:v>
                </c:pt>
                <c:pt idx="5">
                  <c:v>09/2025</c:v>
                </c:pt>
                <c:pt idx="6">
                  <c:v>10/2025</c:v>
                </c:pt>
                <c:pt idx="7">
                  <c:v>11/2025</c:v>
                </c:pt>
                <c:pt idx="8">
                  <c:v>12/2025</c:v>
                </c:pt>
                <c:pt idx="9">
                  <c:v>01/2026</c:v>
                </c:pt>
                <c:pt idx="10">
                  <c:v>02/2026</c:v>
                </c:pt>
                <c:pt idx="11">
                  <c:v>03/2026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100.0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100.0</c:v>
                </c:pt>
                <c:pt idx="7">
                  <c:v>100.0</c:v>
                </c:pt>
                <c:pt idx="8">
                  <c:v>100.0</c:v>
                </c:pt>
                <c:pt idx="9">
                  <c:v>8.333333333333334</c:v>
                </c:pt>
                <c:pt idx="10">
                  <c:v>8.333333333333334</c:v>
                </c:pt>
                <c:pt idx="11">
                  <c:v>8.333333333333334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79</c:v>
                </c:pt>
                <c:pt idx="1">
                  <c:v>0</c:v>
                </c:pt>
                <c:pt idx="2">
                  <c:v>0</c:v>
                </c:pt>
                <c:pt idx="3">
                  <c:v>122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51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93</c:v>
                </c:pt>
                <c:pt idx="3">
                  <c:v>102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93</c:v>
                </c:pt>
                <c:pt idx="1">
                  <c:v>0</c:v>
                </c:pt>
                <c:pt idx="2">
                  <c:v>0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94.90000000000003"/>
          <c:min val="0.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4.svg"/><Relationship Id="rId4" Type="http://schemas.openxmlformats.org/officeDocument/2006/relationships/image" Target="../media/image5.svg"/><Relationship Id="rId5" Type="http://schemas.openxmlformats.org/officeDocument/2006/relationships/image" Target="../media/image6.svg"/><Relationship Id="rId6" Type="http://schemas.openxmlformats.org/officeDocument/2006/relationships/image" Target="../media/image7.svg"/><Relationship Id="rId7" Type="http://schemas.openxmlformats.org/officeDocument/2006/relationships/image" Target="../media/image8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svg"/><Relationship Id="rId4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svg"/><Relationship Id="rId4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svg"/><Relationship Id="rId4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svg"/><Relationship Id="rId4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tiff"/><Relationship Id="rId4" Type="http://schemas.openxmlformats.org/officeDocument/2006/relationships/chart" Target="../charts/chart16.xml"/><Relationship Id="rId5" Type="http://schemas.openxmlformats.org/officeDocument/2006/relationships/image" Target="../media/image11.em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svg"/><Relationship Id="rId4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sv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 dirty="0"/>
              <a:t>Objectives – Open Source Health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between January 2026 and March 2026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team between January 2026 and March 2026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per capability between January 2026 and March 2026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843581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90627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US" dirty="0"/>
              <a:t>Portfolio trends -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9DC56-8462-CF33-E81E-8455477D97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portfolio's maintainability has increased (with 2.5 to 2.5) during the measured period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17% of systems has seen an increase in maintainability. 0%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366C7-3114-4B4C-4D7B-B7C04086F13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11 January 2026 and 8 March 2026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increase in volume of 19.9 person years.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integrationtest-elasticsearch has seen the biggest change with an increase of 10.7 person years.</a:t>
            </a:r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F0B54-B832-6085-49CA-E85C45796DA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25% systems have a test code ratio of &lt; 50%.</a:t>
            </a:r>
          </a:p>
          <a:p>
            <a:pPr indent="-283845"/>
            <a:r>
              <a:rPr lang="en-GB" sz="1550" dirty="0"/>
              <a:t>42% of systems have a test code ratio between 50% and 100%.</a:t>
            </a:r>
          </a:p>
          <a:p>
            <a:pPr indent="-283845"/>
            <a:r>
              <a:rPr lang="en-GB" sz="1550" dirty="0"/>
              <a:t>33% of systems have a test code ratio ≥ 100%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1581-856E-3020-C018-13E27E6358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11 January 2026 and 8 March 2026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a decrease in test code ratio for the portfolio (-2.4%).</a:t>
            </a:r>
            <a:endParaRPr lang="en-GB" sz="1550" noProof="0" dirty="0"/>
          </a:p>
          <a:p>
            <a:pPr indent="-283845"/>
            <a:r>
              <a:rPr lang="en-GB" sz="1550" dirty="0"/>
              <a:t>42% of systems have seen an increase in test code ratio while 17% of systems have seen a decrease. </a:t>
            </a:r>
          </a:p>
          <a:p>
            <a:pPr indent="-283845"/>
            <a:r>
              <a:rPr lang="en-GB" sz="1550" dirty="0"/>
              <a:t>The largest increase in test code ratio was experienced by integrationtest-zuul (+3.3%). The largest decrease in test code ratio was experienced by integrationtest-jruby (-23.4%).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A4971-6A99-29AF-1BC3-87E1EAC3B19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Architecture Quality rating for the portfolio is 2.6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38% of systems score above market average for Architecture Quality (≥3.5★).</a:t>
            </a:r>
          </a:p>
          <a:p>
            <a:pPr indent="-283845"/>
            <a:r>
              <a:rPr lang="en-US" dirty="0"/>
              <a:t>31% of systems score market average for Architecture Quality (3★).</a:t>
            </a:r>
          </a:p>
          <a:p>
            <a:pPr indent="-283845"/>
            <a:r>
              <a:rPr lang="en-US" dirty="0"/>
              <a:t>31% of systems score below market average for Architecture Quality 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7F3D46-14AA-5186-5BE6-A857453EEA4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Open Source Health rating for the portfolio is 2.7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58% of systems score above market average for Open Source Health (≥3.5★).</a:t>
            </a:r>
          </a:p>
          <a:p>
            <a:pPr indent="-283845"/>
            <a:r>
              <a:rPr lang="en-US" dirty="0"/>
              <a:t>33% of systems score market average for Open Source Health (3★).</a:t>
            </a:r>
          </a:p>
          <a:p>
            <a:pPr indent="-283845"/>
            <a:r>
              <a:rPr lang="en-US" dirty="0"/>
              <a:t>8% of systems score below market average for Open Source Health (≤2.5★).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3% of dependencies (40 in total) used in the system contain one or more known vulnerabilities.</a:t>
            </a:r>
          </a:p>
          <a:p>
            <a:r>
              <a:rPr lang="en-US" dirty="0"/>
              <a:t>1% of dependencies (5 in total) uses a potentially restrictive open-source license (e.g. GPL/AGPL).</a:t>
            </a:r>
          </a:p>
          <a:p>
            <a:r>
              <a:rPr lang="en-US" dirty="0"/>
              <a:t>12% of dependencies (190 in total) used in the system have not been updated for over 2 years.</a:t>
            </a:r>
          </a:p>
          <a:p>
            <a:r>
              <a:rPr lang="en-US" dirty="0"/>
              <a:t>6% of dependencies (93 in total) does not use a package manager but is placed in the codebase directly.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1529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91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243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154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826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167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849600" y="6462000"/>
            <a:ext cx="1085851" cy="231923"/>
          </a:xfrm>
        </p:spPr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30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14A6CB-9C92-0C40-9DFC-ECCD40B4D27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11 January 2026 and 8 March 2026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Security rating for the portfolio is 2.0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17% of systems score above market average for Security (≥3.5★).</a:t>
            </a:r>
          </a:p>
          <a:p>
            <a:pPr indent="-283845"/>
            <a:r>
              <a:rPr lang="en-US" dirty="0"/>
              <a:t>33% of systems score market average for Security (3★).</a:t>
            </a:r>
          </a:p>
          <a:p>
            <a:pPr indent="-283845"/>
            <a:r>
              <a:rPr lang="en-US" dirty="0"/>
              <a:t>50% of systems score below market average for Security(≤2.5★).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11131</TotalTime>
  <Words>1633</Words>
  <Application>Microsoft Macintosh PowerPoint</Application>
  <PresentationFormat>Widescreen</PresentationFormat>
  <Paragraphs>288</Paragraphs>
  <Slides>31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3" baseType="lpstr"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170</cp:revision>
  <cp:lastPrinted>2020-04-20T09:37:43Z</cp:lastPrinted>
  <dcterms:created xsi:type="dcterms:W3CDTF">2025-10-22T11:22:13Z</dcterms:created>
  <dcterms:modified xsi:type="dcterms:W3CDTF">2026-04-03T10:31:53Z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