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.xml" ContentType="application/vnd.ms-office.chartcolorstyle+xml"/>
  <Override PartName="/ppt/charts/colors30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.xml" ContentType="application/vnd.ms-office.chartstyle+xml"/>
  <Override PartName="/ppt/charts/style30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handoutMasters/handoutMaster1.xml" ContentType="application/vnd.openxmlformats-officedocument.presentationml.handoutMaster+xml"/>
  <Override PartName="/ppt/media/image10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94" r:id="rId5"/>
  </p:sldMasterIdLst>
  <p:notesMasterIdLst>
    <p:notesMasterId r:id="rId46"/>
  </p:notesMasterIdLst>
  <p:handoutMasterIdLst>
    <p:handoutMasterId r:id="rId47"/>
  </p:handoutMasterIdLst>
  <p:sldIdLst>
    <p:sldId id="1973" r:id="rId6"/>
    <p:sldId id="11390" r:id="rId7"/>
    <p:sldId id="10749" r:id="rId8"/>
    <p:sldId id="10751" r:id="rId9"/>
    <p:sldId id="10753" r:id="rId10"/>
    <p:sldId id="10750" r:id="rId11"/>
    <p:sldId id="10754" r:id="rId12"/>
    <p:sldId id="10755" r:id="rId13"/>
    <p:sldId id="10756" r:id="rId14"/>
    <p:sldId id="11363" r:id="rId15"/>
    <p:sldId id="11364" r:id="rId16"/>
    <p:sldId id="11365" r:id="rId17"/>
    <p:sldId id="11366" r:id="rId18"/>
    <p:sldId id="11367" r:id="rId19"/>
    <p:sldId id="11368" r:id="rId20"/>
    <p:sldId id="11369" r:id="rId21"/>
    <p:sldId id="11370" r:id="rId22"/>
    <p:sldId id="11389" r:id="rId23"/>
    <p:sldId id="11371" r:id="rId24"/>
    <p:sldId id="10757" r:id="rId25"/>
    <p:sldId id="11409" r:id="rId26"/>
    <p:sldId id="11410" r:id="rId27"/>
    <p:sldId id="1824" r:id="rId28"/>
    <p:sldId id="11403" r:id="rId29"/>
    <p:sldId id="11404" r:id="rId30"/>
    <p:sldId id="11387" r:id="rId31"/>
    <p:sldId id="11374" r:id="rId32"/>
    <p:sldId id="11405" r:id="rId33"/>
    <p:sldId id="11419" r:id="rId34"/>
    <p:sldId id="11406" r:id="rId35"/>
    <p:sldId id="11402" r:id="rId36"/>
    <p:sldId id="11422" r:id="rId37"/>
    <p:sldId id="11376" r:id="rId38"/>
    <p:sldId id="11284" r:id="rId39"/>
    <p:sldId id="11377" r:id="rId40"/>
    <p:sldId id="11421" r:id="rId41"/>
    <p:sldId id="11415" r:id="rId42"/>
    <p:sldId id="11416" r:id="rId43"/>
    <p:sldId id="11417" r:id="rId44"/>
    <p:sldId id="11418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359739-ADAA-29C3-783C-D9B57E2ADDB5}" name="Tim Hemel" initials="" userId="S::tim.hemel@softwareimprovementgroup.com::11068282-940c-4e29-bf1b-b59b90666eb3" providerId="AD"/>
  <p188:author id="{3D97A144-B777-FD68-D7AB-3CD142D94AE5}" name="Cathal Boogerd" initials="" userId="S::cathal.boogerd@softwareimprovementgroup.com::dbb5a3ef-3cf9-4748-ac32-98f9c3baeb5b" providerId="AD"/>
  <p188:author id="{E5E0EE5C-8B63-32A2-9D2F-8352DF47097F}" name="Georges Elias" initials="" userId="S::georges.elias@softwareimprovementgroup.com::6139a130-5e49-4792-8e7b-0c9108a32bcb" providerId="AD"/>
  <p188:author id="{14C24185-38C8-53F4-6B25-1F37CA622275}" name="Koen Hanselman" initials="KH" userId="S::koen.hanselman@softwareimprovementgroup.com::5db663cf-586e-40d0-b19a-993566a64e50" providerId="AD"/>
  <p188:author id="{183DB49D-7ECF-D7E1-4C43-FB9D87383EAD}" name="Sylvan Rigal" initials="SR" userId="S::sylvan.rigal@softwareimprovementgroup.com::b1be0c31-8957-4e67-bfc4-5cd3c92b837e" providerId="AD"/>
  <p188:author id="{6C3551E2-2F50-52EC-DA49-DBE95072549A}" name="Koen Hanselman" initials="KH" userId="7d1800f64f1a7135" providerId="Windows Live"/>
  <p188:author id="{BBEAE1E7-4F6B-B092-BEC1-17EBE4860A28}" name="Feiyang Tang" initials="" userId="S::feiyang.tang@softwareimprovementgroup.com::7bc8dc39-7011-4932-87a8-1499417962c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5735"/>
    <a:srgbClr val="E98C36"/>
    <a:srgbClr val="BFC855"/>
    <a:srgbClr val="BDC855"/>
    <a:srgbClr val="F8C716"/>
    <a:srgbClr val="F9C816"/>
    <a:srgbClr val="083595"/>
    <a:srgbClr val="093AA0"/>
    <a:srgbClr val="083695"/>
    <a:srgbClr val="0020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799B23B-EC83-4686-B30A-512413B5E67A}" styleName="Stijl, licht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37"/>
    <p:restoredTop sz="96763"/>
  </p:normalViewPr>
  <p:slideViewPr>
    <p:cSldViewPr snapToGrid="0" snapToObjects="1" showGuides="1">
      <p:cViewPr varScale="1">
        <p:scale>
          <a:sx n="127" d="100"/>
          <a:sy n="127" d="100"/>
        </p:scale>
        <p:origin x="1032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napToObjects="1">
      <p:cViewPr varScale="1">
        <p:scale>
          <a:sx n="157" d="100"/>
          <a:sy n="157" d="100"/>
        </p:scale>
        <p:origin x="5640" y="184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notesMaster" Target="notesMasters/notesMaster1.xml"/><Relationship Id="rId47" Type="http://schemas.openxmlformats.org/officeDocument/2006/relationships/handoutMaster" Target="handoutMasters/handout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52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microsoft.com/office/2011/relationships/chartStyle" Target="style19.xml"/><Relationship Id="rId2" Type="http://schemas.microsoft.com/office/2011/relationships/chartColorStyle" Target="colors19.xml"/><Relationship Id="rId3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microsoft.com/office/2011/relationships/chartStyle" Target="style20.xml"/><Relationship Id="rId2" Type="http://schemas.microsoft.com/office/2011/relationships/chartColorStyle" Target="colors20.xml"/><Relationship Id="rId3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microsoft.com/office/2011/relationships/chartStyle" Target="style21.xml"/><Relationship Id="rId2" Type="http://schemas.microsoft.com/office/2011/relationships/chartColorStyle" Target="colors21.xml"/><Relationship Id="rId3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microsoft.com/office/2011/relationships/chartStyle" Target="style22.xml"/><Relationship Id="rId2" Type="http://schemas.microsoft.com/office/2011/relationships/chartColorStyle" Target="colors22.xml"/><Relationship Id="rId3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microsoft.com/office/2011/relationships/chartStyle" Target="style23.xml"/><Relationship Id="rId2" Type="http://schemas.microsoft.com/office/2011/relationships/chartColorStyle" Target="colors23.xml"/><Relationship Id="rId3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microsoft.com/office/2011/relationships/chartStyle" Target="style24.xml"/><Relationship Id="rId2" Type="http://schemas.microsoft.com/office/2011/relationships/chartColorStyle" Target="colors24.xml"/><Relationship Id="rId3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microsoft.com/office/2011/relationships/chartStyle" Target="style25.xml"/><Relationship Id="rId2" Type="http://schemas.microsoft.com/office/2011/relationships/chartColorStyle" Target="colors25.xml"/><Relationship Id="rId3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microsoft.com/office/2011/relationships/chartStyle" Target="style26.xml"/><Relationship Id="rId2" Type="http://schemas.microsoft.com/office/2011/relationships/chartColorStyle" Target="colors26.xml"/><Relationship Id="rId3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microsoft.com/office/2011/relationships/chartStyle" Target="style27.xml"/><Relationship Id="rId2" Type="http://schemas.microsoft.com/office/2011/relationships/chartColorStyle" Target="colors27.xml"/><Relationship Id="rId3" Type="http://schemas.openxmlformats.org/officeDocument/2006/relationships/package" Target="../embeddings/Microsoft_Excel_Worksheet26.xlsx"/></Relationships>
</file>

<file path=ppt/charts/_rels/chart28.xml.rels><?xml version='1.0' encoding='UTF-8' standalone='yes'?>
<Relationships xmlns="http://schemas.openxmlformats.org/package/2006/relationships"><Relationship Id="rId1" Type="http://schemas.microsoft.com/office/2011/relationships/chartStyle" Target="style28.xml"/><Relationship Id="rId2" Type="http://schemas.microsoft.com/office/2011/relationships/chartColorStyle" Target="colors28.xml"/><Relationship Id="rId3" Type="http://schemas.openxmlformats.org/officeDocument/2006/relationships/package" Target="../embeddings/Microsoft_Excel_Worksheet27.xlsx"/></Relationships>
</file>

<file path=ppt/charts/_rels/chart29.xml.rels><?xml version='1.0' encoding='UTF-8' standalone='yes'?>
<Relationships xmlns="http://schemas.openxmlformats.org/package/2006/relationships"><Relationship Id="rId1" Type="http://schemas.microsoft.com/office/2011/relationships/chartStyle" Target="style29.xml"/><Relationship Id="rId2" Type="http://schemas.microsoft.com/office/2011/relationships/chartColorStyle" Target="colors29.xml"/><Relationship Id="rId3" Type="http://schemas.openxmlformats.org/officeDocument/2006/relationships/package" Target="../embeddings/Microsoft_Excel_Worksheet28.xlsx"/></Relationships>
</file>

<file path=ppt/charts/_rels/chart30.xml.rels><?xml version='1.0' encoding='UTF-8' standalone='yes'?>
<Relationships xmlns="http://schemas.openxmlformats.org/package/2006/relationships"><Relationship Id="rId1" Type="http://schemas.microsoft.com/office/2011/relationships/chartStyle" Target="style30.xml"/><Relationship Id="rId2" Type="http://schemas.microsoft.com/office/2011/relationships/chartColorStyle" Target="colors30.xml"/><Relationship Id="rId3" Type="http://schemas.openxmlformats.org/officeDocument/2006/relationships/package" Target="../embeddings/Microsoft_Excel_Worksheet2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1A5FE6A-D37A-834F-B8C5-870900F9D163}" type="VALUE">
                      <a:rPr lang="en-US" sz="1400" b="0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6147-E74A-AA7B-5531F0E4EE0C}"/>
                </c:ext>
              </c:extLst>
            </c:dLbl>
            <c:numFmt formatCode="0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50.0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1A15AB0D-C73F-2F4E-B068-1138B91CEB95}" type="VALUE">
                      <a:rPr lang="en-US" sz="1400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3B95-5448-A5A8-44A174A721F0}"/>
                </c:ext>
              </c:extLst>
            </c:dLbl>
            <c:numFmt formatCode="0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47-E74A-AA7B-5531F0E4EE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834D244C-CE32-A046-8143-A59D5CA86E7E}" type="VALUE">
                      <a:rPr lang="en-US" sz="1400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3B95-5448-A5A8-44A174A721F0}"/>
                </c:ext>
              </c:extLst>
            </c:dLbl>
            <c:numFmt formatCode="0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47-E74A-AA7B-5531F0E4EE0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BFC4D0"/>
            </a:solidFill>
            <a:ln w="19050"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50.0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147-E74A-AA7B-5531F0E4EE0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ln w="28575" cap="rnd">
              <a:solidFill>
                <a:srgbClr val="0066FF"/>
              </a:solidFill>
              <a:round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marker>
            <c:symbol val="circle"/>
            <c:size val="5"/>
            <c:spPr>
              <a:solidFill>
                <a:srgbClr val="0066FF"/>
              </a:solidFill>
              <a:ln w="9525">
                <a:solidFill>
                  <a:srgbClr val="0066FF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0066FF"/>
                </a:solidFill>
                <a:ln w="9525">
                  <a:solidFill>
                    <a:srgbClr val="0066FF"/>
                  </a:solidFill>
                </a:ln>
                <a:effectLst/>
              </c:spPr>
            </c:marker>
            <c:bubble3D val="0"/>
            <c:explosion val="6"/>
            <c:spPr>
              <a:ln w="28575" cap="rnd">
                <a:solidFill>
                  <a:srgbClr val="0066FF"/>
                </a:solidFill>
                <a:round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50.0</c:v>
                </c:pt>
                <c:pt idx="8">
                  <c:v>50.0</c:v>
                </c:pt>
                <c:pt idx="9">
                  <c:v>65.0</c:v>
                </c:pt>
                <c:pt idx="10">
                  <c:v>50.0</c:v>
                </c:pt>
                <c:pt idx="11">
                  <c:v>53.0</c:v>
                </c:pt>
              </c:numCache>
            </c:numRef>
          </c:val>
          <c:smooth val="0"/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6387520"/>
        <c:axId val="477616192"/>
      </c:line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Security</c:v>
                </c:pt>
                <c:pt idx="1">
                  <c:v>Open Source Health</c:v>
                </c:pt>
                <c:pt idx="2">
                  <c:v>Architecture Quality</c:v>
                </c:pt>
                <c:pt idx="3">
                  <c:v>Maintainability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</c:v>
                </c:pt>
                <c:pt idx="1">
                  <c:v>33.0</c:v>
                </c:pt>
                <c:pt idx="2">
                  <c:v>73.0</c:v>
                </c:pt>
                <c:pt idx="3">
                  <c:v>46.0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Security</c:v>
                </c:pt>
                <c:pt idx="1">
                  <c:v>Open Source Health</c:v>
                </c:pt>
                <c:pt idx="2">
                  <c:v>Architecture Quality</c:v>
                </c:pt>
                <c:pt idx="3">
                  <c:v>Maintainability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47-E74A-AA7B-5531F0E4EE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Security</c:v>
                </c:pt>
                <c:pt idx="1">
                  <c:v>Open Source Health</c:v>
                </c:pt>
                <c:pt idx="2">
                  <c:v>Architecture Quality</c:v>
                </c:pt>
                <c:pt idx="3">
                  <c:v>Maintainability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47-E74A-AA7B-5531F0E4EE0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BFC4D0"/>
            </a:solidFill>
            <a:ln w="19050"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Security</c:v>
                </c:pt>
                <c:pt idx="1">
                  <c:v>Open Source Health</c:v>
                </c:pt>
                <c:pt idx="2">
                  <c:v>Architecture Quality</c:v>
                </c:pt>
                <c:pt idx="3">
                  <c:v>Maintainability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100.0</c:v>
                </c:pt>
                <c:pt idx="1">
                  <c:v>66.66666666666666</c:v>
                </c:pt>
                <c:pt idx="2">
                  <c:v>27.272727272727266</c:v>
                </c:pt>
                <c:pt idx="3">
                  <c:v>53.84615384615385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ln w="28575" cap="rnd">
              <a:solidFill>
                <a:srgbClr val="0066FF"/>
              </a:solidFill>
              <a:round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marker>
            <c:symbol val="circle"/>
            <c:size val="5"/>
            <c:spPr>
              <a:solidFill>
                <a:srgbClr val="0066FF"/>
              </a:solidFill>
              <a:ln w="9525">
                <a:solidFill>
                  <a:srgbClr val="0066FF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0066FF"/>
                </a:solidFill>
                <a:ln w="9525">
                  <a:solidFill>
                    <a:srgbClr val="0066FF"/>
                  </a:solidFill>
                </a:ln>
                <a:effectLst/>
              </c:spPr>
            </c:marker>
            <c:bubble3D val="0"/>
            <c:explosion val="6"/>
            <c:spPr>
              <a:ln w="28575" cap="rnd">
                <a:solidFill>
                  <a:srgbClr val="0066FF"/>
                </a:solidFill>
                <a:round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46.0</c:v>
                </c:pt>
                <c:pt idx="10">
                  <c:v>46.0</c:v>
                </c:pt>
                <c:pt idx="11">
                  <c:v>46.0</c:v>
                </c:pt>
              </c:numCache>
            </c:numRef>
          </c:val>
          <c:smooth val="0"/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6387520"/>
        <c:axId val="477616192"/>
      </c:line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ln w="28575" cap="rnd">
              <a:solidFill>
                <a:srgbClr val="0066FF"/>
              </a:solidFill>
              <a:round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marker>
            <c:symbol val="circle"/>
            <c:size val="5"/>
            <c:spPr>
              <a:solidFill>
                <a:srgbClr val="0066FF"/>
              </a:solidFill>
              <a:ln w="9525">
                <a:solidFill>
                  <a:srgbClr val="0066FF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0066FF"/>
                </a:solidFill>
                <a:ln w="9525">
                  <a:solidFill>
                    <a:srgbClr val="0066FF"/>
                  </a:solidFill>
                </a:ln>
                <a:effectLst/>
              </c:spPr>
            </c:marker>
            <c:bubble3D val="0"/>
            <c:explosion val="6"/>
            <c:spPr>
              <a:ln w="28575" cap="rnd">
                <a:solidFill>
                  <a:srgbClr val="0066FF"/>
                </a:solidFill>
                <a:round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73.0</c:v>
                </c:pt>
                <c:pt idx="10">
                  <c:v>73.0</c:v>
                </c:pt>
                <c:pt idx="11">
                  <c:v>73.0</c:v>
                </c:pt>
              </c:numCache>
            </c:numRef>
          </c:val>
          <c:smooth val="0"/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6387520"/>
        <c:axId val="477616192"/>
      </c:line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ln w="28575" cap="rnd">
              <a:solidFill>
                <a:srgbClr val="0066FF"/>
              </a:solidFill>
              <a:round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marker>
            <c:symbol val="circle"/>
            <c:size val="5"/>
            <c:spPr>
              <a:solidFill>
                <a:srgbClr val="0066FF"/>
              </a:solidFill>
              <a:ln w="9525">
                <a:solidFill>
                  <a:srgbClr val="0066FF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0066FF"/>
                </a:solidFill>
                <a:ln w="9525">
                  <a:solidFill>
                    <a:srgbClr val="0066FF"/>
                  </a:solidFill>
                </a:ln>
                <a:effectLst/>
              </c:spPr>
            </c:marker>
            <c:bubble3D val="0"/>
            <c:explosion val="6"/>
            <c:spPr>
              <a:ln w="28575" cap="rnd">
                <a:solidFill>
                  <a:srgbClr val="0066FF"/>
                </a:solidFill>
                <a:round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100.0</c:v>
                </c:pt>
                <c:pt idx="8">
                  <c:v>100.0</c:v>
                </c:pt>
                <c:pt idx="9">
                  <c:v>100.0</c:v>
                </c:pt>
                <c:pt idx="10">
                  <c:v>33.0</c:v>
                </c:pt>
                <c:pt idx="11">
                  <c:v>41.0</c:v>
                </c:pt>
              </c:numCache>
            </c:numRef>
          </c:val>
          <c:smooth val="0"/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6387520"/>
        <c:axId val="477616192"/>
      </c:line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ln w="28575" cap="rnd">
              <a:solidFill>
                <a:srgbClr val="0066FF"/>
              </a:solidFill>
              <a:round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marker>
            <c:symbol val="circle"/>
            <c:size val="5"/>
            <c:spPr>
              <a:solidFill>
                <a:srgbClr val="0066FF"/>
              </a:solidFill>
              <a:ln w="9525">
                <a:solidFill>
                  <a:srgbClr val="0066FF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0066FF"/>
                </a:solidFill>
                <a:ln w="9525">
                  <a:solidFill>
                    <a:srgbClr val="0066FF"/>
                  </a:solidFill>
                </a:ln>
                <a:effectLst/>
              </c:spPr>
            </c:marker>
            <c:bubble3D val="0"/>
            <c:explosion val="6"/>
            <c:spPr>
              <a:ln w="28575" cap="rnd">
                <a:solidFill>
                  <a:srgbClr val="0066FF"/>
                </a:solidFill>
                <a:round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smooth val="0"/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6387520"/>
        <c:axId val="477616192"/>
      </c:line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75D5-D342-BCFC-56747FBB812F}"/>
              </c:ext>
            </c:extLst>
          </c:dPt>
          <c:cat>
            <c:strRef>
              <c:f>Sheet1!$A$2:$A$2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48.648648648648646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75D5-D342-BCFC-56747FBB81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5D5-D342-BCFC-56747FBB812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43.24324324324324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5D5-D342-BCFC-56747FBB812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5.405405405405405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5D5-D342-BCFC-56747FBB812F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Sheet1!$F$2:$F$2</c:f>
              <c:numCache>
                <c:formatCode>General</c:formatCode>
                <c:ptCount val="1"/>
                <c:pt idx="0">
                  <c:v>2.7027027027027026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5D5-D342-BCFC-56747FBB81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189D-224A-BCD3-20CC2B33F5C5}"/>
              </c:ext>
            </c:extLst>
          </c:dPt>
          <c:cat>
            <c:strRef>
              <c:f>Sheet1!$A$2:$A$2</c:f>
              <c:strCache>
                <c:ptCount val="1"/>
                <c:pt idx="0">
                  <c:v>Unknown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48.648648648648646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189D-224A-BCD3-20CC2B33F5C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Unknown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89D-224A-BCD3-20CC2B33F5C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Unknown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43.24324324324324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89D-224A-BCD3-20CC2B33F5C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Unknown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5.405405405405405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89D-224A-BCD3-20CC2B33F5C5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Unknown</c:v>
                </c:pt>
              </c:strCache>
            </c:strRef>
          </c:cat>
          <c:val>
            <c:numRef>
              <c:f>Sheet1!$F$2:$F$2</c:f>
              <c:numCache>
                <c:formatCode>General</c:formatCode>
                <c:ptCount val="1"/>
                <c:pt idx="0">
                  <c:v>2.7027027027027026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89D-224A-BCD3-20CC2B33F5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E98D-4640-8B14-A67FDFDE3FF3}"/>
              </c:ext>
            </c:extLst>
          </c:dPt>
          <c:cat>
            <c:strRef>
              <c:f>Sheet1!$A$2:$A$5</c:f>
              <c:strCache>
                <c:ptCount val="4"/>
                <c:pt idx="0">
                  <c:v>Architecture Quality</c:v>
                </c:pt>
                <c:pt idx="1">
                  <c:v>Maintainability</c:v>
                </c:pt>
                <c:pt idx="2">
                  <c:v>Open Source Health</c:v>
                </c:pt>
                <c:pt idx="3">
                  <c:v>Security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66.66666666666667</c:v>
                </c:pt>
                <c:pt idx="1">
                  <c:v>46.15384615384615</c:v>
                </c:pt>
                <c:pt idx="2">
                  <c:v>33.333333333333336</c:v>
                </c:pt>
                <c:pt idx="3">
                  <c:v>0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E98D-4640-8B14-A67FDFDE3F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Architecture Quality</c:v>
                </c:pt>
                <c:pt idx="1">
                  <c:v>Maintainability</c:v>
                </c:pt>
                <c:pt idx="2">
                  <c:v>Open Source Health</c:v>
                </c:pt>
                <c:pt idx="3">
                  <c:v>Security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98D-4640-8B14-A67FDFDE3FF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Architecture Quality</c:v>
                </c:pt>
                <c:pt idx="1">
                  <c:v>Maintainability</c:v>
                </c:pt>
                <c:pt idx="2">
                  <c:v>Open Source Health</c:v>
                </c:pt>
                <c:pt idx="3">
                  <c:v>Security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16.666666666666668</c:v>
                </c:pt>
                <c:pt idx="1">
                  <c:v>46.15384615384615</c:v>
                </c:pt>
                <c:pt idx="2">
                  <c:v>66.66666666666667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98D-4640-8B14-A67FDFDE3FF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Architecture Quality</c:v>
                </c:pt>
                <c:pt idx="1">
                  <c:v>Maintainability</c:v>
                </c:pt>
                <c:pt idx="2">
                  <c:v>Open Source Health</c:v>
                </c:pt>
                <c:pt idx="3">
                  <c:v>Security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8.333333333333334</c:v>
                </c:pt>
                <c:pt idx="1">
                  <c:v>7.6923076923076925</c:v>
                </c:pt>
                <c:pt idx="2">
                  <c:v>0.0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98D-4640-8B14-A67FDFDE3FF3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Architecture Quality</c:v>
                </c:pt>
                <c:pt idx="1">
                  <c:v>Maintainability</c:v>
                </c:pt>
                <c:pt idx="2">
                  <c:v>Open Source Health</c:v>
                </c:pt>
                <c:pt idx="3">
                  <c:v>Security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8.333333333333334</c:v>
                </c:pt>
                <c:pt idx="1">
                  <c:v>0.0</c:v>
                </c:pt>
                <c:pt idx="2">
                  <c:v>0.0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98D-4640-8B14-A67FDFDE3F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5343-2840-AF35-77DE56009DF9}"/>
              </c:ext>
            </c:extLst>
          </c:dPt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2.7027027027027026</c:v>
                </c:pt>
                <c:pt idx="8">
                  <c:v>2.7027027027027026</c:v>
                </c:pt>
                <c:pt idx="9">
                  <c:v>48.648648648648646</c:v>
                </c:pt>
                <c:pt idx="10">
                  <c:v>48.648648648648646</c:v>
                </c:pt>
                <c:pt idx="11">
                  <c:v>51.351351351351354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5343-2840-AF35-77DE56009DF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2.7027027027027026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343-2840-AF35-77DE56009DF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2.7027027027027026</c:v>
                </c:pt>
                <c:pt idx="8">
                  <c:v>2.7027027027027026</c:v>
                </c:pt>
                <c:pt idx="9">
                  <c:v>24.324324324324323</c:v>
                </c:pt>
                <c:pt idx="10">
                  <c:v>43.24324324324324</c:v>
                </c:pt>
                <c:pt idx="11">
                  <c:v>43.24324324324324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343-2840-AF35-77DE56009DF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2.7027027027027026</c:v>
                </c:pt>
                <c:pt idx="10">
                  <c:v>5.405405405405405</c:v>
                </c:pt>
                <c:pt idx="11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343-2840-AF35-77DE56009DF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  <c:pt idx="4">
                  <c:v>100.0</c:v>
                </c:pt>
                <c:pt idx="5">
                  <c:v>100.0</c:v>
                </c:pt>
                <c:pt idx="6">
                  <c:v>100.0</c:v>
                </c:pt>
                <c:pt idx="7">
                  <c:v>94.5945945945946</c:v>
                </c:pt>
                <c:pt idx="8">
                  <c:v>94.5945945945946</c:v>
                </c:pt>
                <c:pt idx="9">
                  <c:v>24.324324324324323</c:v>
                </c:pt>
                <c:pt idx="10">
                  <c:v>2.7027027027027026</c:v>
                </c:pt>
                <c:pt idx="11">
                  <c:v>2.7027027027027026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343-2840-AF35-77DE56009D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5A7D-2A41-8E40-3CF6BA9EF6C8}"/>
              </c:ext>
            </c:extLst>
          </c:dPt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5A7D-2A41-8E40-3CF6BA9EF6C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A7D-2A41-8E40-3CF6BA9EF6C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A7D-2A41-8E40-3CF6BA9EF6C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A7D-2A41-8E40-3CF6BA9EF6C8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A7D-2A41-8E40-3CF6BA9EF6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2F9E-3B4D-B259-782ED914E23F}"/>
              </c:ext>
            </c:extLst>
          </c:dPt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8.333333333333334</c:v>
                </c:pt>
                <c:pt idx="8">
                  <c:v>8.333333333333334</c:v>
                </c:pt>
                <c:pt idx="9">
                  <c:v>33.333333333333336</c:v>
                </c:pt>
                <c:pt idx="10">
                  <c:v>33.333333333333336</c:v>
                </c:pt>
                <c:pt idx="11">
                  <c:v>41.666666666666664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2F9E-3B4D-B259-782ED914E23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8.333333333333334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F9E-3B4D-B259-782ED914E23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66.66666666666667</c:v>
                </c:pt>
                <c:pt idx="11">
                  <c:v>50.0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F9E-3B4D-B259-782ED914E23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F9E-3B4D-B259-782ED914E23F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  <c:pt idx="4">
                  <c:v>100.0</c:v>
                </c:pt>
                <c:pt idx="5">
                  <c:v>100.0</c:v>
                </c:pt>
                <c:pt idx="6">
                  <c:v>100.0</c:v>
                </c:pt>
                <c:pt idx="7">
                  <c:v>91.66666666666667</c:v>
                </c:pt>
                <c:pt idx="8">
                  <c:v>91.66666666666667</c:v>
                </c:pt>
                <c:pt idx="9">
                  <c:v>66.66666666666667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F9E-3B4D-B259-782ED914E2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BA9D-A148-A366-632DBB31698B}"/>
              </c:ext>
            </c:extLst>
          </c:dPt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46.15384615384615</c:v>
                </c:pt>
                <c:pt idx="10">
                  <c:v>46.15384615384615</c:v>
                </c:pt>
                <c:pt idx="11">
                  <c:v>46.15384615384615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BA9D-A148-A366-632DBB31698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A9D-A148-A366-632DBB31698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7.6923076923076925</c:v>
                </c:pt>
                <c:pt idx="8">
                  <c:v>7.6923076923076925</c:v>
                </c:pt>
                <c:pt idx="9">
                  <c:v>46.15384615384615</c:v>
                </c:pt>
                <c:pt idx="10">
                  <c:v>53.84615384615385</c:v>
                </c:pt>
                <c:pt idx="11">
                  <c:v>53.84615384615385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A9D-A148-A366-632DBB31698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7.6923076923076925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A9D-A148-A366-632DBB31698B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  <c:pt idx="4">
                  <c:v>100.0</c:v>
                </c:pt>
                <c:pt idx="5">
                  <c:v>100.0</c:v>
                </c:pt>
                <c:pt idx="6">
                  <c:v>100.0</c:v>
                </c:pt>
                <c:pt idx="7">
                  <c:v>92.3076923076923</c:v>
                </c:pt>
                <c:pt idx="8">
                  <c:v>92.3076923076923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A9D-A148-A366-632DBB3169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9CDF-4B43-A58B-3C03F478D7BE}"/>
              </c:ext>
            </c:extLst>
          </c:dPt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66.66666666666667</c:v>
                </c:pt>
                <c:pt idx="10">
                  <c:v>66.66666666666667</c:v>
                </c:pt>
                <c:pt idx="11">
                  <c:v>66.66666666666667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9CDF-4B43-A58B-3C03F478D7B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CDF-4B43-A58B-3C03F478D7B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25.0</c:v>
                </c:pt>
                <c:pt idx="10">
                  <c:v>8.333333333333334</c:v>
                </c:pt>
                <c:pt idx="11">
                  <c:v>25.0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CDF-4B43-A58B-3C03F478D7B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16.666666666666668</c:v>
                </c:pt>
                <c:pt idx="11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CDF-4B43-A58B-3C03F478D7B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  <c:pt idx="4">
                  <c:v>100.0</c:v>
                </c:pt>
                <c:pt idx="5">
                  <c:v>100.0</c:v>
                </c:pt>
                <c:pt idx="6">
                  <c:v>100.0</c:v>
                </c:pt>
                <c:pt idx="7">
                  <c:v>100.0</c:v>
                </c:pt>
                <c:pt idx="8">
                  <c:v>100.0</c:v>
                </c:pt>
                <c:pt idx="9">
                  <c:v>8.333333333333334</c:v>
                </c:pt>
                <c:pt idx="10">
                  <c:v>8.333333333333334</c:v>
                </c:pt>
                <c:pt idx="11">
                  <c:v>8.333333333333334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CDF-4B43-A58B-3C03F478D7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Portfolio</c:v>
                </c:pt>
              </c:strCache>
            </c:strRef>
          </c:tx>
          <c:spPr>
            <a:ln w="19050" cap="rnd">
              <a:noFill/>
              <a:round/>
            </a:ln>
            <a:effectLst>
              <a:outerShdw blurRad="76200" sx="102000" sy="102000" algn="ctr" rotWithShape="0">
                <a:schemeClr val="accent3">
                  <a:alpha val="30000"/>
                </a:schemeClr>
              </a:outerShdw>
            </a:effectLst>
          </c:spPr>
          <c:marker>
            <c:symbol val="diamond"/>
            <c:size val="11"/>
            <c:spPr>
              <a:solidFill>
                <a:schemeClr val="accent4">
                  <a:alpha val="55000"/>
                </a:schemeClr>
              </a:solidFill>
              <a:ln w="38100">
                <a:gradFill>
                  <a:gsLst>
                    <a:gs pos="58000">
                      <a:schemeClr val="accent4"/>
                    </a:gs>
                    <a:gs pos="23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76200" sx="102000" sy="102000" algn="ctr" rotWithShape="0">
                  <a:schemeClr val="accent3">
                    <a:alpha val="30000"/>
                  </a:schemeClr>
                </a:outerShdw>
              </a:effectLst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t>integrationtest-zuul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B86A-D14B-85E9-B8DEC18B60F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integrationtest-facebookyoga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E2E4-0547-BD87-A6B50BFB06E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t>integrationtest-jruby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E2E4-0547-BD87-A6B50BFB06ED}"/>
                </c:ext>
              </c:extLst>
            </c:dLbl>
            <c:dLbl>
              <c:idx val="3"/>
              <c:layout>
                <c:manualLayout>
                  <c:x val="-2.3413399101154898E-2"/>
                  <c:y val="-4.5616973413873718E-2"/>
                </c:manualLayout>
              </c:layout>
              <c:tx>
                <c:rich>
                  <a:bodyPr/>
                  <a:lstStyle/>
                  <a:p>
                    <a:r>
                      <a:t>integrationtest-webpack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2-B86A-D14B-85E9-B8DEC18B60F7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t>integrationtest-git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E2E4-0547-BD87-A6B50BFB06ED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t>integrationtest-bazel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E2E4-0547-BD87-A6B50BFB06ED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t>integrationtest-electron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E2E4-0547-BD87-A6B50BFB06ED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t>integrationtest-druid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E2E4-0547-BD87-A6B50BFB06ED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t>integrationtest-kafka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E2E4-0547-BD87-A6B50BFB06ED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t>integrationtest-airflow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E2E4-0547-BD87-A6B50BFB06ED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t>integrationtest-vscode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integrationtest-elasticsearch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.0" sourceLinked="0"/>
            <c:spPr>
              <a:gradFill>
                <a:gsLst>
                  <a:gs pos="36000">
                    <a:schemeClr val="accent4">
                      <a:alpha val="90000"/>
                    </a:schemeClr>
                  </a:gs>
                  <a:gs pos="15000">
                    <a:srgbClr val="E98C36"/>
                  </a:gs>
                </a:gsLst>
                <a:lin ang="2700000" scaled="0"/>
              </a:gradFill>
              <a:ln>
                <a:noFill/>
              </a:ln>
              <a:effectLst>
                <a:outerShdw blurRad="187732" sx="102000" sy="102000" algn="ctr" rotWithShape="0">
                  <a:prstClr val="black">
                    <a:alpha val="19735"/>
                  </a:prstClr>
                </a:outerShdw>
              </a:effectLst>
            </c:spPr>
            <c:txPr>
              <a:bodyPr rot="0" spcFirstLastPara="1" vertOverflow="clip" horzOverflow="clip" vert="horz" wrap="none" lIns="36576" tIns="0" rIns="36576" bIns="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  <c15:showDataLabelsRange val="1"/>
                <c15:showLeaderLines val="0"/>
              </c:ext>
            </c:extLst>
          </c:dLbls>
          <c:xVal>
            <c:numRef>
              <c:f>Sheet1!$A$2:$A$13</c:f>
              <c:numCache>
                <c:formatCode>General</c:formatCode>
                <c:ptCount val="12"/>
                <c:pt idx="0">
                  <c:v>2.1457777777777776</c:v>
                </c:pt>
                <c:pt idx="1">
                  <c:v>3.6036445657400105</c:v>
                </c:pt>
                <c:pt idx="2">
                  <c:v>36.35964730933028</c:v>
                </c:pt>
                <c:pt idx="3">
                  <c:v>10.991592990840298</c:v>
                </c:pt>
                <c:pt idx="4">
                  <c:v>36.830844725281914</c:v>
                </c:pt>
                <c:pt idx="5">
                  <c:v>6.7400960365853635</c:v>
                </c:pt>
                <c:pt idx="6">
                  <c:v>12.957363313311658</c:v>
                </c:pt>
                <c:pt idx="7">
                  <c:v>26.774372759856643</c:v>
                </c:pt>
                <c:pt idx="8">
                  <c:v>42.6041631944445</c:v>
                </c:pt>
                <c:pt idx="9">
                  <c:v>55.50518282469105</c:v>
                </c:pt>
                <c:pt idx="10">
                  <c:v>77.33298297129431</c:v>
                </c:pt>
                <c:pt idx="11">
                  <c:v>262.70099258506497</c:v>
                </c:pt>
              </c:numCache>
            </c:num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3.359850166537113</c:v>
                </c:pt>
                <c:pt idx="1">
                  <c:v>2.9112640701670003</c:v>
                </c:pt>
                <c:pt idx="2">
                  <c:v>2.4421437427141464</c:v>
                </c:pt>
                <c:pt idx="3">
                  <c:v>3.0922316739084184</c:v>
                </c:pt>
                <c:pt idx="4">
                  <c:v>2.123208503605678</c:v>
                </c:pt>
                <c:pt idx="5">
                  <c:v>3.3472615146464455</c:v>
                </c:pt>
                <c:pt idx="6">
                  <c:v>3.557961475143022</c:v>
                </c:pt>
                <c:pt idx="7">
                  <c:v>2.5713015651373246</c:v>
                </c:pt>
                <c:pt idx="8">
                  <c:v>2.644363023714699</c:v>
                </c:pt>
                <c:pt idx="9">
                  <c:v>2.2502888470290587</c:v>
                </c:pt>
                <c:pt idx="10">
                  <c:v>3.0519608059230676</c:v>
                </c:pt>
                <c:pt idx="11">
                  <c:v>2.369866173752676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Sheet1!$C$2:$C$11</c15:f>
                <c15:dlblRangeCache>
                  <c:ptCount val="10"/>
                  <c:pt idx="0">
                    <c:v>System 1</c:v>
                  </c:pt>
                  <c:pt idx="1">
                    <c:v>System 2</c:v>
                  </c:pt>
                  <c:pt idx="2">
                    <c:v>System 3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3-B86A-D14B-85E9-B8DEC18B60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49584720"/>
        <c:axId val="1649586368"/>
      </c:scatterChart>
      <c:valAx>
        <c:axId val="1649584720"/>
        <c:scaling>
          <c:logBase val="10"/>
          <c:orientation val="minMax"/>
          <c:max val="10000"/>
          <c:min val="0.1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2">
                    <a:lumMod val="25000"/>
                    <a:lumOff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6368"/>
        <c:crosses val="autoZero"/>
        <c:crossBetween val="midCat"/>
      </c:valAx>
      <c:valAx>
        <c:axId val="1649586368"/>
        <c:scaling>
          <c:orientation val="minMax"/>
          <c:max val="5.5"/>
          <c:min val="0.5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>
                    <a:lumMod val="25000"/>
                    <a:lumOff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4720"/>
        <c:crossesAt val="0.1"/>
        <c:crossBetween val="midCat"/>
        <c:majorUnit val="1"/>
        <c:minorUnit val="0.5"/>
      </c:valAx>
      <c:spPr>
        <a:noFill/>
        <a:ln>
          <a:noFill/>
        </a:ln>
        <a:effectLst/>
      </c:spPr>
    </c:plotArea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24475308641975E-2"/>
          <c:y val="5.5420651472336685E-2"/>
          <c:w val="0.87405833333333338"/>
          <c:h val="0.6666667989039644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risk</c:v>
                </c:pt>
              </c:strCache>
            </c:strRef>
          </c:tx>
          <c:spPr>
            <a:solidFill>
              <a:srgbClr val="910813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</c:v>
                </c:pt>
                <c:pt idx="1">
                  <c:v>16</c:v>
                </c:pt>
                <c:pt idx="2">
                  <c:v>16</c:v>
                </c:pt>
                <c:pt idx="3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3E-B549-A770-4B561453C6B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risk</c:v>
                </c:pt>
              </c:strCache>
            </c:strRef>
          </c:tx>
          <c:spPr>
            <a:solidFill>
              <a:srgbClr val="CF4731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983E-B549-A770-4B561453C6BF}"/>
              </c:ext>
            </c:extLst>
          </c:dPt>
          <c:dPt>
            <c:idx val="3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983E-B549-A770-4B561453C6BF}"/>
              </c:ext>
            </c:extLst>
          </c:dPt>
          <c:dPt>
            <c:idx val="4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983E-B549-A770-4B561453C6BF}"/>
              </c:ext>
            </c:extLst>
          </c:dPt>
          <c:dPt>
            <c:idx val="5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983E-B549-A770-4B561453C6BF}"/>
              </c:ext>
            </c:extLst>
          </c:dPt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</c:v>
                </c:pt>
                <c:pt idx="1">
                  <c:v>16</c:v>
                </c:pt>
                <c:pt idx="2">
                  <c:v>16</c:v>
                </c:pt>
                <c:pt idx="3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983E-B549-A770-4B561453C6B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risk</c:v>
                </c:pt>
              </c:strCache>
            </c:strRef>
          </c:tx>
          <c:spPr>
            <a:solidFill>
              <a:srgbClr val="E78E17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983E-B549-A770-4B561453C6BF}"/>
              </c:ext>
            </c:extLst>
          </c:dPt>
          <c:dPt>
            <c:idx val="5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983E-B549-A770-4B561453C6BF}"/>
              </c:ext>
            </c:extLst>
          </c:dPt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16</c:v>
                </c:pt>
                <c:pt idx="1">
                  <c:v>16</c:v>
                </c:pt>
                <c:pt idx="2">
                  <c:v>16</c:v>
                </c:pt>
                <c:pt idx="3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983E-B549-A770-4B561453C6B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 risk</c:v>
                </c:pt>
              </c:strCache>
            </c:strRef>
          </c:tx>
          <c:spPr>
            <a:solidFill>
              <a:srgbClr val="EBC937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16</c:v>
                </c:pt>
                <c:pt idx="1">
                  <c:v>16</c:v>
                </c:pt>
                <c:pt idx="2">
                  <c:v>16</c:v>
                </c:pt>
                <c:pt idx="3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983E-B549-A770-4B561453C6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358545104"/>
        <c:axId val="1358370032"/>
      </c:barChart>
      <c:catAx>
        <c:axId val="135854510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358370032"/>
        <c:crosses val="autoZero"/>
        <c:auto val="1"/>
        <c:lblAlgn val="ctr"/>
        <c:lblOffset val="100"/>
        <c:noMultiLvlLbl val="0"/>
      </c:catAx>
      <c:valAx>
        <c:axId val="1358370032"/>
        <c:scaling>
          <c:orientation val="minMax"/>
          <c:max val="70.4"/>
          <c:min val="0.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60000"/>
                  <a:lumOff val="40000"/>
                  <a:alpha val="3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358545104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89604363196085568"/>
          <c:w val="1"/>
          <c:h val="6.8688680738566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defRPr>
          </a:pPr>
          <a:endParaRPr lang="en-N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24475308641975E-2"/>
          <c:y val="5.5420651472336685E-2"/>
          <c:w val="0.87405833333333338"/>
          <c:h val="0.6666667989039644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risk</c:v>
                </c:pt>
              </c:strCache>
            </c:strRef>
          </c:tx>
          <c:spPr>
            <a:solidFill>
              <a:srgbClr val="910813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Legal risk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</c:v>
                </c:pt>
                <c:pt idx="1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08-9C42-B1E9-65C8973ABF7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risk</c:v>
                </c:pt>
              </c:strCache>
            </c:strRef>
          </c:tx>
          <c:spPr>
            <a:solidFill>
              <a:srgbClr val="CF4731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308-9C42-B1E9-65C8973ABF79}"/>
              </c:ext>
            </c:extLst>
          </c:dPt>
          <c:dPt>
            <c:idx val="3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6308-9C42-B1E9-65C8973ABF79}"/>
              </c:ext>
            </c:extLst>
          </c:dPt>
          <c:dPt>
            <c:idx val="4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6308-9C42-B1E9-65C8973ABF79}"/>
              </c:ext>
            </c:extLst>
          </c:dPt>
          <c:dPt>
            <c:idx val="5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6308-9C42-B1E9-65C8973ABF79}"/>
              </c:ext>
            </c:extLst>
          </c:dPt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Legal risk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16</c:v>
                </c:pt>
                <c:pt idx="1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6308-9C42-B1E9-65C8973ABF7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risk</c:v>
                </c:pt>
              </c:strCache>
            </c:strRef>
          </c:tx>
          <c:spPr>
            <a:solidFill>
              <a:srgbClr val="E78E17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6308-9C42-B1E9-65C8973ABF79}"/>
              </c:ext>
            </c:extLst>
          </c:dPt>
          <c:dPt>
            <c:idx val="5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6308-9C42-B1E9-65C8973ABF79}"/>
              </c:ext>
            </c:extLst>
          </c:dPt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Legal risk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16</c:v>
                </c:pt>
                <c:pt idx="1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6308-9C42-B1E9-65C8973ABF7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 risk</c:v>
                </c:pt>
              </c:strCache>
            </c:strRef>
          </c:tx>
          <c:spPr>
            <a:solidFill>
              <a:srgbClr val="EBC937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Legal risk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16</c:v>
                </c:pt>
                <c:pt idx="1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6308-9C42-B1E9-65C8973ABF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358545104"/>
        <c:axId val="1358370032"/>
      </c:barChart>
      <c:catAx>
        <c:axId val="135854510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358370032"/>
        <c:crosses val="autoZero"/>
        <c:auto val="1"/>
        <c:lblAlgn val="ctr"/>
        <c:lblOffset val="100"/>
        <c:noMultiLvlLbl val="0"/>
      </c:catAx>
      <c:valAx>
        <c:axId val="1358370032"/>
        <c:scaling>
          <c:orientation val="minMax"/>
          <c:max val="70.4"/>
          <c:min val="0.0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60000"/>
                  <a:lumOff val="40000"/>
                  <a:alpha val="3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358545104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Sheet1!$A$2:$A$36</c:f>
              <c:strCache>
                <c:ptCount val="35"/>
                <c:pt idx="0">
                  <c:v>Apr</c:v>
                </c:pt>
                <c:pt idx="1">
                  <c:v/>
                </c:pt>
                <c:pt idx="2">
                  <c:v/>
                </c:pt>
                <c:pt idx="3">
                  <c:v>May</c:v>
                </c:pt>
                <c:pt idx="4">
                  <c:v/>
                </c:pt>
                <c:pt idx="5">
                  <c:v/>
                </c:pt>
                <c:pt idx="6">
                  <c:v>Jun</c:v>
                </c:pt>
                <c:pt idx="7">
                  <c:v/>
                </c:pt>
                <c:pt idx="8">
                  <c:v/>
                </c:pt>
                <c:pt idx="9">
                  <c:v>Jul</c:v>
                </c:pt>
                <c:pt idx="10">
                  <c:v/>
                </c:pt>
                <c:pt idx="11">
                  <c:v/>
                </c:pt>
                <c:pt idx="12">
                  <c:v>Aug</c:v>
                </c:pt>
                <c:pt idx="13">
                  <c:v/>
                </c:pt>
                <c:pt idx="14">
                  <c:v/>
                </c:pt>
                <c:pt idx="15">
                  <c:v>Sep</c:v>
                </c:pt>
                <c:pt idx="16">
                  <c:v/>
                </c:pt>
                <c:pt idx="17">
                  <c:v/>
                </c:pt>
                <c:pt idx="18">
                  <c:v>Oct</c:v>
                </c:pt>
                <c:pt idx="19">
                  <c:v/>
                </c:pt>
                <c:pt idx="20">
                  <c:v/>
                </c:pt>
                <c:pt idx="21">
                  <c:v>Nov</c:v>
                </c:pt>
                <c:pt idx="22">
                  <c:v/>
                </c:pt>
                <c:pt idx="23">
                  <c:v/>
                </c:pt>
                <c:pt idx="24">
                  <c:v>Dec</c:v>
                </c:pt>
                <c:pt idx="25">
                  <c:v/>
                </c:pt>
                <c:pt idx="26">
                  <c:v/>
                </c:pt>
                <c:pt idx="27">
                  <c:v>Jan</c:v>
                </c:pt>
                <c:pt idx="28">
                  <c:v/>
                </c:pt>
                <c:pt idx="29">
                  <c:v/>
                </c:pt>
                <c:pt idx="30">
                  <c:v>Feb</c:v>
                </c:pt>
                <c:pt idx="31">
                  <c:v/>
                </c:pt>
                <c:pt idx="32">
                  <c:v/>
                </c:pt>
                <c:pt idx="33">
                  <c:v>Mar</c:v>
                </c:pt>
                <c:pt idx="34">
                  <c:v/>
                </c:pt>
              </c:strCache>
            </c:strRef>
          </c:cat>
          <c:val>
            <c:numRef>
              <c:f>Sheet1!$B$2:$B$36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15</c:v>
                </c:pt>
                <c:pt idx="28">
                  <c:v>0</c:v>
                </c:pt>
                <c:pt idx="29">
                  <c:v>0</c:v>
                </c:pt>
                <c:pt idx="30">
                  <c:v>7</c:v>
                </c:pt>
                <c:pt idx="31">
                  <c:v>0</c:v>
                </c:pt>
                <c:pt idx="32">
                  <c:v>0</c:v>
                </c:pt>
                <c:pt idx="33">
                  <c:v>334</c:v>
                </c:pt>
                <c:pt idx="3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1D-B549-A7DE-EF4D33711D1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Existing</c:v>
                </c:pt>
              </c:strCache>
            </c:strRef>
          </c:tx>
          <c:spPr>
            <a:solidFill>
              <a:srgbClr val="B6C4FF"/>
            </a:solidFill>
            <a:ln>
              <a:noFill/>
            </a:ln>
            <a:effectLst>
              <a:outerShdw blurRad="50800" dist="50800" dir="5400000" algn="ctr" rotWithShape="0">
                <a:srgbClr val="B6C4FF"/>
              </a:outerShdw>
            </a:effectLst>
          </c:spPr>
          <c:invertIfNegative val="0"/>
          <c:cat>
            <c:strRef>
              <c:f>Sheet1!$A$2:$A$36</c:f>
              <c:strCache>
                <c:ptCount val="35"/>
                <c:pt idx="0">
                  <c:v>Apr</c:v>
                </c:pt>
                <c:pt idx="1">
                  <c:v/>
                </c:pt>
                <c:pt idx="2">
                  <c:v/>
                </c:pt>
                <c:pt idx="3">
                  <c:v>May</c:v>
                </c:pt>
                <c:pt idx="4">
                  <c:v/>
                </c:pt>
                <c:pt idx="5">
                  <c:v/>
                </c:pt>
                <c:pt idx="6">
                  <c:v>Jun</c:v>
                </c:pt>
                <c:pt idx="7">
                  <c:v/>
                </c:pt>
                <c:pt idx="8">
                  <c:v/>
                </c:pt>
                <c:pt idx="9">
                  <c:v>Jul</c:v>
                </c:pt>
                <c:pt idx="10">
                  <c:v/>
                </c:pt>
                <c:pt idx="11">
                  <c:v/>
                </c:pt>
                <c:pt idx="12">
                  <c:v>Aug</c:v>
                </c:pt>
                <c:pt idx="13">
                  <c:v/>
                </c:pt>
                <c:pt idx="14">
                  <c:v/>
                </c:pt>
                <c:pt idx="15">
                  <c:v>Sep</c:v>
                </c:pt>
                <c:pt idx="16">
                  <c:v/>
                </c:pt>
                <c:pt idx="17">
                  <c:v/>
                </c:pt>
                <c:pt idx="18">
                  <c:v>Oct</c:v>
                </c:pt>
                <c:pt idx="19">
                  <c:v/>
                </c:pt>
                <c:pt idx="20">
                  <c:v/>
                </c:pt>
                <c:pt idx="21">
                  <c:v>Nov</c:v>
                </c:pt>
                <c:pt idx="22">
                  <c:v/>
                </c:pt>
                <c:pt idx="23">
                  <c:v/>
                </c:pt>
                <c:pt idx="24">
                  <c:v>Dec</c:v>
                </c:pt>
                <c:pt idx="25">
                  <c:v/>
                </c:pt>
                <c:pt idx="26">
                  <c:v/>
                </c:pt>
                <c:pt idx="27">
                  <c:v>Jan</c:v>
                </c:pt>
                <c:pt idx="28">
                  <c:v/>
                </c:pt>
                <c:pt idx="29">
                  <c:v/>
                </c:pt>
                <c:pt idx="30">
                  <c:v>Feb</c:v>
                </c:pt>
                <c:pt idx="31">
                  <c:v/>
                </c:pt>
                <c:pt idx="32">
                  <c:v/>
                </c:pt>
                <c:pt idx="33">
                  <c:v>Mar</c:v>
                </c:pt>
                <c:pt idx="34">
                  <c:v/>
                </c:pt>
              </c:strCache>
            </c:strRef>
          </c:cat>
          <c:val>
            <c:numRef>
              <c:f>Sheet1!$C$2:$C$36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15</c:v>
                </c:pt>
                <c:pt idx="31">
                  <c:v>0</c:v>
                </c:pt>
                <c:pt idx="32">
                  <c:v>0</c:v>
                </c:pt>
                <c:pt idx="33">
                  <c:v>22</c:v>
                </c:pt>
                <c:pt idx="3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71D-B549-A7DE-EF4D33711D1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Resolved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>
              <a:outerShdw blurRad="50800" dist="50800" dir="5400000" algn="ctr" rotWithShape="0">
                <a:srgbClr val="40C360"/>
              </a:outerShdw>
            </a:effectLst>
          </c:spPr>
          <c:invertIfNegative val="0"/>
          <c:cat>
            <c:strRef>
              <c:f>Sheet1!$A$2:$A$36</c:f>
              <c:strCache>
                <c:ptCount val="35"/>
                <c:pt idx="0">
                  <c:v>Apr</c:v>
                </c:pt>
                <c:pt idx="1">
                  <c:v/>
                </c:pt>
                <c:pt idx="2">
                  <c:v/>
                </c:pt>
                <c:pt idx="3">
                  <c:v>May</c:v>
                </c:pt>
                <c:pt idx="4">
                  <c:v/>
                </c:pt>
                <c:pt idx="5">
                  <c:v/>
                </c:pt>
                <c:pt idx="6">
                  <c:v>Jun</c:v>
                </c:pt>
                <c:pt idx="7">
                  <c:v/>
                </c:pt>
                <c:pt idx="8">
                  <c:v/>
                </c:pt>
                <c:pt idx="9">
                  <c:v>Jul</c:v>
                </c:pt>
                <c:pt idx="10">
                  <c:v/>
                </c:pt>
                <c:pt idx="11">
                  <c:v/>
                </c:pt>
                <c:pt idx="12">
                  <c:v>Aug</c:v>
                </c:pt>
                <c:pt idx="13">
                  <c:v/>
                </c:pt>
                <c:pt idx="14">
                  <c:v/>
                </c:pt>
                <c:pt idx="15">
                  <c:v>Sep</c:v>
                </c:pt>
                <c:pt idx="16">
                  <c:v/>
                </c:pt>
                <c:pt idx="17">
                  <c:v/>
                </c:pt>
                <c:pt idx="18">
                  <c:v>Oct</c:v>
                </c:pt>
                <c:pt idx="19">
                  <c:v/>
                </c:pt>
                <c:pt idx="20">
                  <c:v/>
                </c:pt>
                <c:pt idx="21">
                  <c:v>Nov</c:v>
                </c:pt>
                <c:pt idx="22">
                  <c:v/>
                </c:pt>
                <c:pt idx="23">
                  <c:v/>
                </c:pt>
                <c:pt idx="24">
                  <c:v>Dec</c:v>
                </c:pt>
                <c:pt idx="25">
                  <c:v/>
                </c:pt>
                <c:pt idx="26">
                  <c:v/>
                </c:pt>
                <c:pt idx="27">
                  <c:v>Jan</c:v>
                </c:pt>
                <c:pt idx="28">
                  <c:v/>
                </c:pt>
                <c:pt idx="29">
                  <c:v/>
                </c:pt>
                <c:pt idx="30">
                  <c:v>Feb</c:v>
                </c:pt>
                <c:pt idx="31">
                  <c:v/>
                </c:pt>
                <c:pt idx="32">
                  <c:v/>
                </c:pt>
                <c:pt idx="33">
                  <c:v>Mar</c:v>
                </c:pt>
                <c:pt idx="34">
                  <c:v/>
                </c:pt>
              </c:strCache>
            </c:strRef>
          </c:cat>
          <c:val>
            <c:numRef>
              <c:f>Sheet1!$D$2:$D$36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71D-B549-A7DE-EF4D33711D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3"/>
          <c:tx>
            <c:strRef>
              <c:f>Sheet1!$E$1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71D-B549-A7DE-EF4D33711D1D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71D-B549-A7DE-EF4D33711D1D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71D-B549-A7DE-EF4D33711D1D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71D-B549-A7DE-EF4D33711D1D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71D-B549-A7DE-EF4D33711D1D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71D-B549-A7DE-EF4D33711D1D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71D-B549-A7DE-EF4D33711D1D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171D-B549-A7DE-EF4D33711D1D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171D-B549-A7DE-EF4D33711D1D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171D-B549-A7DE-EF4D33711D1D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171D-B549-A7DE-EF4D33711D1D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171D-B549-A7DE-EF4D33711D1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Apr</c:v>
                </c:pt>
                <c:pt idx="1">
                  <c:v/>
                </c:pt>
                <c:pt idx="2">
                  <c:v/>
                </c:pt>
                <c:pt idx="3">
                  <c:v>May</c:v>
                </c:pt>
                <c:pt idx="4">
                  <c:v/>
                </c:pt>
                <c:pt idx="5">
                  <c:v/>
                </c:pt>
                <c:pt idx="6">
                  <c:v>Jun</c:v>
                </c:pt>
                <c:pt idx="7">
                  <c:v/>
                </c:pt>
                <c:pt idx="8">
                  <c:v/>
                </c:pt>
                <c:pt idx="9">
                  <c:v>Jul</c:v>
                </c:pt>
                <c:pt idx="10">
                  <c:v/>
                </c:pt>
                <c:pt idx="11">
                  <c:v/>
                </c:pt>
                <c:pt idx="12">
                  <c:v>Aug</c:v>
                </c:pt>
                <c:pt idx="13">
                  <c:v/>
                </c:pt>
                <c:pt idx="14">
                  <c:v/>
                </c:pt>
                <c:pt idx="15">
                  <c:v>Sep</c:v>
                </c:pt>
                <c:pt idx="16">
                  <c:v/>
                </c:pt>
                <c:pt idx="17">
                  <c:v/>
                </c:pt>
                <c:pt idx="18">
                  <c:v>Oct</c:v>
                </c:pt>
                <c:pt idx="19">
                  <c:v/>
                </c:pt>
                <c:pt idx="20">
                  <c:v/>
                </c:pt>
                <c:pt idx="21">
                  <c:v>Nov</c:v>
                </c:pt>
                <c:pt idx="22">
                  <c:v/>
                </c:pt>
                <c:pt idx="23">
                  <c:v/>
                </c:pt>
                <c:pt idx="24">
                  <c:v>Dec</c:v>
                </c:pt>
                <c:pt idx="25">
                  <c:v/>
                </c:pt>
                <c:pt idx="26">
                  <c:v/>
                </c:pt>
                <c:pt idx="27">
                  <c:v>Jan</c:v>
                </c:pt>
                <c:pt idx="28">
                  <c:v/>
                </c:pt>
                <c:pt idx="29">
                  <c:v/>
                </c:pt>
                <c:pt idx="30">
                  <c:v>Feb</c:v>
                </c:pt>
                <c:pt idx="31">
                  <c:v/>
                </c:pt>
                <c:pt idx="32">
                  <c:v/>
                </c:pt>
                <c:pt idx="33">
                  <c:v>Mar</c:v>
                </c:pt>
                <c:pt idx="34">
                  <c:v/>
                </c:pt>
              </c:strCache>
            </c:strRef>
          </c:cat>
          <c:val>
            <c:numRef>
              <c:f>Sheet1!$E$2:$E$36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15</c:v>
                </c:pt>
                <c:pt idx="28">
                  <c:v>0</c:v>
                </c:pt>
                <c:pt idx="29">
                  <c:v>0</c:v>
                </c:pt>
                <c:pt idx="30">
                  <c:v>22</c:v>
                </c:pt>
                <c:pt idx="31">
                  <c:v>0</c:v>
                </c:pt>
                <c:pt idx="32">
                  <c:v>0</c:v>
                </c:pt>
                <c:pt idx="33">
                  <c:v>356</c:v>
                </c:pt>
                <c:pt idx="3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171D-B549-A7DE-EF4D33711D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8909766555187129E-2"/>
          <c:y val="6.0220552925546358E-2"/>
          <c:w val="0.94218046688962576"/>
          <c:h val="0.6722109521227206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 most 7 days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0E-0B4B-A8CF-968C5F8B2D4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between 7 and 14 days</c:v>
                </c:pt>
              </c:strCache>
            </c:strRef>
          </c:tx>
          <c:spPr>
            <a:solidFill>
              <a:srgbClr val="39A498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80E-0B4B-A8CF-968C5F8B2D4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between 14 and 30 days</c:v>
                </c:pt>
              </c:strCache>
            </c:strRef>
          </c:tx>
          <c:spPr>
            <a:solidFill>
              <a:srgbClr val="358AC7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80E-0B4B-A8CF-968C5F8B2D4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at least 30 days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80E-0B4B-A8CF-968C5F8B2D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4"/>
          <c:tx>
            <c:strRef>
              <c:f>Sheet1!$F$1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980E-0B4B-A8CF-968C5F8B2D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4"/>
        <c:delete val="1"/>
      </c:legendEntry>
      <c:layout>
        <c:manualLayout>
          <c:xMode val="edge"/>
          <c:yMode val="edge"/>
          <c:x val="0"/>
          <c:y val="0.85514823222286696"/>
          <c:w val="0.99682530616518883"/>
          <c:h val="0.144851767777133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951134644002104E-2"/>
          <c:y val="6.0593337595541856E-2"/>
          <c:w val="0.91209773071199585"/>
          <c:h val="0.6451672367442856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 most 14 days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5</c:v>
                </c:pt>
                <c:pt idx="10">
                  <c:v>3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27-A747-9927-F7F0E1E987C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between 14 and 30 days</c:v>
                </c:pt>
              </c:strCache>
            </c:strRef>
          </c:tx>
          <c:spPr>
            <a:solidFill>
              <a:srgbClr val="39A498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4</c:v>
                </c:pt>
                <c:pt idx="10">
                  <c:v>7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27-A747-9927-F7F0E1E987C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between 30 and 180 days</c:v>
                </c:pt>
              </c:strCache>
            </c:strRef>
          </c:tx>
          <c:spPr>
            <a:solidFill>
              <a:srgbClr val="358AC7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1</c:v>
                </c:pt>
                <c:pt idx="1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E27-A747-9927-F7F0E1E987C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at least 180 days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E27-A747-9927-F7F0E1E987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4"/>
          <c:tx>
            <c:strRef>
              <c:f>Sheet1!$F$1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9</c:v>
                </c:pt>
                <c:pt idx="10">
                  <c:v>11</c:v>
                </c:pt>
                <c:pt idx="11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0E27-A747-9927-F7F0E1E987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4"/>
        <c:delete val="1"/>
      </c:legendEntry>
      <c:layout>
        <c:manualLayout>
          <c:xMode val="edge"/>
          <c:yMode val="edge"/>
          <c:x val="0"/>
          <c:y val="0.82878023052360095"/>
          <c:w val="0.99589338467782274"/>
          <c:h val="0.1381688580606488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Sheet1!$A$2:$A$36</c:f>
              <c:strCache>
                <c:ptCount val="35"/>
                <c:pt idx="0">
                  <c:v>Apr</c:v>
                </c:pt>
                <c:pt idx="1">
                  <c:v/>
                </c:pt>
                <c:pt idx="2">
                  <c:v/>
                </c:pt>
                <c:pt idx="3">
                  <c:v>May</c:v>
                </c:pt>
                <c:pt idx="4">
                  <c:v/>
                </c:pt>
                <c:pt idx="5">
                  <c:v/>
                </c:pt>
                <c:pt idx="6">
                  <c:v>Jun</c:v>
                </c:pt>
                <c:pt idx="7">
                  <c:v/>
                </c:pt>
                <c:pt idx="8">
                  <c:v/>
                </c:pt>
                <c:pt idx="9">
                  <c:v>Jul</c:v>
                </c:pt>
                <c:pt idx="10">
                  <c:v/>
                </c:pt>
                <c:pt idx="11">
                  <c:v/>
                </c:pt>
                <c:pt idx="12">
                  <c:v>Aug</c:v>
                </c:pt>
                <c:pt idx="13">
                  <c:v/>
                </c:pt>
                <c:pt idx="14">
                  <c:v/>
                </c:pt>
                <c:pt idx="15">
                  <c:v>Sep</c:v>
                </c:pt>
                <c:pt idx="16">
                  <c:v/>
                </c:pt>
                <c:pt idx="17">
                  <c:v/>
                </c:pt>
                <c:pt idx="18">
                  <c:v>Oct</c:v>
                </c:pt>
                <c:pt idx="19">
                  <c:v/>
                </c:pt>
                <c:pt idx="20">
                  <c:v/>
                </c:pt>
                <c:pt idx="21">
                  <c:v>Nov</c:v>
                </c:pt>
                <c:pt idx="22">
                  <c:v/>
                </c:pt>
                <c:pt idx="23">
                  <c:v/>
                </c:pt>
                <c:pt idx="24">
                  <c:v>Dec</c:v>
                </c:pt>
                <c:pt idx="25">
                  <c:v/>
                </c:pt>
                <c:pt idx="26">
                  <c:v/>
                </c:pt>
                <c:pt idx="27">
                  <c:v>Jan</c:v>
                </c:pt>
                <c:pt idx="28">
                  <c:v/>
                </c:pt>
                <c:pt idx="29">
                  <c:v/>
                </c:pt>
                <c:pt idx="30">
                  <c:v>Feb</c:v>
                </c:pt>
                <c:pt idx="31">
                  <c:v/>
                </c:pt>
                <c:pt idx="32">
                  <c:v/>
                </c:pt>
                <c:pt idx="33">
                  <c:v>Mar</c:v>
                </c:pt>
                <c:pt idx="34">
                  <c:v/>
                </c:pt>
              </c:strCache>
            </c:strRef>
          </c:cat>
          <c:val>
            <c:numRef>
              <c:f>Sheet1!$B$2:$B$36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22</c:v>
                </c:pt>
                <c:pt idx="28">
                  <c:v>0</c:v>
                </c:pt>
                <c:pt idx="29">
                  <c:v>0</c:v>
                </c:pt>
                <c:pt idx="30">
                  <c:v>29</c:v>
                </c:pt>
                <c:pt idx="31">
                  <c:v>0</c:v>
                </c:pt>
                <c:pt idx="32">
                  <c:v>0</c:v>
                </c:pt>
                <c:pt idx="33">
                  <c:v>2003</c:v>
                </c:pt>
                <c:pt idx="3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F4-9648-A147-F9769DAF760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Existing</c:v>
                </c:pt>
              </c:strCache>
            </c:strRef>
          </c:tx>
          <c:spPr>
            <a:solidFill>
              <a:srgbClr val="B6C4FF"/>
            </a:solidFill>
            <a:ln>
              <a:noFill/>
            </a:ln>
            <a:effectLst>
              <a:outerShdw blurRad="50800" dist="50800" dir="5400000" algn="ctr" rotWithShape="0">
                <a:srgbClr val="B6C4FF"/>
              </a:outerShdw>
            </a:effectLst>
          </c:spPr>
          <c:invertIfNegative val="0"/>
          <c:cat>
            <c:strRef>
              <c:f>Sheet1!$A$2:$A$36</c:f>
              <c:strCache>
                <c:ptCount val="35"/>
                <c:pt idx="0">
                  <c:v>Apr</c:v>
                </c:pt>
                <c:pt idx="1">
                  <c:v/>
                </c:pt>
                <c:pt idx="2">
                  <c:v/>
                </c:pt>
                <c:pt idx="3">
                  <c:v>May</c:v>
                </c:pt>
                <c:pt idx="4">
                  <c:v/>
                </c:pt>
                <c:pt idx="5">
                  <c:v/>
                </c:pt>
                <c:pt idx="6">
                  <c:v>Jun</c:v>
                </c:pt>
                <c:pt idx="7">
                  <c:v/>
                </c:pt>
                <c:pt idx="8">
                  <c:v/>
                </c:pt>
                <c:pt idx="9">
                  <c:v>Jul</c:v>
                </c:pt>
                <c:pt idx="10">
                  <c:v/>
                </c:pt>
                <c:pt idx="11">
                  <c:v/>
                </c:pt>
                <c:pt idx="12">
                  <c:v>Aug</c:v>
                </c:pt>
                <c:pt idx="13">
                  <c:v/>
                </c:pt>
                <c:pt idx="14">
                  <c:v/>
                </c:pt>
                <c:pt idx="15">
                  <c:v>Sep</c:v>
                </c:pt>
                <c:pt idx="16">
                  <c:v/>
                </c:pt>
                <c:pt idx="17">
                  <c:v/>
                </c:pt>
                <c:pt idx="18">
                  <c:v>Oct</c:v>
                </c:pt>
                <c:pt idx="19">
                  <c:v/>
                </c:pt>
                <c:pt idx="20">
                  <c:v/>
                </c:pt>
                <c:pt idx="21">
                  <c:v>Nov</c:v>
                </c:pt>
                <c:pt idx="22">
                  <c:v/>
                </c:pt>
                <c:pt idx="23">
                  <c:v/>
                </c:pt>
                <c:pt idx="24">
                  <c:v>Dec</c:v>
                </c:pt>
                <c:pt idx="25">
                  <c:v/>
                </c:pt>
                <c:pt idx="26">
                  <c:v/>
                </c:pt>
                <c:pt idx="27">
                  <c:v>Jan</c:v>
                </c:pt>
                <c:pt idx="28">
                  <c:v/>
                </c:pt>
                <c:pt idx="29">
                  <c:v/>
                </c:pt>
                <c:pt idx="30">
                  <c:v>Feb</c:v>
                </c:pt>
                <c:pt idx="31">
                  <c:v/>
                </c:pt>
                <c:pt idx="32">
                  <c:v/>
                </c:pt>
                <c:pt idx="33">
                  <c:v>Mar</c:v>
                </c:pt>
                <c:pt idx="34">
                  <c:v/>
                </c:pt>
              </c:strCache>
            </c:strRef>
          </c:cat>
          <c:val>
            <c:numRef>
              <c:f>Sheet1!$C$2:$C$36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15</c:v>
                </c:pt>
                <c:pt idx="31">
                  <c:v>0</c:v>
                </c:pt>
                <c:pt idx="32">
                  <c:v>0</c:v>
                </c:pt>
                <c:pt idx="33">
                  <c:v>38</c:v>
                </c:pt>
                <c:pt idx="3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F4-9648-A147-F9769DAF760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Resolved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>
              <a:outerShdw blurRad="50800" dist="50800" dir="5400000" algn="ctr" rotWithShape="0">
                <a:srgbClr val="40C360"/>
              </a:outerShdw>
            </a:effectLst>
          </c:spPr>
          <c:invertIfNegative val="0"/>
          <c:cat>
            <c:strRef>
              <c:f>Sheet1!$A$2:$A$36</c:f>
              <c:strCache>
                <c:ptCount val="35"/>
                <c:pt idx="0">
                  <c:v>Apr</c:v>
                </c:pt>
                <c:pt idx="1">
                  <c:v/>
                </c:pt>
                <c:pt idx="2">
                  <c:v/>
                </c:pt>
                <c:pt idx="3">
                  <c:v>May</c:v>
                </c:pt>
                <c:pt idx="4">
                  <c:v/>
                </c:pt>
                <c:pt idx="5">
                  <c:v/>
                </c:pt>
                <c:pt idx="6">
                  <c:v>Jun</c:v>
                </c:pt>
                <c:pt idx="7">
                  <c:v/>
                </c:pt>
                <c:pt idx="8">
                  <c:v/>
                </c:pt>
                <c:pt idx="9">
                  <c:v>Jul</c:v>
                </c:pt>
                <c:pt idx="10">
                  <c:v/>
                </c:pt>
                <c:pt idx="11">
                  <c:v/>
                </c:pt>
                <c:pt idx="12">
                  <c:v>Aug</c:v>
                </c:pt>
                <c:pt idx="13">
                  <c:v/>
                </c:pt>
                <c:pt idx="14">
                  <c:v/>
                </c:pt>
                <c:pt idx="15">
                  <c:v>Sep</c:v>
                </c:pt>
                <c:pt idx="16">
                  <c:v/>
                </c:pt>
                <c:pt idx="17">
                  <c:v/>
                </c:pt>
                <c:pt idx="18">
                  <c:v>Oct</c:v>
                </c:pt>
                <c:pt idx="19">
                  <c:v/>
                </c:pt>
                <c:pt idx="20">
                  <c:v/>
                </c:pt>
                <c:pt idx="21">
                  <c:v>Nov</c:v>
                </c:pt>
                <c:pt idx="22">
                  <c:v/>
                </c:pt>
                <c:pt idx="23">
                  <c:v/>
                </c:pt>
                <c:pt idx="24">
                  <c:v>Dec</c:v>
                </c:pt>
                <c:pt idx="25">
                  <c:v/>
                </c:pt>
                <c:pt idx="26">
                  <c:v/>
                </c:pt>
                <c:pt idx="27">
                  <c:v>Jan</c:v>
                </c:pt>
                <c:pt idx="28">
                  <c:v/>
                </c:pt>
                <c:pt idx="29">
                  <c:v/>
                </c:pt>
                <c:pt idx="30">
                  <c:v>Feb</c:v>
                </c:pt>
                <c:pt idx="31">
                  <c:v/>
                </c:pt>
                <c:pt idx="32">
                  <c:v/>
                </c:pt>
                <c:pt idx="33">
                  <c:v>Mar</c:v>
                </c:pt>
                <c:pt idx="34">
                  <c:v/>
                </c:pt>
              </c:strCache>
            </c:strRef>
          </c:cat>
          <c:val>
            <c:numRef>
              <c:f>Sheet1!$D$2:$D$36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9</c:v>
                </c:pt>
                <c:pt idx="29">
                  <c:v>0</c:v>
                </c:pt>
                <c:pt idx="30">
                  <c:v>0</c:v>
                </c:pt>
                <c:pt idx="31">
                  <c:v>11</c:v>
                </c:pt>
                <c:pt idx="32">
                  <c:v>0</c:v>
                </c:pt>
                <c:pt idx="33">
                  <c:v>0</c:v>
                </c:pt>
                <c:pt idx="3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6F4-9648-A147-F9769DAF76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3"/>
          <c:tx>
            <c:strRef>
              <c:f>Sheet1!$E$1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6F4-9648-A147-F9769DAF7605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6F4-9648-A147-F9769DAF7605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6F4-9648-A147-F9769DAF7605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6F4-9648-A147-F9769DAF7605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6F4-9648-A147-F9769DAF7605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6F4-9648-A147-F9769DAF7605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6F4-9648-A147-F9769DAF7605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96F4-9648-A147-F9769DAF7605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6F4-9648-A147-F9769DAF7605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96F4-9648-A147-F9769DAF7605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96F4-9648-A147-F9769DAF7605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96F4-9648-A147-F9769DAF760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Apr</c:v>
                </c:pt>
                <c:pt idx="1">
                  <c:v/>
                </c:pt>
                <c:pt idx="2">
                  <c:v/>
                </c:pt>
                <c:pt idx="3">
                  <c:v>May</c:v>
                </c:pt>
                <c:pt idx="4">
                  <c:v/>
                </c:pt>
                <c:pt idx="5">
                  <c:v/>
                </c:pt>
                <c:pt idx="6">
                  <c:v>Jun</c:v>
                </c:pt>
                <c:pt idx="7">
                  <c:v/>
                </c:pt>
                <c:pt idx="8">
                  <c:v/>
                </c:pt>
                <c:pt idx="9">
                  <c:v>Jul</c:v>
                </c:pt>
                <c:pt idx="10">
                  <c:v/>
                </c:pt>
                <c:pt idx="11">
                  <c:v/>
                </c:pt>
                <c:pt idx="12">
                  <c:v>Aug</c:v>
                </c:pt>
                <c:pt idx="13">
                  <c:v/>
                </c:pt>
                <c:pt idx="14">
                  <c:v/>
                </c:pt>
                <c:pt idx="15">
                  <c:v>Sep</c:v>
                </c:pt>
                <c:pt idx="16">
                  <c:v/>
                </c:pt>
                <c:pt idx="17">
                  <c:v/>
                </c:pt>
                <c:pt idx="18">
                  <c:v>Oct</c:v>
                </c:pt>
                <c:pt idx="19">
                  <c:v/>
                </c:pt>
                <c:pt idx="20">
                  <c:v/>
                </c:pt>
                <c:pt idx="21">
                  <c:v>Nov</c:v>
                </c:pt>
                <c:pt idx="22">
                  <c:v/>
                </c:pt>
                <c:pt idx="23">
                  <c:v/>
                </c:pt>
                <c:pt idx="24">
                  <c:v>Dec</c:v>
                </c:pt>
                <c:pt idx="25">
                  <c:v/>
                </c:pt>
                <c:pt idx="26">
                  <c:v/>
                </c:pt>
                <c:pt idx="27">
                  <c:v>Jan</c:v>
                </c:pt>
                <c:pt idx="28">
                  <c:v/>
                </c:pt>
                <c:pt idx="29">
                  <c:v/>
                </c:pt>
                <c:pt idx="30">
                  <c:v>Feb</c:v>
                </c:pt>
                <c:pt idx="31">
                  <c:v/>
                </c:pt>
                <c:pt idx="32">
                  <c:v/>
                </c:pt>
                <c:pt idx="33">
                  <c:v>Mar</c:v>
                </c:pt>
                <c:pt idx="34">
                  <c:v/>
                </c:pt>
              </c:strCache>
            </c:strRef>
          </c:cat>
          <c:val>
            <c:numRef>
              <c:f>Sheet1!$E$2:$E$36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22</c:v>
                </c:pt>
                <c:pt idx="28">
                  <c:v>9</c:v>
                </c:pt>
                <c:pt idx="29">
                  <c:v>0</c:v>
                </c:pt>
                <c:pt idx="30">
                  <c:v>44</c:v>
                </c:pt>
                <c:pt idx="31">
                  <c:v>11</c:v>
                </c:pt>
                <c:pt idx="32">
                  <c:v>0</c:v>
                </c:pt>
                <c:pt idx="33">
                  <c:v>2041</c:v>
                </c:pt>
                <c:pt idx="34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96F4-9648-A147-F9769DAF76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951134644002104E-2"/>
          <c:y val="6.0593337595541856E-2"/>
          <c:w val="0.91209773071199585"/>
          <c:h val="0.656184207216202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 most 30 days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2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71-2347-B18D-6B630A30733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between 30 and 180 days</c:v>
                </c:pt>
              </c:strCache>
            </c:strRef>
          </c:tx>
          <c:spPr>
            <a:solidFill>
              <a:srgbClr val="39A498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1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F71-2347-B18D-6B630A30733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between 180 and 270 days</c:v>
                </c:pt>
              </c:strCache>
            </c:strRef>
          </c:tx>
          <c:spPr>
            <a:solidFill>
              <a:srgbClr val="358AC7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F71-2347-B18D-6B630A30733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at least 270 days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F71-2347-B18D-6B630A3073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4"/>
          <c:tx>
            <c:strRef>
              <c:f>Sheet1!$F$1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2</c:v>
                </c:pt>
                <c:pt idx="10">
                  <c:v>1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F71-2347-B18D-6B630A3073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4"/>
        <c:delete val="1"/>
      </c:legendEntry>
      <c:layout>
        <c:manualLayout>
          <c:xMode val="edge"/>
          <c:yMode val="edge"/>
          <c:x val="0"/>
          <c:y val="0.83428871575955932"/>
          <c:w val="0.99589338467782274"/>
          <c:h val="0.1326603728246904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Sheet1!$A$2:$A$36</c:f>
              <c:strCache>
                <c:ptCount val="35"/>
                <c:pt idx="0">
                  <c:v>Apr</c:v>
                </c:pt>
                <c:pt idx="1">
                  <c:v/>
                </c:pt>
                <c:pt idx="2">
                  <c:v/>
                </c:pt>
                <c:pt idx="3">
                  <c:v>May</c:v>
                </c:pt>
                <c:pt idx="4">
                  <c:v/>
                </c:pt>
                <c:pt idx="5">
                  <c:v/>
                </c:pt>
                <c:pt idx="6">
                  <c:v>Jun</c:v>
                </c:pt>
                <c:pt idx="7">
                  <c:v/>
                </c:pt>
                <c:pt idx="8">
                  <c:v/>
                </c:pt>
                <c:pt idx="9">
                  <c:v>Jul</c:v>
                </c:pt>
                <c:pt idx="10">
                  <c:v/>
                </c:pt>
                <c:pt idx="11">
                  <c:v/>
                </c:pt>
                <c:pt idx="12">
                  <c:v>Aug</c:v>
                </c:pt>
                <c:pt idx="13">
                  <c:v/>
                </c:pt>
                <c:pt idx="14">
                  <c:v/>
                </c:pt>
                <c:pt idx="15">
                  <c:v>Sep</c:v>
                </c:pt>
                <c:pt idx="16">
                  <c:v/>
                </c:pt>
                <c:pt idx="17">
                  <c:v/>
                </c:pt>
                <c:pt idx="18">
                  <c:v>Oct</c:v>
                </c:pt>
                <c:pt idx="19">
                  <c:v/>
                </c:pt>
                <c:pt idx="20">
                  <c:v/>
                </c:pt>
                <c:pt idx="21">
                  <c:v>Nov</c:v>
                </c:pt>
                <c:pt idx="22">
                  <c:v/>
                </c:pt>
                <c:pt idx="23">
                  <c:v/>
                </c:pt>
                <c:pt idx="24">
                  <c:v>Dec</c:v>
                </c:pt>
                <c:pt idx="25">
                  <c:v/>
                </c:pt>
                <c:pt idx="26">
                  <c:v/>
                </c:pt>
                <c:pt idx="27">
                  <c:v>Jan</c:v>
                </c:pt>
                <c:pt idx="28">
                  <c:v/>
                </c:pt>
                <c:pt idx="29">
                  <c:v/>
                </c:pt>
                <c:pt idx="30">
                  <c:v>Feb</c:v>
                </c:pt>
                <c:pt idx="31">
                  <c:v/>
                </c:pt>
                <c:pt idx="32">
                  <c:v/>
                </c:pt>
                <c:pt idx="33">
                  <c:v>Mar</c:v>
                </c:pt>
                <c:pt idx="34">
                  <c:v/>
                </c:pt>
              </c:strCache>
            </c:strRef>
          </c:cat>
          <c:val>
            <c:numRef>
              <c:f>Sheet1!$B$2:$B$36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26</c:v>
                </c:pt>
                <c:pt idx="28">
                  <c:v>0</c:v>
                </c:pt>
                <c:pt idx="29">
                  <c:v>0</c:v>
                </c:pt>
                <c:pt idx="30">
                  <c:v>23</c:v>
                </c:pt>
                <c:pt idx="31">
                  <c:v>0</c:v>
                </c:pt>
                <c:pt idx="32">
                  <c:v>0</c:v>
                </c:pt>
                <c:pt idx="33">
                  <c:v>1188</c:v>
                </c:pt>
                <c:pt idx="3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51-4E42-8C00-A948DC2E75D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Existing</c:v>
                </c:pt>
              </c:strCache>
            </c:strRef>
          </c:tx>
          <c:spPr>
            <a:solidFill>
              <a:srgbClr val="B6C4FF"/>
            </a:solidFill>
            <a:ln>
              <a:noFill/>
            </a:ln>
            <a:effectLst>
              <a:outerShdw blurRad="50800" dist="50800" dir="5400000" algn="ctr" rotWithShape="0">
                <a:srgbClr val="B6C4FF"/>
              </a:outerShdw>
            </a:effectLst>
          </c:spPr>
          <c:invertIfNegative val="0"/>
          <c:cat>
            <c:strRef>
              <c:f>Sheet1!$A$2:$A$36</c:f>
              <c:strCache>
                <c:ptCount val="35"/>
                <c:pt idx="0">
                  <c:v>Apr</c:v>
                </c:pt>
                <c:pt idx="1">
                  <c:v/>
                </c:pt>
                <c:pt idx="2">
                  <c:v/>
                </c:pt>
                <c:pt idx="3">
                  <c:v>May</c:v>
                </c:pt>
                <c:pt idx="4">
                  <c:v/>
                </c:pt>
                <c:pt idx="5">
                  <c:v/>
                </c:pt>
                <c:pt idx="6">
                  <c:v>Jun</c:v>
                </c:pt>
                <c:pt idx="7">
                  <c:v/>
                </c:pt>
                <c:pt idx="8">
                  <c:v/>
                </c:pt>
                <c:pt idx="9">
                  <c:v>Jul</c:v>
                </c:pt>
                <c:pt idx="10">
                  <c:v/>
                </c:pt>
                <c:pt idx="11">
                  <c:v/>
                </c:pt>
                <c:pt idx="12">
                  <c:v>Aug</c:v>
                </c:pt>
                <c:pt idx="13">
                  <c:v/>
                </c:pt>
                <c:pt idx="14">
                  <c:v/>
                </c:pt>
                <c:pt idx="15">
                  <c:v>Sep</c:v>
                </c:pt>
                <c:pt idx="16">
                  <c:v/>
                </c:pt>
                <c:pt idx="17">
                  <c:v/>
                </c:pt>
                <c:pt idx="18">
                  <c:v>Oct</c:v>
                </c:pt>
                <c:pt idx="19">
                  <c:v/>
                </c:pt>
                <c:pt idx="20">
                  <c:v/>
                </c:pt>
                <c:pt idx="21">
                  <c:v>Nov</c:v>
                </c:pt>
                <c:pt idx="22">
                  <c:v/>
                </c:pt>
                <c:pt idx="23">
                  <c:v/>
                </c:pt>
                <c:pt idx="24">
                  <c:v>Dec</c:v>
                </c:pt>
                <c:pt idx="25">
                  <c:v/>
                </c:pt>
                <c:pt idx="26">
                  <c:v/>
                </c:pt>
                <c:pt idx="27">
                  <c:v>Jan</c:v>
                </c:pt>
                <c:pt idx="28">
                  <c:v/>
                </c:pt>
                <c:pt idx="29">
                  <c:v/>
                </c:pt>
                <c:pt idx="30">
                  <c:v>Feb</c:v>
                </c:pt>
                <c:pt idx="31">
                  <c:v/>
                </c:pt>
                <c:pt idx="32">
                  <c:v/>
                </c:pt>
                <c:pt idx="33">
                  <c:v>Mar</c:v>
                </c:pt>
                <c:pt idx="34">
                  <c:v/>
                </c:pt>
              </c:strCache>
            </c:strRef>
          </c:cat>
          <c:val>
            <c:numRef>
              <c:f>Sheet1!$C$2:$C$36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25</c:v>
                </c:pt>
                <c:pt idx="31">
                  <c:v>0</c:v>
                </c:pt>
                <c:pt idx="32">
                  <c:v>0</c:v>
                </c:pt>
                <c:pt idx="33">
                  <c:v>38</c:v>
                </c:pt>
                <c:pt idx="3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E51-4E42-8C00-A948DC2E75D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Resolved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>
              <a:outerShdw blurRad="50800" dist="50800" dir="5400000" algn="ctr" rotWithShape="0">
                <a:srgbClr val="40C360"/>
              </a:outerShdw>
            </a:effectLst>
          </c:spPr>
          <c:invertIfNegative val="0"/>
          <c:cat>
            <c:strRef>
              <c:f>Sheet1!$A$2:$A$36</c:f>
              <c:strCache>
                <c:ptCount val="35"/>
                <c:pt idx="0">
                  <c:v>Apr</c:v>
                </c:pt>
                <c:pt idx="1">
                  <c:v/>
                </c:pt>
                <c:pt idx="2">
                  <c:v/>
                </c:pt>
                <c:pt idx="3">
                  <c:v>May</c:v>
                </c:pt>
                <c:pt idx="4">
                  <c:v/>
                </c:pt>
                <c:pt idx="5">
                  <c:v/>
                </c:pt>
                <c:pt idx="6">
                  <c:v>Jun</c:v>
                </c:pt>
                <c:pt idx="7">
                  <c:v/>
                </c:pt>
                <c:pt idx="8">
                  <c:v/>
                </c:pt>
                <c:pt idx="9">
                  <c:v>Jul</c:v>
                </c:pt>
                <c:pt idx="10">
                  <c:v/>
                </c:pt>
                <c:pt idx="11">
                  <c:v/>
                </c:pt>
                <c:pt idx="12">
                  <c:v>Aug</c:v>
                </c:pt>
                <c:pt idx="13">
                  <c:v/>
                </c:pt>
                <c:pt idx="14">
                  <c:v/>
                </c:pt>
                <c:pt idx="15">
                  <c:v>Sep</c:v>
                </c:pt>
                <c:pt idx="16">
                  <c:v/>
                </c:pt>
                <c:pt idx="17">
                  <c:v/>
                </c:pt>
                <c:pt idx="18">
                  <c:v>Oct</c:v>
                </c:pt>
                <c:pt idx="19">
                  <c:v/>
                </c:pt>
                <c:pt idx="20">
                  <c:v/>
                </c:pt>
                <c:pt idx="21">
                  <c:v>Nov</c:v>
                </c:pt>
                <c:pt idx="22">
                  <c:v/>
                </c:pt>
                <c:pt idx="23">
                  <c:v/>
                </c:pt>
                <c:pt idx="24">
                  <c:v>Dec</c:v>
                </c:pt>
                <c:pt idx="25">
                  <c:v/>
                </c:pt>
                <c:pt idx="26">
                  <c:v/>
                </c:pt>
                <c:pt idx="27">
                  <c:v>Jan</c:v>
                </c:pt>
                <c:pt idx="28">
                  <c:v/>
                </c:pt>
                <c:pt idx="29">
                  <c:v/>
                </c:pt>
                <c:pt idx="30">
                  <c:v>Feb</c:v>
                </c:pt>
                <c:pt idx="31">
                  <c:v/>
                </c:pt>
                <c:pt idx="32">
                  <c:v/>
                </c:pt>
                <c:pt idx="33">
                  <c:v>Mar</c:v>
                </c:pt>
                <c:pt idx="34">
                  <c:v/>
                </c:pt>
              </c:strCache>
            </c:strRef>
          </c:cat>
          <c:val>
            <c:numRef>
              <c:f>Sheet1!$D$2:$D$36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2</c:v>
                </c:pt>
                <c:pt idx="29">
                  <c:v>0</c:v>
                </c:pt>
                <c:pt idx="30">
                  <c:v>0</c:v>
                </c:pt>
                <c:pt idx="31">
                  <c:v>1</c:v>
                </c:pt>
                <c:pt idx="32">
                  <c:v>0</c:v>
                </c:pt>
                <c:pt idx="33">
                  <c:v>0</c:v>
                </c:pt>
                <c:pt idx="3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E51-4E42-8C00-A948DC2E75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3"/>
          <c:tx>
            <c:strRef>
              <c:f>Sheet1!$E$1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E51-4E42-8C00-A948DC2E75DF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E51-4E42-8C00-A948DC2E75DF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E51-4E42-8C00-A948DC2E75DF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E51-4E42-8C00-A948DC2E75DF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E51-4E42-8C00-A948DC2E75DF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E51-4E42-8C00-A948DC2E75DF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E51-4E42-8C00-A948DC2E75DF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E51-4E42-8C00-A948DC2E75DF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E51-4E42-8C00-A948DC2E75DF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E51-4E42-8C00-A948DC2E75DF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3E51-4E42-8C00-A948DC2E75DF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3E51-4E42-8C00-A948DC2E75D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Apr</c:v>
                </c:pt>
                <c:pt idx="1">
                  <c:v/>
                </c:pt>
                <c:pt idx="2">
                  <c:v/>
                </c:pt>
                <c:pt idx="3">
                  <c:v>May</c:v>
                </c:pt>
                <c:pt idx="4">
                  <c:v/>
                </c:pt>
                <c:pt idx="5">
                  <c:v/>
                </c:pt>
                <c:pt idx="6">
                  <c:v>Jun</c:v>
                </c:pt>
                <c:pt idx="7">
                  <c:v/>
                </c:pt>
                <c:pt idx="8">
                  <c:v/>
                </c:pt>
                <c:pt idx="9">
                  <c:v>Jul</c:v>
                </c:pt>
                <c:pt idx="10">
                  <c:v/>
                </c:pt>
                <c:pt idx="11">
                  <c:v/>
                </c:pt>
                <c:pt idx="12">
                  <c:v>Aug</c:v>
                </c:pt>
                <c:pt idx="13">
                  <c:v/>
                </c:pt>
                <c:pt idx="14">
                  <c:v/>
                </c:pt>
                <c:pt idx="15">
                  <c:v>Sep</c:v>
                </c:pt>
                <c:pt idx="16">
                  <c:v/>
                </c:pt>
                <c:pt idx="17">
                  <c:v/>
                </c:pt>
                <c:pt idx="18">
                  <c:v>Oct</c:v>
                </c:pt>
                <c:pt idx="19">
                  <c:v/>
                </c:pt>
                <c:pt idx="20">
                  <c:v/>
                </c:pt>
                <c:pt idx="21">
                  <c:v>Nov</c:v>
                </c:pt>
                <c:pt idx="22">
                  <c:v/>
                </c:pt>
                <c:pt idx="23">
                  <c:v/>
                </c:pt>
                <c:pt idx="24">
                  <c:v>Dec</c:v>
                </c:pt>
                <c:pt idx="25">
                  <c:v/>
                </c:pt>
                <c:pt idx="26">
                  <c:v/>
                </c:pt>
                <c:pt idx="27">
                  <c:v>Jan</c:v>
                </c:pt>
                <c:pt idx="28">
                  <c:v/>
                </c:pt>
                <c:pt idx="29">
                  <c:v/>
                </c:pt>
                <c:pt idx="30">
                  <c:v>Feb</c:v>
                </c:pt>
                <c:pt idx="31">
                  <c:v/>
                </c:pt>
                <c:pt idx="32">
                  <c:v/>
                </c:pt>
                <c:pt idx="33">
                  <c:v>Mar</c:v>
                </c:pt>
                <c:pt idx="34">
                  <c:v/>
                </c:pt>
              </c:strCache>
            </c:strRef>
          </c:cat>
          <c:val>
            <c:numRef>
              <c:f>Sheet1!$E$2:$E$36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26</c:v>
                </c:pt>
                <c:pt idx="28">
                  <c:v>2</c:v>
                </c:pt>
                <c:pt idx="29">
                  <c:v>0</c:v>
                </c:pt>
                <c:pt idx="30">
                  <c:v>48</c:v>
                </c:pt>
                <c:pt idx="31">
                  <c:v>1</c:v>
                </c:pt>
                <c:pt idx="32">
                  <c:v>0</c:v>
                </c:pt>
                <c:pt idx="33">
                  <c:v>1226</c:v>
                </c:pt>
                <c:pt idx="34">
                  <c:v>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3E51-4E42-8C00-A948DC2E75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Sheet1!$A$2:$A$36</c:f>
              <c:strCache>
                <c:ptCount val="35"/>
                <c:pt idx="0">
                  <c:v>Apr</c:v>
                </c:pt>
                <c:pt idx="1">
                  <c:v/>
                </c:pt>
                <c:pt idx="2">
                  <c:v/>
                </c:pt>
                <c:pt idx="3">
                  <c:v>May</c:v>
                </c:pt>
                <c:pt idx="4">
                  <c:v/>
                </c:pt>
                <c:pt idx="5">
                  <c:v/>
                </c:pt>
                <c:pt idx="6">
                  <c:v>Jun</c:v>
                </c:pt>
                <c:pt idx="7">
                  <c:v/>
                </c:pt>
                <c:pt idx="8">
                  <c:v/>
                </c:pt>
                <c:pt idx="9">
                  <c:v>Jul</c:v>
                </c:pt>
                <c:pt idx="10">
                  <c:v/>
                </c:pt>
                <c:pt idx="11">
                  <c:v/>
                </c:pt>
                <c:pt idx="12">
                  <c:v>Aug</c:v>
                </c:pt>
                <c:pt idx="13">
                  <c:v/>
                </c:pt>
                <c:pt idx="14">
                  <c:v/>
                </c:pt>
                <c:pt idx="15">
                  <c:v>Sep</c:v>
                </c:pt>
                <c:pt idx="16">
                  <c:v/>
                </c:pt>
                <c:pt idx="17">
                  <c:v/>
                </c:pt>
                <c:pt idx="18">
                  <c:v>Oct</c:v>
                </c:pt>
                <c:pt idx="19">
                  <c:v/>
                </c:pt>
                <c:pt idx="20">
                  <c:v/>
                </c:pt>
                <c:pt idx="21">
                  <c:v>Nov</c:v>
                </c:pt>
                <c:pt idx="22">
                  <c:v/>
                </c:pt>
                <c:pt idx="23">
                  <c:v/>
                </c:pt>
                <c:pt idx="24">
                  <c:v>Dec</c:v>
                </c:pt>
                <c:pt idx="25">
                  <c:v/>
                </c:pt>
                <c:pt idx="26">
                  <c:v/>
                </c:pt>
                <c:pt idx="27">
                  <c:v>Jan</c:v>
                </c:pt>
                <c:pt idx="28">
                  <c:v/>
                </c:pt>
                <c:pt idx="29">
                  <c:v/>
                </c:pt>
                <c:pt idx="30">
                  <c:v>Feb</c:v>
                </c:pt>
                <c:pt idx="31">
                  <c:v/>
                </c:pt>
                <c:pt idx="32">
                  <c:v/>
                </c:pt>
                <c:pt idx="33">
                  <c:v>Mar</c:v>
                </c:pt>
                <c:pt idx="34">
                  <c:v/>
                </c:pt>
              </c:strCache>
            </c:strRef>
          </c:cat>
          <c:val>
            <c:numRef>
              <c:f>Sheet1!$B$2:$B$36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15</c:v>
                </c:pt>
                <c:pt idx="28">
                  <c:v>0</c:v>
                </c:pt>
                <c:pt idx="29">
                  <c:v>0</c:v>
                </c:pt>
                <c:pt idx="30">
                  <c:v>7</c:v>
                </c:pt>
                <c:pt idx="31">
                  <c:v>0</c:v>
                </c:pt>
                <c:pt idx="32">
                  <c:v>0</c:v>
                </c:pt>
                <c:pt idx="33">
                  <c:v>334</c:v>
                </c:pt>
                <c:pt idx="3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86-A04E-8798-76AFBDCDFE8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Existing</c:v>
                </c:pt>
              </c:strCache>
            </c:strRef>
          </c:tx>
          <c:spPr>
            <a:solidFill>
              <a:srgbClr val="B6C4FF"/>
            </a:solidFill>
            <a:ln>
              <a:noFill/>
            </a:ln>
            <a:effectLst>
              <a:outerShdw blurRad="50800" dist="50800" dir="5400000" algn="ctr" rotWithShape="0">
                <a:srgbClr val="B6C4FF"/>
              </a:outerShdw>
            </a:effectLst>
          </c:spPr>
          <c:invertIfNegative val="0"/>
          <c:cat>
            <c:strRef>
              <c:f>Sheet1!$A$2:$A$36</c:f>
              <c:strCache>
                <c:ptCount val="35"/>
                <c:pt idx="0">
                  <c:v>Apr</c:v>
                </c:pt>
                <c:pt idx="1">
                  <c:v/>
                </c:pt>
                <c:pt idx="2">
                  <c:v/>
                </c:pt>
                <c:pt idx="3">
                  <c:v>May</c:v>
                </c:pt>
                <c:pt idx="4">
                  <c:v/>
                </c:pt>
                <c:pt idx="5">
                  <c:v/>
                </c:pt>
                <c:pt idx="6">
                  <c:v>Jun</c:v>
                </c:pt>
                <c:pt idx="7">
                  <c:v/>
                </c:pt>
                <c:pt idx="8">
                  <c:v/>
                </c:pt>
                <c:pt idx="9">
                  <c:v>Jul</c:v>
                </c:pt>
                <c:pt idx="10">
                  <c:v/>
                </c:pt>
                <c:pt idx="11">
                  <c:v/>
                </c:pt>
                <c:pt idx="12">
                  <c:v>Aug</c:v>
                </c:pt>
                <c:pt idx="13">
                  <c:v/>
                </c:pt>
                <c:pt idx="14">
                  <c:v/>
                </c:pt>
                <c:pt idx="15">
                  <c:v>Sep</c:v>
                </c:pt>
                <c:pt idx="16">
                  <c:v/>
                </c:pt>
                <c:pt idx="17">
                  <c:v/>
                </c:pt>
                <c:pt idx="18">
                  <c:v>Oct</c:v>
                </c:pt>
                <c:pt idx="19">
                  <c:v/>
                </c:pt>
                <c:pt idx="20">
                  <c:v/>
                </c:pt>
                <c:pt idx="21">
                  <c:v>Nov</c:v>
                </c:pt>
                <c:pt idx="22">
                  <c:v/>
                </c:pt>
                <c:pt idx="23">
                  <c:v/>
                </c:pt>
                <c:pt idx="24">
                  <c:v>Dec</c:v>
                </c:pt>
                <c:pt idx="25">
                  <c:v/>
                </c:pt>
                <c:pt idx="26">
                  <c:v/>
                </c:pt>
                <c:pt idx="27">
                  <c:v>Jan</c:v>
                </c:pt>
                <c:pt idx="28">
                  <c:v/>
                </c:pt>
                <c:pt idx="29">
                  <c:v/>
                </c:pt>
                <c:pt idx="30">
                  <c:v>Feb</c:v>
                </c:pt>
                <c:pt idx="31">
                  <c:v/>
                </c:pt>
                <c:pt idx="32">
                  <c:v/>
                </c:pt>
                <c:pt idx="33">
                  <c:v>Mar</c:v>
                </c:pt>
                <c:pt idx="34">
                  <c:v/>
                </c:pt>
              </c:strCache>
            </c:strRef>
          </c:cat>
          <c:val>
            <c:numRef>
              <c:f>Sheet1!$C$2:$C$36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15</c:v>
                </c:pt>
                <c:pt idx="31">
                  <c:v>0</c:v>
                </c:pt>
                <c:pt idx="32">
                  <c:v>0</c:v>
                </c:pt>
                <c:pt idx="33">
                  <c:v>22</c:v>
                </c:pt>
                <c:pt idx="3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586-A04E-8798-76AFBDCDFE8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Resolved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>
              <a:outerShdw blurRad="50800" dist="50800" dir="5400000" algn="ctr" rotWithShape="0">
                <a:srgbClr val="40C360"/>
              </a:outerShdw>
            </a:effectLst>
          </c:spPr>
          <c:invertIfNegative val="0"/>
          <c:cat>
            <c:strRef>
              <c:f>Sheet1!$A$2:$A$36</c:f>
              <c:strCache>
                <c:ptCount val="35"/>
                <c:pt idx="0">
                  <c:v>Apr</c:v>
                </c:pt>
                <c:pt idx="1">
                  <c:v/>
                </c:pt>
                <c:pt idx="2">
                  <c:v/>
                </c:pt>
                <c:pt idx="3">
                  <c:v>May</c:v>
                </c:pt>
                <c:pt idx="4">
                  <c:v/>
                </c:pt>
                <c:pt idx="5">
                  <c:v/>
                </c:pt>
                <c:pt idx="6">
                  <c:v>Jun</c:v>
                </c:pt>
                <c:pt idx="7">
                  <c:v/>
                </c:pt>
                <c:pt idx="8">
                  <c:v/>
                </c:pt>
                <c:pt idx="9">
                  <c:v>Jul</c:v>
                </c:pt>
                <c:pt idx="10">
                  <c:v/>
                </c:pt>
                <c:pt idx="11">
                  <c:v/>
                </c:pt>
                <c:pt idx="12">
                  <c:v>Aug</c:v>
                </c:pt>
                <c:pt idx="13">
                  <c:v/>
                </c:pt>
                <c:pt idx="14">
                  <c:v/>
                </c:pt>
                <c:pt idx="15">
                  <c:v>Sep</c:v>
                </c:pt>
                <c:pt idx="16">
                  <c:v/>
                </c:pt>
                <c:pt idx="17">
                  <c:v/>
                </c:pt>
                <c:pt idx="18">
                  <c:v>Oct</c:v>
                </c:pt>
                <c:pt idx="19">
                  <c:v/>
                </c:pt>
                <c:pt idx="20">
                  <c:v/>
                </c:pt>
                <c:pt idx="21">
                  <c:v>Nov</c:v>
                </c:pt>
                <c:pt idx="22">
                  <c:v/>
                </c:pt>
                <c:pt idx="23">
                  <c:v/>
                </c:pt>
                <c:pt idx="24">
                  <c:v>Dec</c:v>
                </c:pt>
                <c:pt idx="25">
                  <c:v/>
                </c:pt>
                <c:pt idx="26">
                  <c:v/>
                </c:pt>
                <c:pt idx="27">
                  <c:v>Jan</c:v>
                </c:pt>
                <c:pt idx="28">
                  <c:v/>
                </c:pt>
                <c:pt idx="29">
                  <c:v/>
                </c:pt>
                <c:pt idx="30">
                  <c:v>Feb</c:v>
                </c:pt>
                <c:pt idx="31">
                  <c:v/>
                </c:pt>
                <c:pt idx="32">
                  <c:v/>
                </c:pt>
                <c:pt idx="33">
                  <c:v>Mar</c:v>
                </c:pt>
                <c:pt idx="34">
                  <c:v/>
                </c:pt>
              </c:strCache>
            </c:strRef>
          </c:cat>
          <c:val>
            <c:numRef>
              <c:f>Sheet1!$D$2:$D$36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586-A04E-8798-76AFBDCDFE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3"/>
          <c:tx>
            <c:strRef>
              <c:f>Sheet1!$E$1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586-A04E-8798-76AFBDCDFE8A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586-A04E-8798-76AFBDCDFE8A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586-A04E-8798-76AFBDCDFE8A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586-A04E-8798-76AFBDCDFE8A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586-A04E-8798-76AFBDCDFE8A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B586-A04E-8798-76AFBDCDFE8A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586-A04E-8798-76AFBDCDFE8A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B586-A04E-8798-76AFBDCDFE8A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586-A04E-8798-76AFBDCDFE8A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B586-A04E-8798-76AFBDCDFE8A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B586-A04E-8798-76AFBDCDFE8A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B586-A04E-8798-76AFBDCDFE8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Apr</c:v>
                </c:pt>
                <c:pt idx="1">
                  <c:v/>
                </c:pt>
                <c:pt idx="2">
                  <c:v/>
                </c:pt>
                <c:pt idx="3">
                  <c:v>May</c:v>
                </c:pt>
                <c:pt idx="4">
                  <c:v/>
                </c:pt>
                <c:pt idx="5">
                  <c:v/>
                </c:pt>
                <c:pt idx="6">
                  <c:v>Jun</c:v>
                </c:pt>
                <c:pt idx="7">
                  <c:v/>
                </c:pt>
                <c:pt idx="8">
                  <c:v/>
                </c:pt>
                <c:pt idx="9">
                  <c:v>Jul</c:v>
                </c:pt>
                <c:pt idx="10">
                  <c:v/>
                </c:pt>
                <c:pt idx="11">
                  <c:v/>
                </c:pt>
                <c:pt idx="12">
                  <c:v>Aug</c:v>
                </c:pt>
                <c:pt idx="13">
                  <c:v/>
                </c:pt>
                <c:pt idx="14">
                  <c:v/>
                </c:pt>
                <c:pt idx="15">
                  <c:v>Sep</c:v>
                </c:pt>
                <c:pt idx="16">
                  <c:v/>
                </c:pt>
                <c:pt idx="17">
                  <c:v/>
                </c:pt>
                <c:pt idx="18">
                  <c:v>Oct</c:v>
                </c:pt>
                <c:pt idx="19">
                  <c:v/>
                </c:pt>
                <c:pt idx="20">
                  <c:v/>
                </c:pt>
                <c:pt idx="21">
                  <c:v>Nov</c:v>
                </c:pt>
                <c:pt idx="22">
                  <c:v/>
                </c:pt>
                <c:pt idx="23">
                  <c:v/>
                </c:pt>
                <c:pt idx="24">
                  <c:v>Dec</c:v>
                </c:pt>
                <c:pt idx="25">
                  <c:v/>
                </c:pt>
                <c:pt idx="26">
                  <c:v/>
                </c:pt>
                <c:pt idx="27">
                  <c:v>Jan</c:v>
                </c:pt>
                <c:pt idx="28">
                  <c:v/>
                </c:pt>
                <c:pt idx="29">
                  <c:v/>
                </c:pt>
                <c:pt idx="30">
                  <c:v>Feb</c:v>
                </c:pt>
                <c:pt idx="31">
                  <c:v/>
                </c:pt>
                <c:pt idx="32">
                  <c:v/>
                </c:pt>
                <c:pt idx="33">
                  <c:v>Mar</c:v>
                </c:pt>
                <c:pt idx="34">
                  <c:v/>
                </c:pt>
              </c:strCache>
            </c:strRef>
          </c:cat>
          <c:val>
            <c:numRef>
              <c:f>Sheet1!$E$2:$E$36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15</c:v>
                </c:pt>
                <c:pt idx="28">
                  <c:v>0</c:v>
                </c:pt>
                <c:pt idx="29">
                  <c:v>0</c:v>
                </c:pt>
                <c:pt idx="30">
                  <c:v>22</c:v>
                </c:pt>
                <c:pt idx="31">
                  <c:v>0</c:v>
                </c:pt>
                <c:pt idx="32">
                  <c:v>0</c:v>
                </c:pt>
                <c:pt idx="33">
                  <c:v>356</c:v>
                </c:pt>
                <c:pt idx="3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B586-A04E-8798-76AFBDCDFE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Sheet1!$A$2:$A$36</c:f>
              <c:strCache>
                <c:ptCount val="35"/>
                <c:pt idx="0">
                  <c:v>Apr</c:v>
                </c:pt>
                <c:pt idx="1">
                  <c:v/>
                </c:pt>
                <c:pt idx="2">
                  <c:v/>
                </c:pt>
                <c:pt idx="3">
                  <c:v>May</c:v>
                </c:pt>
                <c:pt idx="4">
                  <c:v/>
                </c:pt>
                <c:pt idx="5">
                  <c:v/>
                </c:pt>
                <c:pt idx="6">
                  <c:v>Jun</c:v>
                </c:pt>
                <c:pt idx="7">
                  <c:v/>
                </c:pt>
                <c:pt idx="8">
                  <c:v/>
                </c:pt>
                <c:pt idx="9">
                  <c:v>Jul</c:v>
                </c:pt>
                <c:pt idx="10">
                  <c:v/>
                </c:pt>
                <c:pt idx="11">
                  <c:v/>
                </c:pt>
                <c:pt idx="12">
                  <c:v>Aug</c:v>
                </c:pt>
                <c:pt idx="13">
                  <c:v/>
                </c:pt>
                <c:pt idx="14">
                  <c:v/>
                </c:pt>
                <c:pt idx="15">
                  <c:v>Sep</c:v>
                </c:pt>
                <c:pt idx="16">
                  <c:v/>
                </c:pt>
                <c:pt idx="17">
                  <c:v/>
                </c:pt>
                <c:pt idx="18">
                  <c:v>Oct</c:v>
                </c:pt>
                <c:pt idx="19">
                  <c:v/>
                </c:pt>
                <c:pt idx="20">
                  <c:v/>
                </c:pt>
                <c:pt idx="21">
                  <c:v>Nov</c:v>
                </c:pt>
                <c:pt idx="22">
                  <c:v/>
                </c:pt>
                <c:pt idx="23">
                  <c:v/>
                </c:pt>
                <c:pt idx="24">
                  <c:v>Dec</c:v>
                </c:pt>
                <c:pt idx="25">
                  <c:v/>
                </c:pt>
                <c:pt idx="26">
                  <c:v/>
                </c:pt>
                <c:pt idx="27">
                  <c:v>Jan</c:v>
                </c:pt>
                <c:pt idx="28">
                  <c:v/>
                </c:pt>
                <c:pt idx="29">
                  <c:v/>
                </c:pt>
                <c:pt idx="30">
                  <c:v>Feb</c:v>
                </c:pt>
                <c:pt idx="31">
                  <c:v/>
                </c:pt>
                <c:pt idx="32">
                  <c:v/>
                </c:pt>
                <c:pt idx="33">
                  <c:v>Mar</c:v>
                </c:pt>
                <c:pt idx="34">
                  <c:v/>
                </c:pt>
              </c:strCache>
            </c:strRef>
          </c:cat>
          <c:val>
            <c:numRef>
              <c:f>Sheet1!$B$2:$B$36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22</c:v>
                </c:pt>
                <c:pt idx="28">
                  <c:v>0</c:v>
                </c:pt>
                <c:pt idx="29">
                  <c:v>0</c:v>
                </c:pt>
                <c:pt idx="30">
                  <c:v>29</c:v>
                </c:pt>
                <c:pt idx="31">
                  <c:v>0</c:v>
                </c:pt>
                <c:pt idx="32">
                  <c:v>0</c:v>
                </c:pt>
                <c:pt idx="33">
                  <c:v>2003</c:v>
                </c:pt>
                <c:pt idx="3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7F-D847-A4AD-44605D3AD5C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Existing</c:v>
                </c:pt>
              </c:strCache>
            </c:strRef>
          </c:tx>
          <c:spPr>
            <a:solidFill>
              <a:srgbClr val="B6C4FF"/>
            </a:solidFill>
            <a:ln>
              <a:noFill/>
            </a:ln>
            <a:effectLst>
              <a:outerShdw blurRad="50800" dist="50800" dir="5400000" algn="ctr" rotWithShape="0">
                <a:srgbClr val="B6C4FF"/>
              </a:outerShdw>
            </a:effectLst>
          </c:spPr>
          <c:invertIfNegative val="0"/>
          <c:cat>
            <c:strRef>
              <c:f>Sheet1!$A$2:$A$36</c:f>
              <c:strCache>
                <c:ptCount val="35"/>
                <c:pt idx="0">
                  <c:v>Apr</c:v>
                </c:pt>
                <c:pt idx="1">
                  <c:v/>
                </c:pt>
                <c:pt idx="2">
                  <c:v/>
                </c:pt>
                <c:pt idx="3">
                  <c:v>May</c:v>
                </c:pt>
                <c:pt idx="4">
                  <c:v/>
                </c:pt>
                <c:pt idx="5">
                  <c:v/>
                </c:pt>
                <c:pt idx="6">
                  <c:v>Jun</c:v>
                </c:pt>
                <c:pt idx="7">
                  <c:v/>
                </c:pt>
                <c:pt idx="8">
                  <c:v/>
                </c:pt>
                <c:pt idx="9">
                  <c:v>Jul</c:v>
                </c:pt>
                <c:pt idx="10">
                  <c:v/>
                </c:pt>
                <c:pt idx="11">
                  <c:v/>
                </c:pt>
                <c:pt idx="12">
                  <c:v>Aug</c:v>
                </c:pt>
                <c:pt idx="13">
                  <c:v/>
                </c:pt>
                <c:pt idx="14">
                  <c:v/>
                </c:pt>
                <c:pt idx="15">
                  <c:v>Sep</c:v>
                </c:pt>
                <c:pt idx="16">
                  <c:v/>
                </c:pt>
                <c:pt idx="17">
                  <c:v/>
                </c:pt>
                <c:pt idx="18">
                  <c:v>Oct</c:v>
                </c:pt>
                <c:pt idx="19">
                  <c:v/>
                </c:pt>
                <c:pt idx="20">
                  <c:v/>
                </c:pt>
                <c:pt idx="21">
                  <c:v>Nov</c:v>
                </c:pt>
                <c:pt idx="22">
                  <c:v/>
                </c:pt>
                <c:pt idx="23">
                  <c:v/>
                </c:pt>
                <c:pt idx="24">
                  <c:v>Dec</c:v>
                </c:pt>
                <c:pt idx="25">
                  <c:v/>
                </c:pt>
                <c:pt idx="26">
                  <c:v/>
                </c:pt>
                <c:pt idx="27">
                  <c:v>Jan</c:v>
                </c:pt>
                <c:pt idx="28">
                  <c:v/>
                </c:pt>
                <c:pt idx="29">
                  <c:v/>
                </c:pt>
                <c:pt idx="30">
                  <c:v>Feb</c:v>
                </c:pt>
                <c:pt idx="31">
                  <c:v/>
                </c:pt>
                <c:pt idx="32">
                  <c:v/>
                </c:pt>
                <c:pt idx="33">
                  <c:v>Mar</c:v>
                </c:pt>
                <c:pt idx="34">
                  <c:v/>
                </c:pt>
              </c:strCache>
            </c:strRef>
          </c:cat>
          <c:val>
            <c:numRef>
              <c:f>Sheet1!$C$2:$C$36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15</c:v>
                </c:pt>
                <c:pt idx="31">
                  <c:v>0</c:v>
                </c:pt>
                <c:pt idx="32">
                  <c:v>0</c:v>
                </c:pt>
                <c:pt idx="33">
                  <c:v>38</c:v>
                </c:pt>
                <c:pt idx="3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C7F-D847-A4AD-44605D3AD5C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Resolved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>
              <a:outerShdw blurRad="50800" dist="50800" dir="5400000" algn="ctr" rotWithShape="0">
                <a:srgbClr val="40C360"/>
              </a:outerShdw>
            </a:effectLst>
          </c:spPr>
          <c:invertIfNegative val="0"/>
          <c:cat>
            <c:strRef>
              <c:f>Sheet1!$A$2:$A$36</c:f>
              <c:strCache>
                <c:ptCount val="35"/>
                <c:pt idx="0">
                  <c:v>Apr</c:v>
                </c:pt>
                <c:pt idx="1">
                  <c:v/>
                </c:pt>
                <c:pt idx="2">
                  <c:v/>
                </c:pt>
                <c:pt idx="3">
                  <c:v>May</c:v>
                </c:pt>
                <c:pt idx="4">
                  <c:v/>
                </c:pt>
                <c:pt idx="5">
                  <c:v/>
                </c:pt>
                <c:pt idx="6">
                  <c:v>Jun</c:v>
                </c:pt>
                <c:pt idx="7">
                  <c:v/>
                </c:pt>
                <c:pt idx="8">
                  <c:v/>
                </c:pt>
                <c:pt idx="9">
                  <c:v>Jul</c:v>
                </c:pt>
                <c:pt idx="10">
                  <c:v/>
                </c:pt>
                <c:pt idx="11">
                  <c:v/>
                </c:pt>
                <c:pt idx="12">
                  <c:v>Aug</c:v>
                </c:pt>
                <c:pt idx="13">
                  <c:v/>
                </c:pt>
                <c:pt idx="14">
                  <c:v/>
                </c:pt>
                <c:pt idx="15">
                  <c:v>Sep</c:v>
                </c:pt>
                <c:pt idx="16">
                  <c:v/>
                </c:pt>
                <c:pt idx="17">
                  <c:v/>
                </c:pt>
                <c:pt idx="18">
                  <c:v>Oct</c:v>
                </c:pt>
                <c:pt idx="19">
                  <c:v/>
                </c:pt>
                <c:pt idx="20">
                  <c:v/>
                </c:pt>
                <c:pt idx="21">
                  <c:v>Nov</c:v>
                </c:pt>
                <c:pt idx="22">
                  <c:v/>
                </c:pt>
                <c:pt idx="23">
                  <c:v/>
                </c:pt>
                <c:pt idx="24">
                  <c:v>Dec</c:v>
                </c:pt>
                <c:pt idx="25">
                  <c:v/>
                </c:pt>
                <c:pt idx="26">
                  <c:v/>
                </c:pt>
                <c:pt idx="27">
                  <c:v>Jan</c:v>
                </c:pt>
                <c:pt idx="28">
                  <c:v/>
                </c:pt>
                <c:pt idx="29">
                  <c:v/>
                </c:pt>
                <c:pt idx="30">
                  <c:v>Feb</c:v>
                </c:pt>
                <c:pt idx="31">
                  <c:v/>
                </c:pt>
                <c:pt idx="32">
                  <c:v/>
                </c:pt>
                <c:pt idx="33">
                  <c:v>Mar</c:v>
                </c:pt>
                <c:pt idx="34">
                  <c:v/>
                </c:pt>
              </c:strCache>
            </c:strRef>
          </c:cat>
          <c:val>
            <c:numRef>
              <c:f>Sheet1!$D$2:$D$36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9</c:v>
                </c:pt>
                <c:pt idx="29">
                  <c:v>0</c:v>
                </c:pt>
                <c:pt idx="30">
                  <c:v>0</c:v>
                </c:pt>
                <c:pt idx="31">
                  <c:v>11</c:v>
                </c:pt>
                <c:pt idx="32">
                  <c:v>0</c:v>
                </c:pt>
                <c:pt idx="33">
                  <c:v>0</c:v>
                </c:pt>
                <c:pt idx="3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C7F-D847-A4AD-44605D3AD5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3"/>
          <c:tx>
            <c:strRef>
              <c:f>Sheet1!$E$1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C7F-D847-A4AD-44605D3AD5C5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C7F-D847-A4AD-44605D3AD5C5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C7F-D847-A4AD-44605D3AD5C5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C7F-D847-A4AD-44605D3AD5C5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C7F-D847-A4AD-44605D3AD5C5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C7F-D847-A4AD-44605D3AD5C5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C7F-D847-A4AD-44605D3AD5C5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9C7F-D847-A4AD-44605D3AD5C5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C7F-D847-A4AD-44605D3AD5C5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9C7F-D847-A4AD-44605D3AD5C5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9C7F-D847-A4AD-44605D3AD5C5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9C7F-D847-A4AD-44605D3AD5C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Apr</c:v>
                </c:pt>
                <c:pt idx="1">
                  <c:v/>
                </c:pt>
                <c:pt idx="2">
                  <c:v/>
                </c:pt>
                <c:pt idx="3">
                  <c:v>May</c:v>
                </c:pt>
                <c:pt idx="4">
                  <c:v/>
                </c:pt>
                <c:pt idx="5">
                  <c:v/>
                </c:pt>
                <c:pt idx="6">
                  <c:v>Jun</c:v>
                </c:pt>
                <c:pt idx="7">
                  <c:v/>
                </c:pt>
                <c:pt idx="8">
                  <c:v/>
                </c:pt>
                <c:pt idx="9">
                  <c:v>Jul</c:v>
                </c:pt>
                <c:pt idx="10">
                  <c:v/>
                </c:pt>
                <c:pt idx="11">
                  <c:v/>
                </c:pt>
                <c:pt idx="12">
                  <c:v>Aug</c:v>
                </c:pt>
                <c:pt idx="13">
                  <c:v/>
                </c:pt>
                <c:pt idx="14">
                  <c:v/>
                </c:pt>
                <c:pt idx="15">
                  <c:v>Sep</c:v>
                </c:pt>
                <c:pt idx="16">
                  <c:v/>
                </c:pt>
                <c:pt idx="17">
                  <c:v/>
                </c:pt>
                <c:pt idx="18">
                  <c:v>Oct</c:v>
                </c:pt>
                <c:pt idx="19">
                  <c:v/>
                </c:pt>
                <c:pt idx="20">
                  <c:v/>
                </c:pt>
                <c:pt idx="21">
                  <c:v>Nov</c:v>
                </c:pt>
                <c:pt idx="22">
                  <c:v/>
                </c:pt>
                <c:pt idx="23">
                  <c:v/>
                </c:pt>
                <c:pt idx="24">
                  <c:v>Dec</c:v>
                </c:pt>
                <c:pt idx="25">
                  <c:v/>
                </c:pt>
                <c:pt idx="26">
                  <c:v/>
                </c:pt>
                <c:pt idx="27">
                  <c:v>Jan</c:v>
                </c:pt>
                <c:pt idx="28">
                  <c:v/>
                </c:pt>
                <c:pt idx="29">
                  <c:v/>
                </c:pt>
                <c:pt idx="30">
                  <c:v>Feb</c:v>
                </c:pt>
                <c:pt idx="31">
                  <c:v/>
                </c:pt>
                <c:pt idx="32">
                  <c:v/>
                </c:pt>
                <c:pt idx="33">
                  <c:v>Mar</c:v>
                </c:pt>
                <c:pt idx="34">
                  <c:v/>
                </c:pt>
              </c:strCache>
            </c:strRef>
          </c:cat>
          <c:val>
            <c:numRef>
              <c:f>Sheet1!$E$2:$E$36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22</c:v>
                </c:pt>
                <c:pt idx="28">
                  <c:v>9</c:v>
                </c:pt>
                <c:pt idx="29">
                  <c:v>0</c:v>
                </c:pt>
                <c:pt idx="30">
                  <c:v>44</c:v>
                </c:pt>
                <c:pt idx="31">
                  <c:v>11</c:v>
                </c:pt>
                <c:pt idx="32">
                  <c:v>0</c:v>
                </c:pt>
                <c:pt idx="33">
                  <c:v>2041</c:v>
                </c:pt>
                <c:pt idx="34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9C7F-D847-A4AD-44605D3AD5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Sheet1!$A$2:$A$36</c:f>
              <c:strCache>
                <c:ptCount val="35"/>
                <c:pt idx="0">
                  <c:v>Apr</c:v>
                </c:pt>
                <c:pt idx="1">
                  <c:v/>
                </c:pt>
                <c:pt idx="2">
                  <c:v/>
                </c:pt>
                <c:pt idx="3">
                  <c:v>May</c:v>
                </c:pt>
                <c:pt idx="4">
                  <c:v/>
                </c:pt>
                <c:pt idx="5">
                  <c:v/>
                </c:pt>
                <c:pt idx="6">
                  <c:v>Jun</c:v>
                </c:pt>
                <c:pt idx="7">
                  <c:v/>
                </c:pt>
                <c:pt idx="8">
                  <c:v/>
                </c:pt>
                <c:pt idx="9">
                  <c:v>Jul</c:v>
                </c:pt>
                <c:pt idx="10">
                  <c:v/>
                </c:pt>
                <c:pt idx="11">
                  <c:v/>
                </c:pt>
                <c:pt idx="12">
                  <c:v>Aug</c:v>
                </c:pt>
                <c:pt idx="13">
                  <c:v/>
                </c:pt>
                <c:pt idx="14">
                  <c:v/>
                </c:pt>
                <c:pt idx="15">
                  <c:v>Sep</c:v>
                </c:pt>
                <c:pt idx="16">
                  <c:v/>
                </c:pt>
                <c:pt idx="17">
                  <c:v/>
                </c:pt>
                <c:pt idx="18">
                  <c:v>Oct</c:v>
                </c:pt>
                <c:pt idx="19">
                  <c:v/>
                </c:pt>
                <c:pt idx="20">
                  <c:v/>
                </c:pt>
                <c:pt idx="21">
                  <c:v>Nov</c:v>
                </c:pt>
                <c:pt idx="22">
                  <c:v/>
                </c:pt>
                <c:pt idx="23">
                  <c:v/>
                </c:pt>
                <c:pt idx="24">
                  <c:v>Dec</c:v>
                </c:pt>
                <c:pt idx="25">
                  <c:v/>
                </c:pt>
                <c:pt idx="26">
                  <c:v/>
                </c:pt>
                <c:pt idx="27">
                  <c:v>Jan</c:v>
                </c:pt>
                <c:pt idx="28">
                  <c:v/>
                </c:pt>
                <c:pt idx="29">
                  <c:v/>
                </c:pt>
                <c:pt idx="30">
                  <c:v>Feb</c:v>
                </c:pt>
                <c:pt idx="31">
                  <c:v/>
                </c:pt>
                <c:pt idx="32">
                  <c:v/>
                </c:pt>
                <c:pt idx="33">
                  <c:v>Mar</c:v>
                </c:pt>
                <c:pt idx="34">
                  <c:v/>
                </c:pt>
              </c:strCache>
            </c:strRef>
          </c:cat>
          <c:val>
            <c:numRef>
              <c:f>Sheet1!$B$2:$B$36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26</c:v>
                </c:pt>
                <c:pt idx="28">
                  <c:v>0</c:v>
                </c:pt>
                <c:pt idx="29">
                  <c:v>0</c:v>
                </c:pt>
                <c:pt idx="30">
                  <c:v>23</c:v>
                </c:pt>
                <c:pt idx="31">
                  <c:v>0</c:v>
                </c:pt>
                <c:pt idx="32">
                  <c:v>0</c:v>
                </c:pt>
                <c:pt idx="33">
                  <c:v>1188</c:v>
                </c:pt>
                <c:pt idx="3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19-F14D-B63F-8C5F7A03232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Existing</c:v>
                </c:pt>
              </c:strCache>
            </c:strRef>
          </c:tx>
          <c:spPr>
            <a:solidFill>
              <a:srgbClr val="B6C4FF"/>
            </a:solidFill>
            <a:ln>
              <a:noFill/>
            </a:ln>
            <a:effectLst>
              <a:outerShdw blurRad="50800" dist="50800" dir="5400000" algn="ctr" rotWithShape="0">
                <a:srgbClr val="B6C4FF"/>
              </a:outerShdw>
            </a:effectLst>
          </c:spPr>
          <c:invertIfNegative val="0"/>
          <c:cat>
            <c:strRef>
              <c:f>Sheet1!$A$2:$A$36</c:f>
              <c:strCache>
                <c:ptCount val="35"/>
                <c:pt idx="0">
                  <c:v>Apr</c:v>
                </c:pt>
                <c:pt idx="1">
                  <c:v/>
                </c:pt>
                <c:pt idx="2">
                  <c:v/>
                </c:pt>
                <c:pt idx="3">
                  <c:v>May</c:v>
                </c:pt>
                <c:pt idx="4">
                  <c:v/>
                </c:pt>
                <c:pt idx="5">
                  <c:v/>
                </c:pt>
                <c:pt idx="6">
                  <c:v>Jun</c:v>
                </c:pt>
                <c:pt idx="7">
                  <c:v/>
                </c:pt>
                <c:pt idx="8">
                  <c:v/>
                </c:pt>
                <c:pt idx="9">
                  <c:v>Jul</c:v>
                </c:pt>
                <c:pt idx="10">
                  <c:v/>
                </c:pt>
                <c:pt idx="11">
                  <c:v/>
                </c:pt>
                <c:pt idx="12">
                  <c:v>Aug</c:v>
                </c:pt>
                <c:pt idx="13">
                  <c:v/>
                </c:pt>
                <c:pt idx="14">
                  <c:v/>
                </c:pt>
                <c:pt idx="15">
                  <c:v>Sep</c:v>
                </c:pt>
                <c:pt idx="16">
                  <c:v/>
                </c:pt>
                <c:pt idx="17">
                  <c:v/>
                </c:pt>
                <c:pt idx="18">
                  <c:v>Oct</c:v>
                </c:pt>
                <c:pt idx="19">
                  <c:v/>
                </c:pt>
                <c:pt idx="20">
                  <c:v/>
                </c:pt>
                <c:pt idx="21">
                  <c:v>Nov</c:v>
                </c:pt>
                <c:pt idx="22">
                  <c:v/>
                </c:pt>
                <c:pt idx="23">
                  <c:v/>
                </c:pt>
                <c:pt idx="24">
                  <c:v>Dec</c:v>
                </c:pt>
                <c:pt idx="25">
                  <c:v/>
                </c:pt>
                <c:pt idx="26">
                  <c:v/>
                </c:pt>
                <c:pt idx="27">
                  <c:v>Jan</c:v>
                </c:pt>
                <c:pt idx="28">
                  <c:v/>
                </c:pt>
                <c:pt idx="29">
                  <c:v/>
                </c:pt>
                <c:pt idx="30">
                  <c:v>Feb</c:v>
                </c:pt>
                <c:pt idx="31">
                  <c:v/>
                </c:pt>
                <c:pt idx="32">
                  <c:v/>
                </c:pt>
                <c:pt idx="33">
                  <c:v>Mar</c:v>
                </c:pt>
                <c:pt idx="34">
                  <c:v/>
                </c:pt>
              </c:strCache>
            </c:strRef>
          </c:cat>
          <c:val>
            <c:numRef>
              <c:f>Sheet1!$C$2:$C$36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25</c:v>
                </c:pt>
                <c:pt idx="31">
                  <c:v>0</c:v>
                </c:pt>
                <c:pt idx="32">
                  <c:v>0</c:v>
                </c:pt>
                <c:pt idx="33">
                  <c:v>38</c:v>
                </c:pt>
                <c:pt idx="3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F19-F14D-B63F-8C5F7A03232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Resolved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>
              <a:outerShdw blurRad="50800" dist="50800" dir="5400000" algn="ctr" rotWithShape="0">
                <a:srgbClr val="40C360"/>
              </a:outerShdw>
            </a:effectLst>
          </c:spPr>
          <c:invertIfNegative val="0"/>
          <c:cat>
            <c:strRef>
              <c:f>Sheet1!$A$2:$A$36</c:f>
              <c:strCache>
                <c:ptCount val="35"/>
                <c:pt idx="0">
                  <c:v>Apr</c:v>
                </c:pt>
                <c:pt idx="1">
                  <c:v/>
                </c:pt>
                <c:pt idx="2">
                  <c:v/>
                </c:pt>
                <c:pt idx="3">
                  <c:v>May</c:v>
                </c:pt>
                <c:pt idx="4">
                  <c:v/>
                </c:pt>
                <c:pt idx="5">
                  <c:v/>
                </c:pt>
                <c:pt idx="6">
                  <c:v>Jun</c:v>
                </c:pt>
                <c:pt idx="7">
                  <c:v/>
                </c:pt>
                <c:pt idx="8">
                  <c:v/>
                </c:pt>
                <c:pt idx="9">
                  <c:v>Jul</c:v>
                </c:pt>
                <c:pt idx="10">
                  <c:v/>
                </c:pt>
                <c:pt idx="11">
                  <c:v/>
                </c:pt>
                <c:pt idx="12">
                  <c:v>Aug</c:v>
                </c:pt>
                <c:pt idx="13">
                  <c:v/>
                </c:pt>
                <c:pt idx="14">
                  <c:v/>
                </c:pt>
                <c:pt idx="15">
                  <c:v>Sep</c:v>
                </c:pt>
                <c:pt idx="16">
                  <c:v/>
                </c:pt>
                <c:pt idx="17">
                  <c:v/>
                </c:pt>
                <c:pt idx="18">
                  <c:v>Oct</c:v>
                </c:pt>
                <c:pt idx="19">
                  <c:v/>
                </c:pt>
                <c:pt idx="20">
                  <c:v/>
                </c:pt>
                <c:pt idx="21">
                  <c:v>Nov</c:v>
                </c:pt>
                <c:pt idx="22">
                  <c:v/>
                </c:pt>
                <c:pt idx="23">
                  <c:v/>
                </c:pt>
                <c:pt idx="24">
                  <c:v>Dec</c:v>
                </c:pt>
                <c:pt idx="25">
                  <c:v/>
                </c:pt>
                <c:pt idx="26">
                  <c:v/>
                </c:pt>
                <c:pt idx="27">
                  <c:v>Jan</c:v>
                </c:pt>
                <c:pt idx="28">
                  <c:v/>
                </c:pt>
                <c:pt idx="29">
                  <c:v/>
                </c:pt>
                <c:pt idx="30">
                  <c:v>Feb</c:v>
                </c:pt>
                <c:pt idx="31">
                  <c:v/>
                </c:pt>
                <c:pt idx="32">
                  <c:v/>
                </c:pt>
                <c:pt idx="33">
                  <c:v>Mar</c:v>
                </c:pt>
                <c:pt idx="34">
                  <c:v/>
                </c:pt>
              </c:strCache>
            </c:strRef>
          </c:cat>
          <c:val>
            <c:numRef>
              <c:f>Sheet1!$D$2:$D$36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2</c:v>
                </c:pt>
                <c:pt idx="29">
                  <c:v>0</c:v>
                </c:pt>
                <c:pt idx="30">
                  <c:v>0</c:v>
                </c:pt>
                <c:pt idx="31">
                  <c:v>1</c:v>
                </c:pt>
                <c:pt idx="32">
                  <c:v>0</c:v>
                </c:pt>
                <c:pt idx="33">
                  <c:v>0</c:v>
                </c:pt>
                <c:pt idx="3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F19-F14D-B63F-8C5F7A0323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3"/>
          <c:tx>
            <c:strRef>
              <c:f>Sheet1!$E$1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F19-F14D-B63F-8C5F7A032322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F19-F14D-B63F-8C5F7A032322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F19-F14D-B63F-8C5F7A032322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F19-F14D-B63F-8C5F7A03232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F19-F14D-B63F-8C5F7A032322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F19-F14D-B63F-8C5F7A032322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F19-F14D-B63F-8C5F7A032322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8F19-F14D-B63F-8C5F7A032322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F19-F14D-B63F-8C5F7A032322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8F19-F14D-B63F-8C5F7A032322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8F19-F14D-B63F-8C5F7A032322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8F19-F14D-B63F-8C5F7A03232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Apr</c:v>
                </c:pt>
                <c:pt idx="1">
                  <c:v/>
                </c:pt>
                <c:pt idx="2">
                  <c:v/>
                </c:pt>
                <c:pt idx="3">
                  <c:v>May</c:v>
                </c:pt>
                <c:pt idx="4">
                  <c:v/>
                </c:pt>
                <c:pt idx="5">
                  <c:v/>
                </c:pt>
                <c:pt idx="6">
                  <c:v>Jun</c:v>
                </c:pt>
                <c:pt idx="7">
                  <c:v/>
                </c:pt>
                <c:pt idx="8">
                  <c:v/>
                </c:pt>
                <c:pt idx="9">
                  <c:v>Jul</c:v>
                </c:pt>
                <c:pt idx="10">
                  <c:v/>
                </c:pt>
                <c:pt idx="11">
                  <c:v/>
                </c:pt>
                <c:pt idx="12">
                  <c:v>Aug</c:v>
                </c:pt>
                <c:pt idx="13">
                  <c:v/>
                </c:pt>
                <c:pt idx="14">
                  <c:v/>
                </c:pt>
                <c:pt idx="15">
                  <c:v>Sep</c:v>
                </c:pt>
                <c:pt idx="16">
                  <c:v/>
                </c:pt>
                <c:pt idx="17">
                  <c:v/>
                </c:pt>
                <c:pt idx="18">
                  <c:v>Oct</c:v>
                </c:pt>
                <c:pt idx="19">
                  <c:v/>
                </c:pt>
                <c:pt idx="20">
                  <c:v/>
                </c:pt>
                <c:pt idx="21">
                  <c:v>Nov</c:v>
                </c:pt>
                <c:pt idx="22">
                  <c:v/>
                </c:pt>
                <c:pt idx="23">
                  <c:v/>
                </c:pt>
                <c:pt idx="24">
                  <c:v>Dec</c:v>
                </c:pt>
                <c:pt idx="25">
                  <c:v/>
                </c:pt>
                <c:pt idx="26">
                  <c:v/>
                </c:pt>
                <c:pt idx="27">
                  <c:v>Jan</c:v>
                </c:pt>
                <c:pt idx="28">
                  <c:v/>
                </c:pt>
                <c:pt idx="29">
                  <c:v/>
                </c:pt>
                <c:pt idx="30">
                  <c:v>Feb</c:v>
                </c:pt>
                <c:pt idx="31">
                  <c:v/>
                </c:pt>
                <c:pt idx="32">
                  <c:v/>
                </c:pt>
                <c:pt idx="33">
                  <c:v>Mar</c:v>
                </c:pt>
                <c:pt idx="34">
                  <c:v/>
                </c:pt>
              </c:strCache>
            </c:strRef>
          </c:cat>
          <c:val>
            <c:numRef>
              <c:f>Sheet1!$E$2:$E$36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26</c:v>
                </c:pt>
                <c:pt idx="28">
                  <c:v>2</c:v>
                </c:pt>
                <c:pt idx="29">
                  <c:v>0</c:v>
                </c:pt>
                <c:pt idx="30">
                  <c:v>48</c:v>
                </c:pt>
                <c:pt idx="31">
                  <c:v>1</c:v>
                </c:pt>
                <c:pt idx="32">
                  <c:v>0</c:v>
                </c:pt>
                <c:pt idx="33">
                  <c:v>1226</c:v>
                </c:pt>
                <c:pt idx="34">
                  <c:v>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8F19-F14D-B63F-8C5F7A0323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8909766555187129E-2"/>
          <c:y val="6.0220552925546358E-2"/>
          <c:w val="0.94218046688962576"/>
          <c:h val="0.6722109521227206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 most 7 days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3A-144D-9198-B504C851AC6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between 7 and 14 days</c:v>
                </c:pt>
              </c:strCache>
            </c:strRef>
          </c:tx>
          <c:spPr>
            <a:solidFill>
              <a:srgbClr val="39A498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13A-144D-9198-B504C851AC6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between 14 and 30 days</c:v>
                </c:pt>
              </c:strCache>
            </c:strRef>
          </c:tx>
          <c:spPr>
            <a:solidFill>
              <a:srgbClr val="358AC7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13A-144D-9198-B504C851AC6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at least 30 days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3A-144D-9198-B504C851AC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4"/>
          <c:tx>
            <c:strRef>
              <c:f>Sheet1!$F$1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613A-144D-9198-B504C851AC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4"/>
        <c:delete val="1"/>
      </c:legendEntry>
      <c:layout>
        <c:manualLayout>
          <c:xMode val="edge"/>
          <c:yMode val="edge"/>
          <c:x val="0"/>
          <c:y val="0.85514823222286696"/>
          <c:w val="0.99682530616518883"/>
          <c:h val="0.144851767777133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8909766555187129E-2"/>
          <c:y val="6.0220552925546358E-2"/>
          <c:w val="0.94218046688962576"/>
          <c:h val="0.6722109521227206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 most 14 days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5</c:v>
                </c:pt>
                <c:pt idx="10">
                  <c:v>3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BC-094D-8877-0309CBC0B0D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between 14 and 30 days</c:v>
                </c:pt>
              </c:strCache>
            </c:strRef>
          </c:tx>
          <c:spPr>
            <a:solidFill>
              <a:srgbClr val="39A498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4</c:v>
                </c:pt>
                <c:pt idx="10">
                  <c:v>7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FBC-094D-8877-0309CBC0B0D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between 30 and 180 days</c:v>
                </c:pt>
              </c:strCache>
            </c:strRef>
          </c:tx>
          <c:spPr>
            <a:solidFill>
              <a:srgbClr val="358AC7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1</c:v>
                </c:pt>
                <c:pt idx="1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FBC-094D-8877-0309CBC0B0D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at least 180 days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FBC-094D-8877-0309CBC0B0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4"/>
          <c:tx>
            <c:strRef>
              <c:f>Sheet1!$F$1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9</c:v>
                </c:pt>
                <c:pt idx="10">
                  <c:v>11</c:v>
                </c:pt>
                <c:pt idx="11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BFBC-094D-8877-0309CBC0B0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4"/>
        <c:delete val="1"/>
      </c:legendEntry>
      <c:layout>
        <c:manualLayout>
          <c:xMode val="edge"/>
          <c:yMode val="edge"/>
          <c:x val="0"/>
          <c:y val="0.85514823222286696"/>
          <c:w val="0.99682530616518883"/>
          <c:h val="0.144851767777133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8909766555187129E-2"/>
          <c:y val="6.0220552925546358E-2"/>
          <c:w val="0.94218046688962576"/>
          <c:h val="0.6722109521227206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 most 30 days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2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BC-094D-8877-0309CBC0B0D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between 30 and 180 days</c:v>
                </c:pt>
              </c:strCache>
            </c:strRef>
          </c:tx>
          <c:spPr>
            <a:solidFill>
              <a:srgbClr val="39A498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1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FBC-094D-8877-0309CBC0B0D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between 180 and 270 days</c:v>
                </c:pt>
              </c:strCache>
            </c:strRef>
          </c:tx>
          <c:spPr>
            <a:solidFill>
              <a:srgbClr val="358AC7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FBC-094D-8877-0309CBC0B0D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at least 270 days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FBC-094D-8877-0309CBC0B0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4"/>
          <c:tx>
            <c:strRef>
              <c:f>Sheet1!$F$1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2</c:v>
                </c:pt>
                <c:pt idx="10">
                  <c:v>1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BFBC-094D-8877-0309CBC0B0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4"/>
        <c:delete val="1"/>
      </c:legendEntry>
      <c:layout>
        <c:manualLayout>
          <c:xMode val="edge"/>
          <c:yMode val="edge"/>
          <c:x val="0"/>
          <c:y val="0.85514823222286696"/>
          <c:w val="0.99682530616518883"/>
          <c:h val="0.144851767777133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9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0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5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400D1-FA8E-6548-A590-873477C84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962C3-51DB-5B49-AE33-9436051173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55C68-584F-174D-BB81-51BF9170879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33DF3-39D0-BC4B-8900-A41729E59C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35CF-6CE3-3041-89CE-FA86F745DE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955B2-A2D5-2846-95B1-99C033D9F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166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DAAC4-819D-C544-9EA1-C73624CFD70B}" type="datetimeFigureOut">
              <a:rPr lang="en-US" smtClean="0"/>
              <a:t>7/21/26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DED6-61EF-5240-95D8-926F20A98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9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483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E62B7-BF97-0973-EDF4-48908FBE9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D3CEDA-8AB3-6AF0-70C6-E15C6FC8C2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069262-B5A4-2FCE-7E08-7EAAD1DB39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B9485A-62C7-3089-C70F-6405456B24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54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2D2F1-F27E-F008-D28F-A80C65A79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CFE20B-AC68-A715-1904-A8997A7407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C90C4E-EA51-177C-42BA-46AF20D0BD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E6F7B-6012-765E-DCF5-2558BB00D9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238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77F13-6185-DA3A-E4BF-93AB08710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AAA878-4BCC-C37E-C60B-5C73D7AB75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1676A-8DB0-EB68-AFE3-4B5980881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1DA36-1389-3F55-2F71-57DFDF61FB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8385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C86E9-8DBC-7315-34FD-58C7242D7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8AD624-4D2F-82F2-F904-1C760725E6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94E577-5C9F-05A6-2A63-85479AB3C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DF337-03B5-BF71-3308-EB7914FE23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3301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2D0F5-8BBF-7EE5-13F5-9F0CF5DC7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B9B9BD-FD8B-6877-05B7-E767615347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3D1F4E-1948-87BC-0DC9-1B2643E769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1974D-1303-6585-E51A-9BB4C09339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533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2AC41-72C5-457E-68E0-ABA79431E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875686-AB67-CADF-5E29-F5A5E8D972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487485-085D-0D90-7A80-DA34DCDD1B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B4E9A-7183-4A81-0FF4-A45C762933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3711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0223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9E683-C9EC-1D45-88B8-5E84B5854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7B5CBF-3012-045D-BF54-6FE84596A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33B5E4-7175-81ED-5825-D28FF4AD05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7745D3-74FD-0ADA-5B6C-DC6DBDDF1C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65466-C581-7E43-9AE7-259D040BA751}" type="slidenum">
              <a:rPr lang="nl-NL" smtClean="0"/>
              <a:t>20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318681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A74F8-E8A1-04EC-B454-288A2CC88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6F02B9-A2E5-ED61-3237-42E0AC4BBB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B8B389-453E-3433-6FA3-9E9724AFA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E964E3-FBDC-C133-4E72-F1AAC73304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65466-C581-7E43-9AE7-259D040BA751}" type="slidenum">
              <a:rPr lang="nl-NL" smtClean="0"/>
              <a:t>21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756031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440C3-8B77-A987-276E-F1D31C851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365009-84BF-8836-E818-4EE4D95DBD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697E46-BEF0-F40D-55DD-BD10F7747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6F44B-8DFA-7FEC-E0BE-04E5455D62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65466-C581-7E43-9AE7-259D040BA751}" type="slidenum">
              <a:rPr lang="nl-NL" smtClean="0"/>
              <a:t>22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239279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492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3726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svg"/><Relationship Id="rId4" Type="http://schemas.openxmlformats.org/officeDocument/2006/relationships/image" Target="../media/image5.svg"/><Relationship Id="rId5" Type="http://schemas.openxmlformats.org/officeDocument/2006/relationships/image" Target="../media/image6.svg"/><Relationship Id="rId6" Type="http://schemas.openxmlformats.org/officeDocument/2006/relationships/image" Target="../media/image7.svg"/><Relationship Id="rId7" Type="http://schemas.openxmlformats.org/officeDocument/2006/relationships/image" Target="../media/image8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Tec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38">
            <a:extLst>
              <a:ext uri="{FF2B5EF4-FFF2-40B4-BE49-F238E27FC236}">
                <a16:creationId xmlns:a16="http://schemas.microsoft.com/office/drawing/2014/main" id="{7347C396-4E04-5438-3588-DA4459F358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47"/>
                    </a14:imgEffect>
                    <a14:imgEffect>
                      <a14:brightnessContrast bright="-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6" y="1"/>
            <a:ext cx="12192736" cy="4788650"/>
          </a:xfrm>
          <a:prstGeom prst="rect">
            <a:avLst/>
          </a:prstGeom>
        </p:spPr>
      </p:pic>
      <p:sp>
        <p:nvSpPr>
          <p:cNvPr id="5" name="Rechthoek 4">
            <a:extLst>
              <a:ext uri="{FF2B5EF4-FFF2-40B4-BE49-F238E27FC236}">
                <a16:creationId xmlns:a16="http://schemas.microsoft.com/office/drawing/2014/main" id="{3711BFBD-7D49-8987-E8A2-D4E4D95700E2}"/>
              </a:ext>
            </a:extLst>
          </p:cNvPr>
          <p:cNvSpPr/>
          <p:nvPr userDrawn="1"/>
        </p:nvSpPr>
        <p:spPr>
          <a:xfrm>
            <a:off x="0" y="0"/>
            <a:ext cx="12192000" cy="4119763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>
                  <a:alpha val="32941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980E156-820D-6279-257C-1179FF494665}"/>
              </a:ext>
            </a:extLst>
          </p:cNvPr>
          <p:cNvSpPr/>
          <p:nvPr userDrawn="1"/>
        </p:nvSpPr>
        <p:spPr>
          <a:xfrm>
            <a:off x="0" y="4047849"/>
            <a:ext cx="3033486" cy="2810151"/>
          </a:xfrm>
          <a:prstGeom prst="rect">
            <a:avLst/>
          </a:prstGeom>
          <a:gradFill>
            <a:gsLst>
              <a:gs pos="0">
                <a:srgbClr val="09204F"/>
              </a:gs>
              <a:gs pos="99000">
                <a:srgbClr val="1864FF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C197F95C-A1BB-C2C6-50E0-3639B39F8A87}"/>
              </a:ext>
            </a:extLst>
          </p:cNvPr>
          <p:cNvSpPr/>
          <p:nvPr userDrawn="1"/>
        </p:nvSpPr>
        <p:spPr>
          <a:xfrm>
            <a:off x="3033486" y="4047849"/>
            <a:ext cx="9158514" cy="2810151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30FCF230-7996-DE1F-6C0D-58B99665047D}"/>
              </a:ext>
            </a:extLst>
          </p:cNvPr>
          <p:cNvCxnSpPr>
            <a:cxnSpLocks/>
          </p:cNvCxnSpPr>
          <p:nvPr userDrawn="1"/>
        </p:nvCxnSpPr>
        <p:spPr>
          <a:xfrm>
            <a:off x="3672841" y="6278577"/>
            <a:ext cx="7895435" cy="0"/>
          </a:xfrm>
          <a:prstGeom prst="line">
            <a:avLst/>
          </a:prstGeom>
          <a:ln w="9525">
            <a:solidFill>
              <a:schemeClr val="bg2">
                <a:lumMod val="90000"/>
                <a:alpha val="59579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11FEE32-F393-744E-EBFD-1C14BB1094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1670400"/>
            <a:ext cx="11174400" cy="450000"/>
          </a:xfrm>
          <a:prstGeom prst="rect">
            <a:avLst/>
          </a:prstGeom>
        </p:spPr>
        <p:txBody>
          <a:bodyPr wrap="none" tIns="46800" rIns="234000" bIns="46800"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0" i="0" spc="-30" baseline="0">
                <a:solidFill>
                  <a:srgbClr val="D1E0FF">
                    <a:alpha val="80000"/>
                  </a:srgbClr>
                </a:solidFill>
                <a:latin typeface="Noir Pro" pitchFamily="2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 dirty="0"/>
              <a:t>Client name - System name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CC7910BC-58A3-14A8-3CB9-E7BE52B4B4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6000" y="2145600"/>
            <a:ext cx="11174400" cy="788400"/>
          </a:xfrm>
          <a:prstGeom prst="rect">
            <a:avLst/>
          </a:prstGeom>
        </p:spPr>
        <p:txBody>
          <a:bodyPr tIns="0" rIns="0" bIns="46800" anchor="t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6000" b="1" i="0">
                <a:solidFill>
                  <a:srgbClr val="FFFFFF"/>
                </a:solidFill>
                <a:latin typeface="Noir Pro Semi Bold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presentation subject</a:t>
            </a:r>
          </a:p>
        </p:txBody>
      </p:sp>
      <p:sp>
        <p:nvSpPr>
          <p:cNvPr id="28" name="Tijdelijke aanduiding voor voettekst 10">
            <a:extLst>
              <a:ext uri="{FF2B5EF4-FFF2-40B4-BE49-F238E27FC236}">
                <a16:creationId xmlns:a16="http://schemas.microsoft.com/office/drawing/2014/main" id="{25913A94-10DF-8D91-7C37-CE090F12EB19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>
          <a:xfrm>
            <a:off x="9854418" y="6429600"/>
            <a:ext cx="1712382" cy="237600"/>
          </a:xfrm>
          <a:prstGeom prst="rect">
            <a:avLst/>
          </a:prstGeom>
        </p:spPr>
        <p:txBody>
          <a:bodyPr lIns="251999" rIns="180000" bIns="46800">
            <a:noAutofit/>
          </a:bodyPr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r>
              <a:rPr lang="nl-NL"/>
              <a:t>Confidential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15211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7360B52C-32F4-6286-9606-BADD4B6FCD5D}"/>
              </a:ext>
            </a:extLst>
          </p:cNvPr>
          <p:cNvSpPr/>
          <p:nvPr userDrawn="1"/>
        </p:nvSpPr>
        <p:spPr>
          <a:xfrm>
            <a:off x="0" y="0"/>
            <a:ext cx="5275742" cy="6858000"/>
          </a:xfrm>
          <a:prstGeom prst="rect">
            <a:avLst/>
          </a:prstGeom>
          <a:gradFill>
            <a:gsLst>
              <a:gs pos="0">
                <a:srgbClr val="09204F"/>
              </a:gs>
              <a:gs pos="89000">
                <a:srgbClr val="1864F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F37031E7-C6CA-7F68-A55A-E44BEE6BB348}"/>
              </a:ext>
            </a:extLst>
          </p:cNvPr>
          <p:cNvSpPr/>
          <p:nvPr userDrawn="1"/>
        </p:nvSpPr>
        <p:spPr>
          <a:xfrm>
            <a:off x="0" y="2794000"/>
            <a:ext cx="5275742" cy="4064000"/>
          </a:xfrm>
          <a:prstGeom prst="rect">
            <a:avLst/>
          </a:prstGeom>
          <a:gradFill>
            <a:gsLst>
              <a:gs pos="4000">
                <a:srgbClr val="09204F"/>
              </a:gs>
              <a:gs pos="100000">
                <a:srgbClr val="155AE7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1AEEA1A0-88B9-9217-C726-6B0B21E8A2C9}"/>
              </a:ext>
            </a:extLst>
          </p:cNvPr>
          <p:cNvSpPr/>
          <p:nvPr userDrawn="1"/>
        </p:nvSpPr>
        <p:spPr>
          <a:xfrm>
            <a:off x="5263376" y="0"/>
            <a:ext cx="6928627" cy="6858000"/>
          </a:xfrm>
          <a:prstGeom prst="rect">
            <a:avLst/>
          </a:prstGeom>
          <a:gradFill>
            <a:gsLst>
              <a:gs pos="0">
                <a:srgbClr val="D1E0FF"/>
              </a:gs>
              <a:gs pos="9000">
                <a:srgbClr val="FFFFFF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D962B193-53CA-0D19-0118-C61D7DEBCFE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l-NL" dirty="0" err="1"/>
              <a:t>Confidential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5BD149E-B12D-F2FB-60B1-2F2EBB40DF9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5581EF9-202E-75BA-5611-B35F6FE181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7600" y="1220743"/>
            <a:ext cx="3560400" cy="609398"/>
          </a:xfrm>
        </p:spPr>
        <p:txBody>
          <a:bodyPr tIns="0" bIns="0" anchor="t"/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Noir Pro Semi Bold" pitchFamily="2" charset="0"/>
              </a:defRPr>
            </a:lvl1pPr>
          </a:lstStyle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en-US" dirty="0"/>
          </a:p>
        </p:txBody>
      </p:sp>
      <p:sp>
        <p:nvSpPr>
          <p:cNvPr id="12" name="Tijdelijke aanduiding voor inhoud 11">
            <a:extLst>
              <a:ext uri="{FF2B5EF4-FFF2-40B4-BE49-F238E27FC236}">
                <a16:creationId xmlns:a16="http://schemas.microsoft.com/office/drawing/2014/main" id="{4F637EDD-DD17-8404-6CF0-C103F6B059B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467600" y="738000"/>
            <a:ext cx="7092000" cy="2484274"/>
          </a:xfrm>
          <a:gradFill>
            <a:gsLst>
              <a:gs pos="0">
                <a:srgbClr val="A3C1FF">
                  <a:alpha val="89804"/>
                </a:srgbClr>
              </a:gs>
              <a:gs pos="8000">
                <a:srgbClr val="7FAAFF">
                  <a:alpha val="25000"/>
                </a:srgbClr>
              </a:gs>
              <a:gs pos="53000">
                <a:srgbClr val="FFFFFF">
                  <a:alpha val="14902"/>
                </a:srgbClr>
              </a:gs>
            </a:gsLst>
            <a:lin ang="3600000" scaled="0"/>
          </a:gradFill>
        </p:spPr>
        <p:txBody>
          <a:bodyPr lIns="324000" tIns="251999" rIns="288000" bIns="216000">
            <a:spAutoFit/>
          </a:bodyPr>
          <a:lstStyle>
            <a:lvl1pPr marL="900000" indent="-900000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>
                <a:schemeClr val="bg1"/>
              </a:buClr>
              <a:buSzPct val="120000"/>
              <a:buFont typeface="+mj-lt"/>
              <a:buAutoNum type="arabicPeriod"/>
              <a:defRPr sz="1800" b="0" i="0">
                <a:latin typeface="Noir Pro Medium" pitchFamily="2" charset="0"/>
              </a:defRPr>
            </a:lvl1pPr>
            <a:lvl2pPr marL="1114425" indent="-217488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2pPr>
            <a:lvl3pPr marL="1341438" indent="-22701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3pPr>
            <a:lvl4pPr marL="1600200" indent="-25876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4pPr>
          </a:lstStyle>
          <a:p>
            <a:pPr lvl="0"/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presentation</a:t>
            </a:r>
            <a:r>
              <a:rPr lang="nl-NL" dirty="0"/>
              <a:t> </a:t>
            </a:r>
            <a:r>
              <a:rPr lang="nl-NL" dirty="0" err="1"/>
              <a:t>sections</a:t>
            </a:r>
            <a:r>
              <a:rPr lang="nl-NL" dirty="0"/>
              <a:t>/topics</a:t>
            </a:r>
          </a:p>
          <a:p>
            <a:pPr lvl="1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2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2	</a:t>
            </a:r>
          </a:p>
          <a:p>
            <a:pPr lvl="3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3	</a:t>
            </a:r>
          </a:p>
          <a:p>
            <a:pPr lvl="0"/>
            <a:r>
              <a:rPr lang="en-US" dirty="0"/>
              <a:t>This is a second base-level item</a:t>
            </a:r>
          </a:p>
        </p:txBody>
      </p:sp>
    </p:spTree>
    <p:extLst>
      <p:ext uri="{BB962C8B-B14F-4D97-AF65-F5344CB8AC3E}">
        <p14:creationId xmlns:p14="http://schemas.microsoft.com/office/powerpoint/2010/main" val="252657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120FC2D-DB38-A66D-B4BE-8E608C2A5D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167060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e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1DF13F-1492-BD13-A6B1-7A914E1FDC59}"/>
              </a:ext>
            </a:extLst>
          </p:cNvPr>
          <p:cNvSpPr/>
          <p:nvPr userDrawn="1"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4D9293-49E2-42AF-E099-654DFF3A99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381798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SH system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4803D971-BBE6-A649-8B31-9455C887E2E8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08465" y="3915896"/>
            <a:ext cx="228600" cy="2286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AC4218B1-EADF-C24A-80B5-E0C1A5B39C1D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08465" y="3472522"/>
            <a:ext cx="228600" cy="2286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7FA05DD7-2ECA-4D48-A21C-8DFA7DFADE3A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8465" y="4775539"/>
            <a:ext cx="228600" cy="2286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00F4E791-EF53-DC4D-BF37-A43BAC720663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08465" y="3056253"/>
            <a:ext cx="228600" cy="228600"/>
          </a:xfrm>
          <a:prstGeom prst="rect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5D59DCD9-95CA-2849-8561-B2216ED23288}"/>
              </a:ext>
            </a:extLst>
          </p:cNvPr>
          <p:cNvSpPr/>
          <p:nvPr/>
        </p:nvSpPr>
        <p:spPr>
          <a:xfrm>
            <a:off x="183655" y="2350901"/>
            <a:ext cx="5405506" cy="688946"/>
          </a:xfrm>
          <a:prstGeom prst="ellipse">
            <a:avLst/>
          </a:prstGeom>
          <a:solidFill>
            <a:srgbClr val="000000">
              <a:alpha val="15021"/>
            </a:srgbClr>
          </a:solidFill>
          <a:ln>
            <a:noFill/>
          </a:ln>
          <a:effectLst>
            <a:softEdge rad="266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731D74-9128-1544-855C-A1FEBA1CA2CF}"/>
              </a:ext>
            </a:extLst>
          </p:cNvPr>
          <p:cNvSpPr/>
          <p:nvPr/>
        </p:nvSpPr>
        <p:spPr>
          <a:xfrm>
            <a:off x="273504" y="1814254"/>
            <a:ext cx="5472121" cy="972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1ED1E9-7DDE-7349-A824-0A8F7F613A5A}"/>
              </a:ext>
            </a:extLst>
          </p:cNvPr>
          <p:cNvSpPr txBox="1"/>
          <p:nvPr userDrawn="1"/>
        </p:nvSpPr>
        <p:spPr>
          <a:xfrm>
            <a:off x="287680" y="1404912"/>
            <a:ext cx="4469780" cy="357085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b="0" i="0" dirty="0">
                <a:solidFill>
                  <a:schemeClr val="tx1"/>
                </a:solidFill>
                <a:latin typeface="☞NOIR PRO MEDIUM" pitchFamily="2" charset="0"/>
              </a:rPr>
              <a:t>Risks in external dependencies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6613CA-FC98-E948-8B09-66C076B53E70}"/>
              </a:ext>
            </a:extLst>
          </p:cNvPr>
          <p:cNvCxnSpPr>
            <a:cxnSpLocks/>
          </p:cNvCxnSpPr>
          <p:nvPr/>
        </p:nvCxnSpPr>
        <p:spPr>
          <a:xfrm>
            <a:off x="2377457" y="2242127"/>
            <a:ext cx="720000" cy="0"/>
          </a:xfrm>
          <a:prstGeom prst="line">
            <a:avLst/>
          </a:prstGeom>
          <a:ln w="57150" cap="rnd">
            <a:solidFill>
              <a:srgbClr val="DB4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utoShape 5">
            <a:extLst>
              <a:ext uri="{FF2B5EF4-FFF2-40B4-BE49-F238E27FC236}">
                <a16:creationId xmlns:a16="http://schemas.microsoft.com/office/drawing/2014/main" id="{9C79926D-A7E4-AB44-88CA-35B39C0B0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4627" y="2320450"/>
            <a:ext cx="649538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DB493D"/>
                </a:solidFill>
                <a:cs typeface="TheSansMono M5"/>
              </a:rPr>
              <a:t>high risk</a:t>
            </a:r>
          </a:p>
        </p:txBody>
      </p:sp>
      <p:sp>
        <p:nvSpPr>
          <p:cNvPr id="37" name="AutoShape 5">
            <a:extLst>
              <a:ext uri="{FF2B5EF4-FFF2-40B4-BE49-F238E27FC236}">
                <a16:creationId xmlns:a16="http://schemas.microsoft.com/office/drawing/2014/main" id="{A0F466DD-E497-0B47-9C89-D4A346F11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3984" y="2318493"/>
            <a:ext cx="888385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EF981A"/>
                </a:solidFill>
                <a:cs typeface="TheSansMono M5"/>
              </a:rPr>
              <a:t>medium risk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061AE6C-EBE9-4F46-A618-ED7896ACA29D}"/>
              </a:ext>
            </a:extLst>
          </p:cNvPr>
          <p:cNvCxnSpPr>
            <a:cxnSpLocks/>
          </p:cNvCxnSpPr>
          <p:nvPr/>
        </p:nvCxnSpPr>
        <p:spPr>
          <a:xfrm>
            <a:off x="3216635" y="2242127"/>
            <a:ext cx="720000" cy="0"/>
          </a:xfrm>
          <a:prstGeom prst="line">
            <a:avLst/>
          </a:prstGeom>
          <a:ln w="57150" cap="rnd">
            <a:solidFill>
              <a:srgbClr val="EF98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utoShape 5">
            <a:extLst>
              <a:ext uri="{FF2B5EF4-FFF2-40B4-BE49-F238E27FC236}">
                <a16:creationId xmlns:a16="http://schemas.microsoft.com/office/drawing/2014/main" id="{EA2FDCAB-455C-4E49-AF74-1E4FA9011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4025" y="2313682"/>
            <a:ext cx="61529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F8C740"/>
                </a:solidFill>
                <a:cs typeface="TheSansMono M5"/>
              </a:rPr>
              <a:t>low risk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D80D8D2-64AB-5B45-9E98-3024038CA8F5}"/>
              </a:ext>
            </a:extLst>
          </p:cNvPr>
          <p:cNvCxnSpPr>
            <a:cxnSpLocks/>
          </p:cNvCxnSpPr>
          <p:nvPr/>
        </p:nvCxnSpPr>
        <p:spPr>
          <a:xfrm>
            <a:off x="4050584" y="2242127"/>
            <a:ext cx="720000" cy="0"/>
          </a:xfrm>
          <a:prstGeom prst="line">
            <a:avLst/>
          </a:prstGeom>
          <a:ln w="57150" cap="rnd">
            <a:solidFill>
              <a:srgbClr val="F8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utoShape 5">
            <a:extLst>
              <a:ext uri="{FF2B5EF4-FFF2-40B4-BE49-F238E27FC236}">
                <a16:creationId xmlns:a16="http://schemas.microsoft.com/office/drawing/2014/main" id="{83EAF45F-0735-074F-B8DE-661963E38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660" y="2318108"/>
            <a:ext cx="69762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>
              <a:defRPr/>
            </a:pPr>
            <a:r>
              <a:rPr lang="en-US" sz="1100" b="1" dirty="0">
                <a:solidFill>
                  <a:srgbClr val="57C96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US" sz="1200" dirty="0">
                <a:solidFill>
                  <a:srgbClr val="57C968"/>
                </a:solidFill>
              </a:rPr>
              <a:t> </a:t>
            </a:r>
            <a:r>
              <a:rPr lang="en-US" sz="1200" spc="-50" noProof="1">
                <a:solidFill>
                  <a:srgbClr val="57C968"/>
                </a:solidFill>
                <a:cs typeface="TheSansMono M5"/>
              </a:rPr>
              <a:t>no risk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9335F77-CBBF-B24B-8F0A-85FCA257B10A}"/>
              </a:ext>
            </a:extLst>
          </p:cNvPr>
          <p:cNvCxnSpPr>
            <a:cxnSpLocks/>
          </p:cNvCxnSpPr>
          <p:nvPr/>
        </p:nvCxnSpPr>
        <p:spPr>
          <a:xfrm>
            <a:off x="4884540" y="2242127"/>
            <a:ext cx="720000" cy="0"/>
          </a:xfrm>
          <a:prstGeom prst="line">
            <a:avLst/>
          </a:prstGeom>
          <a:ln w="57150" cap="rnd">
            <a:solidFill>
              <a:srgbClr val="57C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eform 47">
            <a:extLst>
              <a:ext uri="{FF2B5EF4-FFF2-40B4-BE49-F238E27FC236}">
                <a16:creationId xmlns:a16="http://schemas.microsoft.com/office/drawing/2014/main" id="{91356441-694B-B541-8959-E690A83565FC}"/>
              </a:ext>
            </a:extLst>
          </p:cNvPr>
          <p:cNvSpPr/>
          <p:nvPr userDrawn="1"/>
        </p:nvSpPr>
        <p:spPr>
          <a:xfrm>
            <a:off x="373537" y="1870675"/>
            <a:ext cx="1078883" cy="721276"/>
          </a:xfrm>
          <a:custGeom>
            <a:avLst/>
            <a:gdLst>
              <a:gd name="connsiteX0" fmla="*/ 28050 w 1078883"/>
              <a:gd name="connsiteY0" fmla="*/ 0 h 721276"/>
              <a:gd name="connsiteX1" fmla="*/ 915239 w 1078883"/>
              <a:gd name="connsiteY1" fmla="*/ 0 h 721276"/>
              <a:gd name="connsiteX2" fmla="*/ 1078883 w 1078883"/>
              <a:gd name="connsiteY2" fmla="*/ 364710 h 721276"/>
              <a:gd name="connsiteX3" fmla="*/ 918893 w 1078883"/>
              <a:gd name="connsiteY3" fmla="*/ 721276 h 721276"/>
              <a:gd name="connsiteX4" fmla="*/ 28050 w 1078883"/>
              <a:gd name="connsiteY4" fmla="*/ 721276 h 721276"/>
              <a:gd name="connsiteX5" fmla="*/ 0 w 1078883"/>
              <a:gd name="connsiteY5" fmla="*/ 693226 h 721276"/>
              <a:gd name="connsiteX6" fmla="*/ 0 w 1078883"/>
              <a:gd name="connsiteY6" fmla="*/ 28050 h 721276"/>
              <a:gd name="connsiteX7" fmla="*/ 28050 w 1078883"/>
              <a:gd name="connsiteY7" fmla="*/ 0 h 721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8883" h="721276">
                <a:moveTo>
                  <a:pt x="28050" y="0"/>
                </a:moveTo>
                <a:lnTo>
                  <a:pt x="915239" y="0"/>
                </a:lnTo>
                <a:lnTo>
                  <a:pt x="1078883" y="364710"/>
                </a:lnTo>
                <a:lnTo>
                  <a:pt x="918893" y="721276"/>
                </a:lnTo>
                <a:lnTo>
                  <a:pt x="28050" y="721276"/>
                </a:lnTo>
                <a:cubicBezTo>
                  <a:pt x="12558" y="721276"/>
                  <a:pt x="0" y="708718"/>
                  <a:pt x="0" y="693226"/>
                </a:cubicBezTo>
                <a:lnTo>
                  <a:pt x="0" y="28050"/>
                </a:lnTo>
                <a:cubicBezTo>
                  <a:pt x="0" y="12558"/>
                  <a:pt x="12558" y="0"/>
                  <a:pt x="28050" y="0"/>
                </a:cubicBezTo>
                <a:close/>
              </a:path>
            </a:pathLst>
          </a:custGeom>
          <a:gradFill>
            <a:gsLst>
              <a:gs pos="100000">
                <a:srgbClr val="88ADF5"/>
              </a:gs>
              <a:gs pos="76000">
                <a:schemeClr val="accent3">
                  <a:alpha val="25000"/>
                </a:schemeClr>
              </a:gs>
              <a:gs pos="0">
                <a:schemeClr val="accent3">
                  <a:alpha val="0"/>
                </a:schemeClr>
              </a:gs>
            </a:gsLst>
            <a:lin ang="2700000" scaled="0"/>
          </a:gradFill>
          <a:ln w="9525">
            <a:solidFill>
              <a:schemeClr val="accent3">
                <a:alpha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0" name="AutoShape 5">
            <a:extLst>
              <a:ext uri="{FF2B5EF4-FFF2-40B4-BE49-F238E27FC236}">
                <a16:creationId xmlns:a16="http://schemas.microsoft.com/office/drawing/2014/main" id="{A85B6768-8DD0-3840-98FF-EA35442768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3537" y="2159794"/>
            <a:ext cx="946336" cy="338554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square" lIns="36000" tIns="0" rIns="36000" bIns="0">
            <a:spAutoFit/>
          </a:bodyPr>
          <a:lstStyle/>
          <a:p>
            <a:pPr algn="ctr">
              <a:defRPr/>
            </a:pPr>
            <a: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</a:t>
            </a:r>
            <a:b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dependencies</a:t>
            </a:r>
            <a:endParaRPr lang="en-US" sz="1200" spc="-50" noProof="1">
              <a:solidFill>
                <a:schemeClr val="accent2"/>
              </a:solidFill>
              <a:cs typeface="TheSansMono M5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CF23A31-FB0D-E745-BDFB-363075187412}"/>
              </a:ext>
            </a:extLst>
          </p:cNvPr>
          <p:cNvSpPr txBox="1"/>
          <p:nvPr userDrawn="1"/>
        </p:nvSpPr>
        <p:spPr>
          <a:xfrm>
            <a:off x="373537" y="5569608"/>
            <a:ext cx="2549071" cy="28943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200" dirty="0">
                <a:solidFill>
                  <a:schemeClr val="tx1">
                    <a:alpha val="50000"/>
                  </a:schemeClr>
                </a:solidFill>
              </a:rPr>
              <a:t>Number of dependencies: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C627EA2-AE44-A843-8263-F7C250ED20AD}"/>
              </a:ext>
            </a:extLst>
          </p:cNvPr>
          <p:cNvSpPr txBox="1"/>
          <p:nvPr userDrawn="1"/>
        </p:nvSpPr>
        <p:spPr>
          <a:xfrm>
            <a:off x="131435" y="2846815"/>
            <a:ext cx="2448628" cy="2628220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vulnerability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marL="0" marR="0" lvl="0" indent="0" algn="r" defTabSz="914400" rtl="0" eaLnBrk="1" fontAlgn="auto" latinLnBrk="0" hangingPunct="1">
              <a:lnSpc>
                <a:spcPct val="2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legal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freshness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stability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management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marL="0" marR="0" lvl="0" indent="0" algn="r" defTabSz="914400" rtl="0" eaLnBrk="1" fontAlgn="auto" latinLnBrk="0" hangingPunct="1">
              <a:lnSpc>
                <a:spcPct val="2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activity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C8989BBF-287E-B847-9CAC-6DA102EFBD4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20006" y="1421846"/>
            <a:ext cx="5614794" cy="4896154"/>
          </a:xfrm>
        </p:spPr>
        <p:txBody>
          <a:bodyPr>
            <a:noAutofit/>
          </a:bodyPr>
          <a:lstStyle>
            <a:lvl1pPr marL="285750" indent="-279400">
              <a:buFont typeface="Arial" panose="020B0604020202020204" pitchFamily="34" charset="0"/>
              <a:buChar char="•"/>
              <a:tabLst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8FE26B8D-BD73-4444-8D0F-1248DE1DD5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0738" y="1894014"/>
            <a:ext cx="83510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accent2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EDC22544-D9BC-B244-939B-9E83862D4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66159" y="1894014"/>
            <a:ext cx="73443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DC4A3D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BB9C82F9-0A2D-9945-BB70-9C7924044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88761" y="1894014"/>
            <a:ext cx="760514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F09A19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4F6EE5E4-7412-804B-AB0B-2612A9AEF1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23661" y="1894014"/>
            <a:ext cx="760514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F8C818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20222DCE-C402-BC42-9510-1717F16DF8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42179" y="1894014"/>
            <a:ext cx="776867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57C968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B0C8CF-791F-18E5-4333-1B6A84495D38}"/>
              </a:ext>
            </a:extLst>
          </p:cNvPr>
          <p:cNvCxnSpPr>
            <a:cxnSpLocks/>
          </p:cNvCxnSpPr>
          <p:nvPr userDrawn="1"/>
        </p:nvCxnSpPr>
        <p:spPr>
          <a:xfrm>
            <a:off x="1540363" y="2237012"/>
            <a:ext cx="720000" cy="0"/>
          </a:xfrm>
          <a:prstGeom prst="line">
            <a:avLst/>
          </a:prstGeom>
          <a:ln w="57150" cap="rnd">
            <a:solidFill>
              <a:srgbClr val="9107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5">
            <a:extLst>
              <a:ext uri="{FF2B5EF4-FFF2-40B4-BE49-F238E27FC236}">
                <a16:creationId xmlns:a16="http://schemas.microsoft.com/office/drawing/2014/main" id="{D8BC2DDE-6625-F621-EC94-783A87A7B4F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07263" y="2315335"/>
            <a:ext cx="770084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910714"/>
                </a:solidFill>
                <a:cs typeface="TheSansMono M5"/>
              </a:rPr>
              <a:t>critical risk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AAE3B6A-A32C-2E31-61A0-D3B86C8941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29065" y="1888899"/>
            <a:ext cx="73443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910614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5F2A81F-5932-87E7-D36E-A48D21EE92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4399855-F056-C1EA-96E3-8F6B2FE87A8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5AD1E1-E49C-07DA-9E88-2A64DC9326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45471" cy="228145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vert="horz" wrap="none" lIns="0" tIns="28800" rIns="144000" bIns="28800" rtlCol="0" anchor="ctr" anchorCtr="0">
            <a:spAutoFit/>
          </a:bodyPr>
          <a:lstStyle>
            <a:lvl1pPr marL="0" indent="0"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lvl="0" indent="-230400"/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3C657A4-EEB4-0690-E4D3-B51FF0CFAE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98967" y="4332165"/>
            <a:ext cx="247597" cy="24759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99DC8D9-DC6F-6B68-C30E-D89F7A9C4313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08465" y="5199916"/>
            <a:ext cx="228600" cy="228600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1D583B0-04E8-97BC-998D-5328C105EF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65897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45471" cy="228145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98077D-F430-EB3F-E631-8256B604A5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5208" y="640791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 marL="0" algn="l" defTabSz="914400" rtl="0" eaLnBrk="1" latinLnBrk="0" hangingPunct="1">
              <a:defRPr lang="en-US" sz="900" b="0" cap="none" spc="0" baseline="0" dirty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Generated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</a:t>
            </a:r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with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Sigrid</a:t>
            </a:r>
          </a:p>
          <a:p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for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4118498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2.xml"/><Relationship Id="rId3" Type="http://schemas.openxmlformats.org/officeDocument/2006/relationships/image" Target="../media/image9.png"/><Relationship Id="rId4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hthoek 191">
            <a:extLst>
              <a:ext uri="{FF2B5EF4-FFF2-40B4-BE49-F238E27FC236}">
                <a16:creationId xmlns:a16="http://schemas.microsoft.com/office/drawing/2014/main" id="{E4789192-BD1C-FDF4-0676-2F84CD19AAD6}"/>
              </a:ext>
            </a:extLst>
          </p:cNvPr>
          <p:cNvSpPr/>
          <p:nvPr userDrawn="1"/>
        </p:nvSpPr>
        <p:spPr>
          <a:xfrm>
            <a:off x="0" y="6334783"/>
            <a:ext cx="12192000" cy="523217"/>
          </a:xfrm>
          <a:prstGeom prst="rect">
            <a:avLst/>
          </a:prstGeom>
          <a:gradFill>
            <a:gsLst>
              <a:gs pos="6000">
                <a:schemeClr val="accent3">
                  <a:lumMod val="60000"/>
                  <a:lumOff val="40000"/>
                </a:schemeClr>
              </a:gs>
              <a:gs pos="37000">
                <a:schemeClr val="accent3">
                  <a:lumMod val="40000"/>
                  <a:lumOff val="60000"/>
                </a:schemeClr>
              </a:gs>
              <a:gs pos="17000">
                <a:schemeClr val="accent3">
                  <a:lumMod val="20000"/>
                  <a:lumOff val="80000"/>
                </a:schemeClr>
              </a:gs>
              <a:gs pos="96000">
                <a:schemeClr val="accent3"/>
              </a:gs>
              <a:gs pos="77000">
                <a:schemeClr val="accent3">
                  <a:lumMod val="40000"/>
                  <a:lumOff val="60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8" name="Rounded Rectangle 11">
            <a:extLst>
              <a:ext uri="{FF2B5EF4-FFF2-40B4-BE49-F238E27FC236}">
                <a16:creationId xmlns:a16="http://schemas.microsoft.com/office/drawing/2014/main" id="{0930FD96-390B-3F34-8E93-387124B4AE31}"/>
              </a:ext>
            </a:extLst>
          </p:cNvPr>
          <p:cNvSpPr/>
          <p:nvPr userDrawn="1"/>
        </p:nvSpPr>
        <p:spPr>
          <a:xfrm>
            <a:off x="0" y="6247564"/>
            <a:ext cx="12192000" cy="530113"/>
          </a:xfrm>
          <a:prstGeom prst="roundRect">
            <a:avLst>
              <a:gd name="adj" fmla="val 25380"/>
            </a:avLst>
          </a:prstGeom>
          <a:gradFill>
            <a:gsLst>
              <a:gs pos="13000">
                <a:schemeClr val="accent3">
                  <a:lumMod val="20000"/>
                  <a:lumOff val="80000"/>
                </a:schemeClr>
              </a:gs>
              <a:gs pos="3000">
                <a:srgbClr val="74A2FF">
                  <a:alpha val="53725"/>
                </a:srgbClr>
              </a:gs>
              <a:gs pos="23000">
                <a:srgbClr val="FFFFFF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4" name="Rounded Rectangle 11">
            <a:extLst>
              <a:ext uri="{FF2B5EF4-FFF2-40B4-BE49-F238E27FC236}">
                <a16:creationId xmlns:a16="http://schemas.microsoft.com/office/drawing/2014/main" id="{559F4FB8-CDE5-4BE6-8294-34DD1FE8EE0C}"/>
              </a:ext>
            </a:extLst>
          </p:cNvPr>
          <p:cNvSpPr/>
          <p:nvPr userDrawn="1"/>
        </p:nvSpPr>
        <p:spPr>
          <a:xfrm>
            <a:off x="158400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87000">
                <a:srgbClr val="FFFFFF">
                  <a:alpha val="84000"/>
                </a:srgbClr>
              </a:gs>
              <a:gs pos="20000">
                <a:srgbClr val="FFFFFF">
                  <a:alpha val="0"/>
                </a:srgbClr>
              </a:gs>
            </a:gsLst>
            <a:lin ang="6000000" scaled="0"/>
          </a:gra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C68F7292-7A36-328D-4B64-D98F9F925AB4}"/>
              </a:ext>
            </a:extLst>
          </p:cNvPr>
          <p:cNvSpPr/>
          <p:nvPr userDrawn="1"/>
        </p:nvSpPr>
        <p:spPr>
          <a:xfrm>
            <a:off x="318057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10000">
                <a:srgbClr val="FFFFFF">
                  <a:alpha val="64340"/>
                </a:srgbClr>
              </a:gs>
              <a:gs pos="54000">
                <a:srgbClr val="FFFFFF">
                  <a:alpha val="69000"/>
                </a:srgbClr>
              </a:gs>
              <a:gs pos="0">
                <a:srgbClr val="FFFFFF">
                  <a:alpha val="0"/>
                </a:srgbClr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148" name="Straight Connector 9">
            <a:extLst>
              <a:ext uri="{FF2B5EF4-FFF2-40B4-BE49-F238E27FC236}">
                <a16:creationId xmlns:a16="http://schemas.microsoft.com/office/drawing/2014/main" id="{E2D66CD9-F464-D3CD-02A2-2C81FE92A34F}"/>
              </a:ext>
            </a:extLst>
          </p:cNvPr>
          <p:cNvCxnSpPr>
            <a:cxnSpLocks/>
          </p:cNvCxnSpPr>
          <p:nvPr userDrawn="1"/>
        </p:nvCxnSpPr>
        <p:spPr>
          <a:xfrm flipH="1">
            <a:off x="154800" y="1255306"/>
            <a:ext cx="11880000" cy="0"/>
          </a:xfrm>
          <a:prstGeom prst="line">
            <a:avLst/>
          </a:prstGeom>
          <a:ln w="9525">
            <a:solidFill>
              <a:srgbClr val="D3D3D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2">
            <a:extLst>
              <a:ext uri="{FF2B5EF4-FFF2-40B4-BE49-F238E27FC236}">
                <a16:creationId xmlns:a16="http://schemas.microsoft.com/office/drawing/2014/main" id="{1FAB8656-7C8B-2A03-F5EF-3769ECB3486C}"/>
              </a:ext>
            </a:extLst>
          </p:cNvPr>
          <p:cNvSpPr/>
          <p:nvPr userDrawn="1"/>
        </p:nvSpPr>
        <p:spPr>
          <a:xfrm>
            <a:off x="0" y="0"/>
            <a:ext cx="1381059" cy="416209"/>
          </a:xfrm>
          <a:prstGeom prst="rect">
            <a:avLst/>
          </a:prstGeom>
          <a:gradFill>
            <a:gsLst>
              <a:gs pos="0">
                <a:srgbClr val="F8C716">
                  <a:alpha val="78000"/>
                </a:srgbClr>
              </a:gs>
              <a:gs pos="18000">
                <a:srgbClr val="F8C716">
                  <a:alpha val="30000"/>
                </a:srgbClr>
              </a:gs>
              <a:gs pos="45000">
                <a:srgbClr val="F8C716">
                  <a:alpha val="0"/>
                </a:srgbClr>
              </a:gs>
            </a:gsLst>
            <a:lin ang="19200000" scaled="0"/>
          </a:gradFill>
        </p:spPr>
        <p:txBody>
          <a:bodyPr vert="horz" wrap="none" lIns="378000" tIns="28800" rIns="72000" bIns="28800" rtlCol="0" anchor="ctr">
            <a:noAutofit/>
          </a:bodyPr>
          <a:lstStyle/>
          <a:p>
            <a:pPr marL="228600" lvl="0" indent="-228600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050" b="0" i="0" cap="none" spc="-30" baseline="0">
              <a:solidFill>
                <a:schemeClr val="tx1"/>
              </a:solidFill>
              <a:latin typeface="Azeret Mono Medium" pitchFamily="2" charset="77"/>
              <a:cs typeface="Azeret Mono Medium" pitchFamily="2" charset="77"/>
            </a:endParaRPr>
          </a:p>
        </p:txBody>
      </p:sp>
      <p:sp>
        <p:nvSpPr>
          <p:cNvPr id="153" name="Rounded Rectangle 92">
            <a:extLst>
              <a:ext uri="{FF2B5EF4-FFF2-40B4-BE49-F238E27FC236}">
                <a16:creationId xmlns:a16="http://schemas.microsoft.com/office/drawing/2014/main" id="{3A91C603-7F40-E63C-0717-77A1BF9F419D}"/>
              </a:ext>
            </a:extLst>
          </p:cNvPr>
          <p:cNvSpPr/>
          <p:nvPr userDrawn="1"/>
        </p:nvSpPr>
        <p:spPr>
          <a:xfrm>
            <a:off x="154800" y="130179"/>
            <a:ext cx="1103615" cy="379911"/>
          </a:xfrm>
          <a:prstGeom prst="roundRect">
            <a:avLst>
              <a:gd name="adj" fmla="val 35079"/>
            </a:avLst>
          </a:prstGeom>
          <a:gradFill>
            <a:gsLst>
              <a:gs pos="2000">
                <a:srgbClr val="E88C36"/>
              </a:gs>
              <a:gs pos="15000">
                <a:srgbClr val="F8C716"/>
              </a:gs>
              <a:gs pos="41000">
                <a:srgbClr val="F8C716"/>
              </a:gs>
              <a:gs pos="54000">
                <a:srgbClr val="F8C716">
                  <a:alpha val="54000"/>
                </a:srgbClr>
              </a:gs>
              <a:gs pos="70000">
                <a:srgbClr val="F8C716">
                  <a:alpha val="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54" name="Rectangle 3">
            <a:extLst>
              <a:ext uri="{FF2B5EF4-FFF2-40B4-BE49-F238E27FC236}">
                <a16:creationId xmlns:a16="http://schemas.microsoft.com/office/drawing/2014/main" id="{7BB50E56-74C1-CED6-9D35-3C52AD049AA2}"/>
              </a:ext>
            </a:extLst>
          </p:cNvPr>
          <p:cNvSpPr/>
          <p:nvPr userDrawn="1"/>
        </p:nvSpPr>
        <p:spPr>
          <a:xfrm>
            <a:off x="0" y="358781"/>
            <a:ext cx="2835408" cy="3078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  <a:prstGeom prst="rect">
            <a:avLst/>
          </a:prstGeom>
        </p:spPr>
        <p:txBody>
          <a:bodyPr wrap="square" lIns="216000" tIns="46800" rIns="0" bIns="46800" anchor="ctr" anchorCtr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164" name="Rectangle 22">
            <a:extLst>
              <a:ext uri="{FF2B5EF4-FFF2-40B4-BE49-F238E27FC236}">
                <a16:creationId xmlns:a16="http://schemas.microsoft.com/office/drawing/2014/main" id="{A4D40506-66E4-4645-F969-413BADB440DE}"/>
              </a:ext>
            </a:extLst>
          </p:cNvPr>
          <p:cNvSpPr/>
          <p:nvPr userDrawn="1"/>
        </p:nvSpPr>
        <p:spPr>
          <a:xfrm>
            <a:off x="0" y="4806022"/>
            <a:ext cx="12192000" cy="15843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1" name="Straight Connector 9">
            <a:extLst>
              <a:ext uri="{FF2B5EF4-FFF2-40B4-BE49-F238E27FC236}">
                <a16:creationId xmlns:a16="http://schemas.microsoft.com/office/drawing/2014/main" id="{56618A81-C0A0-038B-63FE-C3CD954A14BE}"/>
              </a:ext>
            </a:extLst>
          </p:cNvPr>
          <p:cNvCxnSpPr>
            <a:cxnSpLocks/>
          </p:cNvCxnSpPr>
          <p:nvPr userDrawn="1"/>
        </p:nvCxnSpPr>
        <p:spPr>
          <a:xfrm>
            <a:off x="144162" y="6382737"/>
            <a:ext cx="11903676" cy="0"/>
          </a:xfrm>
          <a:prstGeom prst="line">
            <a:avLst/>
          </a:prstGeom>
          <a:ln w="9525">
            <a:gradFill>
              <a:gsLst>
                <a:gs pos="43000">
                  <a:schemeClr val="bg2">
                    <a:lumMod val="90000"/>
                  </a:schemeClr>
                </a:gs>
                <a:gs pos="9000">
                  <a:schemeClr val="bg2">
                    <a:lumMod val="90000"/>
                    <a:alpha val="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0" scaled="0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" y="1411199"/>
            <a:ext cx="11880000" cy="4842000"/>
          </a:xfrm>
          <a:prstGeom prst="rect">
            <a:avLst/>
          </a:prstGeom>
        </p:spPr>
        <p:txBody>
          <a:bodyPr vert="horz" lIns="216000" tIns="45720" rIns="234000" bIns="45720" rtlCol="0">
            <a:no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6C8C7-4A4D-FB4E-9345-9292EFEF7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555" y="6388767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pic>
        <p:nvPicPr>
          <p:cNvPr id="157" name="Afbeelding 156">
            <a:extLst>
              <a:ext uri="{FF2B5EF4-FFF2-40B4-BE49-F238E27FC236}">
                <a16:creationId xmlns:a16="http://schemas.microsoft.com/office/drawing/2014/main" id="{5ABCF63A-ED55-8841-F6A3-67867EB0DE7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413622" y="6420571"/>
            <a:ext cx="1727200" cy="406400"/>
          </a:xfrm>
          <a:prstGeom prst="rect">
            <a:avLst/>
          </a:prstGeom>
        </p:spPr>
      </p:pic>
      <p:sp>
        <p:nvSpPr>
          <p:cNvPr id="158" name="Rechthoek 157">
            <a:extLst>
              <a:ext uri="{FF2B5EF4-FFF2-40B4-BE49-F238E27FC236}">
                <a16:creationId xmlns:a16="http://schemas.microsoft.com/office/drawing/2014/main" id="{CBB37F62-F6A8-54EE-84EB-1B26BA230147}"/>
              </a:ext>
            </a:extLst>
          </p:cNvPr>
          <p:cNvSpPr/>
          <p:nvPr userDrawn="1"/>
        </p:nvSpPr>
        <p:spPr>
          <a:xfrm>
            <a:off x="11535226" y="6427757"/>
            <a:ext cx="443898" cy="261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7367" y="6469694"/>
            <a:ext cx="627434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rtlCol="0" anchor="ctr">
            <a:noAutofit/>
          </a:bodyPr>
          <a:lstStyle>
            <a:lvl1pPr algn="ctr">
              <a:defRPr lang="en-US" sz="900" b="0" spc="10" baseline="0" smtClean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746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62" r:id="rId2"/>
    <p:sldLayoutId id="2147483792" r:id="rId3"/>
    <p:sldLayoutId id="2147483776" r:id="rId4"/>
    <p:sldLayoutId id="2147483793" r:id="rId5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lang="en-US" sz="2000" b="0" i="0" kern="1200" spc="0" smtClean="0">
          <a:solidFill>
            <a:srgbClr val="1864FF"/>
          </a:solidFill>
          <a:latin typeface="Noir Pro Medium" pitchFamily="2" charset="0"/>
          <a:ea typeface="+mn-ea"/>
          <a:cs typeface="+mn-cs"/>
        </a:defRPr>
      </a:lvl1pPr>
    </p:titleStyle>
    <p:bodyStyle>
      <a:lvl1pPr marL="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40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792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1044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1296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 userDrawn="1">
          <p15:clr>
            <a:srgbClr val="F26B43"/>
          </p15:clr>
        </p15:guide>
        <p15:guide id="2" pos="98" userDrawn="1">
          <p15:clr>
            <a:srgbClr val="F26B43"/>
          </p15:clr>
        </p15:guide>
        <p15:guide id="3" pos="7582" userDrawn="1">
          <p15:clr>
            <a:srgbClr val="F26B43"/>
          </p15:clr>
        </p15:guide>
        <p15:guide id="4" orient="horz" pos="4024" userDrawn="1">
          <p15:clr>
            <a:srgbClr val="F26B43"/>
          </p15:clr>
        </p15:guide>
        <p15:guide id="5" pos="234" userDrawn="1">
          <p15:clr>
            <a:srgbClr val="5ACBF0"/>
          </p15:clr>
        </p15:guide>
        <p15:guide id="6" pos="7446" userDrawn="1">
          <p15:clr>
            <a:srgbClr val="5ACBF0"/>
          </p15:clr>
        </p15:guide>
        <p15:guide id="7" orient="horz" pos="3941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Groep 262">
            <a:extLst>
              <a:ext uri="{FF2B5EF4-FFF2-40B4-BE49-F238E27FC236}">
                <a16:creationId xmlns:a16="http://schemas.microsoft.com/office/drawing/2014/main" id="{AA850EB8-E83D-246C-BB63-2A868373B1BE}"/>
              </a:ext>
            </a:extLst>
          </p:cNvPr>
          <p:cNvGrpSpPr/>
          <p:nvPr userDrawn="1"/>
        </p:nvGrpSpPr>
        <p:grpSpPr>
          <a:xfrm flipH="1">
            <a:off x="10710451" y="4674513"/>
            <a:ext cx="2854391" cy="2702025"/>
            <a:chOff x="-1377504" y="-455451"/>
            <a:chExt cx="2854391" cy="2702025"/>
          </a:xfrm>
        </p:grpSpPr>
        <p:sp>
          <p:nvSpPr>
            <p:cNvPr id="264" name="Rectangle 68">
              <a:extLst>
                <a:ext uri="{FF2B5EF4-FFF2-40B4-BE49-F238E27FC236}">
                  <a16:creationId xmlns:a16="http://schemas.microsoft.com/office/drawing/2014/main" id="{99AD9F3A-EC71-D09A-06A4-DF026B826045}"/>
                </a:ext>
              </a:extLst>
            </p:cNvPr>
            <p:cNvSpPr/>
            <p:nvPr userDrawn="1"/>
          </p:nvSpPr>
          <p:spPr>
            <a:xfrm>
              <a:off x="-1369911" y="1133435"/>
              <a:ext cx="1362794" cy="134047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1620000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65" name="TextBox 225">
              <a:extLst>
                <a:ext uri="{FF2B5EF4-FFF2-40B4-BE49-F238E27FC236}">
                  <a16:creationId xmlns:a16="http://schemas.microsoft.com/office/drawing/2014/main" id="{A8DE34D6-110D-A715-D888-F32F534AB236}"/>
                </a:ext>
              </a:extLst>
            </p:cNvPr>
            <p:cNvSpPr txBox="1"/>
            <p:nvPr userDrawn="1"/>
          </p:nvSpPr>
          <p:spPr>
            <a:xfrm>
              <a:off x="115222" y="1877242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266" name="Rectangle 68">
              <a:extLst>
                <a:ext uri="{FF2B5EF4-FFF2-40B4-BE49-F238E27FC236}">
                  <a16:creationId xmlns:a16="http://schemas.microsoft.com/office/drawing/2014/main" id="{1B09B145-E15C-5E18-553C-9D553948BFE8}"/>
                </a:ext>
              </a:extLst>
            </p:cNvPr>
            <p:cNvSpPr/>
            <p:nvPr userDrawn="1"/>
          </p:nvSpPr>
          <p:spPr>
            <a:xfrm>
              <a:off x="147066" y="1738388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3A1FF">
                    <a:alpha val="45000"/>
                  </a:srgbClr>
                </a:gs>
                <a:gs pos="0">
                  <a:srgbClr val="73A1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67" name="Vrije vorm 266">
              <a:extLst>
                <a:ext uri="{FF2B5EF4-FFF2-40B4-BE49-F238E27FC236}">
                  <a16:creationId xmlns:a16="http://schemas.microsoft.com/office/drawing/2014/main" id="{8BBA4652-A078-2FC3-D9E6-6FAFDF320B37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268" name="TextBox 6">
              <a:extLst>
                <a:ext uri="{FF2B5EF4-FFF2-40B4-BE49-F238E27FC236}">
                  <a16:creationId xmlns:a16="http://schemas.microsoft.com/office/drawing/2014/main" id="{DAA4F945-67DA-0ADA-96A5-A0C39E38C5E0}"/>
                </a:ext>
              </a:extLst>
            </p:cNvPr>
            <p:cNvSpPr txBox="1"/>
            <p:nvPr userDrawn="1"/>
          </p:nvSpPr>
          <p:spPr>
            <a:xfrm>
              <a:off x="-1351052" y="123778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BELOW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269" name="Triangle 20">
              <a:extLst>
                <a:ext uri="{FF2B5EF4-FFF2-40B4-BE49-F238E27FC236}">
                  <a16:creationId xmlns:a16="http://schemas.microsoft.com/office/drawing/2014/main" id="{717475B2-DFBE-B1B3-31B8-727A697264AD}"/>
                </a:ext>
              </a:extLst>
            </p:cNvPr>
            <p:cNvSpPr/>
            <p:nvPr userDrawn="1"/>
          </p:nvSpPr>
          <p:spPr>
            <a:xfrm rot="10800000">
              <a:off x="-169889" y="1342928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0" name="Straight Connector 22">
              <a:extLst>
                <a:ext uri="{FF2B5EF4-FFF2-40B4-BE49-F238E27FC236}">
                  <a16:creationId xmlns:a16="http://schemas.microsoft.com/office/drawing/2014/main" id="{A42A00C7-DFEA-C7D5-033D-516B6F4C8CFB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261560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80">
              <a:extLst>
                <a:ext uri="{FF2B5EF4-FFF2-40B4-BE49-F238E27FC236}">
                  <a16:creationId xmlns:a16="http://schemas.microsoft.com/office/drawing/2014/main" id="{B58FAA8F-5DD0-C89C-271E-8C3A8EE064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1738388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81">
              <a:extLst>
                <a:ext uri="{FF2B5EF4-FFF2-40B4-BE49-F238E27FC236}">
                  <a16:creationId xmlns:a16="http://schemas.microsoft.com/office/drawing/2014/main" id="{89F07FB3-6911-809F-B25C-8AEC80425E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1738388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TextBox 225">
              <a:extLst>
                <a:ext uri="{FF2B5EF4-FFF2-40B4-BE49-F238E27FC236}">
                  <a16:creationId xmlns:a16="http://schemas.microsoft.com/office/drawing/2014/main" id="{DD1E3D78-1140-8FC0-EA86-577F2CC4A346}"/>
                </a:ext>
              </a:extLst>
            </p:cNvPr>
            <p:cNvSpPr txBox="1"/>
            <p:nvPr userDrawn="1"/>
          </p:nvSpPr>
          <p:spPr>
            <a:xfrm>
              <a:off x="-1021213" y="1877242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1" i="0" dirty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RIGHT</a:t>
              </a: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274" name="Triangle 226">
              <a:extLst>
                <a:ext uri="{FF2B5EF4-FFF2-40B4-BE49-F238E27FC236}">
                  <a16:creationId xmlns:a16="http://schemas.microsoft.com/office/drawing/2014/main" id="{73A71C40-611D-D16B-2D10-56A4820B8C5F}"/>
                </a:ext>
              </a:extLst>
            </p:cNvPr>
            <p:cNvSpPr/>
            <p:nvPr userDrawn="1"/>
          </p:nvSpPr>
          <p:spPr>
            <a:xfrm rot="16200000">
              <a:off x="-2942" y="1806976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Triangle 226">
              <a:extLst>
                <a:ext uri="{FF2B5EF4-FFF2-40B4-BE49-F238E27FC236}">
                  <a16:creationId xmlns:a16="http://schemas.microsoft.com/office/drawing/2014/main" id="{95A5946A-4EDB-4588-5F58-FA5E53404F5A}"/>
                </a:ext>
              </a:extLst>
            </p:cNvPr>
            <p:cNvSpPr/>
            <p:nvPr userDrawn="1"/>
          </p:nvSpPr>
          <p:spPr>
            <a:xfrm rot="16200000">
              <a:off x="222593" y="1805625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6" name="Straight Connector 22">
              <a:extLst>
                <a:ext uri="{FF2B5EF4-FFF2-40B4-BE49-F238E27FC236}">
                  <a16:creationId xmlns:a16="http://schemas.microsoft.com/office/drawing/2014/main" id="{B56A85F9-757E-5259-ECF3-BF09D04D67F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134681"/>
              <a:ext cx="1367345" cy="0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7" name="TextBox 6">
              <a:extLst>
                <a:ext uri="{FF2B5EF4-FFF2-40B4-BE49-F238E27FC236}">
                  <a16:creationId xmlns:a16="http://schemas.microsoft.com/office/drawing/2014/main" id="{A218AAFF-C3F4-2913-ED83-EBBC959F5DAC}"/>
                </a:ext>
              </a:extLst>
            </p:cNvPr>
            <p:cNvSpPr txBox="1"/>
            <p:nvPr userDrawn="1"/>
          </p:nvSpPr>
          <p:spPr>
            <a:xfrm>
              <a:off x="-1351052" y="916735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 IN 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THIS MARGIN</a:t>
              </a:r>
            </a:p>
          </p:txBody>
        </p:sp>
        <p:sp>
          <p:nvSpPr>
            <p:cNvPr id="278" name="Triangle 20">
              <a:extLst>
                <a:ext uri="{FF2B5EF4-FFF2-40B4-BE49-F238E27FC236}">
                  <a16:creationId xmlns:a16="http://schemas.microsoft.com/office/drawing/2014/main" id="{FC06B2D3-B34D-2906-BEA5-2B255C7B96E0}"/>
                </a:ext>
              </a:extLst>
            </p:cNvPr>
            <p:cNvSpPr/>
            <p:nvPr userDrawn="1"/>
          </p:nvSpPr>
          <p:spPr>
            <a:xfrm rot="10800000">
              <a:off x="-169889" y="1158772"/>
              <a:ext cx="112623" cy="79252"/>
            </a:xfrm>
            <a:prstGeom prst="triangle">
              <a:avLst/>
            </a:prstGeom>
            <a:solidFill>
              <a:srgbClr val="74A2FF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ep 89">
            <a:extLst>
              <a:ext uri="{FF2B5EF4-FFF2-40B4-BE49-F238E27FC236}">
                <a16:creationId xmlns:a16="http://schemas.microsoft.com/office/drawing/2014/main" id="{D59C5C48-35AD-A63E-DC26-86E73634677A}"/>
              </a:ext>
            </a:extLst>
          </p:cNvPr>
          <p:cNvGrpSpPr/>
          <p:nvPr userDrawn="1"/>
        </p:nvGrpSpPr>
        <p:grpSpPr>
          <a:xfrm>
            <a:off x="-1427007" y="-511645"/>
            <a:ext cx="2903894" cy="1940242"/>
            <a:chOff x="-1427007" y="-511645"/>
            <a:chExt cx="2903894" cy="1940242"/>
          </a:xfrm>
        </p:grpSpPr>
        <p:sp>
          <p:nvSpPr>
            <p:cNvPr id="5" name="TextBox 225">
              <a:extLst>
                <a:ext uri="{FF2B5EF4-FFF2-40B4-BE49-F238E27FC236}">
                  <a16:creationId xmlns:a16="http://schemas.microsoft.com/office/drawing/2014/main" id="{32E95ECB-E3DD-95AD-0DEA-398BF1A178C7}"/>
                </a:ext>
              </a:extLst>
            </p:cNvPr>
            <p:cNvSpPr txBox="1"/>
            <p:nvPr userDrawn="1"/>
          </p:nvSpPr>
          <p:spPr>
            <a:xfrm>
              <a:off x="115222" y="-506673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7" name="Rectangle 68">
              <a:extLst>
                <a:ext uri="{FF2B5EF4-FFF2-40B4-BE49-F238E27FC236}">
                  <a16:creationId xmlns:a16="http://schemas.microsoft.com/office/drawing/2014/main" id="{AB2972B4-E1F2-58E1-20EA-34DF76C2E882}"/>
                </a:ext>
              </a:extLst>
            </p:cNvPr>
            <p:cNvSpPr/>
            <p:nvPr userDrawn="1"/>
          </p:nvSpPr>
          <p:spPr>
            <a:xfrm>
              <a:off x="147066" y="-511645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8" name="Vrije vorm 92">
              <a:extLst>
                <a:ext uri="{FF2B5EF4-FFF2-40B4-BE49-F238E27FC236}">
                  <a16:creationId xmlns:a16="http://schemas.microsoft.com/office/drawing/2014/main" id="{69987C38-B383-9396-270D-D57A1999E7F2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9" name="Vrije vorm 93">
              <a:extLst>
                <a:ext uri="{FF2B5EF4-FFF2-40B4-BE49-F238E27FC236}">
                  <a16:creationId xmlns:a16="http://schemas.microsoft.com/office/drawing/2014/main" id="{627E3288-DF74-C572-BA77-64616C7838B7}"/>
                </a:ext>
              </a:extLst>
            </p:cNvPr>
            <p:cNvSpPr/>
            <p:nvPr userDrawn="1"/>
          </p:nvSpPr>
          <p:spPr>
            <a:xfrm flipH="1">
              <a:off x="-1427007" y="130179"/>
              <a:ext cx="1427007" cy="227547"/>
            </a:xfrm>
            <a:custGeom>
              <a:avLst/>
              <a:gdLst>
                <a:gd name="connsiteX0" fmla="*/ 1379557 w 1427007"/>
                <a:gd name="connsiteY0" fmla="*/ 0 h 227547"/>
                <a:gd name="connsiteX1" fmla="*/ 0 w 1427007"/>
                <a:gd name="connsiteY1" fmla="*/ 0 h 227547"/>
                <a:gd name="connsiteX2" fmla="*/ 0 w 1427007"/>
                <a:gd name="connsiteY2" fmla="*/ 227547 h 227547"/>
                <a:gd name="connsiteX3" fmla="*/ 1379557 w 1427007"/>
                <a:gd name="connsiteY3" fmla="*/ 227547 h 227547"/>
                <a:gd name="connsiteX4" fmla="*/ 1427007 w 1427007"/>
                <a:gd name="connsiteY4" fmla="*/ 180097 h 227547"/>
                <a:gd name="connsiteX5" fmla="*/ 1427007 w 1427007"/>
                <a:gd name="connsiteY5" fmla="*/ 47450 h 227547"/>
                <a:gd name="connsiteX6" fmla="*/ 1379557 w 1427007"/>
                <a:gd name="connsiteY6" fmla="*/ 0 h 227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7007" h="227547">
                  <a:moveTo>
                    <a:pt x="1379557" y="0"/>
                  </a:moveTo>
                  <a:lnTo>
                    <a:pt x="0" y="0"/>
                  </a:lnTo>
                  <a:lnTo>
                    <a:pt x="0" y="227547"/>
                  </a:lnTo>
                  <a:lnTo>
                    <a:pt x="1379557" y="227547"/>
                  </a:lnTo>
                  <a:cubicBezTo>
                    <a:pt x="1405763" y="227547"/>
                    <a:pt x="1427007" y="206303"/>
                    <a:pt x="1427007" y="180097"/>
                  </a:cubicBezTo>
                  <a:lnTo>
                    <a:pt x="1427007" y="47450"/>
                  </a:lnTo>
                  <a:cubicBezTo>
                    <a:pt x="1427007" y="21244"/>
                    <a:pt x="1405763" y="0"/>
                    <a:pt x="1379557" y="0"/>
                  </a:cubicBezTo>
                  <a:close/>
                </a:path>
              </a:pathLst>
            </a:custGeom>
            <a:gradFill>
              <a:gsLst>
                <a:gs pos="15000">
                  <a:srgbClr val="F8C716"/>
                </a:gs>
                <a:gs pos="0">
                  <a:srgbClr val="EA8C36"/>
                </a:gs>
              </a:gsLst>
              <a:lin ang="0" scaled="0"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72000" bIns="36000" rtlCol="0" anchor="ctr">
              <a:noAutofit/>
            </a:bodyPr>
            <a:lstStyle/>
            <a:p>
              <a:pPr lvl="0" algn="r"/>
              <a:r>
                <a:rPr lang="en-US" sz="800" b="0" i="0" dirty="0">
                  <a:solidFill>
                    <a:schemeClr val="tx1"/>
                  </a:solidFill>
                  <a:latin typeface="Noir Pro Medium" pitchFamily="2" charset="0"/>
                </a:rPr>
                <a:t>PRESENTATION SECTION</a:t>
              </a:r>
              <a:r>
                <a:rPr lang="nl-NL" sz="800" b="0" i="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▸</a:t>
              </a:r>
              <a:endParaRPr lang="en-US" sz="800" b="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TextBox 6">
              <a:extLst>
                <a:ext uri="{FF2B5EF4-FFF2-40B4-BE49-F238E27FC236}">
                  <a16:creationId xmlns:a16="http://schemas.microsoft.com/office/drawing/2014/main" id="{85E0971F-FC0D-FAFC-8BB4-61D0D2B137CD}"/>
                </a:ext>
              </a:extLst>
            </p:cNvPr>
            <p:cNvSpPr txBox="1"/>
            <p:nvPr userDrawn="1"/>
          </p:nvSpPr>
          <p:spPr>
            <a:xfrm>
              <a:off x="-1351052" y="103085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ABOVE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11" name="Triangle 20">
              <a:extLst>
                <a:ext uri="{FF2B5EF4-FFF2-40B4-BE49-F238E27FC236}">
                  <a16:creationId xmlns:a16="http://schemas.microsoft.com/office/drawing/2014/main" id="{C9B50F90-B896-5DCF-BFDB-93B48ACA2A9E}"/>
                </a:ext>
              </a:extLst>
            </p:cNvPr>
            <p:cNvSpPr/>
            <p:nvPr userDrawn="1"/>
          </p:nvSpPr>
          <p:spPr>
            <a:xfrm>
              <a:off x="-169889" y="127232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22">
              <a:extLst>
                <a:ext uri="{FF2B5EF4-FFF2-40B4-BE49-F238E27FC236}">
                  <a16:creationId xmlns:a16="http://schemas.microsoft.com/office/drawing/2014/main" id="{754F6EE8-2E9A-2CBA-BC76-D9C28BEDA66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412872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61">
              <a:extLst>
                <a:ext uri="{FF2B5EF4-FFF2-40B4-BE49-F238E27FC236}">
                  <a16:creationId xmlns:a16="http://schemas.microsoft.com/office/drawing/2014/main" id="{2F3B8A7C-2801-5A4F-FCFF-BB6532792ADD}"/>
                </a:ext>
              </a:extLst>
            </p:cNvPr>
            <p:cNvSpPr txBox="1"/>
            <p:nvPr userDrawn="1"/>
          </p:nvSpPr>
          <p:spPr>
            <a:xfrm>
              <a:off x="-1234836" y="373601"/>
              <a:ext cx="1171414" cy="291811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800" b="0" i="0" dirty="0">
                  <a:solidFill>
                    <a:srgbClr val="EA8C36"/>
                  </a:solidFill>
                  <a:effectLst/>
                  <a:latin typeface="Noir Pro" pitchFamily="2" charset="0"/>
                </a:rPr>
                <a:t>E.G. “Introduction” OR “Conclusions”</a:t>
              </a:r>
            </a:p>
          </p:txBody>
        </p:sp>
        <p:cxnSp>
          <p:nvCxnSpPr>
            <p:cNvPr id="14" name="Straight Connector 80">
              <a:extLst>
                <a:ext uri="{FF2B5EF4-FFF2-40B4-BE49-F238E27FC236}">
                  <a16:creationId xmlns:a16="http://schemas.microsoft.com/office/drawing/2014/main" id="{CA123130-6078-F942-31C8-7D1D314E0D8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-511645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81">
              <a:extLst>
                <a:ext uri="{FF2B5EF4-FFF2-40B4-BE49-F238E27FC236}">
                  <a16:creationId xmlns:a16="http://schemas.microsoft.com/office/drawing/2014/main" id="{658E8802-FB8C-E3CC-28AD-8F34A34182A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-511645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225">
              <a:extLst>
                <a:ext uri="{FF2B5EF4-FFF2-40B4-BE49-F238E27FC236}">
                  <a16:creationId xmlns:a16="http://schemas.microsoft.com/office/drawing/2014/main" id="{D388F448-A8D1-3399-4E61-1638F2075917}"/>
                </a:ext>
              </a:extLst>
            </p:cNvPr>
            <p:cNvSpPr txBox="1"/>
            <p:nvPr userDrawn="1"/>
          </p:nvSpPr>
          <p:spPr>
            <a:xfrm>
              <a:off x="-1021213" y="-506673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       </a:t>
              </a:r>
              <a:r>
                <a:rPr lang="en-US" sz="900" b="1" i="0" dirty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LEFT</a:t>
              </a: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17" name="Triangle 226">
              <a:extLst>
                <a:ext uri="{FF2B5EF4-FFF2-40B4-BE49-F238E27FC236}">
                  <a16:creationId xmlns:a16="http://schemas.microsoft.com/office/drawing/2014/main" id="{0DBA9522-D22B-9DBA-AF8B-D363E3557F6A}"/>
                </a:ext>
              </a:extLst>
            </p:cNvPr>
            <p:cNvSpPr/>
            <p:nvPr userDrawn="1"/>
          </p:nvSpPr>
          <p:spPr>
            <a:xfrm rot="16200000">
              <a:off x="-2942" y="-14505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riangle 226">
              <a:extLst>
                <a:ext uri="{FF2B5EF4-FFF2-40B4-BE49-F238E27FC236}">
                  <a16:creationId xmlns:a16="http://schemas.microsoft.com/office/drawing/2014/main" id="{A82A2DFA-D8C5-D911-DE04-AFB44144EAE6}"/>
                </a:ext>
              </a:extLst>
            </p:cNvPr>
            <p:cNvSpPr/>
            <p:nvPr userDrawn="1"/>
          </p:nvSpPr>
          <p:spPr>
            <a:xfrm rot="16200000">
              <a:off x="226581" y="-146402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ep 119">
            <a:extLst>
              <a:ext uri="{FF2B5EF4-FFF2-40B4-BE49-F238E27FC236}">
                <a16:creationId xmlns:a16="http://schemas.microsoft.com/office/drawing/2014/main" id="{C2A05CFF-BFD2-D7A2-AE40-E01B243946B8}"/>
              </a:ext>
            </a:extLst>
          </p:cNvPr>
          <p:cNvGrpSpPr/>
          <p:nvPr userDrawn="1"/>
        </p:nvGrpSpPr>
        <p:grpSpPr>
          <a:xfrm flipH="1">
            <a:off x="10714464" y="-511645"/>
            <a:ext cx="2854391" cy="1940242"/>
            <a:chOff x="-1377504" y="-511645"/>
            <a:chExt cx="2854391" cy="1940242"/>
          </a:xfrm>
        </p:grpSpPr>
        <p:sp>
          <p:nvSpPr>
            <p:cNvPr id="20" name="TextBox 225">
              <a:extLst>
                <a:ext uri="{FF2B5EF4-FFF2-40B4-BE49-F238E27FC236}">
                  <a16:creationId xmlns:a16="http://schemas.microsoft.com/office/drawing/2014/main" id="{D81A72E2-530F-F1B2-FF4A-95585AE44BA6}"/>
                </a:ext>
              </a:extLst>
            </p:cNvPr>
            <p:cNvSpPr txBox="1"/>
            <p:nvPr userDrawn="1"/>
          </p:nvSpPr>
          <p:spPr>
            <a:xfrm>
              <a:off x="115222" y="-506673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21" name="Rectangle 68">
              <a:extLst>
                <a:ext uri="{FF2B5EF4-FFF2-40B4-BE49-F238E27FC236}">
                  <a16:creationId xmlns:a16="http://schemas.microsoft.com/office/drawing/2014/main" id="{83435E30-E1B5-02A9-A4E0-5FD7CB1BEF6B}"/>
                </a:ext>
              </a:extLst>
            </p:cNvPr>
            <p:cNvSpPr/>
            <p:nvPr userDrawn="1"/>
          </p:nvSpPr>
          <p:spPr>
            <a:xfrm>
              <a:off x="147066" y="-511645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2" name="Vrije vorm 122">
              <a:extLst>
                <a:ext uri="{FF2B5EF4-FFF2-40B4-BE49-F238E27FC236}">
                  <a16:creationId xmlns:a16="http://schemas.microsoft.com/office/drawing/2014/main" id="{0CC0EFCF-04D1-45F4-6702-6FC3A265B70E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A9A16DAD-D221-1339-C097-73024E4EB147}"/>
                </a:ext>
              </a:extLst>
            </p:cNvPr>
            <p:cNvSpPr txBox="1"/>
            <p:nvPr userDrawn="1"/>
          </p:nvSpPr>
          <p:spPr>
            <a:xfrm>
              <a:off x="-1351052" y="103085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ABOVE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24" name="Triangle 20">
              <a:extLst>
                <a:ext uri="{FF2B5EF4-FFF2-40B4-BE49-F238E27FC236}">
                  <a16:creationId xmlns:a16="http://schemas.microsoft.com/office/drawing/2014/main" id="{942D8640-0849-C2B0-5C54-2B32EBC367F3}"/>
                </a:ext>
              </a:extLst>
            </p:cNvPr>
            <p:cNvSpPr/>
            <p:nvPr userDrawn="1"/>
          </p:nvSpPr>
          <p:spPr>
            <a:xfrm>
              <a:off x="-169889" y="127232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2">
              <a:extLst>
                <a:ext uri="{FF2B5EF4-FFF2-40B4-BE49-F238E27FC236}">
                  <a16:creationId xmlns:a16="http://schemas.microsoft.com/office/drawing/2014/main" id="{A443B444-0F2A-7630-FCF7-EF4808767C4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412872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80">
              <a:extLst>
                <a:ext uri="{FF2B5EF4-FFF2-40B4-BE49-F238E27FC236}">
                  <a16:creationId xmlns:a16="http://schemas.microsoft.com/office/drawing/2014/main" id="{4E83FFE7-44CD-8735-C0A4-BE79EC39796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-511645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81">
              <a:extLst>
                <a:ext uri="{FF2B5EF4-FFF2-40B4-BE49-F238E27FC236}">
                  <a16:creationId xmlns:a16="http://schemas.microsoft.com/office/drawing/2014/main" id="{C0F7E114-51AF-14D3-7DBE-7C596486FE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-511645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25">
              <a:extLst>
                <a:ext uri="{FF2B5EF4-FFF2-40B4-BE49-F238E27FC236}">
                  <a16:creationId xmlns:a16="http://schemas.microsoft.com/office/drawing/2014/main" id="{D0DB4980-D536-E5B3-868C-F6D7255C05A0}"/>
                </a:ext>
              </a:extLst>
            </p:cNvPr>
            <p:cNvSpPr txBox="1"/>
            <p:nvPr userDrawn="1"/>
          </p:nvSpPr>
          <p:spPr>
            <a:xfrm>
              <a:off x="-1021213" y="-506673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RIGHT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29" name="Triangle 226">
              <a:extLst>
                <a:ext uri="{FF2B5EF4-FFF2-40B4-BE49-F238E27FC236}">
                  <a16:creationId xmlns:a16="http://schemas.microsoft.com/office/drawing/2014/main" id="{6B36C7E9-EDBA-AFB3-433E-8B2AB725E1FD}"/>
                </a:ext>
              </a:extLst>
            </p:cNvPr>
            <p:cNvSpPr/>
            <p:nvPr userDrawn="1"/>
          </p:nvSpPr>
          <p:spPr>
            <a:xfrm rot="16200000">
              <a:off x="-2942" y="-14505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riangle 226">
              <a:extLst>
                <a:ext uri="{FF2B5EF4-FFF2-40B4-BE49-F238E27FC236}">
                  <a16:creationId xmlns:a16="http://schemas.microsoft.com/office/drawing/2014/main" id="{9B00A46E-70BA-C698-9D23-9A7A9825BEB0}"/>
                </a:ext>
              </a:extLst>
            </p:cNvPr>
            <p:cNvSpPr/>
            <p:nvPr userDrawn="1"/>
          </p:nvSpPr>
          <p:spPr>
            <a:xfrm rot="16200000">
              <a:off x="226581" y="-146402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ep 148">
            <a:extLst>
              <a:ext uri="{FF2B5EF4-FFF2-40B4-BE49-F238E27FC236}">
                <a16:creationId xmlns:a16="http://schemas.microsoft.com/office/drawing/2014/main" id="{B065A78A-517B-7FE3-9BD1-5BBA83C5B2FD}"/>
              </a:ext>
            </a:extLst>
          </p:cNvPr>
          <p:cNvGrpSpPr/>
          <p:nvPr userDrawn="1"/>
        </p:nvGrpSpPr>
        <p:grpSpPr>
          <a:xfrm>
            <a:off x="-1377504" y="4674513"/>
            <a:ext cx="2854391" cy="2702025"/>
            <a:chOff x="-1377504" y="-455451"/>
            <a:chExt cx="2854391" cy="2702025"/>
          </a:xfrm>
        </p:grpSpPr>
        <p:sp>
          <p:nvSpPr>
            <p:cNvPr id="49" name="Rectangle 68">
              <a:extLst>
                <a:ext uri="{FF2B5EF4-FFF2-40B4-BE49-F238E27FC236}">
                  <a16:creationId xmlns:a16="http://schemas.microsoft.com/office/drawing/2014/main" id="{68E74EB2-0DC9-4FFA-13D4-BC1CAAD5C2DA}"/>
                </a:ext>
              </a:extLst>
            </p:cNvPr>
            <p:cNvSpPr/>
            <p:nvPr userDrawn="1"/>
          </p:nvSpPr>
          <p:spPr>
            <a:xfrm>
              <a:off x="-1371600" y="1126373"/>
              <a:ext cx="1364481" cy="134047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1620000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50" name="TextBox 225">
              <a:extLst>
                <a:ext uri="{FF2B5EF4-FFF2-40B4-BE49-F238E27FC236}">
                  <a16:creationId xmlns:a16="http://schemas.microsoft.com/office/drawing/2014/main" id="{1416B053-515C-7D37-719A-D5396792901F}"/>
                </a:ext>
              </a:extLst>
            </p:cNvPr>
            <p:cNvSpPr txBox="1"/>
            <p:nvPr userDrawn="1"/>
          </p:nvSpPr>
          <p:spPr>
            <a:xfrm>
              <a:off x="115222" y="1877242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51" name="Rectangle 68">
              <a:extLst>
                <a:ext uri="{FF2B5EF4-FFF2-40B4-BE49-F238E27FC236}">
                  <a16:creationId xmlns:a16="http://schemas.microsoft.com/office/drawing/2014/main" id="{B67387B5-D96B-0662-6DE0-1CEDDB232D44}"/>
                </a:ext>
              </a:extLst>
            </p:cNvPr>
            <p:cNvSpPr/>
            <p:nvPr userDrawn="1"/>
          </p:nvSpPr>
          <p:spPr>
            <a:xfrm>
              <a:off x="147066" y="1738388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52" name="Vrije vorm 162">
              <a:extLst>
                <a:ext uri="{FF2B5EF4-FFF2-40B4-BE49-F238E27FC236}">
                  <a16:creationId xmlns:a16="http://schemas.microsoft.com/office/drawing/2014/main" id="{D25AB246-D0F9-FF11-D812-6CE65EEA93D7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53" name="TextBox 6">
              <a:extLst>
                <a:ext uri="{FF2B5EF4-FFF2-40B4-BE49-F238E27FC236}">
                  <a16:creationId xmlns:a16="http://schemas.microsoft.com/office/drawing/2014/main" id="{49857C07-3FD7-ABA2-AE3A-5A082586E45F}"/>
                </a:ext>
              </a:extLst>
            </p:cNvPr>
            <p:cNvSpPr txBox="1"/>
            <p:nvPr userDrawn="1"/>
          </p:nvSpPr>
          <p:spPr>
            <a:xfrm>
              <a:off x="-1351052" y="123778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BELOW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54" name="Triangle 20">
              <a:extLst>
                <a:ext uri="{FF2B5EF4-FFF2-40B4-BE49-F238E27FC236}">
                  <a16:creationId xmlns:a16="http://schemas.microsoft.com/office/drawing/2014/main" id="{5F6BB872-7452-D5A8-42F6-FB044B207267}"/>
                </a:ext>
              </a:extLst>
            </p:cNvPr>
            <p:cNvSpPr/>
            <p:nvPr userDrawn="1"/>
          </p:nvSpPr>
          <p:spPr>
            <a:xfrm rot="10800000">
              <a:off x="-169889" y="1342928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22">
              <a:extLst>
                <a:ext uri="{FF2B5EF4-FFF2-40B4-BE49-F238E27FC236}">
                  <a16:creationId xmlns:a16="http://schemas.microsoft.com/office/drawing/2014/main" id="{7ABC8ED3-35BE-3005-C4F5-CE56B7C3290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254498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80">
              <a:extLst>
                <a:ext uri="{FF2B5EF4-FFF2-40B4-BE49-F238E27FC236}">
                  <a16:creationId xmlns:a16="http://schemas.microsoft.com/office/drawing/2014/main" id="{4DFCD810-B71B-1937-A748-B404B5D5D35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1738388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81">
              <a:extLst>
                <a:ext uri="{FF2B5EF4-FFF2-40B4-BE49-F238E27FC236}">
                  <a16:creationId xmlns:a16="http://schemas.microsoft.com/office/drawing/2014/main" id="{CC59845C-9422-C747-98C4-6BE9969399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1738388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225">
              <a:extLst>
                <a:ext uri="{FF2B5EF4-FFF2-40B4-BE49-F238E27FC236}">
                  <a16:creationId xmlns:a16="http://schemas.microsoft.com/office/drawing/2014/main" id="{DF4979DD-C143-00E2-257F-D2A99369298A}"/>
                </a:ext>
              </a:extLst>
            </p:cNvPr>
            <p:cNvSpPr txBox="1"/>
            <p:nvPr userDrawn="1"/>
          </p:nvSpPr>
          <p:spPr>
            <a:xfrm>
              <a:off x="-1021213" y="1877242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      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LEFT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59" name="Triangle 226">
              <a:extLst>
                <a:ext uri="{FF2B5EF4-FFF2-40B4-BE49-F238E27FC236}">
                  <a16:creationId xmlns:a16="http://schemas.microsoft.com/office/drawing/2014/main" id="{FD27ABA0-7135-DACE-FC6C-8A9EAAD90783}"/>
                </a:ext>
              </a:extLst>
            </p:cNvPr>
            <p:cNvSpPr/>
            <p:nvPr userDrawn="1"/>
          </p:nvSpPr>
          <p:spPr>
            <a:xfrm rot="16200000">
              <a:off x="-2942" y="1806976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riangle 226">
              <a:extLst>
                <a:ext uri="{FF2B5EF4-FFF2-40B4-BE49-F238E27FC236}">
                  <a16:creationId xmlns:a16="http://schemas.microsoft.com/office/drawing/2014/main" id="{2F3941FD-9462-C017-A887-F06C79F528F4}"/>
                </a:ext>
              </a:extLst>
            </p:cNvPr>
            <p:cNvSpPr/>
            <p:nvPr userDrawn="1"/>
          </p:nvSpPr>
          <p:spPr>
            <a:xfrm rot="16200000">
              <a:off x="225082" y="1805625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1" name="Straight Connector 22">
              <a:extLst>
                <a:ext uri="{FF2B5EF4-FFF2-40B4-BE49-F238E27FC236}">
                  <a16:creationId xmlns:a16="http://schemas.microsoft.com/office/drawing/2014/main" id="{9C81FCA9-FCE4-FEF4-4B6B-AA410333A9E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127619"/>
              <a:ext cx="1367345" cy="0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">
              <a:extLst>
                <a:ext uri="{FF2B5EF4-FFF2-40B4-BE49-F238E27FC236}">
                  <a16:creationId xmlns:a16="http://schemas.microsoft.com/office/drawing/2014/main" id="{A2E9BB0C-D35B-4116-2AC4-90E9717E5237}"/>
                </a:ext>
              </a:extLst>
            </p:cNvPr>
            <p:cNvSpPr txBox="1"/>
            <p:nvPr userDrawn="1"/>
          </p:nvSpPr>
          <p:spPr>
            <a:xfrm>
              <a:off x="-1266826" y="909673"/>
              <a:ext cx="1144135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 </a:t>
              </a:r>
              <a:r>
                <a:rPr lang="en-US" sz="900" b="1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</a:t>
              </a:r>
              <a:br>
                <a:rPr lang="en-US" sz="900" b="1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THIS MARGIN</a:t>
              </a:r>
            </a:p>
          </p:txBody>
        </p:sp>
        <p:sp>
          <p:nvSpPr>
            <p:cNvPr id="63" name="Triangle 20">
              <a:extLst>
                <a:ext uri="{FF2B5EF4-FFF2-40B4-BE49-F238E27FC236}">
                  <a16:creationId xmlns:a16="http://schemas.microsoft.com/office/drawing/2014/main" id="{E8031D7B-7681-7AE4-A37D-529EC4686204}"/>
                </a:ext>
              </a:extLst>
            </p:cNvPr>
            <p:cNvSpPr/>
            <p:nvPr userDrawn="1"/>
          </p:nvSpPr>
          <p:spPr>
            <a:xfrm rot="10800000">
              <a:off x="-169889" y="1151710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9" name="Rechthoek 148">
            <a:extLst>
              <a:ext uri="{FF2B5EF4-FFF2-40B4-BE49-F238E27FC236}">
                <a16:creationId xmlns:a16="http://schemas.microsoft.com/office/drawing/2014/main" id="{912E8D36-CEBC-F4A4-DC48-0FFC029F5CDB}"/>
              </a:ext>
            </a:extLst>
          </p:cNvPr>
          <p:cNvSpPr/>
          <p:nvPr userDrawn="1"/>
        </p:nvSpPr>
        <p:spPr>
          <a:xfrm>
            <a:off x="0" y="6334783"/>
            <a:ext cx="12192000" cy="522161"/>
          </a:xfrm>
          <a:prstGeom prst="rect">
            <a:avLst/>
          </a:prstGeom>
          <a:gradFill>
            <a:gsLst>
              <a:gs pos="100000">
                <a:srgbClr val="1847B2"/>
              </a:gs>
              <a:gs pos="16000">
                <a:srgbClr val="151632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NL"/>
          </a:p>
        </p:txBody>
      </p:sp>
      <p:sp>
        <p:nvSpPr>
          <p:cNvPr id="150" name="Rounded Rectangle 11">
            <a:extLst>
              <a:ext uri="{FF2B5EF4-FFF2-40B4-BE49-F238E27FC236}">
                <a16:creationId xmlns:a16="http://schemas.microsoft.com/office/drawing/2014/main" id="{2D4AC5C1-8471-5765-EE2F-B91C401EEABC}"/>
              </a:ext>
            </a:extLst>
          </p:cNvPr>
          <p:cNvSpPr/>
          <p:nvPr userDrawn="1"/>
        </p:nvSpPr>
        <p:spPr>
          <a:xfrm>
            <a:off x="1" y="6247564"/>
            <a:ext cx="12192000" cy="530113"/>
          </a:xfrm>
          <a:prstGeom prst="roundRect">
            <a:avLst>
              <a:gd name="adj" fmla="val 25380"/>
            </a:avLst>
          </a:prstGeom>
          <a:gradFill>
            <a:gsLst>
              <a:gs pos="5000">
                <a:srgbClr val="003AAE"/>
              </a:gs>
              <a:gs pos="12000">
                <a:srgbClr val="002E8B"/>
              </a:gs>
              <a:gs pos="32000">
                <a:srgbClr val="151632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62" name="Rectangle 22">
            <a:extLst>
              <a:ext uri="{FF2B5EF4-FFF2-40B4-BE49-F238E27FC236}">
                <a16:creationId xmlns:a16="http://schemas.microsoft.com/office/drawing/2014/main" id="{A9735FA5-2FA2-C8BE-D5A8-A0118D2693E8}"/>
              </a:ext>
            </a:extLst>
          </p:cNvPr>
          <p:cNvSpPr/>
          <p:nvPr userDrawn="1"/>
        </p:nvSpPr>
        <p:spPr>
          <a:xfrm>
            <a:off x="0" y="0"/>
            <a:ext cx="12192000" cy="6334783"/>
          </a:xfrm>
          <a:prstGeom prst="rect">
            <a:avLst/>
          </a:prstGeom>
          <a:solidFill>
            <a:srgbClr val="15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 2">
            <a:extLst>
              <a:ext uri="{FF2B5EF4-FFF2-40B4-BE49-F238E27FC236}">
                <a16:creationId xmlns:a16="http://schemas.microsoft.com/office/drawing/2014/main" id="{47AF9F50-B0AE-A4D9-6892-D5B682DB31A2}"/>
              </a:ext>
            </a:extLst>
          </p:cNvPr>
          <p:cNvSpPr/>
          <p:nvPr userDrawn="1"/>
        </p:nvSpPr>
        <p:spPr>
          <a:xfrm>
            <a:off x="0" y="0"/>
            <a:ext cx="1381059" cy="416209"/>
          </a:xfrm>
          <a:prstGeom prst="rect">
            <a:avLst/>
          </a:prstGeom>
          <a:gradFill>
            <a:gsLst>
              <a:gs pos="0">
                <a:srgbClr val="F9C716">
                  <a:alpha val="78258"/>
                </a:srgbClr>
              </a:gs>
              <a:gs pos="18000">
                <a:srgbClr val="F8C716">
                  <a:alpha val="30000"/>
                </a:srgbClr>
              </a:gs>
              <a:gs pos="45000">
                <a:srgbClr val="F9C716">
                  <a:alpha val="0"/>
                </a:srgbClr>
              </a:gs>
            </a:gsLst>
            <a:lin ang="19200000" scaled="0"/>
          </a:gradFill>
        </p:spPr>
        <p:txBody>
          <a:bodyPr vert="horz" wrap="none" lIns="378000" tIns="28800" rIns="72000" bIns="28800" rtlCol="0" anchor="ctr">
            <a:noAutofit/>
          </a:bodyPr>
          <a:lstStyle/>
          <a:p>
            <a:pPr marL="228600" lvl="0" indent="-228600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050" b="0" i="0" cap="none" spc="-30" baseline="0">
              <a:solidFill>
                <a:schemeClr val="tx1"/>
              </a:solidFill>
              <a:latin typeface="Azeret Mono Medium" pitchFamily="2" charset="77"/>
              <a:cs typeface="Azeret Mono Medium" pitchFamily="2" charset="77"/>
            </a:endParaRPr>
          </a:p>
        </p:txBody>
      </p:sp>
      <p:sp>
        <p:nvSpPr>
          <p:cNvPr id="165" name="Rounded Rectangle 92">
            <a:extLst>
              <a:ext uri="{FF2B5EF4-FFF2-40B4-BE49-F238E27FC236}">
                <a16:creationId xmlns:a16="http://schemas.microsoft.com/office/drawing/2014/main" id="{B6B0EA6D-93FA-0E47-82BC-6E9A5D82BC56}"/>
              </a:ext>
            </a:extLst>
          </p:cNvPr>
          <p:cNvSpPr/>
          <p:nvPr userDrawn="1"/>
        </p:nvSpPr>
        <p:spPr>
          <a:xfrm>
            <a:off x="154800" y="130179"/>
            <a:ext cx="1103615" cy="379911"/>
          </a:xfrm>
          <a:prstGeom prst="roundRect">
            <a:avLst>
              <a:gd name="adj" fmla="val 35079"/>
            </a:avLst>
          </a:prstGeom>
          <a:gradFill>
            <a:gsLst>
              <a:gs pos="2000">
                <a:srgbClr val="E88C36"/>
              </a:gs>
              <a:gs pos="15000">
                <a:srgbClr val="F8C716"/>
              </a:gs>
              <a:gs pos="41000">
                <a:srgbClr val="F8C716"/>
              </a:gs>
              <a:gs pos="54000">
                <a:srgbClr val="F8C716">
                  <a:alpha val="54000"/>
                </a:srgbClr>
              </a:gs>
              <a:gs pos="70000">
                <a:srgbClr val="F8C716">
                  <a:alpha val="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166" name="Rectangle 3">
            <a:extLst>
              <a:ext uri="{FF2B5EF4-FFF2-40B4-BE49-F238E27FC236}">
                <a16:creationId xmlns:a16="http://schemas.microsoft.com/office/drawing/2014/main" id="{929202E0-FBA3-6D1C-5DB2-A7003046CE87}"/>
              </a:ext>
            </a:extLst>
          </p:cNvPr>
          <p:cNvSpPr/>
          <p:nvPr userDrawn="1"/>
        </p:nvSpPr>
        <p:spPr>
          <a:xfrm>
            <a:off x="0" y="358781"/>
            <a:ext cx="2835408" cy="307889"/>
          </a:xfrm>
          <a:prstGeom prst="rect">
            <a:avLst/>
          </a:prstGeom>
          <a:solidFill>
            <a:srgbClr val="14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7" name="Straight Connector 9">
            <a:extLst>
              <a:ext uri="{FF2B5EF4-FFF2-40B4-BE49-F238E27FC236}">
                <a16:creationId xmlns:a16="http://schemas.microsoft.com/office/drawing/2014/main" id="{B175B565-7FF3-C6FA-3AEF-FECA88B3E490}"/>
              </a:ext>
            </a:extLst>
          </p:cNvPr>
          <p:cNvCxnSpPr>
            <a:cxnSpLocks/>
          </p:cNvCxnSpPr>
          <p:nvPr userDrawn="1"/>
        </p:nvCxnSpPr>
        <p:spPr>
          <a:xfrm>
            <a:off x="154800" y="1254633"/>
            <a:ext cx="11879999" cy="0"/>
          </a:xfrm>
          <a:prstGeom prst="line">
            <a:avLst/>
          </a:prstGeom>
          <a:ln w="9525">
            <a:solidFill>
              <a:srgbClr val="B0B0B0">
                <a:alpha val="4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Rechthoek 169">
            <a:extLst>
              <a:ext uri="{FF2B5EF4-FFF2-40B4-BE49-F238E27FC236}">
                <a16:creationId xmlns:a16="http://schemas.microsoft.com/office/drawing/2014/main" id="{A86F3B83-6262-41A8-700E-61C3B1838F75}"/>
              </a:ext>
            </a:extLst>
          </p:cNvPr>
          <p:cNvSpPr/>
          <p:nvPr userDrawn="1"/>
        </p:nvSpPr>
        <p:spPr>
          <a:xfrm>
            <a:off x="11535226" y="6427757"/>
            <a:ext cx="443898" cy="2616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2" name="Rectangle 22">
            <a:extLst>
              <a:ext uri="{FF2B5EF4-FFF2-40B4-BE49-F238E27FC236}">
                <a16:creationId xmlns:a16="http://schemas.microsoft.com/office/drawing/2014/main" id="{A60FFE3A-8FA1-676B-EFFA-9F7E31AFE577}"/>
              </a:ext>
            </a:extLst>
          </p:cNvPr>
          <p:cNvSpPr/>
          <p:nvPr userDrawn="1"/>
        </p:nvSpPr>
        <p:spPr>
          <a:xfrm>
            <a:off x="0" y="4806022"/>
            <a:ext cx="12192000" cy="1584363"/>
          </a:xfrm>
          <a:prstGeom prst="rect">
            <a:avLst/>
          </a:prstGeom>
          <a:solidFill>
            <a:srgbClr val="14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  <a:prstGeom prst="rect">
            <a:avLst/>
          </a:prstGeom>
        </p:spPr>
        <p:txBody>
          <a:bodyPr wrap="square" lIns="216000" tIns="46800" rIns="0" bIns="46800" anchor="ctr" anchorCtr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399" y="6469694"/>
            <a:ext cx="626400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rtlCol="0" anchor="ctr">
            <a:spAutoFit/>
          </a:bodyPr>
          <a:lstStyle>
            <a:lvl1pPr algn="ctr">
              <a:defRPr lang="en-US" sz="900" b="0" spc="10" baseline="0" smtClean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cxnSp>
        <p:nvCxnSpPr>
          <p:cNvPr id="173" name="Straight Connector 9">
            <a:extLst>
              <a:ext uri="{FF2B5EF4-FFF2-40B4-BE49-F238E27FC236}">
                <a16:creationId xmlns:a16="http://schemas.microsoft.com/office/drawing/2014/main" id="{8D280FE2-26DA-3F87-A7A0-367871842674}"/>
              </a:ext>
            </a:extLst>
          </p:cNvPr>
          <p:cNvCxnSpPr>
            <a:cxnSpLocks/>
          </p:cNvCxnSpPr>
          <p:nvPr userDrawn="1"/>
        </p:nvCxnSpPr>
        <p:spPr>
          <a:xfrm>
            <a:off x="144162" y="6382737"/>
            <a:ext cx="11903676" cy="0"/>
          </a:xfrm>
          <a:prstGeom prst="line">
            <a:avLst/>
          </a:prstGeom>
          <a:ln w="9525">
            <a:gradFill>
              <a:gsLst>
                <a:gs pos="18000">
                  <a:srgbClr val="B0B0B0">
                    <a:alpha val="0"/>
                  </a:srgbClr>
                </a:gs>
                <a:gs pos="43000">
                  <a:srgbClr val="B0B0B0">
                    <a:alpha val="40000"/>
                  </a:srgbClr>
                </a:gs>
              </a:gsLst>
              <a:lin ang="0" scaled="0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4">
            <a:extLst>
              <a:ext uri="{FF2B5EF4-FFF2-40B4-BE49-F238E27FC236}">
                <a16:creationId xmlns:a16="http://schemas.microsoft.com/office/drawing/2014/main" id="{73B235D3-3C1A-926C-96F7-876AEA7F759F}"/>
              </a:ext>
            </a:extLst>
          </p:cNvPr>
          <p:cNvSpPr/>
          <p:nvPr userDrawn="1"/>
        </p:nvSpPr>
        <p:spPr>
          <a:xfrm>
            <a:off x="0" y="3429001"/>
            <a:ext cx="8134958" cy="2964608"/>
          </a:xfrm>
          <a:prstGeom prst="rect">
            <a:avLst/>
          </a:prstGeom>
          <a:gradFill>
            <a:gsLst>
              <a:gs pos="0">
                <a:srgbClr val="1864FF">
                  <a:alpha val="66667"/>
                </a:srgbClr>
              </a:gs>
              <a:gs pos="45000">
                <a:srgbClr val="151632">
                  <a:alpha val="0"/>
                </a:srgbClr>
              </a:gs>
              <a:gs pos="11000">
                <a:srgbClr val="1864FF">
                  <a:alpha val="56863"/>
                </a:srgbClr>
              </a:gs>
              <a:gs pos="35000">
                <a:srgbClr val="173D99">
                  <a:alpha val="24023"/>
                </a:srgbClr>
              </a:gs>
              <a:gs pos="22000">
                <a:srgbClr val="1864FF">
                  <a:alpha val="35686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152" name="Rectangle 4">
            <a:extLst>
              <a:ext uri="{FF2B5EF4-FFF2-40B4-BE49-F238E27FC236}">
                <a16:creationId xmlns:a16="http://schemas.microsoft.com/office/drawing/2014/main" id="{C05BC534-2B27-A9B7-CEAE-FECCCD47CBF9}"/>
              </a:ext>
            </a:extLst>
          </p:cNvPr>
          <p:cNvSpPr/>
          <p:nvPr userDrawn="1"/>
        </p:nvSpPr>
        <p:spPr>
          <a:xfrm>
            <a:off x="154800" y="5446799"/>
            <a:ext cx="8134958" cy="946809"/>
          </a:xfrm>
          <a:prstGeom prst="rect">
            <a:avLst/>
          </a:prstGeom>
          <a:gradFill>
            <a:gsLst>
              <a:gs pos="0">
                <a:srgbClr val="1864FF">
                  <a:alpha val="62745"/>
                </a:srgbClr>
              </a:gs>
              <a:gs pos="14000">
                <a:srgbClr val="1864FF">
                  <a:alpha val="16863"/>
                </a:srgbClr>
              </a:gs>
              <a:gs pos="28000">
                <a:srgbClr val="1864FF">
                  <a:alpha val="0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6C8C7-4A4D-FB4E-9345-9292EFEF7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5208" y="640791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 marL="0" algn="l" defTabSz="914400" rtl="0" eaLnBrk="1" latinLnBrk="0" hangingPunct="1">
              <a:defRPr lang="en-US" sz="900" b="0" cap="none" spc="0" baseline="0" dirty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Generated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</a:t>
            </a:r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with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Sigrid</a:t>
            </a:r>
          </a:p>
          <a:p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for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CUSTOMER_NAME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" y="1411200"/>
            <a:ext cx="11880000" cy="4842000"/>
          </a:xfrm>
          <a:prstGeom prst="rect">
            <a:avLst/>
          </a:prstGeom>
        </p:spPr>
        <p:txBody>
          <a:bodyPr vert="horz" lIns="216000" tIns="45720" rIns="234000" bIns="45720" rtlCol="0">
            <a:no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US" dirty="0"/>
          </a:p>
        </p:txBody>
      </p:sp>
      <p:grpSp>
        <p:nvGrpSpPr>
          <p:cNvPr id="31" name="Groep 30">
            <a:extLst>
              <a:ext uri="{FF2B5EF4-FFF2-40B4-BE49-F238E27FC236}">
                <a16:creationId xmlns:a16="http://schemas.microsoft.com/office/drawing/2014/main" id="{9E6A6A6B-50E5-38EF-4BD3-D020EE8689B3}"/>
              </a:ext>
            </a:extLst>
          </p:cNvPr>
          <p:cNvGrpSpPr/>
          <p:nvPr userDrawn="1"/>
        </p:nvGrpSpPr>
        <p:grpSpPr>
          <a:xfrm>
            <a:off x="12194479" y="1557707"/>
            <a:ext cx="1757701" cy="4093925"/>
            <a:chOff x="12194479" y="1557707"/>
            <a:chExt cx="1757701" cy="4093925"/>
          </a:xfrm>
        </p:grpSpPr>
        <p:sp>
          <p:nvSpPr>
            <p:cNvPr id="32" name="TextBox 221">
              <a:extLst>
                <a:ext uri="{FF2B5EF4-FFF2-40B4-BE49-F238E27FC236}">
                  <a16:creationId xmlns:a16="http://schemas.microsoft.com/office/drawing/2014/main" id="{066C03D8-F9E0-2E6A-1D60-4703BFF4BF08}"/>
                </a:ext>
              </a:extLst>
            </p:cNvPr>
            <p:cNvSpPr txBox="1"/>
            <p:nvPr userDrawn="1"/>
          </p:nvSpPr>
          <p:spPr>
            <a:xfrm>
              <a:off x="12207792" y="3617036"/>
              <a:ext cx="1744388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 dirty="0">
                  <a:solidFill>
                    <a:srgbClr val="929292"/>
                  </a:solidFill>
                  <a:latin typeface="Noir Pro Medium" pitchFamily="2" charset="0"/>
                </a:rPr>
                <a:t>TEXT COLORS – LIGHT BACKGROUND</a:t>
              </a:r>
            </a:p>
          </p:txBody>
        </p:sp>
        <p:sp>
          <p:nvSpPr>
            <p:cNvPr id="33" name="TextBox 224">
              <a:extLst>
                <a:ext uri="{FF2B5EF4-FFF2-40B4-BE49-F238E27FC236}">
                  <a16:creationId xmlns:a16="http://schemas.microsoft.com/office/drawing/2014/main" id="{6DA5FEDC-18D6-8CDA-F9D2-422186B578C7}"/>
                </a:ext>
              </a:extLst>
            </p:cNvPr>
            <p:cNvSpPr txBox="1"/>
            <p:nvPr userDrawn="1"/>
          </p:nvSpPr>
          <p:spPr>
            <a:xfrm>
              <a:off x="12207792" y="4073549"/>
              <a:ext cx="17331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TEXT COLORS – DARK BACKGROUND</a:t>
              </a:r>
            </a:p>
          </p:txBody>
        </p:sp>
        <p:grpSp>
          <p:nvGrpSpPr>
            <p:cNvPr id="34" name="Groep 33">
              <a:extLst>
                <a:ext uri="{FF2B5EF4-FFF2-40B4-BE49-F238E27FC236}">
                  <a16:creationId xmlns:a16="http://schemas.microsoft.com/office/drawing/2014/main" id="{35CE28EB-FFCD-D541-EA26-34F53FBD21EB}"/>
                </a:ext>
              </a:extLst>
            </p:cNvPr>
            <p:cNvGrpSpPr/>
            <p:nvPr userDrawn="1"/>
          </p:nvGrpSpPr>
          <p:grpSpPr>
            <a:xfrm>
              <a:off x="12301425" y="3044549"/>
              <a:ext cx="1288114" cy="238539"/>
              <a:chOff x="12298208" y="4999574"/>
              <a:chExt cx="1288114" cy="238539"/>
            </a:xfrm>
          </p:grpSpPr>
          <p:sp>
            <p:nvSpPr>
              <p:cNvPr id="203" name="Rounded Rectangle 192">
                <a:extLst>
                  <a:ext uri="{FF2B5EF4-FFF2-40B4-BE49-F238E27FC236}">
                    <a16:creationId xmlns:a16="http://schemas.microsoft.com/office/drawing/2014/main" id="{9618C981-28CD-9B62-AEA5-B72309EBC59D}"/>
                  </a:ext>
                </a:extLst>
              </p:cNvPr>
              <p:cNvSpPr/>
              <p:nvPr userDrawn="1"/>
            </p:nvSpPr>
            <p:spPr>
              <a:xfrm>
                <a:off x="12298208" y="4999574"/>
                <a:ext cx="238539" cy="238539"/>
              </a:xfrm>
              <a:prstGeom prst="roundRect">
                <a:avLst/>
              </a:prstGeom>
              <a:solidFill>
                <a:srgbClr val="04040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1</a:t>
                </a:r>
              </a:p>
            </p:txBody>
          </p:sp>
          <p:sp>
            <p:nvSpPr>
              <p:cNvPr id="204" name="Rounded Rectangle 192">
                <a:extLst>
                  <a:ext uri="{FF2B5EF4-FFF2-40B4-BE49-F238E27FC236}">
                    <a16:creationId xmlns:a16="http://schemas.microsoft.com/office/drawing/2014/main" id="{21ED55EF-4A66-C250-0552-ABF809B489CB}"/>
                  </a:ext>
                </a:extLst>
              </p:cNvPr>
              <p:cNvSpPr/>
              <p:nvPr userDrawn="1"/>
            </p:nvSpPr>
            <p:spPr>
              <a:xfrm>
                <a:off x="12403166" y="4999574"/>
                <a:ext cx="238539" cy="238539"/>
              </a:xfrm>
              <a:prstGeom prst="roundRect">
                <a:avLst/>
              </a:prstGeom>
              <a:solidFill>
                <a:srgbClr val="1723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2</a:t>
                </a:r>
              </a:p>
            </p:txBody>
          </p:sp>
          <p:sp>
            <p:nvSpPr>
              <p:cNvPr id="205" name="Rounded Rectangle 192">
                <a:extLst>
                  <a:ext uri="{FF2B5EF4-FFF2-40B4-BE49-F238E27FC236}">
                    <a16:creationId xmlns:a16="http://schemas.microsoft.com/office/drawing/2014/main" id="{F7C1226B-DED1-9D42-E63A-DCDE41AA8DE0}"/>
                  </a:ext>
                </a:extLst>
              </p:cNvPr>
              <p:cNvSpPr/>
              <p:nvPr userDrawn="1"/>
            </p:nvSpPr>
            <p:spPr>
              <a:xfrm>
                <a:off x="12508124" y="4999574"/>
                <a:ext cx="238539" cy="238539"/>
              </a:xfrm>
              <a:prstGeom prst="roundRect">
                <a:avLst/>
              </a:prstGeom>
              <a:solidFill>
                <a:srgbClr val="162F7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3</a:t>
                </a:r>
              </a:p>
            </p:txBody>
          </p:sp>
          <p:sp>
            <p:nvSpPr>
              <p:cNvPr id="206" name="Rounded Rectangle 192">
                <a:extLst>
                  <a:ext uri="{FF2B5EF4-FFF2-40B4-BE49-F238E27FC236}">
                    <a16:creationId xmlns:a16="http://schemas.microsoft.com/office/drawing/2014/main" id="{41D16ED5-3FC1-934D-18D3-1AC9E84848DA}"/>
                  </a:ext>
                </a:extLst>
              </p:cNvPr>
              <p:cNvSpPr/>
              <p:nvPr userDrawn="1"/>
            </p:nvSpPr>
            <p:spPr>
              <a:xfrm>
                <a:off x="12613082" y="4999574"/>
                <a:ext cx="238539" cy="238539"/>
              </a:xfrm>
              <a:prstGeom prst="roundRect">
                <a:avLst/>
              </a:prstGeom>
              <a:solidFill>
                <a:srgbClr val="1947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4</a:t>
                </a:r>
              </a:p>
            </p:txBody>
          </p:sp>
          <p:sp>
            <p:nvSpPr>
              <p:cNvPr id="207" name="Rounded Rectangle 192">
                <a:extLst>
                  <a:ext uri="{FF2B5EF4-FFF2-40B4-BE49-F238E27FC236}">
                    <a16:creationId xmlns:a16="http://schemas.microsoft.com/office/drawing/2014/main" id="{ACA6061C-537F-FA8B-CE4A-032AC58CEA09}"/>
                  </a:ext>
                </a:extLst>
              </p:cNvPr>
              <p:cNvSpPr/>
              <p:nvPr userDrawn="1"/>
            </p:nvSpPr>
            <p:spPr>
              <a:xfrm>
                <a:off x="12718040" y="4999574"/>
                <a:ext cx="238539" cy="238539"/>
              </a:xfrm>
              <a:prstGeom prst="roundRect">
                <a:avLst/>
              </a:prstGeom>
              <a:solidFill>
                <a:srgbClr val="1859D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5</a:t>
                </a:r>
              </a:p>
            </p:txBody>
          </p:sp>
          <p:sp>
            <p:nvSpPr>
              <p:cNvPr id="208" name="Rounded Rectangle 192">
                <a:extLst>
                  <a:ext uri="{FF2B5EF4-FFF2-40B4-BE49-F238E27FC236}">
                    <a16:creationId xmlns:a16="http://schemas.microsoft.com/office/drawing/2014/main" id="{03490847-C703-37B9-668D-B2C6CD6F6E1F}"/>
                  </a:ext>
                </a:extLst>
              </p:cNvPr>
              <p:cNvSpPr/>
              <p:nvPr userDrawn="1"/>
            </p:nvSpPr>
            <p:spPr>
              <a:xfrm>
                <a:off x="13347783" y="4999574"/>
                <a:ext cx="238539" cy="238539"/>
              </a:xfrm>
              <a:prstGeom prst="roundRect">
                <a:avLst/>
              </a:prstGeom>
              <a:solidFill>
                <a:srgbClr val="BCCB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11</a:t>
                </a:r>
              </a:p>
            </p:txBody>
          </p:sp>
          <p:sp>
            <p:nvSpPr>
              <p:cNvPr id="209" name="Rounded Rectangle 192">
                <a:extLst>
                  <a:ext uri="{FF2B5EF4-FFF2-40B4-BE49-F238E27FC236}">
                    <a16:creationId xmlns:a16="http://schemas.microsoft.com/office/drawing/2014/main" id="{FEF3ED4D-4C0B-FD8D-5F10-E3E70506234C}"/>
                  </a:ext>
                </a:extLst>
              </p:cNvPr>
              <p:cNvSpPr/>
              <p:nvPr userDrawn="1"/>
            </p:nvSpPr>
            <p:spPr>
              <a:xfrm>
                <a:off x="13242830" y="4999574"/>
                <a:ext cx="238539" cy="238539"/>
              </a:xfrm>
              <a:prstGeom prst="roundRect">
                <a:avLst/>
              </a:prstGeom>
              <a:solidFill>
                <a:srgbClr val="88ADF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10</a:t>
                </a:r>
              </a:p>
            </p:txBody>
          </p:sp>
          <p:sp>
            <p:nvSpPr>
              <p:cNvPr id="210" name="Rounded Rectangle 192">
                <a:extLst>
                  <a:ext uri="{FF2B5EF4-FFF2-40B4-BE49-F238E27FC236}">
                    <a16:creationId xmlns:a16="http://schemas.microsoft.com/office/drawing/2014/main" id="{E311E1CA-1EAF-037A-CF4A-0BC946DE7638}"/>
                  </a:ext>
                </a:extLst>
              </p:cNvPr>
              <p:cNvSpPr/>
              <p:nvPr userDrawn="1"/>
            </p:nvSpPr>
            <p:spPr>
              <a:xfrm>
                <a:off x="13137872" y="4999574"/>
                <a:ext cx="238539" cy="238539"/>
              </a:xfrm>
              <a:prstGeom prst="roundRect">
                <a:avLst/>
              </a:prstGeom>
              <a:solidFill>
                <a:srgbClr val="6997F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9</a:t>
                </a:r>
              </a:p>
            </p:txBody>
          </p:sp>
          <p:sp>
            <p:nvSpPr>
              <p:cNvPr id="211" name="Rounded Rectangle 192">
                <a:extLst>
                  <a:ext uri="{FF2B5EF4-FFF2-40B4-BE49-F238E27FC236}">
                    <a16:creationId xmlns:a16="http://schemas.microsoft.com/office/drawing/2014/main" id="{1BC20D0D-8762-EB82-DED6-2289162CBC7C}"/>
                  </a:ext>
                </a:extLst>
              </p:cNvPr>
              <p:cNvSpPr/>
              <p:nvPr userDrawn="1"/>
            </p:nvSpPr>
            <p:spPr>
              <a:xfrm>
                <a:off x="13032914" y="4999574"/>
                <a:ext cx="238539" cy="238539"/>
              </a:xfrm>
              <a:prstGeom prst="roundRect">
                <a:avLst/>
              </a:prstGeom>
              <a:solidFill>
                <a:srgbClr val="4D85F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8</a:t>
                </a:r>
              </a:p>
            </p:txBody>
          </p:sp>
          <p:sp>
            <p:nvSpPr>
              <p:cNvPr id="212" name="Rounded Rectangle 192">
                <a:extLst>
                  <a:ext uri="{FF2B5EF4-FFF2-40B4-BE49-F238E27FC236}">
                    <a16:creationId xmlns:a16="http://schemas.microsoft.com/office/drawing/2014/main" id="{E782A8F1-F9DF-534B-B1D3-B3E7CF2C38A3}"/>
                  </a:ext>
                </a:extLst>
              </p:cNvPr>
              <p:cNvSpPr/>
              <p:nvPr userDrawn="1"/>
            </p:nvSpPr>
            <p:spPr>
              <a:xfrm>
                <a:off x="12927956" y="4999574"/>
                <a:ext cx="238539" cy="238539"/>
              </a:xfrm>
              <a:prstGeom prst="roundRect">
                <a:avLst/>
              </a:prstGeom>
              <a:solidFill>
                <a:srgbClr val="307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7</a:t>
                </a:r>
              </a:p>
            </p:txBody>
          </p:sp>
          <p:sp>
            <p:nvSpPr>
              <p:cNvPr id="213" name="Rounded Rectangle 192">
                <a:extLst>
                  <a:ext uri="{FF2B5EF4-FFF2-40B4-BE49-F238E27FC236}">
                    <a16:creationId xmlns:a16="http://schemas.microsoft.com/office/drawing/2014/main" id="{30B61454-8575-F166-5B53-203715E93CD9}"/>
                  </a:ext>
                </a:extLst>
              </p:cNvPr>
              <p:cNvSpPr/>
              <p:nvPr userDrawn="1"/>
            </p:nvSpPr>
            <p:spPr>
              <a:xfrm>
                <a:off x="12822998" y="4999574"/>
                <a:ext cx="238539" cy="238539"/>
              </a:xfrm>
              <a:prstGeom prst="roundRect">
                <a:avLst/>
              </a:prstGeom>
              <a:solidFill>
                <a:srgbClr val="1864FF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bIns="0" rtlCol="0" anchor="b"/>
              <a:lstStyle/>
              <a:p>
                <a:pPr algn="ctr"/>
                <a:r>
                  <a:rPr lang="en-US" sz="800" b="0" i="0">
                    <a:latin typeface="Noir Pro" pitchFamily="2" charset="0"/>
                  </a:rPr>
                  <a:t>6</a:t>
                </a:r>
              </a:p>
            </p:txBody>
          </p:sp>
        </p:grp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75A30032-DA97-85EF-C5DD-4AD304FCB16B}"/>
                </a:ext>
              </a:extLst>
            </p:cNvPr>
            <p:cNvSpPr/>
            <p:nvPr userDrawn="1"/>
          </p:nvSpPr>
          <p:spPr>
            <a:xfrm>
              <a:off x="12194479" y="1557707"/>
              <a:ext cx="1644280" cy="360000"/>
            </a:xfrm>
            <a:custGeom>
              <a:avLst/>
              <a:gdLst>
                <a:gd name="connsiteX0" fmla="*/ 0 w 1644280"/>
                <a:gd name="connsiteY0" fmla="*/ 0 h 360000"/>
                <a:gd name="connsiteX1" fmla="*/ 1584279 w 1644280"/>
                <a:gd name="connsiteY1" fmla="*/ 0 h 360000"/>
                <a:gd name="connsiteX2" fmla="*/ 1644280 w 1644280"/>
                <a:gd name="connsiteY2" fmla="*/ 60001 h 360000"/>
                <a:gd name="connsiteX3" fmla="*/ 1644280 w 1644280"/>
                <a:gd name="connsiteY3" fmla="*/ 299999 h 360000"/>
                <a:gd name="connsiteX4" fmla="*/ 1584279 w 1644280"/>
                <a:gd name="connsiteY4" fmla="*/ 360000 h 360000"/>
                <a:gd name="connsiteX5" fmla="*/ 0 w 1644280"/>
                <a:gd name="connsiteY5" fmla="*/ 36000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4280" h="360000">
                  <a:moveTo>
                    <a:pt x="0" y="0"/>
                  </a:moveTo>
                  <a:lnTo>
                    <a:pt x="1584279" y="0"/>
                  </a:lnTo>
                  <a:cubicBezTo>
                    <a:pt x="1617417" y="0"/>
                    <a:pt x="1644280" y="26863"/>
                    <a:pt x="1644280" y="60001"/>
                  </a:cubicBezTo>
                  <a:lnTo>
                    <a:pt x="1644280" y="299999"/>
                  </a:lnTo>
                  <a:cubicBezTo>
                    <a:pt x="1644280" y="333137"/>
                    <a:pt x="1617417" y="360000"/>
                    <a:pt x="1584279" y="360000"/>
                  </a:cubicBezTo>
                  <a:lnTo>
                    <a:pt x="0" y="360000"/>
                  </a:lnTo>
                  <a:close/>
                </a:path>
              </a:pathLst>
            </a:custGeom>
            <a:gradFill>
              <a:gsLst>
                <a:gs pos="15000">
                  <a:schemeClr val="tx1">
                    <a:lumMod val="50000"/>
                    <a:lumOff val="50000"/>
                  </a:schemeClr>
                </a:gs>
                <a:gs pos="0">
                  <a:schemeClr val="tx1">
                    <a:lumMod val="75000"/>
                    <a:lumOff val="2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0" rtlCol="0" anchor="ctr">
              <a:noAutofit/>
            </a:bodyPr>
            <a:lstStyle/>
            <a:p>
              <a:pPr lvl="0"/>
              <a:r>
                <a:rPr lang="en-US" sz="900" b="1" i="0" dirty="0">
                  <a:solidFill>
                    <a:schemeClr val="bg1"/>
                  </a:solidFill>
                  <a:latin typeface="Noir Pro Semi Bold" pitchFamily="2" charset="0"/>
                </a:rPr>
                <a:t>COLOR PALETTE</a:t>
              </a:r>
            </a:p>
            <a:p>
              <a:pPr lvl="0"/>
              <a:r>
                <a:rPr lang="en-US" sz="700" b="0" i="0" dirty="0">
                  <a:solidFill>
                    <a:schemeClr val="bg1"/>
                  </a:solidFill>
                  <a:latin typeface="Calibri Bold"/>
                </a:rPr>
                <a:t>Master template v20250902a</a:t>
              </a:r>
              <a:endParaRPr lang="en-US" sz="1000" b="0" i="0" dirty="0">
                <a:solidFill>
                  <a:schemeClr val="bg1"/>
                </a:solidFill>
                <a:latin typeface="Calibri Bold"/>
              </a:endParaRPr>
            </a:p>
          </p:txBody>
        </p:sp>
        <p:grpSp>
          <p:nvGrpSpPr>
            <p:cNvPr id="36" name="Group 168">
              <a:extLst>
                <a:ext uri="{FF2B5EF4-FFF2-40B4-BE49-F238E27FC236}">
                  <a16:creationId xmlns:a16="http://schemas.microsoft.com/office/drawing/2014/main" id="{6075733B-694E-4ADB-47EF-DAD37DFCB3E6}"/>
                </a:ext>
              </a:extLst>
            </p:cNvPr>
            <p:cNvGrpSpPr/>
            <p:nvPr userDrawn="1"/>
          </p:nvGrpSpPr>
          <p:grpSpPr>
            <a:xfrm>
              <a:off x="12301425" y="2133519"/>
              <a:ext cx="1288114" cy="238539"/>
              <a:chOff x="8158038" y="2122998"/>
              <a:chExt cx="1288114" cy="238539"/>
            </a:xfrm>
          </p:grpSpPr>
          <p:sp>
            <p:nvSpPr>
              <p:cNvPr id="198" name="Rounded Rectangle 169">
                <a:extLst>
                  <a:ext uri="{FF2B5EF4-FFF2-40B4-BE49-F238E27FC236}">
                    <a16:creationId xmlns:a16="http://schemas.microsoft.com/office/drawing/2014/main" id="{036B0188-C38A-4AA3-A501-88A117107627}"/>
                  </a:ext>
                </a:extLst>
              </p:cNvPr>
              <p:cNvSpPr/>
              <p:nvPr userDrawn="1"/>
            </p:nvSpPr>
            <p:spPr>
              <a:xfrm>
                <a:off x="8158038" y="2122998"/>
                <a:ext cx="238539" cy="238539"/>
              </a:xfrm>
              <a:prstGeom prst="roundRect">
                <a:avLst/>
              </a:prstGeom>
              <a:solidFill>
                <a:srgbClr val="41414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9" name="Rounded Rectangle 170">
                <a:extLst>
                  <a:ext uri="{FF2B5EF4-FFF2-40B4-BE49-F238E27FC236}">
                    <a16:creationId xmlns:a16="http://schemas.microsoft.com/office/drawing/2014/main" id="{29B23501-C1C3-45AC-B948-965728636D3A}"/>
                  </a:ext>
                </a:extLst>
              </p:cNvPr>
              <p:cNvSpPr/>
              <p:nvPr userDrawn="1"/>
            </p:nvSpPr>
            <p:spPr>
              <a:xfrm>
                <a:off x="8420432" y="2122998"/>
                <a:ext cx="238539" cy="238539"/>
              </a:xfrm>
              <a:prstGeom prst="roundRect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0" name="Rounded Rectangle 171">
                <a:extLst>
                  <a:ext uri="{FF2B5EF4-FFF2-40B4-BE49-F238E27FC236}">
                    <a16:creationId xmlns:a16="http://schemas.microsoft.com/office/drawing/2014/main" id="{BCE68616-B923-1F9F-989B-083E77D5EE74}"/>
                  </a:ext>
                </a:extLst>
              </p:cNvPr>
              <p:cNvSpPr/>
              <p:nvPr userDrawn="1"/>
            </p:nvSpPr>
            <p:spPr>
              <a:xfrm>
                <a:off x="8682826" y="2122998"/>
                <a:ext cx="238539" cy="238539"/>
              </a:xfrm>
              <a:prstGeom prst="roundRect">
                <a:avLst/>
              </a:prstGeom>
              <a:solidFill>
                <a:srgbClr val="C0C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1" name="Rounded Rectangle 172">
                <a:extLst>
                  <a:ext uri="{FF2B5EF4-FFF2-40B4-BE49-F238E27FC236}">
                    <a16:creationId xmlns:a16="http://schemas.microsoft.com/office/drawing/2014/main" id="{A6282074-B719-7DB3-F40F-EFF54687964E}"/>
                  </a:ext>
                </a:extLst>
              </p:cNvPr>
              <p:cNvSpPr/>
              <p:nvPr userDrawn="1"/>
            </p:nvSpPr>
            <p:spPr>
              <a:xfrm>
                <a:off x="8945220" y="2122998"/>
                <a:ext cx="238539" cy="238539"/>
              </a:xfrm>
              <a:prstGeom prst="round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2" name="Rounded Rectangle 173">
                <a:extLst>
                  <a:ext uri="{FF2B5EF4-FFF2-40B4-BE49-F238E27FC236}">
                    <a16:creationId xmlns:a16="http://schemas.microsoft.com/office/drawing/2014/main" id="{82087B6D-1646-4381-597B-95BAD5F312E5}"/>
                  </a:ext>
                </a:extLst>
              </p:cNvPr>
              <p:cNvSpPr/>
              <p:nvPr userDrawn="1"/>
            </p:nvSpPr>
            <p:spPr>
              <a:xfrm>
                <a:off x="9207613" y="2122998"/>
                <a:ext cx="238539" cy="238539"/>
              </a:xfrm>
              <a:prstGeom prst="round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37" name="Group 174">
              <a:extLst>
                <a:ext uri="{FF2B5EF4-FFF2-40B4-BE49-F238E27FC236}">
                  <a16:creationId xmlns:a16="http://schemas.microsoft.com/office/drawing/2014/main" id="{E0E0AE85-94F3-D4B8-309B-7CF8DA82E049}"/>
                </a:ext>
              </a:extLst>
            </p:cNvPr>
            <p:cNvGrpSpPr/>
            <p:nvPr userDrawn="1"/>
          </p:nvGrpSpPr>
          <p:grpSpPr>
            <a:xfrm>
              <a:off x="12301425" y="2589990"/>
              <a:ext cx="1288114" cy="238539"/>
              <a:chOff x="8158038" y="2385390"/>
              <a:chExt cx="1288114" cy="238539"/>
            </a:xfrm>
          </p:grpSpPr>
          <p:sp>
            <p:nvSpPr>
              <p:cNvPr id="193" name="Rounded Rectangle 175">
                <a:extLst>
                  <a:ext uri="{FF2B5EF4-FFF2-40B4-BE49-F238E27FC236}">
                    <a16:creationId xmlns:a16="http://schemas.microsoft.com/office/drawing/2014/main" id="{AC692AB7-9650-95DE-45A4-45AC1EEF33B3}"/>
                  </a:ext>
                </a:extLst>
              </p:cNvPr>
              <p:cNvSpPr/>
              <p:nvPr userDrawn="1"/>
            </p:nvSpPr>
            <p:spPr>
              <a:xfrm>
                <a:off x="8158038" y="2385390"/>
                <a:ext cx="238539" cy="238539"/>
              </a:xfrm>
              <a:prstGeom prst="roundRect">
                <a:avLst/>
              </a:prstGeom>
              <a:solidFill>
                <a:srgbClr val="186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4" name="Rounded Rectangle 176">
                <a:extLst>
                  <a:ext uri="{FF2B5EF4-FFF2-40B4-BE49-F238E27FC236}">
                    <a16:creationId xmlns:a16="http://schemas.microsoft.com/office/drawing/2014/main" id="{79093604-9E98-AE5D-C7BD-6A4D8C330F50}"/>
                  </a:ext>
                </a:extLst>
              </p:cNvPr>
              <p:cNvSpPr/>
              <p:nvPr userDrawn="1"/>
            </p:nvSpPr>
            <p:spPr>
              <a:xfrm>
                <a:off x="8420432" y="2385390"/>
                <a:ext cx="238539" cy="238539"/>
              </a:xfrm>
              <a:prstGeom prst="roundRect">
                <a:avLst/>
              </a:pr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5" name="Rounded Rectangle 177">
                <a:extLst>
                  <a:ext uri="{FF2B5EF4-FFF2-40B4-BE49-F238E27FC236}">
                    <a16:creationId xmlns:a16="http://schemas.microsoft.com/office/drawing/2014/main" id="{CBFE2210-2034-3457-2CCB-9011AE38EC1E}"/>
                  </a:ext>
                </a:extLst>
              </p:cNvPr>
              <p:cNvSpPr/>
              <p:nvPr userDrawn="1"/>
            </p:nvSpPr>
            <p:spPr>
              <a:xfrm>
                <a:off x="8682826" y="2385390"/>
                <a:ext cx="238539" cy="238539"/>
              </a:xfrm>
              <a:prstGeom prst="roundRect">
                <a:avLst/>
              </a:prstGeom>
              <a:solidFill>
                <a:srgbClr val="DF68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6" name="Rounded Rectangle 178">
                <a:extLst>
                  <a:ext uri="{FF2B5EF4-FFF2-40B4-BE49-F238E27FC236}">
                    <a16:creationId xmlns:a16="http://schemas.microsoft.com/office/drawing/2014/main" id="{6B3E5BC2-7DE5-C849-120F-41E1D4E164A8}"/>
                  </a:ext>
                </a:extLst>
              </p:cNvPr>
              <p:cNvSpPr/>
              <p:nvPr userDrawn="1"/>
            </p:nvSpPr>
            <p:spPr>
              <a:xfrm>
                <a:off x="8945220" y="2385390"/>
                <a:ext cx="238539" cy="238539"/>
              </a:xfrm>
              <a:prstGeom prst="roundRect">
                <a:avLst/>
              </a:prstGeom>
              <a:solidFill>
                <a:srgbClr val="E2A3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7" name="Rounded Rectangle 179">
                <a:extLst>
                  <a:ext uri="{FF2B5EF4-FFF2-40B4-BE49-F238E27FC236}">
                    <a16:creationId xmlns:a16="http://schemas.microsoft.com/office/drawing/2014/main" id="{08002A18-EDE4-0B6C-B2CB-36B12AF681F5}"/>
                  </a:ext>
                </a:extLst>
              </p:cNvPr>
              <p:cNvSpPr/>
              <p:nvPr userDrawn="1"/>
            </p:nvSpPr>
            <p:spPr>
              <a:xfrm>
                <a:off x="9207613" y="2385390"/>
                <a:ext cx="238539" cy="238539"/>
              </a:xfrm>
              <a:prstGeom prst="roundRect">
                <a:avLst/>
              </a:prstGeom>
              <a:solidFill>
                <a:srgbClr val="8BC26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sp>
          <p:nvSpPr>
            <p:cNvPr id="38" name="Rounded Rectangle 181">
              <a:extLst>
                <a:ext uri="{FF2B5EF4-FFF2-40B4-BE49-F238E27FC236}">
                  <a16:creationId xmlns:a16="http://schemas.microsoft.com/office/drawing/2014/main" id="{0A605A1A-0F44-2C3C-5DE2-3F97F6C99194}"/>
                </a:ext>
              </a:extLst>
            </p:cNvPr>
            <p:cNvSpPr/>
            <p:nvPr userDrawn="1"/>
          </p:nvSpPr>
          <p:spPr>
            <a:xfrm>
              <a:off x="12301425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E88C36"/>
                </a:gs>
                <a:gs pos="0">
                  <a:srgbClr val="F9C716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39" name="Rounded Rectangle 182">
              <a:extLst>
                <a:ext uri="{FF2B5EF4-FFF2-40B4-BE49-F238E27FC236}">
                  <a16:creationId xmlns:a16="http://schemas.microsoft.com/office/drawing/2014/main" id="{6AB693B8-DF04-6F44-B853-D2B72B164D30}"/>
                </a:ext>
              </a:extLst>
            </p:cNvPr>
            <p:cNvSpPr/>
            <p:nvPr userDrawn="1"/>
          </p:nvSpPr>
          <p:spPr>
            <a:xfrm>
              <a:off x="12563819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1864FF"/>
                </a:gs>
                <a:gs pos="0">
                  <a:srgbClr val="00205F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0" name="Rounded Rectangle 183">
              <a:extLst>
                <a:ext uri="{FF2B5EF4-FFF2-40B4-BE49-F238E27FC236}">
                  <a16:creationId xmlns:a16="http://schemas.microsoft.com/office/drawing/2014/main" id="{9974CB12-0B3D-D0CC-A465-BE0E7CF7E28B}"/>
                </a:ext>
              </a:extLst>
            </p:cNvPr>
            <p:cNvSpPr/>
            <p:nvPr userDrawn="1"/>
          </p:nvSpPr>
          <p:spPr>
            <a:xfrm>
              <a:off x="12826213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DF6838"/>
                </a:gs>
                <a:gs pos="0">
                  <a:srgbClr val="F9C716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1" name="Rounded Rectangle 184">
              <a:extLst>
                <a:ext uri="{FF2B5EF4-FFF2-40B4-BE49-F238E27FC236}">
                  <a16:creationId xmlns:a16="http://schemas.microsoft.com/office/drawing/2014/main" id="{5E0E721B-2F4B-5CEA-47CC-BF07256AC84B}"/>
                </a:ext>
              </a:extLst>
            </p:cNvPr>
            <p:cNvSpPr/>
            <p:nvPr userDrawn="1"/>
          </p:nvSpPr>
          <p:spPr>
            <a:xfrm>
              <a:off x="13088607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FBDD72"/>
                </a:gs>
                <a:gs pos="0">
                  <a:srgbClr val="C6CD59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2" name="Rounded Rectangle 185">
              <a:extLst>
                <a:ext uri="{FF2B5EF4-FFF2-40B4-BE49-F238E27FC236}">
                  <a16:creationId xmlns:a16="http://schemas.microsoft.com/office/drawing/2014/main" id="{4429CC0F-ACB9-993B-34A8-03B1CA880403}"/>
                </a:ext>
              </a:extLst>
            </p:cNvPr>
            <p:cNvSpPr/>
            <p:nvPr userDrawn="1"/>
          </p:nvSpPr>
          <p:spPr>
            <a:xfrm>
              <a:off x="13351000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00B150"/>
                </a:gs>
                <a:gs pos="0">
                  <a:srgbClr val="92D150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grpSp>
          <p:nvGrpSpPr>
            <p:cNvPr id="43" name="Group 191">
              <a:extLst>
                <a:ext uri="{FF2B5EF4-FFF2-40B4-BE49-F238E27FC236}">
                  <a16:creationId xmlns:a16="http://schemas.microsoft.com/office/drawing/2014/main" id="{61EA541D-279D-8CC0-646D-ACF2BB264F30}"/>
                </a:ext>
              </a:extLst>
            </p:cNvPr>
            <p:cNvGrpSpPr/>
            <p:nvPr userDrawn="1"/>
          </p:nvGrpSpPr>
          <p:grpSpPr>
            <a:xfrm>
              <a:off x="12301425" y="5413093"/>
              <a:ext cx="1288114" cy="238539"/>
              <a:chOff x="8158038" y="4031086"/>
              <a:chExt cx="1288114" cy="238539"/>
            </a:xfrm>
          </p:grpSpPr>
          <p:sp>
            <p:nvSpPr>
              <p:cNvPr id="188" name="Rounded Rectangle 192">
                <a:extLst>
                  <a:ext uri="{FF2B5EF4-FFF2-40B4-BE49-F238E27FC236}">
                    <a16:creationId xmlns:a16="http://schemas.microsoft.com/office/drawing/2014/main" id="{C8120719-4B42-211E-750D-2868797FCAA8}"/>
                  </a:ext>
                </a:extLst>
              </p:cNvPr>
              <p:cNvSpPr/>
              <p:nvPr userDrawn="1"/>
            </p:nvSpPr>
            <p:spPr>
              <a:xfrm>
                <a:off x="8158038" y="4031086"/>
                <a:ext cx="238539" cy="238539"/>
              </a:xfrm>
              <a:prstGeom prst="roundRect">
                <a:avLst/>
              </a:prstGeom>
              <a:solidFill>
                <a:srgbClr val="DC4A3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89" name="Rounded Rectangle 193">
                <a:extLst>
                  <a:ext uri="{FF2B5EF4-FFF2-40B4-BE49-F238E27FC236}">
                    <a16:creationId xmlns:a16="http://schemas.microsoft.com/office/drawing/2014/main" id="{E6DA9266-1CE3-DBEB-F12B-2E5F01C250CE}"/>
                  </a:ext>
                </a:extLst>
              </p:cNvPr>
              <p:cNvSpPr/>
              <p:nvPr userDrawn="1"/>
            </p:nvSpPr>
            <p:spPr>
              <a:xfrm>
                <a:off x="8420432" y="4031086"/>
                <a:ext cx="238539" cy="238539"/>
              </a:xfrm>
              <a:prstGeom prst="roundRect">
                <a:avLst/>
              </a:prstGeom>
              <a:solidFill>
                <a:srgbClr val="EF981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0" name="Rounded Rectangle 194">
                <a:extLst>
                  <a:ext uri="{FF2B5EF4-FFF2-40B4-BE49-F238E27FC236}">
                    <a16:creationId xmlns:a16="http://schemas.microsoft.com/office/drawing/2014/main" id="{E8ACC418-88AC-22EE-E9AA-B514AC46EE89}"/>
                  </a:ext>
                </a:extLst>
              </p:cNvPr>
              <p:cNvSpPr/>
              <p:nvPr userDrawn="1"/>
            </p:nvSpPr>
            <p:spPr>
              <a:xfrm>
                <a:off x="8682826" y="4031086"/>
                <a:ext cx="238539" cy="238539"/>
              </a:xfrm>
              <a:prstGeom prst="roundRect">
                <a:avLst/>
              </a:prstGeom>
              <a:solidFill>
                <a:srgbClr val="F9C6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1" name="Rounded Rectangle 195">
                <a:extLst>
                  <a:ext uri="{FF2B5EF4-FFF2-40B4-BE49-F238E27FC236}">
                    <a16:creationId xmlns:a16="http://schemas.microsoft.com/office/drawing/2014/main" id="{6D246CA1-3294-78C8-11DD-54EE9695C7D9}"/>
                  </a:ext>
                </a:extLst>
              </p:cNvPr>
              <p:cNvSpPr/>
              <p:nvPr userDrawn="1"/>
            </p:nvSpPr>
            <p:spPr>
              <a:xfrm>
                <a:off x="8945220" y="4031086"/>
                <a:ext cx="238539" cy="238539"/>
              </a:xfrm>
              <a:prstGeom prst="roundRect">
                <a:avLst/>
              </a:prstGeom>
              <a:solidFill>
                <a:srgbClr val="57C9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2" name="Rounded Rectangle 196">
                <a:extLst>
                  <a:ext uri="{FF2B5EF4-FFF2-40B4-BE49-F238E27FC236}">
                    <a16:creationId xmlns:a16="http://schemas.microsoft.com/office/drawing/2014/main" id="{E433F45C-755C-90B8-4C78-87E3AEFE2D2A}"/>
                  </a:ext>
                </a:extLst>
              </p:cNvPr>
              <p:cNvSpPr/>
              <p:nvPr userDrawn="1"/>
            </p:nvSpPr>
            <p:spPr>
              <a:xfrm>
                <a:off x="9207613" y="4031086"/>
                <a:ext cx="238539" cy="238539"/>
              </a:xfrm>
              <a:prstGeom prst="roundRect">
                <a:avLst/>
              </a:prstGeom>
              <a:solidFill>
                <a:srgbClr val="2B963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45" name="Group 197">
              <a:extLst>
                <a:ext uri="{FF2B5EF4-FFF2-40B4-BE49-F238E27FC236}">
                  <a16:creationId xmlns:a16="http://schemas.microsoft.com/office/drawing/2014/main" id="{B457501E-E91F-0C01-36D0-DF2C479CD7F6}"/>
                </a:ext>
              </a:extLst>
            </p:cNvPr>
            <p:cNvGrpSpPr/>
            <p:nvPr userDrawn="1"/>
          </p:nvGrpSpPr>
          <p:grpSpPr>
            <a:xfrm>
              <a:off x="12301425" y="4231124"/>
              <a:ext cx="1288114" cy="238539"/>
              <a:chOff x="8158038" y="3021495"/>
              <a:chExt cx="1288114" cy="238539"/>
            </a:xfrm>
          </p:grpSpPr>
          <p:sp>
            <p:nvSpPr>
              <p:cNvPr id="178" name="Rounded Rectangle 198">
                <a:extLst>
                  <a:ext uri="{FF2B5EF4-FFF2-40B4-BE49-F238E27FC236}">
                    <a16:creationId xmlns:a16="http://schemas.microsoft.com/office/drawing/2014/main" id="{3D8DF291-751C-2723-5B19-846B093985F1}"/>
                  </a:ext>
                </a:extLst>
              </p:cNvPr>
              <p:cNvSpPr/>
              <p:nvPr userDrawn="1"/>
            </p:nvSpPr>
            <p:spPr>
              <a:xfrm>
                <a:off x="8158038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FFFFFF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79" name="Rounded Rectangle 199">
                <a:extLst>
                  <a:ext uri="{FF2B5EF4-FFF2-40B4-BE49-F238E27FC236}">
                    <a16:creationId xmlns:a16="http://schemas.microsoft.com/office/drawing/2014/main" id="{F9A70E4A-677D-A207-67D1-C31F9AB8878D}"/>
                  </a:ext>
                </a:extLst>
              </p:cNvPr>
              <p:cNvSpPr/>
              <p:nvPr userDrawn="1"/>
            </p:nvSpPr>
            <p:spPr>
              <a:xfrm>
                <a:off x="8420432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DADADA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0" name="Rounded Rectangle 200">
                <a:extLst>
                  <a:ext uri="{FF2B5EF4-FFF2-40B4-BE49-F238E27FC236}">
                    <a16:creationId xmlns:a16="http://schemas.microsoft.com/office/drawing/2014/main" id="{2639B44B-BC7E-A2D4-2D29-516670B612F2}"/>
                  </a:ext>
                </a:extLst>
              </p:cNvPr>
              <p:cNvSpPr/>
              <p:nvPr userDrawn="1"/>
            </p:nvSpPr>
            <p:spPr>
              <a:xfrm>
                <a:off x="8682826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 dirty="0">
                    <a:solidFill>
                      <a:srgbClr val="F8C716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1" name="Rounded Rectangle 201">
                <a:extLst>
                  <a:ext uri="{FF2B5EF4-FFF2-40B4-BE49-F238E27FC236}">
                    <a16:creationId xmlns:a16="http://schemas.microsoft.com/office/drawing/2014/main" id="{75122786-9C32-FA9D-AE3A-F854A6F4BFE6}"/>
                  </a:ext>
                </a:extLst>
              </p:cNvPr>
              <p:cNvSpPr/>
              <p:nvPr userDrawn="1"/>
            </p:nvSpPr>
            <p:spPr>
              <a:xfrm>
                <a:off x="8945220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 dirty="0">
                    <a:solidFill>
                      <a:srgbClr val="E2A3F2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2" name="Rounded Rectangle 202">
                <a:extLst>
                  <a:ext uri="{FF2B5EF4-FFF2-40B4-BE49-F238E27FC236}">
                    <a16:creationId xmlns:a16="http://schemas.microsoft.com/office/drawing/2014/main" id="{4A7B7D7B-0A58-948A-807A-01BC60071F11}"/>
                  </a:ext>
                </a:extLst>
              </p:cNvPr>
              <p:cNvSpPr/>
              <p:nvPr userDrawn="1"/>
            </p:nvSpPr>
            <p:spPr>
              <a:xfrm>
                <a:off x="9207613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8BC26D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3" name="Rounded Rectangle 203">
                <a:extLst>
                  <a:ext uri="{FF2B5EF4-FFF2-40B4-BE49-F238E27FC236}">
                    <a16:creationId xmlns:a16="http://schemas.microsoft.com/office/drawing/2014/main" id="{5CC4700A-5BC2-0296-15C9-7BCCCFF40FB6}"/>
                  </a:ext>
                </a:extLst>
              </p:cNvPr>
              <p:cNvSpPr/>
              <p:nvPr userDrawn="1"/>
            </p:nvSpPr>
            <p:spPr>
              <a:xfrm>
                <a:off x="8182056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Rounded Rectangle 204">
                <a:extLst>
                  <a:ext uri="{FF2B5EF4-FFF2-40B4-BE49-F238E27FC236}">
                    <a16:creationId xmlns:a16="http://schemas.microsoft.com/office/drawing/2014/main" id="{F5A72D55-0AEB-4B09-A9B5-0149E7B59F5D}"/>
                  </a:ext>
                </a:extLst>
              </p:cNvPr>
              <p:cNvSpPr/>
              <p:nvPr userDrawn="1"/>
            </p:nvSpPr>
            <p:spPr>
              <a:xfrm>
                <a:off x="8444450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DBDBD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Rounded Rectangle 205">
                <a:extLst>
                  <a:ext uri="{FF2B5EF4-FFF2-40B4-BE49-F238E27FC236}">
                    <a16:creationId xmlns:a16="http://schemas.microsoft.com/office/drawing/2014/main" id="{565366B5-E56E-81F3-C8C8-AEEF70297232}"/>
                  </a:ext>
                </a:extLst>
              </p:cNvPr>
              <p:cNvSpPr/>
              <p:nvPr userDrawn="1"/>
            </p:nvSpPr>
            <p:spPr>
              <a:xfrm>
                <a:off x="8706844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Rounded Rectangle 206">
                <a:extLst>
                  <a:ext uri="{FF2B5EF4-FFF2-40B4-BE49-F238E27FC236}">
                    <a16:creationId xmlns:a16="http://schemas.microsoft.com/office/drawing/2014/main" id="{58EF4AB1-15D5-3B6B-AAAB-673933E17880}"/>
                  </a:ext>
                </a:extLst>
              </p:cNvPr>
              <p:cNvSpPr/>
              <p:nvPr userDrawn="1"/>
            </p:nvSpPr>
            <p:spPr>
              <a:xfrm>
                <a:off x="8969238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E2A3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Rounded Rectangle 207">
                <a:extLst>
                  <a:ext uri="{FF2B5EF4-FFF2-40B4-BE49-F238E27FC236}">
                    <a16:creationId xmlns:a16="http://schemas.microsoft.com/office/drawing/2014/main" id="{F8CFDDFC-0F47-B231-5FB0-727F0D81DF38}"/>
                  </a:ext>
                </a:extLst>
              </p:cNvPr>
              <p:cNvSpPr/>
              <p:nvPr userDrawn="1"/>
            </p:nvSpPr>
            <p:spPr>
              <a:xfrm>
                <a:off x="9231631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8BC26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Rounded Rectangle 209">
              <a:extLst>
                <a:ext uri="{FF2B5EF4-FFF2-40B4-BE49-F238E27FC236}">
                  <a16:creationId xmlns:a16="http://schemas.microsoft.com/office/drawing/2014/main" id="{D0671745-9691-ACD2-8DFC-F206A61EB352}"/>
                </a:ext>
              </a:extLst>
            </p:cNvPr>
            <p:cNvSpPr/>
            <p:nvPr userDrawn="1"/>
          </p:nvSpPr>
          <p:spPr>
            <a:xfrm>
              <a:off x="12301425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01010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47" name="Rounded Rectangle 210">
              <a:extLst>
                <a:ext uri="{FF2B5EF4-FFF2-40B4-BE49-F238E27FC236}">
                  <a16:creationId xmlns:a16="http://schemas.microsoft.com/office/drawing/2014/main" id="{60D59DF8-30D0-FF50-FB2E-9C66E1234B9F}"/>
                </a:ext>
              </a:extLst>
            </p:cNvPr>
            <p:cNvSpPr/>
            <p:nvPr userDrawn="1"/>
          </p:nvSpPr>
          <p:spPr>
            <a:xfrm>
              <a:off x="12563819" y="3775695"/>
              <a:ext cx="238539" cy="238539"/>
            </a:xfrm>
            <a:prstGeom prst="roundRect">
              <a:avLst/>
            </a:prstGeom>
            <a:solidFill>
              <a:srgbClr val="F8C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 dirty="0">
                  <a:solidFill>
                    <a:srgbClr val="01010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4" name="Rounded Rectangle 211">
              <a:extLst>
                <a:ext uri="{FF2B5EF4-FFF2-40B4-BE49-F238E27FC236}">
                  <a16:creationId xmlns:a16="http://schemas.microsoft.com/office/drawing/2014/main" id="{2F36D0C6-C39A-9B5F-8EB9-27463903D769}"/>
                </a:ext>
              </a:extLst>
            </p:cNvPr>
            <p:cNvSpPr/>
            <p:nvPr userDrawn="1"/>
          </p:nvSpPr>
          <p:spPr>
            <a:xfrm>
              <a:off x="12826213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 dirty="0">
                  <a:solidFill>
                    <a:srgbClr val="81818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5" name="Rounded Rectangle 212">
              <a:extLst>
                <a:ext uri="{FF2B5EF4-FFF2-40B4-BE49-F238E27FC236}">
                  <a16:creationId xmlns:a16="http://schemas.microsoft.com/office/drawing/2014/main" id="{0ADBA08E-81A8-97B6-DE53-FA396190B430}"/>
                </a:ext>
              </a:extLst>
            </p:cNvPr>
            <p:cNvSpPr/>
            <p:nvPr userDrawn="1"/>
          </p:nvSpPr>
          <p:spPr>
            <a:xfrm>
              <a:off x="13088607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1864FF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6" name="Rounded Rectangle 213">
              <a:extLst>
                <a:ext uri="{FF2B5EF4-FFF2-40B4-BE49-F238E27FC236}">
                  <a16:creationId xmlns:a16="http://schemas.microsoft.com/office/drawing/2014/main" id="{AB2BFFF9-6049-26DE-5969-5F83C0ECC2B4}"/>
                </a:ext>
              </a:extLst>
            </p:cNvPr>
            <p:cNvSpPr/>
            <p:nvPr userDrawn="1"/>
          </p:nvSpPr>
          <p:spPr>
            <a:xfrm>
              <a:off x="13351000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DF6838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7" name="Rounded Rectangle 214">
              <a:extLst>
                <a:ext uri="{FF2B5EF4-FFF2-40B4-BE49-F238E27FC236}">
                  <a16:creationId xmlns:a16="http://schemas.microsoft.com/office/drawing/2014/main" id="{DAE8DA0F-943B-B2BA-8A03-61406E8171A9}"/>
                </a:ext>
              </a:extLst>
            </p:cNvPr>
            <p:cNvSpPr/>
            <p:nvPr userDrawn="1"/>
          </p:nvSpPr>
          <p:spPr>
            <a:xfrm>
              <a:off x="12325443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ounded Rectangle 215">
              <a:extLst>
                <a:ext uri="{FF2B5EF4-FFF2-40B4-BE49-F238E27FC236}">
                  <a16:creationId xmlns:a16="http://schemas.microsoft.com/office/drawing/2014/main" id="{7DC515E9-8E21-049E-9C1A-9C1E666F4F4D}"/>
                </a:ext>
              </a:extLst>
            </p:cNvPr>
            <p:cNvSpPr/>
            <p:nvPr userDrawn="1"/>
          </p:nvSpPr>
          <p:spPr>
            <a:xfrm>
              <a:off x="12587837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01010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ounded Rectangle 216">
              <a:extLst>
                <a:ext uri="{FF2B5EF4-FFF2-40B4-BE49-F238E27FC236}">
                  <a16:creationId xmlns:a16="http://schemas.microsoft.com/office/drawing/2014/main" id="{4F13DD30-AC8C-5BAF-7D9E-17F37BF14CB1}"/>
                </a:ext>
              </a:extLst>
            </p:cNvPr>
            <p:cNvSpPr/>
            <p:nvPr userDrawn="1"/>
          </p:nvSpPr>
          <p:spPr>
            <a:xfrm>
              <a:off x="12850231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81818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ounded Rectangle 217">
              <a:extLst>
                <a:ext uri="{FF2B5EF4-FFF2-40B4-BE49-F238E27FC236}">
                  <a16:creationId xmlns:a16="http://schemas.microsoft.com/office/drawing/2014/main" id="{E2AEF98F-B06C-F55B-CA49-DD758CEA97A3}"/>
                </a:ext>
              </a:extLst>
            </p:cNvPr>
            <p:cNvSpPr/>
            <p:nvPr userDrawn="1"/>
          </p:nvSpPr>
          <p:spPr>
            <a:xfrm>
              <a:off x="13112625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1864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ounded Rectangle 218">
              <a:extLst>
                <a:ext uri="{FF2B5EF4-FFF2-40B4-BE49-F238E27FC236}">
                  <a16:creationId xmlns:a16="http://schemas.microsoft.com/office/drawing/2014/main" id="{7D56B7A7-845C-60E2-31FD-20ABDD7B2125}"/>
                </a:ext>
              </a:extLst>
            </p:cNvPr>
            <p:cNvSpPr/>
            <p:nvPr userDrawn="1"/>
          </p:nvSpPr>
          <p:spPr>
            <a:xfrm>
              <a:off x="13375018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DF68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TextBox 219">
              <a:extLst>
                <a:ext uri="{FF2B5EF4-FFF2-40B4-BE49-F238E27FC236}">
                  <a16:creationId xmlns:a16="http://schemas.microsoft.com/office/drawing/2014/main" id="{4A15EBF2-1689-F73E-531A-974E9DD60DCB}"/>
                </a:ext>
              </a:extLst>
            </p:cNvPr>
            <p:cNvSpPr txBox="1"/>
            <p:nvPr userDrawn="1"/>
          </p:nvSpPr>
          <p:spPr>
            <a:xfrm>
              <a:off x="12207792" y="1974299"/>
              <a:ext cx="72006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GREY TONES</a:t>
              </a:r>
            </a:p>
          </p:txBody>
        </p:sp>
        <p:sp>
          <p:nvSpPr>
            <p:cNvPr id="73" name="TextBox 220">
              <a:extLst>
                <a:ext uri="{FF2B5EF4-FFF2-40B4-BE49-F238E27FC236}">
                  <a16:creationId xmlns:a16="http://schemas.microsoft.com/office/drawing/2014/main" id="{83FD25DF-A8C4-97E8-16EE-50D23B1DB381}"/>
                </a:ext>
              </a:extLst>
            </p:cNvPr>
            <p:cNvSpPr txBox="1"/>
            <p:nvPr userDrawn="1"/>
          </p:nvSpPr>
          <p:spPr>
            <a:xfrm>
              <a:off x="12207792" y="2430257"/>
              <a:ext cx="125386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BRAND IDENTITY COLORS</a:t>
              </a:r>
            </a:p>
          </p:txBody>
        </p:sp>
        <p:sp>
          <p:nvSpPr>
            <p:cNvPr id="74" name="TextBox 222">
              <a:extLst>
                <a:ext uri="{FF2B5EF4-FFF2-40B4-BE49-F238E27FC236}">
                  <a16:creationId xmlns:a16="http://schemas.microsoft.com/office/drawing/2014/main" id="{4F150177-1E56-683E-55ED-3CCF98AA4117}"/>
                </a:ext>
              </a:extLst>
            </p:cNvPr>
            <p:cNvSpPr txBox="1"/>
            <p:nvPr userDrawn="1"/>
          </p:nvSpPr>
          <p:spPr>
            <a:xfrm>
              <a:off x="12207792" y="4531335"/>
              <a:ext cx="6655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GRADIENTS</a:t>
              </a:r>
            </a:p>
          </p:txBody>
        </p:sp>
        <p:sp>
          <p:nvSpPr>
            <p:cNvPr id="75" name="TextBox 223">
              <a:extLst>
                <a:ext uri="{FF2B5EF4-FFF2-40B4-BE49-F238E27FC236}">
                  <a16:creationId xmlns:a16="http://schemas.microsoft.com/office/drawing/2014/main" id="{762DD877-F163-49C0-9F2B-CE9A7CBD3D92}"/>
                </a:ext>
              </a:extLst>
            </p:cNvPr>
            <p:cNvSpPr txBox="1"/>
            <p:nvPr userDrawn="1"/>
          </p:nvSpPr>
          <p:spPr>
            <a:xfrm>
              <a:off x="12207792" y="5252309"/>
              <a:ext cx="116891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TRAFFIC LIGHT COLORS</a:t>
              </a:r>
            </a:p>
          </p:txBody>
        </p:sp>
        <p:pic>
          <p:nvPicPr>
            <p:cNvPr id="76" name="Picture 2" descr="color picker&quot; Icon - Download for free – Iconduck">
              <a:extLst>
                <a:ext uri="{FF2B5EF4-FFF2-40B4-BE49-F238E27FC236}">
                  <a16:creationId xmlns:a16="http://schemas.microsoft.com/office/drawing/2014/main" id="{DF8BA090-A25D-2EE1-1A71-E7DB99333FF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43048" y="1646506"/>
              <a:ext cx="178747" cy="178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879CA836-68ED-E044-092E-BF8651058649}"/>
                </a:ext>
              </a:extLst>
            </p:cNvPr>
            <p:cNvGrpSpPr/>
            <p:nvPr userDrawn="1"/>
          </p:nvGrpSpPr>
          <p:grpSpPr>
            <a:xfrm>
              <a:off x="12301425" y="3311063"/>
              <a:ext cx="1288114" cy="238539"/>
              <a:chOff x="12298208" y="5356993"/>
              <a:chExt cx="1288114" cy="238539"/>
            </a:xfrm>
          </p:grpSpPr>
          <p:sp>
            <p:nvSpPr>
              <p:cNvPr id="157" name="Rounded Rectangle 192">
                <a:extLst>
                  <a:ext uri="{FF2B5EF4-FFF2-40B4-BE49-F238E27FC236}">
                    <a16:creationId xmlns:a16="http://schemas.microsoft.com/office/drawing/2014/main" id="{F993CC58-58CA-2456-419A-28263CD7BB8F}"/>
                  </a:ext>
                </a:extLst>
              </p:cNvPr>
              <p:cNvSpPr/>
              <p:nvPr userDrawn="1"/>
            </p:nvSpPr>
            <p:spPr>
              <a:xfrm>
                <a:off x="12298208" y="5356993"/>
                <a:ext cx="238539" cy="238539"/>
              </a:xfrm>
              <a:prstGeom prst="roundRect">
                <a:avLst/>
              </a:prstGeom>
              <a:solidFill>
                <a:srgbClr val="14163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1</a:t>
                </a:r>
              </a:p>
            </p:txBody>
          </p:sp>
          <p:sp>
            <p:nvSpPr>
              <p:cNvPr id="158" name="Rounded Rectangle 192">
                <a:extLst>
                  <a:ext uri="{FF2B5EF4-FFF2-40B4-BE49-F238E27FC236}">
                    <a16:creationId xmlns:a16="http://schemas.microsoft.com/office/drawing/2014/main" id="{A67E78A3-0778-9F29-B935-C89976310177}"/>
                  </a:ext>
                </a:extLst>
              </p:cNvPr>
              <p:cNvSpPr/>
              <p:nvPr userDrawn="1"/>
            </p:nvSpPr>
            <p:spPr>
              <a:xfrm>
                <a:off x="12403166" y="5356993"/>
                <a:ext cx="238539" cy="238539"/>
              </a:xfrm>
              <a:prstGeom prst="roundRect">
                <a:avLst/>
              </a:prstGeom>
              <a:solidFill>
                <a:srgbClr val="37302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2</a:t>
                </a:r>
              </a:p>
            </p:txBody>
          </p:sp>
          <p:sp>
            <p:nvSpPr>
              <p:cNvPr id="159" name="Rounded Rectangle 192">
                <a:extLst>
                  <a:ext uri="{FF2B5EF4-FFF2-40B4-BE49-F238E27FC236}">
                    <a16:creationId xmlns:a16="http://schemas.microsoft.com/office/drawing/2014/main" id="{7653AA1D-C39A-A623-4D3B-538509434DB1}"/>
                  </a:ext>
                </a:extLst>
              </p:cNvPr>
              <p:cNvSpPr/>
              <p:nvPr userDrawn="1"/>
            </p:nvSpPr>
            <p:spPr>
              <a:xfrm>
                <a:off x="12508124" y="5356993"/>
                <a:ext cx="238539" cy="238539"/>
              </a:xfrm>
              <a:prstGeom prst="roundRect">
                <a:avLst/>
              </a:prstGeom>
              <a:solidFill>
                <a:srgbClr val="61522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3</a:t>
                </a:r>
              </a:p>
            </p:txBody>
          </p:sp>
          <p:sp>
            <p:nvSpPr>
              <p:cNvPr id="160" name="Rounded Rectangle 192">
                <a:extLst>
                  <a:ext uri="{FF2B5EF4-FFF2-40B4-BE49-F238E27FC236}">
                    <a16:creationId xmlns:a16="http://schemas.microsoft.com/office/drawing/2014/main" id="{55D8BDCD-C25B-7886-9130-72592531F970}"/>
                  </a:ext>
                </a:extLst>
              </p:cNvPr>
              <p:cNvSpPr/>
              <p:nvPr userDrawn="1"/>
            </p:nvSpPr>
            <p:spPr>
              <a:xfrm>
                <a:off x="12613082" y="5356993"/>
                <a:ext cx="238539" cy="238539"/>
              </a:xfrm>
              <a:prstGeom prst="roundRect">
                <a:avLst/>
              </a:prstGeom>
              <a:solidFill>
                <a:srgbClr val="967B2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4</a:t>
                </a:r>
              </a:p>
            </p:txBody>
          </p:sp>
          <p:sp>
            <p:nvSpPr>
              <p:cNvPr id="161" name="Rounded Rectangle 192">
                <a:extLst>
                  <a:ext uri="{FF2B5EF4-FFF2-40B4-BE49-F238E27FC236}">
                    <a16:creationId xmlns:a16="http://schemas.microsoft.com/office/drawing/2014/main" id="{B8FDA659-633D-A288-BEDE-927F2ADAA3AB}"/>
                  </a:ext>
                </a:extLst>
              </p:cNvPr>
              <p:cNvSpPr/>
              <p:nvPr userDrawn="1"/>
            </p:nvSpPr>
            <p:spPr>
              <a:xfrm>
                <a:off x="12718040" y="5356993"/>
                <a:ext cx="238539" cy="238539"/>
              </a:xfrm>
              <a:prstGeom prst="roundRect">
                <a:avLst/>
              </a:prstGeom>
              <a:solidFill>
                <a:srgbClr val="D7AE1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5</a:t>
                </a:r>
              </a:p>
            </p:txBody>
          </p:sp>
          <p:sp>
            <p:nvSpPr>
              <p:cNvPr id="164" name="Rounded Rectangle 192">
                <a:extLst>
                  <a:ext uri="{FF2B5EF4-FFF2-40B4-BE49-F238E27FC236}">
                    <a16:creationId xmlns:a16="http://schemas.microsoft.com/office/drawing/2014/main" id="{F5F9A153-09FD-30C6-88AF-87F80EC600BA}"/>
                  </a:ext>
                </a:extLst>
              </p:cNvPr>
              <p:cNvSpPr/>
              <p:nvPr userDrawn="1"/>
            </p:nvSpPr>
            <p:spPr>
              <a:xfrm>
                <a:off x="13347783" y="5356993"/>
                <a:ext cx="238539" cy="238539"/>
              </a:xfrm>
              <a:prstGeom prst="roundRect">
                <a:avLst/>
              </a:prstGeom>
              <a:solidFill>
                <a:srgbClr val="F8EBC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11</a:t>
                </a:r>
              </a:p>
            </p:txBody>
          </p:sp>
          <p:sp>
            <p:nvSpPr>
              <p:cNvPr id="171" name="Rounded Rectangle 192">
                <a:extLst>
                  <a:ext uri="{FF2B5EF4-FFF2-40B4-BE49-F238E27FC236}">
                    <a16:creationId xmlns:a16="http://schemas.microsoft.com/office/drawing/2014/main" id="{B7873913-C7E2-2303-9072-56FA55830009}"/>
                  </a:ext>
                </a:extLst>
              </p:cNvPr>
              <p:cNvSpPr/>
              <p:nvPr userDrawn="1"/>
            </p:nvSpPr>
            <p:spPr>
              <a:xfrm>
                <a:off x="13242830" y="5356993"/>
                <a:ext cx="238539" cy="238539"/>
              </a:xfrm>
              <a:prstGeom prst="roundRect">
                <a:avLst/>
              </a:prstGeom>
              <a:solidFill>
                <a:srgbClr val="F8E39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10</a:t>
                </a:r>
              </a:p>
            </p:txBody>
          </p:sp>
          <p:sp>
            <p:nvSpPr>
              <p:cNvPr id="174" name="Rounded Rectangle 192">
                <a:extLst>
                  <a:ext uri="{FF2B5EF4-FFF2-40B4-BE49-F238E27FC236}">
                    <a16:creationId xmlns:a16="http://schemas.microsoft.com/office/drawing/2014/main" id="{F21ACD13-F33D-2338-B166-B265A58E000A}"/>
                  </a:ext>
                </a:extLst>
              </p:cNvPr>
              <p:cNvSpPr/>
              <p:nvPr userDrawn="1"/>
            </p:nvSpPr>
            <p:spPr>
              <a:xfrm>
                <a:off x="13137872" y="5356993"/>
                <a:ext cx="238539" cy="238539"/>
              </a:xfrm>
              <a:prstGeom prst="roundRect">
                <a:avLst/>
              </a:prstGeom>
              <a:solidFill>
                <a:srgbClr val="F8DB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9</a:t>
                </a:r>
              </a:p>
            </p:txBody>
          </p:sp>
          <p:sp>
            <p:nvSpPr>
              <p:cNvPr id="175" name="Rounded Rectangle 192">
                <a:extLst>
                  <a:ext uri="{FF2B5EF4-FFF2-40B4-BE49-F238E27FC236}">
                    <a16:creationId xmlns:a16="http://schemas.microsoft.com/office/drawing/2014/main" id="{ED37EB85-248C-AAF4-5A6A-FB10B7F64600}"/>
                  </a:ext>
                </a:extLst>
              </p:cNvPr>
              <p:cNvSpPr/>
              <p:nvPr userDrawn="1"/>
            </p:nvSpPr>
            <p:spPr>
              <a:xfrm>
                <a:off x="13032914" y="5356993"/>
                <a:ext cx="238539" cy="238539"/>
              </a:xfrm>
              <a:prstGeom prst="roundRect">
                <a:avLst/>
              </a:prstGeom>
              <a:solidFill>
                <a:srgbClr val="F7D55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8</a:t>
                </a:r>
              </a:p>
            </p:txBody>
          </p:sp>
          <p:sp>
            <p:nvSpPr>
              <p:cNvPr id="176" name="Rounded Rectangle 192">
                <a:extLst>
                  <a:ext uri="{FF2B5EF4-FFF2-40B4-BE49-F238E27FC236}">
                    <a16:creationId xmlns:a16="http://schemas.microsoft.com/office/drawing/2014/main" id="{8DC91DB4-2566-7C71-8BE3-EAA149BEF36E}"/>
                  </a:ext>
                </a:extLst>
              </p:cNvPr>
              <p:cNvSpPr/>
              <p:nvPr userDrawn="1"/>
            </p:nvSpPr>
            <p:spPr>
              <a:xfrm>
                <a:off x="12927956" y="5356993"/>
                <a:ext cx="238539" cy="238539"/>
              </a:xfrm>
              <a:prstGeom prst="roundRect">
                <a:avLst/>
              </a:prstGeom>
              <a:solidFill>
                <a:srgbClr val="FAD33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7</a:t>
                </a:r>
              </a:p>
            </p:txBody>
          </p:sp>
          <p:sp>
            <p:nvSpPr>
              <p:cNvPr id="177" name="Rounded Rectangle 192">
                <a:extLst>
                  <a:ext uri="{FF2B5EF4-FFF2-40B4-BE49-F238E27FC236}">
                    <a16:creationId xmlns:a16="http://schemas.microsoft.com/office/drawing/2014/main" id="{5B2250DE-B47C-DE83-2A84-09EACF752A95}"/>
                  </a:ext>
                </a:extLst>
              </p:cNvPr>
              <p:cNvSpPr/>
              <p:nvPr userDrawn="1"/>
            </p:nvSpPr>
            <p:spPr>
              <a:xfrm>
                <a:off x="12822998" y="5356993"/>
                <a:ext cx="238539" cy="238539"/>
              </a:xfrm>
              <a:prstGeom prst="roundRect">
                <a:avLst/>
              </a:prstGeom>
              <a:solidFill>
                <a:srgbClr val="F8C716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bIns="0" rtlCol="0" anchor="b"/>
              <a:lstStyle/>
              <a:p>
                <a:pPr algn="ctr"/>
                <a:r>
                  <a:rPr lang="en-US" sz="800" b="0" i="0">
                    <a:latin typeface="Noir Pro" pitchFamily="2" charset="0"/>
                  </a:rPr>
                  <a:t>6</a:t>
                </a:r>
              </a:p>
            </p:txBody>
          </p:sp>
        </p:grpSp>
        <p:sp>
          <p:nvSpPr>
            <p:cNvPr id="78" name="TextBox 220">
              <a:extLst>
                <a:ext uri="{FF2B5EF4-FFF2-40B4-BE49-F238E27FC236}">
                  <a16:creationId xmlns:a16="http://schemas.microsoft.com/office/drawing/2014/main" id="{B584D808-91BB-7BCD-9C3E-5F6058E4E2AF}"/>
                </a:ext>
              </a:extLst>
            </p:cNvPr>
            <p:cNvSpPr txBox="1"/>
            <p:nvPr userDrawn="1"/>
          </p:nvSpPr>
          <p:spPr>
            <a:xfrm>
              <a:off x="12207792" y="2884595"/>
              <a:ext cx="15552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MAIN COLORS – COLOR GRADES</a:t>
              </a:r>
            </a:p>
          </p:txBody>
        </p:sp>
        <p:grpSp>
          <p:nvGrpSpPr>
            <p:cNvPr id="79" name="Groep 78">
              <a:extLst>
                <a:ext uri="{FF2B5EF4-FFF2-40B4-BE49-F238E27FC236}">
                  <a16:creationId xmlns:a16="http://schemas.microsoft.com/office/drawing/2014/main" id="{AD2A4754-1E4F-4068-2170-DFBC5D3316F6}"/>
                </a:ext>
              </a:extLst>
            </p:cNvPr>
            <p:cNvGrpSpPr/>
            <p:nvPr userDrawn="1"/>
          </p:nvGrpSpPr>
          <p:grpSpPr>
            <a:xfrm>
              <a:off x="12301425" y="4952389"/>
              <a:ext cx="238539" cy="238539"/>
              <a:chOff x="12301425" y="4952389"/>
              <a:chExt cx="238539" cy="238539"/>
            </a:xfrm>
          </p:grpSpPr>
          <p:sp>
            <p:nvSpPr>
              <p:cNvPr id="155" name="Vrije vorm 154">
                <a:extLst>
                  <a:ext uri="{FF2B5EF4-FFF2-40B4-BE49-F238E27FC236}">
                    <a16:creationId xmlns:a16="http://schemas.microsoft.com/office/drawing/2014/main" id="{532D1363-26B6-F938-D22C-D85CDE9B8657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56" name="Vrije vorm 155">
                <a:extLst>
                  <a:ext uri="{FF2B5EF4-FFF2-40B4-BE49-F238E27FC236}">
                    <a16:creationId xmlns:a16="http://schemas.microsoft.com/office/drawing/2014/main" id="{AD2EDC69-F434-FEFE-DED5-EAC10B2F6FD1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E88C3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0" name="Groep 79">
              <a:extLst>
                <a:ext uri="{FF2B5EF4-FFF2-40B4-BE49-F238E27FC236}">
                  <a16:creationId xmlns:a16="http://schemas.microsoft.com/office/drawing/2014/main" id="{43A159D0-3A59-0104-1C93-27959CC49CA9}"/>
                </a:ext>
              </a:extLst>
            </p:cNvPr>
            <p:cNvGrpSpPr/>
            <p:nvPr userDrawn="1"/>
          </p:nvGrpSpPr>
          <p:grpSpPr>
            <a:xfrm>
              <a:off x="12563819" y="4952389"/>
              <a:ext cx="238539" cy="238539"/>
              <a:chOff x="12301425" y="4952389"/>
              <a:chExt cx="238539" cy="238539"/>
            </a:xfrm>
          </p:grpSpPr>
          <p:sp>
            <p:nvSpPr>
              <p:cNvPr id="148" name="Vrije vorm 147">
                <a:extLst>
                  <a:ext uri="{FF2B5EF4-FFF2-40B4-BE49-F238E27FC236}">
                    <a16:creationId xmlns:a16="http://schemas.microsoft.com/office/drawing/2014/main" id="{3FE35D56-0BBE-9C75-BD0D-254A011F45CB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00215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54" name="Vrije vorm 153">
                <a:extLst>
                  <a:ext uri="{FF2B5EF4-FFF2-40B4-BE49-F238E27FC236}">
                    <a16:creationId xmlns:a16="http://schemas.microsoft.com/office/drawing/2014/main" id="{A1AE8FAA-D517-EE1D-BC44-E771B569D421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186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1" name="Groep 80">
              <a:extLst>
                <a:ext uri="{FF2B5EF4-FFF2-40B4-BE49-F238E27FC236}">
                  <a16:creationId xmlns:a16="http://schemas.microsoft.com/office/drawing/2014/main" id="{964AABD8-3BED-C343-6EA4-A3AFFC623BE5}"/>
                </a:ext>
              </a:extLst>
            </p:cNvPr>
            <p:cNvGrpSpPr/>
            <p:nvPr userDrawn="1"/>
          </p:nvGrpSpPr>
          <p:grpSpPr>
            <a:xfrm>
              <a:off x="12826213" y="4952389"/>
              <a:ext cx="238539" cy="238539"/>
              <a:chOff x="12301425" y="4952389"/>
              <a:chExt cx="238539" cy="238539"/>
            </a:xfrm>
          </p:grpSpPr>
          <p:sp>
            <p:nvSpPr>
              <p:cNvPr id="88" name="Vrije vorm 87">
                <a:extLst>
                  <a:ext uri="{FF2B5EF4-FFF2-40B4-BE49-F238E27FC236}">
                    <a16:creationId xmlns:a16="http://schemas.microsoft.com/office/drawing/2014/main" id="{CF408804-496A-4CEF-6352-5ED21F535C7A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9" name="Vrije vorm 88">
                <a:extLst>
                  <a:ext uri="{FF2B5EF4-FFF2-40B4-BE49-F238E27FC236}">
                    <a16:creationId xmlns:a16="http://schemas.microsoft.com/office/drawing/2014/main" id="{8D4DE3F5-B0B2-DCBB-0720-888ABA857B1F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DF67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2" name="Groep 81">
              <a:extLst>
                <a:ext uri="{FF2B5EF4-FFF2-40B4-BE49-F238E27FC236}">
                  <a16:creationId xmlns:a16="http://schemas.microsoft.com/office/drawing/2014/main" id="{AACF694F-9A3B-50EF-7841-C1F2EA0B1B70}"/>
                </a:ext>
              </a:extLst>
            </p:cNvPr>
            <p:cNvGrpSpPr/>
            <p:nvPr userDrawn="1"/>
          </p:nvGrpSpPr>
          <p:grpSpPr>
            <a:xfrm>
              <a:off x="13088607" y="4952389"/>
              <a:ext cx="238539" cy="238539"/>
              <a:chOff x="12301425" y="4952389"/>
              <a:chExt cx="238539" cy="238539"/>
            </a:xfrm>
          </p:grpSpPr>
          <p:sp>
            <p:nvSpPr>
              <p:cNvPr id="86" name="Vrije vorm 85">
                <a:extLst>
                  <a:ext uri="{FF2B5EF4-FFF2-40B4-BE49-F238E27FC236}">
                    <a16:creationId xmlns:a16="http://schemas.microsoft.com/office/drawing/2014/main" id="{7B74DFF1-5E09-B811-88D1-9B54957539EC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C7CD5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7" name="Vrije vorm 86">
                <a:extLst>
                  <a:ext uri="{FF2B5EF4-FFF2-40B4-BE49-F238E27FC236}">
                    <a16:creationId xmlns:a16="http://schemas.microsoft.com/office/drawing/2014/main" id="{CE6419B6-B15D-1FE3-CE6C-28FC30953400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FBDE7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AD7F2593-8F27-9D4E-266E-1AB2FF9361C3}"/>
                </a:ext>
              </a:extLst>
            </p:cNvPr>
            <p:cNvGrpSpPr/>
            <p:nvPr userDrawn="1"/>
          </p:nvGrpSpPr>
          <p:grpSpPr>
            <a:xfrm>
              <a:off x="13351000" y="4952389"/>
              <a:ext cx="238539" cy="238539"/>
              <a:chOff x="12301425" y="4952389"/>
              <a:chExt cx="238539" cy="238539"/>
            </a:xfrm>
          </p:grpSpPr>
          <p:sp>
            <p:nvSpPr>
              <p:cNvPr id="84" name="Vrije vorm 83">
                <a:extLst>
                  <a:ext uri="{FF2B5EF4-FFF2-40B4-BE49-F238E27FC236}">
                    <a16:creationId xmlns:a16="http://schemas.microsoft.com/office/drawing/2014/main" id="{6DCC535E-7254-C522-301C-D26974CE165D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93D2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5" name="Vrije vorm 84">
                <a:extLst>
                  <a:ext uri="{FF2B5EF4-FFF2-40B4-BE49-F238E27FC236}">
                    <a16:creationId xmlns:a16="http://schemas.microsoft.com/office/drawing/2014/main" id="{29C2DACA-3E2D-64DB-DCDB-AB641F33D906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00B2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43736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lang="en-US" sz="2000" b="0" i="0" kern="1200" spc="0" smtClean="0">
          <a:solidFill>
            <a:srgbClr val="F8C716"/>
          </a:solidFill>
          <a:latin typeface="Noir Pro Medium" pitchFamily="2" charset="0"/>
          <a:ea typeface="+mn-ea"/>
          <a:cs typeface="+mn-cs"/>
        </a:defRPr>
      </a:lvl1pPr>
    </p:titleStyle>
    <p:bodyStyle>
      <a:lvl1pPr marL="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540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2pPr>
      <a:lvl3pPr marL="792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3pPr>
      <a:lvl4pPr marL="1044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4pPr>
      <a:lvl5pPr marL="1296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>
          <p15:clr>
            <a:srgbClr val="F26B43"/>
          </p15:clr>
        </p15:guide>
        <p15:guide id="2" pos="98">
          <p15:clr>
            <a:srgbClr val="F26B43"/>
          </p15:clr>
        </p15:guide>
        <p15:guide id="3" pos="234">
          <p15:clr>
            <a:srgbClr val="5ACBF0"/>
          </p15:clr>
        </p15:guide>
        <p15:guide id="4" orient="horz" pos="4024">
          <p15:clr>
            <a:srgbClr val="F26B43"/>
          </p15:clr>
        </p15:guide>
        <p15:guide id="5" pos="7582">
          <p15:clr>
            <a:srgbClr val="F26B43"/>
          </p15:clr>
        </p15:guide>
        <p15:guide id="6" orient="horz" pos="3941">
          <p15:clr>
            <a:srgbClr val="5ACBF0"/>
          </p15:clr>
        </p15:guide>
        <p15:guide id="7" pos="7446">
          <p15:clr>
            <a:srgbClr val="5ACBF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svg"/><Relationship Id="rId4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svg"/><Relationship Id="rId4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svg"/><Relationship Id="rId4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svg"/><Relationship Id="rId4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tiff"/><Relationship Id="rId4" Type="http://schemas.openxmlformats.org/officeDocument/2006/relationships/chart" Target="../charts/chart16.xml"/><Relationship Id="rId5" Type="http://schemas.openxmlformats.org/officeDocument/2006/relationships/image" Target="../media/image12.em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svg"/><Relationship Id="rId3" Type="http://schemas.openxmlformats.org/officeDocument/2006/relationships/image" Target="../media/image2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svg"/><Relationship Id="rId3" Type="http://schemas.openxmlformats.org/officeDocument/2006/relationships/image" Target="../media/image2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svg"/><Relationship Id="rId3" Type="http://schemas.openxmlformats.org/officeDocument/2006/relationships/image" Target="../media/image2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svg"/><Relationship Id="rId3" Type="http://schemas.openxmlformats.org/officeDocument/2006/relationships/image" Target="../media/image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svg"/><Relationship Id="rId3" Type="http://schemas.openxmlformats.org/officeDocument/2006/relationships/image" Target="../media/image1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svg"/><Relationship Id="rId3" Type="http://schemas.openxmlformats.org/officeDocument/2006/relationships/image" Target="../media/image1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svg"/><Relationship Id="rId3" Type="http://schemas.openxmlformats.org/officeDocument/2006/relationships/image" Target="../media/image1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svg"/><Relationship Id="rId3" Type="http://schemas.openxmlformats.org/officeDocument/2006/relationships/image" Target="../media/image2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svg"/><Relationship Id="rId3" Type="http://schemas.openxmlformats.org/officeDocument/2006/relationships/image" Target="../media/image1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svg"/><Relationship Id="rId4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17.xml"/><Relationship Id="rId3" Type="http://schemas.openxmlformats.org/officeDocument/2006/relationships/chart" Target="../charts/chart1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svg"/><Relationship Id="rId3" Type="http://schemas.openxmlformats.org/officeDocument/2006/relationships/image" Target="../media/image1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svg"/><Relationship Id="rId3" Type="http://schemas.openxmlformats.org/officeDocument/2006/relationships/image" Target="../media/image2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9.xml"/><Relationship Id="rId3" Type="http://schemas.openxmlformats.org/officeDocument/2006/relationships/chart" Target="../charts/chart20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svg"/><Relationship Id="rId3" Type="http://schemas.openxmlformats.org/officeDocument/2006/relationships/chart" Target="../charts/chart21.xml"/><Relationship Id="rId4" Type="http://schemas.openxmlformats.org/officeDocument/2006/relationships/chart" Target="../charts/chart22.xml"/><Relationship Id="rId5" Type="http://schemas.openxmlformats.org/officeDocument/2006/relationships/chart" Target="../charts/chart23.xml"/><Relationship Id="rId6" Type="http://schemas.openxmlformats.org/officeDocument/2006/relationships/chart" Target="../charts/chart2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svg"/><Relationship Id="rId3" Type="http://schemas.openxmlformats.org/officeDocument/2006/relationships/chart" Target="../charts/chart25.xml"/><Relationship Id="rId4" Type="http://schemas.openxmlformats.org/officeDocument/2006/relationships/chart" Target="../charts/chart26.xml"/><Relationship Id="rId5" Type="http://schemas.openxmlformats.org/officeDocument/2006/relationships/chart" Target="../charts/chart2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svg"/><Relationship Id="rId3" Type="http://schemas.openxmlformats.org/officeDocument/2006/relationships/chart" Target="../charts/chart28.xml"/><Relationship Id="rId4" Type="http://schemas.openxmlformats.org/officeDocument/2006/relationships/chart" Target="../charts/chart29.xml"/><Relationship Id="rId5" Type="http://schemas.openxmlformats.org/officeDocument/2006/relationships/chart" Target="../charts/char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9B1408E6-E399-3AB5-FA0C-216DAFB328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Reportgeneratordemo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344417F-5869-1AA1-3CB1-C663D0AA7B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Portfolio Overview</a:t>
            </a:r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F8AE1EA7-9945-5054-6361-8E1EAAA9FC90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  <a:p>
            <a:endParaRPr lang="en-GB" dirty="0"/>
          </a:p>
        </p:txBody>
      </p:sp>
      <p:sp>
        <p:nvSpPr>
          <p:cNvPr id="4" name="Tijdelijke aanduiding voor tekst 1">
            <a:extLst>
              <a:ext uri="{FF2B5EF4-FFF2-40B4-BE49-F238E27FC236}">
                <a16:creationId xmlns:a16="http://schemas.microsoft.com/office/drawing/2014/main" id="{9AD8A29F-88B6-1458-3D23-92698A071436}"/>
              </a:ext>
            </a:extLst>
          </p:cNvPr>
          <p:cNvSpPr txBox="1">
            <a:spLocks/>
          </p:cNvSpPr>
          <p:nvPr/>
        </p:nvSpPr>
        <p:spPr>
          <a:xfrm>
            <a:off x="395999" y="2959200"/>
            <a:ext cx="11174400" cy="450000"/>
          </a:xfrm>
          <a:prstGeom prst="rect">
            <a:avLst/>
          </a:prstGeom>
        </p:spPr>
        <p:txBody>
          <a:bodyPr vert="horz" wrap="none" lIns="216000" tIns="46800" rIns="234000" bIns="468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64FF"/>
              </a:buClr>
              <a:buFont typeface="Arial" panose="020B0604020202020204" pitchFamily="34" charset="0"/>
              <a:buNone/>
              <a:defRPr lang="en-US" sz="2800" b="0" i="0" kern="1200" spc="-30" baseline="0">
                <a:solidFill>
                  <a:srgbClr val="D1E0FF">
                    <a:alpha val="80000"/>
                  </a:srgbClr>
                </a:solidFill>
                <a:latin typeface="Noir Pro" pitchFamily="2" charset="0"/>
                <a:ea typeface="+mn-ea"/>
                <a:cs typeface="Calibri Light" panose="020F0302020204030204" pitchFamily="34" charset="0"/>
              </a:defRPr>
            </a:lvl1pPr>
            <a:lvl2pPr marL="45720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rgbClr val="DFC123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rgbClr val="DFC123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rgbClr val="DFC123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rgbClr val="DFC12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437872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28E9F-84B3-1417-B1C1-8497B0441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fgeronde rechthoek 33">
            <a:extLst>
              <a:ext uri="{FF2B5EF4-FFF2-40B4-BE49-F238E27FC236}">
                <a16:creationId xmlns:a16="http://schemas.microsoft.com/office/drawing/2014/main" id="{996AB135-5D98-6CB2-2236-27FA6BFF1DF8}"/>
              </a:ext>
            </a:extLst>
          </p:cNvPr>
          <p:cNvSpPr/>
          <p:nvPr/>
        </p:nvSpPr>
        <p:spPr>
          <a:xfrm>
            <a:off x="4454347" y="754749"/>
            <a:ext cx="7567201" cy="1406530"/>
          </a:xfrm>
          <a:prstGeom prst="roundRect">
            <a:avLst>
              <a:gd name="adj" fmla="val 4868"/>
            </a:avLst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GB" dirty="0">
              <a:solidFill>
                <a:schemeClr val="tx2"/>
              </a:solidFill>
              <a:latin typeface="Noir Pro Medium" pitchFamily="2" charset="0"/>
            </a:endParaRP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6C2F1336-0E3A-77B1-7FED-5097E0B73E2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392751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06585796-F7AC-E22A-DAA4-BFADBBE1AED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1C30576-65F7-766C-094F-C9239AE17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 of topics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8B9E1154-CDD8-EB91-949B-479B334BF67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8000"/>
            <a:ext cx="7092000" cy="2073007"/>
          </a:xfrm>
        </p:spPr>
        <p:txBody>
          <a:bodyPr/>
          <a:lstStyle/>
          <a:p>
            <a:r>
              <a:rPr lang="en-GB" dirty="0"/>
              <a:t>Objectives</a:t>
            </a:r>
          </a:p>
          <a:p>
            <a:endParaRPr lang="en-GB" dirty="0"/>
          </a:p>
          <a:p>
            <a:r>
              <a:rPr lang="en-GB" dirty="0"/>
              <a:t>Portfolio trends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221DC0E-2ACB-F130-731C-38C80934C0BA}"/>
              </a:ext>
            </a:extLst>
          </p:cNvPr>
          <p:cNvSpPr/>
          <p:nvPr/>
        </p:nvSpPr>
        <p:spPr>
          <a:xfrm>
            <a:off x="4467601" y="2720084"/>
            <a:ext cx="7567200" cy="17392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78A9620-EABF-7EE8-9AD9-DC016D1A3074}"/>
              </a:ext>
            </a:extLst>
          </p:cNvPr>
          <p:cNvGrpSpPr/>
          <p:nvPr/>
        </p:nvGrpSpPr>
        <p:grpSpPr>
          <a:xfrm>
            <a:off x="5682921" y="1563345"/>
            <a:ext cx="5119353" cy="332898"/>
            <a:chOff x="5682921" y="2898499"/>
            <a:chExt cx="5119353" cy="332898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E96D49B4-3075-D523-A87B-34907DB1D635}"/>
                </a:ext>
              </a:extLst>
            </p:cNvPr>
            <p:cNvSpPr/>
            <p:nvPr/>
          </p:nvSpPr>
          <p:spPr>
            <a:xfrm>
              <a:off x="5682921" y="289850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" name="Rectangle 12">
              <a:extLst>
                <a:ext uri="{FF2B5EF4-FFF2-40B4-BE49-F238E27FC236}">
                  <a16:creationId xmlns:a16="http://schemas.microsoft.com/office/drawing/2014/main" id="{12943039-BE55-8114-7DAD-5D4EF8731FF6}"/>
                </a:ext>
              </a:extLst>
            </p:cNvPr>
            <p:cNvSpPr/>
            <p:nvPr/>
          </p:nvSpPr>
          <p:spPr>
            <a:xfrm>
              <a:off x="7940516" y="2898499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TextBox 6">
              <a:extLst>
                <a:ext uri="{FF2B5EF4-FFF2-40B4-BE49-F238E27FC236}">
                  <a16:creationId xmlns:a16="http://schemas.microsoft.com/office/drawing/2014/main" id="{B5A5871D-7343-4BC4-31A9-01F0CD087096}"/>
                </a:ext>
              </a:extLst>
            </p:cNvPr>
            <p:cNvSpPr txBox="1"/>
            <p:nvPr/>
          </p:nvSpPr>
          <p:spPr>
            <a:xfrm>
              <a:off x="6108764" y="2909129"/>
              <a:ext cx="19709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GB" sz="1400" dirty="0">
                  <a:solidFill>
                    <a:schemeClr val="tx2"/>
                  </a:solidFill>
                </a:rPr>
                <a:t>Objectives</a:t>
              </a:r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2F51B979-8832-1084-DED6-F0BE94169ECE}"/>
                </a:ext>
              </a:extLst>
            </p:cNvPr>
            <p:cNvSpPr txBox="1"/>
            <p:nvPr/>
          </p:nvSpPr>
          <p:spPr>
            <a:xfrm>
              <a:off x="8364857" y="2909129"/>
              <a:ext cx="2437417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1400" dirty="0">
                  <a:solidFill>
                    <a:schemeClr val="tx2"/>
                  </a:solidFill>
                </a:rPr>
                <a:t>Objective trends per capability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9905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959DA3E-BC4D-56BF-3D02-3ACC9ACAB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916084" cy="228145"/>
          </a:xfrm>
        </p:spPr>
        <p:txBody>
          <a:bodyPr/>
          <a:lstStyle/>
          <a:p>
            <a:r>
              <a:rPr lang="en-GB" dirty="0"/>
              <a:t>Objectives - Progress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D5DB27D0-EDA4-3C43-0A09-967F11094A3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65B9EEB-750A-B63C-431E-C83D0FD7E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Progress towards objectives between January 2026 and March 2026</a:t>
            </a:r>
          </a:p>
        </p:txBody>
      </p:sp>
      <p:graphicFrame>
        <p:nvGraphicFramePr>
          <p:cNvPr id="6" name="PROGRESS_STATUS_CHART">
            <a:extLst>
              <a:ext uri="{FF2B5EF4-FFF2-40B4-BE49-F238E27FC236}">
                <a16:creationId xmlns:a16="http://schemas.microsoft.com/office/drawing/2014/main" id="{9A17AFA3-FC96-B65B-0A6A-D4A1754157FE}"/>
              </a:ext>
            </a:extLst>
          </p:cNvPr>
          <p:cNvGraphicFramePr/>
          <p:nvPr/>
        </p:nvGraphicFramePr>
        <p:xfrm>
          <a:off x="478224" y="2116469"/>
          <a:ext cx="11267443" cy="14578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CD0E6B1-41C3-CBAF-81A1-5291864E7E21}"/>
              </a:ext>
            </a:extLst>
          </p:cNvPr>
          <p:cNvSpPr txBox="1"/>
          <p:nvPr/>
        </p:nvSpPr>
        <p:spPr>
          <a:xfrm>
            <a:off x="3343684" y="3924001"/>
            <a:ext cx="5284288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Complete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Increased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Decreased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Incomplete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A08C5B-250B-FC47-1AD3-3C078984145A}"/>
              </a:ext>
            </a:extLst>
          </p:cNvPr>
          <p:cNvSpPr txBox="1"/>
          <p:nvPr/>
        </p:nvSpPr>
        <p:spPr>
          <a:xfrm>
            <a:off x="681046" y="1888751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FB63DDC-05A6-1327-D587-7F5756A583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</p:spTree>
    <p:extLst>
      <p:ext uri="{BB962C8B-B14F-4D97-AF65-F5344CB8AC3E}">
        <p14:creationId xmlns:p14="http://schemas.microsoft.com/office/powerpoint/2010/main" val="1780981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FA7D2-16D5-A283-E5D3-02028E6C0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002B0A-CA08-2984-487D-E204E84385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916084" cy="228145"/>
          </a:xfrm>
        </p:spPr>
        <p:txBody>
          <a:bodyPr/>
          <a:lstStyle/>
          <a:p>
            <a:r>
              <a:rPr lang="en-GB" dirty="0"/>
              <a:t>Objectives - Progress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D036A146-29BF-7CA2-2908-F2C86F33F1C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8EFB01E-7199-3087-1F83-52C1190C7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Progress towards objectives over time</a:t>
            </a:r>
          </a:p>
        </p:txBody>
      </p:sp>
      <p:graphicFrame>
        <p:nvGraphicFramePr>
          <p:cNvPr id="6" name="PROGRESS_TIME_CHART">
            <a:extLst>
              <a:ext uri="{FF2B5EF4-FFF2-40B4-BE49-F238E27FC236}">
                <a16:creationId xmlns:a16="http://schemas.microsoft.com/office/drawing/2014/main" id="{52C16B72-396C-FACA-8BB0-F4504E8F3C3F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FA1C5AF-9085-C111-CACA-05BD3DAB557A}"/>
              </a:ext>
            </a:extLst>
          </p:cNvPr>
          <p:cNvSpPr txBox="1"/>
          <p:nvPr/>
        </p:nvSpPr>
        <p:spPr>
          <a:xfrm>
            <a:off x="5277226" y="5921762"/>
            <a:ext cx="2345855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Objectives completed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7F3C6A-7DFB-53D1-2356-25E4D5CBC43A}"/>
              </a:ext>
            </a:extLst>
          </p:cNvPr>
          <p:cNvSpPr txBox="1"/>
          <p:nvPr/>
        </p:nvSpPr>
        <p:spPr>
          <a:xfrm>
            <a:off x="470981" y="1293279"/>
            <a:ext cx="1938179" cy="291490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 (%)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1C39327-FCCB-9925-2C56-F0F2027873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</p:spTree>
    <p:extLst>
      <p:ext uri="{BB962C8B-B14F-4D97-AF65-F5344CB8AC3E}">
        <p14:creationId xmlns:p14="http://schemas.microsoft.com/office/powerpoint/2010/main" val="733539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95A28-0797-82EC-8AAB-40E0AD48F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B67376D-DF88-6D74-9C9C-4F16D33E792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916084" cy="228145"/>
          </a:xfrm>
        </p:spPr>
        <p:txBody>
          <a:bodyPr/>
          <a:lstStyle/>
          <a:p>
            <a:r>
              <a:rPr lang="en-GB" dirty="0"/>
              <a:t>Objectives - Progress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4458A9EA-AB86-5971-70BD-18746FED9BD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8F4B936-22AE-53AE-D47F-598EDA211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/>
              <a:t>Progress towards objectives per capability between January 2026 and March 2026</a:t>
            </a:r>
          </a:p>
        </p:txBody>
      </p:sp>
      <p:graphicFrame>
        <p:nvGraphicFramePr>
          <p:cNvPr id="6" name="PROGRESS_CAPABILITY_CHART">
            <a:extLst>
              <a:ext uri="{FF2B5EF4-FFF2-40B4-BE49-F238E27FC236}">
                <a16:creationId xmlns:a16="http://schemas.microsoft.com/office/drawing/2014/main" id="{2774041C-71AE-0495-78BB-3253007E9E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6673381"/>
              </p:ext>
            </p:extLst>
          </p:nvPr>
        </p:nvGraphicFramePr>
        <p:xfrm>
          <a:off x="478224" y="1507525"/>
          <a:ext cx="11267443" cy="43372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64208DC-0422-1C0A-F36A-3E68057F3E5B}"/>
              </a:ext>
            </a:extLst>
          </p:cNvPr>
          <p:cNvSpPr txBox="1"/>
          <p:nvPr/>
        </p:nvSpPr>
        <p:spPr>
          <a:xfrm>
            <a:off x="3352012" y="5941071"/>
            <a:ext cx="5284288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Complete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Increased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Decreased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Incomplete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77E27A-346A-7209-76CD-BF5DB2681082}"/>
              </a:ext>
            </a:extLst>
          </p:cNvPr>
          <p:cNvSpPr txBox="1"/>
          <p:nvPr/>
        </p:nvSpPr>
        <p:spPr>
          <a:xfrm>
            <a:off x="9905465" y="1325702"/>
            <a:ext cx="1622453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585CE50-769E-57F0-D096-7931858DD3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</p:spTree>
    <p:extLst>
      <p:ext uri="{BB962C8B-B14F-4D97-AF65-F5344CB8AC3E}">
        <p14:creationId xmlns:p14="http://schemas.microsoft.com/office/powerpoint/2010/main" val="3709089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99A0F-B83A-EBEB-A808-30AD19FF0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6DF103-9A84-4CFA-15FA-0BD904F9B38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506309" cy="228145"/>
          </a:xfrm>
        </p:spPr>
        <p:txBody>
          <a:bodyPr/>
          <a:lstStyle/>
          <a:p>
            <a:r>
              <a:rPr lang="en-GB" dirty="0"/>
              <a:t>Objectives – Maintainability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47307F2D-FDB8-AC4C-ACFA-CDBAE3CD8F8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1346EF3-CD28-FFA0-169F-DB5D8A0CD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Progress towards objectives: Maintainability</a:t>
            </a:r>
          </a:p>
        </p:txBody>
      </p:sp>
      <p:graphicFrame>
        <p:nvGraphicFramePr>
          <p:cNvPr id="6" name="PROGRESS_MAINTAINABILITY_TIME_CHART">
            <a:extLst>
              <a:ext uri="{FF2B5EF4-FFF2-40B4-BE49-F238E27FC236}">
                <a16:creationId xmlns:a16="http://schemas.microsoft.com/office/drawing/2014/main" id="{6A5764CB-E5B1-083A-A3BC-4B4C31D364C6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3CC9FF0-AB79-ABC8-F329-16AC81263C86}"/>
              </a:ext>
            </a:extLst>
          </p:cNvPr>
          <p:cNvSpPr txBox="1"/>
          <p:nvPr/>
        </p:nvSpPr>
        <p:spPr>
          <a:xfrm>
            <a:off x="5277226" y="5921762"/>
            <a:ext cx="2345855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Objectives completed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C2580F-B6CD-77C6-14B9-30EB83366C2E}"/>
              </a:ext>
            </a:extLst>
          </p:cNvPr>
          <p:cNvSpPr txBox="1"/>
          <p:nvPr/>
        </p:nvSpPr>
        <p:spPr>
          <a:xfrm>
            <a:off x="470981" y="1293279"/>
            <a:ext cx="1938179" cy="291490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 (%)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B48095F-3B8A-4132-2F2E-BF6B266DAB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</p:spTree>
    <p:extLst>
      <p:ext uri="{BB962C8B-B14F-4D97-AF65-F5344CB8AC3E}">
        <p14:creationId xmlns:p14="http://schemas.microsoft.com/office/powerpoint/2010/main" val="2406191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33548-AF8A-DB5D-1B63-77CE67683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742CA01-A950-E39F-CC0E-94DE74A9CAD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253356" cy="228145"/>
          </a:xfrm>
        </p:spPr>
        <p:txBody>
          <a:bodyPr/>
          <a:lstStyle/>
          <a:p>
            <a:r>
              <a:rPr lang="en-GB" dirty="0"/>
              <a:t>Objectives – Architecture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77A2343E-4E3B-DE64-59CA-4672A92430F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BF2716D-9FE8-0CD3-81E1-C55968C5B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Progress towards objectives: Architecture</a:t>
            </a:r>
          </a:p>
        </p:txBody>
      </p:sp>
      <p:graphicFrame>
        <p:nvGraphicFramePr>
          <p:cNvPr id="6" name="PROGRESS_ARCHITECTURE_TIME_CHART">
            <a:extLst>
              <a:ext uri="{FF2B5EF4-FFF2-40B4-BE49-F238E27FC236}">
                <a16:creationId xmlns:a16="http://schemas.microsoft.com/office/drawing/2014/main" id="{7507C9AC-02D8-080E-E0DF-076B8886E4D4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271B99D-BF0F-6325-0317-FAF16C1BFC8E}"/>
              </a:ext>
            </a:extLst>
          </p:cNvPr>
          <p:cNvSpPr txBox="1"/>
          <p:nvPr/>
        </p:nvSpPr>
        <p:spPr>
          <a:xfrm>
            <a:off x="5277226" y="5921762"/>
            <a:ext cx="2345855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Objectives completed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EC1496-868F-E561-71C3-7A9DC6833873}"/>
              </a:ext>
            </a:extLst>
          </p:cNvPr>
          <p:cNvSpPr txBox="1"/>
          <p:nvPr/>
        </p:nvSpPr>
        <p:spPr>
          <a:xfrm>
            <a:off x="470981" y="1293279"/>
            <a:ext cx="1938179" cy="291490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 (%)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0BEA1B1-2A0E-D397-E556-362D0DB599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</p:spTree>
    <p:extLst>
      <p:ext uri="{BB962C8B-B14F-4D97-AF65-F5344CB8AC3E}">
        <p14:creationId xmlns:p14="http://schemas.microsoft.com/office/powerpoint/2010/main" val="3939542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DB560-0589-B274-3129-E2437CFA1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29B3573-6428-0E36-04D1-823E45CA08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759263" cy="228145"/>
          </a:xfrm>
        </p:spPr>
        <p:txBody>
          <a:bodyPr/>
          <a:lstStyle/>
          <a:p>
            <a:r>
              <a:rPr lang="en-GB"/>
              <a:t>Objectives – Open Source Health</a:t>
            </a:r>
            <a:endParaRPr lang="en-GB" dirty="0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07EFD069-A5E8-28E5-C656-D9092244E05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BE90226-C387-AD0E-CB48-3AC0D6BA8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Progress towards objectives: Open Source Health</a:t>
            </a:r>
            <a:endParaRPr lang="en-GB" dirty="0"/>
          </a:p>
        </p:txBody>
      </p:sp>
      <p:graphicFrame>
        <p:nvGraphicFramePr>
          <p:cNvPr id="6" name="PROGRESS_OSH_TIME_CHART">
            <a:extLst>
              <a:ext uri="{FF2B5EF4-FFF2-40B4-BE49-F238E27FC236}">
                <a16:creationId xmlns:a16="http://schemas.microsoft.com/office/drawing/2014/main" id="{CEFBE414-6C0F-D888-D92A-8F4B1578B1E8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5F32ED1-229A-B9CF-7034-34B50F9DA34E}"/>
              </a:ext>
            </a:extLst>
          </p:cNvPr>
          <p:cNvSpPr txBox="1"/>
          <p:nvPr/>
        </p:nvSpPr>
        <p:spPr>
          <a:xfrm>
            <a:off x="5277226" y="5921762"/>
            <a:ext cx="2345855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Objectives completed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0B8231-088E-AD7D-64C5-DE763E94554E}"/>
              </a:ext>
            </a:extLst>
          </p:cNvPr>
          <p:cNvSpPr txBox="1"/>
          <p:nvPr/>
        </p:nvSpPr>
        <p:spPr>
          <a:xfrm>
            <a:off x="470981" y="1293279"/>
            <a:ext cx="1938179" cy="291490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 (%)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85692CD9-4AE3-CDD3-1F88-18341671CC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</p:spTree>
    <p:extLst>
      <p:ext uri="{BB962C8B-B14F-4D97-AF65-F5344CB8AC3E}">
        <p14:creationId xmlns:p14="http://schemas.microsoft.com/office/powerpoint/2010/main" val="3675106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53B19-00F5-BFA0-C36C-ACEB0F916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033F2A3-DC2A-0CBF-4932-AEA088FF9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1916084" cy="228145"/>
          </a:xfrm>
        </p:spPr>
        <p:txBody>
          <a:bodyPr/>
          <a:lstStyle/>
          <a:p>
            <a:r>
              <a:rPr lang="en-GB" dirty="0"/>
              <a:t>Objectives – Security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7D7CB3C8-5FC1-63F4-9226-2151F828029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505556D-9CC2-9B0A-DDA8-9AF0AA5A6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>
            <a:normAutofit/>
          </a:bodyPr>
          <a:lstStyle/>
          <a:p>
            <a:r>
              <a:rPr lang="en-GB" dirty="0"/>
              <a:t>Progress towards objectives: Security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A1BFDEE-B39F-2F33-8BE8-21E452A51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graphicFrame>
        <p:nvGraphicFramePr>
          <p:cNvPr id="6" name="PROGRESS_SECURITY_TIME_CHART">
            <a:extLst>
              <a:ext uri="{FF2B5EF4-FFF2-40B4-BE49-F238E27FC236}">
                <a16:creationId xmlns:a16="http://schemas.microsoft.com/office/drawing/2014/main" id="{C6FA88CE-DDBE-C10D-7439-48AFDF8BC9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1605918"/>
              </p:ext>
            </p:extLst>
          </p:nvPr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6152522-5061-5A0D-7288-66E187FB7C31}"/>
              </a:ext>
            </a:extLst>
          </p:cNvPr>
          <p:cNvSpPr txBox="1"/>
          <p:nvPr/>
        </p:nvSpPr>
        <p:spPr>
          <a:xfrm>
            <a:off x="5277226" y="5921762"/>
            <a:ext cx="2345855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Objectives completed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C72B87-2D1E-D2F1-65AB-69BA6680A392}"/>
              </a:ext>
            </a:extLst>
          </p:cNvPr>
          <p:cNvSpPr txBox="1"/>
          <p:nvPr/>
        </p:nvSpPr>
        <p:spPr>
          <a:xfrm>
            <a:off x="470981" y="1293279"/>
            <a:ext cx="1938179" cy="291490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 (%)</a:t>
            </a:r>
          </a:p>
        </p:txBody>
      </p:sp>
    </p:spTree>
    <p:extLst>
      <p:ext uri="{BB962C8B-B14F-4D97-AF65-F5344CB8AC3E}">
        <p14:creationId xmlns:p14="http://schemas.microsoft.com/office/powerpoint/2010/main" val="1343365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C888B32-26A7-257B-DDDE-599EEC4CEC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1747448" cy="228145"/>
          </a:xfrm>
        </p:spPr>
        <p:txBody>
          <a:bodyPr/>
          <a:lstStyle/>
          <a:p>
            <a:r>
              <a:rPr lang="en-GB" dirty="0"/>
              <a:t>Objectives – Status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773B6-825A-4167-35E1-B39EF2B9436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216A0FA-E540-B347-F0E6-078404ED9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Progress towards objectives between January 2026 and March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FCD154-723A-2909-18F9-136A88A427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graphicFrame>
        <p:nvGraphicFramePr>
          <p:cNvPr id="7" name="OBJECTIVES_STATUS_CHART">
            <a:extLst>
              <a:ext uri="{FF2B5EF4-FFF2-40B4-BE49-F238E27FC236}">
                <a16:creationId xmlns:a16="http://schemas.microsoft.com/office/drawing/2014/main" id="{2EDB28D6-D893-2834-1452-760EA34FA080}"/>
              </a:ext>
            </a:extLst>
          </p:cNvPr>
          <p:cNvGraphicFramePr/>
          <p:nvPr/>
        </p:nvGraphicFramePr>
        <p:xfrm>
          <a:off x="478224" y="2116469"/>
          <a:ext cx="11267443" cy="14578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7CF6F7A-28F4-82F4-BD9F-05E947064F24}"/>
              </a:ext>
            </a:extLst>
          </p:cNvPr>
          <p:cNvSpPr txBox="1"/>
          <p:nvPr/>
        </p:nvSpPr>
        <p:spPr>
          <a:xfrm>
            <a:off x="2791143" y="394977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A64C5C-AD9F-1F4B-55E5-F3377812A35C}"/>
              </a:ext>
            </a:extLst>
          </p:cNvPr>
          <p:cNvSpPr txBox="1"/>
          <p:nvPr/>
        </p:nvSpPr>
        <p:spPr>
          <a:xfrm>
            <a:off x="681046" y="1888751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1624414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B576D7E-6A52-4C14-1626-F436107D18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1578812" cy="228145"/>
          </a:xfrm>
        </p:spPr>
        <p:txBody>
          <a:bodyPr/>
          <a:lstStyle/>
          <a:p>
            <a:r>
              <a:rPr lang="en-GB" dirty="0"/>
              <a:t>Objectives –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CDA563-94D2-2769-14DD-8932B8AF8DC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1CF856C-82D4-2AD8-52DB-B4AC65873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Progress towards objectives per team between January 2026 and March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1C7CD8-F0E2-3AA8-5650-3D8DA4191E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graphicFrame>
        <p:nvGraphicFramePr>
          <p:cNvPr id="11" name="OBJECTIVES_TEAM_CHART">
            <a:extLst>
              <a:ext uri="{FF2B5EF4-FFF2-40B4-BE49-F238E27FC236}">
                <a16:creationId xmlns:a16="http://schemas.microsoft.com/office/drawing/2014/main" id="{90D37655-7D68-97A1-42BD-3EA9E53215FD}"/>
              </a:ext>
            </a:extLst>
          </p:cNvPr>
          <p:cNvGraphicFramePr/>
          <p:nvPr/>
        </p:nvGraphicFramePr>
        <p:xfrm>
          <a:off x="478224" y="1507525"/>
          <a:ext cx="11267443" cy="43372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8D842B39-F206-50DB-DCE4-FBFE6B59063D}"/>
              </a:ext>
            </a:extLst>
          </p:cNvPr>
          <p:cNvSpPr txBox="1"/>
          <p:nvPr/>
        </p:nvSpPr>
        <p:spPr>
          <a:xfrm>
            <a:off x="2791143" y="5988637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CFE085-67E8-695F-F564-B8C48BE4ECD4}"/>
              </a:ext>
            </a:extLst>
          </p:cNvPr>
          <p:cNvSpPr txBox="1"/>
          <p:nvPr/>
        </p:nvSpPr>
        <p:spPr>
          <a:xfrm>
            <a:off x="9508826" y="1325702"/>
            <a:ext cx="2023844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team’s systems</a:t>
            </a:r>
          </a:p>
        </p:txBody>
      </p:sp>
    </p:spTree>
    <p:extLst>
      <p:ext uri="{BB962C8B-B14F-4D97-AF65-F5344CB8AC3E}">
        <p14:creationId xmlns:p14="http://schemas.microsoft.com/office/powerpoint/2010/main" val="1250334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2E287AD-36A0-DD07-3A6C-318F5D2B12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2084720" cy="228145"/>
          </a:xfrm>
        </p:spPr>
        <p:txBody>
          <a:bodyPr/>
          <a:lstStyle/>
          <a:p>
            <a:r>
              <a:rPr lang="en-GB" dirty="0"/>
              <a:t>Objectives – Capability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CB7156-CCFF-605D-4D31-9506947FE0B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7C09E9-29E6-1EC3-4D1D-7D72EF930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Progress towards objectives per capability between January 2026 and March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819CDB-F8BA-4683-92D5-E4255AE0D1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graphicFrame>
        <p:nvGraphicFramePr>
          <p:cNvPr id="7" name="OBJECTIVES_CAPABILITY_CHART">
            <a:extLst>
              <a:ext uri="{FF2B5EF4-FFF2-40B4-BE49-F238E27FC236}">
                <a16:creationId xmlns:a16="http://schemas.microsoft.com/office/drawing/2014/main" id="{F7EC7942-12DF-47CD-7568-513CF44E5D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671865"/>
              </p:ext>
            </p:extLst>
          </p:nvPr>
        </p:nvGraphicFramePr>
        <p:xfrm>
          <a:off x="478224" y="1507525"/>
          <a:ext cx="11267443" cy="43372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90E694A-649F-7E3D-3A63-6F6D6F81E40E}"/>
              </a:ext>
            </a:extLst>
          </p:cNvPr>
          <p:cNvSpPr txBox="1"/>
          <p:nvPr/>
        </p:nvSpPr>
        <p:spPr>
          <a:xfrm>
            <a:off x="2791143" y="5988637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FE8EC1-BCA9-D803-2F62-A8F5EF7DDCDA}"/>
              </a:ext>
            </a:extLst>
          </p:cNvPr>
          <p:cNvSpPr txBox="1"/>
          <p:nvPr/>
        </p:nvSpPr>
        <p:spPr>
          <a:xfrm>
            <a:off x="9905465" y="1325702"/>
            <a:ext cx="1622453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963466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481FAE-4A75-47A8-A91D-55F888E119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1831765" cy="228145"/>
          </a:xfrm>
        </p:spPr>
        <p:txBody>
          <a:bodyPr/>
          <a:lstStyle/>
          <a:p>
            <a:r>
              <a:rPr lang="en-GB" dirty="0"/>
              <a:t>Objectives – Overall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CF516E-D9DE-46A4-39EC-49C4A7E4D71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068BC10-5510-3D83-FFE3-706AA2FBC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Progress towards objectives over time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B6BB-5502-6059-F44F-990FF73C4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graphicFrame>
        <p:nvGraphicFramePr>
          <p:cNvPr id="7" name="OBJECTIVES_OVERALL_CHART">
            <a:extLst>
              <a:ext uri="{FF2B5EF4-FFF2-40B4-BE49-F238E27FC236}">
                <a16:creationId xmlns:a16="http://schemas.microsoft.com/office/drawing/2014/main" id="{717088A6-F703-E509-DF51-C3923B3A0757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330F4B4-9201-428C-E53A-F1AEFD8E5616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3D3893-DC86-A976-1AB5-AE31EF208FC8}"/>
              </a:ext>
            </a:extLst>
          </p:cNvPr>
          <p:cNvSpPr txBox="1"/>
          <p:nvPr/>
        </p:nvSpPr>
        <p:spPr>
          <a:xfrm>
            <a:off x="470981" y="1293279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1388232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451F31D-6F2E-DFE6-587E-A78BD8E8816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1916084" cy="228145"/>
          </a:xfrm>
        </p:spPr>
        <p:txBody>
          <a:bodyPr/>
          <a:lstStyle/>
          <a:p>
            <a:r>
              <a:rPr lang="en-GB" dirty="0"/>
              <a:t>Objectives –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FE7E0D-EF19-08C9-4FF3-D4190366909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8977723-C726-4DFE-2330-B77DBE26A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Progress towards objectives: Security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C895C3-ED96-7EAA-081E-E246ABA2B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graphicFrame>
        <p:nvGraphicFramePr>
          <p:cNvPr id="7" name="OBJECTIVES_SECURITY_CHART">
            <a:extLst>
              <a:ext uri="{FF2B5EF4-FFF2-40B4-BE49-F238E27FC236}">
                <a16:creationId xmlns:a16="http://schemas.microsoft.com/office/drawing/2014/main" id="{FE1E4419-38A2-FC5F-E723-8277D7239FCE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E2DC61A-F9F3-987F-31AE-C332F7F54B24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C7B2F6-4CBE-9108-1F8E-D799C529DCCF}"/>
              </a:ext>
            </a:extLst>
          </p:cNvPr>
          <p:cNvSpPr txBox="1"/>
          <p:nvPr/>
        </p:nvSpPr>
        <p:spPr>
          <a:xfrm>
            <a:off x="470981" y="1293279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3006469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6A2875A-8544-1533-7916-43BBF6E829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2759263" cy="228145"/>
          </a:xfrm>
        </p:spPr>
        <p:txBody>
          <a:bodyPr/>
          <a:lstStyle/>
          <a:p>
            <a:r>
              <a:rPr lang="en-GB" dirty="0"/>
              <a:t>Objectives – Open-Source Health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29A5E5-D48A-3B03-A54D-B02E30DC030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0495C68-B12D-B774-99A2-0D8AD051F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Progress towards objectives: Open Source Health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5FEB5E-6597-18A4-BEEB-888581F956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graphicFrame>
        <p:nvGraphicFramePr>
          <p:cNvPr id="7" name="OBJECTIVES_OSH_CHART">
            <a:extLst>
              <a:ext uri="{FF2B5EF4-FFF2-40B4-BE49-F238E27FC236}">
                <a16:creationId xmlns:a16="http://schemas.microsoft.com/office/drawing/2014/main" id="{0EBCAFE5-E641-00DD-A9BA-54DDF716F8A7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D2A8387-99CF-53E7-C02C-0F47937D0583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9B4172-3DFC-6A98-8387-0A5860FF68EC}"/>
              </a:ext>
            </a:extLst>
          </p:cNvPr>
          <p:cNvSpPr txBox="1"/>
          <p:nvPr/>
        </p:nvSpPr>
        <p:spPr>
          <a:xfrm>
            <a:off x="470981" y="1293279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3617045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3FBCFC-165E-6074-D295-7213C886B06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2506309" cy="228145"/>
          </a:xfrm>
        </p:spPr>
        <p:txBody>
          <a:bodyPr/>
          <a:lstStyle/>
          <a:p>
            <a:r>
              <a:rPr lang="en-GB" dirty="0"/>
              <a:t>Objectives – Maintainability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22AA93-DDC2-222A-347A-F3D1A30F094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21FF725-8BE2-FFE6-09CA-89427E9C3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Progress towards objectives: Maintainability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DB2143-4E69-C9AB-EF61-72293A1BC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graphicFrame>
        <p:nvGraphicFramePr>
          <p:cNvPr id="7" name="OBJECTIVES_MAINTAINABILITY_CHART">
            <a:extLst>
              <a:ext uri="{FF2B5EF4-FFF2-40B4-BE49-F238E27FC236}">
                <a16:creationId xmlns:a16="http://schemas.microsoft.com/office/drawing/2014/main" id="{B1D17370-4289-2EDA-3CF4-CDE176E45E7F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5D94812-AFF9-6320-FC55-9DFAD9E49F53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85A181-CE4E-BF8F-1749-76DA5E7EB5F5}"/>
              </a:ext>
            </a:extLst>
          </p:cNvPr>
          <p:cNvSpPr txBox="1"/>
          <p:nvPr/>
        </p:nvSpPr>
        <p:spPr>
          <a:xfrm>
            <a:off x="470981" y="1293279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3386941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37335B8-EE82-608B-22C4-A627436D36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2253356" cy="228145"/>
          </a:xfrm>
        </p:spPr>
        <p:txBody>
          <a:bodyPr/>
          <a:lstStyle/>
          <a:p>
            <a:r>
              <a:rPr lang="en-GB" dirty="0"/>
              <a:t>Objectives –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1A783F-27CE-A200-297F-D46B148F653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17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6D9A223-DF60-A573-9531-80EE0F5E6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Progress towards objectives: Architecture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9E40D1-0E68-7E25-1B05-ACD30948CC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graphicFrame>
        <p:nvGraphicFramePr>
          <p:cNvPr id="7" name="OBJECTIVES_ARCHITECTURE_CHART">
            <a:extLst>
              <a:ext uri="{FF2B5EF4-FFF2-40B4-BE49-F238E27FC236}">
                <a16:creationId xmlns:a16="http://schemas.microsoft.com/office/drawing/2014/main" id="{160E225E-2E69-5802-F5E6-34A8D5119A38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CE47C19-C293-E59B-609F-8B720AE9857C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F4C6F2-6589-ECFC-76DC-423AFBC2B33A}"/>
              </a:ext>
            </a:extLst>
          </p:cNvPr>
          <p:cNvSpPr txBox="1"/>
          <p:nvPr/>
        </p:nvSpPr>
        <p:spPr>
          <a:xfrm>
            <a:off x="470981" y="1293279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3543429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fgeronde rechthoek 33">
            <a:extLst>
              <a:ext uri="{FF2B5EF4-FFF2-40B4-BE49-F238E27FC236}">
                <a16:creationId xmlns:a16="http://schemas.microsoft.com/office/drawing/2014/main" id="{5C67D71A-21D5-7B62-C401-C5338679DFE0}"/>
              </a:ext>
            </a:extLst>
          </p:cNvPr>
          <p:cNvSpPr/>
          <p:nvPr/>
        </p:nvSpPr>
        <p:spPr>
          <a:xfrm>
            <a:off x="4454347" y="1406584"/>
            <a:ext cx="7567201" cy="2033330"/>
          </a:xfrm>
          <a:prstGeom prst="roundRect">
            <a:avLst>
              <a:gd name="adj" fmla="val 4868"/>
            </a:avLst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GB" dirty="0">
              <a:solidFill>
                <a:schemeClr val="tx2"/>
              </a:solidFill>
              <a:latin typeface="Noir Pro Medium" pitchFamily="2" charset="0"/>
            </a:endParaRP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B159244B-2E65-D403-B5EA-9ABB5CA8CB9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392751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27C3B66-2BB8-6651-49B3-C22404EF565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18</a:t>
            </a:fld>
            <a:endParaRPr lang="en-GB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7D0FD1C-DD8F-FA69-E8D5-51EBF8A00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B8640D79-73F3-DDBF-46E3-A770D0CE4F8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7999"/>
            <a:ext cx="7092000" cy="2734727"/>
          </a:xfrm>
        </p:spPr>
        <p:txBody>
          <a:bodyPr/>
          <a:lstStyle/>
          <a:p>
            <a:r>
              <a:rPr lang="en-GB" dirty="0"/>
              <a:t>Objectives</a:t>
            </a:r>
          </a:p>
          <a:p>
            <a:r>
              <a:rPr lang="en-GB" dirty="0"/>
              <a:t>Portfolio trends</a:t>
            </a:r>
          </a:p>
          <a:p>
            <a:endParaRPr lang="en-GB" dirty="0"/>
          </a:p>
          <a:p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64DC9F-CC1F-F90B-BAEE-7FE68259B0A0}"/>
              </a:ext>
            </a:extLst>
          </p:cNvPr>
          <p:cNvGrpSpPr/>
          <p:nvPr/>
        </p:nvGrpSpPr>
        <p:grpSpPr>
          <a:xfrm>
            <a:off x="5678270" y="2777977"/>
            <a:ext cx="2396827" cy="332897"/>
            <a:chOff x="5682921" y="2898500"/>
            <a:chExt cx="2396827" cy="332897"/>
          </a:xfrm>
        </p:grpSpPr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164776AD-70C4-808F-74DD-3C14795FF549}"/>
                </a:ext>
              </a:extLst>
            </p:cNvPr>
            <p:cNvSpPr/>
            <p:nvPr/>
          </p:nvSpPr>
          <p:spPr>
            <a:xfrm>
              <a:off x="5682921" y="289850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6" name="TextBox 6">
              <a:extLst>
                <a:ext uri="{FF2B5EF4-FFF2-40B4-BE49-F238E27FC236}">
                  <a16:creationId xmlns:a16="http://schemas.microsoft.com/office/drawing/2014/main" id="{26E313BE-4539-951D-39B6-8270E8E286F4}"/>
                </a:ext>
              </a:extLst>
            </p:cNvPr>
            <p:cNvSpPr txBox="1"/>
            <p:nvPr/>
          </p:nvSpPr>
          <p:spPr>
            <a:xfrm>
              <a:off x="6108764" y="2909129"/>
              <a:ext cx="19709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GB" sz="1400" dirty="0">
                  <a:solidFill>
                    <a:schemeClr val="tx2"/>
                  </a:solidFill>
                </a:rPr>
                <a:t>Security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3AEFF71-AFAA-2A9B-1B52-69C00DF203AA}"/>
              </a:ext>
            </a:extLst>
          </p:cNvPr>
          <p:cNvGrpSpPr/>
          <p:nvPr/>
        </p:nvGrpSpPr>
        <p:grpSpPr>
          <a:xfrm>
            <a:off x="5682921" y="2128093"/>
            <a:ext cx="5119353" cy="332898"/>
            <a:chOff x="5682921" y="2898499"/>
            <a:chExt cx="5119353" cy="332898"/>
          </a:xfrm>
        </p:grpSpPr>
        <p:sp>
          <p:nvSpPr>
            <p:cNvPr id="33" name="Rectangle 5">
              <a:extLst>
                <a:ext uri="{FF2B5EF4-FFF2-40B4-BE49-F238E27FC236}">
                  <a16:creationId xmlns:a16="http://schemas.microsoft.com/office/drawing/2014/main" id="{CF5648A5-989D-607F-8E33-BE663B334A22}"/>
                </a:ext>
              </a:extLst>
            </p:cNvPr>
            <p:cNvSpPr/>
            <p:nvPr/>
          </p:nvSpPr>
          <p:spPr>
            <a:xfrm>
              <a:off x="5682921" y="289850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4" name="Rectangle 12">
              <a:extLst>
                <a:ext uri="{FF2B5EF4-FFF2-40B4-BE49-F238E27FC236}">
                  <a16:creationId xmlns:a16="http://schemas.microsoft.com/office/drawing/2014/main" id="{6199A04C-EC60-FB43-DB8D-97CCBCA311F4}"/>
                </a:ext>
              </a:extLst>
            </p:cNvPr>
            <p:cNvSpPr/>
            <p:nvPr/>
          </p:nvSpPr>
          <p:spPr>
            <a:xfrm>
              <a:off x="7940516" y="2898499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5" name="TextBox 6">
              <a:extLst>
                <a:ext uri="{FF2B5EF4-FFF2-40B4-BE49-F238E27FC236}">
                  <a16:creationId xmlns:a16="http://schemas.microsoft.com/office/drawing/2014/main" id="{277D7F99-1C55-864A-511F-89B598866BE7}"/>
                </a:ext>
              </a:extLst>
            </p:cNvPr>
            <p:cNvSpPr txBox="1"/>
            <p:nvPr/>
          </p:nvSpPr>
          <p:spPr>
            <a:xfrm>
              <a:off x="6108764" y="2909129"/>
              <a:ext cx="19709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GB" sz="1400" dirty="0">
                  <a:solidFill>
                    <a:schemeClr val="tx2"/>
                  </a:solidFill>
                </a:rPr>
                <a:t>Maintainability</a:t>
              </a:r>
            </a:p>
          </p:txBody>
        </p:sp>
        <p:sp>
          <p:nvSpPr>
            <p:cNvPr id="36" name="TextBox 18">
              <a:extLst>
                <a:ext uri="{FF2B5EF4-FFF2-40B4-BE49-F238E27FC236}">
                  <a16:creationId xmlns:a16="http://schemas.microsoft.com/office/drawing/2014/main" id="{E7FB80B6-7D6D-E1C4-A31F-209945D62AC9}"/>
                </a:ext>
              </a:extLst>
            </p:cNvPr>
            <p:cNvSpPr txBox="1"/>
            <p:nvPr/>
          </p:nvSpPr>
          <p:spPr>
            <a:xfrm>
              <a:off x="8364857" y="2909129"/>
              <a:ext cx="2437417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GB" sz="1400" dirty="0">
                  <a:solidFill>
                    <a:schemeClr val="tx2"/>
                  </a:solidFill>
                </a:rPr>
                <a:t>Open Source Health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36048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4A601DF-C4A8-2D87-FD83-478449C523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3012217" cy="228145"/>
          </a:xfrm>
        </p:spPr>
        <p:txBody>
          <a:bodyPr/>
          <a:lstStyle/>
          <a:p>
            <a:r>
              <a:rPr lang="en-GB" dirty="0"/>
              <a:t>Portfolio trends – Maintainability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973F4-BD90-5319-109B-46FFDE9337A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19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0EF4FCE-16C7-AAE8-D773-A8EA61868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About 7 (58%) systems score market average on maintainability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6C63DE-00A7-4FC0-4AEC-0B46C34CBF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1B8A7248-F03C-088E-C008-987A5B232F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6CDA2AA-8345-4B77-9D19-3B6B6B682D67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0D9E6FA-490C-7A76-F042-C6CBE8EC8CC9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FCC85E8-4CEE-1443-5223-4D50EF704863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C9B90DD7-4FB9-2883-E7AE-08032D550C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CB124ED-E704-12AA-C864-811D9D5670BD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C0E027F-C043-85D4-8A7D-8FB2639DA35A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321A6AD1-50D4-60BA-DA82-432C012CDE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6D7359A-F9B0-6788-C6F6-1FD4C4F59016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A42E839-1AC6-A973-B2D6-FE03C7A2EAAD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574C697C-D5E2-1EC6-E364-0363EB8D95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46AB6F5-8F91-2462-9FB2-89399076ED14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1B966A2-CD6E-43B3-1B35-574D340193AB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EBB239A8-7183-B922-0F96-5ECD20AD38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8E13405-55E4-337C-0075-F5940C9366AF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B9F2CE7-8B0B-523F-B2D6-B2F5B8E1AF5C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B9C71E9A-6525-560E-1410-76D0C3A6297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48E06C3-DD1E-DA61-E312-484DB2CB23C8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US" dirty="0"/>
              <a:t>The average maintainability rating for the portfolio is 2.5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8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58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33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4973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800F3-3D18-CF63-16D4-96CA78393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B14AA8-0AD7-EDFF-9986-B230DB557A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3012217" cy="228145"/>
          </a:xfrm>
        </p:spPr>
        <p:txBody>
          <a:bodyPr/>
          <a:lstStyle/>
          <a:p>
            <a:r>
              <a:rPr lang="en-GB" dirty="0"/>
              <a:t>Portfolio trends – Maintainability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F1BFF63-C4B5-7AB9-E5D9-E74391AFD97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D9EB6A-8DF6-69EE-B118-CBF9A8558A5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20</a:t>
            </a:fld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AFF12C5-E73A-8501-2BCE-9BD95E2EC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Maintainability Grouped by Lifecycle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956AE0-666A-B966-0B15-61A5E6C88F75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B9C8604-49B1-C79B-52E3-E11913D097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74536" y="6071736"/>
            <a:ext cx="371130" cy="206558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044EBA72-3AF3-C450-92C3-70B42255A7A7}"/>
              </a:ext>
            </a:extLst>
          </p:cNvPr>
          <p:cNvSpPr txBox="1"/>
          <p:nvPr/>
        </p:nvSpPr>
        <p:spPr>
          <a:xfrm>
            <a:off x="2643466" y="6054740"/>
            <a:ext cx="1520116" cy="225126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800" dirty="0">
                <a:solidFill>
                  <a:schemeClr val="tx2"/>
                </a:solidFill>
              </a:rPr>
              <a:t>Systems grouped by </a:t>
            </a:r>
            <a:r>
              <a:rPr lang="en-US" sz="800" b="1" dirty="0">
                <a:solidFill>
                  <a:schemeClr val="tx2"/>
                </a:solidFill>
              </a:rPr>
              <a:t>Lifecycle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849045C-A3DB-D503-5F61-D4753A6B2ED2}"/>
              </a:ext>
            </a:extLst>
          </p:cNvPr>
          <p:cNvGrpSpPr/>
          <p:nvPr/>
        </p:nvGrpSpPr>
        <p:grpSpPr>
          <a:xfrm>
            <a:off x="516802" y="6117354"/>
            <a:ext cx="300732" cy="98617"/>
            <a:chOff x="586253" y="6116391"/>
            <a:chExt cx="300732" cy="98617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624AC01-AE32-E25C-2E9D-D62F1A546D56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E528D542-C236-FC7F-A86B-58E301E03F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C8A81E2-505A-2686-805D-D50F2ED4D58F}"/>
              </a:ext>
            </a:extLst>
          </p:cNvPr>
          <p:cNvGrpSpPr/>
          <p:nvPr/>
        </p:nvGrpSpPr>
        <p:grpSpPr>
          <a:xfrm>
            <a:off x="934179" y="6117354"/>
            <a:ext cx="331190" cy="98617"/>
            <a:chOff x="961765" y="6117353"/>
            <a:chExt cx="331190" cy="98617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6DC148D-262C-83BE-A7DB-4CEECDA9841D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73216D68-D9B6-5F6A-FBB5-3659B7899EE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5C52AC4-11B0-1D06-863D-8E95DF4FAEE5}"/>
              </a:ext>
            </a:extLst>
          </p:cNvPr>
          <p:cNvGrpSpPr/>
          <p:nvPr/>
        </p:nvGrpSpPr>
        <p:grpSpPr>
          <a:xfrm>
            <a:off x="1382015" y="6117354"/>
            <a:ext cx="331190" cy="98617"/>
            <a:chOff x="1114165" y="6269753"/>
            <a:chExt cx="331190" cy="98617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FCAE05B-9910-83DD-05A3-9ED3538CAB1D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67" name="Rounded Rectangle 66">
              <a:extLst>
                <a:ext uri="{FF2B5EF4-FFF2-40B4-BE49-F238E27FC236}">
                  <a16:creationId xmlns:a16="http://schemas.microsoft.com/office/drawing/2014/main" id="{B02E6CFD-57D4-174C-07D0-383B813F68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26E1917-406F-73B3-C93D-1D8325F31D6D}"/>
              </a:ext>
            </a:extLst>
          </p:cNvPr>
          <p:cNvGrpSpPr/>
          <p:nvPr/>
        </p:nvGrpSpPr>
        <p:grpSpPr>
          <a:xfrm>
            <a:off x="1829851" y="6117354"/>
            <a:ext cx="331190" cy="98617"/>
            <a:chOff x="1114165" y="6269753"/>
            <a:chExt cx="331190" cy="98617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67C8CEE-6BFB-AD76-8318-6426CA6A5C12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70" name="Rounded Rectangle 69">
              <a:extLst>
                <a:ext uri="{FF2B5EF4-FFF2-40B4-BE49-F238E27FC236}">
                  <a16:creationId xmlns:a16="http://schemas.microsoft.com/office/drawing/2014/main" id="{8290A5E7-04EA-1335-3D95-D2A8C4CF3F1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9C1BB1CA-50D6-5754-E886-56DDDB6B630E}"/>
              </a:ext>
            </a:extLst>
          </p:cNvPr>
          <p:cNvGrpSpPr/>
          <p:nvPr/>
        </p:nvGrpSpPr>
        <p:grpSpPr>
          <a:xfrm>
            <a:off x="2277686" y="6117354"/>
            <a:ext cx="331190" cy="98617"/>
            <a:chOff x="1114165" y="6269753"/>
            <a:chExt cx="331190" cy="98617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AAE7018-A3D7-FF0D-2550-A7320B145E2B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73" name="Rounded Rectangle 72">
              <a:extLst>
                <a:ext uri="{FF2B5EF4-FFF2-40B4-BE49-F238E27FC236}">
                  <a16:creationId xmlns:a16="http://schemas.microsoft.com/office/drawing/2014/main" id="{CDBAC6E5-512A-CB63-DCC5-44139D7EAC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BD4EC-E668-DDBB-C898-CDC11794C48F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nl-NL" dirty="0"/>
              <a:t>@@</a:t>
            </a:r>
            <a:endParaRPr lang="en-GB" sz="1550" dirty="0">
              <a:ea typeface="Calibri"/>
              <a:cs typeface="Calibri"/>
            </a:endParaRP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C707EC47-51B6-60D2-5D25-8146CD4204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3457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9E1A0-F677-7ABE-9F7B-0B74434D5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FE9586-B72E-67FD-21F0-E86559BC657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3012217" cy="228145"/>
          </a:xfrm>
        </p:spPr>
        <p:txBody>
          <a:bodyPr/>
          <a:lstStyle/>
          <a:p>
            <a:r>
              <a:rPr lang="en-GB" dirty="0"/>
              <a:t>Portfolio trends – Maintainability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8337E4-C7B3-967F-A5FA-450CDEAD96F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C5351A-A8A1-C0E9-116D-C791E57414D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21</a:t>
            </a:fld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2DB2541-F26E-1A45-8C1C-10C582779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Maintainability Grouped by Deployment Type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DBC813-1EFC-AA71-9CF7-12E30412E01E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2C797B5-3356-1576-4F18-BFFC41D8A5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74536" y="6071736"/>
            <a:ext cx="371130" cy="206558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D358172D-32D9-F7C1-D993-4B31C910BDC4}"/>
              </a:ext>
            </a:extLst>
          </p:cNvPr>
          <p:cNvSpPr txBox="1"/>
          <p:nvPr/>
        </p:nvSpPr>
        <p:spPr>
          <a:xfrm>
            <a:off x="2643466" y="6054740"/>
            <a:ext cx="179423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800" dirty="0">
                <a:solidFill>
                  <a:schemeClr val="tx2"/>
                </a:solidFill>
              </a:rPr>
              <a:t>Systems grouped by </a:t>
            </a:r>
            <a:r>
              <a:rPr lang="en-US" sz="800" b="1" dirty="0">
                <a:solidFill>
                  <a:schemeClr val="tx2"/>
                </a:solidFill>
              </a:rPr>
              <a:t>Deployment Type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94076F7-E0CB-4844-36A0-D8ADEDF46A51}"/>
              </a:ext>
            </a:extLst>
          </p:cNvPr>
          <p:cNvGrpSpPr/>
          <p:nvPr/>
        </p:nvGrpSpPr>
        <p:grpSpPr>
          <a:xfrm>
            <a:off x="516802" y="6117354"/>
            <a:ext cx="300732" cy="98617"/>
            <a:chOff x="586253" y="6116391"/>
            <a:chExt cx="300732" cy="98617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6BDAFEE-BD87-364A-427B-1ADAFE9D2FD2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7A5818A4-3349-D5D3-42AF-155A2D3964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CC7B01C-4916-26E1-BEC3-B97CA46AC676}"/>
              </a:ext>
            </a:extLst>
          </p:cNvPr>
          <p:cNvGrpSpPr/>
          <p:nvPr/>
        </p:nvGrpSpPr>
        <p:grpSpPr>
          <a:xfrm>
            <a:off x="934179" y="6117354"/>
            <a:ext cx="331190" cy="98617"/>
            <a:chOff x="961765" y="6117353"/>
            <a:chExt cx="331190" cy="98617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715FDF0-0DD1-688E-2C19-BE57D0DA2F90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AF55BD8D-BD79-0350-2FF6-1D572839C33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2A0D7B8-8D00-392D-59FD-31D01E88F3E8}"/>
              </a:ext>
            </a:extLst>
          </p:cNvPr>
          <p:cNvGrpSpPr/>
          <p:nvPr/>
        </p:nvGrpSpPr>
        <p:grpSpPr>
          <a:xfrm>
            <a:off x="1382015" y="6117354"/>
            <a:ext cx="331190" cy="98617"/>
            <a:chOff x="1114165" y="6269753"/>
            <a:chExt cx="331190" cy="98617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F2AE4D71-1C4A-A29C-0135-FB7FC88EE561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67" name="Rounded Rectangle 66">
              <a:extLst>
                <a:ext uri="{FF2B5EF4-FFF2-40B4-BE49-F238E27FC236}">
                  <a16:creationId xmlns:a16="http://schemas.microsoft.com/office/drawing/2014/main" id="{E8395B98-85FF-EEBA-96FB-A7FD105389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E17E4DA-2C3C-2AE2-3363-D2D775759D3D}"/>
              </a:ext>
            </a:extLst>
          </p:cNvPr>
          <p:cNvGrpSpPr/>
          <p:nvPr/>
        </p:nvGrpSpPr>
        <p:grpSpPr>
          <a:xfrm>
            <a:off x="1829851" y="6117354"/>
            <a:ext cx="331190" cy="98617"/>
            <a:chOff x="1114165" y="6269753"/>
            <a:chExt cx="331190" cy="98617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21EF211C-C030-38AE-15E4-BA37EEBA2120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70" name="Rounded Rectangle 69">
              <a:extLst>
                <a:ext uri="{FF2B5EF4-FFF2-40B4-BE49-F238E27FC236}">
                  <a16:creationId xmlns:a16="http://schemas.microsoft.com/office/drawing/2014/main" id="{4618CD8B-F77F-7B94-7099-D2A6E08715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887D693-398F-725A-9E0E-7CE3C9CEBF7F}"/>
              </a:ext>
            </a:extLst>
          </p:cNvPr>
          <p:cNvGrpSpPr/>
          <p:nvPr/>
        </p:nvGrpSpPr>
        <p:grpSpPr>
          <a:xfrm>
            <a:off x="2277686" y="6117354"/>
            <a:ext cx="331190" cy="98617"/>
            <a:chOff x="1114165" y="6269753"/>
            <a:chExt cx="331190" cy="98617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A213B5F-642D-ACFE-8DAA-017FB6B32DFF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73" name="Rounded Rectangle 72">
              <a:extLst>
                <a:ext uri="{FF2B5EF4-FFF2-40B4-BE49-F238E27FC236}">
                  <a16:creationId xmlns:a16="http://schemas.microsoft.com/office/drawing/2014/main" id="{5212BCE3-BB24-D5A2-9072-32AB9DC1163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56A5C-934D-E3B5-596C-448BF20A39E1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nl-NL" dirty="0"/>
              <a:t>@@</a:t>
            </a:r>
            <a:endParaRPr lang="en-GB" sz="1550" dirty="0">
              <a:ea typeface="Calibri"/>
              <a:cs typeface="Calibri"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0FD24B40-8A09-8BE1-DFEB-86A20ADCB9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9019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F90F2-097E-682B-E154-B7F5F68A6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A01EA-8BF6-6C6E-C2EA-026E3BA52E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3012217" cy="228145"/>
          </a:xfrm>
        </p:spPr>
        <p:txBody>
          <a:bodyPr/>
          <a:lstStyle/>
          <a:p>
            <a:r>
              <a:rPr lang="en-GB" dirty="0"/>
              <a:t>Portfolio trends – Maintainability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1A6A741-490B-4D85-EDEC-A2D787FD2B6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51532D-92C0-31A1-1473-96C62B00C1E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22</a:t>
            </a:fld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D82FDEF-4FFE-5D1A-E5F7-E673D396C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Maintainability Grouped by Business Criticality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8214E2-3C43-8276-BC3B-196FE252F2B4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A6D6577-B13F-B6A8-C50E-B924340478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74536" y="6071736"/>
            <a:ext cx="371130" cy="206558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ACC91BC5-C6A3-5E77-246D-36FE2F685E7F}"/>
              </a:ext>
            </a:extLst>
          </p:cNvPr>
          <p:cNvSpPr txBox="1"/>
          <p:nvPr/>
        </p:nvSpPr>
        <p:spPr>
          <a:xfrm>
            <a:off x="2643466" y="6054740"/>
            <a:ext cx="1864762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800" dirty="0">
                <a:solidFill>
                  <a:schemeClr val="tx2"/>
                </a:solidFill>
              </a:rPr>
              <a:t>Systems grouped by </a:t>
            </a:r>
            <a:r>
              <a:rPr lang="en-US" sz="800" b="1" dirty="0">
                <a:solidFill>
                  <a:schemeClr val="tx2"/>
                </a:solidFill>
              </a:rPr>
              <a:t>Business Criticality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C38E846-65C7-5F8A-02D3-5E9652F1F70D}"/>
              </a:ext>
            </a:extLst>
          </p:cNvPr>
          <p:cNvGrpSpPr/>
          <p:nvPr/>
        </p:nvGrpSpPr>
        <p:grpSpPr>
          <a:xfrm>
            <a:off x="516802" y="6117354"/>
            <a:ext cx="300732" cy="98617"/>
            <a:chOff x="586253" y="6116391"/>
            <a:chExt cx="300732" cy="98617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446B051-EB92-D2E7-6D04-74636614C2A9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99D95B88-8CC0-573A-6535-1AF23E138BB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BCBF650-7B39-402A-827B-0981957A785C}"/>
              </a:ext>
            </a:extLst>
          </p:cNvPr>
          <p:cNvGrpSpPr/>
          <p:nvPr/>
        </p:nvGrpSpPr>
        <p:grpSpPr>
          <a:xfrm>
            <a:off x="934179" y="6117354"/>
            <a:ext cx="331190" cy="98617"/>
            <a:chOff x="961765" y="6117353"/>
            <a:chExt cx="331190" cy="98617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00EB7BA-5DEA-3F0D-197E-72B2F548A843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99B21F0D-B748-B211-AE94-D684974C74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F94FE93-43F4-84F8-E7F2-D0A5E5B08F99}"/>
              </a:ext>
            </a:extLst>
          </p:cNvPr>
          <p:cNvGrpSpPr/>
          <p:nvPr/>
        </p:nvGrpSpPr>
        <p:grpSpPr>
          <a:xfrm>
            <a:off x="1382015" y="6117354"/>
            <a:ext cx="331190" cy="98617"/>
            <a:chOff x="1114165" y="6269753"/>
            <a:chExt cx="331190" cy="98617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36C1F78-BC5D-CEC8-ED18-7E9E38E2B3F0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67" name="Rounded Rectangle 66">
              <a:extLst>
                <a:ext uri="{FF2B5EF4-FFF2-40B4-BE49-F238E27FC236}">
                  <a16:creationId xmlns:a16="http://schemas.microsoft.com/office/drawing/2014/main" id="{A4081921-0E01-5FE7-D962-38E98F27E6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DD3B032-3BEE-87E0-6573-8C81BBB66BA1}"/>
              </a:ext>
            </a:extLst>
          </p:cNvPr>
          <p:cNvGrpSpPr/>
          <p:nvPr/>
        </p:nvGrpSpPr>
        <p:grpSpPr>
          <a:xfrm>
            <a:off x="1829851" y="6117354"/>
            <a:ext cx="331190" cy="98617"/>
            <a:chOff x="1114165" y="6269753"/>
            <a:chExt cx="331190" cy="98617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4B3E38A-DFD6-B7C0-F31B-4A4BF82291BD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70" name="Rounded Rectangle 69">
              <a:extLst>
                <a:ext uri="{FF2B5EF4-FFF2-40B4-BE49-F238E27FC236}">
                  <a16:creationId xmlns:a16="http://schemas.microsoft.com/office/drawing/2014/main" id="{CE0EE23E-F45B-7E9B-0DB6-9538874186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729FE5C-29C5-D102-FDA1-A0608E280B55}"/>
              </a:ext>
            </a:extLst>
          </p:cNvPr>
          <p:cNvGrpSpPr/>
          <p:nvPr/>
        </p:nvGrpSpPr>
        <p:grpSpPr>
          <a:xfrm>
            <a:off x="2277686" y="6117354"/>
            <a:ext cx="331190" cy="98617"/>
            <a:chOff x="1114165" y="6269753"/>
            <a:chExt cx="331190" cy="98617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0EF10E4-21F6-AF24-DEE6-649B26F77B1C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73" name="Rounded Rectangle 72">
              <a:extLst>
                <a:ext uri="{FF2B5EF4-FFF2-40B4-BE49-F238E27FC236}">
                  <a16:creationId xmlns:a16="http://schemas.microsoft.com/office/drawing/2014/main" id="{DE93FE0A-13E1-4209-1411-4A41EBD2C8F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8FE69-CB4F-3856-7D00-A94F1E209BB2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nl-NL" dirty="0"/>
              <a:t>@@</a:t>
            </a:r>
            <a:endParaRPr lang="en-GB" sz="1550" dirty="0">
              <a:ea typeface="Calibri"/>
              <a:cs typeface="Calibri"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8DC9DB02-3011-E249-D943-BF8E867E7B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5570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7DD908C-8690-F25E-621E-BA91971FCA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3012217" cy="228145"/>
          </a:xfrm>
        </p:spPr>
        <p:txBody>
          <a:bodyPr/>
          <a:lstStyle/>
          <a:p>
            <a:r>
              <a:rPr lang="en-US"/>
              <a:t>Portfolio trends – Maintainability</a:t>
            </a:r>
            <a:endParaRPr lang="en-US" dirty="0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CCB8DCC3-F66F-678F-F50D-598DB85F85F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8399" y="6469694"/>
            <a:ext cx="626400" cy="231923"/>
          </a:xfrm>
        </p:spPr>
        <p:txBody>
          <a:bodyPr/>
          <a:lstStyle/>
          <a:p>
            <a:fld id="{E242BD21-9B61-2246-BCB1-4BE5E1BEBE1C}" type="slidenum">
              <a:rPr lang="en-US" noProof="0" smtClean="0"/>
              <a:pPr/>
              <a:t>23</a:t>
            </a:fld>
            <a:endParaRPr lang="en-US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0CAB926-82A1-B092-F316-4902EAC4D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/>
              <a:t>About 7 (58%) systems score market average on maintainability</a:t>
            </a:r>
            <a:endParaRPr lang="en-US" noProof="0" dirty="0"/>
          </a:p>
        </p:txBody>
      </p:sp>
      <p:sp>
        <p:nvSpPr>
          <p:cNvPr id="15" name="Tijdelijke aanduiding voor voettekst 14">
            <a:extLst>
              <a:ext uri="{FF2B5EF4-FFF2-40B4-BE49-F238E27FC236}">
                <a16:creationId xmlns:a16="http://schemas.microsoft.com/office/drawing/2014/main" id="{E61F4EF7-95D6-9141-8632-993E0F351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5275" y="6407677"/>
            <a:ext cx="1763922" cy="370422"/>
          </a:xfrm>
        </p:spPr>
        <p:txBody>
          <a:bodyPr/>
          <a:lstStyle/>
          <a:p>
            <a:r>
              <a:rPr lang="nl-NL"/>
              <a:t>Generated with Sigrid</a:t>
            </a:r>
          </a:p>
          <a:p>
            <a:r>
              <a:rPr lang="nl-NL"/>
              <a:t>for Reportgeneratordemo</a:t>
            </a:r>
            <a:endParaRPr lang="nl-NL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2C3C6B-FDFF-1D49-A1BC-305B68E0B083}"/>
              </a:ext>
            </a:extLst>
          </p:cNvPr>
          <p:cNvSpPr txBox="1"/>
          <p:nvPr/>
        </p:nvSpPr>
        <p:spPr>
          <a:xfrm>
            <a:off x="711225" y="1798115"/>
            <a:ext cx="1040819" cy="36400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</a:t>
            </a:r>
            <a:r>
              <a:rPr lang="en-US" sz="160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6B9F2E-1FAA-6147-8D4B-123937F3FA14}"/>
              </a:ext>
            </a:extLst>
          </p:cNvPr>
          <p:cNvSpPr txBox="1"/>
          <p:nvPr/>
        </p:nvSpPr>
        <p:spPr>
          <a:xfrm rot="16200000">
            <a:off x="-41294" y="3636790"/>
            <a:ext cx="1181883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chemeClr val="accent4"/>
                </a:solidFill>
                <a:latin typeface="☞NOIR PRO MEDIUM" pitchFamily="2" charset="0"/>
              </a:rPr>
              <a:t>Maintainability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CA2804-3BBC-1243-B252-3606CEE166D1}"/>
              </a:ext>
            </a:extLst>
          </p:cNvPr>
          <p:cNvSpPr txBox="1"/>
          <p:nvPr/>
        </p:nvSpPr>
        <p:spPr>
          <a:xfrm>
            <a:off x="5449035" y="5901169"/>
            <a:ext cx="2783283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chemeClr val="accent4"/>
                </a:solidFill>
                <a:latin typeface="☞NOIR PRO MEDIUM" pitchFamily="2" charset="0"/>
              </a:rPr>
              <a:t>System rebuild volume in person years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D40947C-5676-1242-AEC0-87071DBECADF}"/>
              </a:ext>
            </a:extLst>
          </p:cNvPr>
          <p:cNvCxnSpPr>
            <a:cxnSpLocks/>
          </p:cNvCxnSpPr>
          <p:nvPr/>
        </p:nvCxnSpPr>
        <p:spPr>
          <a:xfrm flipV="1">
            <a:off x="723627" y="3266661"/>
            <a:ext cx="0" cy="987287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C24D10E-589B-A645-A73D-2DF5671E5BCE}"/>
              </a:ext>
            </a:extLst>
          </p:cNvPr>
          <p:cNvCxnSpPr>
            <a:cxnSpLocks/>
          </p:cNvCxnSpPr>
          <p:nvPr/>
        </p:nvCxnSpPr>
        <p:spPr>
          <a:xfrm>
            <a:off x="5546035" y="6223288"/>
            <a:ext cx="2590800" cy="0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4719D613-2D86-324E-B31C-9B748075401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75560" y="1842711"/>
            <a:ext cx="9781201" cy="3899777"/>
          </a:xfrm>
          <a:prstGeom prst="rect">
            <a:avLst/>
          </a:prstGeom>
        </p:spPr>
      </p:pic>
      <p:graphicFrame>
        <p:nvGraphicFramePr>
          <p:cNvPr id="25" name="PORTFOLIO_GALAXY_CHART">
            <a:extLst>
              <a:ext uri="{FF2B5EF4-FFF2-40B4-BE49-F238E27FC236}">
                <a16:creationId xmlns:a16="http://schemas.microsoft.com/office/drawing/2014/main" id="{71473021-ED8B-E048-AE80-928BC05FB04C}"/>
              </a:ext>
            </a:extLst>
          </p:cNvPr>
          <p:cNvGraphicFramePr/>
          <p:nvPr/>
        </p:nvGraphicFramePr>
        <p:xfrm>
          <a:off x="1482154" y="1834937"/>
          <a:ext cx="10279108" cy="41311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27" name="Group 26">
            <a:extLst>
              <a:ext uri="{FF2B5EF4-FFF2-40B4-BE49-F238E27FC236}">
                <a16:creationId xmlns:a16="http://schemas.microsoft.com/office/drawing/2014/main" id="{4FC400F9-4DE2-8F42-8C2D-4150A26F3F2C}"/>
              </a:ext>
            </a:extLst>
          </p:cNvPr>
          <p:cNvGrpSpPr/>
          <p:nvPr/>
        </p:nvGrpSpPr>
        <p:grpSpPr>
          <a:xfrm>
            <a:off x="5118606" y="1363956"/>
            <a:ext cx="3444121" cy="390363"/>
            <a:chOff x="4652159" y="1363956"/>
            <a:chExt cx="3444121" cy="390363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35046831-DB71-A940-A48A-8B31929634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100000"/>
            </a:blip>
            <a:stretch>
              <a:fillRect/>
            </a:stretch>
          </p:blipFill>
          <p:spPr>
            <a:xfrm>
              <a:off x="4652159" y="1380274"/>
              <a:ext cx="355600" cy="30226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26023ED-8DC0-D241-985A-9479E28D34EC}"/>
                </a:ext>
              </a:extLst>
            </p:cNvPr>
            <p:cNvSpPr txBox="1"/>
            <p:nvPr/>
          </p:nvSpPr>
          <p:spPr>
            <a:xfrm>
              <a:off x="4987587" y="1363956"/>
              <a:ext cx="3108693" cy="390363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noProof="0" dirty="0">
                  <a:solidFill>
                    <a:schemeClr val="bg1"/>
                  </a:solidFill>
                  <a:latin typeface="☞NOIR PRO MEDIUM" pitchFamily="2" charset="0"/>
                </a:rPr>
                <a:t>maintainability benchmark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966B7EB-EB40-8F4F-BFE2-14F8A482C1E9}"/>
              </a:ext>
            </a:extLst>
          </p:cNvPr>
          <p:cNvGrpSpPr/>
          <p:nvPr/>
        </p:nvGrpSpPr>
        <p:grpSpPr>
          <a:xfrm>
            <a:off x="1894777" y="5911258"/>
            <a:ext cx="1800067" cy="289438"/>
            <a:chOff x="1894777" y="5954803"/>
            <a:chExt cx="1800067" cy="289438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F1D2BB0-4FB7-FD48-9491-1CC2359747A2}"/>
                </a:ext>
              </a:extLst>
            </p:cNvPr>
            <p:cNvSpPr/>
            <p:nvPr/>
          </p:nvSpPr>
          <p:spPr>
            <a:xfrm>
              <a:off x="1894777" y="6061515"/>
              <a:ext cx="79513" cy="79513"/>
            </a:xfrm>
            <a:prstGeom prst="ellipse">
              <a:avLst/>
            </a:prstGeom>
            <a:solidFill>
              <a:schemeClr val="bg1"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BD5F066-D653-7244-8E79-CAE5026508C0}"/>
                </a:ext>
              </a:extLst>
            </p:cNvPr>
            <p:cNvSpPr txBox="1"/>
            <p:nvPr/>
          </p:nvSpPr>
          <p:spPr>
            <a:xfrm>
              <a:off x="1934534" y="5954803"/>
              <a:ext cx="1760310" cy="289438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200" noProof="0" dirty="0">
                  <a:solidFill>
                    <a:schemeClr val="bg1"/>
                  </a:solidFill>
                </a:rPr>
                <a:t>System in SIG benchmark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293170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A67B8CA-FA62-44B4-D64F-7AE66F54E4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3771079" cy="228209"/>
          </a:xfrm>
        </p:spPr>
        <p:txBody>
          <a:bodyPr/>
          <a:lstStyle/>
          <a:p>
            <a:r>
              <a:rPr lang="en-GB"/>
              <a:t>Portfolio trends – Maintainability – Change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1869EA-9362-72EE-ED3C-8D75DBC0EA5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24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142A00E-00AC-EFDD-9879-48F076592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portfolio's maintainability has decreased (with -0.7 to 2.5) during the measured period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5957715-193B-2979-0E14-2837D7FD46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9255" y="5889905"/>
            <a:ext cx="371130" cy="2065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1A1486B-1FC8-8061-2EAD-D6029AC875CA}"/>
              </a:ext>
            </a:extLst>
          </p:cNvPr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54B19E9-6032-3569-1EA3-AD547B485538}"/>
              </a:ext>
            </a:extLst>
          </p:cNvPr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C89DDEB-866F-F9CB-F41F-492551803AA3}"/>
              </a:ext>
            </a:extLst>
          </p:cNvPr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7413425-5C90-1783-D3A3-3D305C306676}"/>
              </a:ext>
            </a:extLst>
          </p:cNvPr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37CD411-A534-DB90-F70A-80399BB52D7B}"/>
              </a:ext>
            </a:extLst>
          </p:cNvPr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AA03C95-0F32-285C-472B-DA0501614D58}"/>
              </a:ext>
            </a:extLst>
          </p:cNvPr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0A4FE0-6970-0254-9F24-4B7D592FD93A}"/>
              </a:ext>
            </a:extLst>
          </p:cNvPr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  <a:endParaRPr lang="en-GB" sz="800" b="1" dirty="0">
              <a:solidFill>
                <a:schemeClr val="tx2"/>
              </a:solidFill>
              <a:latin typeface="Sigsterren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04045B-77E5-3803-3EEF-A0F4A38EE046}"/>
              </a:ext>
            </a:extLst>
          </p:cNvPr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  <a:endParaRPr lang="en-GB" sz="800" b="1" dirty="0">
              <a:solidFill>
                <a:schemeClr val="tx2"/>
              </a:solidFill>
              <a:latin typeface="Sigsterren" pitchFamily="2" charset="0"/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792AFD3-A811-53EC-B9FF-ACF5582A6ED6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sz="1550" dirty="0">
                <a:ea typeface="Calibri"/>
                <a:cs typeface="Calibri"/>
              </a:rPr>
              <a:t>8% of systems has seen an increase in maintainability. 8% of systems has remained stable. 83%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The largest increase in maintainability rating was experienced by integrationtest-druid (0.0 stars). The largest decrease in maintainability rating was experienced by integrationtest-vscode (0.0 stars).</a:t>
            </a:r>
          </a:p>
        </p:txBody>
      </p:sp>
      <p:sp>
        <p:nvSpPr>
          <p:cNvPr id="25" name="Footer Placeholder 3">
            <a:extLst>
              <a:ext uri="{FF2B5EF4-FFF2-40B4-BE49-F238E27FC236}">
                <a16:creationId xmlns:a16="http://schemas.microsoft.com/office/drawing/2014/main" id="{62677B25-859C-76E2-7724-E46BE3056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/>
              <a:t>Generated with Sigrid</a:t>
            </a:r>
          </a:p>
          <a:p>
            <a:r>
              <a:rPr lang="nl-NL"/>
              <a:t>for Reportgeneratordemo</a:t>
            </a:r>
            <a:endParaRPr lang="nl-NL" dirty="0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5115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7F5E6F9-F646-2621-3ECC-B2A693B5329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4361304" cy="228209"/>
          </a:xfrm>
        </p:spPr>
        <p:txBody>
          <a:bodyPr/>
          <a:lstStyle/>
          <a:p>
            <a:r>
              <a:rPr lang="en-GB" dirty="0"/>
              <a:t>Portfolio trends – Maintainability – Delta Quality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74F2BF-4CA6-50AA-B99F-E948E9B811C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25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12D033D-4CA9-CECD-FC25-4F30961BD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GB" dirty="0"/>
              <a:t>Maintainability ratings of newly written code between 11 January 2026 and 8 March 2026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E135570-D80B-D1B1-054A-C690D81954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A80C054-C74A-85C9-4528-6DC22A256A65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3570F5E-51BF-3962-84E2-45A92F1C8BFA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136F1B5-B6B1-B883-8B3C-00693DA070F6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41CD5492-40E3-E786-F583-1EE2149D22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9778BD3-6B52-E7DA-5105-B5B0FFC5CA61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04AA2C9-D341-5635-F3CA-78A97D525D4B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DF602512-EB0F-1D20-C16F-9F6E8C2D80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3AADD56-4D4C-8447-3FD7-F1E94288BBE8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0AFED2B-5565-64C7-6B99-35E8CCBE475D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37D1A56F-2AFD-E4E9-0F6B-599384DFF8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D6DDFCC-FDD6-8B50-CC33-F43116CE5873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716EAB9-CCB1-9D30-142C-E67002C7E9AF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F063CD8A-141A-63AF-6CBE-D3879FAC87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5343AE2-DC60-4FB8-90CB-328B3B292E39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1256AFF-19A8-F941-A8C9-00EB6EF20D57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7" name="Rounded Rectangle 46">
              <a:extLst>
                <a:ext uri="{FF2B5EF4-FFF2-40B4-BE49-F238E27FC236}">
                  <a16:creationId xmlns:a16="http://schemas.microsoft.com/office/drawing/2014/main" id="{2F57D1EE-A07F-BAE6-42C8-B3AC608958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F5EA2AF5-0C7B-6DB1-46A7-9076322F3A73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highest maintainability rating for new code was achieved by integrationtest-zuul (5.5 stars). The lowest maintainability rating for new code was in integrationtest-jruby (2.5 stars).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0E4CE6E4-E826-8855-8337-8A80408312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7047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B5EC3-2A89-EF88-5A56-3D554D8CC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6B5548-3455-9844-5004-E49CD11C6D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4361304" cy="228209"/>
          </a:xfrm>
        </p:spPr>
        <p:txBody>
          <a:bodyPr/>
          <a:lstStyle/>
          <a:p>
            <a:r>
              <a:rPr lang="en-GB" dirty="0"/>
              <a:t>Portfolio trends – Maintainability – Delta Quality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0A32CF-7CBE-2C0C-5381-28EFF19753C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26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7371D7-A678-7A32-E175-0E7DF8D9E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GB" dirty="0"/>
              <a:t>Maintainability ratings of changed code between 11 January 2026 and 8 March 2026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263B0AA-5D87-F385-AF46-88B1DD533A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C61E12F-4F73-0E02-AFAE-4D08CA48A0C3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DFC7257-2BE2-5CE3-C10B-BE3AC2B18C72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D1508AC-9EBA-994D-5A5A-FA52E9A69E9C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371DCEDD-7FD1-7BDF-F5C1-F91EA2E8DD1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DD34B76-0227-F645-0A0C-1697CB7E19CB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0C2DA85-206F-DB2E-5C73-7B08646DBA88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DE7C13A2-9231-F9A5-DAE6-B9C2B934C9C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557F437-2819-329B-EDCB-5E85A7422083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017E262-89FB-1571-225F-028F46BE08C6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9C4B866F-F8B8-9878-A0F7-B0591D0116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0982081-C926-E0A8-28C5-FE9E62F4125A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04B11B7-6316-2B2B-1EB6-00E55E6915B3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FEA03BAA-5800-AFD6-84A6-38D9A87D6E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77DC13E-BA93-909A-5BA6-1FFE85D9E34C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901BBD6-0742-680E-25F0-D19CEBB0E331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7" name="Rounded Rectangle 46">
              <a:extLst>
                <a:ext uri="{FF2B5EF4-FFF2-40B4-BE49-F238E27FC236}">
                  <a16:creationId xmlns:a16="http://schemas.microsoft.com/office/drawing/2014/main" id="{CEA51C4B-192C-AF95-F9B9-3B24E46BF67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1D880514-4785-0D93-6BDA-1F2E0E83B5B9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sz="1550" noProof="0" dirty="0"/>
              <a:t>@@</a:t>
            </a:r>
            <a:endParaRPr lang="en-GB" sz="1550" dirty="0">
              <a:ea typeface="Calibri"/>
              <a:cs typeface="Calibri"/>
            </a:endParaRP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A5E2B7E1-5A1B-B2EC-5518-63FC0E359F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4666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446C1F-5778-E596-B40D-BC39A302905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2843581" cy="228209"/>
          </a:xfrm>
        </p:spPr>
        <p:txBody>
          <a:bodyPr/>
          <a:lstStyle/>
          <a:p>
            <a:r>
              <a:rPr lang="en-GB" dirty="0"/>
              <a:t>Portfolio trends – Volume Change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B6CC33-85BB-6686-87C3-6E2C1EC480A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27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237797-15BA-3A3C-A5DB-CEBB6BFCA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GB" dirty="0"/>
              <a:t>Change in volume (effort) of the portfolio between 11 January 2026 and 8 March 2026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591A62A-783F-7AF6-89B3-FD236EF5EA4F}"/>
              </a:ext>
            </a:extLst>
          </p:cNvPr>
          <p:cNvGrpSpPr/>
          <p:nvPr/>
        </p:nvGrpSpPr>
        <p:grpSpPr>
          <a:xfrm>
            <a:off x="626780" y="5849109"/>
            <a:ext cx="2760731" cy="223844"/>
            <a:chOff x="512064" y="6054740"/>
            <a:chExt cx="2760731" cy="22384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EF34C57-170D-5311-7541-AFD3500F5E86}"/>
                </a:ext>
              </a:extLst>
            </p:cNvPr>
            <p:cNvSpPr txBox="1"/>
            <p:nvPr/>
          </p:nvSpPr>
          <p:spPr>
            <a:xfrm>
              <a:off x="1996335" y="6054740"/>
              <a:ext cx="1276460" cy="223844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Systems grouped by </a:t>
              </a:r>
              <a:r>
                <a:rPr lang="en-GB" sz="800" b="1" dirty="0">
                  <a:solidFill>
                    <a:schemeClr val="tx2"/>
                  </a:solidFill>
                </a:rPr>
                <a:t>Team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89EF8ADA-DE01-AA30-2028-ED49BE436A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9122" y="6118505"/>
              <a:ext cx="91440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E10D5863-7369-49C4-1B54-EEA04955FF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38992" y="6118505"/>
              <a:ext cx="91440" cy="91440"/>
            </a:xfrm>
            <a:prstGeom prst="roundRect">
              <a:avLst/>
            </a:prstGeom>
            <a:solidFill>
              <a:srgbClr val="EFE6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D52AC297-2CB7-56A7-5F80-FC2404D96FC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98862" y="6118505"/>
              <a:ext cx="91440" cy="91440"/>
            </a:xfrm>
            <a:prstGeom prst="roundRect">
              <a:avLst/>
            </a:prstGeom>
            <a:solidFill>
              <a:srgbClr val="F7F9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E88086E6-082A-B2A9-7D0B-B77386A1B5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58732" y="6118505"/>
              <a:ext cx="91440" cy="91440"/>
            </a:xfrm>
            <a:prstGeom prst="roundRect">
              <a:avLst/>
            </a:prstGeom>
            <a:solidFill>
              <a:srgbClr val="D8E9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6A065D0B-30E5-B7B4-A9AE-146C6FBBB39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18602" y="6118505"/>
              <a:ext cx="91440" cy="91440"/>
            </a:xfrm>
            <a:prstGeom prst="roundRect">
              <a:avLst/>
            </a:prstGeom>
            <a:solidFill>
              <a:srgbClr val="58B8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2295768-BD04-4C08-1C9F-E6A857D50707}"/>
                </a:ext>
              </a:extLst>
            </p:cNvPr>
            <p:cNvSpPr txBox="1"/>
            <p:nvPr/>
          </p:nvSpPr>
          <p:spPr>
            <a:xfrm>
              <a:off x="1678471" y="6054740"/>
              <a:ext cx="341910" cy="223844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b="1" dirty="0">
                  <a:solidFill>
                    <a:schemeClr val="tx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+PY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C6564EB-114B-305E-F2F4-C36CA3CBD1C9}"/>
                </a:ext>
              </a:extLst>
            </p:cNvPr>
            <p:cNvSpPr txBox="1"/>
            <p:nvPr/>
          </p:nvSpPr>
          <p:spPr>
            <a:xfrm>
              <a:off x="512064" y="6054740"/>
              <a:ext cx="322674" cy="223844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b="1" dirty="0">
                  <a:solidFill>
                    <a:schemeClr val="tx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-PY</a:t>
              </a:r>
            </a:p>
          </p:txBody>
        </p:sp>
      </p:grpSp>
      <p:pic>
        <p:nvPicPr>
          <p:cNvPr id="55" name="Graphic 54">
            <a:extLst>
              <a:ext uri="{FF2B5EF4-FFF2-40B4-BE49-F238E27FC236}">
                <a16:creationId xmlns:a16="http://schemas.microsoft.com/office/drawing/2014/main" id="{29A432BB-A903-CCB9-4E0F-E5A85232BA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F494787E-2446-5685-907F-157921FE4F19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noProof="0" dirty="0"/>
              <a:t>The portfolio has seen an overall increase in volume of 19.9 person years.</a:t>
            </a:r>
          </a:p>
          <a:p>
            <a:pPr indent="-283845"/>
            <a:r>
              <a:rPr lang="en-GB" dirty="0">
                <a:ea typeface="Calibri"/>
                <a:cs typeface="Calibri"/>
              </a:rPr>
              <a:t>The system integrationtest-elasticsearch has seen the biggest change with an increase of 10.7 person years.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D4A10E2-A9D0-9CB8-4A20-12E583F531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7864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F4FC4-92FA-133B-51E6-15AF607B4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DA83DCD-7C70-900D-43B4-CE96EF7B7F6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4192668" cy="228209"/>
          </a:xfrm>
        </p:spPr>
        <p:txBody>
          <a:bodyPr/>
          <a:lstStyle/>
          <a:p>
            <a:r>
              <a:rPr lang="en-GB" dirty="0"/>
              <a:t>Portfolio trends – Test-to-production code ratio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A13365-7513-F41E-A229-F5E5011630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28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213AD90-B853-FCBB-8AD0-E3ECB7441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GB" dirty="0"/>
              <a:t>Test-to-production code ratios of the portfolio between 11 January 2026 and 8 March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2D8A7E-FC89-374D-3928-733975E07F27}"/>
              </a:ext>
            </a:extLst>
          </p:cNvPr>
          <p:cNvSpPr txBox="1"/>
          <p:nvPr/>
        </p:nvSpPr>
        <p:spPr>
          <a:xfrm>
            <a:off x="3082464" y="5845729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F318A3D-4B01-E38F-0096-41FFF1B28944}"/>
              </a:ext>
            </a:extLst>
          </p:cNvPr>
          <p:cNvGrpSpPr/>
          <p:nvPr/>
        </p:nvGrpSpPr>
        <p:grpSpPr>
          <a:xfrm>
            <a:off x="694948" y="5908343"/>
            <a:ext cx="273482" cy="98617"/>
            <a:chOff x="586253" y="6116391"/>
            <a:chExt cx="273482" cy="9861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B1B111F-FBB9-EA13-F251-F40E05265B0A}"/>
                </a:ext>
              </a:extLst>
            </p:cNvPr>
            <p:cNvSpPr txBox="1"/>
            <p:nvPr/>
          </p:nvSpPr>
          <p:spPr>
            <a:xfrm>
              <a:off x="710655" y="6116391"/>
              <a:ext cx="14908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≤ 1%</a:t>
              </a: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87D12FC3-B3EE-A681-5D2C-4218A1C308E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EFB8AA5-C615-8F28-1025-70C65A980764}"/>
              </a:ext>
            </a:extLst>
          </p:cNvPr>
          <p:cNvGrpSpPr/>
          <p:nvPr/>
        </p:nvGrpSpPr>
        <p:grpSpPr>
          <a:xfrm>
            <a:off x="1060651" y="5908343"/>
            <a:ext cx="408134" cy="98617"/>
            <a:chOff x="961765" y="6117353"/>
            <a:chExt cx="408134" cy="9861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87C06F8-9044-79E7-C86A-2D8041876F85}"/>
                </a:ext>
              </a:extLst>
            </p:cNvPr>
            <p:cNvSpPr txBox="1"/>
            <p:nvPr/>
          </p:nvSpPr>
          <p:spPr>
            <a:xfrm>
              <a:off x="1086167" y="6117353"/>
              <a:ext cx="283732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1% - 15%</a:t>
              </a: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2887F516-DD39-62A6-32D1-0B63742650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CD6264C-A1FC-6A59-5FF0-B02177854F9D}"/>
              </a:ext>
            </a:extLst>
          </p:cNvPr>
          <p:cNvGrpSpPr/>
          <p:nvPr/>
        </p:nvGrpSpPr>
        <p:grpSpPr>
          <a:xfrm>
            <a:off x="1561006" y="5908343"/>
            <a:ext cx="446606" cy="98617"/>
            <a:chOff x="1114165" y="6269753"/>
            <a:chExt cx="446606" cy="9861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7767932-53B3-03DB-2C57-283ECA8F4412}"/>
                </a:ext>
              </a:extLst>
            </p:cNvPr>
            <p:cNvSpPr txBox="1"/>
            <p:nvPr/>
          </p:nvSpPr>
          <p:spPr>
            <a:xfrm>
              <a:off x="1238567" y="6269753"/>
              <a:ext cx="322204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15% - 50%</a:t>
              </a:r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DB5BF329-CA8A-DA0E-3BAF-54E5770234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039F19E-79AC-7455-2D15-72A0F595FFC9}"/>
              </a:ext>
            </a:extLst>
          </p:cNvPr>
          <p:cNvGrpSpPr/>
          <p:nvPr/>
        </p:nvGrpSpPr>
        <p:grpSpPr>
          <a:xfrm>
            <a:off x="2099833" y="5908343"/>
            <a:ext cx="485078" cy="98617"/>
            <a:chOff x="1114165" y="6269753"/>
            <a:chExt cx="485078" cy="98617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60A24F1-37A5-9F07-855B-7E46A52C102C}"/>
                </a:ext>
              </a:extLst>
            </p:cNvPr>
            <p:cNvSpPr txBox="1"/>
            <p:nvPr/>
          </p:nvSpPr>
          <p:spPr>
            <a:xfrm>
              <a:off x="1238567" y="6269753"/>
              <a:ext cx="360676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50% - 150%</a:t>
              </a: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15CD8E8A-19FB-CC94-9D8A-28911D7068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23AD9C7-8D68-456A-B040-0C3083E160F6}"/>
              </a:ext>
            </a:extLst>
          </p:cNvPr>
          <p:cNvGrpSpPr/>
          <p:nvPr/>
        </p:nvGrpSpPr>
        <p:grpSpPr>
          <a:xfrm>
            <a:off x="2677130" y="5908343"/>
            <a:ext cx="350426" cy="98617"/>
            <a:chOff x="1114165" y="6269753"/>
            <a:chExt cx="350426" cy="9861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8D2D40F-86C4-A805-5564-B535E1BDEA47}"/>
                </a:ext>
              </a:extLst>
            </p:cNvPr>
            <p:cNvSpPr txBox="1"/>
            <p:nvPr/>
          </p:nvSpPr>
          <p:spPr>
            <a:xfrm>
              <a:off x="1238567" y="6269753"/>
              <a:ext cx="226024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&gt; 150%</a:t>
              </a: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7001D75D-95FB-3C51-F392-A5E177860A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pic>
        <p:nvPicPr>
          <p:cNvPr id="3" name="Graphic 2">
            <a:extLst>
              <a:ext uri="{FF2B5EF4-FFF2-40B4-BE49-F238E27FC236}">
                <a16:creationId xmlns:a16="http://schemas.microsoft.com/office/drawing/2014/main" id="{A5EBD51A-EAC9-1AE9-F142-54EBB16F3D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35EE8E18-8776-00A3-9C94-97989DFBACF8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sz="1550" dirty="0"/>
              <a:t>25% systems have a test code ratio of &lt; 50%.</a:t>
            </a:r>
          </a:p>
          <a:p>
            <a:pPr indent="-283845"/>
            <a:r>
              <a:rPr lang="en-GB" sz="1550" dirty="0"/>
              <a:t>42% of systems have a test code ratio between 50% and 100%.</a:t>
            </a:r>
          </a:p>
          <a:p>
            <a:pPr indent="-283845"/>
            <a:r>
              <a:rPr lang="en-GB" sz="1550" dirty="0"/>
              <a:t>33% of systems have a test code ratio ≥ 100%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61DD779-D29F-E00A-9C65-A4D9D7C383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4648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75625-8644-5854-9F83-9F36AE8F2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5E6CB4A-7E0E-E565-486A-5DB654A87C3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4192668" cy="228209"/>
          </a:xfrm>
        </p:spPr>
        <p:txBody>
          <a:bodyPr/>
          <a:lstStyle/>
          <a:p>
            <a:r>
              <a:rPr lang="en-GB" dirty="0"/>
              <a:t>Portfolio trends – Test-to-production code ratio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E8C8F1-CE1A-46D3-0BA6-F889B9D1B87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29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06968ED-9E83-A49E-5E87-63A71987D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Test Code Ratio Grouped by Main Technology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2787F7-4923-A6F4-B8BC-AA0B6841CDE7}"/>
              </a:ext>
            </a:extLst>
          </p:cNvPr>
          <p:cNvSpPr txBox="1"/>
          <p:nvPr/>
        </p:nvSpPr>
        <p:spPr>
          <a:xfrm>
            <a:off x="3082464" y="5845729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2862765-40D5-7D45-7AF4-0F626CE7E743}"/>
              </a:ext>
            </a:extLst>
          </p:cNvPr>
          <p:cNvGrpSpPr/>
          <p:nvPr/>
        </p:nvGrpSpPr>
        <p:grpSpPr>
          <a:xfrm>
            <a:off x="694948" y="5908343"/>
            <a:ext cx="273482" cy="98617"/>
            <a:chOff x="586253" y="6116391"/>
            <a:chExt cx="273482" cy="9861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E98EE12-DD3C-4AC5-B45F-1D9DA346C37A}"/>
                </a:ext>
              </a:extLst>
            </p:cNvPr>
            <p:cNvSpPr txBox="1"/>
            <p:nvPr/>
          </p:nvSpPr>
          <p:spPr>
            <a:xfrm>
              <a:off x="710655" y="6116391"/>
              <a:ext cx="14908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≤ 1%</a:t>
              </a: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18AD473E-3942-6E49-1FCD-CC05DD97AE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5877F80-D83B-8F9D-1D82-98CDA0657127}"/>
              </a:ext>
            </a:extLst>
          </p:cNvPr>
          <p:cNvGrpSpPr/>
          <p:nvPr/>
        </p:nvGrpSpPr>
        <p:grpSpPr>
          <a:xfrm>
            <a:off x="1060651" y="5908343"/>
            <a:ext cx="408134" cy="98617"/>
            <a:chOff x="961765" y="6117353"/>
            <a:chExt cx="408134" cy="9861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0E3BEF7-84EA-7653-3F08-34BC61CCC3C9}"/>
                </a:ext>
              </a:extLst>
            </p:cNvPr>
            <p:cNvSpPr txBox="1"/>
            <p:nvPr/>
          </p:nvSpPr>
          <p:spPr>
            <a:xfrm>
              <a:off x="1086167" y="6117353"/>
              <a:ext cx="283732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1% - 15%</a:t>
              </a: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331784C8-27D3-E190-1188-83F8143002C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D98766D-7061-26B2-4081-542C5D9CAA47}"/>
              </a:ext>
            </a:extLst>
          </p:cNvPr>
          <p:cNvGrpSpPr/>
          <p:nvPr/>
        </p:nvGrpSpPr>
        <p:grpSpPr>
          <a:xfrm>
            <a:off x="1561006" y="5908343"/>
            <a:ext cx="446606" cy="98617"/>
            <a:chOff x="1114165" y="6269753"/>
            <a:chExt cx="446606" cy="9861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0EACCEE-F6C5-4239-D307-F1346978364D}"/>
                </a:ext>
              </a:extLst>
            </p:cNvPr>
            <p:cNvSpPr txBox="1"/>
            <p:nvPr/>
          </p:nvSpPr>
          <p:spPr>
            <a:xfrm>
              <a:off x="1238567" y="6269753"/>
              <a:ext cx="322204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15% - 50%</a:t>
              </a:r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F7980C08-449C-8781-AFFE-1B5D0B713EE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3DEE7BE-C0DD-5C7B-8A4F-B219560AA303}"/>
              </a:ext>
            </a:extLst>
          </p:cNvPr>
          <p:cNvGrpSpPr/>
          <p:nvPr/>
        </p:nvGrpSpPr>
        <p:grpSpPr>
          <a:xfrm>
            <a:off x="2099833" y="5908343"/>
            <a:ext cx="485078" cy="98617"/>
            <a:chOff x="1114165" y="6269753"/>
            <a:chExt cx="485078" cy="98617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2BE5AE9-EDB3-A5FB-A41D-39D01995E609}"/>
                </a:ext>
              </a:extLst>
            </p:cNvPr>
            <p:cNvSpPr txBox="1"/>
            <p:nvPr/>
          </p:nvSpPr>
          <p:spPr>
            <a:xfrm>
              <a:off x="1238567" y="6269753"/>
              <a:ext cx="360676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50% - 150%</a:t>
              </a: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8BE2B2C6-D275-9C9C-6E3C-6DEF49F9F5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9F00055-C843-86F0-C3D7-38ABE03F5C50}"/>
              </a:ext>
            </a:extLst>
          </p:cNvPr>
          <p:cNvGrpSpPr/>
          <p:nvPr/>
        </p:nvGrpSpPr>
        <p:grpSpPr>
          <a:xfrm>
            <a:off x="2677130" y="5908343"/>
            <a:ext cx="350426" cy="98617"/>
            <a:chOff x="1114165" y="6269753"/>
            <a:chExt cx="350426" cy="9861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7C617B4-6B70-3461-DF10-192E09E859F7}"/>
                </a:ext>
              </a:extLst>
            </p:cNvPr>
            <p:cNvSpPr txBox="1"/>
            <p:nvPr/>
          </p:nvSpPr>
          <p:spPr>
            <a:xfrm>
              <a:off x="1238567" y="6269753"/>
              <a:ext cx="226024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&gt; 150%</a:t>
              </a: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E8CC5339-E836-0F40-B13E-8AB2238B2A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pic>
        <p:nvPicPr>
          <p:cNvPr id="3" name="Graphic 2">
            <a:extLst>
              <a:ext uri="{FF2B5EF4-FFF2-40B4-BE49-F238E27FC236}">
                <a16:creationId xmlns:a16="http://schemas.microsoft.com/office/drawing/2014/main" id="{B529869A-4031-1A95-3ED8-A3F5C59BCE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BF83632A-5C0F-EE29-CEC5-A1C83E82A100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sz="1550" dirty="0"/>
              <a:t>@@</a:t>
            </a:r>
            <a:endParaRPr lang="en-GB" sz="1550" dirty="0">
              <a:ea typeface="Calibri"/>
              <a:cs typeface="Calibri"/>
            </a:endParaRP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EB08F95E-E453-1063-D8EF-9330F4D3B9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2905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FFD6A-9E05-3D46-E60D-058AD3DFF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5E93391-04C7-7757-5D2A-13EDA0DE25E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4951530" cy="228209"/>
          </a:xfrm>
        </p:spPr>
        <p:txBody>
          <a:bodyPr/>
          <a:lstStyle/>
          <a:p>
            <a:r>
              <a:rPr lang="en-GB" dirty="0"/>
              <a:t>Portfolio trends – Test-to-production code ratio – Change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5CB48E-331C-26C2-9486-41470DE99B0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30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1192D23-A084-1C07-108E-A039F527F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GB" dirty="0"/>
              <a:t>Change in test-to-production code ratios of the portfolio between 11 January 2026 and 8 March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9C737C-0323-E724-2600-C1FD0C48F918}"/>
              </a:ext>
            </a:extLst>
          </p:cNvPr>
          <p:cNvSpPr txBox="1"/>
          <p:nvPr/>
        </p:nvSpPr>
        <p:spPr>
          <a:xfrm>
            <a:off x="2083423" y="5828312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55CC23-7FB2-3819-DF45-F461573B4C64}"/>
              </a:ext>
            </a:extLst>
          </p:cNvPr>
          <p:cNvSpPr txBox="1"/>
          <p:nvPr/>
        </p:nvSpPr>
        <p:spPr>
          <a:xfrm>
            <a:off x="1765559" y="5828312"/>
            <a:ext cx="309850" cy="22377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AFA911-0B10-AF2D-A9C0-DD22BC1BBD4E}"/>
              </a:ext>
            </a:extLst>
          </p:cNvPr>
          <p:cNvSpPr txBox="1"/>
          <p:nvPr/>
        </p:nvSpPr>
        <p:spPr>
          <a:xfrm>
            <a:off x="599152" y="5828312"/>
            <a:ext cx="290614" cy="22377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-%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25916BB-0B42-8048-110F-7C3BB681E20B}"/>
              </a:ext>
            </a:extLst>
          </p:cNvPr>
          <p:cNvSpPr>
            <a:spLocks noChangeAspect="1"/>
          </p:cNvSpPr>
          <p:nvPr/>
        </p:nvSpPr>
        <p:spPr>
          <a:xfrm>
            <a:off x="966210" y="5892077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17EB203-3DE5-97DD-075C-0B587EC23CA8}"/>
              </a:ext>
            </a:extLst>
          </p:cNvPr>
          <p:cNvSpPr>
            <a:spLocks noChangeAspect="1"/>
          </p:cNvSpPr>
          <p:nvPr/>
        </p:nvSpPr>
        <p:spPr>
          <a:xfrm>
            <a:off x="1126080" y="5892077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DC54916-F833-9417-0E3F-376D5F92F098}"/>
              </a:ext>
            </a:extLst>
          </p:cNvPr>
          <p:cNvSpPr>
            <a:spLocks noChangeAspect="1"/>
          </p:cNvSpPr>
          <p:nvPr/>
        </p:nvSpPr>
        <p:spPr>
          <a:xfrm>
            <a:off x="1285950" y="5892077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B2403CD-7F96-B10B-C967-0067917FCE2C}"/>
              </a:ext>
            </a:extLst>
          </p:cNvPr>
          <p:cNvSpPr>
            <a:spLocks noChangeAspect="1"/>
          </p:cNvSpPr>
          <p:nvPr/>
        </p:nvSpPr>
        <p:spPr>
          <a:xfrm>
            <a:off x="1445820" y="5892077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AC43A55-E9EE-0CF2-1BEE-A73AE19E5A7B}"/>
              </a:ext>
            </a:extLst>
          </p:cNvPr>
          <p:cNvSpPr>
            <a:spLocks noChangeAspect="1"/>
          </p:cNvSpPr>
          <p:nvPr/>
        </p:nvSpPr>
        <p:spPr>
          <a:xfrm>
            <a:off x="1605690" y="5892077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12D1771-D0CC-C082-F03C-E4AF23AD0F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4E2A0B08-A1F1-2331-6663-DCAE2EB4D3E6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sz="1550" noProof="0" dirty="0"/>
              <a:t>Overall, there has been a decrease in test code ratio for the portfolio (-2.3%).</a:t>
            </a:r>
            <a:endParaRPr lang="en-GB" sz="1550" noProof="0" dirty="0"/>
          </a:p>
          <a:p>
            <a:pPr indent="-283845"/>
            <a:r>
              <a:rPr lang="en-GB" sz="1550" dirty="0"/>
              <a:t>42% of systems have seen an increase in test code ratio while 17% of systems have seen a decrease. </a:t>
            </a:r>
          </a:p>
          <a:p>
            <a:pPr indent="-283845"/>
            <a:r>
              <a:rPr lang="en-GB" sz="1550" dirty="0"/>
              <a:t>The largest increase in test code ratio was experienced by integrationtest-zuul (+3.9%). The largest decrease in test code ratio was experienced by integrationtest-jruby (-23.4%).</a:t>
            </a:r>
            <a:endParaRPr lang="en-GB" sz="1550" dirty="0">
              <a:ea typeface="Calibri"/>
              <a:cs typeface="Calibri"/>
            </a:endParaRP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5DF429E-1695-7507-23C8-7080223EC2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519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5603A22-6C87-6123-7889-47059E7B51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2759263" cy="228209"/>
          </a:xfrm>
        </p:spPr>
        <p:txBody>
          <a:bodyPr/>
          <a:lstStyle/>
          <a:p>
            <a:r>
              <a:rPr lang="en-GB" dirty="0"/>
              <a:t>Portfolio trends –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1BB1EC-B729-EEEB-51CD-99A133FF21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31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CDDECE-07F9-831D-887E-96F18B222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GB" dirty="0"/>
              <a:t>Architecture ratings of the portfolio between 11 January 2026 and 8 March 2026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D60EA92-5FAE-DB20-C878-9397C39C84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22578C5-779F-2DE7-941C-EA21148CF77F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CA2F3EE-ED58-8890-B4BF-4E9E9399E1CC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7D72A90-1A63-5E0F-8B76-76CF390D2210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6617A234-0C3B-1517-E133-7B2E2BCA1F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2C97830-5D0A-7C61-5790-8AE0D6258402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61F050E-BC5D-A674-AE97-CDA4545FA315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84B1977E-A39B-88F7-3A2F-1EB3EBC876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4A3F2BC-D11A-47C0-2D59-EDE88F571DA8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3250C71-B11A-F676-5B3D-04096307F859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49EF1191-C257-976C-29AA-F1DA1D22A9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DA318A0-FABA-EB5B-A4DE-ADB204F5D0F5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F9D8162-537B-F3FD-4C5A-B95C9B9B31FB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96550F1B-DABE-4321-E085-10DEBDFB3F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782E435-697F-C57C-1530-5C1E6B98227E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EE8F693-BD9E-2048-F83B-CAC471F85DB7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F93E0B17-8795-E431-6602-6FD9737C92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2718E80B-E45D-BD72-6536-AB0C481281BD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US" dirty="0"/>
              <a:t>The average Architecture Quality rating for the portfolio is 2.6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33% of systems score above market average for Architecture Quality (≥3.5★).</a:t>
            </a:r>
          </a:p>
          <a:p>
            <a:pPr indent="-283845"/>
            <a:r>
              <a:rPr lang="en-US" dirty="0"/>
              <a:t>33% of systems score market average for Architecture Quality (3★).</a:t>
            </a:r>
          </a:p>
          <a:p>
            <a:pPr indent="-283845"/>
            <a:r>
              <a:rPr lang="en-US" dirty="0"/>
              <a:t>33% of systems score below market average for Architecture Quality (≤2.5★).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9F0196F-C2C8-901D-3388-01AE9D1ABE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8696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E150D-A65E-A40C-6B49-AF7DCB612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67203A-CD59-ACA2-0387-C994E78EE7B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2421992" cy="228209"/>
          </a:xfrm>
        </p:spPr>
        <p:txBody>
          <a:bodyPr/>
          <a:lstStyle/>
          <a:p>
            <a:r>
              <a:rPr lang="en-GB" dirty="0"/>
              <a:t>Portfolio trends –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7A47C1-2743-4E7A-7D4A-562B99B1F71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32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8FBDDCA-D2CF-ED08-F7B9-0B588E371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The portfolio's architecture quality has decreased (with -0.1 to 2.6) during the measured period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33B504D-7A8E-EB12-5480-7248C811BB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D0FA74F-562E-7349-3D5D-B56CB42C5B2E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E6C2FD6-492D-0E1B-9C15-958B643F8A11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92A8F39-4C39-E112-DC09-FD6F52ECB230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13264880-98AC-7E55-C880-7A8CCE8F38E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8F3E857-EDC2-8EE7-81A9-A3311098CF11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ADA0A2C-AC23-3CD0-1444-BB92C14DA522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FD18D1A5-F134-68C3-A18E-2F87ECDA52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5B321E3-3252-2B17-6200-C9A506567FED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AF25BB4-A62C-193F-2D50-7FDF3DC238F4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EEC02D13-D964-CD6E-20EB-22E6E4B11E9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A8ED2EC-6DC3-DAE7-2167-B926AD704CE7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285317C-57AA-4CC6-A677-703E2942F5AE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10652A05-2024-A59C-5C1F-DCE0E89941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3379D43-A7B7-7D8F-A477-C3774652D509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64F48BB-4FF1-E4B5-C688-5154F7D19AF4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80A2CF2E-3196-627B-C3D8-DE40647EAD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2CBB1A7A-1F34-F22F-B876-535EEF53610A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dirty="0">
                <a:ea typeface="Calibri"/>
                <a:cs typeface="Calibri"/>
              </a:rPr>
              <a:t>33% of systems has seen an increase in security ratings. 0% of systems has remained stable. 67% of systems has seen a decrease in security ratings.</a:t>
            </a:r>
          </a:p>
          <a:p>
            <a:pPr indent="-283845"/>
            <a:r>
              <a:rPr lang="en-GB" dirty="0">
                <a:ea typeface="Calibri"/>
                <a:cs typeface="Calibri"/>
              </a:rPr>
              <a:t>The largest increase in architecture quality rating was experienced by integrationtest-vscode (0.3 stars). The largest decrease in architecture quality rating was experienced by integrationtest-airflow (-0.2 stars).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1AF939B1-43D2-7D15-6932-30FE4B4C76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9305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8B07B4F-D7B8-1CEF-56A5-C9C18FBFD1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3265171" cy="228209"/>
          </a:xfrm>
        </p:spPr>
        <p:txBody>
          <a:bodyPr/>
          <a:lstStyle/>
          <a:p>
            <a:r>
              <a:rPr lang="en-GB" dirty="0"/>
              <a:t>Portfolio trends – Open-Source Health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46EA6-114E-BE00-9088-0FF2F348135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33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DDFBC53-E0F3-50EC-6D67-B2815BC99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GB" dirty="0"/>
              <a:t>Open-source health ratings of the portfolio between 11 January 2026 and 8 March 2026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053C8FF-A309-9635-AB10-3E7965715D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5E0572C-1734-61F0-856F-5E79E547DCB7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988E0B2-1D87-C999-BC6A-C9E400EA29C4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C7A6F15-7EE4-41DA-71F3-F8B932ABCB9E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3C5FB1D3-CA1E-3CEF-9DCB-A533BD67512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78352C9-05CD-024F-9FC8-A43B06C5296F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80ACC94-4A3B-E4A2-C515-92A1B0B85607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5BAC351A-6A3D-8EE7-3400-48AC200F046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03C1BE7-DC33-05D7-A88F-E45494303136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5258E72-CF1A-4DFE-52F3-DB2B89080DFD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73B613B1-191F-17CB-8B90-A1C172B0B5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6C7A952-D4BD-C5BE-3ECD-80D0236B6DC5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E346C1E-F337-E3F0-51BC-42C15701A9F4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0E88F2D9-0594-B652-C0EB-2B82B013E3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FD99AA7-4DE9-A06B-FABC-D5259DB272D8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3791E94-0AAD-9D1A-14E0-882C135761E7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3CB886B0-18FD-211D-FAB5-01B5BE7532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FE223A60-5DA4-23C2-35E1-41CA53903EBF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US" dirty="0"/>
              <a:t>The average Open Source Health rating for the portfolio is 2.9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GB" dirty="0"/>
              <a:t>33% of systems score above market average for Open Source Health (≥3.5★).</a:t>
            </a:r>
          </a:p>
          <a:p>
            <a:pPr indent="-283845"/>
            <a:r>
              <a:rPr lang="en-US" dirty="0"/>
              <a:t>42% of systems score market average for Open Source Health (3★).</a:t>
            </a:r>
          </a:p>
          <a:p>
            <a:pPr indent="-283845"/>
            <a:r>
              <a:rPr lang="en-US" dirty="0"/>
              <a:t>25% of systems score below market average for Open Source Health (≤2.5★).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A1D2F67-A90D-74AA-22CD-017BC0D93D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4016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jdelijke aanduiding voor inhoud 19">
            <a:extLst>
              <a:ext uri="{FF2B5EF4-FFF2-40B4-BE49-F238E27FC236}">
                <a16:creationId xmlns:a16="http://schemas.microsoft.com/office/drawing/2014/main" id="{66BB4E1B-985F-9EF3-5AC6-C768D2CB71B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1421846"/>
            <a:ext cx="5938800" cy="4896154"/>
          </a:xfrm>
        </p:spPr>
        <p:txBody>
          <a:bodyPr/>
          <a:lstStyle/>
          <a:p>
            <a:r>
              <a:rPr lang="en-US" dirty="0"/>
              <a:t>67% of dependencies (64 in total) used in the system contain one or more known vulnerabilities.</a:t>
            </a:r>
          </a:p>
          <a:p>
            <a:r>
              <a:rPr lang="en-US" dirty="0"/>
              <a:t>50% of dependencies (48 in total) uses a potentially restrictive open-source license (e.g. GPL/AGPL).</a:t>
            </a:r>
          </a:p>
          <a:p>
            <a:r>
              <a:rPr lang="en-US" dirty="0"/>
              <a:t>50% of dependencies (48 in total) used in the system have not been updated for over 2 years.</a:t>
            </a:r>
          </a:p>
          <a:p>
            <a:r>
              <a:rPr lang="en-US" dirty="0"/>
              <a:t>67% of dependencies (64 in total) does not use a package manager but is placed in the codebase directly.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A5582F2-40D0-9238-3CA5-366CA9A6BE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0738" y="1894014"/>
            <a:ext cx="835106" cy="265112"/>
          </a:xfrm>
        </p:spPr>
        <p:txBody>
          <a:bodyPr>
            <a:noAutofit/>
          </a:bodyPr>
          <a:lstStyle/>
          <a:p>
            <a:r>
              <a:rPr lang="en-US" b="0" dirty="0"/>
              <a:t>96</a:t>
            </a:r>
          </a:p>
        </p:txBody>
      </p:sp>
      <p:sp>
        <p:nvSpPr>
          <p:cNvPr id="21" name="Tijdelijke aanduiding voor tekst 20">
            <a:extLst>
              <a:ext uri="{FF2B5EF4-FFF2-40B4-BE49-F238E27FC236}">
                <a16:creationId xmlns:a16="http://schemas.microsoft.com/office/drawing/2014/main" id="{6B434B96-A0F4-D550-9948-4935A3A303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Autofit/>
          </a:bodyPr>
          <a:lstStyle/>
          <a:p>
            <a:r>
              <a:rPr lang="en-US" b="0" dirty="0"/>
              <a:t>0</a:t>
            </a:r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F2A786C1-12AB-2815-EA60-7CF5A856C3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Autofit/>
          </a:bodyPr>
          <a:lstStyle/>
          <a:p>
            <a:r>
              <a:rPr lang="en-US" b="0" dirty="0"/>
              <a:t>0</a:t>
            </a:r>
          </a:p>
        </p:txBody>
      </p:sp>
      <p:sp>
        <p:nvSpPr>
          <p:cNvPr id="23" name="Tijdelijke aanduiding voor tekst 22">
            <a:extLst>
              <a:ext uri="{FF2B5EF4-FFF2-40B4-BE49-F238E27FC236}">
                <a16:creationId xmlns:a16="http://schemas.microsoft.com/office/drawing/2014/main" id="{1815B1ED-FC37-06DC-642E-E962FAF8C95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Autofit/>
          </a:bodyPr>
          <a:lstStyle/>
          <a:p>
            <a:r>
              <a:rPr lang="en-US" b="0" dirty="0"/>
              <a:t>0</a:t>
            </a:r>
          </a:p>
        </p:txBody>
      </p:sp>
      <p:sp>
        <p:nvSpPr>
          <p:cNvPr id="24" name="Tijdelijke aanduiding voor tekst 23">
            <a:extLst>
              <a:ext uri="{FF2B5EF4-FFF2-40B4-BE49-F238E27FC236}">
                <a16:creationId xmlns:a16="http://schemas.microsoft.com/office/drawing/2014/main" id="{F9105C04-203F-52A9-B023-8BCB23ABA3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Autofit/>
          </a:bodyPr>
          <a:lstStyle/>
          <a:p>
            <a:r>
              <a:rPr lang="en-US" b="0" dirty="0"/>
              <a:t>0</a:t>
            </a:r>
          </a:p>
        </p:txBody>
      </p:sp>
      <p:sp>
        <p:nvSpPr>
          <p:cNvPr id="25" name="Tijdelijke aanduiding voor tekst 24">
            <a:extLst>
              <a:ext uri="{FF2B5EF4-FFF2-40B4-BE49-F238E27FC236}">
                <a16:creationId xmlns:a16="http://schemas.microsoft.com/office/drawing/2014/main" id="{CCA1B4DB-A80E-D27A-4D97-18B15B411B0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Autofit/>
          </a:bodyPr>
          <a:lstStyle/>
          <a:p>
            <a:r>
              <a:rPr lang="en-US" b="0" dirty="0"/>
              <a:t>96</a:t>
            </a:r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8F49E5F7-1212-C10F-AF03-7BCD250B5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Open Source Health Library Risks Overview</a:t>
            </a:r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8CFF3985-4FCE-83E0-0FFC-607EBC97340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nl-NL" smtClean="0"/>
              <a:pPr/>
              <a:t>34</a:t>
            </a:fld>
            <a:endParaRPr lang="nl-NL"/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EA846D4E-DBA5-CFC4-BD38-6CC5C41F55F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927899" cy="228145"/>
          </a:xfrm>
        </p:spPr>
        <p:txBody>
          <a:bodyPr/>
          <a:lstStyle/>
          <a:p>
            <a:r>
              <a:rPr lang="en-GB" dirty="0"/>
              <a:t>Key findings – Open Source and IP</a:t>
            </a:r>
          </a:p>
        </p:txBody>
      </p:sp>
      <p:graphicFrame>
        <p:nvGraphicFramePr>
          <p:cNvPr id="2" name="OSH_PORTFOLIO_OTHER_RISKS_GRAPH">
            <a:extLst>
              <a:ext uri="{FF2B5EF4-FFF2-40B4-BE49-F238E27FC236}">
                <a16:creationId xmlns:a16="http://schemas.microsoft.com/office/drawing/2014/main" id="{4C5859CA-0A2B-2CD5-4201-9074382317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8722614"/>
              </p:ext>
            </p:extLst>
          </p:nvPr>
        </p:nvGraphicFramePr>
        <p:xfrm>
          <a:off x="2855399" y="3688194"/>
          <a:ext cx="3240000" cy="25207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OSH_PORTFOLIO_VULN_LEGAL_GRAPH">
            <a:extLst>
              <a:ext uri="{FF2B5EF4-FFF2-40B4-BE49-F238E27FC236}">
                <a16:creationId xmlns:a16="http://schemas.microsoft.com/office/drawing/2014/main" id="{A2E74F15-1B72-6504-9282-2CD2017740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8423153"/>
              </p:ext>
            </p:extLst>
          </p:nvPr>
        </p:nvGraphicFramePr>
        <p:xfrm>
          <a:off x="2855399" y="2891471"/>
          <a:ext cx="3240000" cy="12984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70B2912-5022-184F-E496-1EDCEC82A1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</p:spTree>
    <p:extLst>
      <p:ext uri="{BB962C8B-B14F-4D97-AF65-F5344CB8AC3E}">
        <p14:creationId xmlns:p14="http://schemas.microsoft.com/office/powerpoint/2010/main" val="32811049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287597F-0CE6-6979-6D59-2CC306D18F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2421992" cy="228209"/>
          </a:xfrm>
        </p:spPr>
        <p:txBody>
          <a:bodyPr/>
          <a:lstStyle/>
          <a:p>
            <a:r>
              <a:rPr lang="en-GB" dirty="0"/>
              <a:t>Portfolio trends –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70E726-D390-617B-2837-17EF73C1835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35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D1F92A6-63AF-66FE-4BB0-422116859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GB" dirty="0"/>
              <a:t>Security ratings of the portfolio between 11 January 2026 and 8 March 2026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BD9D636-CC1F-D5EE-82E8-F5B67A683E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592C00B-839E-1F7C-C976-764E7FA89D08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8D13A58-DDFB-6E93-06B8-8F73093435CB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B09D3E1-5818-A7F6-D907-77EE9F47DC83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35E576A0-5957-C060-F7D5-462BF27703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93ADAAD-3940-3E4F-EE06-CD1CDD98C4D0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0782A8A-DA3D-0449-1C4B-FDA35D728C06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476C0325-7FCB-4C5A-F1B9-2AA83897F92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5E9104F-A474-DEBF-B0B1-04438939F3F6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9EE0DD2-01FA-7CE1-6138-8B452A78A603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50B3354E-3FA0-1D94-0ED5-6B55810CBC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08FDA72-1D6A-069B-BA6F-C9555EA6EE09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491AD94-EFFF-2C79-D5D8-7DF2D2786144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97B8822E-BA13-A142-1266-C507780128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B93157F-D848-9E05-25CB-0110AC5E4F8E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AF3218E-BE5D-1E5F-2E2F-80BD224CB1D1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BF1EC965-F313-A395-6AF8-C9756978DD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F38D86B0-827F-9466-0A66-C9807390BBCB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US" dirty="0"/>
              <a:t>The average Security rating for the portfolio is 3.7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GB" dirty="0"/>
              <a:t>33% of systems score above market average for Security (≥3.5★).</a:t>
            </a:r>
          </a:p>
          <a:p>
            <a:pPr indent="-283845"/>
            <a:r>
              <a:rPr lang="en-US" dirty="0"/>
              <a:t>33% of systems score market average for Security (3★).</a:t>
            </a:r>
          </a:p>
          <a:p>
            <a:pPr indent="-283845"/>
            <a:r>
              <a:rPr lang="en-US" dirty="0"/>
              <a:t>33% of systems score below market average for Security(≤2.5★).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05AE87DF-A1BC-5958-DE2A-A8C3A6CD95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5307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F75C0-C207-4E2C-BD14-5A81D230D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871CDFD-E671-9983-BCFA-61E6FDA0C8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2421992" cy="228209"/>
          </a:xfrm>
        </p:spPr>
        <p:txBody>
          <a:bodyPr/>
          <a:lstStyle/>
          <a:p>
            <a:r>
              <a:rPr lang="en-GB" dirty="0"/>
              <a:t>Portfolio trends –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53550-5F0E-C6E4-29B9-7E84B37C218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36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6C1924E-BF8A-82D4-91C3-65F9207E4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The portfolio remained stable (3.7) during the measured period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C6C283A-7F67-5B7A-1592-8EF4CE26A3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2C8211A-4BD1-17C2-157E-E7A75825DE5A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A8E10F2-10CD-AA74-5A2C-170808E6F640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F34314D-E3B4-A17A-A9F3-35718FEFCD72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7668F8B1-8163-0280-E7AD-6FC40A4B3F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A9E2695-4C11-2982-75D5-4E0C6BE811D7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6DC72B0-8D25-2365-9A54-C46D71FCEAA3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1D2D5440-4938-251B-AD71-3D41CEF842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7376B1B-254E-3717-798E-FD0631037E78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280C7ED-B514-CF66-35D7-4A66EC00BCA3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D8B81D40-7E02-2FB1-644E-20F77CD0B0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3F90A97-85BE-3BEB-5DD6-BDE4DB13BE1F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038FF40-E3F2-25D4-9EA0-FC948E18EE7C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A1CAA676-894E-9A77-8893-A491CE6C61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FE4119A-FB59-D48B-0115-817DF87E7E5C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ECD1D60-85B7-3420-38E5-9562602AA3F3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445541FA-1456-41B3-1BCE-43D44804C6A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00845E37-BF7A-036F-1036-4DCCAD4A0C58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dirty="0">
                <a:ea typeface="Calibri"/>
                <a:cs typeface="Calibri"/>
              </a:rPr>
              <a:t>0% of systems has seen an increase in security ratings. 100% of systems has remained stable. 0% of systems has seen a decrease in security ratings.</a:t>
            </a:r>
          </a:p>
          <a:p>
            <a:pPr indent="-283845"/>
            <a:r>
              <a:rPr lang="en-GB" dirty="0">
                <a:ea typeface="Calibri"/>
                <a:cs typeface="Calibri"/>
              </a:rPr>
              <a:t/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53814472-2F91-8C00-BB5E-647E588837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3395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A976C-A43A-62DF-8A14-555177D42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888C01D-33FF-CD9A-A477-2806EB6B1C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3855396" cy="228145"/>
          </a:xfrm>
        </p:spPr>
        <p:txBody>
          <a:bodyPr/>
          <a:lstStyle/>
          <a:p>
            <a:r>
              <a:rPr lang="en-GB" dirty="0"/>
              <a:t>Portfolio trends – Security – Findings trend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D9CBBF-57FB-ABB3-9835-20A2F9691DC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37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BE6FAE6-87BA-B605-5E5B-FC841A95C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Critical findings trends of the last 12 months (ending at 8 March 2026)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301C0D-0321-1290-3EFE-1E641277D7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132F2E1-B218-4956-6E9E-F625515C8382}"/>
              </a:ext>
            </a:extLst>
          </p:cNvPr>
          <p:cNvSpPr/>
          <p:nvPr/>
        </p:nvSpPr>
        <p:spPr>
          <a:xfrm flipH="1">
            <a:off x="861633" y="3390745"/>
            <a:ext cx="10468734" cy="2720123"/>
          </a:xfrm>
          <a:prstGeom prst="roundRect">
            <a:avLst>
              <a:gd name="adj" fmla="val 3988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910714"/>
                </a:solidFill>
              </a:rPr>
              <a:t>Critical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04CBEEE-0C86-D6F2-5A66-0F130C4B2075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20177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sz="1550" noProof="0" dirty="0"/>
              <a:t>Since 2025-04-01, 0 critical security findings have been resolved while 356 new critical findings were discovered. Overall, there has been an increase in critical security findings of 356.</a:t>
            </a:r>
          </a:p>
          <a:p>
            <a:pPr indent="-283845"/>
            <a:r>
              <a:rPr lang="en-GB" sz="1550" dirty="0"/>
              <a:t>Of the resolved critical findings, most were resolved in at most 7 days (0 findings). 0 findings were resolved within the recommended 7 days while 0 were resolved after 30 days or more. </a:t>
            </a:r>
          </a:p>
          <a:p>
            <a:pPr indent="-283845"/>
            <a:endParaRPr lang="en-GB" sz="1550" dirty="0">
              <a:ea typeface="Calibri"/>
              <a:cs typeface="Calibri"/>
            </a:endParaRPr>
          </a:p>
        </p:txBody>
      </p:sp>
      <p:graphicFrame>
        <p:nvGraphicFramePr>
          <p:cNvPr id="10" name="PORTFOLIO_SECURITY_FINDINGS_CRITICAL">
            <a:extLst>
              <a:ext uri="{FF2B5EF4-FFF2-40B4-BE49-F238E27FC236}">
                <a16:creationId xmlns:a16="http://schemas.microsoft.com/office/drawing/2014/main" id="{910F2E1C-D877-D2BA-B431-F9C4BA5850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1190819"/>
              </p:ext>
            </p:extLst>
          </p:nvPr>
        </p:nvGraphicFramePr>
        <p:xfrm>
          <a:off x="1124437" y="3851133"/>
          <a:ext cx="5010978" cy="21773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PORTFOLIO_SECURITY_RESOLUTION_CRITICAL">
            <a:extLst>
              <a:ext uri="{FF2B5EF4-FFF2-40B4-BE49-F238E27FC236}">
                <a16:creationId xmlns:a16="http://schemas.microsoft.com/office/drawing/2014/main" id="{F4BA35FA-BE44-852A-B55F-63FF6EA3EB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4663586"/>
              </p:ext>
            </p:extLst>
          </p:nvPr>
        </p:nvGraphicFramePr>
        <p:xfrm>
          <a:off x="6235286" y="3713005"/>
          <a:ext cx="4832277" cy="23198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915783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54EF1-FCA0-2EC9-964E-45F3A94A2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D8824E7-4E29-8181-B01C-EA895DB82F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4024032" cy="228145"/>
          </a:xfrm>
        </p:spPr>
        <p:txBody>
          <a:bodyPr/>
          <a:lstStyle/>
          <a:p>
            <a:r>
              <a:rPr lang="en-GB" dirty="0"/>
              <a:t>Portfolio trends – Security – Resolution times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18AAA8-B191-8D33-A251-5BBAA5775EE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38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9BDEC54-B88C-60B4-98B9-CFF0E70B4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Security resolution times of the portfolio of the last 12 months (ending at 8 March 2026)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87DF3F-5BD8-9A33-2F26-1FFB63BA6D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0BDBC96-6A0F-7FB2-73A9-7CD5A1E31F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8373" y="5911956"/>
            <a:ext cx="371130" cy="206558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6DD134A-FB98-733E-70B7-BE217A938451}"/>
              </a:ext>
            </a:extLst>
          </p:cNvPr>
          <p:cNvSpPr/>
          <p:nvPr/>
        </p:nvSpPr>
        <p:spPr>
          <a:xfrm flipH="1">
            <a:off x="5291526" y="1291984"/>
            <a:ext cx="6743271" cy="2480484"/>
          </a:xfrm>
          <a:prstGeom prst="roundRect">
            <a:avLst>
              <a:gd name="adj" fmla="val 3987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DB4A3D"/>
                </a:solidFill>
              </a:rPr>
              <a:t>High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B23C483-13CD-B3D6-B6B2-3C5716E15A2A}"/>
              </a:ext>
            </a:extLst>
          </p:cNvPr>
          <p:cNvSpPr txBox="1">
            <a:spLocks/>
          </p:cNvSpPr>
          <p:nvPr/>
        </p:nvSpPr>
        <p:spPr>
          <a:xfrm>
            <a:off x="223094" y="1411287"/>
            <a:ext cx="4881341" cy="476271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sz="1550" dirty="0"/>
              <a:t>Since 2025-04-01, 26 high security findings have been resolved while 2054 new high findings were discovered. Overall, there has been an increase in high security findings of 2028.</a:t>
            </a:r>
          </a:p>
          <a:p>
            <a:pPr indent="-283845"/>
            <a:r>
              <a:rPr lang="en-GB" sz="1550" dirty="0"/>
              <a:t>Of the resolved high findings, most were resolved in between 14 and 30 days (11 findings). 8 findings were resolved within the recommended 14 days while 0 were resolved after 180 days or more. </a:t>
            </a:r>
          </a:p>
          <a:p>
            <a:pPr indent="-283845"/>
            <a:r>
              <a:rPr lang="en-GB" sz="1550" dirty="0"/>
              <a:t>13 medium security findings have been resolved while 1237 new medium findings were discovered. Overall, there has been an increase in medium security findings of 1224.</a:t>
            </a:r>
          </a:p>
          <a:p>
            <a:pPr indent="-283845"/>
            <a:r>
              <a:rPr lang="en-GB" sz="1550" dirty="0"/>
              <a:t>Of the resolved medium findings, most were resolved in at most 30 days (2 findings). 2 findings were resolved within the recommended 30 days while 0 were resolved after 270 days or more. </a:t>
            </a:r>
          </a:p>
          <a:p>
            <a:pPr indent="-283845"/>
            <a:endParaRPr lang="en-GB" sz="1550" dirty="0"/>
          </a:p>
          <a:p>
            <a:pPr indent="-283845"/>
            <a:endParaRPr lang="en-GB" sz="1550" dirty="0">
              <a:ea typeface="Calibri"/>
              <a:cs typeface="Calibri"/>
            </a:endParaRPr>
          </a:p>
        </p:txBody>
      </p:sp>
      <p:graphicFrame>
        <p:nvGraphicFramePr>
          <p:cNvPr id="18" name="PORTFOLIO_SECURITY_RESOLUTION_HIGH">
            <a:extLst>
              <a:ext uri="{FF2B5EF4-FFF2-40B4-BE49-F238E27FC236}">
                <a16:creationId xmlns:a16="http://schemas.microsoft.com/office/drawing/2014/main" id="{16E3CE9D-20C9-0E77-38B2-53E2D8CA62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8503948"/>
              </p:ext>
            </p:extLst>
          </p:nvPr>
        </p:nvGraphicFramePr>
        <p:xfrm>
          <a:off x="8730926" y="1514933"/>
          <a:ext cx="3178530" cy="23055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PORTFOLIO_SECURITY_FINDINGS_HIGH">
            <a:extLst>
              <a:ext uri="{FF2B5EF4-FFF2-40B4-BE49-F238E27FC236}">
                <a16:creationId xmlns:a16="http://schemas.microsoft.com/office/drawing/2014/main" id="{75CB1C00-2C16-0486-C27D-31887DD069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2665920"/>
              </p:ext>
            </p:extLst>
          </p:nvPr>
        </p:nvGraphicFramePr>
        <p:xfrm>
          <a:off x="5416871" y="1514933"/>
          <a:ext cx="3409356" cy="23055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A02A27D-5A11-E727-9003-68497845F5AF}"/>
              </a:ext>
            </a:extLst>
          </p:cNvPr>
          <p:cNvSpPr/>
          <p:nvPr/>
        </p:nvSpPr>
        <p:spPr>
          <a:xfrm flipH="1">
            <a:off x="5291526" y="3893212"/>
            <a:ext cx="6743271" cy="2480484"/>
          </a:xfrm>
          <a:prstGeom prst="roundRect">
            <a:avLst>
              <a:gd name="adj" fmla="val 3987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E98C36"/>
                </a:solidFill>
              </a:rPr>
              <a:t>Medium</a:t>
            </a:r>
          </a:p>
        </p:txBody>
      </p:sp>
      <p:graphicFrame>
        <p:nvGraphicFramePr>
          <p:cNvPr id="22" name="PORTFOLIO_SECURITY_RESOLUTION_MEDIUM">
            <a:extLst>
              <a:ext uri="{FF2B5EF4-FFF2-40B4-BE49-F238E27FC236}">
                <a16:creationId xmlns:a16="http://schemas.microsoft.com/office/drawing/2014/main" id="{70983DB0-0BC7-2620-9F3E-685D6CFA68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2010762"/>
              </p:ext>
            </p:extLst>
          </p:nvPr>
        </p:nvGraphicFramePr>
        <p:xfrm>
          <a:off x="8730926" y="4116161"/>
          <a:ext cx="3178530" cy="23055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3" name="PORTFOLIO_SECURITY_FINDINGS_MEDIUM">
            <a:extLst>
              <a:ext uri="{FF2B5EF4-FFF2-40B4-BE49-F238E27FC236}">
                <a16:creationId xmlns:a16="http://schemas.microsoft.com/office/drawing/2014/main" id="{72CCB03F-448F-67B3-48DD-4998FE51B7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7204567"/>
              </p:ext>
            </p:extLst>
          </p:nvPr>
        </p:nvGraphicFramePr>
        <p:xfrm>
          <a:off x="5416871" y="4116161"/>
          <a:ext cx="3409356" cy="23055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16247588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A1FF513-F7F0-C719-C954-DBA335D2C6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3855396" cy="228145"/>
          </a:xfrm>
        </p:spPr>
        <p:txBody>
          <a:bodyPr/>
          <a:lstStyle/>
          <a:p>
            <a:r>
              <a:rPr lang="en-GB" dirty="0"/>
              <a:t>Portfolio trends – Security – Findings trend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B43BB2-F642-BE45-7836-AFCD6CBFD85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39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047D14B-355C-A109-46FB-79FB23C87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Security findings of the portfolio of the last 12 months (ending at 8 March 2026)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9D4E15-C7EC-A545-5EBC-69B4EAE348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5783ADB-6F9E-D057-991B-C0B52FAE9247}"/>
              </a:ext>
            </a:extLst>
          </p:cNvPr>
          <p:cNvSpPr/>
          <p:nvPr/>
        </p:nvSpPr>
        <p:spPr>
          <a:xfrm>
            <a:off x="525101" y="1411200"/>
            <a:ext cx="11141800" cy="4852800"/>
          </a:xfrm>
          <a:prstGeom prst="roundRect">
            <a:avLst>
              <a:gd name="adj" fmla="val 7068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73152" rIns="0" bIns="73152" rtlCol="0" anchor="t"/>
          <a:lstStyle/>
          <a:p>
            <a:pPr algn="ctr"/>
            <a:r>
              <a:rPr lang="en-GB" sz="1200" b="1" noProof="0" dirty="0">
                <a:solidFill>
                  <a:schemeClr val="tx1"/>
                </a:solidFill>
              </a:rPr>
              <a:t>Security findings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B9215FE-C7C0-BC81-3B0D-CEF368F87C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8373" y="5911956"/>
            <a:ext cx="371130" cy="206558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136E7B9-811C-003C-7BFC-A5493486F197}"/>
              </a:ext>
            </a:extLst>
          </p:cNvPr>
          <p:cNvSpPr/>
          <p:nvPr/>
        </p:nvSpPr>
        <p:spPr>
          <a:xfrm flipH="1">
            <a:off x="955163" y="1562933"/>
            <a:ext cx="5073966" cy="2305534"/>
          </a:xfrm>
          <a:prstGeom prst="roundRect">
            <a:avLst>
              <a:gd name="adj" fmla="val 3988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910714"/>
                </a:solidFill>
              </a:rPr>
              <a:t>Critical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0198D90-BE8E-901C-9DF1-3C45821DE1B7}"/>
              </a:ext>
            </a:extLst>
          </p:cNvPr>
          <p:cNvSpPr/>
          <p:nvPr/>
        </p:nvSpPr>
        <p:spPr>
          <a:xfrm flipH="1">
            <a:off x="6165410" y="1562933"/>
            <a:ext cx="5070948" cy="2305534"/>
          </a:xfrm>
          <a:prstGeom prst="roundRect">
            <a:avLst>
              <a:gd name="adj" fmla="val 3987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DB4A3D"/>
                </a:solidFill>
              </a:rPr>
              <a:t>High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6393784-89ED-CB65-097F-CF64C9DE33A9}"/>
              </a:ext>
            </a:extLst>
          </p:cNvPr>
          <p:cNvSpPr/>
          <p:nvPr/>
        </p:nvSpPr>
        <p:spPr>
          <a:xfrm flipH="1">
            <a:off x="3560526" y="3939319"/>
            <a:ext cx="5070948" cy="2305534"/>
          </a:xfrm>
          <a:prstGeom prst="roundRect">
            <a:avLst>
              <a:gd name="adj" fmla="val 3837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F09819"/>
                </a:solidFill>
              </a:rPr>
              <a:t>Medium</a:t>
            </a:r>
          </a:p>
        </p:txBody>
      </p:sp>
      <p:graphicFrame>
        <p:nvGraphicFramePr>
          <p:cNvPr id="17" name="PORTFOLIO_SECURITY_FINDINGS_CRITICAL">
            <a:extLst>
              <a:ext uri="{FF2B5EF4-FFF2-40B4-BE49-F238E27FC236}">
                <a16:creationId xmlns:a16="http://schemas.microsoft.com/office/drawing/2014/main" id="{3605FEE4-47C1-3A75-7A83-281F7BE41F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3918974"/>
              </p:ext>
            </p:extLst>
          </p:nvPr>
        </p:nvGraphicFramePr>
        <p:xfrm>
          <a:off x="955163" y="1714666"/>
          <a:ext cx="5070948" cy="21958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PORTFOLIO_SECURITY_FINDINGS_HIGH">
            <a:extLst>
              <a:ext uri="{FF2B5EF4-FFF2-40B4-BE49-F238E27FC236}">
                <a16:creationId xmlns:a16="http://schemas.microsoft.com/office/drawing/2014/main" id="{E6284084-0D17-0C79-BA25-E3E29D606E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3042344"/>
              </p:ext>
            </p:extLst>
          </p:nvPr>
        </p:nvGraphicFramePr>
        <p:xfrm>
          <a:off x="6284745" y="1714666"/>
          <a:ext cx="4813628" cy="22186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9" name="PORTFOLIO_SECURITY_FINDINGS_MEDIUM">
            <a:extLst>
              <a:ext uri="{FF2B5EF4-FFF2-40B4-BE49-F238E27FC236}">
                <a16:creationId xmlns:a16="http://schemas.microsoft.com/office/drawing/2014/main" id="{1D0C3BE9-A664-5700-38B0-74CDE05BE0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94025760"/>
              </p:ext>
            </p:extLst>
          </p:nvPr>
        </p:nvGraphicFramePr>
        <p:xfrm>
          <a:off x="3679861" y="4116161"/>
          <a:ext cx="4813628" cy="22186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8171689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AC38F-AE8D-FF4B-AE4F-040316CA1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4E57D2-7FE4-C0AA-BDE9-A362D613ED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3855396" cy="228145"/>
          </a:xfrm>
        </p:spPr>
        <p:txBody>
          <a:bodyPr/>
          <a:lstStyle/>
          <a:p>
            <a:r>
              <a:rPr lang="en-GB" dirty="0"/>
              <a:t>Portfolio trends – Security – Findings trend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1FF027-54A5-051F-5710-B5994A18213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40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E1A16AE-C003-C50A-E6D6-3D6AA501D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Security findings of the portfolio of the last 12 months (ending at 8 March 2026)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282B89-53C7-6B9A-712B-0DEEC0C14A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F2A71AF-4489-77E3-367D-617DFCB60DE0}"/>
              </a:ext>
            </a:extLst>
          </p:cNvPr>
          <p:cNvSpPr/>
          <p:nvPr/>
        </p:nvSpPr>
        <p:spPr>
          <a:xfrm>
            <a:off x="525101" y="1411200"/>
            <a:ext cx="11141800" cy="4852800"/>
          </a:xfrm>
          <a:prstGeom prst="roundRect">
            <a:avLst>
              <a:gd name="adj" fmla="val 7068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73152" rIns="0" bIns="73152" rtlCol="0" anchor="t"/>
          <a:lstStyle/>
          <a:p>
            <a:pPr algn="ctr"/>
            <a:r>
              <a:rPr lang="en-GB" sz="1200" b="1" noProof="0" dirty="0">
                <a:solidFill>
                  <a:schemeClr val="tx1"/>
                </a:solidFill>
              </a:rPr>
              <a:t>Security findings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61AD5F6-18F9-8A40-2477-E9242D99AA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8373" y="5911956"/>
            <a:ext cx="371130" cy="206558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5490A03-971E-D057-E453-8848427D9F47}"/>
              </a:ext>
            </a:extLst>
          </p:cNvPr>
          <p:cNvSpPr/>
          <p:nvPr/>
        </p:nvSpPr>
        <p:spPr>
          <a:xfrm flipH="1">
            <a:off x="955163" y="1562933"/>
            <a:ext cx="5073966" cy="2305534"/>
          </a:xfrm>
          <a:prstGeom prst="roundRect">
            <a:avLst>
              <a:gd name="adj" fmla="val 3988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910714"/>
                </a:solidFill>
              </a:rPr>
              <a:t>Critical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9911086-3056-B85A-B493-E969F1E03B2E}"/>
              </a:ext>
            </a:extLst>
          </p:cNvPr>
          <p:cNvSpPr/>
          <p:nvPr/>
        </p:nvSpPr>
        <p:spPr>
          <a:xfrm flipH="1">
            <a:off x="6165410" y="1562933"/>
            <a:ext cx="5070948" cy="2305534"/>
          </a:xfrm>
          <a:prstGeom prst="roundRect">
            <a:avLst>
              <a:gd name="adj" fmla="val 3987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DB4A3D"/>
                </a:solidFill>
              </a:rPr>
              <a:t>High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C2F09A1-6725-C876-B697-24D0E14922AC}"/>
              </a:ext>
            </a:extLst>
          </p:cNvPr>
          <p:cNvSpPr/>
          <p:nvPr/>
        </p:nvSpPr>
        <p:spPr>
          <a:xfrm flipH="1">
            <a:off x="3560526" y="3939319"/>
            <a:ext cx="5070948" cy="2305534"/>
          </a:xfrm>
          <a:prstGeom prst="roundRect">
            <a:avLst>
              <a:gd name="adj" fmla="val 3837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F09819"/>
                </a:solidFill>
              </a:rPr>
              <a:t>Medium</a:t>
            </a:r>
          </a:p>
        </p:txBody>
      </p:sp>
      <p:graphicFrame>
        <p:nvGraphicFramePr>
          <p:cNvPr id="10" name="PORTFOLIO_SECURITY_RESOLUTION_CRITICAL">
            <a:extLst>
              <a:ext uri="{FF2B5EF4-FFF2-40B4-BE49-F238E27FC236}">
                <a16:creationId xmlns:a16="http://schemas.microsoft.com/office/drawing/2014/main" id="{043ADC1B-1288-61F5-6E17-604566843D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1850097"/>
              </p:ext>
            </p:extLst>
          </p:nvPr>
        </p:nvGraphicFramePr>
        <p:xfrm>
          <a:off x="952145" y="1714665"/>
          <a:ext cx="4832277" cy="21538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PORTFOLIO_SECURITY_RESOLUTION_HIGH">
            <a:extLst>
              <a:ext uri="{FF2B5EF4-FFF2-40B4-BE49-F238E27FC236}">
                <a16:creationId xmlns:a16="http://schemas.microsoft.com/office/drawing/2014/main" id="{FD9AE359-1D59-B204-F3B2-ED88BE1F3B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9913887"/>
              </p:ext>
            </p:extLst>
          </p:nvPr>
        </p:nvGraphicFramePr>
        <p:xfrm>
          <a:off x="6340739" y="1714665"/>
          <a:ext cx="4832277" cy="21538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5" name="PORTFOLIO_SECURITY_RESOLUTION_MEDIUM">
            <a:extLst>
              <a:ext uri="{FF2B5EF4-FFF2-40B4-BE49-F238E27FC236}">
                <a16:creationId xmlns:a16="http://schemas.microsoft.com/office/drawing/2014/main" id="{6568A628-8BDB-F462-AB74-A5B810893E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3908121"/>
              </p:ext>
            </p:extLst>
          </p:nvPr>
        </p:nvGraphicFramePr>
        <p:xfrm>
          <a:off x="3678661" y="4091051"/>
          <a:ext cx="4832277" cy="21538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476436889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theme (default)">
  <a:themeElements>
    <a:clrScheme name="2025 SIG Powerpoint">
      <a:dk1>
        <a:srgbClr val="020202"/>
      </a:dk1>
      <a:lt1>
        <a:srgbClr val="FFFFFF"/>
      </a:lt1>
      <a:dk2>
        <a:srgbClr val="151632"/>
      </a:dk2>
      <a:lt2>
        <a:srgbClr val="EBEBEB"/>
      </a:lt2>
      <a:accent1>
        <a:srgbClr val="152F73"/>
      </a:accent1>
      <a:accent2>
        <a:srgbClr val="1763FF"/>
      </a:accent2>
      <a:accent3>
        <a:srgbClr val="88ADF5"/>
      </a:accent3>
      <a:accent4>
        <a:srgbClr val="F8C818"/>
      </a:accent4>
      <a:accent5>
        <a:srgbClr val="E88C35"/>
      </a:accent5>
      <a:accent6>
        <a:srgbClr val="DE6737"/>
      </a:accent6>
      <a:hlink>
        <a:srgbClr val="1864FF"/>
      </a:hlink>
      <a:folHlink>
        <a:srgbClr val="0857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764FF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8" id="{578C6016-95C3-5840-826C-B4226735762A}" vid="{EC50665E-BB8F-7A40-BCAA-233202124359}"/>
    </a:ext>
  </a:extLst>
</a:theme>
</file>

<file path=ppt/theme/theme2.xml><?xml version="1.0" encoding="utf-8"?>
<a:theme xmlns:a="http://schemas.openxmlformats.org/drawingml/2006/main" name="Dark theme">
  <a:themeElements>
    <a:clrScheme name="2025 SIG Powerpoint">
      <a:dk1>
        <a:srgbClr val="020202"/>
      </a:dk1>
      <a:lt1>
        <a:srgbClr val="FFFFFF"/>
      </a:lt1>
      <a:dk2>
        <a:srgbClr val="151632"/>
      </a:dk2>
      <a:lt2>
        <a:srgbClr val="EBEBEB"/>
      </a:lt2>
      <a:accent1>
        <a:srgbClr val="152F73"/>
      </a:accent1>
      <a:accent2>
        <a:srgbClr val="1763FF"/>
      </a:accent2>
      <a:accent3>
        <a:srgbClr val="88ADF5"/>
      </a:accent3>
      <a:accent4>
        <a:srgbClr val="F8C818"/>
      </a:accent4>
      <a:accent5>
        <a:srgbClr val="E88C35"/>
      </a:accent5>
      <a:accent6>
        <a:srgbClr val="DE6737"/>
      </a:accent6>
      <a:hlink>
        <a:srgbClr val="1864FF"/>
      </a:hlink>
      <a:folHlink>
        <a:srgbClr val="0857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1" id="{F42F1492-7701-3649-9008-F8CF56C99C53}" vid="{069A4F46-BACC-A642-BE78-CD3F3EA7293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EF897B6A9E5243A3BAB7B7BDA55B95" ma:contentTypeVersion="3" ma:contentTypeDescription="Een nieuw document maken." ma:contentTypeScope="" ma:versionID="0a97628efbdf127f23042160181f1d9a">
  <xsd:schema xmlns:xsd="http://www.w3.org/2001/XMLSchema" xmlns:xs="http://www.w3.org/2001/XMLSchema" xmlns:p="http://schemas.microsoft.com/office/2006/metadata/properties" xmlns:ns2="444ebd02-7183-4d1c-abe9-f175efe83725" targetNamespace="http://schemas.microsoft.com/office/2006/metadata/properties" ma:root="true" ma:fieldsID="44a7a3b93c857102c842f6fb1da07824" ns2:_="">
    <xsd:import namespace="444ebd02-7183-4d1c-abe9-f175efe837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4ebd02-7183-4d1c-abe9-f175efe837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8AD9160-B56A-4FCD-857D-8AE63521E7F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AFAF3E6-8A11-4BDC-9823-6F0ACEBB33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4ebd02-7183-4d1c-abe9-f175efe837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575A4A2-8818-4F4B-AD30-88D568004514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444ebd02-7183-4d1c-abe9-f175efe83725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Light theme (default)</Template>
  <TotalTime>18381</TotalTime>
  <Words>2799</Words>
  <Application>Microsoft Macintosh PowerPoint</Application>
  <PresentationFormat>Widescreen</PresentationFormat>
  <Paragraphs>434</Paragraphs>
  <Slides>40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40</vt:i4>
      </vt:variant>
    </vt:vector>
  </HeadingPairs>
  <TitlesOfParts>
    <vt:vector size="54" baseType="lpstr">
      <vt:lpstr>☞NOIR PRO MEDIUM</vt:lpstr>
      <vt:lpstr>Arial</vt:lpstr>
      <vt:lpstr>Azeret Mono</vt:lpstr>
      <vt:lpstr>Azeret Mono Medium</vt:lpstr>
      <vt:lpstr>Calibri</vt:lpstr>
      <vt:lpstr>Calibri Bold</vt:lpstr>
      <vt:lpstr>Helvetica Neue Bold</vt:lpstr>
      <vt:lpstr>Noir Pro</vt:lpstr>
      <vt:lpstr>Noir Pro Medium</vt:lpstr>
      <vt:lpstr>Noir Pro Semi Bold</vt:lpstr>
      <vt:lpstr>Sigsterren</vt:lpstr>
      <vt:lpstr>TheSansMono M5</vt:lpstr>
      <vt:lpstr>Light theme (default)</vt:lpstr>
      <vt:lpstr>Dark theme</vt:lpstr>
      <vt:lpstr>PowerPoint Presentation</vt:lpstr>
      <vt:lpstr>Outline of topics</vt:lpstr>
      <vt:lpstr>Progress towards objectives between OBJECTIVES_PERIOD_START and OBJECTIVES_PERIOD_END</vt:lpstr>
      <vt:lpstr>Progress towards objectives over time</vt:lpstr>
      <vt:lpstr>Progress towards objectives per capability between OBJECTIVES_PERIOD_START and OBJECTIVES_PERIOD_END</vt:lpstr>
      <vt:lpstr>Progress towards objectives: Maintainability</vt:lpstr>
      <vt:lpstr>Progress towards objectives: Architecture</vt:lpstr>
      <vt:lpstr>Progress towards objectives: Open Source Health</vt:lpstr>
      <vt:lpstr>Progress towards objectives: Security</vt:lpstr>
      <vt:lpstr>Progress towards objectives between OBJECTIVES_PERIOD_START and OBJECTIVES_PERIOD_END</vt:lpstr>
      <vt:lpstr>Progress towards objectives per team between OBJECTIVES_PERIOD_START and OBJECTIVES_PERIOD_END</vt:lpstr>
      <vt:lpstr>Progress towards objectives per capability between OBJECTIVES_PERIOD_START and OBJECTIVES_PERIOD_END</vt:lpstr>
      <vt:lpstr>Progress towards objectives over time</vt:lpstr>
      <vt:lpstr>Progress towards objectives: Security</vt:lpstr>
      <vt:lpstr>Progress towards objectives: Open Source Health</vt:lpstr>
      <vt:lpstr>Progress towards objectives: Maintainability</vt:lpstr>
      <vt:lpstr>Progress towards objectives: Architecture</vt:lpstr>
      <vt:lpstr>Index</vt:lpstr>
      <vt:lpstr>PORTFOLIO_PERIOD_MAINT_SHORT_SUMMARY</vt:lpstr>
      <vt:lpstr>Maintainability Grouped by Lifecycle</vt:lpstr>
      <vt:lpstr>Maintainability Grouped by Deployment Type</vt:lpstr>
      <vt:lpstr>Maintainability Grouped by Business Criticality</vt:lpstr>
      <vt:lpstr>PORTFOLIO_PERIOD_MAINT_SHORT_SUMMARY</vt:lpstr>
      <vt:lpstr>PORTFOLIO_PERIOD_MAINT_CHANGE_SHORT_SUMMARY</vt:lpstr>
      <vt:lpstr>Maintainability ratings of newly written code between PORTFOLIO_PERIOD_START_DATE and PORTFOLIO_PERIOD_END_DATE</vt:lpstr>
      <vt:lpstr>Maintainability ratings of changed code between PORTFOLIO_PERIOD_START_DATE and PORTFOLIO_PERIOD_END_DATE</vt:lpstr>
      <vt:lpstr>Change in volume (effort) of the portfolio between PORTFOLIO_PERIOD_START_DATE and PORTFOLIO_PERIOD_END_DATE</vt:lpstr>
      <vt:lpstr>Test-to-production code ratios of the portfolio between PORTFOLIO_PERIOD_START_DATE and PORTFOLIO_PERIOD_END_DATE</vt:lpstr>
      <vt:lpstr>Test Code Ratio Grouped by Main Technology</vt:lpstr>
      <vt:lpstr>Change in test-to-production code ratios of the portfolio between PORTFOLIO_PERIOD_START_DATE and PORTFOLIO_PERIOD_END_DATE</vt:lpstr>
      <vt:lpstr>Architecture ratings of the portfolio between PORTFOLIO_PERIOD_START_DATE and PORTFOLIO_PERIOD_END_DATE</vt:lpstr>
      <vt:lpstr>PORTFOLIO_PERIOD_ARCH_CHANGE_SHORT_SUMMARY</vt:lpstr>
      <vt:lpstr>Open-source health ratings of the portfolio between PORTFOLIO_PERIOD_START_DATE and PORTFOLIO_PERIOD_END_DATE</vt:lpstr>
      <vt:lpstr>Overall Open Source Health Library Risks Overview</vt:lpstr>
      <vt:lpstr>Security ratings of the portfolio between PORTFOLIO_PERIOD_START_DATE and PORTFOLIO_PERIOD_END_DATE</vt:lpstr>
      <vt:lpstr>PORTFOLIO_PERIOD_SEC_CHANGE_SHORT_SUMMARY</vt:lpstr>
      <vt:lpstr>Critical findings trends of the last 12 months (ending at PORTFOLIO_PERIOD_END_DATE)</vt:lpstr>
      <vt:lpstr>Security resolution times of the portfolio of the last 12 months (ending at PORTFOLIO_PERIOD_END_DATE)</vt:lpstr>
      <vt:lpstr>Security findings of the portfolio of the last 12 months (ending at PORTFOLIO_PERIOD_END_DATE)</vt:lpstr>
      <vt:lpstr>Security findings of the portfolio of the last 12 months (ending at PORTFOLIO_PERIOD_END_DATE)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Kovac</dc:creator>
  <cp:lastModifiedBy>Maxim Janssen</cp:lastModifiedBy>
  <cp:revision>207</cp:revision>
  <cp:lastPrinted>2020-04-20T09:37:43Z</cp:lastPrinted>
  <dcterms:created xsi:type="dcterms:W3CDTF">2025-10-22T11:22:13Z</dcterms:created>
  <dcterms:modified xsi:type="dcterms:W3CDTF">2026-07-21T14:47:28Z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0x0101004DEF897B6A9E5243A3BAB7B7BDA55B95</vt:lpwstr>
  </property>
</Properties>
</file>