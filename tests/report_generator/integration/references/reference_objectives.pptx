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561" r:id="rId5"/>
    <p:sldId id="598" r:id="rId6"/>
    <p:sldId id="605" r:id="rId7"/>
    <p:sldId id="606" r:id="rId8"/>
    <p:sldId id="604" r:id="rId9"/>
    <p:sldId id="599" r:id="rId10"/>
    <p:sldId id="600" r:id="rId11"/>
    <p:sldId id="603" r:id="rId12"/>
    <p:sldId id="602" r:id="rId13"/>
    <p:sldId id="601" r:id="rId14"/>
    <p:sldId id="5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241"/>
    <a:srgbClr val="BFC4CF"/>
    <a:srgbClr val="67E77F"/>
    <a:srgbClr val="0066FF"/>
    <a:srgbClr val="F0F4F8"/>
    <a:srgbClr val="4FB0C4"/>
    <a:srgbClr val="E78E17"/>
    <a:srgbClr val="910813"/>
    <a:srgbClr val="CF4731"/>
    <a:srgbClr val="EBC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31"/>
    <p:restoredTop sz="96364"/>
  </p:normalViewPr>
  <p:slideViewPr>
    <p:cSldViewPr snapToGrid="0" snapToObjects="1" showGuides="1">
      <p:cViewPr>
        <p:scale>
          <a:sx n="98" d="100"/>
          <a:sy n="98" d="100"/>
        </p:scale>
        <p:origin x="1560" y="1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48.648648648648646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5.405405405405405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Unknown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66.66666666666667</c:v>
                </c:pt>
                <c:pt idx="1">
                  <c:v>46.15384615384615</c:v>
                </c:pt>
                <c:pt idx="2">
                  <c:v>33.333333333333336</c:v>
                </c:pt>
                <c:pt idx="3">
                  <c:v>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46.15384615384615</c:v>
                </c:pt>
                <c:pt idx="2">
                  <c:v>66.66666666666667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7.6923076923076925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8.333333333333334</c:v>
                </c:pt>
                <c:pt idx="1">
                  <c:v>0.0</c:v>
                </c:pt>
                <c:pt idx="2">
                  <c:v>0.0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48.648648648648646</c:v>
                </c:pt>
                <c:pt idx="10">
                  <c:v>48.648648648648646</c:v>
                </c:pt>
                <c:pt idx="11">
                  <c:v>51.351351351351354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2.7027027027027026</c:v>
                </c:pt>
                <c:pt idx="8">
                  <c:v>2.7027027027027026</c:v>
                </c:pt>
                <c:pt idx="9">
                  <c:v>24.324324324324323</c:v>
                </c:pt>
                <c:pt idx="10">
                  <c:v>43.24324324324324</c:v>
                </c:pt>
                <c:pt idx="11">
                  <c:v>43.24324324324324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2.7027027027027026</c:v>
                </c:pt>
                <c:pt idx="10">
                  <c:v>5.405405405405405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94.5945945945946</c:v>
                </c:pt>
                <c:pt idx="8">
                  <c:v>94.5945945945946</c:v>
                </c:pt>
                <c:pt idx="9">
                  <c:v>24.324324324324323</c:v>
                </c:pt>
                <c:pt idx="10">
                  <c:v>2.7027027027027026</c:v>
                </c:pt>
                <c:pt idx="11">
                  <c:v>2.7027027027027026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8.333333333333334</c:v>
                </c:pt>
                <c:pt idx="8">
                  <c:v>8.333333333333334</c:v>
                </c:pt>
                <c:pt idx="9">
                  <c:v>33.333333333333336</c:v>
                </c:pt>
                <c:pt idx="10">
                  <c:v>33.333333333333336</c:v>
                </c:pt>
                <c:pt idx="11">
                  <c:v>41.666666666666664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66.66666666666667</c:v>
                </c:pt>
                <c:pt idx="1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91.66666666666667</c:v>
                </c:pt>
                <c:pt idx="8">
                  <c:v>91.66666666666667</c:v>
                </c:pt>
                <c:pt idx="9">
                  <c:v>66.66666666666667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46.15384615384615</c:v>
                </c:pt>
                <c:pt idx="10">
                  <c:v>46.15384615384615</c:v>
                </c:pt>
                <c:pt idx="11">
                  <c:v>46.15384615384615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7.6923076923076925</c:v>
                </c:pt>
                <c:pt idx="8">
                  <c:v>7.6923076923076925</c:v>
                </c:pt>
                <c:pt idx="9">
                  <c:v>46.15384615384615</c:v>
                </c:pt>
                <c:pt idx="10">
                  <c:v>53.84615384615385</c:v>
                </c:pt>
                <c:pt idx="11">
                  <c:v>53.84615384615385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7.6923076923076925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92.3076923076923</c:v>
                </c:pt>
                <c:pt idx="8">
                  <c:v>92.3076923076923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66.66666666666667</c:v>
                </c:pt>
                <c:pt idx="10">
                  <c:v>66.66666666666667</c:v>
                </c:pt>
                <c:pt idx="11">
                  <c:v>66.66666666666667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25.0</c:v>
                </c:pt>
                <c:pt idx="10">
                  <c:v>8.333333333333334</c:v>
                </c:pt>
                <c:pt idx="11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16.666666666666668</c:v>
                </c:pt>
                <c:pt idx="11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8.333333333333334</c:v>
                </c:pt>
                <c:pt idx="10">
                  <c:v>8.333333333333334</c:v>
                </c:pt>
                <c:pt idx="11">
                  <c:v>8.333333333333334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3206-5A0F-6590-5CC2-8128E297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35E41-5775-0107-E6CF-D4AEE682D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D9C8D-B649-9612-CD2B-DCF6CEA0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1303-806E-A123-9657-CCEC8C32C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20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1DC2-F944-34DD-B764-85BED2F0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AABBC-4283-B289-4871-B4E7AF2C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EA979-5454-3EEC-CBC8-37F698F3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A1BD-6926-2626-8E5D-55F3DAC16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8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A897-55A7-2447-F783-128B0CFB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104CF-C963-7F07-8CBB-81BC53752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76AC3-E364-BACE-9255-7FEDBC106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DFFB-1DE8-A17E-1199-64339F16E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BE28-66CD-D44C-0C55-AC9782C0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A4409-553C-FD5A-DFB7-732380633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879E-AF06-1362-CB5F-F90FA6865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FB8AC-ED1E-0E2E-5AF2-507128B54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2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862A-F09F-91B5-B819-242958E8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E31BB-F827-E21D-B159-D85EAFD8E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7BD65-F7D4-27E5-1285-CD1B365EC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E97A5-3B47-5DA4-12BE-7F0013740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89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525A-77B9-4F45-8B5F-B3F774D8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55FC7-AD94-D9A7-D34B-DADFAE57C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22277-C214-6DF7-231D-6BEE9F1E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2DA4-1468-1278-5185-5DACC01D1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783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Sigrid objectives 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08,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69EBE-D781-BBE7-29B3-57566E620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CEA32-D081-8FDD-76C5-C241F43874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between January 2026 and March 2026</a:t>
            </a:r>
            <a:endParaRPr lang="en-US"/>
          </a:p>
        </p:txBody>
      </p:sp>
      <p:graphicFrame>
        <p:nvGraphicFramePr>
          <p:cNvPr id="6" name="OBJECTIVE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4705810"/>
              </p:ext>
            </p:extLst>
          </p:nvPr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51043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57F2-BA89-4390-88ED-8FB60EF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8348F-B34F-B964-E35D-39DECE3BF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84645-C932-640A-5E4B-F4B967838F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47F5DA-4282-38F9-1499-DF601816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towards objectives per team between January 2026 and March 2026</a:t>
            </a:r>
          </a:p>
        </p:txBody>
      </p:sp>
      <p:graphicFrame>
        <p:nvGraphicFramePr>
          <p:cNvPr id="6" name="OBJECTIVES_TEAM_CHART">
            <a:extLst>
              <a:ext uri="{FF2B5EF4-FFF2-40B4-BE49-F238E27FC236}">
                <a16:creationId xmlns:a16="http://schemas.microsoft.com/office/drawing/2014/main" id="{C8EC5A35-9538-D995-065E-528B18F85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175620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29A40A-AF83-BB5A-88A1-56A221C73FA2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F4431-111B-9E39-96DA-E7355B3BFC0A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280770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429BB-1FAC-98FE-7D71-42B7D87DA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1411-6610-CAFD-EA1C-81FD4B0238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per capability between January 2026 and March 2026</a:t>
            </a:r>
            <a:endParaRPr lang="en-US"/>
          </a:p>
        </p:txBody>
      </p:sp>
      <p:graphicFrame>
        <p:nvGraphicFramePr>
          <p:cNvPr id="6" name="OBJECTIVE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65904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0040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600E-1C52-CB46-5D36-227AF7C7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EDD46-211F-38F5-AB6D-EB1744922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77B15-64A3-766F-A6A8-B3999BFA41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9A4AB2-1C46-4914-7434-6FBDA68D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over time</a:t>
            </a:r>
          </a:p>
        </p:txBody>
      </p:sp>
      <p:graphicFrame>
        <p:nvGraphicFramePr>
          <p:cNvPr id="6" name="OBJECTIVES_OVERALL_CHART">
            <a:extLst>
              <a:ext uri="{FF2B5EF4-FFF2-40B4-BE49-F238E27FC236}">
                <a16:creationId xmlns:a16="http://schemas.microsoft.com/office/drawing/2014/main" id="{CED42228-B917-5A3E-BB6B-9871F4C489AA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2C182B-21A7-0B3F-FD20-1EAE8DC029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8F0D0-4FE8-9F07-C0C1-9B71E7D05D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9751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3A228-91DD-866A-C3BE-29D9BA0B0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D074-760A-27AF-25CE-E2511AFEA5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10002-51D8-CFBC-BD3F-963973A8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4E21-7EB0-8655-1FAF-0FBBAA9791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r>
              <a:rPr lang="en-US" sz="3200" b="1"/>
              <a:t>OBJECTIVES: TREND PER 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74427A-C727-A25F-00F6-6BA35F10855E}"/>
              </a:ext>
            </a:extLst>
          </p:cNvPr>
          <p:cNvSpPr/>
          <p:nvPr/>
        </p:nvSpPr>
        <p:spPr>
          <a:xfrm>
            <a:off x="1371600" y="0"/>
            <a:ext cx="10820400" cy="11862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7E0E-1EF7-93CB-AE93-58F5DBBB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1CC23F-34A9-CAB4-F1AC-61CD4A137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71F33-EC6D-15CB-7964-1A1BA3BB3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F13107-CDB7-AC85-5C5F-E7555AB7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Security</a:t>
            </a:r>
          </a:p>
        </p:txBody>
      </p:sp>
      <p:graphicFrame>
        <p:nvGraphicFramePr>
          <p:cNvPr id="6" name="OBJECTIVES_SECURITY_CHART">
            <a:extLst>
              <a:ext uri="{FF2B5EF4-FFF2-40B4-BE49-F238E27FC236}">
                <a16:creationId xmlns:a16="http://schemas.microsoft.com/office/drawing/2014/main" id="{EA804B61-8F8C-C6D5-94BB-B5CA583E7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432841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3D52BC-C3E2-2451-161B-F52A7FA9705A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DB332-5B7A-58F8-1634-D547EFC67F5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41665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F245-3442-A171-4B71-8976E674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7DFA2-EE79-84D9-93B7-40E7783C2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3577-CF80-4497-779B-F8F9B64983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3ACF5B-388E-198E-FD05-ADCFD074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Open Source Health</a:t>
            </a:r>
          </a:p>
        </p:txBody>
      </p:sp>
      <p:graphicFrame>
        <p:nvGraphicFramePr>
          <p:cNvPr id="6" name="OBJECTIVES_OSH_CHART">
            <a:extLst>
              <a:ext uri="{FF2B5EF4-FFF2-40B4-BE49-F238E27FC236}">
                <a16:creationId xmlns:a16="http://schemas.microsoft.com/office/drawing/2014/main" id="{1551057A-38E3-B1CD-A98D-FA6566BDC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58642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C2DE49-7433-6CBC-CA29-7C7939288C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1CF1D-7DAE-FF14-4371-2186B59208F0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77415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EC71-BF20-1EC9-6B8D-E66363F2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F4491-51CB-EEE5-D092-EF2325FC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B6BA-D3E5-6DBC-BA5D-B53502B31A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BDABA6-F829-DABD-783E-014F9238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Maintainability</a:t>
            </a:r>
          </a:p>
        </p:txBody>
      </p:sp>
      <p:graphicFrame>
        <p:nvGraphicFramePr>
          <p:cNvPr id="6" name="OBJECTIVES_MAINTAINABILITY_CHART">
            <a:extLst>
              <a:ext uri="{FF2B5EF4-FFF2-40B4-BE49-F238E27FC236}">
                <a16:creationId xmlns:a16="http://schemas.microsoft.com/office/drawing/2014/main" id="{D309D7A3-6D2B-5238-FDCA-89277EA3E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184054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44A357-894B-360C-F02D-0E805F440A5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BF43F-4B27-019F-F6AA-84146EA48A8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0094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A77C-7A9E-2604-6B02-6FB6C57A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30A8F-64E7-1C1D-24C6-C12102806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722AC-8C8A-2B3B-1671-FE6B7573FD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C0CB5-4975-B41B-F265-6AE5A3F2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Architecture</a:t>
            </a:r>
          </a:p>
        </p:txBody>
      </p:sp>
      <p:graphicFrame>
        <p:nvGraphicFramePr>
          <p:cNvPr id="6" name="OBJECTIVES_ARCHITECTURE_CHART">
            <a:extLst>
              <a:ext uri="{FF2B5EF4-FFF2-40B4-BE49-F238E27FC236}">
                <a16:creationId xmlns:a16="http://schemas.microsoft.com/office/drawing/2014/main" id="{FBB521E4-96ED-814A-B322-AFBA0633E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656309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FE74E7-A4E7-D99A-A30E-92E30405FE49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E5897-263B-F75F-BB48-770410B9BCF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26135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22858</TotalTime>
  <Words>236</Words>
  <Application>Microsoft Macintosh PowerPoint</Application>
  <PresentationFormat>Widescreen</PresentationFormat>
  <Paragraphs>56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PowerPoint Presentation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204</cp:revision>
  <cp:lastPrinted>2020-07-02T15:41:27Z</cp:lastPrinted>
  <dcterms:created xsi:type="dcterms:W3CDTF">2024-01-03T15:04:34Z</dcterms:created>
  <dcterms:modified xsi:type="dcterms:W3CDTF">2026-03-12T15:48:47Z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