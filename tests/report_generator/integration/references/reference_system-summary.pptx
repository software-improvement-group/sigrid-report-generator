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89"/>
    <p:restoredTop sz="96763"/>
  </p:normalViewPr>
  <p:slideViewPr>
    <p:cSldViewPr snapToGrid="0" snapToObjects="1" showGuides="1">
      <p:cViewPr varScale="1">
        <p:scale>
          <a:sx n="74" d="100"/>
          <a:sy n="74" d="100"/>
        </p:scale>
        <p:origin x="192" y="172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7" name="Footer Placeholder 5">
            <a:extLst>
              <a:ext uri="{FF2B5EF4-FFF2-40B4-BE49-F238E27FC236}">
                <a16:creationId xmlns:a16="http://schemas.microsoft.com/office/drawing/2014/main" id="{1F6B2F43-D7A6-D9F8-CAD8-6FEC12BFD03A}"/>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CB5DF773-C034-71B2-8B60-5119D86047D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6CEAF205-FFFA-6ED7-9061-5B4D60AD539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39856B4B-2510-25E2-394B-3C52A618F80D}"/>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D4520EC1-637F-0CE0-12BF-1C2DF620F9EF}"/>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br>
              <a:rPr lang="nl-NL" dirty="0"/>
            </a:br>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91" name="Footer Placeholder 5">
            <a:extLst>
              <a:ext uri="{FF2B5EF4-FFF2-40B4-BE49-F238E27FC236}">
                <a16:creationId xmlns:a16="http://schemas.microsoft.com/office/drawing/2014/main" id="{0AFB5E79-46BA-CFF3-8602-D6B1591BDF93}"/>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30 June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5">
            <a:extLst>
              <a:ext uri="{FF2B5EF4-FFF2-40B4-BE49-F238E27FC236}">
                <a16:creationId xmlns:a16="http://schemas.microsoft.com/office/drawing/2014/main" id="{1F5DF0A7-B635-04F6-A414-66B1D5F49286}"/>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
        <p:nvSpPr>
          <p:cNvPr id="7" name="Footer Placeholder 5">
            <a:extLst>
              <a:ext uri="{FF2B5EF4-FFF2-40B4-BE49-F238E27FC236}">
                <a16:creationId xmlns:a16="http://schemas.microsoft.com/office/drawing/2014/main" id="{D668F418-C9C8-DC1B-60B7-39B80C74F1EA}"/>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2.4 stars (★★☆☆☆)</a:t>
            </a:r>
            <a:r>
              <a:rPr lang="en-US" sz="1400" b="1" noProof="0" dirty="0"/>
              <a:t> </a:t>
            </a:r>
            <a:r>
              <a:rPr lang="en-US" sz="1400" noProof="0" dirty="0"/>
              <a:t>on the SIG Architecture Quality model, below the market average. The system's low score in Component Coupling constrains architecture, constraining evolution and imposing high-impact changes, impeding system adaptability.</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
        <p:nvSpPr>
          <p:cNvPr id="3" name="Footer Placeholder 5">
            <a:extLst>
              <a:ext uri="{FF2B5EF4-FFF2-40B4-BE49-F238E27FC236}">
                <a16:creationId xmlns:a16="http://schemas.microsoft.com/office/drawing/2014/main" id="{56D11E59-CE75-1FCB-882A-D95DE0C0E55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4">
            <a:extLst>
              <a:ext uri="{FF2B5EF4-FFF2-40B4-BE49-F238E27FC236}">
                <a16:creationId xmlns:a16="http://schemas.microsoft.com/office/drawing/2014/main" id="{0707A884-AC28-2314-C739-5F3DD7BBDDA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
        <p:nvSpPr>
          <p:cNvPr id="6" name="Footer Placeholder 4">
            <a:extLst>
              <a:ext uri="{FF2B5EF4-FFF2-40B4-BE49-F238E27FC236}">
                <a16:creationId xmlns:a16="http://schemas.microsoft.com/office/drawing/2014/main" id="{ABD0BC6B-481D-DD66-696A-A9C254706A0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17.3 person years is required to renovate the system towards the recommended 4-star level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17.3 person years (40%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17.3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
        <p:nvSpPr>
          <p:cNvPr id="11" name="Footer Placeholder 4">
            <a:extLst>
              <a:ext uri="{FF2B5EF4-FFF2-40B4-BE49-F238E27FC236}">
                <a16:creationId xmlns:a16="http://schemas.microsoft.com/office/drawing/2014/main" id="{AB90D459-4420-2DF2-2C1D-808545BAE1C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6" name="Footer Placeholder 4">
            <a:extLst>
              <a:ext uri="{FF2B5EF4-FFF2-40B4-BE49-F238E27FC236}">
                <a16:creationId xmlns:a16="http://schemas.microsoft.com/office/drawing/2014/main" id="{CEDCB514-EEAB-921C-29E3-76B18FF54E1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3955803" y="2780488"/>
            <a:ext cx="1487734" cy="339865"/>
            <a:chOff x="3955803" y="2830273"/>
            <a:chExt cx="1487734"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4065156" y="2918313"/>
              <a:ext cx="1287688" cy="157941"/>
              <a:chOff x="4307640" y="2702807"/>
              <a:chExt cx="1287688" cy="157941"/>
            </a:xfrm>
          </p:grpSpPr>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3955803" y="2830273"/>
              <a:ext cx="148773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6096000" y="3717908"/>
            <a:ext cx="5168112" cy="339865"/>
            <a:chOff x="6096000" y="3744528"/>
            <a:chExt cx="5168112"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6368262" y="3835491"/>
              <a:ext cx="4797653" cy="157941"/>
              <a:chOff x="6610746" y="3796856"/>
              <a:chExt cx="4797653" cy="157941"/>
            </a:xfrm>
          </p:grpSpPr>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6096000" y="3744528"/>
              <a:ext cx="5168112"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extLst>
              <p:ext uri="{D42A27DB-BD31-4B8C-83A1-F6EECF244321}">
                <p14:modId xmlns:p14="http://schemas.microsoft.com/office/powerpoint/2010/main" val="2921088215"/>
              </p:ext>
            </p:extLst>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endParaRPr lang="en-US" sz="1200" b="0" i="0" noProof="0" dirty="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
        <p:nvSpPr>
          <p:cNvPr id="10" name="Footer Placeholder 4">
            <a:extLst>
              <a:ext uri="{FF2B5EF4-FFF2-40B4-BE49-F238E27FC236}">
                <a16:creationId xmlns:a16="http://schemas.microsoft.com/office/drawing/2014/main" id="{B8B98495-652D-FBE8-27A1-3D955AEEA695}"/>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very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776225825"/>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Footer Placeholder 4">
            <a:extLst>
              <a:ext uri="{FF2B5EF4-FFF2-40B4-BE49-F238E27FC236}">
                <a16:creationId xmlns:a16="http://schemas.microsoft.com/office/drawing/2014/main" id="{7DF93ECD-8304-30C3-8FA0-5E7662AC236E}"/>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sz="1400" noProof="0" dirty="0"/>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1238816226"/>
              </p:ext>
            </p:extLst>
          </p:nvPr>
        </p:nvGraphicFramePr>
        <p:xfrm>
          <a:off x="8571496" y="3035953"/>
          <a:ext cx="3315521" cy="169174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2" name="Footer Placeholder 4">
            <a:extLst>
              <a:ext uri="{FF2B5EF4-FFF2-40B4-BE49-F238E27FC236}">
                <a16:creationId xmlns:a16="http://schemas.microsoft.com/office/drawing/2014/main" id="{CDA89C97-6C2B-CBC6-7C32-011FC35ECB5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very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
        <p:nvSpPr>
          <p:cNvPr id="3" name="Footer Placeholder 4">
            <a:extLst>
              <a:ext uri="{FF2B5EF4-FFF2-40B4-BE49-F238E27FC236}">
                <a16:creationId xmlns:a16="http://schemas.microsoft.com/office/drawing/2014/main" id="{0F9170FB-EB04-2D52-E4B3-55BBDBB0014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Footer Placeholder 4">
            <a:extLst>
              <a:ext uri="{FF2B5EF4-FFF2-40B4-BE49-F238E27FC236}">
                <a16:creationId xmlns:a16="http://schemas.microsoft.com/office/drawing/2014/main" id="{ECC94B99-D17E-9114-E33E-B540BB7AA66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 name="Footer Placeholder 4">
            <a:extLst>
              <a:ext uri="{FF2B5EF4-FFF2-40B4-BE49-F238E27FC236}">
                <a16:creationId xmlns:a16="http://schemas.microsoft.com/office/drawing/2014/main" id="{6D4C08B4-CA73-A94F-C526-596AC4A9D879}"/>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 name="Footer Placeholder 4">
            <a:extLst>
              <a:ext uri="{FF2B5EF4-FFF2-40B4-BE49-F238E27FC236}">
                <a16:creationId xmlns:a16="http://schemas.microsoft.com/office/drawing/2014/main" id="{1FE26E0D-E2E6-C4AB-D5FA-F8ECAD7EE8F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below market average (2.4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1008249662"/>
              </p:ext>
            </p:extLst>
          </p:nvPr>
        </p:nvGraphicFramePr>
        <p:xfrm>
          <a:off x="8395675" y="3035953"/>
          <a:ext cx="3480722" cy="2842632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a:ln>
                            <a:noFill/>
                          </a:ln>
                          <a:solidFill>
                            <a:schemeClr val="tx1"/>
                          </a:solidFill>
                          <a:effectLst/>
                          <a:latin typeface="+mn-lt"/>
                          <a:ea typeface="ＭＳ Ｐゴシック" charset="0"/>
                          <a:cs typeface="TheSans B7 Bold"/>
                        </a:rPr>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rPr>
                        <a:t>N/A</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2.4</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1.7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2.4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3.0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2.4</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
        <p:nvSpPr>
          <p:cNvPr id="3" name="Footer Placeholder 4">
            <a:extLst>
              <a:ext uri="{FF2B5EF4-FFF2-40B4-BE49-F238E27FC236}">
                <a16:creationId xmlns:a16="http://schemas.microsoft.com/office/drawing/2014/main" id="{B23964EB-0BB8-77A0-1CCD-99E2E09C8937}"/>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
        <p:nvSpPr>
          <p:cNvPr id="3" name="Footer Placeholder 4">
            <a:extLst>
              <a:ext uri="{FF2B5EF4-FFF2-40B4-BE49-F238E27FC236}">
                <a16:creationId xmlns:a16="http://schemas.microsoft.com/office/drawing/2014/main" id="{D4A056AD-5C98-2081-69A4-5F42AF9892F2}"/>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67% of dependencies (8 in total) used in the system contain one or more known vulnerabilities.</a:t>
            </a:r>
            <a:endParaRPr lang="en-US" sz="1400" noProof="0" dirty="0"/>
          </a:p>
          <a:p>
            <a:r>
              <a:rPr lang="en-US" sz="1400" noProof="0" dirty="0" err="1"/>
              <a:t>50% of dependencies (6 in total) uses a potentially restrictive open-source license (e.g. GPL/AGPL).</a:t>
            </a:r>
            <a:endParaRPr lang="en-US" sz="1400" noProof="0" dirty="0"/>
          </a:p>
          <a:p>
            <a:r>
              <a:rPr lang="en-US" sz="1400" noProof="0" dirty="0" err="1"/>
              <a:t>50% of dependencies (6 in total) used in the system have not been updated for over 2 years.</a:t>
            </a:r>
            <a:endParaRPr lang="en-US" sz="1400" noProof="0" dirty="0"/>
          </a:p>
          <a:p>
            <a:r>
              <a:rPr lang="en-US" sz="1400" noProof="0" dirty="0" err="1"/>
              <a:t>67% of dependencies (8 in total) does not use a package manager but is placed in the codebase directly.</a:t>
            </a:r>
            <a:endParaRPr lang="en-US" sz="1400" noProof="0" dirty="0"/>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808742044"/>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3.8</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0176990D-E053-DFD3-6F1D-6FADB027FCC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67% of dependencies (8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50% of dependencies (6 in total) uses a potentially restrictive open-source license (e.g. GPL/AGPL).</a:t>
            </a:r>
            <a:endParaRPr lang="en-US" noProof="0" dirty="0">
              <a:solidFill>
                <a:schemeClr val="tx1"/>
              </a:solidFill>
            </a:endParaRPr>
          </a:p>
          <a:p>
            <a:pPr>
              <a:spcAft>
                <a:spcPts val="1000"/>
              </a:spcAft>
            </a:pPr>
            <a:r>
              <a:rPr lang="en-US" noProof="0" dirty="0" err="1">
                <a:solidFill>
                  <a:schemeClr val="tx1"/>
                </a:solidFill>
              </a:rPr>
              <a:t>50% of dependencies (6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67% of dependencies (8 in total) does not use a package manager but is placed in the codebase directly.</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12</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sz="1400" dirty="0"/>
              <a:t>0</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sz="1400" dirty="0"/>
              <a:t>0</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sz="1400" dirty="0"/>
              <a:t>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sz="1400" dirty="0"/>
              <a:t>0</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sz="1400" noProof="0" dirty="0"/>
              <a:t>12</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8 vulnerable 3rd party open-source dependencies were identified</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extLst>
              <p:ext uri="{D42A27DB-BD31-4B8C-83A1-F6EECF244321}">
                <p14:modId xmlns:p14="http://schemas.microsoft.com/office/powerpoint/2010/main" val="1432000087"/>
              </p:ext>
            </p:extLst>
          </p:nvPr>
        </p:nvGraphicFramePr>
        <p:xfrm>
          <a:off x="2993512" y="2856792"/>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4">
            <a:extLst>
              <a:ext uri="{FF2B5EF4-FFF2-40B4-BE49-F238E27FC236}">
                <a16:creationId xmlns:a16="http://schemas.microsoft.com/office/drawing/2014/main" id="{5A5F9FC3-B21B-D813-DD82-33A7B1600993}"/>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11399</TotalTime>
  <Words>2091</Words>
  <Application>Microsoft Macintosh PowerPoint</Application>
  <PresentationFormat>Widescreen</PresentationFormat>
  <Paragraphs>449</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233</cp:revision>
  <cp:lastPrinted>2020-04-20T09:37:43Z</cp:lastPrinted>
  <dcterms:created xsi:type="dcterms:W3CDTF">2025-10-22T11:22:13Z</dcterms:created>
  <dcterms:modified xsi:type="dcterms:W3CDTF">2026-07-01T14:12:35Z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