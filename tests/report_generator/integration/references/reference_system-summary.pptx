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5"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91"/>
    <p:restoredTop sz="96763"/>
  </p:normalViewPr>
  <p:slideViewPr>
    <p:cSldViewPr snapToGrid="0" snapToObjects="1" showGuides="1">
      <p:cViewPr varScale="1">
        <p:scale>
          <a:sx n="121" d="100"/>
          <a:sy n="121" d="100"/>
        </p:scale>
        <p:origin x="200" y="31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2.6396228517578364</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0</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1</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0</c:v>
                </c:pt>
                <c:pt idx="2">
                  <c:v>0</c:v>
                </c:pt>
                <c:pt idx="3">
                  <c:v>9</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0</c:v>
                </c:pt>
                <c:pt idx="1">
                  <c:v>0</c:v>
                </c:pt>
                <c:pt idx="2">
                  <c:v>0</c:v>
                </c:pt>
                <c:pt idx="3">
                  <c:v>18</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8</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5/19/26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7" name="Footer Placeholder 5">
            <a:extLst>
              <a:ext uri="{FF2B5EF4-FFF2-40B4-BE49-F238E27FC236}">
                <a16:creationId xmlns:a16="http://schemas.microsoft.com/office/drawing/2014/main" id="{1F6B2F43-D7A6-D9F8-CAD8-6FEC12BFD03A}"/>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Footer Placeholder 5">
            <a:extLst>
              <a:ext uri="{FF2B5EF4-FFF2-40B4-BE49-F238E27FC236}">
                <a16:creationId xmlns:a16="http://schemas.microsoft.com/office/drawing/2014/main" id="{CB5DF773-C034-71B2-8B60-5119D86047D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6CEAF205-FFFA-6ED7-9061-5B4D60AD539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39856B4B-2510-25E2-394B-3C52A618F80D}"/>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D4520EC1-637F-0CE0-12BF-1C2DF620F9EF}"/>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br>
              <a:rPr lang="nl-NL" dirty="0"/>
            </a:br>
            <a:r>
              <a:rPr lang="nl-NL" dirty="0" err="1"/>
              <a:t>for</a:t>
            </a:r>
            <a:r>
              <a:rPr lang="nl-NL" dirty="0"/>
              <a:t> CUSTOMER_NAME</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91" name="Footer Placeholder 5">
            <a:extLst>
              <a:ext uri="{FF2B5EF4-FFF2-40B4-BE49-F238E27FC236}">
                <a16:creationId xmlns:a16="http://schemas.microsoft.com/office/drawing/2014/main" id="{0AFB5E79-46BA-CFF3-8602-D6B1591BDF93}"/>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15 March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5">
            <a:extLst>
              <a:ext uri="{FF2B5EF4-FFF2-40B4-BE49-F238E27FC236}">
                <a16:creationId xmlns:a16="http://schemas.microsoft.com/office/drawing/2014/main" id="{1F5DF0A7-B635-04F6-A414-66B1D5F49286}"/>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
        <p:nvSpPr>
          <p:cNvPr id="7" name="Footer Placeholder 5">
            <a:extLst>
              <a:ext uri="{FF2B5EF4-FFF2-40B4-BE49-F238E27FC236}">
                <a16:creationId xmlns:a16="http://schemas.microsoft.com/office/drawing/2014/main" id="{D668F418-C9C8-DC1B-60B7-39B80C74F1EA}"/>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2.6 stars (★★★☆☆)</a:t>
            </a:r>
            <a:r>
              <a:rPr lang="en-US" sz="1400" b="1" noProof="0" dirty="0"/>
              <a:t> </a:t>
            </a:r>
            <a:r>
              <a:rPr lang="en-US" sz="1400" noProof="0" dirty="0"/>
              <a:t>on the SIG Architecture Quality model, at the market average. The system's low score in Component Coupling constrains architecture, constraining evolution and imposing high-impact changes, impeding system adaptability.</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0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
        <p:nvSpPr>
          <p:cNvPr id="3" name="Footer Placeholder 5">
            <a:extLst>
              <a:ext uri="{FF2B5EF4-FFF2-40B4-BE49-F238E27FC236}">
                <a16:creationId xmlns:a16="http://schemas.microsoft.com/office/drawing/2014/main" id="{56D11E59-CE75-1FCB-882A-D95DE0C0E55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4">
            <a:extLst>
              <a:ext uri="{FF2B5EF4-FFF2-40B4-BE49-F238E27FC236}">
                <a16:creationId xmlns:a16="http://schemas.microsoft.com/office/drawing/2014/main" id="{0707A884-AC28-2314-C739-5F3DD7BBDDA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
        <p:nvSpPr>
          <p:cNvPr id="6" name="Footer Placeholder 4">
            <a:extLst>
              <a:ext uri="{FF2B5EF4-FFF2-40B4-BE49-F238E27FC236}">
                <a16:creationId xmlns:a16="http://schemas.microsoft.com/office/drawing/2014/main" id="{ABD0BC6B-481D-DD66-696A-A9C254706A0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18.2 person years is required to renovate the system towards the recommended 4-star level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18.2 person years (42%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18.2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
        <p:nvSpPr>
          <p:cNvPr id="11" name="Footer Placeholder 4">
            <a:extLst>
              <a:ext uri="{FF2B5EF4-FFF2-40B4-BE49-F238E27FC236}">
                <a16:creationId xmlns:a16="http://schemas.microsoft.com/office/drawing/2014/main" id="{AB90D459-4420-2DF2-2C1D-808545BAE1C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6" name="Footer Placeholder 4">
            <a:extLst>
              <a:ext uri="{FF2B5EF4-FFF2-40B4-BE49-F238E27FC236}">
                <a16:creationId xmlns:a16="http://schemas.microsoft.com/office/drawing/2014/main" id="{CEDCB514-EEAB-921C-29E3-76B18FF54E1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3955803" y="2780488"/>
            <a:ext cx="1487734" cy="339865"/>
            <a:chOff x="3955803" y="2830273"/>
            <a:chExt cx="1487734"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4065156" y="2918313"/>
              <a:ext cx="1287688" cy="157941"/>
              <a:chOff x="4307640" y="2702807"/>
              <a:chExt cx="1287688" cy="157941"/>
            </a:xfrm>
          </p:grpSpPr>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3955803" y="2830273"/>
              <a:ext cx="148773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6096000" y="3717908"/>
            <a:ext cx="5168112" cy="339865"/>
            <a:chOff x="6096000" y="3744528"/>
            <a:chExt cx="5168112"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6368262" y="3835491"/>
              <a:ext cx="4797653" cy="157941"/>
              <a:chOff x="6610746" y="3796856"/>
              <a:chExt cx="4797653" cy="157941"/>
            </a:xfrm>
          </p:grpSpPr>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6096000" y="3744528"/>
              <a:ext cx="5168112"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extLst>
              <p:ext uri="{D42A27DB-BD31-4B8C-83A1-F6EECF244321}">
                <p14:modId xmlns:p14="http://schemas.microsoft.com/office/powerpoint/2010/main" val="2921088215"/>
              </p:ext>
            </p:extLst>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endParaRPr lang="en-US" sz="1200" b="0" i="0" noProof="0" dirty="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
        <p:nvSpPr>
          <p:cNvPr id="10" name="Footer Placeholder 4">
            <a:extLst>
              <a:ext uri="{FF2B5EF4-FFF2-40B4-BE49-F238E27FC236}">
                <a16:creationId xmlns:a16="http://schemas.microsoft.com/office/drawing/2014/main" id="{B8B98495-652D-FBE8-27A1-3D955AEEA695}"/>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3;&#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776225825"/>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2" name="Footer Placeholder 4">
            <a:extLst>
              <a:ext uri="{FF2B5EF4-FFF2-40B4-BE49-F238E27FC236}">
                <a16:creationId xmlns:a16="http://schemas.microsoft.com/office/drawing/2014/main" id="{7DF93ECD-8304-30C3-8FA0-5E7662AC236E}"/>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system's large size hinders its effective maintenance
The system shows high risk in units with large interfaces
The system shows high risk where components of the system often interact with each other
The system shows low risk in its duplicated logic.</a:t>
            </a:r>
            <a:endParaRPr lang="en-US" sz="1400" noProof="0" dirty="0"/>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1238816226"/>
              </p:ext>
            </p:extLst>
          </p:nvPr>
        </p:nvGraphicFramePr>
        <p:xfrm>
          <a:off x="8571496" y="3035953"/>
          <a:ext cx="3315521" cy="1691748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2" name="Footer Placeholder 4">
            <a:extLst>
              <a:ext uri="{FF2B5EF4-FFF2-40B4-BE49-F238E27FC236}">
                <a16:creationId xmlns:a16="http://schemas.microsoft.com/office/drawing/2014/main" id="{CDA89C97-6C2B-CBC6-7C32-011FC35ECB5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
        <p:nvSpPr>
          <p:cNvPr id="3" name="Footer Placeholder 4">
            <a:extLst>
              <a:ext uri="{FF2B5EF4-FFF2-40B4-BE49-F238E27FC236}">
                <a16:creationId xmlns:a16="http://schemas.microsoft.com/office/drawing/2014/main" id="{0F9170FB-EB04-2D52-E4B3-55BBDBB0014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
        <p:nvSpPr>
          <p:cNvPr id="11" name="Footer Placeholder 4">
            <a:extLst>
              <a:ext uri="{FF2B5EF4-FFF2-40B4-BE49-F238E27FC236}">
                <a16:creationId xmlns:a16="http://schemas.microsoft.com/office/drawing/2014/main" id="{ECC94B99-D17E-9114-E33E-B540BB7AA66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 name="Footer Placeholder 4">
            <a:extLst>
              <a:ext uri="{FF2B5EF4-FFF2-40B4-BE49-F238E27FC236}">
                <a16:creationId xmlns:a16="http://schemas.microsoft.com/office/drawing/2014/main" id="{6D4C08B4-CA73-A94F-C526-596AC4A9D879}"/>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 name="Footer Placeholder 4">
            <a:extLst>
              <a:ext uri="{FF2B5EF4-FFF2-40B4-BE49-F238E27FC236}">
                <a16:creationId xmlns:a16="http://schemas.microsoft.com/office/drawing/2014/main" id="{1FE26E0D-E2E6-C4AB-D5FA-F8ECAD7EE8F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278537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Integrationtest-kafka scores at market average (2.6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1008249662"/>
              </p:ext>
            </p:extLst>
          </p:nvPr>
        </p:nvGraphicFramePr>
        <p:xfrm>
          <a:off x="8395675" y="3035953"/>
          <a:ext cx="3480722" cy="2842632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a:ln>
                            <a:noFill/>
                          </a:ln>
                          <a:solidFill>
                            <a:schemeClr val="tx1"/>
                          </a:solidFill>
                          <a:effectLst/>
                          <a:latin typeface="+mn-lt"/>
                          <a:ea typeface="ＭＳ Ｐゴシック" charset="0"/>
                          <a:cs typeface="TheSans B7 Bold"/>
                        </a:rPr>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rPr>
                        <a:t>N/A</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2.3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2.8</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2.7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2.6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2.5</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The system's low score in Component Coupling constrains architecture, constraining evolution and imposing high-impact changes, impeding system adaptability.</a:t>
            </a:r>
            <a:endParaRPr lang="en-US" sz="1600" noProof="0" dirty="0"/>
          </a:p>
          <a:p>
            <a:br>
              <a:rPr lang="en-US" sz="1600" noProof="0" dirty="0"/>
            </a:br>
            <a:r>
              <a:rPr lang="en-US" sz="1600" noProof="0" dirty="0" err="1"/>
              <a:t>The system's high score in Bounded Evolution signifies limited updates for components, preventing excessive dependencies and knowledge centralization, and promoting a more balanced and adaptable system.</a:t>
            </a:r>
            <a:endParaRPr lang="en-US" sz="2400" noProof="0" dirty="0"/>
          </a:p>
        </p:txBody>
      </p:sp>
      <p:sp>
        <p:nvSpPr>
          <p:cNvPr id="3" name="Footer Placeholder 4">
            <a:extLst>
              <a:ext uri="{FF2B5EF4-FFF2-40B4-BE49-F238E27FC236}">
                <a16:creationId xmlns:a16="http://schemas.microsoft.com/office/drawing/2014/main" id="{B23964EB-0BB8-77A0-1CCD-99E2E09C8937}"/>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
        <p:nvSpPr>
          <p:cNvPr id="3" name="Footer Placeholder 4">
            <a:extLst>
              <a:ext uri="{FF2B5EF4-FFF2-40B4-BE49-F238E27FC236}">
                <a16:creationId xmlns:a16="http://schemas.microsoft.com/office/drawing/2014/main" id="{D4A056AD-5C98-2081-69A4-5F42AF9892F2}"/>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1%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1% of dependencies (1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808742044"/>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17 </a:t>
            </a:r>
            <a:r>
              <a:rPr lang="en-US" sz="800" noProof="0" dirty="0" err="1">
                <a:solidFill>
                  <a:srgbClr val="152F73"/>
                </a:solidFill>
                <a:latin typeface="Azeret Mono" pitchFamily="2" charset="77"/>
                <a:cs typeface="Azeret Mono" pitchFamily="2" charset="77"/>
              </a:rPr>
              <a:t>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54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2.9</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0176990D-E053-DFD3-6F1D-6FADB027FCC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1%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1% of dependencies (1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175</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sz="1400" dirty="0"/>
              <a:t>1</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sz="1400" dirty="0"/>
              <a:t>18</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sz="1400" dirty="0"/>
              <a:t>12</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sz="1400" dirty="0"/>
              <a:t>133</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sz="1400" noProof="0" dirty="0"/>
              <a:t>11</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extLst>
              <p:ext uri="{D42A27DB-BD31-4B8C-83A1-F6EECF244321}">
                <p14:modId xmlns:p14="http://schemas.microsoft.com/office/powerpoint/2010/main" val="1432000087"/>
              </p:ext>
            </p:extLst>
          </p:nvPr>
        </p:nvGraphicFramePr>
        <p:xfrm>
          <a:off x="2993512" y="2856792"/>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4">
            <a:extLst>
              <a:ext uri="{FF2B5EF4-FFF2-40B4-BE49-F238E27FC236}">
                <a16:creationId xmlns:a16="http://schemas.microsoft.com/office/drawing/2014/main" id="{5A5F9FC3-B21B-D813-DD82-33A7B1600993}"/>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11399</TotalTime>
  <Words>2111</Words>
  <Application>Microsoft Macintosh PowerPoint</Application>
  <PresentationFormat>Widescreen</PresentationFormat>
  <Paragraphs>450</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232</cp:revision>
  <cp:lastPrinted>2020-04-20T09:37:43Z</cp:lastPrinted>
  <dcterms:created xsi:type="dcterms:W3CDTF">2025-10-22T11:22:13Z</dcterms:created>
  <dcterms:modified xsi:type="dcterms:W3CDTF">2026-05-19T12:45:14Z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