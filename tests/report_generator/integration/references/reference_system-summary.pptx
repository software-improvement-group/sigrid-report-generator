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5"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113"/>
    <p:restoredTop sz="96763"/>
  </p:normalViewPr>
  <p:slideViewPr>
    <p:cSldViewPr snapToGrid="0" snapToObjects="1" showGuides="1">
      <p:cViewPr varScale="1">
        <p:scale>
          <a:sx n="128" d="100"/>
          <a:sy n="128" d="100"/>
        </p:scale>
        <p:origin x="1080"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Integrationtest-kafka</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2.6396228517578364</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c:v>
                </c:pt>
                <c:pt idx="1">
                  <c:v>0</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0</c:v>
                </c:pt>
                <c:pt idx="1">
                  <c:v>0</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1</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0</c:v>
                </c:pt>
                <c:pt idx="2">
                  <c:v>0</c:v>
                </c:pt>
                <c:pt idx="3">
                  <c:v>9</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0</c:v>
                </c:pt>
                <c:pt idx="1">
                  <c:v>0</c:v>
                </c:pt>
                <c:pt idx="2">
                  <c:v>0</c:v>
                </c:pt>
                <c:pt idx="3">
                  <c:v>18</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c:v>
                </c:pt>
                <c:pt idx="1">
                  <c:v>0</c:v>
                </c:pt>
                <c:pt idx="2">
                  <c:v>0</c:v>
                </c:pt>
                <c:pt idx="3">
                  <c:v>8</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3/24/26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15 March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4" name="Footer Placeholder 3">
            <a:extLst>
              <a:ext uri="{FF2B5EF4-FFF2-40B4-BE49-F238E27FC236}">
                <a16:creationId xmlns:a16="http://schemas.microsoft.com/office/drawing/2014/main" id="{FC0FB862-C01C-1641-7BFB-3619861959DC}"/>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2.6 stars (★★★☆☆)</a:t>
            </a:r>
            <a:r>
              <a:rPr lang="en-US" sz="1400" b="1" noProof="0" dirty="0"/>
              <a:t> </a:t>
            </a:r>
            <a:r>
              <a:rPr lang="en-US" sz="1400" noProof="0" dirty="0"/>
              <a:t>on the SIG Architecture Quality model, at the market average. The system's low score in Component Coupling constrains architecture, constraining evolution and imposing high-impact changes, impeding system adaptability.</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0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CC222B10-C35A-E1BF-3C6F-DEEE02500266}"/>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18.2 person years is required to renovate the system towards the recommended 4-star level</a:t>
            </a:r>
          </a:p>
        </p:txBody>
      </p:sp>
      <p:sp>
        <p:nvSpPr>
          <p:cNvPr id="2" name="Footer Placeholder 3">
            <a:extLst>
              <a:ext uri="{FF2B5EF4-FFF2-40B4-BE49-F238E27FC236}">
                <a16:creationId xmlns:a16="http://schemas.microsoft.com/office/drawing/2014/main" id="{6403D236-46DC-F53D-82C2-4D20A0AF68AC}"/>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18.2 person years (42%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18.2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2807936" y="2780488"/>
            <a:ext cx="2635602" cy="339865"/>
            <a:chOff x="2807936" y="2830273"/>
            <a:chExt cx="2635602"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2906989" y="2918313"/>
              <a:ext cx="2445855" cy="157941"/>
              <a:chOff x="3149473" y="2702807"/>
              <a:chExt cx="2445855" cy="157941"/>
            </a:xfrm>
          </p:grpSpPr>
          <p:sp>
            <p:nvSpPr>
              <p:cNvPr id="10" name="Ovaal 9">
                <a:extLst>
                  <a:ext uri="{FF2B5EF4-FFF2-40B4-BE49-F238E27FC236}">
                    <a16:creationId xmlns:a16="http://schemas.microsoft.com/office/drawing/2014/main" id="{EEC047B5-4675-87BB-C77D-525A9C15C89C}"/>
                  </a:ext>
                </a:extLst>
              </p:cNvPr>
              <p:cNvSpPr/>
              <p:nvPr/>
            </p:nvSpPr>
            <p:spPr>
              <a:xfrm>
                <a:off x="3149473"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2807936" y="2830273"/>
              <a:ext cx="2635602"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2807935" y="3717908"/>
            <a:ext cx="8456177" cy="339865"/>
            <a:chOff x="2807935" y="3744528"/>
            <a:chExt cx="8456177"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2906989" y="3835491"/>
              <a:ext cx="8258926" cy="157941"/>
              <a:chOff x="3149473" y="3796856"/>
              <a:chExt cx="8258926" cy="157941"/>
            </a:xfrm>
          </p:grpSpPr>
          <p:sp>
            <p:nvSpPr>
              <p:cNvPr id="33" name="Ovaal 32">
                <a:extLst>
                  <a:ext uri="{FF2B5EF4-FFF2-40B4-BE49-F238E27FC236}">
                    <a16:creationId xmlns:a16="http://schemas.microsoft.com/office/drawing/2014/main" id="{6B6535E0-9B87-4936-01E5-3207BED2217D}"/>
                  </a:ext>
                </a:extLst>
              </p:cNvPr>
              <p:cNvSpPr/>
              <p:nvPr/>
            </p:nvSpPr>
            <p:spPr>
              <a:xfrm>
                <a:off x="3149473"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2807935" y="3744528"/>
              <a:ext cx="8456177"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r>
                        <a:rPr lang="en-US" sz="1200" b="0" i="0" noProof="0" dirty="0">
                          <a:solidFill>
                            <a:schemeClr val="bg1"/>
                          </a:solidFill>
                          <a:latin typeface="☞NOIR PRO MEDIUM" pitchFamily="2" charset="0"/>
                        </a:rPr>
                        <a:t>Volume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5" name="Tijdelijke aanduiding voor voettekst 14">
            <a:extLst>
              <a:ext uri="{FF2B5EF4-FFF2-40B4-BE49-F238E27FC236}">
                <a16:creationId xmlns:a16="http://schemas.microsoft.com/office/drawing/2014/main" id="{E61F4EF7-95D6-9141-8632-993E0F351796}"/>
              </a:ext>
            </a:extLst>
          </p:cNvPr>
          <p:cNvSpPr>
            <a:spLocks noGrp="1"/>
          </p:cNvSpPr>
          <p:nvPr>
            <p:ph type="ftr" sz="quarter" idx="14"/>
          </p:nvPr>
        </p:nvSpPr>
        <p:spPr/>
        <p:txBody>
          <a:bodyPr/>
          <a:lstStyle/>
          <a:p>
            <a:r>
              <a:rPr lang="en-US" noProof="0" dirty="0"/>
              <a:t>Confidential</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SLIDE&#13;&#10;">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system's large size hinders its effective maintenance
The system shows high risk in units with large interfaces
The system shows high risk where components of the system often interact with each other
The system shows low risk in its duplicated logic.
</a:t>
            </a:r>
            <a:endParaRPr lang="en-US" sz="1400" noProof="0" dirty="0"/>
          </a:p>
        </p:txBody>
      </p:sp>
      <p:sp>
        <p:nvSpPr>
          <p:cNvPr id="4" name="Tijdelijke aanduiding voor voettekst 3">
            <a:extLst>
              <a:ext uri="{FF2B5EF4-FFF2-40B4-BE49-F238E27FC236}">
                <a16:creationId xmlns:a16="http://schemas.microsoft.com/office/drawing/2014/main" id="{CC752FB1-03C1-7292-253C-C8435A815C2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2663753721"/>
              </p:ext>
            </p:extLst>
          </p:nvPr>
        </p:nvGraphicFramePr>
        <p:xfrm>
          <a:off x="8571496" y="3035953"/>
          <a:ext cx="3315521" cy="1868112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chemeClr val="tx1"/>
                          </a:solidFill>
                          <a:effectLst/>
                          <a:latin typeface="+mn-lt"/>
                        </a:rPr>
                        <a:t>Volume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4" name="Footer Placeholder 3">
            <a:extLst>
              <a:ext uri="{FF2B5EF4-FFF2-40B4-BE49-F238E27FC236}">
                <a16:creationId xmlns:a16="http://schemas.microsoft.com/office/drawing/2014/main" id="{D2770E21-F741-00F2-0514-4F39688D23DB}"/>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42785375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Integrationtest-kafka scores at market average (2.6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633453408"/>
              </p:ext>
            </p:extLst>
          </p:nvPr>
        </p:nvGraphicFramePr>
        <p:xfrm>
          <a:off x="8395675" y="3035953"/>
          <a:ext cx="3480722" cy="2593116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distribution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2.3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2.8</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2.7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2.6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2.5</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The system's low score in Component Coupling constrains architecture, constraining evolution and imposing high-impact changes, impeding system adaptability.</a:t>
            </a:r>
            <a:endParaRPr lang="en-US" sz="1600" noProof="0" dirty="0"/>
          </a:p>
          <a:p>
            <a:br>
              <a:rPr lang="en-US" sz="1600" noProof="0" dirty="0"/>
            </a:br>
            <a:r>
              <a:rPr lang="en-US" sz="1600" noProof="0" dirty="0" err="1"/>
              <a:t>The system's high score in Bounded Evolution signifies limited updates for components, preventing excessive dependencies and knowledge centralization, and promoting a more balanced and adaptable system.</a:t>
            </a:r>
            <a:endParaRPr lang="en-US" sz="2400" noProof="0" dirty="0"/>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noRot="1" noMove="1" noResize="1" noEditPoints="1" noAdjustHandles="1" noChangeArrowheads="1" noChangeShapeType="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1%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1% of dependencies (1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4944616"/>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17 </a:t>
            </a:r>
            <a:r>
              <a:rPr lang="en-US" sz="800" noProof="0" dirty="0" err="1">
                <a:solidFill>
                  <a:srgbClr val="152F73"/>
                </a:solidFill>
                <a:latin typeface="Azeret Mono" pitchFamily="2" charset="77"/>
                <a:cs typeface="Azeret Mono" pitchFamily="2" charset="77"/>
              </a:rPr>
              <a:t>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54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2.9</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1%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1% of dependencies (1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175</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rmAutofit fontScale="77500" lnSpcReduction="20000"/>
          </a:bodyPr>
          <a:lstStyle/>
          <a:p>
            <a:endParaRPr lang="en-US" noProof="0" dirty="0"/>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rmAutofit fontScale="77500" lnSpcReduction="20000"/>
          </a:bodyPr>
          <a:lstStyle/>
          <a:p>
            <a:endParaRPr lang="en-US" noProof="0" dirty="0"/>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rmAutofit fontScale="77500" lnSpcReduction="20000"/>
          </a:bodyPr>
          <a:lstStyle/>
          <a:p>
            <a:endParaRPr lang="en-US" noProof="0" dirty="0"/>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rmAutofit fontScale="77500" lnSpcReduction="20000"/>
          </a:bodyPr>
          <a:lstStyle/>
          <a:p>
            <a:endParaRPr lang="en-US" noProof="0" dirty="0"/>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rmAutofit fontScale="77500" lnSpcReduction="20000"/>
          </a:bodyPr>
          <a:lstStyle/>
          <a:p>
            <a:endParaRPr lang="en-US" noProof="0" dirty="0"/>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p:txBody>
          <a:bodyPr/>
          <a:lstStyle/>
          <a:p>
            <a:r>
              <a:rPr lang="en-US" noProof="0" dirty="0"/>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11221</TotalTime>
  <Words>1973</Words>
  <Application>Microsoft Macintosh PowerPoint</Application>
  <PresentationFormat>Widescreen</PresentationFormat>
  <Paragraphs>427</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SYSTEM_NAME</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9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200</cp:revision>
  <cp:lastPrinted>2020-04-20T09:37:43Z</cp:lastPrinted>
  <dcterms:created xsi:type="dcterms:W3CDTF">2025-10-22T11:22:13Z</dcterms:created>
  <dcterms:modified xsi:type="dcterms:W3CDTF">2026-03-24T16:45:18Z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