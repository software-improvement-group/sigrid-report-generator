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516" r:id="rId5"/>
    <p:sldId id="524" r:id="rId6"/>
    <p:sldId id="525" r:id="rId7"/>
    <p:sldId id="526" r:id="rId8"/>
    <p:sldId id="527" r:id="rId9"/>
    <p:sldId id="517" r:id="rId10"/>
    <p:sldId id="528" r:id="rId11"/>
    <p:sldId id="529" r:id="rId12"/>
    <p:sldId id="530" r:id="rId13"/>
    <p:sldId id="531" r:id="rId14"/>
    <p:sldId id="519" r:id="rId15"/>
    <p:sldId id="532" r:id="rId16"/>
    <p:sldId id="533" r:id="rId17"/>
    <p:sldId id="534" r:id="rId18"/>
    <p:sldId id="535" r:id="rId19"/>
    <p:sldId id="518" r:id="rId20"/>
    <p:sldId id="536" r:id="rId21"/>
    <p:sldId id="537" r:id="rId22"/>
    <p:sldId id="538" r:id="rId23"/>
    <p:sldId id="539" r:id="rId24"/>
    <p:sldId id="520" r:id="rId25"/>
    <p:sldId id="540" r:id="rId26"/>
    <p:sldId id="541" r:id="rId27"/>
    <p:sldId id="542" r:id="rId28"/>
    <p:sldId id="543" r:id="rId29"/>
    <p:sldId id="521" r:id="rId30"/>
    <p:sldId id="523" r:id="rId31"/>
    <p:sldId id="544" r:id="rId32"/>
    <p:sldId id="545" r:id="rId33"/>
    <p:sldId id="546" r:id="rId34"/>
    <p:sldId id="54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54B"/>
    <a:srgbClr val="FFFFFF"/>
    <a:srgbClr val="FEF5BA"/>
    <a:srgbClr val="DFC100"/>
    <a:srgbClr val="E78E17"/>
    <a:srgbClr val="910813"/>
    <a:srgbClr val="CF4731"/>
    <a:srgbClr val="EBC937"/>
    <a:srgbClr val="DB4A3D"/>
    <a:srgbClr val="F008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19"/>
    <p:restoredTop sz="96327"/>
  </p:normalViewPr>
  <p:slideViewPr>
    <p:cSldViewPr snapToGrid="0" snapToObjects="1" showGuides="1">
      <p:cViewPr varScale="1">
        <p:scale>
          <a:sx n="223" d="100"/>
          <a:sy n="223" d="100"/>
        </p:scale>
        <p:origin x="53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Relationship Id="rId7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F23F-0AD1-0347-BF7F-1B20660C7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50B659-F724-1B47-9AC0-0C9C91F9FE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FB116C-E601-C24A-9C7F-0F529523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A917F-83E5-5E45-B28C-D0C1B78149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B1030-EE41-F840-9218-1CBC036002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">
            <a:extLst>
              <a:ext uri="{FF2B5EF4-FFF2-40B4-BE49-F238E27FC236}">
                <a16:creationId xmlns:a16="http://schemas.microsoft.com/office/drawing/2014/main" id="{6D18B547-BA3F-1046-9F1B-A8CA602DA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238741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004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09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988">
                  <a:extLst>
                    <a:ext uri="{9D8B030D-6E8A-4147-A177-3AD203B41FA5}">
                      <a16:colId xmlns:a16="http://schemas.microsoft.com/office/drawing/2014/main" val="2857446439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15 lines occurring 12 times in EligibleLeaderReplicasVersion.java, GroupVersion.java, ShareVersion.java, StreamsVersion.java, UnitTestFeatureVersion.java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165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27 lines occurring 4 times in KTableKTableInnerJoin.java, KTableKTableLeftJoin.java, KTableKTableOuterJoin.java, KTableKTableRightJoin.java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81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11 lines occurring 8 times in StreamJoined.java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File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71 lines occurring 2 times in ConsumeBenchWorker.java, ShareConsumeBenchWorker.java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71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10 lines occurring 8 times in ForeignTableJoinProcessorSupplier.java, KStreamSessionWindowAggregate.java, KStreamWindowAggregate.java, KTableKTableInnerJoin.java, KTableKTableLeftJoin.java, KTableKTableOuterJoin.java, KTableKTableRightJoin.java, KTableSource.java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13 lines occurring 6 times in KeyValueStoreWrapper.java, KeyValueToTimestampedKeyValueByteStoreAdapter.java, PlainToHeadersStoreAdapter.java, SessionToHeadersStoreAdapter.java, TimestampedToHeadersStoreAdapter.java, WindowToTimestampedWindowByteStoreAdapter.java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16 lines occurring 5 times in ForeignTableJoinProcessorSupplier.java, KTableKTableInnerJoin.java, KTableKTableLeftJoin.java, KTableKTableOuterJoin.java, KTableKTableRightJoin.java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30 lines occurring 3 times in KTableKTableInnerJoin.java, KTableKTableLeftJoin.java, KTableKTableOuterJoin.java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12 lines occurring 6 times in KStreamWindowAggregate.java, KTableKTableInnerJoin.java, KTableKTableLeftJoin.java, KTableKTableOuterJoin.java, KTableKTableRightJoin.java, KTableSource.java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10 lines occurring 7 times in AlterReplicaLogDirsResponse.java, BrokerHeartbeatResponse.java, BrokerRegistrationResponse.java, DeleteRecordsResponse.java, DescribeConfigsResponse.java, DescribeLogDirsResponse.java, UnregisterBrokerResponse.java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9 lines occurring 14 times in AddRaftVoterResponse.java, AlterReplicaLogDirsResponse.java, BrokerHeartbeatResponse.java, BrokerRegistrationResponse.java, ControllerRegistrationResponse.java, CreateTopicsResponse.java, DeleteRecordsResponse.java, DescribeConfigsResponse.java, DescribeLogDirsResponse.java, ElectLeadersResponse.java, ListGroupsResponse.java, RemoveRaftVoterResponse.java, TxnOffsetCommitResponse.java, UnregisterBrokerResponse.java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117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19 lines occurring 4 times in MeteredKeyValueStore.java, MeteredSessionStore.java, MeteredVersionedKeyValueStore.java, MeteredWindowStore.java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57 lines occurring 2 times in PCollectionsImmutableNavigableSet.java, PCollectionsImmutableSet.java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18 lines occurring 4 times in EligibleLeaderReplicasVersion.java, GroupVersion.java, ShareVersion.java, StreamsVersion.java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20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43D2-0A50-B1A1-6A70-EA893A89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FE279C-4C15-C0CD-CD8C-D113F08C3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99AB0A4-4412-DA95-3B05-9A2C78D4A6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DA4376-F05C-1DB5-3B66-1200BBEC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Java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1E700-8D50-95CB-85EE-207ADF6DA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F9E-A987-5911-4D0F-F9A9C778BB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1">
            <a:extLst>
              <a:ext uri="{FF2B5EF4-FFF2-40B4-BE49-F238E27FC236}">
                <a16:creationId xmlns:a16="http://schemas.microsoft.com/office/drawing/2014/main" id="{16250ACC-BD7A-52DB-89C3-4BB8375BA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784244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3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15 lines occurring 12 times in EligibleLeaderReplicasVersion.java, GroupVersion.java, ShareVersion.java, StreamsVersion.java, UnitTestFeatureVersion.java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165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27 lines occurring 4 times in KTableKTableInnerJoin.java, KTableKTableLeftJoin.java, KTableKTableOuterJoin.java, KTableKTableRightJoin.java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81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11 lines occurring 8 times in StreamJoined.java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File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71 lines occurring 2 times in ConsumeBenchWorker.java, ShareConsumeBenchWorker.java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71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10 lines occurring 8 times in ForeignTableJoinProcessorSupplier.java, KStreamSessionWindowAggregate.java, KStreamWindowAggregate.java, KTableKTableInnerJoin.java, KTableKTableLeftJoin.java, KTableKTableOuterJoin.java, KTableKTableRightJoin.java, KTableSource.java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70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13 lines occurring 6 times in KeyValueStoreWrapper.java, KeyValueToTimestampedKeyValueByteStoreAdapter.java, PlainToHeadersStoreAdapter.java, SessionToHeadersStoreAdapter.java, TimestampedToHeadersStoreAdapter.java, WindowToTimestampedWindowByteStoreAdapter.java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16 lines occurring 5 times in ForeignTableJoinProcessorSupplier.java, KTableKTableInnerJoin.java, KTableKTableLeftJoin.java, KTableKTableOuterJoin.java, KTableKTableRightJoin.java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30 lines occurring 3 times in KTableKTableInnerJoin.java, KTableKTableLeftJoin.java, KTableKTableOuterJoin.java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12 lines occurring 6 times in KStreamWindowAggregate.java, KTableKTableInnerJoin.java, KTableKTableLeftJoin.java, KTableKTableOuterJoin.java, KTableKTableRightJoin.java, KTableSource.java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10 lines occurring 7 times in AlterReplicaLogDirsResponse.java, BrokerHeartbeatResponse.java, BrokerRegistrationResponse.java, DeleteRecordsResponse.java, DescribeConfigsResponse.java, DescribeLogDirsResponse.java, UnregisterBrokerResponse.java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60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9 lines occurring 14 times in AddRaftVoterResponse.java, AlterReplicaLogDirsResponse.java, BrokerHeartbeatResponse.java, BrokerRegistrationResponse.java, ControllerRegistrationResponse.java, CreateTopicsResponse.java, DeleteRecordsResponse.java, DescribeConfigsResponse.java, DescribeLogDirsResponse.java, ElectLeadersResponse.java, ListGroupsResponse.java, RemoveRaftVoterResponse.java, TxnOffsetCommitResponse.java, UnregisterBrokerResponse.java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117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19 lines occurring 4 times in MeteredKeyValueStore.java, MeteredSessionStore.java, MeteredVersionedKeyValueStore.java, MeteredWindowStore.java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57 lines occurring 2 times in PCollectionsImmutableNavigableSet.java, PCollectionsImmutableSet.java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  <a:tr h="279736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18 lines occurring 4 times in EligibleLeaderReplicasVersion.java, GroupVersion.java, ShareVersion.java, StreamsVersion.java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54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Bold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Component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700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88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01-E191-6435-75CD-D7B3DD1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41089-EB80-0B9C-6213-9042103F1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3B6A2B-F2B5-8599-EF49-BEFA9C883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309F97-6633-1404-3361-15659DDD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Python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D0C8-A4A0-C34B-8E7C-FDF6F610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63C7-304C-3986-14FE-F6ACA91D59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2">
            <a:extLst>
              <a:ext uri="{FF2B5EF4-FFF2-40B4-BE49-F238E27FC236}">
                <a16:creationId xmlns:a16="http://schemas.microsoft.com/office/drawing/2014/main" id="{560FCC86-E574-D7DC-FCF9-5B110494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2918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93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01-E191-6435-75CD-D7B3DD1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41089-EB80-0B9C-6213-9042103F1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3B6A2B-F2B5-8599-EF49-BEFA9C883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309F97-6633-1404-3361-15659DDD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D0C8-A4A0-C34B-8E7C-FDF6F610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63C7-304C-3986-14FE-F6ACA91D59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3">
            <a:extLst>
              <a:ext uri="{FF2B5EF4-FFF2-40B4-BE49-F238E27FC236}">
                <a16:creationId xmlns:a16="http://schemas.microsoft.com/office/drawing/2014/main" id="{560FCC86-E574-D7DC-FCF9-5B110494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2918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01-E191-6435-75CD-D7B3DD14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E41089-EB80-0B9C-6213-9042103F1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3B6A2B-F2B5-8599-EF49-BEFA9C8837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DUPLICATION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309F97-6633-1404-3361-15659DDD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 duplicates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4D0C8-A4A0-C34B-8E7C-FDF6F610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63C7-304C-3986-14FE-F6ACA91D59D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REFACTORING_CANDIDATES_TABLE_DUPLICATION_TECH_4">
            <a:extLst>
              <a:ext uri="{FF2B5EF4-FFF2-40B4-BE49-F238E27FC236}">
                <a16:creationId xmlns:a16="http://schemas.microsoft.com/office/drawing/2014/main" id="{560FCC86-E574-D7DC-FCF9-5B11049481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2918"/>
              </p:ext>
            </p:extLst>
          </p:nvPr>
        </p:nvGraphicFramePr>
        <p:xfrm>
          <a:off x="514373" y="1366988"/>
          <a:ext cx="11231294" cy="4933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8171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Redundant LOC</a:t>
                      </a:r>
                    </a:p>
                  </a:txBody>
                  <a:tcPr marL="108000" marR="108000" marT="72000" marB="720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Level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b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43359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StreamsConfig.$block1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415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ConsumerConfig.$block1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294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ConnectMetricsRegistry.ConnectMetricsRegistry(Set)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268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CoordinatorClient.main(String[])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241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29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trogdor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DistributedConfig.config(Crypto)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227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ProducerConfig.$block1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192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MessageDataGenerator.generateClassWriter(String,StructSpec,Versions)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187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FieldSpec.fieldDefault(HeaderGenerator,StructRegistry)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RemoteLogManagerConfig.configDef()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AbstractResponse.parseResponse(ApiKeys,Readable,short)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AbstractRequest.doParseRequest(ApiKeys,short,Readable)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RequestConvertToJson.request(AbstractRequest)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182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GroupCoordinatorMetrics.GroupCoordinatorMetrics(MetricsRegistry,Metrics)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178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87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Java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1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607165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StreamsConfig.$block1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415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ConsumerConfig.$block1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294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ConnectMetricsRegistry.ConnectMetricsRegistry(Set)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268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CoordinatorClient.main(String[])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241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29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trogdor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DistributedConfig.config(Crypto)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227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ProducerConfig.$block1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192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MessageDataGenerator.generateClassWriter(String,StructSpec,Versions)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187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FieldSpec.fieldDefault(HeaderGenerator,StructRegistry)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RemoteLogManagerConfig.configDef()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AbstractResponse.parseResponse(ApiKeys,Readable,short)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AbstractRequest.doParseRequest(ApiKeys,short,Readable)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RequestConvertToJson.request(AbstractRequest)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182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GroupCoordinatorMetrics.GroupCoordinatorMetrics(MetricsRegistry,Metrics)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178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Python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2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44148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3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570038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E241-59C2-6F55-4707-FD2CC82A6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397773-E61A-9D94-159E-FE176D511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70E2EE-7B25-5041-16B6-A6265C553E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Size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E6AFEFE-FA0F-CDBD-40F1-A3FF99211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longest 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6392F-4A8E-477A-00F5-76B320743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SIZE_TECH_4">
            <a:extLst>
              <a:ext uri="{FF2B5EF4-FFF2-40B4-BE49-F238E27FC236}">
                <a16:creationId xmlns:a16="http://schemas.microsoft.com/office/drawing/2014/main" id="{6526472F-557C-F0F9-9AC9-DA0F1F07D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70996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251483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CoordinatorClient.main(String[])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241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29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trogdor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AbstractResponse.parseResponse(ApiKeys,Readable,short)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AbstractRequest.doParseRequest(ApiKeys,short,Readable)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FieldSpec.fieldDefault(HeaderGenerator,StructRegistry)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RequestConvertToJson.request(AbstractRequest)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RequestConvertToJson.response(AbstractResponse,short)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MessageDataGenerator.generateVariableLengthFieldSize(FieldSpec,Versions,boolean)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KerberosLogin.login()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SharePartition.acquire(String,ShareAcquireMode,int,int,long,FetchPartitionData,FetchIsolation)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RemoteLogManager.RLMExpirationTask.cleanupExpiredRemoteLogSegments()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DistributedHerder.tick()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ApplicationEventProcessor.process(ApplicationEvent)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JsonConverter.convertToJson(Schema,Object)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417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Java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1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72166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CoordinatorClient.main(String[])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241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29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trogdor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AbstractResponse.parseResponse(ApiKeys,Readable,short)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AbstractRequest.doParseRequest(ApiKeys,short,Readable)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FieldSpec.fieldDefault(HeaderGenerator,StructRegistry)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RequestConvertToJson.request(AbstractRequest)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RequestConvertToJson.response(AbstractResponse,short)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MessageDataGenerator.generateVariableLengthFieldSize(FieldSpec,Versions,boolean)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KerberosLogin.login()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SharePartition.acquire(String,ShareAcquireMode,int,int,long,FetchPartitionData,FetchIsolation)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RemoteLogManager.RLMExpirationTask.cleanupExpiredRemoteLogSegments()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28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DistributedHerder.tick()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ApplicationEventProcessor.process(ApplicationEvent)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JsonConverter.convertToJson(Schema,Object)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40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Python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2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175964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3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21662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3C50C-D5AC-B980-57E1-AB9740C2F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47716-66EC-A5D9-AE7C-3AF047ABA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D58E3A-84C6-E394-9DB2-843E3C2B42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COMPLEXITY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B683A4-1422-9996-73B9-EDF74B1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most complex  units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D24E3-806B-1789-735C-FD0762CED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COMPLEXITY_TECH_4">
            <a:extLst>
              <a:ext uri="{FF2B5EF4-FFF2-40B4-BE49-F238E27FC236}">
                <a16:creationId xmlns:a16="http://schemas.microsoft.com/office/drawing/2014/main" id="{B2AD6F83-29C1-E9BE-13AF-24963E398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10813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90946"/>
              </p:ext>
            </p:extLst>
          </p:nvPr>
        </p:nvGraphicFramePr>
        <p:xfrm>
          <a:off x="514373" y="1366988"/>
          <a:ext cx="11232250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2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78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500910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GroupMetadataManager.streamsGroupHeartbeat(String,String,int,String,String,int,String,String,StreamsGroupHeartbeatRequestData.Topology,String,Endpoint,boolean,int)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170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24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SharePartition.acquire(String,ShareAcquireMode,int,int,long,FetchPartitionData,FetchIsolation)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RequestManagers.supplier(Time,LogContext,BackgroundEventHandler,ConsumerMetadata,SubscriptionState,FetchBuffer,ConsumerConfig,GroupRebalanceConfig,ApiVersions,FetchMetricsManager,Supplier&lt;NetworkClientDelegate&gt;,Optional&lt;ClientTelemetryReporter&gt;,Metrics,Of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AsyncKafkaConsumer.AsyncKafkaConsumer(ConsumerConfig,Deserializer,Deserializer,Time,ApplicationEventHandlerFactory,CompletableEventReaperFactory,FetchCollectorFactory,ConsumerMetadataFactory,LinkedBlockingQueue,Optional&lt;StreamsRebalanceData&gt;)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QuorumController.QuorumController(FaultHandler,FaultHandler,LogContext,int,String,KafkaEventQueue,Time,KafkaConfigSchema,RaftClient,QuorumFeatures,short,int,ReplicaPlacer,OptionalLong,OptionalLong,long,OptionalLong,QuorumControllerMetrics,Optional&lt;CreateT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metadata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ClassicKafkaConsumer.ClassicKafkaConsumer(LogContext,Time,ConsumerConfig,Deserializer,Deserializer,KafkaClient,SubscriptionState,ConsumerMetadata,List&lt;ConsumerPartitionAssignor&gt;)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KafkaProducer.KafkaProducer(ProducerConfig,Serializer,Serializer,ProducerMetadata,KafkaClient,ProducerInterceptors,ApiVersions,Time)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ShareConsumerImpl.ShareConsumerImpl(ConsumerConfig,Deserializer,Deserializer,Time,ApplicationEventHandlerFactory,AsyncKafkaConsumer.CompletableEventReaperFactory,ShareFetchCollectorFactory,LinkedBlockingQueue,LinkedBlockingQueue)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GroupMetadataManager.consumerGroupHeartbeat(AuthorizableRequestContext,String,String,int,String,String,int,List&lt;String&gt;,String,String,List&lt;ConsumerGroupHeartbeatRequestData.TopicPartitions&gt;)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11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AsyncKafkaConsumer.AsyncKafkaConsumer(LogContext,Time,ConsumerConfig,Deserializer,Deserializer,KafkaClient,SubscriptionState,ConsumerMetadata)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MessageDataGenerator.generateVariableLengthReader(Versions,String,FieldType,Versions,Versions,String,String,boolean,boolean)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StreamsPartitionAssignor.assignTasksToClients(Cluster,GroupSubscription,Set,Map,Map,Map,Map,Set)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GroupMetadataManager.shareGroupHeartbeat(String,String,int,String,String,String,List&lt;String&gt;)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20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Java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1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8853962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GroupMetadataManager.streamsGroupHeartbeat(String,String,int,String,String,int,String,String,StreamsGroupHeartbeatRequestData.Topology,String,Endpoint,boolean,int)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170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24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SharePartition.acquire(String,ShareAcquireMode,int,int,long,FetchPartitionData,FetchIsolation)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core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RequestManagers.supplier(Time,LogContext,BackgroundEventHandler,ConsumerMetadata,SubscriptionState,FetchBuffer,ConsumerConfig,GroupRebalanceConfig,ApiVersions,FetchMetricsManager,Supplier&lt;NetworkClientDelegate&gt;,Optional&lt;ClientTelemetryReporter&gt;,Metrics,Of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AsyncKafkaConsumer.AsyncKafkaConsumer(ConsumerConfig,Deserializer,Deserializer,Time,ApplicationEventHandlerFactory,CompletableEventReaperFactory,FetchCollectorFactory,ConsumerMetadataFactory,LinkedBlockingQueue,Optional&lt;StreamsRebalanceData&gt;)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123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QuorumController.QuorumController(FaultHandler,FaultHandler,LogContext,int,String,KafkaEventQueue,Time,KafkaConfigSchema,RaftClient,QuorumFeatures,short,int,ReplicaPlacer,OptionalLong,OptionalLong,long,OptionalLong,QuorumControllerMetrics,Optional&lt;CreateT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4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32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metadata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ClassicKafkaConsumer.ClassicKafkaConsumer(LogContext,Time,ConsumerConfig,Deserializer,Deserializer,KafkaClient,SubscriptionState,ConsumerMetadata,List&lt;ConsumerPartitionAssignor&gt;)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2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KafkaProducer.KafkaProducer(ProducerConfig,Serializer,Serializer,ProducerMetadata,KafkaClient,ProducerInterceptors,ApiVersions,Time)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ShareConsumerImpl.ShareConsumerImpl(ConsumerConfig,Deserializer,Deserializer,Time,ApplicationEventHandlerFactory,AsyncKafkaConsumer.CompletableEventReaperFactory,ShareFetchCollectorFactory,LinkedBlockingQueue,LinkedBlockingQueue)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GroupMetadataManager.consumerGroupHeartbeat(AuthorizableRequestContext,String,String,int,String,String,int,List&lt;String&gt;,String,String,List&lt;ConsumerGroupHeartbeatRequestData.TopicPartitions&gt;)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13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11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AsyncKafkaConsumer.AsyncKafkaConsumer(LogContext,Time,ConsumerConfig,Deserializer,Deserializer,KafkaClient,SubscriptionState,ConsumerMetadata)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96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MessageDataGenerator.generateVariableLengthReader(Versions,String,FieldType,Versions,Versions,String,String,boolean,boolean)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generator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StreamsPartitionAssignor.assignTasksToClients(Cluster,GroupSubscription,Set,Map,Map,Map,Map,Set)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GroupMetadataManager.shareGroupHeartbeat(String,String,int,String,String,String,List&lt;String&gt;)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Python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2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233843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3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219506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E5DF8-42C2-D9A0-C581-926F88850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4C2E-E259-D449-D3FC-4501B83DD5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92E8F9D-227D-DE48-28FD-49E58F9EE8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Unit INTERFACING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6CF5EF-9D37-AF0B-8482-89079D5C2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 units with the largest interfaces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2457-37D9-7B56-B0F1-9C62576D5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UNIT_INTERFACING_TECH_4">
            <a:extLst>
              <a:ext uri="{FF2B5EF4-FFF2-40B4-BE49-F238E27FC236}">
                <a16:creationId xmlns:a16="http://schemas.microsoft.com/office/drawing/2014/main" id="{886DDEFD-B6CA-D10A-3710-9F71507B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827086"/>
              </p:ext>
            </p:extLst>
          </p:nvPr>
        </p:nvGraphicFramePr>
        <p:xfrm>
          <a:off x="514373" y="1366988"/>
          <a:ext cx="11231294" cy="497256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68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00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66627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Unit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McCabe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Parameters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51971"/>
              </p:ext>
            </p:extLst>
          </p:nvPr>
        </p:nvGraphicFramePr>
        <p:xfrm>
          <a:off x="514373" y="1366988"/>
          <a:ext cx="11231293" cy="478968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036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908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176692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40538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5763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InternalTopologyBuilder.java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127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UnifiedLog.java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130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Worker.java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1717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TaskManager.java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1600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TransactionManager.java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1442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65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CoordinatorRuntime.java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1404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coordinator-common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ConfigDef.java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1092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534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SubscriptionState.java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993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197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Utils.java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974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566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LeaderState.java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884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raft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StreamsMetricsImpl.java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860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08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Java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1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52163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5763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InternalTopologyBuilder.java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1858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127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UnifiedLog.java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130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Worker.java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1717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TaskManager.java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1600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73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TransactionManager.java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1442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65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CoordinatorRuntime.java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1404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80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coordinator-common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ConfigDef.java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1092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534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SubscriptionState.java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993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197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Utils.java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974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566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clients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LeaderState.java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884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58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raft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StreamsMetricsImpl.java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879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99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streams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860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Regular"/>
                        </a:rPr>
                        <a:t>88</a:t>
                      </a:r>
                      <a:endParaRPr lang="en-US" sz="1200" b="0" i="0" u="none" strike="noStrike" kern="1200" noProof="0" dirty="0">
                        <a:solidFill>
                          <a:schemeClr val="tx2"/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5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Python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2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58164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3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867544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E2D5C-3E5F-6B9D-908E-50F0A86A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D10E3-5A1E-EB42-A8DD-8C3EA6AFC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2401406-73FA-D043-F4F9-83583AFBBF7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Module COUPLING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B4BED9-C15D-5B49-DC19-82A8E733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the  modules with the highest coupling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B246FC-EA60-CE91-78AD-F32916748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MODULE_COUPLING_TECH_4">
            <a:extLst>
              <a:ext uri="{FF2B5EF4-FFF2-40B4-BE49-F238E27FC236}">
                <a16:creationId xmlns:a16="http://schemas.microsoft.com/office/drawing/2014/main" id="{08CD0C1C-FF15-4288-5694-0C8CA50F5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780177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8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4916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  <a:gridCol w="2019644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Fan-in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C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61DE-516A-2C47-C290-CC53EE2E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25075-AF88-4ABD-0816-000FE85C6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BA0A77-753D-20DB-3D53-A7D106A78F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ENTANGLEMENT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2569B-8BFD-D308-A55E-04765D4E1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component entanglement related findings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D554A-888F-C192-ED2E-3071DD750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ENTANGLEMENT">
            <a:extLst>
              <a:ext uri="{FF2B5EF4-FFF2-40B4-BE49-F238E27FC236}">
                <a16:creationId xmlns:a16="http://schemas.microsoft.com/office/drawing/2014/main" id="{9838512D-A010-DDD6-1567-37B565CF5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859789"/>
              </p:ext>
            </p:extLst>
          </p:nvPr>
        </p:nvGraphicFramePr>
        <p:xfrm>
          <a:off x="514373" y="1351494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966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53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Description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Weight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Very high communication density on clients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16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Very high communication density on server-common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Very high communication density on tools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Very high communication density on metadata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server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coordinator-common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jmh-benchmarks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core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storage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raft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group-coordinator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transaction-coordinator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25477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High communication density on share-coordinator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27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974292"/>
              </p:ext>
            </p:extLst>
          </p:nvPr>
        </p:nvGraphicFramePr>
        <p:xfrm>
          <a:off x="514373" y="1366988"/>
          <a:ext cx="11231293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6599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1675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  <a:gridCol w="1536423">
                  <a:extLst>
                    <a:ext uri="{9D8B030D-6E8A-4147-A177-3AD203B41FA5}">
                      <a16:colId xmlns:a16="http://schemas.microsoft.com/office/drawing/2014/main" val="2509092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5763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UnifiedLog.java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RemoteLogManager.java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1792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CoordinatorRuntime.java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1404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coordinator-common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Values.java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1027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GroupCoordinatorShard.java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867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860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OffsetMetadataManager.java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828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782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JsonConverter.java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627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ClientQuotaManager.java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600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GroupCoordinatorRecordHelpers.java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557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LogConfig.java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539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Java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720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Java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1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484048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GroupMetadataManager.java</a:t>
                      </a: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5763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UnifiedLog.java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1831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RemoteLogManager.java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1792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CoordinatorRuntime.java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1404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coordinator-common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Values.java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1027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0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GroupCoordinatorShard.java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867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860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79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OffsetMetadataManager.java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828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RequestConvertToJson.java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782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910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JsonConverter.java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627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connect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2763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ClientQuotaManager.java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600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server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263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GroupCoordinatorRecordHelpers.java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557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group-coordinator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404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0" i="0" sz="1200" u="none">
                          <a:solidFill>
                            <a:schemeClr val="tx2"/>
                          </a:solidFill>
                          <a:latin typeface="Calibri Bold"/>
                        </a:rPr>
                        <a:t>LogConfig.java</a:t>
                      </a:r>
                      <a:endParaRPr lang="en-US" sz="1200" b="0" i="0" u="none" strike="noStrike" noProof="0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539</a:t>
                      </a:r>
                      <a:endParaRPr lang="en-US" sz="1200" b="0" i="0" u="none" strike="noStrike" kern="1200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Calibri Regular"/>
                        <a:ea typeface="+mn-ea"/>
                        <a:cs typeface="+mn-cs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b="0" i="0" sz="1200" u="none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libri Regular"/>
                        </a:rPr>
                        <a:t>storage</a:t>
                      </a:r>
                      <a:endParaRPr lang="en-US" sz="1200" b="0" i="0" u="none" strike="noStrike" noProof="0" dirty="0">
                        <a:solidFill>
                          <a:schemeClr val="tx1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6063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Python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2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476711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3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788583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2A1D-C398-FD00-A262-F1315FFA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62FCDF-5E0F-1700-45E3-65B5191C4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418E4D-4C1B-5CF0-D4B4-9BE92D28DF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Refactoring Candidates – COMPONENT Independence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4658BA-0814-EB54-4871-7EA330797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high impact  communicating files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CF33D-A478-D36E-605A-D3A5163CF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</a:t>
            </a:r>
          </a:p>
        </p:txBody>
      </p:sp>
      <p:graphicFrame>
        <p:nvGraphicFramePr>
          <p:cNvPr id="4" name="REFACTORING_CANDIDATES_TABLE_COMPONENT_INDEPENDENCE_TECH_4">
            <a:extLst>
              <a:ext uri="{FF2B5EF4-FFF2-40B4-BE49-F238E27FC236}">
                <a16:creationId xmlns:a16="http://schemas.microsoft.com/office/drawing/2014/main" id="{0354F911-27AA-DF84-8BBC-02F20E05B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655207"/>
              </p:ext>
            </p:extLst>
          </p:nvPr>
        </p:nvGraphicFramePr>
        <p:xfrm>
          <a:off x="514373" y="1366988"/>
          <a:ext cx="11231294" cy="4606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764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803">
                  <a:extLst>
                    <a:ext uri="{9D8B030D-6E8A-4147-A177-3AD203B41FA5}">
                      <a16:colId xmlns:a16="http://schemas.microsoft.com/office/drawing/2014/main" val="4263492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File name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400">
                          <a:solidFill>
                            <a:schemeClr val="bg1"/>
                          </a:solidFill>
                          <a:latin typeface="+mn-lt"/>
                        </a:rPr>
                        <a:t>LOC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5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i="0" sz="1400">
                          <a:solidFill>
                            <a:schemeClr val="bg1"/>
                          </a:solidFill>
                          <a:latin typeface="+mn-lt"/>
                        </a:rPr>
                        <a:t>Component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22560</TotalTime>
  <Words>988</Words>
  <Application>Microsoft Macintosh PowerPoint</Application>
  <PresentationFormat>Widescreen</PresentationFormat>
  <Paragraphs>390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An overview of the longest duplicates</vt:lpstr>
      <vt:lpstr>An overview of the longest TECH_1_NAME duplicates</vt:lpstr>
      <vt:lpstr>An overview of the longest TECH_2_NAME duplicates</vt:lpstr>
      <vt:lpstr>An overview of the longest TECH_3_NAME duplicates</vt:lpstr>
      <vt:lpstr>An overview of the longest TECH_4_NAME duplicates</vt:lpstr>
      <vt:lpstr>An overview of the longest units</vt:lpstr>
      <vt:lpstr>An overview of the longest TECH_1_NAME units</vt:lpstr>
      <vt:lpstr>An overview of the longest TECH_2_NAME units</vt:lpstr>
      <vt:lpstr>An overview of the longest TECH_3_NAME units</vt:lpstr>
      <vt:lpstr>An overview of the longest TECH_4_NAME units</vt:lpstr>
      <vt:lpstr>An overview of the most complex units</vt:lpstr>
      <vt:lpstr>An overview of the most complex TECH_1_NAME units</vt:lpstr>
      <vt:lpstr>An overview of the most complex TECH_2_NAME units</vt:lpstr>
      <vt:lpstr>An overview of the most complex TECH_3_NAME units</vt:lpstr>
      <vt:lpstr>An overview of the most complex TECH_4_NAME units</vt:lpstr>
      <vt:lpstr>An overview of the units with the largest interfaces</vt:lpstr>
      <vt:lpstr>An overview of the TECH_1_NAME units with the largest interfaces</vt:lpstr>
      <vt:lpstr>An overview of the TECH_2_NAME units with the largest interfaces</vt:lpstr>
      <vt:lpstr>An overview of the TECH_3_NAME units with the largest interfaces</vt:lpstr>
      <vt:lpstr>An overview of the TECH_4_NAME units with the largest interfaces</vt:lpstr>
      <vt:lpstr>An overview of the modules with the highest coupling</vt:lpstr>
      <vt:lpstr>An overview of the TECH_1_NAME modules with the highest coupling</vt:lpstr>
      <vt:lpstr>An overview of the TECH_2_NAME modules with the highest coupling</vt:lpstr>
      <vt:lpstr>An overview of the TECH_3_NAME modules with the highest coupling</vt:lpstr>
      <vt:lpstr>An overview of the TECH_4_NAME modules with the highest coupling</vt:lpstr>
      <vt:lpstr>An overview of component entanglement related findings</vt:lpstr>
      <vt:lpstr>An overview of high impact communicating files</vt:lpstr>
      <vt:lpstr>An overview of high impact TECH_1_NAME communicating files</vt:lpstr>
      <vt:lpstr>An overview of high impact TECH_2_NAME communicating files</vt:lpstr>
      <vt:lpstr>An overview of high impact TECH_3_NAME communicating files</vt:lpstr>
      <vt:lpstr>An overview of high impact TECH_4_NAME communicating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Floris van Leeuwen</cp:lastModifiedBy>
  <cp:revision>174</cp:revision>
  <cp:lastPrinted>2020-07-02T15:41:27Z</cp:lastPrinted>
  <dcterms:created xsi:type="dcterms:W3CDTF">2024-01-03T15:04:34Z</dcterms:created>
  <dcterms:modified xsi:type="dcterms:W3CDTF">2026-04-22T09:56:58Z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