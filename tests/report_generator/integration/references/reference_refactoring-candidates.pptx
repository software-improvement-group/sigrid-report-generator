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516" r:id="rId5"/>
    <p:sldId id="517" r:id="rId6"/>
    <p:sldId id="519" r:id="rId7"/>
    <p:sldId id="518" r:id="rId8"/>
    <p:sldId id="520" r:id="rId9"/>
    <p:sldId id="521" r:id="rId10"/>
    <p:sldId id="52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54B"/>
    <a:srgbClr val="FFFFFF"/>
    <a:srgbClr val="FEF5BA"/>
    <a:srgbClr val="DFC100"/>
    <a:srgbClr val="E78E17"/>
    <a:srgbClr val="910813"/>
    <a:srgbClr val="CF4731"/>
    <a:srgbClr val="EBC937"/>
    <a:srgbClr val="DB4A3D"/>
    <a:srgbClr val="F008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175"/>
    <p:restoredTop sz="96327"/>
  </p:normalViewPr>
  <p:slideViewPr>
    <p:cSldViewPr snapToGrid="0" snapToObjects="1" showGuides="1">
      <p:cViewPr varScale="1">
        <p:scale>
          <a:sx n="33" d="100"/>
          <a:sy n="33" d="100"/>
        </p:scale>
        <p:origin x="392" y="62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openxmlformats.org/officeDocument/2006/relationships/image" Target="../media/image10.svg"/><Relationship Id="rId8" Type="http://schemas.openxmlformats.org/officeDocument/2006/relationships/image" Target="../media/image11.png"/><Relationship Id="rId9" Type="http://schemas.openxmlformats.org/officeDocument/2006/relationships/image" Target="../media/image12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F23F-0AD1-0347-BF7F-1B20660C7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50B659-F724-1B47-9AC0-0C9C91F9FE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FB116C-E601-C24A-9C7F-0F529523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A917F-83E5-5E45-B28C-D0C1B7814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B1030-EE41-F840-9218-1CBC036002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">
            <a:extLst>
              <a:ext uri="{FF2B5EF4-FFF2-40B4-BE49-F238E27FC236}">
                <a16:creationId xmlns:a16="http://schemas.microsoft.com/office/drawing/2014/main" id="{6D18B547-BA3F-1046-9F1B-A8CA602DA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238741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00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0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4988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15 lines occurring 12 times in EligibleLeaderReplicasVersion.java, GroupVersion.java, ShareVersion.java, StreamsVersion.java, UnitTestFeatureVersion.java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165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27 lines occurring 4 times in KTableKTableInnerJoin.java, KTableKTableLeftJoin.java, KTableKTableOuterJoin.java, KTableKTableRightJoin.java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81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11 lines occurring 8 times in StreamJoined.java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File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71 lines occurring 2 times in ConsumeBenchWorker.java, ShareConsumeBenchWorker.java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10 lines occurring 8 times in ForeignTableJoinProcessorSupplier.java, KStreamSessionWindowAggregate.java, KStreamWindowAggregate.java, KTableKTableInnerJoin.java, KTableKTableLeftJoin.java, KTableKTableOuterJoin.java, KTableKTableRightJoin.java, KTableSource.java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13 lines occurring 6 times in KeyValueStoreWrapper.java, KeyValueToTimestampedKeyValueByteStoreAdapter.java, PlainToHeadersStoreAdapter.java, SessionToHeadersStoreAdapter.java, TimestampedToHeadersStoreAdapter.java, WindowToTimestampedWindowByteStoreAdapter.java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65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16 lines occurring 5 times in ForeignTableJoinProcessorSupplier.java, KTableKTableInnerJoin.java, KTableKTableLeftJoin.java, KTableKTableOuterJoin.java, KTableKTableRightJoin.java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30 lines occurring 3 times in KTableKTableInnerJoin.java, KTableKTableLeftJoin.java, KTableKTableOuterJoin.java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12 lines occurring 6 times in KStreamWindowAggregate.java, KTableKTableInnerJoin.java, KTableKTableLeftJoin.java, KTableKTableOuterJoin.java, KTableKTableRightJoin.java, KTableSource.java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10 lines occurring 7 times in AlterReplicaLogDirsResponse.java, BrokerHeartbeatResponse.java, BrokerRegistrationResponse.java, DeleteRecordsResponse.java, DescribeConfigsResponse.java, DescribeLogDirsResponse.java, UnregisterBrokerResponse.java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9 lines occurring 14 times in AddRaftVoterResponse.java, AlterReplicaLogDirsResponse.java, BrokerHeartbeatResponse.java, BrokerRegistrationResponse.java, ControllerRegistrationResponse.java, CreateTopicsResponse.java, DeleteRecordsResponse.java, DescribeConfigsResponse.java, DescribeLogDirsResponse.java, ElectLeadersResponse.java, ListGroupsResponse.java, RemoveRaftVoterResponse.java, TxnOffsetCommitResponse.java, UnregisterBrokerResponse.java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117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19 lines occurring 4 times in MeteredKeyValueStore.java, MeteredSessionStore.java, MeteredVersionedKeyValueStore.java, MeteredWindowStore.java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 lines occurring 2 times in PCollectionsImmutableNavigableSet.java, PCollectionsImmutableSet.java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18 lines occurring 4 times in EligibleLeaderReplicasVersion.java, GroupVersion.java, ShareVersion.java, StreamsVersion.java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202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6643359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StreamsConfig.$block1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415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ConsumerConfig.$block1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294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ConnectMetricsRegistry.ConnectMetricsRegistry(Set)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268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CoordinatorClient.main(String[])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241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29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trogdor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DistributedConfig.config(Crypto)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227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ProducerConfig.$block1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192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MessageDataGenerator.generateClassWriter(String,StructSpec,Versions)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187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FieldSpec.fieldDefault(HeaderGenerator,StructRegistry)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RemoteLogManagerConfig.configDef()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AbstractResponse.parseResponse(ApiKeys,Readable,short)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AbstractRequest.doParseRequest(ApiKeys,short,Readable)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RequestConvertToJson.request(AbstractRequest)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182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GroupCoordinatorMetrics.GroupCoordinatorMetrics(MetricsRegistry,Metrics)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178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8876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251483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CoordinatorClient.main(String[])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241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29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trogdor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AbstractResponse.parseResponse(ApiKeys,Readable,short)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AbstractRequest.doParseRequest(ApiKeys,short,Readable)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FieldSpec.fieldDefault(HeaderGenerator,StructRegistry)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RequestConvertToJson.request(AbstractRequest)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RequestConvertToJson.response(AbstractResponse,short)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MessageDataGenerator.generateVariableLengthFieldSize(FieldSpec,Versions,boolean)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KerberosLogin.login()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SharePartition.acquire(String,ShareAcquireMode,int,int,long,FetchPartitionData,FetchIsolation)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RemoteLogManager.RLMExpirationTask.cleanupExpiredRemoteLogSegments()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DistributedHerder.tick()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ApplicationEventProcessor.process(ApplicationEvent)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JsonConverter.convertToJson(Schema,Object)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173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690946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GroupMetadataManager.streamsGroupHeartbeat(String,String,int,String,String,int,String,String,StreamsGroupHeartbeatRequestData.Topology,String,Endpoint,boolean,int)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170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24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SharePartition.acquire(String,ShareAcquireMode,int,int,long,FetchPartitionData,FetchIsolation)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RequestManagers.supplier(Time,LogContext,BackgroundEventHandler,ConsumerMetadata,SubscriptionState,FetchBuffer,ConsumerConfig,GroupRebalanceConfig,ApiVersions,FetchMetricsManager,Supplier&lt;NetworkClientDelegate&gt;,Optional&lt;ClientTelemetryReporter&gt;,Metrics,Of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AsyncKafkaConsumer.AsyncKafkaConsumer(ConsumerConfig,Deserializer,Deserializer,Time,ApplicationEventHandlerFactory,CompletableEventReaperFactory,FetchCollectorFactory,ConsumerMetadataFactory,LinkedBlockingQueue,Optional&lt;StreamsRebalanceData&gt;)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QuorumController.QuorumController(FaultHandler,FaultHandler,LogContext,int,String,KafkaEventQueue,Time,KafkaConfigSchema,RaftClient,QuorumFeatures,short,int,ReplicaPlacer,OptionalLong,OptionalLong,long,OptionalLong,QuorumControllerMetrics,Optional&lt;CreateT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metadata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ClassicKafkaConsumer.ClassicKafkaConsumer(LogContext,Time,ConsumerConfig,Deserializer,Deserializer,KafkaClient,SubscriptionState,ConsumerMetadata,List&lt;ConsumerPartitionAssignor&gt;)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KafkaProducer.KafkaProducer(ProducerConfig,Serializer,Serializer,ProducerMetadata,KafkaClient,ProducerInterceptors,ApiVersions,Time)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ShareConsumerImpl.ShareConsumerImpl(ConsumerConfig,Deserializer,Deserializer,Time,ApplicationEventHandlerFactory,AsyncKafkaConsumer.CompletableEventReaperFactory,ShareFetchCollectorFactory,LinkedBlockingQueue,LinkedBlockingQueue)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GroupMetadataManager.consumerGroupHeartbeat(AuthorizableRequestContext,String,String,int,String,String,int,List&lt;String&gt;,String,String,List&lt;ConsumerGroupHeartbeatRequestData.TopicPartitions&gt;)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AsyncKafkaConsumer.AsyncKafkaConsumer(LogContext,Time,ConsumerConfig,Deserializer,Deserializer,KafkaClient,SubscriptionState,ConsumerMetadata)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MessageDataGenerator.generateVariableLengthReader(Versions,String,FieldType,Versions,Versions,String,String,boolean,boolean)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StreamsPartitionAssignor.assignTasksToClients(Cluster,GroupSubscription,Set,Map,Map,Map,Map,Set)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GroupMetadataManager.shareGroupHeartbeat(String,String,int,String,String,String,List&lt;String&gt;)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2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251971"/>
              </p:ext>
            </p:extLst>
          </p:nvPr>
        </p:nvGraphicFramePr>
        <p:xfrm>
          <a:off x="514373" y="1366988"/>
          <a:ext cx="11231293" cy="4789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36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908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76692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40538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5763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InternalTopologyBuilder.java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127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UnifiedLog.java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130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Worker.java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1717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TaskManager.java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TransactionManager.java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1442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65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CoordinatorRuntime.java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1404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coordinator-common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ConfigDef.java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1092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534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SubscriptionState.java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993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197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Utils.java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974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566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LeaderState.java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884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raft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StreamsMetricsImpl.java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308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261DE-516A-2C47-C290-CC53EE2E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025075-AF88-4ABD-0816-000FE85C6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BA0A77-753D-20DB-3D53-A7D106A78F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ENTANGLEMENT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62569B-8BFD-D308-A55E-04765D4E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component entanglement related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D554A-888F-C192-ED2E-3071DD750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ENTANGLEMENT">
            <a:extLst>
              <a:ext uri="{FF2B5EF4-FFF2-40B4-BE49-F238E27FC236}">
                <a16:creationId xmlns:a16="http://schemas.microsoft.com/office/drawing/2014/main" id="{9838512D-A010-DDD6-1567-37B565CF5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859789"/>
              </p:ext>
            </p:extLst>
          </p:nvPr>
        </p:nvGraphicFramePr>
        <p:xfrm>
          <a:off x="514373" y="1351494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9663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53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Weight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Very high communication density on clients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Very high communication density on server-common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Very high communication density on tools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Very high communication density on metadata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server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coordinator-common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jmh-benchmarks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core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storage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raft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group-coordinator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transaction-coordinator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share-coordinator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627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974292"/>
              </p:ext>
            </p:extLst>
          </p:nvPr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59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1675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53642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5763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UnifiedLog.java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1792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CoordinatorRuntime.java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1404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coordinator-common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Values.java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1027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GroupCoordinatorShard.java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OffsetMetadataManager.java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828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782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JsonConverter.java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627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ClientQuotaManager.java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GroupCoordinatorRecordHelpers.java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557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LogConfig.java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539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720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22559</TotalTime>
  <Words>204</Words>
  <Application>Microsoft Macintosh PowerPoint</Application>
  <PresentationFormat>Widescreen</PresentationFormat>
  <Paragraphs>94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An overview of the longest duplicates</vt:lpstr>
      <vt:lpstr>An overview of the longest units</vt:lpstr>
      <vt:lpstr>An overview of the most complex units</vt:lpstr>
      <vt:lpstr>An overview of the units with the largest interfaces</vt:lpstr>
      <vt:lpstr>An overview of the modules with the highest coupling</vt:lpstr>
      <vt:lpstr>An overview of component entanglement related findings</vt:lpstr>
      <vt:lpstr>An overview of high impact communicating files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168</cp:revision>
  <cp:lastPrinted>2020-07-02T15:41:27Z</cp:lastPrinted>
  <dcterms:created xsi:type="dcterms:W3CDTF">2024-01-03T15:04:34Z</dcterms:created>
  <dcterms:modified xsi:type="dcterms:W3CDTF">2025-07-16T17:44:03Z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