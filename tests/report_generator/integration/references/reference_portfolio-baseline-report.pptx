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handoutMasters/handoutMaster1.xml" ContentType="application/vnd.openxmlformats-officedocument.presentationml.handoutMaster+xml"/>
  <Override PartName="/ppt/media/image10.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4" r:id="rId5"/>
  </p:sldMasterIdLst>
  <p:notesMasterIdLst>
    <p:notesMasterId r:id="rId23"/>
  </p:notesMasterIdLst>
  <p:handoutMasterIdLst>
    <p:handoutMasterId r:id="rId24"/>
  </p:handoutMasterIdLst>
  <p:sldIdLst>
    <p:sldId id="1973" r:id="rId6"/>
    <p:sldId id="11390" r:id="rId7"/>
    <p:sldId id="11393" r:id="rId8"/>
    <p:sldId id="11424" r:id="rId9"/>
    <p:sldId id="11426" r:id="rId10"/>
    <p:sldId id="11427" r:id="rId11"/>
    <p:sldId id="11428" r:id="rId12"/>
    <p:sldId id="10749" r:id="rId13"/>
    <p:sldId id="10753" r:id="rId14"/>
    <p:sldId id="11429" r:id="rId15"/>
    <p:sldId id="11371" r:id="rId16"/>
    <p:sldId id="1824" r:id="rId17"/>
    <p:sldId id="11405" r:id="rId18"/>
    <p:sldId id="11402" r:id="rId19"/>
    <p:sldId id="11376" r:id="rId20"/>
    <p:sldId id="11284" r:id="rId21"/>
    <p:sldId id="113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98"/>
    <p:restoredTop sz="96763"/>
  </p:normalViewPr>
  <p:slideViewPr>
    <p:cSldViewPr snapToGrid="0" snapToObjects="1" showGuides="1">
      <p:cViewPr varScale="1">
        <p:scale>
          <a:sx n="127" d="100"/>
          <a:sy n="127" d="100"/>
        </p:scale>
        <p:origin x="920"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chemeClr val="accent2">
                <a:shade val="76000"/>
              </a:schemeClr>
            </a:solidFill>
            <a:ln w="19050">
              <a:noFill/>
            </a:ln>
            <a:effectLst>
              <a:outerShdw blurRad="241300" dist="38100" dir="2700000" algn="tl" rotWithShape="0">
                <a:prstClr val="black">
                  <a:alpha val="15000"/>
                </a:prstClr>
              </a:outerShdw>
            </a:effectLst>
          </c:spPr>
          <c:invertIfNegative val="0"/>
          <c:dPt>
            <c:idx val="0"/>
            <c:invertIfNegative val="0"/>
            <c:bubble3D val="0"/>
            <c:explosion val="6"/>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7C96-CF4F-94AD-E08A5CD6D25E}"/>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Sheet1!$B$2:$B$11</c:f>
              <c:numCache>
                <c:formatCode>General</c:formatCode>
                <c:ptCount val="10"/>
                <c:pt idx="0">
                  <c:v>0</c:v>
                </c:pt>
                <c:pt idx="1">
                  <c:v>0</c:v>
                </c:pt>
                <c:pt idx="2">
                  <c:v>0</c:v>
                </c:pt>
                <c:pt idx="3">
                  <c:v>0</c:v>
                </c:pt>
                <c:pt idx="4">
                  <c:v>0</c:v>
                </c:pt>
                <c:pt idx="5">
                  <c:v>0</c:v>
                </c:pt>
                <c:pt idx="6">
                  <c:v>0</c:v>
                </c:pt>
                <c:pt idx="7">
                  <c:v>0</c:v>
                </c:pt>
                <c:pt idx="8">
                  <c:v>0</c:v>
                </c:pt>
                <c:pt idx="9">
                  <c:v>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7C96-CF4F-94AD-E08A5CD6D25E}"/>
            </c:ext>
          </c:extLst>
        </c:ser>
        <c:ser>
          <c:idx val="1"/>
          <c:order val="1"/>
          <c:tx>
            <c:strRef>
              <c:f>Sheet1!$C$1</c:f>
              <c:strCache>
                <c:ptCount val="1"/>
                <c:pt idx="0">
                  <c:v>Percentage of portfolio</c:v>
                </c:pt>
              </c:strCache>
            </c:strRef>
          </c:tx>
          <c:spPr>
            <a:solidFill>
              <a:schemeClr val="accent3">
                <a:lumMod val="60000"/>
                <a:lumOff val="40000"/>
              </a:schemeClr>
            </a:solidFill>
            <a:ln w="19050">
              <a:noFill/>
            </a:ln>
            <a:effectLst/>
          </c:spPr>
          <c:invertIfNegative val="0"/>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Sheet1!$C$2:$C$11</c:f>
              <c:numCache>
                <c:formatCode>General</c:formatCode>
                <c:ptCount val="10"/>
                <c:pt idx="0">
                  <c:v>100</c:v>
                </c:pt>
                <c:pt idx="1">
                  <c:v>100</c:v>
                </c:pt>
                <c:pt idx="2">
                  <c:v>100</c:v>
                </c:pt>
                <c:pt idx="3">
                  <c:v>100</c:v>
                </c:pt>
                <c:pt idx="4">
                  <c:v>100</c:v>
                </c:pt>
                <c:pt idx="5">
                  <c:v>100</c:v>
                </c:pt>
                <c:pt idx="6">
                  <c:v>100</c:v>
                </c:pt>
                <c:pt idx="7">
                  <c:v>100</c:v>
                </c:pt>
                <c:pt idx="8">
                  <c:v>100</c:v>
                </c:pt>
                <c:pt idx="9">
                  <c:v>100</c:v>
                </c:pt>
              </c:numCache>
            </c:numRef>
          </c:val>
          <c:extLst>
            <c:ext xmlns:c16="http://schemas.microsoft.com/office/drawing/2014/chart" uri="{C3380CC4-5D6E-409C-BE32-E72D297353CC}">
              <c16:uniqueId val="{00000002-7C96-CF4F-94AD-E08A5CD6D25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Systems</c:v>
                </c:pt>
              </c:strCache>
            </c:strRef>
          </c:tx>
          <c:spPr>
            <a:solidFill>
              <a:schemeClr val="accent1"/>
            </a:solidFill>
            <a:ln>
              <a:noFill/>
            </a:ln>
            <a:effectLst/>
          </c:spPr>
          <c:invertIfNegative val="0"/>
          <c:dLbls>
            <c:spPr>
              <a:solidFill>
                <a:schemeClr val="bg1"/>
              </a:solidFill>
              <a:ln w="12700">
                <a:solidFill>
                  <a:schemeClr val="accent1"/>
                </a:solid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Total</c:v>
                </c:pt>
                <c:pt idx="1">
                  <c:v>All Capabilities</c:v>
                </c:pt>
                <c:pt idx="2">
                  <c:v>Architecture Quality</c:v>
                </c:pt>
                <c:pt idx="3">
                  <c:v>Maintainability</c:v>
                </c:pt>
                <c:pt idx="4">
                  <c:v>Open Source Health</c:v>
                </c:pt>
                <c:pt idx="5">
                  <c:v>Security</c:v>
                </c:pt>
              </c:strCache>
            </c:strRef>
          </c:cat>
          <c:val>
            <c:numRef>
              <c:f>Sheet1!$B$2:$B$7</c:f>
              <c:numCache>
                <c:formatCode>General</c:formatCode>
                <c:ptCount val="6"/>
                <c:pt idx="0">
                  <c:v>12</c:v>
                </c:pt>
                <c:pt idx="1">
                  <c:v>0</c:v>
                </c:pt>
                <c:pt idx="2">
                  <c:v>12</c:v>
                </c:pt>
                <c:pt idx="3">
                  <c:v>12</c:v>
                </c:pt>
                <c:pt idx="4">
                  <c:v>12</c:v>
                </c:pt>
                <c:pt idx="5">
                  <c:v>0</c:v>
                </c:pt>
              </c:numCache>
            </c:numRef>
          </c:val>
          <c:extLst>
            <c:ext xmlns:c16="http://schemas.microsoft.com/office/drawing/2014/chart" uri="{C3380CC4-5D6E-409C-BE32-E72D297353CC}">
              <c16:uniqueId val="{00000000-EA26-474B-919E-22DA88E63ED1}"/>
            </c:ext>
          </c:extLst>
        </c:ser>
        <c:dLbls>
          <c:showLegendKey val="0"/>
          <c:showVal val="0"/>
          <c:showCatName val="0"/>
          <c:showSerName val="0"/>
          <c:showPercent val="0"/>
          <c:showBubbleSize val="0"/>
        </c:dLbls>
        <c:gapWidth val="219"/>
        <c:overlap val="-27"/>
        <c:axId val="59297280"/>
        <c:axId val="2146427199"/>
      </c:barChart>
      <c:catAx>
        <c:axId val="59297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2146427199"/>
        <c:crosses val="autoZero"/>
        <c:auto val="1"/>
        <c:lblAlgn val="ctr"/>
        <c:lblOffset val="100"/>
        <c:noMultiLvlLbl val="0"/>
      </c:catAx>
      <c:valAx>
        <c:axId val="2146427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5929728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Sheet1!$B$2:$B$2</c:f>
              <c:numCache>
                <c:formatCode>General</c:formatCode>
                <c:ptCount val="1"/>
                <c:pt idx="0">
                  <c:v>50.0</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Sheet1!$C$2:$C$2</c:f>
              <c:numCache>
                <c:formatCode>General</c:formatCode>
                <c:ptCount val="1"/>
                <c:pt idx="0">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Sheet1!$D$2:$D$2</c:f>
              <c:numCache>
                <c:formatCode>General</c:formatCode>
                <c:ptCount val="1"/>
                <c:pt idx="0">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dLbls>
            <c:delete val="1"/>
          </c:dLbls>
          <c:cat>
            <c:strRef>
              <c:f>Sheet1!$A$2:$A$2</c:f>
              <c:strCache>
                <c:ptCount val="1"/>
                <c:pt idx="0">
                  <c:v>Overall</c:v>
                </c:pt>
              </c:strCache>
            </c:strRef>
          </c:cat>
          <c:val>
            <c:numRef>
              <c:f>Sheet1!$E$2:$E$2</c:f>
              <c:numCache>
                <c:formatCode>General</c:formatCode>
                <c:ptCount val="1"/>
                <c:pt idx="0">
                  <c:v>50.0</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Sheet1!$B$2:$B$5</c:f>
              <c:numCache>
                <c:formatCode>General</c:formatCode>
                <c:ptCount val="4"/>
                <c:pt idx="0">
                  <c:v>0.0</c:v>
                </c:pt>
                <c:pt idx="1">
                  <c:v>33.0</c:v>
                </c:pt>
                <c:pt idx="2">
                  <c:v>73.0</c:v>
                </c:pt>
                <c:pt idx="3">
                  <c:v>46.0</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Sheet1!$C$2:$C$5</c:f>
              <c:numCache>
                <c:formatCode>General</c:formatCode>
                <c:ptCount val="4"/>
                <c:pt idx="0">
                  <c:v>0.0</c:v>
                </c:pt>
                <c:pt idx="1">
                  <c:v>0.0</c:v>
                </c:pt>
                <c:pt idx="2">
                  <c:v>0.0</c:v>
                </c:pt>
                <c:pt idx="3">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Sheet1!$D$2:$D$5</c:f>
              <c:numCache>
                <c:formatCode>General</c:formatCode>
                <c:ptCount val="4"/>
                <c:pt idx="0">
                  <c:v>0.0</c:v>
                </c:pt>
                <c:pt idx="1">
                  <c:v>0.0</c:v>
                </c:pt>
                <c:pt idx="2">
                  <c:v>0.0</c:v>
                </c:pt>
                <c:pt idx="3">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cat>
            <c:strRef>
              <c:f>Sheet1!$A$2:$A$5</c:f>
              <c:strCache>
                <c:ptCount val="4"/>
                <c:pt idx="0">
                  <c:v>Security</c:v>
                </c:pt>
                <c:pt idx="1">
                  <c:v>Open Source Health</c:v>
                </c:pt>
                <c:pt idx="2">
                  <c:v>Architecture Quality</c:v>
                </c:pt>
                <c:pt idx="3">
                  <c:v>Maintainability</c:v>
                </c:pt>
              </c:strCache>
            </c:strRef>
          </c:cat>
          <c:val>
            <c:numRef>
              <c:f>Sheet1!$E$2:$E$5</c:f>
              <c:numCache>
                <c:formatCode>General</c:formatCode>
                <c:ptCount val="4"/>
                <c:pt idx="0">
                  <c:v>100.0</c:v>
                </c:pt>
                <c:pt idx="1">
                  <c:v>66.66666666666666</c:v>
                </c:pt>
                <c:pt idx="2">
                  <c:v>27.272727272727266</c:v>
                </c:pt>
                <c:pt idx="3">
                  <c:v>53.84615384615385</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Portfolio</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integrationtest-zuul</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B86A-D14B-85E9-B8DEC18B60F7}"/>
                </c:ext>
              </c:extLst>
            </c:dLbl>
            <c:dLbl>
              <c:idx val="1"/>
              <c:tx>
                <c:rich>
                  <a:bodyPr/>
                  <a:lstStyle/>
                  <a:p>
                    <a:r>
                      <a:t>integrationtest-facebookyoga</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E2E4-0547-BD87-A6B50BFB06ED}"/>
                </c:ext>
              </c:extLst>
            </c:dLbl>
            <c:dLbl>
              <c:idx val="2"/>
              <c:tx>
                <c:rich>
                  <a:bodyPr/>
                  <a:lstStyle/>
                  <a:p>
                    <a:r>
                      <a:t>integrationtest-jruby</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E2E4-0547-BD87-A6B50BFB06ED}"/>
                </c:ext>
              </c:extLst>
            </c:dLbl>
            <c:dLbl>
              <c:idx val="3"/>
              <c:layout>
                <c:manualLayout>
                  <c:x val="-2.3413399101154898E-2"/>
                  <c:y val="-4.5616973413873718E-2"/>
                </c:manualLayout>
              </c:layout>
              <c:tx>
                <c:rich>
                  <a:bodyPr/>
                  <a:lstStyle/>
                  <a:p>
                    <a:r>
                      <a:t>integrationtest-webpack</a:t>
                    </a:r>
                  </a:p>
                </c:rich>
              </c:tx>
              <c:dLblPos val="r"/>
              <c:showLegendKey val="0"/>
              <c:showVal val="0"/>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t>integrationtest-git</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2-E2E4-0547-BD87-A6B50BFB06ED}"/>
                </c:ext>
              </c:extLst>
            </c:dLbl>
            <c:dLbl>
              <c:idx val="5"/>
              <c:tx>
                <c:rich>
                  <a:bodyPr/>
                  <a:lstStyle/>
                  <a:p>
                    <a:r>
                      <a:t>integrationtest-bazel</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3-E2E4-0547-BD87-A6B50BFB06ED}"/>
                </c:ext>
              </c:extLst>
            </c:dLbl>
            <c:dLbl>
              <c:idx val="6"/>
              <c:tx>
                <c:rich>
                  <a:bodyPr/>
                  <a:lstStyle/>
                  <a:p>
                    <a:r>
                      <a:t>integrationtest-electron</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4-E2E4-0547-BD87-A6B50BFB06ED}"/>
                </c:ext>
              </c:extLst>
            </c:dLbl>
            <c:dLbl>
              <c:idx val="7"/>
              <c:tx>
                <c:rich>
                  <a:bodyPr/>
                  <a:lstStyle/>
                  <a:p>
                    <a:r>
                      <a:t>integrationtest-druid</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5-E2E4-0547-BD87-A6B50BFB06ED}"/>
                </c:ext>
              </c:extLst>
            </c:dLbl>
            <c:dLbl>
              <c:idx val="8"/>
              <c:tx>
                <c:rich>
                  <a:bodyPr/>
                  <a:lstStyle/>
                  <a:p>
                    <a:r>
                      <a:t>integrationtest-kafka</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6-E2E4-0547-BD87-A6B50BFB06ED}"/>
                </c:ext>
              </c:extLst>
            </c:dLbl>
            <c:dLbl>
              <c:idx val="9"/>
              <c:tx>
                <c:rich>
                  <a:bodyPr/>
                  <a:lstStyle/>
                  <a:p>
                    <a:r>
                      <a:t>integrationtest-airflow</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7-E2E4-0547-BD87-A6B50BFB06ED}"/>
                </c:ext>
              </c:extLst>
            </c:dLbl>
            <c:dLbl>
              <c:idx val="10"/>
              <c:tx>
                <c:rich>
                  <a:bodyPr/>
                  <a:lstStyle/>
                  <a:p>
                    <a:r>
                      <a:t>integrationtest-vscode</a:t>
                    </a:r>
                  </a:p>
                </c:rich>
              </c:tx>
              <c:showLegendKey val="0"/>
              <c:showVal val="1"/>
              <c:showCatName val="0"/>
              <c:showSerName val="0"/>
              <c:showPercent val="0"/>
              <c:showBubbleSize val="0"/>
            </c:dLbl>
            <c:dLbl>
              <c:idx val="11"/>
              <c:tx>
                <c:rich>
                  <a:bodyPr/>
                  <a:lstStyle/>
                  <a:p>
                    <a:r>
                      <a:t>integrationtest-elasticsearch</a:t>
                    </a:r>
                  </a:p>
                </c:rich>
              </c:tx>
              <c:showLegendKey val="0"/>
              <c:showVal val="1"/>
              <c:showCatName val="0"/>
              <c:showSerName val="0"/>
              <c:showPercent val="0"/>
              <c:showBubbleSize val="0"/>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0"/>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Sheet1!$A$2:$A$13</c:f>
              <c:numCache>
                <c:formatCode>General</c:formatCode>
                <c:ptCount val="12"/>
                <c:pt idx="0">
                  <c:v>2.1457777777777776</c:v>
                </c:pt>
                <c:pt idx="1">
                  <c:v>3.6036445657400105</c:v>
                </c:pt>
                <c:pt idx="2">
                  <c:v>36.35964730933028</c:v>
                </c:pt>
                <c:pt idx="3">
                  <c:v>10.991592990840298</c:v>
                </c:pt>
                <c:pt idx="4">
                  <c:v>36.830844725281914</c:v>
                </c:pt>
                <c:pt idx="5">
                  <c:v>6.7400960365853635</c:v>
                </c:pt>
                <c:pt idx="6">
                  <c:v>12.957363313311658</c:v>
                </c:pt>
                <c:pt idx="7">
                  <c:v>26.774372759856643</c:v>
                </c:pt>
                <c:pt idx="8">
                  <c:v>42.6041631944445</c:v>
                </c:pt>
                <c:pt idx="9">
                  <c:v>55.50518282469105</c:v>
                </c:pt>
                <c:pt idx="10">
                  <c:v>77.33298297129431</c:v>
                </c:pt>
                <c:pt idx="11">
                  <c:v>262.70099258506497</c:v>
                </c:pt>
              </c:numCache>
            </c:numRef>
          </c:xVal>
          <c:yVal>
            <c:numRef>
              <c:f>Sheet1!$B$2:$B$13</c:f>
              <c:numCache>
                <c:formatCode>General</c:formatCode>
                <c:ptCount val="12"/>
                <c:pt idx="0">
                  <c:v>3.359850166537113</c:v>
                </c:pt>
                <c:pt idx="1">
                  <c:v>2.9112640701670003</c:v>
                </c:pt>
                <c:pt idx="2">
                  <c:v>2.4421437427141464</c:v>
                </c:pt>
                <c:pt idx="3">
                  <c:v>3.0922316739084184</c:v>
                </c:pt>
                <c:pt idx="4">
                  <c:v>2.123208503605678</c:v>
                </c:pt>
                <c:pt idx="5">
                  <c:v>3.3472615146464455</c:v>
                </c:pt>
                <c:pt idx="6">
                  <c:v>3.557961475143022</c:v>
                </c:pt>
                <c:pt idx="7">
                  <c:v>2.5713015651373246</c:v>
                </c:pt>
                <c:pt idx="8">
                  <c:v>2.644363023714699</c:v>
                </c:pt>
                <c:pt idx="9">
                  <c:v>2.2502888470290587</c:v>
                </c:pt>
                <c:pt idx="10">
                  <c:v>3.0519608059230676</c:v>
                </c:pt>
                <c:pt idx="11">
                  <c:v>2.369866173752676</c:v>
                </c:pt>
              </c:numCache>
            </c:numRef>
          </c:yVal>
          <c:smooth val="0"/>
          <c:extLst>
            <c:ext xmlns:c15="http://schemas.microsoft.com/office/drawing/2012/chart" uri="{02D57815-91ED-43cb-92C2-25804820EDAC}">
              <c15:datalabelsRange>
                <c15:f>Sheet1!$C$2:$C$11</c15:f>
                <c15:dlblRangeCache>
                  <c:ptCount val="10"/>
                  <c:pt idx="0">
                    <c:v>System 1</c:v>
                  </c:pt>
                  <c:pt idx="1">
                    <c:v>System 2</c:v>
                  </c:pt>
                  <c:pt idx="2">
                    <c:v>System 3</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16</c:v>
                </c:pt>
                <c:pt idx="1">
                  <c:v>16</c:v>
                </c:pt>
                <c:pt idx="2">
                  <c:v>16</c:v>
                </c:pt>
                <c:pt idx="3">
                  <c:v>16</c:v>
                </c:pt>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16</c:v>
                </c:pt>
                <c:pt idx="1">
                  <c:v>16</c:v>
                </c:pt>
                <c:pt idx="2">
                  <c:v>16</c:v>
                </c:pt>
                <c:pt idx="3">
                  <c:v>16</c:v>
                </c:pt>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16</c:v>
                </c:pt>
                <c:pt idx="1">
                  <c:v>16</c:v>
                </c:pt>
                <c:pt idx="2">
                  <c:v>16</c:v>
                </c:pt>
                <c:pt idx="3">
                  <c:v>16</c:v>
                </c:pt>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16</c:v>
                </c:pt>
                <c:pt idx="1">
                  <c:v>16</c:v>
                </c:pt>
                <c:pt idx="2">
                  <c:v>16</c:v>
                </c:pt>
                <c:pt idx="3">
                  <c:v>16</c:v>
                </c:pt>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70.4"/>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16</c:v>
                </c:pt>
                <c:pt idx="1">
                  <c:v>16</c:v>
                </c:pt>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pt idx="0">
                  <c:v>16</c:v>
                </c:pt>
                <c:pt idx="1">
                  <c:v>16</c:v>
                </c:pt>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pt idx="0">
                  <c:v>16</c:v>
                </c:pt>
                <c:pt idx="1">
                  <c:v>16</c:v>
                </c:pt>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16</c:v>
                </c:pt>
                <c:pt idx="1">
                  <c:v>16</c:v>
                </c:pt>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70.4"/>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5/19/26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5" name="Footer Placeholder 5">
            <a:extLst>
              <a:ext uri="{FF2B5EF4-FFF2-40B4-BE49-F238E27FC236}">
                <a16:creationId xmlns:a16="http://schemas.microsoft.com/office/drawing/2014/main" id="{B0C0C93F-2FEA-2A95-D1EB-F56E5131AF3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37650158-9378-BDA6-B989-A50961008A30}"/>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
        <p:nvSpPr>
          <p:cNvPr id="6" name="Footer Placeholder 5">
            <a:extLst>
              <a:ext uri="{FF2B5EF4-FFF2-40B4-BE49-F238E27FC236}">
                <a16:creationId xmlns:a16="http://schemas.microsoft.com/office/drawing/2014/main" id="{29A1803D-62ED-5989-489B-04C2354098C9}"/>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88F0C024-5ADF-C9D1-7E6D-DA7E7F352B1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2" name="Footer Placeholder 5">
            <a:extLst>
              <a:ext uri="{FF2B5EF4-FFF2-40B4-BE49-F238E27FC236}">
                <a16:creationId xmlns:a16="http://schemas.microsoft.com/office/drawing/2014/main" id="{3D30C1FB-591F-4EC1-DBFA-7F1A47CAB3AF}"/>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910525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0" name="Tijdelijke aanduiding voor voettekst 1">
            <a:extLst>
              <a:ext uri="{FF2B5EF4-FFF2-40B4-BE49-F238E27FC236}">
                <a16:creationId xmlns:a16="http://schemas.microsoft.com/office/drawing/2014/main" id="{1550FF2B-9973-D8E2-1D04-7D52FC7B445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4118498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8"/>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3" name="Footer Placeholder 5">
            <a:extLst>
              <a:ext uri="{FF2B5EF4-FFF2-40B4-BE49-F238E27FC236}">
                <a16:creationId xmlns:a16="http://schemas.microsoft.com/office/drawing/2014/main" id="{8F0D1AEF-DE47-8489-6A2A-611156540ED5}"/>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 id="2147483796" r:id="rId6"/>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4555" y="638273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1843736170"/>
      </p:ext>
    </p:extLst>
  </p:cSld>
  <p:clrMap bg1="lt1" tx1="dk1" bg2="lt2" tx2="dk2" accent1="accent1" accent2="accent2" accent3="accent3" accent4="accent4" accent5="accent5" accent6="accent6" hlink="hlink" folHlink="folHlink"/>
  <p:sldLayoutIdLst>
    <p:sldLayoutId id="2147483795"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Software-Improvement-Group/sigrid-report-generato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chart" Target="../charts/chart1.xml"/><Relationship Id="rId4" Type="http://schemas.openxmlformats.org/officeDocument/2006/relationships/hyperlink" Target="https://docs.sigrid-says.com/organization-integration/metadata.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hyperlink" Target="https://docs.sigrid-says.com/capabilities/objectives.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0.sv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tiff"/><Relationship Id="rId4" Type="http://schemas.openxmlformats.org/officeDocument/2006/relationships/chart" Target="../charts/chart5.xml"/><Relationship Id="rId5" Type="http://schemas.openxmlformats.org/officeDocument/2006/relationships/image" Target="../media/image12.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0.sv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6.xml"/><Relationship Id="rId3" Type="http://schemas.openxmlformats.org/officeDocument/2006/relationships/chart" Target="../charts/char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Reportgeneratordemo</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Portfolio baseline report</a:t>
            </a:r>
          </a:p>
        </p:txBody>
      </p:sp>
      <p:sp>
        <p:nvSpPr>
          <p:cNvPr id="5" name="Tijdelijke aanduiding voor voettekst 10">
            <a:extLst>
              <a:ext uri="{FF2B5EF4-FFF2-40B4-BE49-F238E27FC236}">
                <a16:creationId xmlns:a16="http://schemas.microsoft.com/office/drawing/2014/main" id="{03AAA943-ED6F-B90F-27FC-E22483CED91E}"/>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10" name="Afgeronde rechthoek 33">
            <a:extLst>
              <a:ext uri="{FF2B5EF4-FFF2-40B4-BE49-F238E27FC236}">
                <a16:creationId xmlns:a16="http://schemas.microsoft.com/office/drawing/2014/main" id="{0D3E7177-C8EE-5FFC-521A-8C9EEEC5326B}"/>
              </a:ext>
            </a:extLst>
          </p:cNvPr>
          <p:cNvSpPr/>
          <p:nvPr/>
        </p:nvSpPr>
        <p:spPr>
          <a:xfrm>
            <a:off x="4454347" y="707417"/>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12" name="Tijdelijke aanduiding voor inhoud 4">
            <a:extLst>
              <a:ext uri="{FF2B5EF4-FFF2-40B4-BE49-F238E27FC236}">
                <a16:creationId xmlns:a16="http://schemas.microsoft.com/office/drawing/2014/main" id="{92CE52E8-D858-B31D-AC41-08D60448D5A0}"/>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2" name="Footer Placeholder 5">
            <a:extLst>
              <a:ext uri="{FF2B5EF4-FFF2-40B4-BE49-F238E27FC236}">
                <a16:creationId xmlns:a16="http://schemas.microsoft.com/office/drawing/2014/main" id="{F1341C02-B5DA-9A6B-6630-1BC07730E8A1}"/>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728A2-D49B-B80A-C0BB-81C3E8139325}"/>
              </a:ext>
            </a:extLst>
          </p:cNvPr>
          <p:cNvSpPr>
            <a:spLocks noGrp="1"/>
          </p:cNvSpPr>
          <p:nvPr>
            <p:ph type="body" sz="quarter" idx="12"/>
          </p:nvPr>
        </p:nvSpPr>
        <p:spPr>
          <a:xfrm>
            <a:off x="381600" y="129568"/>
            <a:ext cx="1325858" cy="228209"/>
          </a:xfrm>
        </p:spPr>
        <p:txBody>
          <a:bodyPr/>
          <a:lstStyle/>
          <a:p>
            <a:r>
              <a:rPr lang="en-GB">
                <a:solidFill>
                  <a:schemeClr val="tx2"/>
                </a:solidFill>
              </a:rPr>
              <a:t>Report context</a:t>
            </a:r>
            <a:endParaRPr lang="en-GB" dirty="0"/>
          </a:p>
        </p:txBody>
      </p:sp>
      <p:sp>
        <p:nvSpPr>
          <p:cNvPr id="3" name="Content Placeholder 2">
            <a:extLst>
              <a:ext uri="{FF2B5EF4-FFF2-40B4-BE49-F238E27FC236}">
                <a16:creationId xmlns:a16="http://schemas.microsoft.com/office/drawing/2014/main" id="{EB46ACE4-3C8B-C339-132D-F5E76E16A6DE}"/>
              </a:ext>
            </a:extLst>
          </p:cNvPr>
          <p:cNvSpPr>
            <a:spLocks noGrp="1"/>
          </p:cNvSpPr>
          <p:nvPr>
            <p:ph sz="quarter" idx="19"/>
          </p:nvPr>
        </p:nvSpPr>
        <p:spPr/>
        <p:txBody>
          <a:bodyPr/>
          <a:lstStyle/>
          <a:p>
            <a:endParaRPr lang="en-GB" b="1"/>
          </a:p>
          <a:p>
            <a:pPr marL="285750" indent="-285750">
              <a:buFont typeface="Arial" panose="020B0604020202020204" pitchFamily="34" charset="0"/>
              <a:buChar char="•"/>
            </a:pPr>
            <a:r>
              <a:rPr lang="en-GB"/>
              <a:t>Congratulations for having successfully completed your Sigrid onboarding!</a:t>
            </a:r>
          </a:p>
          <a:p>
            <a:pPr marL="285750" indent="-285750">
              <a:buFont typeface="Arial" panose="020B0604020202020204" pitchFamily="34" charset="0"/>
              <a:buChar char="•"/>
            </a:pPr>
            <a:r>
              <a:rPr lang="en-GB"/>
              <a:t>This is a baseline report showing the quality and security state of your software portfolio at the start of your Sigrid journey, to help you get a first overview and set your priorities for the coming period.</a:t>
            </a:r>
          </a:p>
          <a:p>
            <a:pPr marL="285750" indent="-285750">
              <a:buFont typeface="Arial" panose="020B0604020202020204" pitchFamily="34" charset="0"/>
              <a:buChar char="•"/>
            </a:pPr>
            <a:r>
              <a:rPr lang="en-GB"/>
              <a:t>This report has been automatically generated by our consultants based on the information in your Sigrid.</a:t>
            </a:r>
          </a:p>
          <a:p>
            <a:pPr marL="285750" indent="-285750">
              <a:buFont typeface="Arial" panose="020B0604020202020204" pitchFamily="34" charset="0"/>
              <a:buChar char="•"/>
            </a:pPr>
            <a:r>
              <a:rPr lang="en-GB"/>
              <a:t>If you find this report useful, you as well can easily generate similar reports! Simply follow the instructions in our public </a:t>
            </a:r>
            <a:r>
              <a:rPr lang="en-GB">
                <a:hlinkClick r:id="rId2"/>
              </a:rPr>
              <a:t>GitHub repository</a:t>
            </a:r>
            <a:r>
              <a:rPr lang="en-GB"/>
              <a:t> or contact your Customer Success Manager for more information.</a:t>
            </a:r>
          </a:p>
          <a:p>
            <a:endParaRPr lang="en-GB" dirty="0"/>
          </a:p>
        </p:txBody>
      </p:sp>
      <p:sp>
        <p:nvSpPr>
          <p:cNvPr id="4" name="Content Placeholder 3">
            <a:extLst>
              <a:ext uri="{FF2B5EF4-FFF2-40B4-BE49-F238E27FC236}">
                <a16:creationId xmlns:a16="http://schemas.microsoft.com/office/drawing/2014/main" id="{B24A8EDE-A8CC-C479-ADF2-FE638773B436}"/>
              </a:ext>
            </a:extLst>
          </p:cNvPr>
          <p:cNvSpPr>
            <a:spLocks noGrp="1"/>
          </p:cNvSpPr>
          <p:nvPr>
            <p:ph sz="quarter" idx="20"/>
          </p:nvPr>
        </p:nvSpPr>
        <p:spPr/>
        <p:txBody>
          <a:bodyPr/>
          <a:lstStyle/>
          <a:p>
            <a:pPr algn="just"/>
            <a:endParaRPr lang="en-GB" b="1">
              <a:solidFill>
                <a:schemeClr val="accent2"/>
              </a:solidFill>
            </a:endParaRPr>
          </a:p>
          <a:p>
            <a:pPr algn="just"/>
            <a:r>
              <a:rPr lang="en-GB" b="1">
                <a:solidFill>
                  <a:schemeClr val="accent2"/>
                </a:solidFill>
              </a:rPr>
              <a:t>Contents</a:t>
            </a:r>
            <a:r>
              <a:rPr lang="en-GB" b="1">
                <a:solidFill>
                  <a:schemeClr val="bg1"/>
                </a:solidFill>
              </a:rPr>
              <a:t> </a:t>
            </a:r>
          </a:p>
          <a:p>
            <a:pPr>
              <a:buClr>
                <a:schemeClr val="accent2"/>
              </a:buClr>
            </a:pPr>
            <a:r>
              <a:rPr lang="en-GB" b="1">
                <a:solidFill>
                  <a:schemeClr val="tx1"/>
                </a:solidFill>
              </a:rPr>
              <a:t>Sigrid portfolio hygiene:</a:t>
            </a:r>
            <a:r>
              <a:rPr lang="en-GB">
                <a:solidFill>
                  <a:schemeClr val="tx1"/>
                </a:solidFill>
              </a:rPr>
              <a:t> Gives you information on whether your Sigrid has been fully configured to give you the most useful insights. Sigrid results are most useful when metadata is filled in, and quality objectives are defined in the platform.</a:t>
            </a:r>
          </a:p>
          <a:p>
            <a:pPr>
              <a:buClr>
                <a:schemeClr val="accent2"/>
              </a:buClr>
            </a:pPr>
            <a:r>
              <a:rPr lang="en-GB" b="1">
                <a:solidFill>
                  <a:schemeClr val="tx1"/>
                </a:solidFill>
              </a:rPr>
              <a:t>Objectives:</a:t>
            </a:r>
            <a:r>
              <a:rPr lang="en-GB">
                <a:solidFill>
                  <a:schemeClr val="tx1"/>
                </a:solidFill>
              </a:rPr>
              <a:t> Number of systems in your portfolio that meet the quality and security objectives you set in Sigrid.</a:t>
            </a:r>
          </a:p>
          <a:p>
            <a:pPr>
              <a:buClr>
                <a:schemeClr val="accent2"/>
              </a:buClr>
            </a:pPr>
            <a:r>
              <a:rPr lang="en-GB" b="1">
                <a:solidFill>
                  <a:schemeClr val="tx1"/>
                </a:solidFill>
              </a:rPr>
              <a:t>Portfolio trends:</a:t>
            </a:r>
            <a:r>
              <a:rPr lang="en-GB">
                <a:solidFill>
                  <a:schemeClr val="tx1"/>
                </a:solidFill>
              </a:rPr>
              <a:t> Information on the quality and security state of your portfolio at the start of your Sigrid journey.</a:t>
            </a:r>
          </a:p>
          <a:p>
            <a:endParaRPr lang="en-GB" dirty="0"/>
          </a:p>
        </p:txBody>
      </p:sp>
      <p:sp>
        <p:nvSpPr>
          <p:cNvPr id="5" name="Title 4">
            <a:extLst>
              <a:ext uri="{FF2B5EF4-FFF2-40B4-BE49-F238E27FC236}">
                <a16:creationId xmlns:a16="http://schemas.microsoft.com/office/drawing/2014/main" id="{88C7ABDD-9432-ACF8-4FEC-77AA6EB74ECE}"/>
              </a:ext>
            </a:extLst>
          </p:cNvPr>
          <p:cNvSpPr>
            <a:spLocks noGrp="1"/>
          </p:cNvSpPr>
          <p:nvPr>
            <p:ph type="title"/>
          </p:nvPr>
        </p:nvSpPr>
        <p:spPr/>
        <p:txBody>
          <a:bodyPr/>
          <a:lstStyle/>
          <a:p>
            <a:r>
              <a:rPr lang="en-GB"/>
              <a:t>Introduction to the baseline report</a:t>
            </a:r>
            <a:endParaRPr lang="en-GB" dirty="0"/>
          </a:p>
        </p:txBody>
      </p:sp>
      <p:sp>
        <p:nvSpPr>
          <p:cNvPr id="7" name="Slide Number Placeholder 6">
            <a:extLst>
              <a:ext uri="{FF2B5EF4-FFF2-40B4-BE49-F238E27FC236}">
                <a16:creationId xmlns:a16="http://schemas.microsoft.com/office/drawing/2014/main" id="{B3618148-8DA2-DAE0-FC69-8684BB025740}"/>
              </a:ext>
            </a:extLst>
          </p:cNvPr>
          <p:cNvSpPr>
            <a:spLocks noGrp="1"/>
          </p:cNvSpPr>
          <p:nvPr>
            <p:ph type="sldNum" sz="quarter" idx="22"/>
          </p:nvPr>
        </p:nvSpPr>
        <p:spPr/>
        <p:txBody>
          <a:bodyPr/>
          <a:lstStyle/>
          <a:p>
            <a:fld id="{E242BD21-9B61-2246-BCB1-4BE5E1BEBE1C}" type="slidenum">
              <a:rPr lang="en-GB" smtClean="0"/>
              <a:pPr/>
              <a:t>3</a:t>
            </a:fld>
            <a:endParaRPr lang="en-GB" dirty="0"/>
          </a:p>
        </p:txBody>
      </p:sp>
      <p:sp>
        <p:nvSpPr>
          <p:cNvPr id="6" name="Footer Placeholder 5">
            <a:extLst>
              <a:ext uri="{FF2B5EF4-FFF2-40B4-BE49-F238E27FC236}">
                <a16:creationId xmlns:a16="http://schemas.microsoft.com/office/drawing/2014/main" id="{48CCE201-D532-5332-1ABA-1148677A097F}"/>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004044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275D-A691-B899-C8C0-7CA9275B46D0}"/>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D5940918-3CB3-803D-EDD0-F5E060D3DC41}"/>
              </a:ext>
            </a:extLst>
          </p:cNvPr>
          <p:cNvSpPr/>
          <p:nvPr/>
        </p:nvSpPr>
        <p:spPr>
          <a:xfrm>
            <a:off x="4454347" y="1405244"/>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4BE8A0BB-9BF4-0EEF-421A-43317280C0C9}"/>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el 3">
            <a:extLst>
              <a:ext uri="{FF2B5EF4-FFF2-40B4-BE49-F238E27FC236}">
                <a16:creationId xmlns:a16="http://schemas.microsoft.com/office/drawing/2014/main" id="{B52E2D34-4447-ADD4-8DC6-965B34D46EF0}"/>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A00B7195-879B-BEB7-83E4-505314226773}"/>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7" name="Rectangle 2">
            <a:extLst>
              <a:ext uri="{FF2B5EF4-FFF2-40B4-BE49-F238E27FC236}">
                <a16:creationId xmlns:a16="http://schemas.microsoft.com/office/drawing/2014/main" id="{0674849F-4F72-5C07-B47E-2437E9D8F4CD}"/>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2" name="Footer Placeholder 5">
            <a:extLst>
              <a:ext uri="{FF2B5EF4-FFF2-40B4-BE49-F238E27FC236}">
                <a16:creationId xmlns:a16="http://schemas.microsoft.com/office/drawing/2014/main" id="{26F7AFB7-FFF9-E2FD-4842-317140D1DFCA}"/>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638578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2169037" cy="228209"/>
          </a:xfrm>
        </p:spPr>
        <p:txBody>
          <a:bodyPr/>
          <a:lstStyle/>
          <a:p>
            <a:r>
              <a:rPr lang="en-GB"/>
              <a:t>Sigrid portfolio hygiene</a:t>
            </a:r>
            <a:endParaRPr lang="en-GB" dirty="0"/>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a:t>Metadata completeness per field</a:t>
            </a:r>
            <a:endParaRPr lang="en-GB" dirty="0"/>
          </a:p>
        </p:txBody>
      </p:sp>
      <p:graphicFrame>
        <p:nvGraphicFramePr>
          <p:cNvPr id="12" name="METADATA_COMPLETENESS_CHART">
            <a:extLst>
              <a:ext uri="{FF2B5EF4-FFF2-40B4-BE49-F238E27FC236}">
                <a16:creationId xmlns:a16="http://schemas.microsoft.com/office/drawing/2014/main" id="{8A441EFF-07E9-9E27-9640-D73D806C4D65}"/>
              </a:ext>
            </a:extLst>
          </p:cNvPr>
          <p:cNvGraphicFramePr/>
          <p:nvPr>
            <p:extLst>
              <p:ext uri="{D42A27DB-BD31-4B8C-83A1-F6EECF244321}">
                <p14:modId xmlns:p14="http://schemas.microsoft.com/office/powerpoint/2010/main" val="4081541850"/>
              </p:ext>
            </p:extLst>
          </p:nvPr>
        </p:nvGraphicFramePr>
        <p:xfrm>
          <a:off x="478224" y="2397760"/>
          <a:ext cx="11267443" cy="3670506"/>
        </p:xfrm>
        <a:graphic>
          <a:graphicData uri="http://schemas.openxmlformats.org/drawingml/2006/chart">
            <c:chart xmlns:c="http://schemas.openxmlformats.org/drawingml/2006/chart" xmlns:r="http://schemas.openxmlformats.org/officeDocument/2006/relationships" r:id="rId3"/>
          </a:graphicData>
        </a:graphic>
      </p:graphicFrame>
      <p:sp>
        <p:nvSpPr>
          <p:cNvPr id="13" name="Content Placeholder 2">
            <a:extLst>
              <a:ext uri="{FF2B5EF4-FFF2-40B4-BE49-F238E27FC236}">
                <a16:creationId xmlns:a16="http://schemas.microsoft.com/office/drawing/2014/main" id="{BF7EBEF1-AE34-0146-7D18-236358E52DAA}"/>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Results in Sigrid and the contents of this report become more accurate and useful the more systems have the metadata filled in.</a:t>
            </a:r>
          </a:p>
          <a:p>
            <a:pPr marL="285750" indent="-285750">
              <a:buFont typeface="Arial" panose="020B0604020202020204" pitchFamily="34" charset="0"/>
              <a:buChar char="•"/>
            </a:pPr>
            <a:r>
              <a:rPr lang="en-US"/>
              <a:t>If you have not yet defined your metadata, you can learn how to so in the </a:t>
            </a:r>
            <a:r>
              <a:rPr lang="en-US">
                <a:hlinkClick r:id="rId4"/>
              </a:rPr>
              <a:t>Sigrid documentation</a:t>
            </a:r>
            <a:r>
              <a:rPr lang="en-US"/>
              <a:t>.</a:t>
            </a:r>
            <a:endParaRPr lang="en-US" dirty="0"/>
          </a:p>
        </p:txBody>
      </p:sp>
      <p:sp>
        <p:nvSpPr>
          <p:cNvPr id="5" name="TextBox 4">
            <a:extLst>
              <a:ext uri="{FF2B5EF4-FFF2-40B4-BE49-F238E27FC236}">
                <a16:creationId xmlns:a16="http://schemas.microsoft.com/office/drawing/2014/main" id="{5EEBC68F-7213-EB53-C40C-FB8AB820FF2E}"/>
              </a:ext>
            </a:extLst>
          </p:cNvPr>
          <p:cNvSpPr txBox="1"/>
          <p:nvPr/>
        </p:nvSpPr>
        <p:spPr>
          <a:xfrm>
            <a:off x="9905465" y="2249529"/>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Footer Placeholder 5">
            <a:extLst>
              <a:ext uri="{FF2B5EF4-FFF2-40B4-BE49-F238E27FC236}">
                <a16:creationId xmlns:a16="http://schemas.microsoft.com/office/drawing/2014/main" id="{55AE2176-E53D-677F-8417-DF6E32C6E391}"/>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5896186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A562B4-433C-6AD3-BE97-6669903E222E}"/>
              </a:ext>
            </a:extLst>
          </p:cNvPr>
          <p:cNvSpPr>
            <a:spLocks noGrp="1"/>
          </p:cNvSpPr>
          <p:nvPr>
            <p:ph type="body" sz="quarter" idx="12"/>
          </p:nvPr>
        </p:nvSpPr>
        <p:spPr>
          <a:xfrm>
            <a:off x="381600" y="129568"/>
            <a:ext cx="2169037" cy="228209"/>
          </a:xfrm>
        </p:spPr>
        <p:txBody>
          <a:bodyPr/>
          <a:lstStyle/>
          <a:p>
            <a:r>
              <a:rPr lang="en-US"/>
              <a:t>Sigrid portfolio hygiene</a:t>
            </a:r>
            <a:endParaRPr lang="en-US" dirty="0"/>
          </a:p>
        </p:txBody>
      </p:sp>
      <p:sp>
        <p:nvSpPr>
          <p:cNvPr id="5" name="Slide Number Placeholder 4">
            <a:extLst>
              <a:ext uri="{FF2B5EF4-FFF2-40B4-BE49-F238E27FC236}">
                <a16:creationId xmlns:a16="http://schemas.microsoft.com/office/drawing/2014/main" id="{3A6B275E-9687-84C1-BAB5-0DAE4218D09F}"/>
              </a:ext>
            </a:extLst>
          </p:cNvPr>
          <p:cNvSpPr>
            <a:spLocks noGrp="1"/>
          </p:cNvSpPr>
          <p:nvPr>
            <p:ph type="sldNum" sz="quarter" idx="15"/>
          </p:nvPr>
        </p:nvSpPr>
        <p:spPr/>
        <p:txBody>
          <a:bodyPr/>
          <a:lstStyle/>
          <a:p>
            <a:fld id="{E242BD21-9B61-2246-BCB1-4BE5E1BEBE1C}" type="slidenum">
              <a:rPr lang="nl-NL" smtClean="0"/>
              <a:pPr/>
              <a:t>6</a:t>
            </a:fld>
            <a:endParaRPr lang="nl-NL"/>
          </a:p>
        </p:txBody>
      </p:sp>
      <p:sp>
        <p:nvSpPr>
          <p:cNvPr id="6" name="Title 5">
            <a:extLst>
              <a:ext uri="{FF2B5EF4-FFF2-40B4-BE49-F238E27FC236}">
                <a16:creationId xmlns:a16="http://schemas.microsoft.com/office/drawing/2014/main" id="{E471E740-C96B-E177-A48D-9DDFA9B4783A}"/>
              </a:ext>
            </a:extLst>
          </p:cNvPr>
          <p:cNvSpPr>
            <a:spLocks noGrp="1"/>
          </p:cNvSpPr>
          <p:nvPr>
            <p:ph type="title"/>
          </p:nvPr>
        </p:nvSpPr>
        <p:spPr/>
        <p:txBody>
          <a:bodyPr/>
          <a:lstStyle/>
          <a:p>
            <a:r>
              <a:rPr lang="en-US"/>
              <a:t>Number of systems covered by objectives</a:t>
            </a:r>
            <a:endParaRPr lang="en-US" dirty="0"/>
          </a:p>
        </p:txBody>
      </p:sp>
      <p:graphicFrame>
        <p:nvGraphicFramePr>
          <p:cNvPr id="8" name="OBJECTIVES_COVERAGE_CHART">
            <a:extLst>
              <a:ext uri="{FF2B5EF4-FFF2-40B4-BE49-F238E27FC236}">
                <a16:creationId xmlns:a16="http://schemas.microsoft.com/office/drawing/2014/main" id="{0EEA915C-1522-0D70-85F6-DB14A1F8E992}"/>
              </a:ext>
            </a:extLst>
          </p:cNvPr>
          <p:cNvGraphicFramePr/>
          <p:nvPr>
            <p:extLst>
              <p:ext uri="{D42A27DB-BD31-4B8C-83A1-F6EECF244321}">
                <p14:modId xmlns:p14="http://schemas.microsoft.com/office/powerpoint/2010/main" val="1736691432"/>
              </p:ext>
            </p:extLst>
          </p:nvPr>
        </p:nvGraphicFramePr>
        <p:xfrm>
          <a:off x="1235282" y="2540951"/>
          <a:ext cx="9719035" cy="3723049"/>
        </p:xfrm>
        <a:graphic>
          <a:graphicData uri="http://schemas.openxmlformats.org/drawingml/2006/chart">
            <c:chart xmlns:c="http://schemas.openxmlformats.org/drawingml/2006/chart" xmlns:r="http://schemas.openxmlformats.org/officeDocument/2006/relationships" r:id="rId2"/>
          </a:graphicData>
        </a:graphic>
      </p:graphicFrame>
      <p:sp>
        <p:nvSpPr>
          <p:cNvPr id="3" name="Content Placeholder 2">
            <a:extLst>
              <a:ext uri="{FF2B5EF4-FFF2-40B4-BE49-F238E27FC236}">
                <a16:creationId xmlns:a16="http://schemas.microsoft.com/office/drawing/2014/main" id="{8279FF7D-CC98-58F5-DA1F-6B85E8AE0DF3}"/>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Having objectives set in Sigrid helps your teams to track the quality of the portfolio and gradually improve it over time.</a:t>
            </a:r>
          </a:p>
          <a:p>
            <a:pPr marL="285750" indent="-285750">
              <a:buFont typeface="Arial" panose="020B0604020202020204" pitchFamily="34" charset="0"/>
              <a:buChar char="•"/>
            </a:pPr>
            <a:r>
              <a:rPr lang="en-US"/>
              <a:t>If you have not yet defined objectives for all systems, you can learn how to so in the </a:t>
            </a:r>
            <a:r>
              <a:rPr lang="en-US">
                <a:hlinkClick r:id="rId3"/>
              </a:rPr>
              <a:t>Sigrid documentation</a:t>
            </a:r>
            <a:r>
              <a:rPr lang="en-US"/>
              <a:t>.</a:t>
            </a:r>
            <a:endParaRPr lang="en-US" dirty="0"/>
          </a:p>
        </p:txBody>
      </p:sp>
      <p:sp>
        <p:nvSpPr>
          <p:cNvPr id="11" name="Footer Placeholder 5">
            <a:extLst>
              <a:ext uri="{FF2B5EF4-FFF2-40B4-BE49-F238E27FC236}">
                <a16:creationId xmlns:a16="http://schemas.microsoft.com/office/drawing/2014/main" id="{5AD26C79-29F6-03B3-8BCE-68F31D64F07D}"/>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9416355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2077868"/>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3396447"/>
          </a:xfrm>
        </p:spPr>
        <p:txBody>
          <a:bodyPr/>
          <a:lstStyle/>
          <a:p>
            <a:r>
              <a:rPr lang="en-GB" dirty="0"/>
              <a:t>Report context</a:t>
            </a:r>
          </a:p>
          <a:p>
            <a:r>
              <a:rPr lang="en-GB" dirty="0"/>
              <a:t>Sigrid portfolio hygiene</a:t>
            </a:r>
          </a:p>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2878443"/>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Overall status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Status per capability</a:t>
              </a:r>
            </a:p>
          </p:txBody>
        </p:sp>
      </p:grpSp>
    </p:spTree>
    <p:extLst>
      <p:ext uri="{BB962C8B-B14F-4D97-AF65-F5344CB8AC3E}">
        <p14:creationId xmlns:p14="http://schemas.microsoft.com/office/powerpoint/2010/main" val="275785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Overall objectives status on 8 March 2026</a:t>
            </a:r>
          </a:p>
        </p:txBody>
      </p:sp>
      <p:graphicFrame>
        <p:nvGraphicFramePr>
          <p:cNvPr id="6" name="PROGRESS_STATUS_CHART">
            <a:extLst>
              <a:ext uri="{FF2B5EF4-FFF2-40B4-BE49-F238E27FC236}">
                <a16:creationId xmlns:a16="http://schemas.microsoft.com/office/drawing/2014/main" id="{9A17AFA3-FC96-B65B-0A6A-D4A1754157FE}"/>
              </a:ext>
            </a:extLst>
          </p:cNvPr>
          <p:cNvGraphicFramePr/>
          <p:nvPr>
            <p:extLst>
              <p:ext uri="{D42A27DB-BD31-4B8C-83A1-F6EECF244321}">
                <p14:modId xmlns:p14="http://schemas.microsoft.com/office/powerpoint/2010/main" val="1490064785"/>
              </p:ext>
            </p:extLst>
          </p:nvPr>
        </p:nvGraphicFramePr>
        <p:xfrm>
          <a:off x="478224" y="3496084"/>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D9A08C5B-250B-FC47-1AD3-3C078984145A}"/>
              </a:ext>
            </a:extLst>
          </p:cNvPr>
          <p:cNvSpPr txBox="1"/>
          <p:nvPr/>
        </p:nvSpPr>
        <p:spPr>
          <a:xfrm>
            <a:off x="681046" y="3268366"/>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8F572F14-0D3C-878A-7DE9-450027AF1F97}"/>
              </a:ext>
            </a:extLst>
          </p:cNvPr>
          <p:cNvSpPr txBox="1"/>
          <p:nvPr/>
        </p:nvSpPr>
        <p:spPr>
          <a:xfrm>
            <a:off x="4790650" y="5256482"/>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Content Placeholder 2">
            <a:extLst>
              <a:ext uri="{FF2B5EF4-FFF2-40B4-BE49-F238E27FC236}">
                <a16:creationId xmlns:a16="http://schemas.microsoft.com/office/drawing/2014/main" id="{04D86E77-66CA-8A40-67D2-22546FF2E582}"/>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Having objectives set in Sigrid helps you track the quality of the portfolio and gradually improve it over time.</a:t>
            </a:r>
          </a:p>
          <a:p>
            <a:pPr marL="285750" indent="-285750">
              <a:buFont typeface="Arial" panose="020B0604020202020204" pitchFamily="34" charset="0"/>
              <a:buChar char="•"/>
            </a:pPr>
            <a:r>
              <a:rPr lang="en-US" dirty="0"/>
              <a:t>If you have already set objectives, you can see below how many of them are currently completed and how much work is left to do.</a:t>
            </a:r>
          </a:p>
          <a:p>
            <a:pPr marL="285750" indent="-285750">
              <a:buFont typeface="Arial" panose="020B0604020202020204" pitchFamily="34" charset="0"/>
              <a:buChar char="•"/>
            </a:pPr>
            <a:r>
              <a:rPr lang="en-US" dirty="0"/>
              <a:t>If you have not yet defined objectives, you can use the insights in this presentation on the current quality of your portfolio to do so.</a:t>
            </a:r>
          </a:p>
        </p:txBody>
      </p:sp>
      <p:sp>
        <p:nvSpPr>
          <p:cNvPr id="7" name="Footer Placeholder 5">
            <a:extLst>
              <a:ext uri="{FF2B5EF4-FFF2-40B4-BE49-F238E27FC236}">
                <a16:creationId xmlns:a16="http://schemas.microsoft.com/office/drawing/2014/main" id="{1A1C669E-868F-5C5F-C159-D257CADC15AC}"/>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78098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Status of objectives per capability on 8 March 2026</a:t>
            </a:r>
          </a:p>
        </p:txBody>
      </p:sp>
      <p:graphicFrame>
        <p:nvGraphicFramePr>
          <p:cNvPr id="6" name="PROGRESS_CAPABILITY_CHART">
            <a:extLst>
              <a:ext uri="{FF2B5EF4-FFF2-40B4-BE49-F238E27FC236}">
                <a16:creationId xmlns:a16="http://schemas.microsoft.com/office/drawing/2014/main" id="{2774041C-71AE-0495-78BB-3253007E9E90}"/>
              </a:ext>
            </a:extLst>
          </p:cNvPr>
          <p:cNvGraphicFramePr/>
          <p:nvPr>
            <p:extLst>
              <p:ext uri="{D42A27DB-BD31-4B8C-83A1-F6EECF244321}">
                <p14:modId xmlns:p14="http://schemas.microsoft.com/office/powerpoint/2010/main" val="2956673381"/>
              </p:ext>
            </p:extLst>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56AFC1FD-CEB1-995E-247C-183F6F25A651}"/>
              </a:ext>
            </a:extLst>
          </p:cNvPr>
          <p:cNvSpPr txBox="1"/>
          <p:nvPr/>
        </p:nvSpPr>
        <p:spPr>
          <a:xfrm>
            <a:off x="4790650" y="5922481"/>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Footer Placeholder 5">
            <a:extLst>
              <a:ext uri="{FF2B5EF4-FFF2-40B4-BE49-F238E27FC236}">
                <a16:creationId xmlns:a16="http://schemas.microsoft.com/office/drawing/2014/main" id="{A9C608DA-694C-3895-9324-CF9DC8B04B8D}"/>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709089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2758785"/>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4058166"/>
          </a:xfrm>
        </p:spPr>
        <p:txBody>
          <a:bodyPr/>
          <a:lstStyle/>
          <a:p>
            <a:r>
              <a:rPr lang="en-GB" dirty="0"/>
              <a:t>Report context</a:t>
            </a:r>
          </a:p>
          <a:p>
            <a:r>
              <a:rPr lang="en-GB" dirty="0"/>
              <a:t>Sigrid portfolio hygiene</a:t>
            </a:r>
          </a:p>
          <a:p>
            <a:r>
              <a:rPr lang="en-GB" dirty="0"/>
              <a:t>Objectives</a:t>
            </a:r>
          </a:p>
          <a:p>
            <a:r>
              <a:rPr lang="en-GB" dirty="0"/>
              <a:t>Portfolio trends</a:t>
            </a:r>
          </a:p>
          <a:p>
            <a:endParaRPr lang="en-GB" dirty="0"/>
          </a:p>
          <a:p>
            <a:endParaRPr lang="en-GB" dirty="0"/>
          </a:p>
        </p:txBody>
      </p:sp>
      <p:grpSp>
        <p:nvGrpSpPr>
          <p:cNvPr id="32" name="Group 31">
            <a:extLst>
              <a:ext uri="{FF2B5EF4-FFF2-40B4-BE49-F238E27FC236}">
                <a16:creationId xmlns:a16="http://schemas.microsoft.com/office/drawing/2014/main" id="{63AEFF71-AFAA-2A9B-1B52-69C00DF203AA}"/>
              </a:ext>
            </a:extLst>
          </p:cNvPr>
          <p:cNvGrpSpPr/>
          <p:nvPr/>
        </p:nvGrpSpPr>
        <p:grpSpPr>
          <a:xfrm>
            <a:off x="5682921" y="3488315"/>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Architecture</a:t>
              </a:r>
            </a:p>
          </p:txBody>
        </p:sp>
      </p:grpSp>
      <p:grpSp>
        <p:nvGrpSpPr>
          <p:cNvPr id="10" name="Group 9">
            <a:extLst>
              <a:ext uri="{FF2B5EF4-FFF2-40B4-BE49-F238E27FC236}">
                <a16:creationId xmlns:a16="http://schemas.microsoft.com/office/drawing/2014/main" id="{143C0B0B-ED22-142B-A9CD-BAA7FAF50C31}"/>
              </a:ext>
            </a:extLst>
          </p:cNvPr>
          <p:cNvGrpSpPr/>
          <p:nvPr/>
        </p:nvGrpSpPr>
        <p:grpSpPr>
          <a:xfrm>
            <a:off x="5682922" y="4097912"/>
            <a:ext cx="5119353" cy="332898"/>
            <a:chOff x="5682921" y="2898499"/>
            <a:chExt cx="5119353" cy="332898"/>
          </a:xfrm>
        </p:grpSpPr>
        <p:sp>
          <p:nvSpPr>
            <p:cNvPr id="11" name="Rectangle 5">
              <a:extLst>
                <a:ext uri="{FF2B5EF4-FFF2-40B4-BE49-F238E27FC236}">
                  <a16:creationId xmlns:a16="http://schemas.microsoft.com/office/drawing/2014/main" id="{47BAAC54-EE45-F1AF-80E5-0327EFBDE8CA}"/>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5" name="Rectangle 12">
              <a:extLst>
                <a:ext uri="{FF2B5EF4-FFF2-40B4-BE49-F238E27FC236}">
                  <a16:creationId xmlns:a16="http://schemas.microsoft.com/office/drawing/2014/main" id="{5C965501-DB29-F3B2-092B-EE8EBEEE535D}"/>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4</a:t>
              </a:r>
            </a:p>
          </p:txBody>
        </p:sp>
        <p:sp>
          <p:nvSpPr>
            <p:cNvPr id="17" name="TextBox 6">
              <a:extLst>
                <a:ext uri="{FF2B5EF4-FFF2-40B4-BE49-F238E27FC236}">
                  <a16:creationId xmlns:a16="http://schemas.microsoft.com/office/drawing/2014/main" id="{21034DE5-129E-322B-E133-4976C59FE493}"/>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sp>
          <p:nvSpPr>
            <p:cNvPr id="18" name="TextBox 18">
              <a:extLst>
                <a:ext uri="{FF2B5EF4-FFF2-40B4-BE49-F238E27FC236}">
                  <a16:creationId xmlns:a16="http://schemas.microsoft.com/office/drawing/2014/main" id="{314E0D16-B487-D155-FBA6-1606DD728846}"/>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sp>
        <p:nvSpPr>
          <p:cNvPr id="6" name="Footer Placeholder 5">
            <a:extLst>
              <a:ext uri="{FF2B5EF4-FFF2-40B4-BE49-F238E27FC236}">
                <a16:creationId xmlns:a16="http://schemas.microsoft.com/office/drawing/2014/main" id="{1EF2CB95-9458-0410-67B8-D0010F7323BD}"/>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277002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About 7 (58%) systems score market average on maintainability</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2.5</a:t>
            </a:r>
            <a:r>
              <a:rPr lang="en-US" sz="100" dirty="0"/>
              <a:t> </a:t>
            </a:r>
            <a:r>
              <a:rPr lang="en-US" dirty="0"/>
              <a:t>★.</a:t>
            </a:r>
          </a:p>
          <a:p>
            <a:pPr indent="-283845"/>
            <a:r>
              <a:rPr lang="en-US" dirty="0"/>
              <a:t>8</a:t>
            </a:r>
            <a:r>
              <a:rPr lang="en-GB" sz="1550" noProof="0" dirty="0"/>
              <a:t>% of systems score above market average (≥3.5</a:t>
            </a:r>
            <a:r>
              <a:rPr lang="en-US" sz="1400" dirty="0"/>
              <a:t>★</a:t>
            </a:r>
            <a:r>
              <a:rPr lang="en-GB" sz="1550" noProof="0" dirty="0"/>
              <a:t>).</a:t>
            </a:r>
          </a:p>
          <a:p>
            <a:pPr indent="-283845"/>
            <a:r>
              <a:rPr lang="en-US" dirty="0"/>
              <a:t>58</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33</a:t>
            </a:r>
            <a:r>
              <a:rPr lang="en-GB" sz="1550" dirty="0">
                <a:ea typeface="Calibri"/>
                <a:cs typeface="Calibri"/>
              </a:rPr>
              <a:t>% of systems score below market average (≤2.5</a:t>
            </a:r>
            <a:r>
              <a:rPr lang="en-US" sz="1400" dirty="0"/>
              <a:t>★</a:t>
            </a:r>
            <a:r>
              <a:rPr lang="en-GB" sz="1550" dirty="0">
                <a:ea typeface="Calibri"/>
                <a:cs typeface="Calibri"/>
              </a:rPr>
              <a:t>).</a:t>
            </a:r>
          </a:p>
        </p:txBody>
      </p:sp>
      <p:sp>
        <p:nvSpPr>
          <p:cNvPr id="3" name="Footer Placeholder 5">
            <a:extLst>
              <a:ext uri="{FF2B5EF4-FFF2-40B4-BE49-F238E27FC236}">
                <a16:creationId xmlns:a16="http://schemas.microsoft.com/office/drawing/2014/main" id="{82359267-D9DF-5DAD-4FF7-F4F7A208FD08}"/>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5" name="Picture 44"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5349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012217" cy="228209"/>
          </a:xfrm>
        </p:spPr>
        <p:txBody>
          <a:bodyPr/>
          <a:lstStyle/>
          <a:p>
            <a:r>
              <a:rPr lang="en-US" dirty="0"/>
              <a:t>Portfolio trends - Maintainability</a:t>
            </a:r>
            <a:endParaRPr lang="en-US" noProof="0" dirty="0"/>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GB" dirty="0"/>
              <a:t>About 7 (58%) systems score market average on maintainability</a:t>
            </a:r>
            <a:endParaRPr lang="en-US" noProof="0" dirty="0"/>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PORTFOLIO_GALAXY_CHART">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5" name="Tijdelijke aanduiding voor voettekst 1">
            <a:extLst>
              <a:ext uri="{FF2B5EF4-FFF2-40B4-BE49-F238E27FC236}">
                <a16:creationId xmlns:a16="http://schemas.microsoft.com/office/drawing/2014/main" id="{8BBB7104-DB0E-37E3-6567-BE521D1AD43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729317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a:xfrm>
            <a:off x="154800" y="594000"/>
            <a:ext cx="11880000" cy="402291"/>
          </a:xfrm>
        </p:spPr>
        <p:txBody>
          <a:bodyPr/>
          <a:lstStyle/>
          <a:p>
            <a:r>
              <a:rPr lang="en-GB" dirty="0"/>
              <a:t>Test-to-production code ratios of the portfolio on 8 March 2026</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25% systems have a test code ratio of &lt; 50%.</a:t>
            </a:r>
          </a:p>
          <a:p>
            <a:pPr indent="-283845"/>
            <a:r>
              <a:rPr lang="en-GB" sz="1550" dirty="0"/>
              <a:t>42% of systems have a test code ratio between 50% and 100%.</a:t>
            </a:r>
          </a:p>
          <a:p>
            <a:pPr indent="-283845"/>
            <a:r>
              <a:rPr lang="en-GB" sz="1550" dirty="0"/>
              <a:t>33% of systems have a test code ratio ≥ 100%</a:t>
            </a:r>
          </a:p>
        </p:txBody>
      </p:sp>
      <p:sp>
        <p:nvSpPr>
          <p:cNvPr id="4" name="Footer Placeholder 5">
            <a:extLst>
              <a:ext uri="{FF2B5EF4-FFF2-40B4-BE49-F238E27FC236}">
                <a16:creationId xmlns:a16="http://schemas.microsoft.com/office/drawing/2014/main" id="{0476B414-9DA5-568A-1156-7476C19E0ADD}"/>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7" name="Picture 46"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976464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568"/>
            <a:ext cx="2759263" cy="228209"/>
          </a:xfrm>
        </p:spPr>
        <p:txBody>
          <a:bodyPr/>
          <a:lstStyle/>
          <a:p>
            <a:r>
              <a:rPr lang="en-GB" dirty="0"/>
              <a:t>Portfolio trends – Architecture</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a:xfrm>
            <a:off x="154800" y="594000"/>
            <a:ext cx="11880000" cy="402291"/>
          </a:xfrm>
        </p:spPr>
        <p:txBody>
          <a:bodyPr/>
          <a:lstStyle/>
          <a:p>
            <a:r>
              <a:rPr lang="en-GB" dirty="0"/>
              <a:t>Architecture ratings of the portfolio on 8 March 2026</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Architecture Quality rating for the portfolio is 2.4</a:t>
            </a:r>
            <a:r>
              <a:rPr lang="en-US" sz="100" dirty="0"/>
              <a:t> </a:t>
            </a:r>
            <a:r>
              <a:rPr lang="en-US" dirty="0"/>
              <a:t>★.</a:t>
            </a:r>
          </a:p>
          <a:p>
            <a:pPr indent="-283845"/>
            <a:r>
              <a:rPr lang="en-US" dirty="0"/>
              <a:t>25% of systems score above market average for Architecture Quality (≥3.5★).</a:t>
            </a:r>
          </a:p>
          <a:p>
            <a:pPr indent="-283845"/>
            <a:r>
              <a:rPr lang="en-US" dirty="0"/>
              <a:t>33% of systems score market average for Architecture Quality (3★).</a:t>
            </a:r>
          </a:p>
          <a:p>
            <a:pPr indent="-283845"/>
            <a:r>
              <a:rPr lang="en-US" dirty="0"/>
              <a:t>42% of systems score below market average for Architecture Quality (≤2.5★).</a:t>
            </a:r>
          </a:p>
        </p:txBody>
      </p:sp>
      <p:sp>
        <p:nvSpPr>
          <p:cNvPr id="4" name="Footer Placeholder 5">
            <a:extLst>
              <a:ext uri="{FF2B5EF4-FFF2-40B4-BE49-F238E27FC236}">
                <a16:creationId xmlns:a16="http://schemas.microsoft.com/office/drawing/2014/main" id="{0A35FFDE-258C-B923-8BFA-686A042F4E14}"/>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483869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a:xfrm>
            <a:off x="154800" y="594000"/>
            <a:ext cx="11880000" cy="402291"/>
          </a:xfrm>
        </p:spPr>
        <p:txBody>
          <a:bodyPr/>
          <a:lstStyle/>
          <a:p>
            <a:r>
              <a:rPr lang="en-GB" dirty="0"/>
              <a:t>Open-source health ratings of the portfolio on 8 March 2026</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Open Source Health rating for the portfolio is 2.9</a:t>
            </a:r>
            <a:r>
              <a:rPr lang="en-US" sz="100" dirty="0"/>
              <a:t> </a:t>
            </a:r>
            <a:r>
              <a:rPr lang="en-US" dirty="0"/>
              <a:t>★.</a:t>
            </a:r>
          </a:p>
          <a:p>
            <a:pPr indent="-283845"/>
            <a:r>
              <a:rPr lang="en-GB" dirty="0"/>
              <a:t>33% of systems score above market average for Open Source Health (≥3.5★).</a:t>
            </a:r>
          </a:p>
          <a:p>
            <a:pPr indent="-283845"/>
            <a:r>
              <a:rPr lang="en-US" dirty="0"/>
              <a:t>42% of systems score market average for Open Source Health (3★).</a:t>
            </a:r>
          </a:p>
          <a:p>
            <a:pPr indent="-283845"/>
            <a:r>
              <a:rPr lang="en-US" dirty="0"/>
              <a:t>25% of systems score below market average for Open Source Health (≤2.5★).</a:t>
            </a:r>
          </a:p>
        </p:txBody>
      </p:sp>
      <p:sp>
        <p:nvSpPr>
          <p:cNvPr id="4" name="Footer Placeholder 5">
            <a:extLst>
              <a:ext uri="{FF2B5EF4-FFF2-40B4-BE49-F238E27FC236}">
                <a16:creationId xmlns:a16="http://schemas.microsoft.com/office/drawing/2014/main" id="{CD0BEDA0-A614-7EF6-D020-A50AEBD31A20}"/>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4" name="Picture 4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745401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67% of dependencies (64 in total) used in the system contain one or more known vulnerabilities.</a:t>
            </a:r>
          </a:p>
          <a:p>
            <a:r>
              <a:rPr lang="en-US" dirty="0"/>
              <a:t>50% of dependencies (48 in total) uses a potentially restrictive open-source license (e.g. GPL/AGPL).</a:t>
            </a:r>
          </a:p>
          <a:p>
            <a:r>
              <a:rPr lang="en-US" dirty="0"/>
              <a:t>50% of dependencies (48 in total) used in the system have not been updated for over 2 years.</a:t>
            </a:r>
          </a:p>
          <a:p>
            <a:r>
              <a:rPr lang="en-US" dirty="0"/>
              <a:t>67% of dependencies (64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96</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0</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0</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0</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0</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96</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16</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2608722614"/>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5">
            <a:extLst>
              <a:ext uri="{FF2B5EF4-FFF2-40B4-BE49-F238E27FC236}">
                <a16:creationId xmlns:a16="http://schemas.microsoft.com/office/drawing/2014/main" id="{45FEEADB-79FE-B13B-140F-962C130AA548}"/>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2811049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568"/>
            <a:ext cx="2421992" cy="228209"/>
          </a:xfrm>
        </p:spPr>
        <p:txBody>
          <a:bodyPr/>
          <a:lstStyle/>
          <a:p>
            <a:r>
              <a:rPr lang="en-GB"/>
              <a:t>Portfolio trends – Security</a:t>
            </a:r>
            <a:endParaRPr lang="en-GB" dirty="0"/>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a:xfrm>
            <a:off x="154800" y="594000"/>
            <a:ext cx="11880000" cy="402291"/>
          </a:xfrm>
        </p:spPr>
        <p:txBody>
          <a:bodyPr/>
          <a:lstStyle/>
          <a:p>
            <a:r>
              <a:rPr lang="en-GB"/>
              <a:t>Security ratings of the portfolio on 8 March 2026</a:t>
            </a:r>
            <a:endParaRPr lang="en-GB" dirty="0"/>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Security rating for the portfolio is 3.7</a:t>
            </a:r>
            <a:r>
              <a:rPr lang="en-US" sz="100" dirty="0"/>
              <a:t> </a:t>
            </a:r>
            <a:r>
              <a:rPr lang="en-US" dirty="0"/>
              <a:t>★.</a:t>
            </a:r>
          </a:p>
          <a:p>
            <a:pPr indent="-283845"/>
            <a:r>
              <a:rPr lang="en-GB" dirty="0"/>
              <a:t>33% of systems score above market average for Security (≥3.5★).</a:t>
            </a:r>
          </a:p>
          <a:p>
            <a:pPr indent="-283845"/>
            <a:r>
              <a:rPr lang="en-US" dirty="0"/>
              <a:t>33% of systems score market average for Security (3★).</a:t>
            </a:r>
          </a:p>
          <a:p>
            <a:pPr indent="-283845"/>
            <a:r>
              <a:rPr lang="en-US" dirty="0"/>
              <a:t>33% of systems score below market average for Security(≤2.5★).</a:t>
            </a:r>
          </a:p>
        </p:txBody>
      </p:sp>
      <p:sp>
        <p:nvSpPr>
          <p:cNvPr id="10" name="Footer Placeholder 5">
            <a:extLst>
              <a:ext uri="{FF2B5EF4-FFF2-40B4-BE49-F238E27FC236}">
                <a16:creationId xmlns:a16="http://schemas.microsoft.com/office/drawing/2014/main" id="{2FB0E97C-F974-577B-FB38-C4432CA701BB}"/>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409253076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18476</TotalTime>
  <Words>1328</Words>
  <Application>Microsoft Macintosh PowerPoint</Application>
  <PresentationFormat>Widescreen</PresentationFormat>
  <Paragraphs>211</Paragraphs>
  <Slides>17</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17</vt:i4>
      </vt:variant>
    </vt:vector>
  </HeadingPairs>
  <TitlesOfParts>
    <vt:vector size="30" baseType="lpstr">
      <vt:lpstr>☞NOIR PRO MEDIUM</vt:lpstr>
      <vt:lpstr>Arial</vt:lpstr>
      <vt:lpstr>Azeret Mono</vt:lpstr>
      <vt:lpstr>Azeret Mono Medium</vt:lpstr>
      <vt:lpstr>Calibri</vt:lpstr>
      <vt:lpstr>Calibri Bold</vt:lpstr>
      <vt:lpstr>Helvetica Neue Bold</vt:lpstr>
      <vt:lpstr>Noir Pro</vt:lpstr>
      <vt:lpstr>Noir Pro Medium</vt:lpstr>
      <vt:lpstr>Noir Pro Semi Bold</vt:lpstr>
      <vt:lpstr>TheSansMono M5</vt:lpstr>
      <vt:lpstr>Light theme (default)</vt:lpstr>
      <vt:lpstr>Dark theme</vt:lpstr>
      <vt:lpstr>PowerPoint Presentation</vt:lpstr>
      <vt:lpstr>Outline of topics</vt:lpstr>
      <vt:lpstr>Introduction to the baseline report</vt:lpstr>
      <vt:lpstr>Outline of topics</vt:lpstr>
      <vt:lpstr>Metadata completeness per field</vt:lpstr>
      <vt:lpstr>Number of systems covered by objectives</vt:lpstr>
      <vt:lpstr>Outline of topics</vt:lpstr>
      <vt:lpstr>Overall objectives status on PORTFOLIO_PERIOD_END_DATE</vt:lpstr>
      <vt:lpstr>Status of objectives per capability on PORTFOLIO_PERIOD_END_DATE</vt:lpstr>
      <vt:lpstr>Index</vt:lpstr>
      <vt:lpstr>PORTFOLIO_PERIOD_MAINT_SHORT_SUMMARY</vt:lpstr>
      <vt:lpstr>PORTFOLIO_PERIOD_MAINT_SHORT_SUMMARY</vt:lpstr>
      <vt:lpstr>Test-to-production code ratios of the portfolio on PORTFOLIO_PERIOD_END_DATE</vt:lpstr>
      <vt:lpstr>Architecture ratings of the portfolio on PORTFOLIO_PERIOD_END_DATE</vt:lpstr>
      <vt:lpstr>Open-source health ratings of the portfolio on PORTFOLIO_PERIOD_END_DATE</vt:lpstr>
      <vt:lpstr>Overall Open Source Health Library Risks Overview</vt:lpstr>
      <vt:lpstr>Security ratings of the portfolio on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189</cp:revision>
  <cp:lastPrinted>2020-04-20T09:37:43Z</cp:lastPrinted>
  <dcterms:created xsi:type="dcterms:W3CDTF">2025-10-22T11:22:13Z</dcterms:created>
  <dcterms:modified xsi:type="dcterms:W3CDTF">2026-05-19T13:07:53Z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