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98"/>
    <p:restoredTop sz="96763"/>
  </p:normalViewPr>
  <p:slideViewPr>
    <p:cSldViewPr snapToGrid="0" snapToObjects="1" showGuides="1">
      <p:cViewPr varScale="1">
        <p:scale>
          <a:sx n="127" d="100"/>
          <a:sy n="127" d="100"/>
        </p:scale>
        <p:origin x="92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0</c:v>
                </c:pt>
                <c:pt idx="1">
                  <c:v>0</c:v>
                </c:pt>
                <c:pt idx="2">
                  <c:v>0</c:v>
                </c:pt>
                <c:pt idx="3">
                  <c:v>0</c:v>
                </c:pt>
                <c:pt idx="4">
                  <c:v>0</c:v>
                </c:pt>
                <c:pt idx="5">
                  <c:v>0</c:v>
                </c:pt>
                <c:pt idx="6">
                  <c:v>0</c:v>
                </c:pt>
                <c:pt idx="7">
                  <c:v>0</c:v>
                </c:pt>
                <c:pt idx="8">
                  <c:v>0</c:v>
                </c:pt>
                <c:pt idx="9">
                  <c:v>0</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12</c:v>
                </c:pt>
                <c:pt idx="1">
                  <c:v>0</c:v>
                </c:pt>
                <c:pt idx="2">
                  <c:v>12</c:v>
                </c:pt>
                <c:pt idx="3">
                  <c:v>12</c:v>
                </c:pt>
                <c:pt idx="4">
                  <c:v>12</c:v>
                </c:pt>
                <c:pt idx="5">
                  <c:v>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Sheet1!$B$2:$B$2</c:f>
              <c:numCache>
                <c:formatCode>General</c:formatCode>
                <c:ptCount val="1"/>
                <c:pt idx="0">
                  <c:v>50.0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Sheet1!$C$2:$C$2</c:f>
              <c:numCache>
                <c:formatCode>General</c:formatCode>
                <c:ptCount val="1"/>
                <c:pt idx="0">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Overall</c:v>
                </c:pt>
              </c:strCache>
            </c:strRef>
          </c:cat>
          <c:val>
            <c:numRef>
              <c:f>Sheet1!$D$2:$D$2</c:f>
              <c:numCache>
                <c:formatCode>General</c:formatCode>
                <c:ptCount val="1"/>
                <c:pt idx="0">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dLbls>
            <c:delete val="1"/>
          </c:dLbls>
          <c:cat>
            <c:strRef>
              <c:f>Sheet1!$A$2:$A$2</c:f>
              <c:strCache>
                <c:ptCount val="1"/>
                <c:pt idx="0">
                  <c:v>Overall</c:v>
                </c:pt>
              </c:strCache>
            </c:strRef>
          </c:cat>
          <c:val>
            <c:numRef>
              <c:f>Sheet1!$E$2:$E$2</c:f>
              <c:numCache>
                <c:formatCode>General</c:formatCode>
                <c:ptCount val="1"/>
                <c:pt idx="0">
                  <c:v>50.0</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Sheet1!$B$2:$B$5</c:f>
              <c:numCache>
                <c:formatCode>General</c:formatCode>
                <c:ptCount val="4"/>
                <c:pt idx="0">
                  <c:v>0.0</c:v>
                </c:pt>
                <c:pt idx="1">
                  <c:v>33.0</c:v>
                </c:pt>
                <c:pt idx="2">
                  <c:v>73.0</c:v>
                </c:pt>
                <c:pt idx="3">
                  <c:v>46.0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Percentage of portfolio</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Sheet1!$C$2:$C$5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Percentage of portfolio</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Security</c:v>
                </c:pt>
                <c:pt idx="1">
                  <c:v>Open Source Health</c:v>
                </c:pt>
                <c:pt idx="2">
                  <c:v>Architecture Quality</c:v>
                </c:pt>
                <c:pt idx="3">
                  <c:v>Maintainability</c:v>
                </c:pt>
              </c:strCache>
            </c:strRef>
          </c:cat>
          <c:val>
            <c:numRef>
              <c:f>Sheet1!$D$2:$D$5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Percentage of portfolio</c:v>
                </c:pt>
              </c:strCache>
            </c:strRef>
          </c:tx>
          <c:spPr>
            <a:solidFill>
              <a:srgbClr val="BFC4D0"/>
            </a:solidFill>
            <a:ln w="19050">
              <a:noFill/>
            </a:ln>
            <a:effectLst/>
          </c:spPr>
          <c:invertIfNegative val="0"/>
          <c:cat>
            <c:strRef>
              <c:f>Sheet1!$A$2:$A$5</c:f>
              <c:strCache>
                <c:ptCount val="4"/>
                <c:pt idx="0">
                  <c:v>Security</c:v>
                </c:pt>
                <c:pt idx="1">
                  <c:v>Open Source Health</c:v>
                </c:pt>
                <c:pt idx="2">
                  <c:v>Architecture Quality</c:v>
                </c:pt>
                <c:pt idx="3">
                  <c:v>Maintainability</c:v>
                </c:pt>
              </c:strCache>
            </c:strRef>
          </c:cat>
          <c:val>
            <c:numRef>
              <c:f>Sheet1!$E$2:$E$5</c:f>
              <c:numCache>
                <c:formatCode>General</c:formatCode>
                <c:ptCount val="4"/>
                <c:pt idx="0">
                  <c:v>100.0</c:v>
                </c:pt>
                <c:pt idx="1">
                  <c:v>66.66666666666666</c:v>
                </c:pt>
                <c:pt idx="2">
                  <c:v>27.272727272727266</c:v>
                </c:pt>
                <c:pt idx="3">
                  <c:v>53.84615384615385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Portfolio</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t>integrationtest-zuul</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r>
                      <a:t>integrationtest-facebookyoga</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r>
                      <a:t>integrationtest-jruby</a:t>
                    </a:r>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r>
                      <a:t>integrationtest-webpack</a:t>
                    </a:r>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r>
                      <a:t>integrationtest-git</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r>
                      <a:t>integrationtest-bazel</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r>
                      <a:t>integrationtest-electron</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r>
                      <a:t>integrationtest-druid</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r>
                      <a:t>integrationtest-kafka</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r>
                      <a:t>integrationtest-airflow</a:t>
                    </a:r>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dLbl>
              <c:idx val="10"/>
              <c:tx>
                <c:rich>
                  <a:bodyPr/>
                  <a:lstStyle/>
                  <a:p>
                    <a:r>
                      <a:t>integrationtest-vscode</a:t>
                    </a:r>
                  </a:p>
                </c:rich>
              </c:tx>
              <c:showLegendKey val="0"/>
              <c:showVal val="1"/>
              <c:showCatName val="0"/>
              <c:showSerName val="0"/>
              <c:showPercent val="0"/>
              <c:showBubbleSize val="0"/>
            </c:dLbl>
            <c:dLbl>
              <c:idx val="11"/>
              <c:tx>
                <c:rich>
                  <a:bodyPr/>
                  <a:lstStyle/>
                  <a:p>
                    <a:r>
                      <a:t>integrationtest-elasticsearch</a:t>
                    </a:r>
                  </a:p>
                </c:rich>
              </c:tx>
              <c:showLegendKey val="0"/>
              <c:showVal val="1"/>
              <c:showCatName val="0"/>
              <c:showSerName val="0"/>
              <c:showPercent val="0"/>
              <c:showBubbleSize val="0"/>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Sheet1!$A$2:$A$13</c:f>
              <c:numCache>
                <c:formatCode>General</c:formatCode>
                <c:ptCount val="12"/>
                <c:pt idx="0">
                  <c:v>2.1457777777777776</c:v>
                </c:pt>
                <c:pt idx="1">
                  <c:v>3.6036445657400105</c:v>
                </c:pt>
                <c:pt idx="2">
                  <c:v>36.35964730933028</c:v>
                </c:pt>
                <c:pt idx="3">
                  <c:v>10.991592990840298</c:v>
                </c:pt>
                <c:pt idx="4">
                  <c:v>36.830844725281914</c:v>
                </c:pt>
                <c:pt idx="5">
                  <c:v>6.7400960365853635</c:v>
                </c:pt>
                <c:pt idx="6">
                  <c:v>12.957363313311658</c:v>
                </c:pt>
                <c:pt idx="7">
                  <c:v>26.774372759856643</c:v>
                </c:pt>
                <c:pt idx="8">
                  <c:v>42.6041631944445</c:v>
                </c:pt>
                <c:pt idx="9">
                  <c:v>55.50518282469105</c:v>
                </c:pt>
                <c:pt idx="10">
                  <c:v>77.33298297129431</c:v>
                </c:pt>
                <c:pt idx="11">
                  <c:v>262.70099258506497</c:v>
                </c:pt>
              </c:numCache>
            </c:numRef>
          </c:xVal>
          <c:yVal>
            <c:numRef>
              <c:f>Sheet1!$B$2:$B$13</c:f>
              <c:numCache>
                <c:formatCode>General</c:formatCode>
                <c:ptCount val="12"/>
                <c:pt idx="0">
                  <c:v>3.359850166537113</c:v>
                </c:pt>
                <c:pt idx="1">
                  <c:v>2.9112640701670003</c:v>
                </c:pt>
                <c:pt idx="2">
                  <c:v>2.4421437427141464</c:v>
                </c:pt>
                <c:pt idx="3">
                  <c:v>3.0922316739084184</c:v>
                </c:pt>
                <c:pt idx="4">
                  <c:v>2.123208503605678</c:v>
                </c:pt>
                <c:pt idx="5">
                  <c:v>3.3472615146464455</c:v>
                </c:pt>
                <c:pt idx="6">
                  <c:v>3.557961475143022</c:v>
                </c:pt>
                <c:pt idx="7">
                  <c:v>2.5713015651373246</c:v>
                </c:pt>
                <c:pt idx="8">
                  <c:v>2.644363023714699</c:v>
                </c:pt>
                <c:pt idx="9">
                  <c:v>2.2502888470290587</c:v>
                </c:pt>
                <c:pt idx="10">
                  <c:v>3.0519608059230676</c:v>
                </c:pt>
                <c:pt idx="11">
                  <c:v>2.369866173752676</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85</c:v>
                </c:pt>
                <c:pt idx="1">
                  <c:v>0</c:v>
                </c:pt>
                <c:pt idx="2">
                  <c:v>0</c:v>
                </c:pt>
                <c:pt idx="3">
                  <c:v>93</c:v>
                </c:pt>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56</c:v>
                </c:pt>
                <c:pt idx="1">
                  <c:v>0</c:v>
                </c:pt>
                <c:pt idx="2">
                  <c:v>0</c:v>
                </c:pt>
                <c:pt idx="3">
                  <c:v>44</c:v>
                </c:pt>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59</c:v>
                </c:pt>
                <c:pt idx="1">
                  <c:v>30</c:v>
                </c:pt>
                <c:pt idx="2">
                  <c:v>84</c:v>
                </c:pt>
                <c:pt idx="3">
                  <c:v>80</c:v>
                </c:pt>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134</c:v>
                </c:pt>
                <c:pt idx="1">
                  <c:v>0</c:v>
                </c:pt>
                <c:pt idx="2">
                  <c:v>0</c:v>
                </c:pt>
                <c:pt idx="3">
                  <c:v>84</c:v>
                </c:pt>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67.40000000000003"/>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11</c:v>
                </c:pt>
                <c:pt idx="1">
                  <c:v>0</c:v>
                </c:pt>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pt idx="0">
                  <c:v>26</c:v>
                </c:pt>
                <c:pt idx="1">
                  <c:v>1</c:v>
                </c:pt>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pt idx="0">
                  <c:v>36</c:v>
                </c:pt>
                <c:pt idx="1">
                  <c:v>1</c:v>
                </c:pt>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6</c:v>
                </c:pt>
                <c:pt idx="1">
                  <c:v>35</c:v>
                </c:pt>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67.40000000000003"/>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5/19/26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
        <p:nvSpPr>
          <p:cNvPr id="5" name="Footer Placeholder 5">
            <a:extLst>
              <a:ext uri="{FF2B5EF4-FFF2-40B4-BE49-F238E27FC236}">
                <a16:creationId xmlns:a16="http://schemas.microsoft.com/office/drawing/2014/main" id="{B0C0C93F-2FEA-2A95-D1EB-F56E5131AF3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Footer Placeholder 5">
            <a:extLst>
              <a:ext uri="{FF2B5EF4-FFF2-40B4-BE49-F238E27FC236}">
                <a16:creationId xmlns:a16="http://schemas.microsoft.com/office/drawing/2014/main" id="{37650158-9378-BDA6-B989-A50961008A30}"/>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5">
            <a:extLst>
              <a:ext uri="{FF2B5EF4-FFF2-40B4-BE49-F238E27FC236}">
                <a16:creationId xmlns:a16="http://schemas.microsoft.com/office/drawing/2014/main" id="{29A1803D-62ED-5989-489B-04C2354098C9}"/>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Footer Placeholder 5">
            <a:extLst>
              <a:ext uri="{FF2B5EF4-FFF2-40B4-BE49-F238E27FC236}">
                <a16:creationId xmlns:a16="http://schemas.microsoft.com/office/drawing/2014/main" id="{88F0C024-5ADF-C9D1-7E6D-DA7E7F352B1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2" name="Footer Placeholder 5">
            <a:extLst>
              <a:ext uri="{FF2B5EF4-FFF2-40B4-BE49-F238E27FC236}">
                <a16:creationId xmlns:a16="http://schemas.microsoft.com/office/drawing/2014/main" id="{3D30C1FB-591F-4EC1-DBFA-7F1A47CAB3AF}"/>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0" name="Tijdelijke aanduiding voor voettekst 1">
            <a:extLst>
              <a:ext uri="{FF2B5EF4-FFF2-40B4-BE49-F238E27FC236}">
                <a16:creationId xmlns:a16="http://schemas.microsoft.com/office/drawing/2014/main" id="{1550FF2B-9973-D8E2-1D04-7D52FC7B445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
        <p:nvSpPr>
          <p:cNvPr id="13" name="Footer Placeholder 5">
            <a:extLst>
              <a:ext uri="{FF2B5EF4-FFF2-40B4-BE49-F238E27FC236}">
                <a16:creationId xmlns:a16="http://schemas.microsoft.com/office/drawing/2014/main" id="{8F0D1AEF-DE47-8489-6A2A-611156540ED5}"/>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4555" y="638273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Software-Improvement-Group/sigrid-report-generat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hyperlink" Target="https://docs.sigrid-says.com/capabilities/objectives.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tiff"/><Relationship Id="rId4" Type="http://schemas.openxmlformats.org/officeDocument/2006/relationships/chart" Target="../charts/chart5.xml"/><Relationship Id="rId5" Type="http://schemas.openxmlformats.org/officeDocument/2006/relationships/image" Target="../media/image1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sv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6.xml"/><Relationship Id="rId3"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svg"/><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Reportgeneratordemo</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
        <p:nvSpPr>
          <p:cNvPr id="5" name="Tijdelijke aanduiding voor voettekst 10">
            <a:extLst>
              <a:ext uri="{FF2B5EF4-FFF2-40B4-BE49-F238E27FC236}">
                <a16:creationId xmlns:a16="http://schemas.microsoft.com/office/drawing/2014/main" id="{03AAA943-ED6F-B90F-27FC-E22483CED91E}"/>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2" name="Footer Placeholder 5">
            <a:extLst>
              <a:ext uri="{FF2B5EF4-FFF2-40B4-BE49-F238E27FC236}">
                <a16:creationId xmlns:a16="http://schemas.microsoft.com/office/drawing/2014/main" id="{F1341C02-B5DA-9A6B-6630-1BC07730E8A1}"/>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568"/>
            <a:ext cx="1325858" cy="228209"/>
          </a:xfrm>
        </p:spPr>
        <p:txBody>
          <a:bodyPr/>
          <a:lstStyle/>
          <a:p>
            <a:r>
              <a:rPr lang="en-GB">
                <a:solidFill>
                  <a:schemeClr val="tx2"/>
                </a:solidFill>
              </a:rPr>
              <a:t>Report 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a:p>
          <a:p>
            <a:pPr marL="285750" indent="-285750">
              <a:buFont typeface="Arial" panose="020B0604020202020204" pitchFamily="34" charset="0"/>
              <a:buChar char="•"/>
            </a:pPr>
            <a:r>
              <a:rPr lang="en-GB"/>
              <a:t>Congratulations for having successfully completed your Sigrid onboarding!</a:t>
            </a:r>
          </a:p>
          <a:p>
            <a:pPr marL="285750" indent="-285750">
              <a:buFont typeface="Arial" panose="020B0604020202020204" pitchFamily="34" charset="0"/>
              <a:buChar char="•"/>
            </a:pPr>
            <a:r>
              <a:rPr lang="en-GB"/>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a:t>This report has been automatically generated by our consultants based on the information in your Sigrid.</a:t>
            </a:r>
          </a:p>
          <a:p>
            <a:pPr marL="285750" indent="-285750">
              <a:buFont typeface="Arial" panose="020B0604020202020204" pitchFamily="34" charset="0"/>
              <a:buChar char="•"/>
            </a:pPr>
            <a:r>
              <a:rPr lang="en-GB"/>
              <a:t>If you find this report useful, you as well can easily generate similar reports! Simply follow the instructions in our public </a:t>
            </a:r>
            <a:r>
              <a:rPr lang="en-GB">
                <a:hlinkClick r:id="rId2"/>
              </a:rPr>
              <a:t>GitHub repository</a:t>
            </a:r>
            <a:r>
              <a:rPr lang="en-GB"/>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a:solidFill>
                <a:schemeClr val="accent2"/>
              </a:solidFill>
            </a:endParaRPr>
          </a:p>
          <a:p>
            <a:pPr algn="just"/>
            <a:r>
              <a:rPr lang="en-GB" b="1">
                <a:solidFill>
                  <a:schemeClr val="accent2"/>
                </a:solidFill>
              </a:rPr>
              <a:t>Contents</a:t>
            </a:r>
            <a:r>
              <a:rPr lang="en-GB" b="1">
                <a:solidFill>
                  <a:schemeClr val="bg1"/>
                </a:solidFill>
              </a:rPr>
              <a:t> </a:t>
            </a:r>
          </a:p>
          <a:p>
            <a:pPr>
              <a:buClr>
                <a:schemeClr val="accent2"/>
              </a:buClr>
            </a:pPr>
            <a:r>
              <a:rPr lang="en-GB" b="1">
                <a:solidFill>
                  <a:schemeClr val="tx1"/>
                </a:solidFill>
              </a:rPr>
              <a:t>Sigrid portfolio hygiene:</a:t>
            </a:r>
            <a:r>
              <a:rPr lang="en-GB">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a:solidFill>
                  <a:schemeClr val="tx1"/>
                </a:solidFill>
              </a:rPr>
              <a:t>Objectives:</a:t>
            </a:r>
            <a:r>
              <a:rPr lang="en-GB">
                <a:solidFill>
                  <a:schemeClr val="tx1"/>
                </a:solidFill>
              </a:rPr>
              <a:t> Number of systems in your portfolio that meet the quality and security objectives you set in Sigrid.</a:t>
            </a:r>
          </a:p>
          <a:p>
            <a:pPr>
              <a:buClr>
                <a:schemeClr val="accent2"/>
              </a:buClr>
            </a:pPr>
            <a:r>
              <a:rPr lang="en-GB" b="1">
                <a:solidFill>
                  <a:schemeClr val="tx1"/>
                </a:solidFill>
              </a:rPr>
              <a:t>Portfolio trends:</a:t>
            </a:r>
            <a:r>
              <a:rPr lang="en-GB">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a:t>Introduction to the baseline report</a:t>
            </a:r>
            <a:endParaRPr lang="en-GB" dirty="0"/>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
        <p:nvSpPr>
          <p:cNvPr id="6" name="Footer Placeholder 5">
            <a:extLst>
              <a:ext uri="{FF2B5EF4-FFF2-40B4-BE49-F238E27FC236}">
                <a16:creationId xmlns:a16="http://schemas.microsoft.com/office/drawing/2014/main" id="{48CCE201-D532-5332-1ABA-1148677A097F}"/>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2" name="Footer Placeholder 5">
            <a:extLst>
              <a:ext uri="{FF2B5EF4-FFF2-40B4-BE49-F238E27FC236}">
                <a16:creationId xmlns:a16="http://schemas.microsoft.com/office/drawing/2014/main" id="{26F7AFB7-FFF9-E2FD-4842-317140D1DFCA}"/>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2169037" cy="228209"/>
          </a:xfrm>
        </p:spPr>
        <p:txBody>
          <a:bodyPr/>
          <a:lstStyle/>
          <a:p>
            <a:r>
              <a:rPr lang="en-GB"/>
              <a:t>Sigrid portfolio hygiene</a:t>
            </a:r>
            <a:endParaRPr lang="en-GB" dirty="0"/>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a:t>Metadata completeness per field</a:t>
            </a:r>
            <a:endParaRPr lang="en-GB" dirty="0"/>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Results in Sigrid and the contents of this report become more accurate and useful the more systems have the metadata filled in.</a:t>
            </a:r>
          </a:p>
          <a:p>
            <a:pPr marL="285750" indent="-285750">
              <a:buFont typeface="Arial" panose="020B0604020202020204" pitchFamily="34" charset="0"/>
              <a:buChar char="•"/>
            </a:pPr>
            <a:r>
              <a:rPr lang="en-US"/>
              <a:t>If you have not yet defined your metadata, you can learn how to so in the </a:t>
            </a:r>
            <a:r>
              <a:rPr lang="en-US">
                <a:hlinkClick r:id="rId4"/>
              </a:rPr>
              <a:t>Sigrid documentation</a:t>
            </a:r>
            <a:r>
              <a:rPr lang="en-US"/>
              <a:t>.</a:t>
            </a:r>
            <a:endParaRPr lang="en-US" dirty="0"/>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Footer Placeholder 5">
            <a:extLst>
              <a:ext uri="{FF2B5EF4-FFF2-40B4-BE49-F238E27FC236}">
                <a16:creationId xmlns:a16="http://schemas.microsoft.com/office/drawing/2014/main" id="{55AE2176-E53D-677F-8417-DF6E32C6E391}"/>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2169037" cy="228209"/>
          </a:xfrm>
        </p:spPr>
        <p:txBody>
          <a:bodyPr/>
          <a:lstStyle/>
          <a:p>
            <a:r>
              <a:rPr lang="en-US"/>
              <a:t>Sigrid portfolio hygiene</a:t>
            </a:r>
            <a:endParaRPr lang="en-US" dirty="0"/>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a:t>Number of systems covered by objectives</a:t>
            </a:r>
            <a:endParaRPr lang="en-US" dirty="0"/>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Having objectives set in Sigrid helps your teams to track the quality of the portfolio and gradually improve it over time.</a:t>
            </a:r>
          </a:p>
          <a:p>
            <a:pPr marL="285750" indent="-285750">
              <a:buFont typeface="Arial" panose="020B0604020202020204" pitchFamily="34" charset="0"/>
              <a:buChar char="•"/>
            </a:pPr>
            <a:r>
              <a:rPr lang="en-US"/>
              <a:t>If you have not yet defined objectives for all systems, you can learn how to so in the </a:t>
            </a:r>
            <a:r>
              <a:rPr lang="en-US">
                <a:hlinkClick r:id="rId3"/>
              </a:rPr>
              <a:t>Sigrid documentation</a:t>
            </a:r>
            <a:r>
              <a:rPr lang="en-US"/>
              <a:t>.</a:t>
            </a:r>
            <a:endParaRPr lang="en-US" dirty="0"/>
          </a:p>
        </p:txBody>
      </p:sp>
      <p:sp>
        <p:nvSpPr>
          <p:cNvPr id="11" name="Footer Placeholder 5">
            <a:extLst>
              <a:ext uri="{FF2B5EF4-FFF2-40B4-BE49-F238E27FC236}">
                <a16:creationId xmlns:a16="http://schemas.microsoft.com/office/drawing/2014/main" id="{5AD26C79-29F6-03B3-8BCE-68F31D64F07D}"/>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8 March 2026</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
        <p:nvSpPr>
          <p:cNvPr id="7" name="Footer Placeholder 5">
            <a:extLst>
              <a:ext uri="{FF2B5EF4-FFF2-40B4-BE49-F238E27FC236}">
                <a16:creationId xmlns:a16="http://schemas.microsoft.com/office/drawing/2014/main" id="{1A1C669E-868F-5C5F-C159-D257CADC15AC}"/>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8 March 2026</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Footer Placeholder 5">
            <a:extLst>
              <a:ext uri="{FF2B5EF4-FFF2-40B4-BE49-F238E27FC236}">
                <a16:creationId xmlns:a16="http://schemas.microsoft.com/office/drawing/2014/main" id="{A9C608DA-694C-3895-9324-CF9DC8B04B8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
        <p:nvSpPr>
          <p:cNvPr id="6" name="Footer Placeholder 5">
            <a:extLst>
              <a:ext uri="{FF2B5EF4-FFF2-40B4-BE49-F238E27FC236}">
                <a16:creationId xmlns:a16="http://schemas.microsoft.com/office/drawing/2014/main" id="{1EF2CB95-9458-0410-67B8-D0010F7323BD}"/>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About 7 (58%) systems score market average on maintainability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2.5</a:t>
            </a:r>
            <a:r>
              <a:rPr lang="en-US" sz="100" dirty="0"/>
              <a:t> </a:t>
            </a:r>
            <a:r>
              <a:rPr lang="en-US" dirty="0"/>
              <a:t>★.</a:t>
            </a:r>
          </a:p>
          <a:p>
            <a:pPr indent="-283845"/>
            <a:r>
              <a:rPr lang="en-US" dirty="0"/>
              <a:t>8</a:t>
            </a:r>
            <a:r>
              <a:rPr lang="en-GB" sz="1550" noProof="0" dirty="0"/>
              <a:t>% of systems score above market average (≥3.5</a:t>
            </a:r>
            <a:r>
              <a:rPr lang="en-US" sz="1400" dirty="0"/>
              <a:t>★</a:t>
            </a:r>
            <a:r>
              <a:rPr lang="en-GB" sz="1550" noProof="0" dirty="0"/>
              <a:t>).</a:t>
            </a:r>
          </a:p>
          <a:p>
            <a:pPr indent="-283845"/>
            <a:r>
              <a:rPr lang="en-US" dirty="0"/>
              <a:t>58</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33</a:t>
            </a:r>
            <a:r>
              <a:rPr lang="en-GB" sz="1550" dirty="0">
                <a:ea typeface="Calibri"/>
                <a:cs typeface="Calibri"/>
              </a:rPr>
              <a:t>% of systems score below market average (≤2.5</a:t>
            </a:r>
            <a:r>
              <a:rPr lang="en-US" sz="1400" dirty="0"/>
              <a:t>★</a:t>
            </a:r>
            <a:r>
              <a:rPr lang="en-GB" sz="1550" dirty="0">
                <a:ea typeface="Calibri"/>
                <a:cs typeface="Calibri"/>
              </a:rPr>
              <a:t>).</a:t>
            </a:r>
          </a:p>
        </p:txBody>
      </p:sp>
      <p:sp>
        <p:nvSpPr>
          <p:cNvPr id="3" name="Footer Placeholder 5">
            <a:extLst>
              <a:ext uri="{FF2B5EF4-FFF2-40B4-BE49-F238E27FC236}">
                <a16:creationId xmlns:a16="http://schemas.microsoft.com/office/drawing/2014/main" id="{82359267-D9DF-5DAD-4FF7-F4F7A208FD0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5" name="Picture 44"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About 7 (58%) systems score market average on maintainability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5" name="Tijdelijke aanduiding voor voettekst 1">
            <a:extLst>
              <a:ext uri="{FF2B5EF4-FFF2-40B4-BE49-F238E27FC236}">
                <a16:creationId xmlns:a16="http://schemas.microsoft.com/office/drawing/2014/main" id="{8BBB7104-DB0E-37E3-6567-BE521D1AD43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8 March 2026</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25% systems have a test code ratio of &lt; 50%.</a:t>
            </a:r>
          </a:p>
          <a:p>
            <a:pPr indent="-283845"/>
            <a:r>
              <a:rPr lang="en-GB" sz="1550" dirty="0"/>
              <a:t>42% of systems have a test code ratio between 50% and 100%.</a:t>
            </a:r>
          </a:p>
          <a:p>
            <a:pPr indent="-283845"/>
            <a:r>
              <a:rPr lang="en-GB" sz="1550" dirty="0"/>
              <a:t>33% of systems have a test code ratio ≥ 100%</a:t>
            </a:r>
          </a:p>
        </p:txBody>
      </p:sp>
      <p:sp>
        <p:nvSpPr>
          <p:cNvPr id="4" name="Footer Placeholder 5">
            <a:extLst>
              <a:ext uri="{FF2B5EF4-FFF2-40B4-BE49-F238E27FC236}">
                <a16:creationId xmlns:a16="http://schemas.microsoft.com/office/drawing/2014/main" id="{0476B414-9DA5-568A-1156-7476C19E0AD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7" name="Picture 46"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8 March 2026</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Architecture Quality rating for the portfolio is 2.4</a:t>
            </a:r>
            <a:r>
              <a:rPr lang="en-US" sz="100" dirty="0"/>
              <a:t> </a:t>
            </a:r>
            <a:r>
              <a:rPr lang="en-US" dirty="0"/>
              <a:t>★.</a:t>
            </a:r>
          </a:p>
          <a:p>
            <a:pPr indent="-283845"/>
            <a:r>
              <a:rPr lang="en-US" dirty="0"/>
              <a:t>25% of systems score above market average for Architecture Quality (≥3.5★).</a:t>
            </a:r>
          </a:p>
          <a:p>
            <a:pPr indent="-283845"/>
            <a:r>
              <a:rPr lang="en-US" dirty="0"/>
              <a:t>33% of systems score market average for Architecture Quality (3★).</a:t>
            </a:r>
          </a:p>
          <a:p>
            <a:pPr indent="-283845"/>
            <a:r>
              <a:rPr lang="en-US" dirty="0"/>
              <a:t>42% of systems score below market average for Architecture Quality (≤2.5★).</a:t>
            </a:r>
          </a:p>
        </p:txBody>
      </p:sp>
      <p:sp>
        <p:nvSpPr>
          <p:cNvPr id="4" name="Footer Placeholder 5">
            <a:extLst>
              <a:ext uri="{FF2B5EF4-FFF2-40B4-BE49-F238E27FC236}">
                <a16:creationId xmlns:a16="http://schemas.microsoft.com/office/drawing/2014/main" id="{0A35FFDE-258C-B923-8BFA-686A042F4E14}"/>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5" name="Picture 44"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8 March 2026</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Open Source Health rating for the portfolio is 2.6</a:t>
            </a:r>
            <a:r>
              <a:rPr lang="en-US" sz="100" dirty="0"/>
              <a:t> </a:t>
            </a:r>
            <a:r>
              <a:rPr lang="en-US" dirty="0"/>
              <a:t>★.</a:t>
            </a:r>
          </a:p>
          <a:p>
            <a:pPr indent="-283845"/>
            <a:r>
              <a:rPr lang="en-GB" dirty="0"/>
              <a:t>42% of systems score above market average for Open Source Health (≥3.5★).</a:t>
            </a:r>
          </a:p>
          <a:p>
            <a:pPr indent="-283845"/>
            <a:r>
              <a:rPr lang="en-US" dirty="0"/>
              <a:t>42% of systems score market average for Open Source Health (3★).</a:t>
            </a:r>
          </a:p>
          <a:p>
            <a:pPr indent="-283845"/>
            <a:r>
              <a:rPr lang="en-US" dirty="0"/>
              <a:t>17% of systems score below market average for Open Source Health (≤2.5★).</a:t>
            </a:r>
          </a:p>
        </p:txBody>
      </p:sp>
      <p:sp>
        <p:nvSpPr>
          <p:cNvPr id="4" name="Footer Placeholder 5">
            <a:extLst>
              <a:ext uri="{FF2B5EF4-FFF2-40B4-BE49-F238E27FC236}">
                <a16:creationId xmlns:a16="http://schemas.microsoft.com/office/drawing/2014/main" id="{CD0BEDA0-A614-7EF6-D020-A50AEBD31A20}"/>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4" name="Picture 43" descr="image.png"/>
          <p:cNvPicPr>
            <a:picLocks noChangeAspect="1"/>
          </p:cNvPicPr>
          <p:nvPr/>
        </p:nvPicPr>
        <p:blipFill>
          <a:blip r:embed="rId4"/>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5% of dependencies (79 in total) used in the system contain one or more known vulnerabilities.</a:t>
            </a:r>
          </a:p>
          <a:p>
            <a:r>
              <a:rPr lang="en-US" dirty="0"/>
              <a:t>1% of dependencies (2 in total) uses a potentially restrictive open-source license (e.g. GPL/AGPL).</a:t>
            </a:r>
          </a:p>
          <a:p>
            <a:r>
              <a:rPr lang="en-US" dirty="0"/>
              <a:t>13% of dependencies (200 in total) used in the system have not been updated for over 2 years.</a:t>
            </a:r>
          </a:p>
          <a:p>
            <a:r>
              <a:rPr lang="en-US" dirty="0"/>
              <a:t>5% of dependencies (84 in total) does not use a package manager but is placed in the codebase directly.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1567</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112</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251</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197</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845</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162</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5">
            <a:extLst>
              <a:ext uri="{FF2B5EF4-FFF2-40B4-BE49-F238E27FC236}">
                <a16:creationId xmlns:a16="http://schemas.microsoft.com/office/drawing/2014/main" id="{45FEEADB-79FE-B13B-140F-962C130AA54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a:t>Portfolio trends – Security</a:t>
            </a:r>
            <a:endParaRPr lang="en-GB" dirty="0"/>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a:t>Security ratings of the portfolio on 8 March 2026</a:t>
            </a:r>
            <a:endParaRPr lang="en-GB" dirty="0"/>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Security rating for the portfolio is 1.8</a:t>
            </a:r>
            <a:r>
              <a:rPr lang="en-US" sz="100" dirty="0"/>
              <a:t> </a:t>
            </a:r>
            <a:r>
              <a:rPr lang="en-US" dirty="0"/>
              <a:t>★.</a:t>
            </a:r>
          </a:p>
          <a:p>
            <a:pPr indent="-283845"/>
            <a:r>
              <a:rPr lang="en-GB" dirty="0"/>
              <a:t>8% of systems score above market average for Security (≥3.5★).</a:t>
            </a:r>
          </a:p>
          <a:p>
            <a:pPr indent="-283845"/>
            <a:r>
              <a:rPr lang="en-US" dirty="0"/>
              <a:t>17% of systems score market average for Security (3★).</a:t>
            </a:r>
          </a:p>
          <a:p>
            <a:pPr indent="-283845"/>
            <a:r>
              <a:rPr lang="en-US" dirty="0"/>
              <a:t>75% of systems score below market average for Security(≤2.5★).</a:t>
            </a:r>
          </a:p>
        </p:txBody>
      </p:sp>
      <p:sp>
        <p:nvSpPr>
          <p:cNvPr id="10" name="Footer Placeholder 5">
            <a:extLst>
              <a:ext uri="{FF2B5EF4-FFF2-40B4-BE49-F238E27FC236}">
                <a16:creationId xmlns:a16="http://schemas.microsoft.com/office/drawing/2014/main" id="{2FB0E97C-F974-577B-FB38-C4432CA701BB}"/>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pic>
        <p:nvPicPr>
          <p:cNvPr id="45" name="Picture 44" descr="image.png"/>
          <p:cNvPicPr>
            <a:picLocks noChangeAspect="1"/>
          </p:cNvPicPr>
          <p:nvPr/>
        </p:nvPicPr>
        <p:blipFill>
          <a:blip r:embed="rId3"/>
          <a:stretch>
            <a:fillRect/>
          </a:stretch>
        </p:blipFill>
        <p:spPr>
          <a:xfrm>
            <a:off x="661616" y="2961823"/>
            <a:ext cx="10867079" cy="2905513"/>
          </a:xfrm>
          <a:prstGeom prst="rect">
            <a:avLst/>
          </a:prstGeom>
        </p:spPr>
      </p:pic>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18476</TotalTime>
  <Words>1328</Words>
  <Application>Microsoft Macintosh PowerPoint</Application>
  <PresentationFormat>Widescreen</PresentationFormat>
  <Paragraphs>211</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Introduction to the baseline report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189</cp:revision>
  <cp:lastPrinted>2020-04-20T09:37:43Z</cp:lastPrinted>
  <dcterms:created xsi:type="dcterms:W3CDTF">2025-10-22T11:22:13Z</dcterms:created>
  <dcterms:modified xsi:type="dcterms:W3CDTF">2026-05-19T13:07:53Z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