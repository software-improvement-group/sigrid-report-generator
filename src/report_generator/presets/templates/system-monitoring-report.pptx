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10"/>
  </p:notesMasterIdLst>
  <p:handoutMasterIdLst>
    <p:handoutMasterId r:id="rId11"/>
  </p:handoutMasterIdLst>
  <p:sldIdLst>
    <p:sldId id="1973" r:id="rId6"/>
    <p:sldId id="2142536224" r:id="rId7"/>
    <p:sldId id="2142536225" r:id="rId8"/>
    <p:sldId id="214253622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95"/>
    <p:restoredTop sz="96763"/>
  </p:normalViewPr>
  <p:slideViewPr>
    <p:cSldViewPr snapToGrid="0" snapToObjects="1" showGuides="1">
      <p:cViewPr varScale="1">
        <p:scale>
          <a:sx n="135" d="100"/>
          <a:sy n="135" d="100"/>
        </p:scale>
        <p:origin x="360"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Non-redundant</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96.971050161045881</c:v>
                </c:pt>
                <c:pt idx="1">
                  <c:v>96.052060829265798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969-7446-9630-A92D384603FB}"/>
            </c:ext>
          </c:extLst>
        </c:ser>
        <c:ser>
          <c:idx val="1"/>
          <c:order val="1"/>
          <c:tx>
            <c:strRef>
              <c:f>Sheet1!$C$1</c:f>
              <c:strCache>
                <c:ptCount val="1"/>
                <c:pt idx="0">
                  <c:v>Redundant</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3.0289498389541194</c:v>
                </c:pt>
                <c:pt idx="1">
                  <c:v>3.9479391707342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B969-7446-9630-A92D384603FB}"/>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65.946033049103249</c:v>
                </c:pt>
                <c:pt idx="1">
                  <c:v>62.815123901731681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5BD-6545-A2C5-04AA3C28413A}"/>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19.831260027281679</c:v>
                </c:pt>
                <c:pt idx="1">
                  <c:v>26.663177224293644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5BD-6545-A2C5-04AA3C28413A}"/>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New code (After)</c:v>
                </c:pt>
              </c:strCache>
            </c:strRef>
          </c:cat>
          <c:val>
            <c:numRef>
              <c:f>Sheet1!$D$2:$D$3</c:f>
              <c:numCache>
                <c:formatCode>General</c:formatCode>
                <c:ptCount val="2"/>
                <c:pt idx="0">
                  <c:v>6.1452471904275461</c:v>
                </c:pt>
                <c:pt idx="1">
                  <c:v>8.1089004481493294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5BD-6545-A2C5-04AA3C28413A}"/>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Sheet1!$E$2:$E$3</c:f>
              <c:numCache>
                <c:formatCode>General</c:formatCode>
                <c:ptCount val="2"/>
                <c:pt idx="0">
                  <c:v>8.0774597331875206</c:v>
                </c:pt>
                <c:pt idx="1">
                  <c:v>2.4127984258253439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45BD-6545-A2C5-04AA3C28413A}"/>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91.563113353200137</c:v>
                </c:pt>
                <c:pt idx="1">
                  <c:v>86.315417613267911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74D-6F46-81DD-EFF28A3B7AE2}"/>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5.5168803757830922</c:v>
                </c:pt>
                <c:pt idx="1">
                  <c:v>12.205106013782602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74D-6F46-81DD-EFF28A3B7AE2}"/>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New code (After)</c:v>
                </c:pt>
              </c:strCache>
            </c:strRef>
          </c:cat>
          <c:val>
            <c:numRef>
              <c:f>Sheet1!$D$2:$D$3</c:f>
              <c:numCache>
                <c:formatCode>General</c:formatCode>
                <c:ptCount val="2"/>
                <c:pt idx="0">
                  <c:v>2.5725857976115076</c:v>
                </c:pt>
                <c:pt idx="1">
                  <c:v>1.4794763729494886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74D-6F46-81DD-EFF28A3B7AE2}"/>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Sheet1!$E$2:$E$3</c:f>
              <c:numCache>
                <c:formatCode>General</c:formatCode>
                <c:ptCount val="2"/>
                <c:pt idx="0">
                  <c:v>0.34742047340526355</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74D-6F46-81DD-EFF28A3B7AE2}"/>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82.550393995004484</c:v>
                </c:pt>
                <c:pt idx="1">
                  <c:v>81.476301683774324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EE0-3D49-9081-E0F1F71860E6}"/>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15.355997479537963</c:v>
                </c:pt>
                <c:pt idx="1">
                  <c:v>16.085645858023437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EE0-3D49-9081-E0F1F71860E6}"/>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New code (After)</c:v>
                </c:pt>
              </c:strCache>
            </c:strRef>
          </c:cat>
          <c:val>
            <c:numRef>
              <c:f>Sheet1!$D$2:$D$3</c:f>
              <c:numCache>
                <c:formatCode>General</c:formatCode>
                <c:ptCount val="2"/>
                <c:pt idx="0">
                  <c:v>1.5225306614771383</c:v>
                </c:pt>
                <c:pt idx="1">
                  <c:v>2.3554090549490989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EE0-3D49-9081-E0F1F71860E6}"/>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Sheet1!$E$2:$E$3</c:f>
              <c:numCache>
                <c:formatCode>General</c:formatCode>
                <c:ptCount val="2"/>
                <c:pt idx="0">
                  <c:v>0.57107786398040727</c:v>
                </c:pt>
                <c:pt idx="1">
                  <c:v>8.2643403253150463E-2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8EE0-3D49-9081-E0F1F71860E6}"/>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New code (After)</c:v>
                </c:pt>
              </c:strCache>
            </c:strRef>
          </c:cat>
          <c:val>
            <c:numRef>
              <c:f>Sheet1!$B$2:$B$3</c:f>
              <c:numCache>
                <c:formatCode>General</c:formatCode>
                <c:ptCount val="2"/>
                <c:pt idx="0">
                  <c:v>93.824738582866189</c:v>
                </c:pt>
                <c:pt idx="1">
                  <c:v>93.771404300873968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F1F7-2247-807E-13FEF2CC2193}"/>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New code (After)</c:v>
                </c:pt>
              </c:strCache>
            </c:strRef>
          </c:cat>
          <c:val>
            <c:numRef>
              <c:f>Sheet1!$C$2:$C$3</c:f>
              <c:numCache>
                <c:formatCode>General</c:formatCode>
                <c:ptCount val="2"/>
                <c:pt idx="0">
                  <c:v>2.6950059860306594</c:v>
                </c:pt>
                <c:pt idx="1">
                  <c:v>2.7228646027601657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F1F7-2247-807E-13FEF2CC2193}"/>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New code (After)</c:v>
                </c:pt>
              </c:strCache>
            </c:strRef>
          </c:cat>
          <c:val>
            <c:numRef>
              <c:f>Sheet1!$D$2:$D$3</c:f>
              <c:numCache>
                <c:formatCode>General</c:formatCode>
                <c:ptCount val="2"/>
                <c:pt idx="0">
                  <c:v>2.1498772277305442</c:v>
                </c:pt>
                <c:pt idx="1">
                  <c:v>3.1829703490021108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F1F7-2247-807E-13FEF2CC2193}"/>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New code (After)</c:v>
                </c:pt>
              </c:strCache>
            </c:strRef>
          </c:cat>
          <c:val>
            <c:numRef>
              <c:f>Sheet1!$E$2:$E$3</c:f>
              <c:numCache>
                <c:formatCode>General</c:formatCode>
                <c:ptCount val="2"/>
                <c:pt idx="0">
                  <c:v>1.3303782033725911</c:v>
                </c:pt>
                <c:pt idx="1">
                  <c:v>0.32276074736375227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F1F7-2247-807E-13FEF2CC2193}"/>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Non-redundant</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96.971050161045881</c:v>
                </c:pt>
                <c:pt idx="1">
                  <c:v>98.068622366742517</c:v>
                </c:pt>
                <c:pt idx="2">
                  <c:v>98.111696909018164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21A-BA4C-92F0-E50BBC7007FD}"/>
            </c:ext>
          </c:extLst>
        </c:ser>
        <c:ser>
          <c:idx val="1"/>
          <c:order val="1"/>
          <c:tx>
            <c:strRef>
              <c:f>Sheet1!$C$1</c:f>
              <c:strCache>
                <c:ptCount val="1"/>
                <c:pt idx="0">
                  <c:v>Redundant</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3.0289498389541194</c:v>
                </c:pt>
                <c:pt idx="1">
                  <c:v>1.931377633257475</c:v>
                </c:pt>
                <c:pt idx="2">
                  <c:v>1.8883030909818361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21A-BA4C-92F0-E50BBC7007FD}"/>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65.946033049103249</c:v>
                </c:pt>
                <c:pt idx="1">
                  <c:v>68.979012870753891</c:v>
                </c:pt>
                <c:pt idx="2">
                  <c:v>67.88248623947581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097-0E44-A866-25BE8A83C84C}"/>
            </c:ext>
          </c:extLst>
        </c:ser>
        <c:ser>
          <c:idx val="1"/>
          <c:order val="1"/>
          <c:tx>
            <c:strRef>
              <c:f>Sheet1!$C$1</c:f>
              <c:strCache>
                <c:ptCount val="1"/>
                <c:pt idx="0">
                  <c:v>Medium risk</c:v>
                </c:pt>
              </c:strCache>
            </c:strRef>
          </c:tx>
          <c:spPr>
            <a:solidFill>
              <a:srgbClr val="F1C107"/>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19.831260027281679</c:v>
                </c:pt>
                <c:pt idx="1">
                  <c:v>18.027639550628933</c:v>
                </c:pt>
                <c:pt idx="2">
                  <c:v>18.635987231355021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E097-0E44-A866-25BE8A83C84C}"/>
            </c:ext>
          </c:extLst>
        </c:ser>
        <c:ser>
          <c:idx val="2"/>
          <c:order val="2"/>
          <c:tx>
            <c:strRef>
              <c:f>Sheet1!$D$1</c:f>
              <c:strCache>
                <c:ptCount val="1"/>
                <c:pt idx="0">
                  <c:v>High risk</c:v>
                </c:pt>
              </c:strCache>
            </c:strRef>
          </c:tx>
          <c:spPr>
            <a:solidFill>
              <a:srgbClr val="F69C3F"/>
            </a:solidFill>
            <a:ln>
              <a:noFill/>
            </a:ln>
          </c:spPr>
          <c:invertIfNegative val="1"/>
          <c:cat>
            <c:strRef>
              <c:f>Sheet1!$A$2:$A$4</c:f>
              <c:strCache>
                <c:ptCount val="3"/>
                <c:pt idx="0">
                  <c:v>Total code (Before)</c:v>
                </c:pt>
                <c:pt idx="1">
                  <c:v>Changed code (Before)</c:v>
                </c:pt>
                <c:pt idx="2">
                  <c:v>Changed code (After)</c:v>
                </c:pt>
              </c:strCache>
            </c:strRef>
          </c:cat>
          <c:val>
            <c:numRef>
              <c:f>Sheet1!$D$2:$D$4</c:f>
              <c:numCache>
                <c:formatCode>General</c:formatCode>
                <c:ptCount val="3"/>
                <c:pt idx="0">
                  <c:v>6.1452471904275461</c:v>
                </c:pt>
                <c:pt idx="1">
                  <c:v>6.3315828505243328</c:v>
                </c:pt>
                <c:pt idx="2">
                  <c:v>6.7738131588832795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097-0E44-A866-25BE8A83C84C}"/>
            </c:ext>
          </c:extLst>
        </c:ser>
        <c:ser>
          <c:idx val="3"/>
          <c:order val="3"/>
          <c:tx>
            <c:strRef>
              <c:f>Sheet1!$E$1</c:f>
              <c:strCache>
                <c:ptCount val="1"/>
                <c:pt idx="0">
                  <c:v>Very high risk</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Sheet1!$E$2:$E$4</c:f>
              <c:numCache>
                <c:formatCode>General</c:formatCode>
                <c:ptCount val="3"/>
                <c:pt idx="0">
                  <c:v>8.0774597331875206</c:v>
                </c:pt>
                <c:pt idx="1">
                  <c:v>6.6617647280928489</c:v>
                </c:pt>
                <c:pt idx="2">
                  <c:v>6.7077133702858811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097-0E44-A866-25BE8A83C84C}"/>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91.563113353200137</c:v>
                </c:pt>
                <c:pt idx="1">
                  <c:v>93.70091119527585</c:v>
                </c:pt>
                <c:pt idx="2">
                  <c:v>93.138279672671914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070-FA46-A942-6B00CE6B3794}"/>
            </c:ext>
          </c:extLst>
        </c:ser>
        <c:ser>
          <c:idx val="1"/>
          <c:order val="1"/>
          <c:tx>
            <c:strRef>
              <c:f>Sheet1!$C$1</c:f>
              <c:strCache>
                <c:ptCount val="1"/>
                <c:pt idx="0">
                  <c:v>Medium risk</c:v>
                </c:pt>
              </c:strCache>
            </c:strRef>
          </c:tx>
          <c:spPr>
            <a:solidFill>
              <a:srgbClr val="F1C107"/>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5.5168803757830922</c:v>
                </c:pt>
                <c:pt idx="1">
                  <c:v>3.6913952296335024</c:v>
                </c:pt>
                <c:pt idx="2">
                  <c:v>3.8955853171314567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070-FA46-A942-6B00CE6B3794}"/>
            </c:ext>
          </c:extLst>
        </c:ser>
        <c:ser>
          <c:idx val="2"/>
          <c:order val="2"/>
          <c:tx>
            <c:strRef>
              <c:f>Sheet1!$D$1</c:f>
              <c:strCache>
                <c:ptCount val="1"/>
                <c:pt idx="0">
                  <c:v>High risk</c:v>
                </c:pt>
              </c:strCache>
            </c:strRef>
          </c:tx>
          <c:spPr>
            <a:solidFill>
              <a:srgbClr val="F69C3F"/>
            </a:solidFill>
            <a:ln>
              <a:noFill/>
            </a:ln>
          </c:spPr>
          <c:invertIfNegative val="1"/>
          <c:cat>
            <c:strRef>
              <c:f>Sheet1!$A$2:$A$4</c:f>
              <c:strCache>
                <c:ptCount val="3"/>
                <c:pt idx="0">
                  <c:v>Total code (Before)</c:v>
                </c:pt>
                <c:pt idx="1">
                  <c:v>Changed code (Before)</c:v>
                </c:pt>
                <c:pt idx="2">
                  <c:v>Changed code (After)</c:v>
                </c:pt>
              </c:strCache>
            </c:strRef>
          </c:cat>
          <c:val>
            <c:numRef>
              <c:f>Sheet1!$D$2:$D$4</c:f>
              <c:numCache>
                <c:formatCode>General</c:formatCode>
                <c:ptCount val="3"/>
                <c:pt idx="0">
                  <c:v>2.5725857976115076</c:v>
                </c:pt>
                <c:pt idx="1">
                  <c:v>2.4306038432397883</c:v>
                </c:pt>
                <c:pt idx="2">
                  <c:v>2.4576948730344634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070-FA46-A942-6B00CE6B3794}"/>
            </c:ext>
          </c:extLst>
        </c:ser>
        <c:ser>
          <c:idx val="3"/>
          <c:order val="3"/>
          <c:tx>
            <c:strRef>
              <c:f>Sheet1!$E$1</c:f>
              <c:strCache>
                <c:ptCount val="1"/>
                <c:pt idx="0">
                  <c:v>Very high risk</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Sheet1!$E$2:$E$4</c:f>
              <c:numCache>
                <c:formatCode>General</c:formatCode>
                <c:ptCount val="3"/>
                <c:pt idx="0">
                  <c:v>0.34742047340526355</c:v>
                </c:pt>
                <c:pt idx="1">
                  <c:v>0.17708973185086063</c:v>
                </c:pt>
                <c:pt idx="2">
                  <c:v>0.50844013716217318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3070-FA46-A942-6B00CE6B3794}"/>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82.550393995004484</c:v>
                </c:pt>
                <c:pt idx="1">
                  <c:v>86.038125514687991</c:v>
                </c:pt>
                <c:pt idx="2">
                  <c:v>85.926814048418038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9F2-7D42-8BC0-8D12B176C2E7}"/>
            </c:ext>
          </c:extLst>
        </c:ser>
        <c:ser>
          <c:idx val="1"/>
          <c:order val="1"/>
          <c:tx>
            <c:strRef>
              <c:f>Sheet1!$C$1</c:f>
              <c:strCache>
                <c:ptCount val="1"/>
                <c:pt idx="0">
                  <c:v>Medium risk</c:v>
                </c:pt>
              </c:strCache>
            </c:strRef>
          </c:tx>
          <c:spPr>
            <a:solidFill>
              <a:srgbClr val="F1C107"/>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15.355997479537963</c:v>
                </c:pt>
                <c:pt idx="1">
                  <c:v>11.223480292398961</c:v>
                </c:pt>
                <c:pt idx="2">
                  <c:v>11.415547728807418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9F2-7D42-8BC0-8D12B176C2E7}"/>
            </c:ext>
          </c:extLst>
        </c:ser>
        <c:ser>
          <c:idx val="2"/>
          <c:order val="2"/>
          <c:tx>
            <c:strRef>
              <c:f>Sheet1!$D$1</c:f>
              <c:strCache>
                <c:ptCount val="1"/>
                <c:pt idx="0">
                  <c:v>High risk</c:v>
                </c:pt>
              </c:strCache>
            </c:strRef>
          </c:tx>
          <c:spPr>
            <a:solidFill>
              <a:srgbClr val="F69C3F"/>
            </a:solidFill>
            <a:ln>
              <a:noFill/>
            </a:ln>
          </c:spPr>
          <c:invertIfNegative val="1"/>
          <c:cat>
            <c:strRef>
              <c:f>Sheet1!$A$2:$A$4</c:f>
              <c:strCache>
                <c:ptCount val="3"/>
                <c:pt idx="0">
                  <c:v>Total code (Before)</c:v>
                </c:pt>
                <c:pt idx="1">
                  <c:v>Changed code (Before)</c:v>
                </c:pt>
                <c:pt idx="2">
                  <c:v>Changed code (After)</c:v>
                </c:pt>
              </c:strCache>
            </c:strRef>
          </c:cat>
          <c:val>
            <c:numRef>
              <c:f>Sheet1!$D$2:$D$4</c:f>
              <c:numCache>
                <c:formatCode>General</c:formatCode>
                <c:ptCount val="3"/>
                <c:pt idx="0">
                  <c:v>1.5225306614771383</c:v>
                </c:pt>
                <c:pt idx="1">
                  <c:v>1.751068731864855</c:v>
                </c:pt>
                <c:pt idx="2">
                  <c:v>1.6979773018683901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9F2-7D42-8BC0-8D12B176C2E7}"/>
            </c:ext>
          </c:extLst>
        </c:ser>
        <c:ser>
          <c:idx val="3"/>
          <c:order val="3"/>
          <c:tx>
            <c:strRef>
              <c:f>Sheet1!$E$1</c:f>
              <c:strCache>
                <c:ptCount val="1"/>
                <c:pt idx="0">
                  <c:v>Very high risk</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Sheet1!$E$2:$E$4</c:f>
              <c:numCache>
                <c:formatCode>General</c:formatCode>
                <c:ptCount val="3"/>
                <c:pt idx="0">
                  <c:v>0.57107786398040727</c:v>
                </c:pt>
                <c:pt idx="1">
                  <c:v>0.98732546104818952</c:v>
                </c:pt>
                <c:pt idx="2">
                  <c:v>0.95966092090614874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39F2-7D42-8BC0-8D12B176C2E7}"/>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Sheet1!$A$2:$A$4</c:f>
              <c:strCache>
                <c:ptCount val="3"/>
                <c:pt idx="0">
                  <c:v>Total code (Before)</c:v>
                </c:pt>
                <c:pt idx="1">
                  <c:v>Changed code (Before)</c:v>
                </c:pt>
                <c:pt idx="2">
                  <c:v>Changed code (After)</c:v>
                </c:pt>
              </c:strCache>
            </c:strRef>
          </c:cat>
          <c:val>
            <c:numRef>
              <c:f>Sheet1!$B$2:$B$4</c:f>
              <c:numCache>
                <c:formatCode>General</c:formatCode>
                <c:ptCount val="3"/>
                <c:pt idx="0">
                  <c:v>93.824738582866189</c:v>
                </c:pt>
                <c:pt idx="1">
                  <c:v>97.089767646820206</c:v>
                </c:pt>
                <c:pt idx="2">
                  <c:v>96.866554074376694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78AE-BE4F-BD86-CA09BA993C0F}"/>
            </c:ext>
          </c:extLst>
        </c:ser>
        <c:ser>
          <c:idx val="1"/>
          <c:order val="1"/>
          <c:tx>
            <c:strRef>
              <c:f>Sheet1!$C$1</c:f>
              <c:strCache>
                <c:ptCount val="1"/>
                <c:pt idx="0">
                  <c:v>Medium risk</c:v>
                </c:pt>
              </c:strCache>
            </c:strRef>
          </c:tx>
          <c:spPr>
            <a:solidFill>
              <a:srgbClr val="F1C107"/>
            </a:solidFill>
            <a:ln>
              <a:noFill/>
            </a:ln>
          </c:spPr>
          <c:invertIfNegative val="1"/>
          <c:cat>
            <c:strRef>
              <c:f>Sheet1!$A$2:$A$4</c:f>
              <c:strCache>
                <c:ptCount val="3"/>
                <c:pt idx="0">
                  <c:v>Total code (Before)</c:v>
                </c:pt>
                <c:pt idx="1">
                  <c:v>Changed code (Before)</c:v>
                </c:pt>
                <c:pt idx="2">
                  <c:v>Changed code (After)</c:v>
                </c:pt>
              </c:strCache>
            </c:strRef>
          </c:cat>
          <c:val>
            <c:numRef>
              <c:f>Sheet1!$C$2:$C$4</c:f>
              <c:numCache>
                <c:formatCode>General</c:formatCode>
                <c:ptCount val="3"/>
                <c:pt idx="0">
                  <c:v>2.6950059860306594</c:v>
                </c:pt>
                <c:pt idx="1">
                  <c:v>0.86903246850184046</c:v>
                </c:pt>
                <c:pt idx="2">
                  <c:v>1.0649747701121905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78AE-BE4F-BD86-CA09BA993C0F}"/>
            </c:ext>
          </c:extLst>
        </c:ser>
        <c:ser>
          <c:idx val="2"/>
          <c:order val="2"/>
          <c:tx>
            <c:strRef>
              <c:f>Sheet1!$D$1</c:f>
              <c:strCache>
                <c:ptCount val="1"/>
                <c:pt idx="0">
                  <c:v>High risk</c:v>
                </c:pt>
              </c:strCache>
            </c:strRef>
          </c:tx>
          <c:spPr>
            <a:solidFill>
              <a:srgbClr val="F69C3F"/>
            </a:solidFill>
            <a:ln>
              <a:noFill/>
            </a:ln>
          </c:spPr>
          <c:invertIfNegative val="1"/>
          <c:cat>
            <c:strRef>
              <c:f>Sheet1!$A$2:$A$4</c:f>
              <c:strCache>
                <c:ptCount val="3"/>
                <c:pt idx="0">
                  <c:v>Total code (Before)</c:v>
                </c:pt>
                <c:pt idx="1">
                  <c:v>Changed code (Before)</c:v>
                </c:pt>
                <c:pt idx="2">
                  <c:v>Changed code (After)</c:v>
                </c:pt>
              </c:strCache>
            </c:strRef>
          </c:cat>
          <c:val>
            <c:numRef>
              <c:f>Sheet1!$D$2:$D$4</c:f>
              <c:numCache>
                <c:formatCode>General</c:formatCode>
                <c:ptCount val="3"/>
                <c:pt idx="0">
                  <c:v>2.1498772277305442</c:v>
                </c:pt>
                <c:pt idx="1">
                  <c:v>1.1105824380932967</c:v>
                </c:pt>
                <c:pt idx="2">
                  <c:v>1.1661376147990841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8AE-BE4F-BD86-CA09BA993C0F}"/>
            </c:ext>
          </c:extLst>
        </c:ser>
        <c:ser>
          <c:idx val="3"/>
          <c:order val="3"/>
          <c:tx>
            <c:strRef>
              <c:f>Sheet1!$E$1</c:f>
              <c:strCache>
                <c:ptCount val="1"/>
                <c:pt idx="0">
                  <c:v>Very high risk</c:v>
                </c:pt>
              </c:strCache>
            </c:strRef>
          </c:tx>
          <c:spPr>
            <a:solidFill>
              <a:srgbClr val="F16344"/>
            </a:solidFill>
            <a:ln>
              <a:noFill/>
            </a:ln>
          </c:spPr>
          <c:invertIfNegative val="1"/>
          <c:cat>
            <c:strRef>
              <c:f>Sheet1!$A$2:$A$4</c:f>
              <c:strCache>
                <c:ptCount val="3"/>
                <c:pt idx="0">
                  <c:v>Total code (Before)</c:v>
                </c:pt>
                <c:pt idx="1">
                  <c:v>Changed code (Before)</c:v>
                </c:pt>
                <c:pt idx="2">
                  <c:v>Changed code (After)</c:v>
                </c:pt>
              </c:strCache>
            </c:strRef>
          </c:cat>
          <c:val>
            <c:numRef>
              <c:f>Sheet1!$E$2:$E$4</c:f>
              <c:numCache>
                <c:formatCode>General</c:formatCode>
                <c:ptCount val="3"/>
                <c:pt idx="0">
                  <c:v>1.3303782033725911</c:v>
                </c:pt>
                <c:pt idx="1">
                  <c:v>0.93061744658464796</c:v>
                </c:pt>
                <c:pt idx="2">
                  <c:v>0.90233354071203919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78AE-BE4F-BD86-CA09BA993C0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Non-redundant</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96.971050161045881</c:v>
                </c:pt>
                <c:pt idx="1">
                  <c:v>93.702295547950527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148-7D46-9E8C-5984C9C614D2}"/>
            </c:ext>
          </c:extLst>
        </c:ser>
        <c:ser>
          <c:idx val="1"/>
          <c:order val="1"/>
          <c:tx>
            <c:strRef>
              <c:f>Sheet1!$C$1</c:f>
              <c:strCache>
                <c:ptCount val="1"/>
                <c:pt idx="0">
                  <c:v>Redundant</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3.0289498389541194</c:v>
                </c:pt>
                <c:pt idx="1">
                  <c:v>6.2977044520494827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6148-7D46-9E8C-5984C9C614D2}"/>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65.946033049103249</c:v>
                </c:pt>
                <c:pt idx="1">
                  <c:v>14.022677494788882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C0E-3944-AC8C-D9C66097013F}"/>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19.831260027281679</c:v>
                </c:pt>
                <c:pt idx="1">
                  <c:v>15.573724287761854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C0E-3944-AC8C-D9C66097013F}"/>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Deleted code (Before)</c:v>
                </c:pt>
              </c:strCache>
            </c:strRef>
          </c:cat>
          <c:val>
            <c:numRef>
              <c:f>Sheet1!$D$2:$D$3</c:f>
              <c:numCache>
                <c:formatCode>General</c:formatCode>
                <c:ptCount val="2"/>
                <c:pt idx="0">
                  <c:v>6.1452471904275461</c:v>
                </c:pt>
                <c:pt idx="1">
                  <c:v>22.046223804875464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C0E-3944-AC8C-D9C66097013F}"/>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Sheet1!$E$2:$E$3</c:f>
              <c:numCache>
                <c:formatCode>General</c:formatCode>
                <c:ptCount val="2"/>
                <c:pt idx="0">
                  <c:v>8.0774597331875206</c:v>
                </c:pt>
                <c:pt idx="1">
                  <c:v>48.357374412573805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8C0E-3944-AC8C-D9C66097013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91.563113353200137</c:v>
                </c:pt>
                <c:pt idx="1">
                  <c:v>65.300328930328021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2DF-C043-95DE-C609B4C6307F}"/>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5.5168803757830922</c:v>
                </c:pt>
                <c:pt idx="1">
                  <c:v>18.62107537854595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2DF-C043-95DE-C609B4C6307F}"/>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Deleted code (Before)</c:v>
                </c:pt>
              </c:strCache>
            </c:strRef>
          </c:cat>
          <c:val>
            <c:numRef>
              <c:f>Sheet1!$D$2:$D$3</c:f>
              <c:numCache>
                <c:formatCode>General</c:formatCode>
                <c:ptCount val="2"/>
                <c:pt idx="0">
                  <c:v>2.5725857976115076</c:v>
                </c:pt>
                <c:pt idx="1">
                  <c:v>13.480858824972442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2DF-C043-95DE-C609B4C6307F}"/>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Sheet1!$E$2:$E$3</c:f>
              <c:numCache>
                <c:formatCode>General</c:formatCode>
                <c:ptCount val="2"/>
                <c:pt idx="0">
                  <c:v>0.34742047340526355</c:v>
                </c:pt>
                <c:pt idx="1">
                  <c:v>2.5977368661535891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12DF-C043-95DE-C609B4C6307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82.550393995004484</c:v>
                </c:pt>
                <c:pt idx="1">
                  <c:v>81.740026760462342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89A-D24F-AF57-3234BE1A603F}"/>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15.355997479537963</c:v>
                </c:pt>
                <c:pt idx="1">
                  <c:v>15.981343092179129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689A-D24F-AF57-3234BE1A603F}"/>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Deleted code (Before)</c:v>
                </c:pt>
              </c:strCache>
            </c:strRef>
          </c:cat>
          <c:val>
            <c:numRef>
              <c:f>Sheet1!$D$2:$D$3</c:f>
              <c:numCache>
                <c:formatCode>General</c:formatCode>
                <c:ptCount val="2"/>
                <c:pt idx="0">
                  <c:v>1.5225306614771383</c:v>
                </c:pt>
                <c:pt idx="1">
                  <c:v>1.5085581226500766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689A-D24F-AF57-3234BE1A603F}"/>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Sheet1!$E$2:$E$3</c:f>
              <c:numCache>
                <c:formatCode>General</c:formatCode>
                <c:ptCount val="2"/>
                <c:pt idx="0">
                  <c:v>0.57107786398040727</c:v>
                </c:pt>
                <c:pt idx="1">
                  <c:v>0.77007202470844049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689A-D24F-AF57-3234BE1A603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1"/>
        <c:ser>
          <c:idx val="0"/>
          <c:order val="0"/>
          <c:tx>
            <c:strRef>
              <c:f>Sheet1!$B$1</c:f>
              <c:strCache>
                <c:ptCount val="1"/>
                <c:pt idx="0">
                  <c:v>Low risk</c:v>
                </c:pt>
              </c:strCache>
            </c:strRef>
          </c:tx>
          <c:spPr>
            <a:solidFill>
              <a:srgbClr val="40C360"/>
            </a:solidFill>
            <a:ln>
              <a:noFill/>
            </a:ln>
          </c:spPr>
          <c:invertIfNegative val="1"/>
          <c:cat>
            <c:strRef>
              <c:f>Sheet1!$A$2:$A$3</c:f>
              <c:strCache>
                <c:ptCount val="2"/>
                <c:pt idx="0">
                  <c:v>Total code (Before)</c:v>
                </c:pt>
                <c:pt idx="1">
                  <c:v>Deleted code (Before)</c:v>
                </c:pt>
              </c:strCache>
            </c:strRef>
          </c:cat>
          <c:val>
            <c:numRef>
              <c:f>Sheet1!$B$2:$B$3</c:f>
              <c:numCache>
                <c:formatCode>General</c:formatCode>
                <c:ptCount val="2"/>
                <c:pt idx="0">
                  <c:v>93.824738582866189</c:v>
                </c:pt>
                <c:pt idx="1">
                  <c:v>91.952373019779344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D10-FC4C-A577-F2FAA2313B68}"/>
            </c:ext>
          </c:extLst>
        </c:ser>
        <c:ser>
          <c:idx val="1"/>
          <c:order val="1"/>
          <c:tx>
            <c:strRef>
              <c:f>Sheet1!$C$1</c:f>
              <c:strCache>
                <c:ptCount val="1"/>
                <c:pt idx="0">
                  <c:v>Medium risk</c:v>
                </c:pt>
              </c:strCache>
            </c:strRef>
          </c:tx>
          <c:spPr>
            <a:solidFill>
              <a:srgbClr val="F1C107"/>
            </a:solidFill>
            <a:ln>
              <a:noFill/>
            </a:ln>
          </c:spPr>
          <c:invertIfNegative val="1"/>
          <c:cat>
            <c:strRef>
              <c:f>Sheet1!$A$2:$A$3</c:f>
              <c:strCache>
                <c:ptCount val="2"/>
                <c:pt idx="0">
                  <c:v>Total code (Before)</c:v>
                </c:pt>
                <c:pt idx="1">
                  <c:v>Deleted code (Before)</c:v>
                </c:pt>
              </c:strCache>
            </c:strRef>
          </c:cat>
          <c:val>
            <c:numRef>
              <c:f>Sheet1!$C$2:$C$3</c:f>
              <c:numCache>
                <c:formatCode>General</c:formatCode>
                <c:ptCount val="2"/>
                <c:pt idx="0">
                  <c:v>2.6950059860306594</c:v>
                </c:pt>
                <c:pt idx="1">
                  <c:v>7.1506518897168982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ED10-FC4C-A577-F2FAA2313B68}"/>
            </c:ext>
          </c:extLst>
        </c:ser>
        <c:ser>
          <c:idx val="2"/>
          <c:order val="2"/>
          <c:tx>
            <c:strRef>
              <c:f>Sheet1!$D$1</c:f>
              <c:strCache>
                <c:ptCount val="1"/>
                <c:pt idx="0">
                  <c:v>High risk</c:v>
                </c:pt>
              </c:strCache>
            </c:strRef>
          </c:tx>
          <c:spPr>
            <a:solidFill>
              <a:srgbClr val="F69C3F"/>
            </a:solidFill>
            <a:ln>
              <a:noFill/>
            </a:ln>
          </c:spPr>
          <c:invertIfNegative val="1"/>
          <c:cat>
            <c:strRef>
              <c:f>Sheet1!$A$2:$A$3</c:f>
              <c:strCache>
                <c:ptCount val="2"/>
                <c:pt idx="0">
                  <c:v>Total code (Before)</c:v>
                </c:pt>
                <c:pt idx="1">
                  <c:v>Deleted code (Before)</c:v>
                </c:pt>
              </c:strCache>
            </c:strRef>
          </c:cat>
          <c:val>
            <c:numRef>
              <c:f>Sheet1!$D$2:$D$3</c:f>
              <c:numCache>
                <c:formatCode>General</c:formatCode>
                <c:ptCount val="2"/>
                <c:pt idx="0">
                  <c:v>2.1498772277305442</c:v>
                </c:pt>
                <c:pt idx="1">
                  <c:v>0.8969750905037609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D10-FC4C-A577-F2FAA2313B68}"/>
            </c:ext>
          </c:extLst>
        </c:ser>
        <c:ser>
          <c:idx val="3"/>
          <c:order val="3"/>
          <c:tx>
            <c:strRef>
              <c:f>Sheet1!$E$1</c:f>
              <c:strCache>
                <c:ptCount val="1"/>
                <c:pt idx="0">
                  <c:v>Very high risk</c:v>
                </c:pt>
              </c:strCache>
            </c:strRef>
          </c:tx>
          <c:spPr>
            <a:solidFill>
              <a:srgbClr val="F16344"/>
            </a:solidFill>
            <a:ln>
              <a:noFill/>
            </a:ln>
          </c:spPr>
          <c:invertIfNegative val="1"/>
          <c:cat>
            <c:strRef>
              <c:f>Sheet1!$A$2:$A$3</c:f>
              <c:strCache>
                <c:ptCount val="2"/>
                <c:pt idx="0">
                  <c:v>Total code (Before)</c:v>
                </c:pt>
                <c:pt idx="1">
                  <c:v>Deleted code (Before)</c:v>
                </c:pt>
              </c:strCache>
            </c:strRef>
          </c:cat>
          <c:val>
            <c:numRef>
              <c:f>Sheet1!$E$2:$E$3</c:f>
              <c:numCache>
                <c:formatCode>General</c:formatCode>
                <c:ptCount val="2"/>
                <c:pt idx="0">
                  <c:v>1.3303782033725911</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D10-FC4C-A577-F2FAA2313B68}"/>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476">
                <a:solidFill>
                  <a:srgbClr val="3B4149"/>
                </a:solidFill>
                <a:latin typeface="Aria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w="6477">
              <a:solidFill>
                <a:srgbClr val="ECEEF0"/>
              </a:solidFill>
            </a:ln>
          </c:spPr>
        </c:majorGridlines>
        <c:numFmt formatCode="General" sourceLinked="1"/>
        <c:majorTickMark val="none"/>
        <c:minorTickMark val="none"/>
        <c:tickLblPos val="nextTo"/>
        <c:spPr>
          <a:ln>
            <a:noFill/>
          </a:ln>
        </c:spPr>
        <c:txPr>
          <a:bodyPr/>
          <a:lstStyle/>
          <a:p>
            <a:pPr>
              <a:defRPr sz="476">
                <a:solidFill>
                  <a:srgbClr val="8A929B"/>
                </a:solidFill>
                <a:latin typeface="Arial"/>
              </a:defRPr>
            </a:pPr>
            <a:endParaRPr lang="en-US"/>
          </a:p>
        </c:txPr>
        <c:crossAx val="-2068027336"/>
        <c:crosses val="autoZero"/>
        <c:crossBetween val="between"/>
        <c:majorUnit val="20"/>
      </c:valAx>
    </c:plotArea>
    <c:legend>
      <c:legendPos val="b"/>
      <c:overlay val="0"/>
      <c:txPr>
        <a:bodyPr/>
        <a:lstStyle/>
        <a:p>
          <a:pPr>
            <a:defRPr sz="476">
              <a:latin typeface="Arial"/>
            </a:defRPr>
          </a:pPr>
          <a:endParaRPr lang="en-US"/>
        </a:p>
      </c:txPr>
    </c:legend>
    <c:plotVisOnly val="1"/>
    <c:dispBlanksAs val="gap"/>
    <c:showDLblsOverMax val="1"/>
  </c:chart>
  <c:txPr>
    <a:bodyPr/>
    <a:lstStyle/>
    <a:p>
      <a:pPr>
        <a:defRPr sz="476">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8/4/26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1167E-9B60-5286-8CF1-CD57D307B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35F99-C886-B613-ED19-BB95411A80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57B189-D4A8-78F0-5962-0123D21165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42C648-5D39-132C-9451-3627715E3B40}"/>
              </a:ext>
            </a:extLst>
          </p:cNvPr>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1715313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451B-AA53-E0DA-C6F6-9CCF926B8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58FBA-B865-C4F2-98F2-2C7F8A5C67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881F8C-3072-48D1-BAF5-28FAB0F5FD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14A490-6974-05EF-8AEB-2FD7DFC210E3}"/>
              </a:ext>
            </a:extLst>
          </p:cNvPr>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2801532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187B5-A549-4DE5-85D4-3B9AD6309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508A4-2D4F-D87C-62C3-344E49E79F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478CF7-20F2-4230-56AB-8C7B25434C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0077DF-C58A-41B8-AD5F-4060C77BE4F8}"/>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517671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7" name="Footer Placeholder 4">
            <a:extLst>
              <a:ext uri="{FF2B5EF4-FFF2-40B4-BE49-F238E27FC236}">
                <a16:creationId xmlns:a16="http://schemas.microsoft.com/office/drawing/2014/main" id="{9120FC2D-DB38-A66D-B4BE-8E608C2A5D60}"/>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
        <p:nvSpPr>
          <p:cNvPr id="6" name="Footer Placeholder 4">
            <a:extLst>
              <a:ext uri="{FF2B5EF4-FFF2-40B4-BE49-F238E27FC236}">
                <a16:creationId xmlns:a16="http://schemas.microsoft.com/office/drawing/2014/main" id="{BF4D9293-49E2-42AF-E099-654DFF3A9984}"/>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Footer Placeholder 5">
            <a:extLst>
              <a:ext uri="{FF2B5EF4-FFF2-40B4-BE49-F238E27FC236}">
                <a16:creationId xmlns:a16="http://schemas.microsoft.com/office/drawing/2014/main" id="{BB98077D-F430-EB3F-E631-8256B604A552}"/>
              </a:ext>
            </a:extLst>
          </p:cNvPr>
          <p:cNvSpPr>
            <a:spLocks noGrp="1"/>
          </p:cNvSpPr>
          <p:nvPr>
            <p:ph type="ftr" sz="quarter" idx="3"/>
          </p:nvPr>
        </p:nvSpPr>
        <p:spPr>
          <a:xfrm>
            <a:off x="295208" y="640791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marL="0" algn="l" defTabSz="914400" rtl="0" eaLnBrk="1" latinLnBrk="0" hangingPunct="1">
              <a:defRPr lang="en-US" sz="900" b="0" cap="none" spc="0" baseline="0" dirty="0">
                <a:solidFill>
                  <a:srgbClr val="FFFFFF"/>
                </a:solidFill>
                <a:latin typeface="Azeret Mono" pitchFamily="2" charset="77"/>
                <a:cs typeface="Azeret Mono" pitchFamily="2" charset="77"/>
              </a:defRPr>
            </a:lvl1pPr>
          </a:lstStyle>
          <a:p>
            <a:r>
              <a:rPr lang="nl-NL" sz="900" b="0" kern="1200" cap="none" spc="0" baseline="0" dirty="0" err="1">
                <a:solidFill>
                  <a:srgbClr val="FFFFFF"/>
                </a:solidFill>
                <a:latin typeface="Azeret Mono" pitchFamily="2" charset="77"/>
                <a:ea typeface="+mn-ea"/>
                <a:cs typeface="Azeret Mono" pitchFamily="2" charset="77"/>
              </a:rPr>
              <a:t>Generated</a:t>
            </a:r>
            <a:r>
              <a:rPr lang="nl-NL" sz="900" b="0" kern="1200" cap="none" spc="0" baseline="0" dirty="0">
                <a:solidFill>
                  <a:srgbClr val="FFFFFF"/>
                </a:solidFill>
                <a:latin typeface="Azeret Mono" pitchFamily="2" charset="77"/>
                <a:ea typeface="+mn-ea"/>
                <a:cs typeface="Azeret Mono" pitchFamily="2" charset="77"/>
              </a:rPr>
              <a:t> </a:t>
            </a:r>
            <a:r>
              <a:rPr lang="nl-NL" sz="900" b="0" kern="1200" cap="none" spc="0" baseline="0" dirty="0" err="1">
                <a:solidFill>
                  <a:srgbClr val="FFFFFF"/>
                </a:solidFill>
                <a:latin typeface="Azeret Mono" pitchFamily="2" charset="77"/>
                <a:ea typeface="+mn-ea"/>
                <a:cs typeface="Azeret Mono" pitchFamily="2" charset="77"/>
              </a:rPr>
              <a:t>with</a:t>
            </a:r>
            <a:r>
              <a:rPr lang="nl-NL" sz="900" b="0" kern="1200" cap="none" spc="0" baseline="0" dirty="0">
                <a:solidFill>
                  <a:srgbClr val="FFFFFF"/>
                </a:solidFill>
                <a:latin typeface="Azeret Mono" pitchFamily="2" charset="77"/>
                <a:ea typeface="+mn-ea"/>
                <a:cs typeface="Azeret Mono" pitchFamily="2" charset="77"/>
              </a:rPr>
              <a:t> Sigrid</a:t>
            </a:r>
          </a:p>
          <a:p>
            <a:r>
              <a:rPr lang="nl-NL" sz="900" b="0" kern="1200" cap="none" spc="0" baseline="0" dirty="0" err="1">
                <a:solidFill>
                  <a:srgbClr val="FFFFFF"/>
                </a:solidFill>
                <a:latin typeface="Azeret Mono" pitchFamily="2" charset="77"/>
                <a:ea typeface="+mn-ea"/>
                <a:cs typeface="Azeret Mono" pitchFamily="2" charset="77"/>
              </a:rPr>
              <a:t>for</a:t>
            </a:r>
            <a:r>
              <a:rPr lang="nl-NL" sz="900" b="0" kern="1200" cap="none" spc="0" baseline="0" dirty="0">
                <a:solidFill>
                  <a:srgbClr val="FFFFFF"/>
                </a:solidFill>
                <a:latin typeface="Azeret Mono" pitchFamily="2" charset="77"/>
                <a:ea typeface="+mn-ea"/>
                <a:cs typeface="Azeret Mono" pitchFamily="2" charset="77"/>
              </a:rPr>
              <a:t> CUSTOMER_NAME</a:t>
            </a:r>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 Id="rId3" Type="http://schemas.openxmlformats.org/officeDocument/2006/relationships/image" Target="../media/image3.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194555" y="6388767"/>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6"/>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295208" y="640791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marL="0" algn="l" defTabSz="914400" rtl="0" eaLnBrk="1" latinLnBrk="0" hangingPunct="1">
              <a:defRPr lang="en-US" sz="900" b="0" cap="none" spc="0" baseline="0" dirty="0">
                <a:solidFill>
                  <a:srgbClr val="FFFFFF"/>
                </a:solidFill>
                <a:latin typeface="Azeret Mono" pitchFamily="2" charset="77"/>
                <a:cs typeface="Azeret Mono" pitchFamily="2" charset="77"/>
              </a:defRPr>
            </a:lvl1pPr>
          </a:lstStyle>
          <a:p>
            <a:r>
              <a:rPr lang="nl-NL" sz="900" b="0" kern="1200" cap="none" spc="0" baseline="0" dirty="0" err="1">
                <a:solidFill>
                  <a:srgbClr val="FFFFFF"/>
                </a:solidFill>
                <a:latin typeface="Azeret Mono" pitchFamily="2" charset="77"/>
                <a:ea typeface="+mn-ea"/>
                <a:cs typeface="Azeret Mono" pitchFamily="2" charset="77"/>
              </a:rPr>
              <a:t>Generated</a:t>
            </a:r>
            <a:r>
              <a:rPr lang="nl-NL" sz="900" b="0" kern="1200" cap="none" spc="0" baseline="0" dirty="0">
                <a:solidFill>
                  <a:srgbClr val="FFFFFF"/>
                </a:solidFill>
                <a:latin typeface="Azeret Mono" pitchFamily="2" charset="77"/>
                <a:ea typeface="+mn-ea"/>
                <a:cs typeface="Azeret Mono" pitchFamily="2" charset="77"/>
              </a:rPr>
              <a:t> </a:t>
            </a:r>
            <a:r>
              <a:rPr lang="nl-NL" sz="900" b="0" kern="1200" cap="none" spc="0" baseline="0" dirty="0" err="1">
                <a:solidFill>
                  <a:srgbClr val="FFFFFF"/>
                </a:solidFill>
                <a:latin typeface="Azeret Mono" pitchFamily="2" charset="77"/>
                <a:ea typeface="+mn-ea"/>
                <a:cs typeface="Azeret Mono" pitchFamily="2" charset="77"/>
              </a:rPr>
              <a:t>with</a:t>
            </a:r>
            <a:r>
              <a:rPr lang="nl-NL" sz="900" b="0" kern="1200" cap="none" spc="0" baseline="0" dirty="0">
                <a:solidFill>
                  <a:srgbClr val="FFFFFF"/>
                </a:solidFill>
                <a:latin typeface="Azeret Mono" pitchFamily="2" charset="77"/>
                <a:ea typeface="+mn-ea"/>
                <a:cs typeface="Azeret Mono" pitchFamily="2" charset="77"/>
              </a:rPr>
              <a:t> Sigrid</a:t>
            </a:r>
          </a:p>
          <a:p>
            <a:r>
              <a:rPr lang="nl-NL" sz="900" b="0" kern="1200" cap="none" spc="0" baseline="0" dirty="0" err="1">
                <a:solidFill>
                  <a:srgbClr val="FFFFFF"/>
                </a:solidFill>
                <a:latin typeface="Azeret Mono" pitchFamily="2" charset="77"/>
                <a:ea typeface="+mn-ea"/>
                <a:cs typeface="Azeret Mono" pitchFamily="2" charset="77"/>
              </a:rPr>
              <a:t>for</a:t>
            </a:r>
            <a:r>
              <a:rPr lang="nl-NL" sz="900" b="0" kern="1200" cap="none" spc="0" baseline="0" dirty="0">
                <a:solidFill>
                  <a:srgbClr val="FFFFFF"/>
                </a:solidFill>
                <a:latin typeface="Azeret Mono" pitchFamily="2" charset="77"/>
                <a:ea typeface="+mn-ea"/>
                <a:cs typeface="Azeret Mono" pitchFamily="2" charset="77"/>
              </a:rPr>
              <a:t> CUSTOMER_NAME</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chart" Target="../charts/chart13.xml"/><Relationship Id="rId6" Type="http://schemas.openxmlformats.org/officeDocument/2006/relationships/chart" Target="../charts/chart14.xml"/><Relationship Id="rId7" Type="http://schemas.openxmlformats.org/officeDocument/2006/relationships/chart" Target="../charts/char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CUSTOMER_NAME</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System Monitoring Report</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a:p>
            <a:endParaRPr lang="en-GB" dirty="0"/>
          </a:p>
        </p:txBody>
      </p:sp>
      <p:sp>
        <p:nvSpPr>
          <p:cNvPr id="4" name="Tijdelijke aanduiding voor tekst 1">
            <a:extLst>
              <a:ext uri="{FF2B5EF4-FFF2-40B4-BE49-F238E27FC236}">
                <a16:creationId xmlns:a16="http://schemas.microsoft.com/office/drawing/2014/main" id="{9AD8A29F-88B6-1458-3D23-92698A071436}"/>
              </a:ext>
            </a:extLst>
          </p:cNvPr>
          <p:cNvSpPr txBox="1">
            <a:spLocks/>
          </p:cNvSpPr>
          <p:nvPr/>
        </p:nvSpPr>
        <p:spPr>
          <a:xfrm>
            <a:off x="395999" y="2959200"/>
            <a:ext cx="11174400" cy="450000"/>
          </a:xfrm>
          <a:prstGeom prst="rect">
            <a:avLst/>
          </a:prstGeom>
        </p:spPr>
        <p:txBody>
          <a:bodyPr vert="horz" wrap="none" lIns="216000" tIns="46800" rIns="234000" bIns="46800" rtlCol="0" anchor="ctr" anchorCtr="0">
            <a:noAutofit/>
          </a:bodyPr>
          <a:lstStyle>
            <a:lvl1pPr marL="0" indent="0" algn="l" defTabSz="914400" rtl="0" eaLnBrk="1" latinLnBrk="0" hangingPunct="1">
              <a:lnSpc>
                <a:spcPct val="100000"/>
              </a:lnSpc>
              <a:spcBef>
                <a:spcPts val="0"/>
              </a:spcBef>
              <a:spcAft>
                <a:spcPts val="0"/>
              </a:spcAft>
              <a:buClr>
                <a:srgbClr val="1864FF"/>
              </a:buClr>
              <a:buFont typeface="Arial" panose="020B0604020202020204" pitchFamily="34" charset="0"/>
              <a:buNone/>
              <a:defRPr lang="en-US" sz="2800" b="0" i="0" kern="1200" spc="-30" baseline="0">
                <a:solidFill>
                  <a:srgbClr val="D1E0FF">
                    <a:alpha val="80000"/>
                  </a:srgbClr>
                </a:solidFill>
                <a:latin typeface="Noir Pro" pitchFamily="2" charset="0"/>
                <a:ea typeface="+mn-ea"/>
                <a:cs typeface="Calibri Light" panose="020F0302020204030204" pitchFamily="34" charset="0"/>
              </a:defRPr>
            </a:lvl1pPr>
            <a:lvl2pPr marL="457200" indent="0" algn="l" defTabSz="914400" rtl="0" eaLnBrk="1" latinLnBrk="0" hangingPunct="1">
              <a:lnSpc>
                <a:spcPct val="114000"/>
              </a:lnSpc>
              <a:spcBef>
                <a:spcPts val="0"/>
              </a:spcBef>
              <a:spcAft>
                <a:spcPts val="600"/>
              </a:spcAft>
              <a:buClr>
                <a:srgbClr val="1864FF"/>
              </a:buClr>
              <a:buFont typeface="Arial" panose="020B0604020202020204" pitchFamily="34" charset="0"/>
              <a:buNone/>
              <a:tabLst/>
              <a:defRPr lang="en-US" sz="1600" kern="1200">
                <a:solidFill>
                  <a:srgbClr val="DFC123"/>
                </a:solidFill>
                <a:latin typeface="+mn-lt"/>
                <a:ea typeface="+mn-ea"/>
                <a:cs typeface="+mn-cs"/>
              </a:defRPr>
            </a:lvl2pPr>
            <a:lvl3pPr marL="914400" indent="0" algn="l" defTabSz="914400" rtl="0" eaLnBrk="1" latinLnBrk="0" hangingPunct="1">
              <a:lnSpc>
                <a:spcPct val="114000"/>
              </a:lnSpc>
              <a:spcBef>
                <a:spcPts val="0"/>
              </a:spcBef>
              <a:spcAft>
                <a:spcPts val="600"/>
              </a:spcAft>
              <a:buClr>
                <a:srgbClr val="1864FF"/>
              </a:buClr>
              <a:buFont typeface="Arial" panose="020B0604020202020204" pitchFamily="34" charset="0"/>
              <a:buNone/>
              <a:tabLst/>
              <a:defRPr lang="en-US" sz="1600" kern="1200">
                <a:solidFill>
                  <a:srgbClr val="DFC123"/>
                </a:solidFill>
                <a:latin typeface="+mn-lt"/>
                <a:ea typeface="+mn-ea"/>
                <a:cs typeface="+mn-cs"/>
              </a:defRPr>
            </a:lvl3pPr>
            <a:lvl4pPr marL="1371600" indent="0" algn="l" defTabSz="914400" rtl="0" eaLnBrk="1" latinLnBrk="0" hangingPunct="1">
              <a:lnSpc>
                <a:spcPct val="114000"/>
              </a:lnSpc>
              <a:spcBef>
                <a:spcPts val="0"/>
              </a:spcBef>
              <a:spcAft>
                <a:spcPts val="600"/>
              </a:spcAft>
              <a:buClr>
                <a:srgbClr val="1864FF"/>
              </a:buClr>
              <a:buFont typeface="Arial" panose="020B0604020202020204" pitchFamily="34" charset="0"/>
              <a:buNone/>
              <a:tabLst/>
              <a:defRPr lang="en-US" sz="1600" kern="1200">
                <a:solidFill>
                  <a:srgbClr val="DFC123"/>
                </a:solidFill>
                <a:latin typeface="+mn-lt"/>
                <a:ea typeface="+mn-ea"/>
                <a:cs typeface="+mn-cs"/>
              </a:defRPr>
            </a:lvl4pPr>
            <a:lvl5pPr marL="1828800" indent="0" algn="l" defTabSz="914400" rtl="0" eaLnBrk="1" latinLnBrk="0" hangingPunct="1">
              <a:lnSpc>
                <a:spcPct val="114000"/>
              </a:lnSpc>
              <a:spcBef>
                <a:spcPts val="0"/>
              </a:spcBef>
              <a:spcAft>
                <a:spcPts val="600"/>
              </a:spcAft>
              <a:buClr>
                <a:srgbClr val="1864FF"/>
              </a:buClr>
              <a:buFont typeface="Arial" panose="020B0604020202020204" pitchFamily="34" charset="0"/>
              <a:buNone/>
              <a:tabLst/>
              <a:defRPr lang="en-US" sz="1600" kern="1200">
                <a:solidFill>
                  <a:srgbClr val="DFC123"/>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dirty="0"/>
              <a:t>SYSTEM_NAME</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64F2A-CCD9-AFD2-F41B-85DD4736336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7067C36-EEE8-EEC7-0CDF-BEDEDDF1AB37}"/>
              </a:ext>
            </a:extLst>
          </p:cNvPr>
          <p:cNvSpPr>
            <a:spLocks noGrp="1"/>
          </p:cNvSpPr>
          <p:nvPr>
            <p:ph type="body" sz="quarter" idx="12"/>
          </p:nvPr>
        </p:nvSpPr>
        <p:spPr>
          <a:xfrm>
            <a:off x="381600" y="129568"/>
            <a:ext cx="2759263" cy="228209"/>
          </a:xfrm>
        </p:spPr>
        <p:txBody>
          <a:bodyPr/>
          <a:lstStyle/>
          <a:p>
            <a:r>
              <a:rPr lang="en-US" noProof="1"/>
              <a:t>System trends – Maintainability</a:t>
            </a:r>
          </a:p>
        </p:txBody>
      </p:sp>
      <p:sp>
        <p:nvSpPr>
          <p:cNvPr id="5" name="Slide Number Placeholder 4">
            <a:extLst>
              <a:ext uri="{FF2B5EF4-FFF2-40B4-BE49-F238E27FC236}">
                <a16:creationId xmlns:a16="http://schemas.microsoft.com/office/drawing/2014/main" id="{978EDCCA-8857-CD8A-20EE-457E278F5BCD}"/>
              </a:ext>
            </a:extLst>
          </p:cNvPr>
          <p:cNvSpPr>
            <a:spLocks noGrp="1"/>
          </p:cNvSpPr>
          <p:nvPr>
            <p:ph type="sldNum" sz="quarter" idx="15"/>
          </p:nvPr>
        </p:nvSpPr>
        <p:spPr/>
        <p:txBody>
          <a:bodyPr/>
          <a:lstStyle/>
          <a:p>
            <a:fld id="{E242BD21-9B61-2246-BCB1-4BE5E1BEBE1C}" type="slidenum">
              <a:rPr lang="en-US" noProof="1" smtClean="0"/>
              <a:pPr/>
              <a:t>2</a:t>
            </a:fld>
            <a:endParaRPr lang="en-US" noProof="1"/>
          </a:p>
        </p:txBody>
      </p:sp>
      <p:sp>
        <p:nvSpPr>
          <p:cNvPr id="6" name="Title 5">
            <a:extLst>
              <a:ext uri="{FF2B5EF4-FFF2-40B4-BE49-F238E27FC236}">
                <a16:creationId xmlns:a16="http://schemas.microsoft.com/office/drawing/2014/main" id="{988DD567-E5B0-6E7C-6FD5-0EEA0CB8140C}"/>
              </a:ext>
            </a:extLst>
          </p:cNvPr>
          <p:cNvSpPr>
            <a:spLocks noGrp="1"/>
          </p:cNvSpPr>
          <p:nvPr>
            <p:ph type="title"/>
          </p:nvPr>
        </p:nvSpPr>
        <p:spPr>
          <a:xfrm>
            <a:off x="154800" y="440112"/>
            <a:ext cx="11880000" cy="710067"/>
          </a:xfrm>
        </p:spPr>
        <p:txBody>
          <a:bodyPr/>
          <a:lstStyle/>
          <a:p>
            <a:r>
              <a:rPr lang="en-US" noProof="1"/>
              <a:t>Maintainability delta scores for newly added code </a:t>
            </a:r>
            <a:r>
              <a:rPr lang="en-GB" dirty="0"/>
              <a:t>between PERIOD_START_DATE and PERIOD_END_DATE</a:t>
            </a:r>
            <a:endParaRPr lang="en-US" noProof="1"/>
          </a:p>
        </p:txBody>
      </p:sp>
      <p:sp>
        <p:nvSpPr>
          <p:cNvPr id="7" name="Content Placeholder 2">
            <a:extLst>
              <a:ext uri="{FF2B5EF4-FFF2-40B4-BE49-F238E27FC236}">
                <a16:creationId xmlns:a16="http://schemas.microsoft.com/office/drawing/2014/main" id="{805F17F0-A106-A72E-C02B-C607A012A509}"/>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sz="1200" noProof="1">
                <a:ea typeface="Calibri"/>
                <a:cs typeface="Calibri"/>
              </a:rPr>
              <a:t>`@@</a:t>
            </a:r>
          </a:p>
        </p:txBody>
      </p:sp>
      <p:sp>
        <p:nvSpPr>
          <p:cNvPr id="8" name="Rounded Rectangle 7"/>
          <p:cNvSpPr/>
          <p:nvPr/>
        </p:nvSpPr>
        <p:spPr>
          <a:xfrm>
            <a:off x="2155863"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9" name="TextBox 8"/>
          <p:cNvSpPr txBox="1"/>
          <p:nvPr/>
        </p:nvSpPr>
        <p:spPr>
          <a:xfrm>
            <a:off x="2280221" y="1986077"/>
            <a:ext cx="2303325" cy="186538"/>
          </a:xfrm>
          <a:prstGeom prst="rect">
            <a:avLst/>
          </a:prstGeom>
          <a:noFill/>
        </p:spPr>
        <p:txBody>
          <a:bodyPr wrap="square" lIns="0" tIns="0" rIns="0" bIns="0">
            <a:spAutoFit/>
          </a:bodyPr>
          <a:lstStyle/>
          <a:p>
            <a:pPr algn="l"/>
            <a:r>
              <a:rPr sz="884" b="1">
                <a:solidFill>
                  <a:srgbClr val="1F2933"/>
                </a:solidFill>
                <a:latin typeface="Arial"/>
              </a:rPr>
              <a:t>New code quality</a:t>
            </a:r>
          </a:p>
        </p:txBody>
      </p:sp>
      <p:sp>
        <p:nvSpPr>
          <p:cNvPr id="10" name="TextBox 9"/>
          <p:cNvSpPr txBox="1"/>
          <p:nvPr/>
        </p:nvSpPr>
        <p:spPr>
          <a:xfrm>
            <a:off x="2280221" y="2234794"/>
            <a:ext cx="2303325" cy="994867"/>
          </a:xfrm>
          <a:prstGeom prst="rect">
            <a:avLst/>
          </a:prstGeom>
          <a:noFill/>
        </p:spPr>
        <p:txBody>
          <a:bodyPr wrap="square" lIns="0" tIns="0" rIns="0" bIns="0">
            <a:spAutoFit/>
          </a:bodyPr>
          <a:lstStyle/>
          <a:p>
            <a:pPr algn="l"/>
            <a:r>
              <a:rPr sz="577" b="0">
                <a:solidFill>
                  <a:srgbClr val="5B6570"/>
                </a:solidFill>
                <a:latin typeface="Arial"/>
              </a:rPr>
              <a:t>This compares the quality of new code against the quality of the existing code. "New code (After)" refers to the quality of code in files that were added in the selected period; "Total code (Before)" refers to the quality of the system as a whole at the start of the selected period.</a:t>
            </a:r>
          </a:p>
        </p:txBody>
      </p:sp>
      <p:sp>
        <p:nvSpPr>
          <p:cNvPr id="11" name="TextBox 10"/>
          <p:cNvSpPr txBox="1"/>
          <p:nvPr/>
        </p:nvSpPr>
        <p:spPr>
          <a:xfrm>
            <a:off x="2280221" y="3453506"/>
            <a:ext cx="767775" cy="136794"/>
          </a:xfrm>
          <a:prstGeom prst="rect">
            <a:avLst/>
          </a:prstGeom>
          <a:noFill/>
        </p:spPr>
        <p:txBody>
          <a:bodyPr wrap="square" lIns="0" tIns="0" rIns="0" bIns="0">
            <a:spAutoFit/>
          </a:bodyPr>
          <a:lstStyle/>
          <a:p>
            <a:pPr algn="l"/>
            <a:r>
              <a:rPr sz="645" b="0">
                <a:solidFill>
                  <a:srgbClr val="5B6570"/>
                </a:solidFill>
                <a:latin typeface="Arial"/>
              </a:rPr>
              <a:t>Volume</a:t>
            </a:r>
          </a:p>
        </p:txBody>
      </p:sp>
      <p:sp>
        <p:nvSpPr>
          <p:cNvPr id="12" name="TextBox 11"/>
          <p:cNvSpPr txBox="1"/>
          <p:nvPr/>
        </p:nvSpPr>
        <p:spPr>
          <a:xfrm>
            <a:off x="2280221" y="3590300"/>
            <a:ext cx="767775" cy="186538"/>
          </a:xfrm>
          <a:prstGeom prst="rect">
            <a:avLst/>
          </a:prstGeom>
          <a:noFill/>
        </p:spPr>
        <p:txBody>
          <a:bodyPr wrap="square" lIns="0" tIns="0" rIns="0" bIns="0">
            <a:spAutoFit/>
          </a:bodyPr>
          <a:lstStyle/>
          <a:p>
            <a:pPr algn="l"/>
            <a:r>
              <a:rPr sz="952" b="1">
                <a:solidFill>
                  <a:srgbClr val="1F2933"/>
                </a:solidFill>
                <a:latin typeface="Arial"/>
              </a:rPr>
              <a:t>—</a:t>
            </a:r>
          </a:p>
        </p:txBody>
      </p:sp>
      <p:sp>
        <p:nvSpPr>
          <p:cNvPr id="13" name="TextBox 12"/>
          <p:cNvSpPr txBox="1"/>
          <p:nvPr/>
        </p:nvSpPr>
        <p:spPr>
          <a:xfrm>
            <a:off x="3047996" y="3453506"/>
            <a:ext cx="767775" cy="136794"/>
          </a:xfrm>
          <a:prstGeom prst="rect">
            <a:avLst/>
          </a:prstGeom>
          <a:noFill/>
        </p:spPr>
        <p:txBody>
          <a:bodyPr wrap="square" lIns="0" tIns="0" rIns="0" bIns="0">
            <a:spAutoFit/>
          </a:bodyPr>
          <a:lstStyle/>
          <a:p>
            <a:pPr algn="l"/>
            <a:r>
              <a:rPr sz="645" b="0">
                <a:solidFill>
                  <a:srgbClr val="5B6570"/>
                </a:solidFill>
                <a:latin typeface="Arial"/>
              </a:rPr>
              <a:t>Rating</a:t>
            </a:r>
          </a:p>
        </p:txBody>
      </p:sp>
      <p:sp>
        <p:nvSpPr>
          <p:cNvPr id="14" name="TextBox 13"/>
          <p:cNvSpPr txBox="1"/>
          <p:nvPr/>
        </p:nvSpPr>
        <p:spPr>
          <a:xfrm>
            <a:off x="3047996" y="3590300"/>
            <a:ext cx="767775" cy="186538"/>
          </a:xfrm>
          <a:prstGeom prst="rect">
            <a:avLst/>
          </a:prstGeom>
          <a:noFill/>
        </p:spPr>
        <p:txBody>
          <a:bodyPr wrap="square" lIns="0" tIns="0" rIns="0" bIns="0">
            <a:spAutoFit/>
          </a:bodyPr>
          <a:lstStyle/>
          <a:p>
            <a:pPr algn="l"/>
            <a:r>
              <a:rPr sz="952" b="1">
                <a:solidFill>
                  <a:srgbClr val="1F2933"/>
                </a:solidFill>
                <a:latin typeface="Arial"/>
              </a:rPr>
              <a:t>DELTA_QUALITY_NEW_CODE_SUMMARY_RATING ★</a:t>
            </a:r>
          </a:p>
        </p:txBody>
      </p:sp>
      <p:sp>
        <p:nvSpPr>
          <p:cNvPr id="15" name="Rounded Rectangle 14"/>
          <p:cNvSpPr/>
          <p:nvPr/>
        </p:nvSpPr>
        <p:spPr>
          <a:xfrm>
            <a:off x="4819827"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16" name="TextBox 15"/>
          <p:cNvSpPr txBox="1"/>
          <p:nvPr/>
        </p:nvSpPr>
        <p:spPr>
          <a:xfrm>
            <a:off x="4931749" y="1986077"/>
            <a:ext cx="2328197" cy="186538"/>
          </a:xfrm>
          <a:prstGeom prst="rect">
            <a:avLst/>
          </a:prstGeom>
          <a:noFill/>
        </p:spPr>
        <p:txBody>
          <a:bodyPr wrap="square" lIns="0" tIns="0" rIns="0" bIns="0">
            <a:spAutoFit/>
          </a:bodyPr>
          <a:lstStyle/>
          <a:p>
            <a:pPr algn="l"/>
            <a:r>
              <a:rPr sz="850" b="1">
                <a:solidFill>
                  <a:srgbClr val="1F2933"/>
                </a:solidFill>
                <a:latin typeface="Arial"/>
              </a:rPr>
              <a:t>Duplication</a:t>
            </a:r>
          </a:p>
        </p:txBody>
      </p:sp>
      <p:graphicFrame>
        <p:nvGraphicFramePr>
          <p:cNvPr id="17" name="DELTA_QUALITY_NEW_CODE_DUPLICATION_CHART"/>
          <p:cNvGraphicFramePr>
            <a:graphicFrameLocks noGrp="1"/>
          </p:cNvGraphicFramePr>
          <p:nvPr/>
        </p:nvGraphicFramePr>
        <p:xfrm>
          <a:off x="4857134" y="2197486"/>
          <a:ext cx="2477427" cy="1392814"/>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4931749" y="3640044"/>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19" name="TextBox 18"/>
          <p:cNvSpPr txBox="1"/>
          <p:nvPr/>
        </p:nvSpPr>
        <p:spPr>
          <a:xfrm>
            <a:off x="4931749"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DELTA_QUALITY_NEW_CODE_DUPLICATION_RATING_NEW_AFTER ★</a:t>
            </a:r>
          </a:p>
        </p:txBody>
      </p:sp>
      <p:sp>
        <p:nvSpPr>
          <p:cNvPr id="20" name="TextBox 19"/>
          <p:cNvSpPr txBox="1"/>
          <p:nvPr/>
        </p:nvSpPr>
        <p:spPr>
          <a:xfrm>
            <a:off x="6095848" y="3640044"/>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1" name="TextBox 20"/>
          <p:cNvSpPr txBox="1"/>
          <p:nvPr/>
        </p:nvSpPr>
        <p:spPr>
          <a:xfrm>
            <a:off x="6095848"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DELTA_QUALITY_NEW_CODE_DUPLICATION_RATING_TOTAL_BEFORE ★</a:t>
            </a:r>
          </a:p>
        </p:txBody>
      </p:sp>
      <p:sp>
        <p:nvSpPr>
          <p:cNvPr id="22" name="Rounded Rectangle 21"/>
          <p:cNvSpPr/>
          <p:nvPr/>
        </p:nvSpPr>
        <p:spPr>
          <a:xfrm>
            <a:off x="7483791"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23" name="TextBox 22"/>
          <p:cNvSpPr txBox="1"/>
          <p:nvPr/>
        </p:nvSpPr>
        <p:spPr>
          <a:xfrm>
            <a:off x="7595714" y="1986077"/>
            <a:ext cx="2328197" cy="186538"/>
          </a:xfrm>
          <a:prstGeom prst="rect">
            <a:avLst/>
          </a:prstGeom>
          <a:noFill/>
        </p:spPr>
        <p:txBody>
          <a:bodyPr wrap="square" lIns="0" tIns="0" rIns="0" bIns="0">
            <a:spAutoFit/>
          </a:bodyPr>
          <a:lstStyle/>
          <a:p>
            <a:pPr algn="l"/>
            <a:r>
              <a:rPr sz="850" b="1">
                <a:solidFill>
                  <a:srgbClr val="1F2933"/>
                </a:solidFill>
                <a:latin typeface="Arial"/>
              </a:rPr>
              <a:t>Unit size</a:t>
            </a:r>
          </a:p>
        </p:txBody>
      </p:sp>
      <p:graphicFrame>
        <p:nvGraphicFramePr>
          <p:cNvPr id="24" name="DELTA_QUALITY_NEW_CODE_UNIT_SIZE_CHART"/>
          <p:cNvGraphicFramePr>
            <a:graphicFrameLocks noGrp="1"/>
          </p:cNvGraphicFramePr>
          <p:nvPr/>
        </p:nvGraphicFramePr>
        <p:xfrm>
          <a:off x="7521098" y="2197486"/>
          <a:ext cx="2477427" cy="1392814"/>
        </p:xfrm>
        <a:graphic>
          <a:graphicData uri="http://schemas.openxmlformats.org/drawingml/2006/chart">
            <c:chart xmlns:c="http://schemas.openxmlformats.org/drawingml/2006/chart" xmlns:r="http://schemas.openxmlformats.org/officeDocument/2006/relationships" r:id="rId4"/>
          </a:graphicData>
        </a:graphic>
      </p:graphicFrame>
      <p:sp>
        <p:nvSpPr>
          <p:cNvPr id="25" name="TextBox 24"/>
          <p:cNvSpPr txBox="1"/>
          <p:nvPr/>
        </p:nvSpPr>
        <p:spPr>
          <a:xfrm>
            <a:off x="7595714" y="3640044"/>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26" name="TextBox 25"/>
          <p:cNvSpPr txBox="1"/>
          <p:nvPr/>
        </p:nvSpPr>
        <p:spPr>
          <a:xfrm>
            <a:off x="7595714"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DELTA_QUALITY_NEW_CODE_UNIT_SIZE_RATING_NEW_AFTER ★</a:t>
            </a:r>
          </a:p>
        </p:txBody>
      </p:sp>
      <p:sp>
        <p:nvSpPr>
          <p:cNvPr id="27" name="TextBox 26"/>
          <p:cNvSpPr txBox="1"/>
          <p:nvPr/>
        </p:nvSpPr>
        <p:spPr>
          <a:xfrm>
            <a:off x="8759812" y="3640044"/>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8" name="TextBox 27"/>
          <p:cNvSpPr txBox="1"/>
          <p:nvPr/>
        </p:nvSpPr>
        <p:spPr>
          <a:xfrm>
            <a:off x="8759812"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DELTA_QUALITY_NEW_CODE_UNIT_SIZE_RATING_TOTAL_BEFORE ★</a:t>
            </a:r>
          </a:p>
        </p:txBody>
      </p:sp>
      <p:sp>
        <p:nvSpPr>
          <p:cNvPr id="29" name="Rounded Rectangle 28"/>
          <p:cNvSpPr/>
          <p:nvPr/>
        </p:nvSpPr>
        <p:spPr>
          <a:xfrm>
            <a:off x="2155863"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0" name="TextBox 29"/>
          <p:cNvSpPr txBox="1"/>
          <p:nvPr/>
        </p:nvSpPr>
        <p:spPr>
          <a:xfrm>
            <a:off x="2267785" y="4187220"/>
            <a:ext cx="2328197" cy="186538"/>
          </a:xfrm>
          <a:prstGeom prst="rect">
            <a:avLst/>
          </a:prstGeom>
          <a:noFill/>
        </p:spPr>
        <p:txBody>
          <a:bodyPr wrap="square" lIns="0" tIns="0" rIns="0" bIns="0">
            <a:spAutoFit/>
          </a:bodyPr>
          <a:lstStyle/>
          <a:p>
            <a:pPr algn="l"/>
            <a:r>
              <a:rPr sz="850" b="1">
                <a:solidFill>
                  <a:srgbClr val="1F2933"/>
                </a:solidFill>
                <a:latin typeface="Arial"/>
              </a:rPr>
              <a:t>Unit complexity</a:t>
            </a:r>
          </a:p>
        </p:txBody>
      </p:sp>
      <p:graphicFrame>
        <p:nvGraphicFramePr>
          <p:cNvPr id="31" name="DELTA_QUALITY_NEW_CODE_UNIT_COMPLEXITY_CHART"/>
          <p:cNvGraphicFramePr>
            <a:graphicFrameLocks noGrp="1"/>
          </p:cNvGraphicFramePr>
          <p:nvPr/>
        </p:nvGraphicFramePr>
        <p:xfrm>
          <a:off x="2193170" y="4398630"/>
          <a:ext cx="2477427" cy="1392814"/>
        </p:xfrm>
        <a:graphic>
          <a:graphicData uri="http://schemas.openxmlformats.org/drawingml/2006/chart">
            <c:chart xmlns:c="http://schemas.openxmlformats.org/drawingml/2006/chart" xmlns:r="http://schemas.openxmlformats.org/officeDocument/2006/relationships" r:id="rId5"/>
          </a:graphicData>
        </a:graphic>
      </p:graphicFrame>
      <p:sp>
        <p:nvSpPr>
          <p:cNvPr id="32" name="TextBox 31"/>
          <p:cNvSpPr txBox="1"/>
          <p:nvPr/>
        </p:nvSpPr>
        <p:spPr>
          <a:xfrm>
            <a:off x="2267785" y="5841187"/>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33" name="TextBox 32"/>
          <p:cNvSpPr txBox="1"/>
          <p:nvPr/>
        </p:nvSpPr>
        <p:spPr>
          <a:xfrm>
            <a:off x="2267785"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DELTA_QUALITY_NEW_CODE_UNIT_COMPLEXITY_RATING_NEW_AFTER ★</a:t>
            </a:r>
          </a:p>
        </p:txBody>
      </p:sp>
      <p:sp>
        <p:nvSpPr>
          <p:cNvPr id="34" name="TextBox 33"/>
          <p:cNvSpPr txBox="1"/>
          <p:nvPr/>
        </p:nvSpPr>
        <p:spPr>
          <a:xfrm>
            <a:off x="3431883"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35" name="TextBox 34"/>
          <p:cNvSpPr txBox="1"/>
          <p:nvPr/>
        </p:nvSpPr>
        <p:spPr>
          <a:xfrm>
            <a:off x="3431883"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DELTA_QUALITY_NEW_CODE_UNIT_COMPLEXITY_RATING_TOTAL_BEFORE ★</a:t>
            </a:r>
          </a:p>
        </p:txBody>
      </p:sp>
      <p:sp>
        <p:nvSpPr>
          <p:cNvPr id="36" name="Rounded Rectangle 35"/>
          <p:cNvSpPr/>
          <p:nvPr/>
        </p:nvSpPr>
        <p:spPr>
          <a:xfrm>
            <a:off x="4819827"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7" name="TextBox 36"/>
          <p:cNvSpPr txBox="1"/>
          <p:nvPr/>
        </p:nvSpPr>
        <p:spPr>
          <a:xfrm>
            <a:off x="4931749" y="4187220"/>
            <a:ext cx="2328197" cy="186538"/>
          </a:xfrm>
          <a:prstGeom prst="rect">
            <a:avLst/>
          </a:prstGeom>
          <a:noFill/>
        </p:spPr>
        <p:txBody>
          <a:bodyPr wrap="square" lIns="0" tIns="0" rIns="0" bIns="0">
            <a:spAutoFit/>
          </a:bodyPr>
          <a:lstStyle/>
          <a:p>
            <a:pPr algn="l"/>
            <a:r>
              <a:rPr sz="850" b="1">
                <a:solidFill>
                  <a:srgbClr val="1F2933"/>
                </a:solidFill>
                <a:latin typeface="Arial"/>
              </a:rPr>
              <a:t>Unit interfacing</a:t>
            </a:r>
          </a:p>
        </p:txBody>
      </p:sp>
      <p:graphicFrame>
        <p:nvGraphicFramePr>
          <p:cNvPr id="38" name="DELTA_QUALITY_NEW_CODE_UNIT_INTERFACING_CHART"/>
          <p:cNvGraphicFramePr>
            <a:graphicFrameLocks noGrp="1"/>
          </p:cNvGraphicFramePr>
          <p:nvPr/>
        </p:nvGraphicFramePr>
        <p:xfrm>
          <a:off x="4857134" y="4398630"/>
          <a:ext cx="2477427" cy="1392814"/>
        </p:xfrm>
        <a:graphic>
          <a:graphicData uri="http://schemas.openxmlformats.org/drawingml/2006/chart">
            <c:chart xmlns:c="http://schemas.openxmlformats.org/drawingml/2006/chart" xmlns:r="http://schemas.openxmlformats.org/officeDocument/2006/relationships" r:id="rId6"/>
          </a:graphicData>
        </a:graphic>
      </p:graphicFrame>
      <p:sp>
        <p:nvSpPr>
          <p:cNvPr id="39" name="TextBox 38"/>
          <p:cNvSpPr txBox="1"/>
          <p:nvPr/>
        </p:nvSpPr>
        <p:spPr>
          <a:xfrm>
            <a:off x="4931749" y="5841187"/>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40" name="TextBox 39"/>
          <p:cNvSpPr txBox="1"/>
          <p:nvPr/>
        </p:nvSpPr>
        <p:spPr>
          <a:xfrm>
            <a:off x="4931749"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DELTA_QUALITY_NEW_CODE_UNIT_INTERFACING_RATING_NEW_AFTER ★</a:t>
            </a:r>
          </a:p>
        </p:txBody>
      </p:sp>
      <p:sp>
        <p:nvSpPr>
          <p:cNvPr id="41" name="TextBox 40"/>
          <p:cNvSpPr txBox="1"/>
          <p:nvPr/>
        </p:nvSpPr>
        <p:spPr>
          <a:xfrm>
            <a:off x="6095848"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2" name="TextBox 41"/>
          <p:cNvSpPr txBox="1"/>
          <p:nvPr/>
        </p:nvSpPr>
        <p:spPr>
          <a:xfrm>
            <a:off x="6095848"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DELTA_QUALITY_NEW_CODE_UNIT_INTERFACING_RATING_TOTAL_BEFORE ★</a:t>
            </a:r>
          </a:p>
        </p:txBody>
      </p:sp>
      <p:sp>
        <p:nvSpPr>
          <p:cNvPr id="43" name="Rounded Rectangle 42"/>
          <p:cNvSpPr/>
          <p:nvPr/>
        </p:nvSpPr>
        <p:spPr>
          <a:xfrm>
            <a:off x="7483791"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44" name="TextBox 43"/>
          <p:cNvSpPr txBox="1"/>
          <p:nvPr/>
        </p:nvSpPr>
        <p:spPr>
          <a:xfrm>
            <a:off x="7595714" y="4187220"/>
            <a:ext cx="2328197" cy="186538"/>
          </a:xfrm>
          <a:prstGeom prst="rect">
            <a:avLst/>
          </a:prstGeom>
          <a:noFill/>
        </p:spPr>
        <p:txBody>
          <a:bodyPr wrap="square" lIns="0" tIns="0" rIns="0" bIns="0">
            <a:spAutoFit/>
          </a:bodyPr>
          <a:lstStyle/>
          <a:p>
            <a:pPr algn="l"/>
            <a:r>
              <a:rPr sz="850" b="1">
                <a:solidFill>
                  <a:srgbClr val="1F2933"/>
                </a:solidFill>
                <a:latin typeface="Arial"/>
              </a:rPr>
              <a:t>Module coupling</a:t>
            </a:r>
          </a:p>
        </p:txBody>
      </p:sp>
      <p:graphicFrame>
        <p:nvGraphicFramePr>
          <p:cNvPr id="45" name="DELTA_QUALITY_NEW_CODE_MODULE_COUPLING_CHART"/>
          <p:cNvGraphicFramePr>
            <a:graphicFrameLocks noGrp="1"/>
          </p:cNvGraphicFramePr>
          <p:nvPr/>
        </p:nvGraphicFramePr>
        <p:xfrm>
          <a:off x="7521098" y="4398630"/>
          <a:ext cx="2477427" cy="1392814"/>
        </p:xfrm>
        <a:graphic>
          <a:graphicData uri="http://schemas.openxmlformats.org/drawingml/2006/chart">
            <c:chart xmlns:c="http://schemas.openxmlformats.org/drawingml/2006/chart" xmlns:r="http://schemas.openxmlformats.org/officeDocument/2006/relationships" r:id="rId7"/>
          </a:graphicData>
        </a:graphic>
      </p:graphicFrame>
      <p:sp>
        <p:nvSpPr>
          <p:cNvPr id="46" name="TextBox 45"/>
          <p:cNvSpPr txBox="1"/>
          <p:nvPr/>
        </p:nvSpPr>
        <p:spPr>
          <a:xfrm>
            <a:off x="7595714" y="5841187"/>
            <a:ext cx="1164098" cy="149230"/>
          </a:xfrm>
          <a:prstGeom prst="rect">
            <a:avLst/>
          </a:prstGeom>
          <a:noFill/>
        </p:spPr>
        <p:txBody>
          <a:bodyPr wrap="square" lIns="0" tIns="0" rIns="0" bIns="0">
            <a:spAutoFit/>
          </a:bodyPr>
          <a:lstStyle/>
          <a:p>
            <a:pPr algn="ctr"/>
            <a:r>
              <a:rPr sz="577" b="0">
                <a:solidFill>
                  <a:srgbClr val="5B6570"/>
                </a:solidFill>
                <a:latin typeface="Arial"/>
              </a:rPr>
              <a:t>New code (After)</a:t>
            </a:r>
          </a:p>
        </p:txBody>
      </p:sp>
      <p:sp>
        <p:nvSpPr>
          <p:cNvPr id="47" name="TextBox 46"/>
          <p:cNvSpPr txBox="1"/>
          <p:nvPr/>
        </p:nvSpPr>
        <p:spPr>
          <a:xfrm>
            <a:off x="7595714"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DELTA_QUALITY_NEW_CODE_MODULE_COUPLING_RATING_NEW_AFTER ★</a:t>
            </a:r>
          </a:p>
        </p:txBody>
      </p:sp>
      <p:sp>
        <p:nvSpPr>
          <p:cNvPr id="48" name="TextBox 47"/>
          <p:cNvSpPr txBox="1"/>
          <p:nvPr/>
        </p:nvSpPr>
        <p:spPr>
          <a:xfrm>
            <a:off x="8759812"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9" name="TextBox 48"/>
          <p:cNvSpPr txBox="1"/>
          <p:nvPr/>
        </p:nvSpPr>
        <p:spPr>
          <a:xfrm>
            <a:off x="8759812"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DELTA_QUALITY_NEW_CODE_MODULE_COUPLING_RATING_TOTAL_BEFORE ★</a:t>
            </a:r>
          </a:p>
        </p:txBody>
      </p:sp>
      <p:sp>
        <p:nvSpPr>
          <p:cNvPr id="4" name="Footer Placeholder 4">
            <a:extLst>
              <a:ext uri="{FF2B5EF4-FFF2-40B4-BE49-F238E27FC236}">
                <a16:creationId xmlns:a16="http://schemas.microsoft.com/office/drawing/2014/main" id="{69FFB364-0180-D4B1-F605-2D7CBEC3CB1A}"/>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1516141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7647-C29B-F3FB-C35C-6901097E5F9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4A742FE-E5E3-DA99-48C4-119332416555}"/>
              </a:ext>
            </a:extLst>
          </p:cNvPr>
          <p:cNvSpPr>
            <a:spLocks noGrp="1"/>
          </p:cNvSpPr>
          <p:nvPr>
            <p:ph type="body" sz="quarter" idx="12"/>
          </p:nvPr>
        </p:nvSpPr>
        <p:spPr>
          <a:xfrm>
            <a:off x="381600" y="129568"/>
            <a:ext cx="2759263" cy="228209"/>
          </a:xfrm>
        </p:spPr>
        <p:txBody>
          <a:bodyPr/>
          <a:lstStyle/>
          <a:p>
            <a:r>
              <a:rPr lang="en-US" noProof="1"/>
              <a:t>System trends – Maintainability</a:t>
            </a:r>
          </a:p>
        </p:txBody>
      </p:sp>
      <p:sp>
        <p:nvSpPr>
          <p:cNvPr id="5" name="Slide Number Placeholder 4">
            <a:extLst>
              <a:ext uri="{FF2B5EF4-FFF2-40B4-BE49-F238E27FC236}">
                <a16:creationId xmlns:a16="http://schemas.microsoft.com/office/drawing/2014/main" id="{E30A5EF7-2B98-F08F-ECD9-8CC3C41F7FE6}"/>
              </a:ext>
            </a:extLst>
          </p:cNvPr>
          <p:cNvSpPr>
            <a:spLocks noGrp="1"/>
          </p:cNvSpPr>
          <p:nvPr>
            <p:ph type="sldNum" sz="quarter" idx="15"/>
          </p:nvPr>
        </p:nvSpPr>
        <p:spPr/>
        <p:txBody>
          <a:bodyPr/>
          <a:lstStyle/>
          <a:p>
            <a:fld id="{E242BD21-9B61-2246-BCB1-4BE5E1BEBE1C}" type="slidenum">
              <a:rPr lang="en-US" noProof="1" smtClean="0"/>
              <a:pPr/>
              <a:t>3</a:t>
            </a:fld>
            <a:endParaRPr lang="en-US" noProof="1"/>
          </a:p>
        </p:txBody>
      </p:sp>
      <p:sp>
        <p:nvSpPr>
          <p:cNvPr id="6" name="Title 5">
            <a:extLst>
              <a:ext uri="{FF2B5EF4-FFF2-40B4-BE49-F238E27FC236}">
                <a16:creationId xmlns:a16="http://schemas.microsoft.com/office/drawing/2014/main" id="{04E15DC9-F420-37AE-E953-48688912CB45}"/>
              </a:ext>
            </a:extLst>
          </p:cNvPr>
          <p:cNvSpPr>
            <a:spLocks noGrp="1"/>
          </p:cNvSpPr>
          <p:nvPr>
            <p:ph type="title"/>
          </p:nvPr>
        </p:nvSpPr>
        <p:spPr>
          <a:xfrm>
            <a:off x="154800" y="440112"/>
            <a:ext cx="11880000" cy="710067"/>
          </a:xfrm>
        </p:spPr>
        <p:txBody>
          <a:bodyPr/>
          <a:lstStyle/>
          <a:p>
            <a:r>
              <a:rPr lang="en-US" noProof="1"/>
              <a:t>Maintainability delta scores for changed code </a:t>
            </a:r>
            <a:r>
              <a:rPr lang="en-GB" dirty="0"/>
              <a:t>between PERIOD_START_DATE and PERIOD_END_DATE</a:t>
            </a:r>
            <a:endParaRPr lang="en-US" noProof="1"/>
          </a:p>
        </p:txBody>
      </p:sp>
      <p:sp>
        <p:nvSpPr>
          <p:cNvPr id="7" name="Content Placeholder 2">
            <a:extLst>
              <a:ext uri="{FF2B5EF4-FFF2-40B4-BE49-F238E27FC236}">
                <a16:creationId xmlns:a16="http://schemas.microsoft.com/office/drawing/2014/main" id="{119ABBDD-ECAE-FEC0-EF09-5680B42D2D44}"/>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sz="1200" noProof="1">
                <a:ea typeface="Calibri"/>
                <a:cs typeface="Calibri"/>
              </a:rPr>
              <a:t>@@</a:t>
            </a:r>
          </a:p>
        </p:txBody>
      </p:sp>
      <p:sp>
        <p:nvSpPr>
          <p:cNvPr id="8" name="Rounded Rectangle 7"/>
          <p:cNvSpPr/>
          <p:nvPr/>
        </p:nvSpPr>
        <p:spPr>
          <a:xfrm>
            <a:off x="2155863"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9" name="TextBox 8"/>
          <p:cNvSpPr txBox="1"/>
          <p:nvPr/>
        </p:nvSpPr>
        <p:spPr>
          <a:xfrm>
            <a:off x="2280221" y="1986077"/>
            <a:ext cx="2303325" cy="186538"/>
          </a:xfrm>
          <a:prstGeom prst="rect">
            <a:avLst/>
          </a:prstGeom>
          <a:noFill/>
        </p:spPr>
        <p:txBody>
          <a:bodyPr wrap="square" lIns="0" tIns="0" rIns="0" bIns="0">
            <a:spAutoFit/>
          </a:bodyPr>
          <a:lstStyle/>
          <a:p>
            <a:pPr algn="l"/>
            <a:r>
              <a:rPr sz="884" b="1">
                <a:solidFill>
                  <a:srgbClr val="1F2933"/>
                </a:solidFill>
                <a:latin typeface="Arial"/>
              </a:rPr>
              <a:t>Changed code quality</a:t>
            </a:r>
          </a:p>
        </p:txBody>
      </p:sp>
      <p:sp>
        <p:nvSpPr>
          <p:cNvPr id="10" name="TextBox 9"/>
          <p:cNvSpPr txBox="1"/>
          <p:nvPr/>
        </p:nvSpPr>
        <p:spPr>
          <a:xfrm>
            <a:off x="2280221" y="2234794"/>
            <a:ext cx="2303325" cy="994867"/>
          </a:xfrm>
          <a:prstGeom prst="rect">
            <a:avLst/>
          </a:prstGeom>
          <a:noFill/>
        </p:spPr>
        <p:txBody>
          <a:bodyPr wrap="square" lIns="0" tIns="0" rIns="0" bIns="0">
            <a:spAutoFit/>
          </a:bodyPr>
          <a:lstStyle/>
          <a:p>
            <a:pPr algn="l"/>
            <a:r>
              <a:rPr sz="577" b="0">
                <a:solidFill>
                  <a:srgbClr val="5B6570"/>
                </a:solidFill>
                <a:latin typeface="Arial"/>
              </a:rPr>
              <a:t>This compares the quality of changed code against the quality of the existing code. "Changed code (After)" refers to the quality of code in files that were changed in the selected period; "Changed code (Before)" refers to the quality of those files at the start of the selected period; "Total code (Before)" refers to the quality of the system as a whole at the start of the selected period.</a:t>
            </a:r>
          </a:p>
        </p:txBody>
      </p:sp>
      <p:sp>
        <p:nvSpPr>
          <p:cNvPr id="11" name="TextBox 10"/>
          <p:cNvSpPr txBox="1"/>
          <p:nvPr/>
        </p:nvSpPr>
        <p:spPr>
          <a:xfrm>
            <a:off x="2280221" y="3453506"/>
            <a:ext cx="767775" cy="136794"/>
          </a:xfrm>
          <a:prstGeom prst="rect">
            <a:avLst/>
          </a:prstGeom>
          <a:noFill/>
        </p:spPr>
        <p:txBody>
          <a:bodyPr wrap="square" lIns="0" tIns="0" rIns="0" bIns="0">
            <a:spAutoFit/>
          </a:bodyPr>
          <a:lstStyle/>
          <a:p>
            <a:pPr algn="l"/>
            <a:r>
              <a:rPr sz="645" b="0">
                <a:solidFill>
                  <a:srgbClr val="5B6570"/>
                </a:solidFill>
                <a:latin typeface="Arial"/>
              </a:rPr>
              <a:t>Volume</a:t>
            </a:r>
          </a:p>
        </p:txBody>
      </p:sp>
      <p:sp>
        <p:nvSpPr>
          <p:cNvPr id="12" name="TextBox 11"/>
          <p:cNvSpPr txBox="1"/>
          <p:nvPr/>
        </p:nvSpPr>
        <p:spPr>
          <a:xfrm>
            <a:off x="2280221" y="3590300"/>
            <a:ext cx="767775" cy="186538"/>
          </a:xfrm>
          <a:prstGeom prst="rect">
            <a:avLst/>
          </a:prstGeom>
          <a:noFill/>
        </p:spPr>
        <p:txBody>
          <a:bodyPr wrap="square" lIns="0" tIns="0" rIns="0" bIns="0">
            <a:spAutoFit/>
          </a:bodyPr>
          <a:lstStyle/>
          <a:p>
            <a:pPr algn="l"/>
            <a:r>
              <a:rPr sz="952" b="1" dirty="0">
                <a:solidFill>
                  <a:srgbClr val="1F2933"/>
                </a:solidFill>
                <a:latin typeface="Arial"/>
              </a:rPr>
              <a:t>—</a:t>
            </a:r>
          </a:p>
        </p:txBody>
      </p:sp>
      <p:sp>
        <p:nvSpPr>
          <p:cNvPr id="13" name="TextBox 12"/>
          <p:cNvSpPr txBox="1"/>
          <p:nvPr/>
        </p:nvSpPr>
        <p:spPr>
          <a:xfrm>
            <a:off x="3047996" y="3453506"/>
            <a:ext cx="767775" cy="136794"/>
          </a:xfrm>
          <a:prstGeom prst="rect">
            <a:avLst/>
          </a:prstGeom>
          <a:noFill/>
        </p:spPr>
        <p:txBody>
          <a:bodyPr wrap="square" lIns="0" tIns="0" rIns="0" bIns="0">
            <a:spAutoFit/>
          </a:bodyPr>
          <a:lstStyle/>
          <a:p>
            <a:pPr algn="l"/>
            <a:r>
              <a:rPr sz="645" b="0">
                <a:solidFill>
                  <a:srgbClr val="5B6570"/>
                </a:solidFill>
                <a:latin typeface="Arial"/>
              </a:rPr>
              <a:t>Rating</a:t>
            </a:r>
          </a:p>
        </p:txBody>
      </p:sp>
      <p:sp>
        <p:nvSpPr>
          <p:cNvPr id="14" name="TextBox 13"/>
          <p:cNvSpPr txBox="1"/>
          <p:nvPr/>
        </p:nvSpPr>
        <p:spPr>
          <a:xfrm>
            <a:off x="3047996" y="3590300"/>
            <a:ext cx="767775" cy="186538"/>
          </a:xfrm>
          <a:prstGeom prst="rect">
            <a:avLst/>
          </a:prstGeom>
          <a:noFill/>
        </p:spPr>
        <p:txBody>
          <a:bodyPr wrap="square" lIns="0" tIns="0" rIns="0" bIns="0">
            <a:spAutoFit/>
          </a:bodyPr>
          <a:lstStyle/>
          <a:p>
            <a:pPr algn="l"/>
            <a:r>
              <a:rPr sz="952" b="1">
                <a:solidFill>
                  <a:srgbClr val="1F2933"/>
                </a:solidFill>
                <a:latin typeface="Arial"/>
              </a:rPr>
              <a:t>DELTA_QUALITY_CHANGED_CODE_SUMMARY_RATING ★</a:t>
            </a:r>
          </a:p>
        </p:txBody>
      </p:sp>
      <p:sp>
        <p:nvSpPr>
          <p:cNvPr id="15" name="Rounded Rectangle 14"/>
          <p:cNvSpPr/>
          <p:nvPr/>
        </p:nvSpPr>
        <p:spPr>
          <a:xfrm>
            <a:off x="4819827"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16" name="TextBox 15"/>
          <p:cNvSpPr txBox="1"/>
          <p:nvPr/>
        </p:nvSpPr>
        <p:spPr>
          <a:xfrm>
            <a:off x="4931749" y="1986077"/>
            <a:ext cx="2328197" cy="186538"/>
          </a:xfrm>
          <a:prstGeom prst="rect">
            <a:avLst/>
          </a:prstGeom>
          <a:noFill/>
        </p:spPr>
        <p:txBody>
          <a:bodyPr wrap="square" lIns="0" tIns="0" rIns="0" bIns="0">
            <a:spAutoFit/>
          </a:bodyPr>
          <a:lstStyle/>
          <a:p>
            <a:pPr algn="l"/>
            <a:r>
              <a:rPr sz="850" b="1">
                <a:solidFill>
                  <a:srgbClr val="1F2933"/>
                </a:solidFill>
                <a:latin typeface="Arial"/>
              </a:rPr>
              <a:t>Duplication</a:t>
            </a:r>
          </a:p>
        </p:txBody>
      </p:sp>
      <p:graphicFrame>
        <p:nvGraphicFramePr>
          <p:cNvPr id="17" name="DELTA_QUALITY_CHANGED_CODE_DUPLICATION_CHART"/>
          <p:cNvGraphicFramePr>
            <a:graphicFrameLocks noGrp="1"/>
          </p:cNvGraphicFramePr>
          <p:nvPr/>
        </p:nvGraphicFramePr>
        <p:xfrm>
          <a:off x="4857134" y="2197486"/>
          <a:ext cx="2477427" cy="1392814"/>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4931749" y="3640044"/>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19" name="TextBox 18"/>
          <p:cNvSpPr txBox="1"/>
          <p:nvPr/>
        </p:nvSpPr>
        <p:spPr>
          <a:xfrm>
            <a:off x="4931749"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DELTA_QUALITY_CHANGED_CODE_DUPLICATION_RATING_CHANGED_AFTER ★</a:t>
            </a:r>
          </a:p>
        </p:txBody>
      </p:sp>
      <p:sp>
        <p:nvSpPr>
          <p:cNvPr id="20" name="TextBox 19"/>
          <p:cNvSpPr txBox="1"/>
          <p:nvPr/>
        </p:nvSpPr>
        <p:spPr>
          <a:xfrm>
            <a:off x="5707815" y="3640044"/>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21" name="TextBox 20"/>
          <p:cNvSpPr txBox="1"/>
          <p:nvPr/>
        </p:nvSpPr>
        <p:spPr>
          <a:xfrm>
            <a:off x="5707815"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DELTA_QUALITY_CHANGED_CODE_DUPLICATION_RATING_CHANGED_BEFORE ★</a:t>
            </a:r>
          </a:p>
        </p:txBody>
      </p:sp>
      <p:sp>
        <p:nvSpPr>
          <p:cNvPr id="22" name="TextBox 21"/>
          <p:cNvSpPr txBox="1"/>
          <p:nvPr/>
        </p:nvSpPr>
        <p:spPr>
          <a:xfrm>
            <a:off x="6483880" y="3640044"/>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3" name="TextBox 22"/>
          <p:cNvSpPr txBox="1"/>
          <p:nvPr/>
        </p:nvSpPr>
        <p:spPr>
          <a:xfrm>
            <a:off x="6483880"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DELTA_QUALITY_CHANGED_CODE_DUPLICATION_RATING_TOTAL_BEFORE ★</a:t>
            </a:r>
          </a:p>
        </p:txBody>
      </p:sp>
      <p:sp>
        <p:nvSpPr>
          <p:cNvPr id="24" name="Rounded Rectangle 23"/>
          <p:cNvSpPr/>
          <p:nvPr/>
        </p:nvSpPr>
        <p:spPr>
          <a:xfrm>
            <a:off x="7483791"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25" name="TextBox 24"/>
          <p:cNvSpPr txBox="1"/>
          <p:nvPr/>
        </p:nvSpPr>
        <p:spPr>
          <a:xfrm>
            <a:off x="7595714" y="1986077"/>
            <a:ext cx="2328197" cy="186538"/>
          </a:xfrm>
          <a:prstGeom prst="rect">
            <a:avLst/>
          </a:prstGeom>
          <a:noFill/>
        </p:spPr>
        <p:txBody>
          <a:bodyPr wrap="square" lIns="0" tIns="0" rIns="0" bIns="0">
            <a:spAutoFit/>
          </a:bodyPr>
          <a:lstStyle/>
          <a:p>
            <a:pPr algn="l"/>
            <a:r>
              <a:rPr sz="850" b="1">
                <a:solidFill>
                  <a:srgbClr val="1F2933"/>
                </a:solidFill>
                <a:latin typeface="Arial"/>
              </a:rPr>
              <a:t>Unit size</a:t>
            </a:r>
          </a:p>
        </p:txBody>
      </p:sp>
      <p:graphicFrame>
        <p:nvGraphicFramePr>
          <p:cNvPr id="26" name="DELTA_QUALITY_CHANGED_CODE_UNIT_SIZE_CHART"/>
          <p:cNvGraphicFramePr>
            <a:graphicFrameLocks noGrp="1"/>
          </p:cNvGraphicFramePr>
          <p:nvPr/>
        </p:nvGraphicFramePr>
        <p:xfrm>
          <a:off x="7521098" y="2197486"/>
          <a:ext cx="2477427" cy="1392814"/>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p:cNvSpPr txBox="1"/>
          <p:nvPr/>
        </p:nvSpPr>
        <p:spPr>
          <a:xfrm>
            <a:off x="7595714" y="3640044"/>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28" name="TextBox 27"/>
          <p:cNvSpPr txBox="1"/>
          <p:nvPr/>
        </p:nvSpPr>
        <p:spPr>
          <a:xfrm>
            <a:off x="7595714"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DELTA_QUALITY_CHANGED_CODE_UNIT_SIZE_RATING_CHANGED_AFTER ★</a:t>
            </a:r>
          </a:p>
        </p:txBody>
      </p:sp>
      <p:sp>
        <p:nvSpPr>
          <p:cNvPr id="29" name="TextBox 28"/>
          <p:cNvSpPr txBox="1"/>
          <p:nvPr/>
        </p:nvSpPr>
        <p:spPr>
          <a:xfrm>
            <a:off x="8371779" y="3640044"/>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30" name="TextBox 29"/>
          <p:cNvSpPr txBox="1"/>
          <p:nvPr/>
        </p:nvSpPr>
        <p:spPr>
          <a:xfrm>
            <a:off x="8371779"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DELTA_QUALITY_CHANGED_CODE_UNIT_SIZE_RATING_CHANGED_BEFORE ★</a:t>
            </a:r>
          </a:p>
        </p:txBody>
      </p:sp>
      <p:sp>
        <p:nvSpPr>
          <p:cNvPr id="31" name="TextBox 30"/>
          <p:cNvSpPr txBox="1"/>
          <p:nvPr/>
        </p:nvSpPr>
        <p:spPr>
          <a:xfrm>
            <a:off x="9147845" y="3640044"/>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32" name="TextBox 31"/>
          <p:cNvSpPr txBox="1"/>
          <p:nvPr/>
        </p:nvSpPr>
        <p:spPr>
          <a:xfrm>
            <a:off x="9147845" y="3789274"/>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DELTA_QUALITY_CHANGED_CODE_UNIT_SIZE_RATING_TOTAL_BEFORE ★</a:t>
            </a:r>
          </a:p>
        </p:txBody>
      </p:sp>
      <p:sp>
        <p:nvSpPr>
          <p:cNvPr id="33" name="Rounded Rectangle 32"/>
          <p:cNvSpPr/>
          <p:nvPr/>
        </p:nvSpPr>
        <p:spPr>
          <a:xfrm>
            <a:off x="2155863"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4" name="TextBox 33"/>
          <p:cNvSpPr txBox="1"/>
          <p:nvPr/>
        </p:nvSpPr>
        <p:spPr>
          <a:xfrm>
            <a:off x="2267785" y="4187220"/>
            <a:ext cx="2328197" cy="186538"/>
          </a:xfrm>
          <a:prstGeom prst="rect">
            <a:avLst/>
          </a:prstGeom>
          <a:noFill/>
        </p:spPr>
        <p:txBody>
          <a:bodyPr wrap="square" lIns="0" tIns="0" rIns="0" bIns="0">
            <a:spAutoFit/>
          </a:bodyPr>
          <a:lstStyle/>
          <a:p>
            <a:pPr algn="l"/>
            <a:r>
              <a:rPr sz="850" b="1">
                <a:solidFill>
                  <a:srgbClr val="1F2933"/>
                </a:solidFill>
                <a:latin typeface="Arial"/>
              </a:rPr>
              <a:t>Unit complexity</a:t>
            </a:r>
          </a:p>
        </p:txBody>
      </p:sp>
      <p:graphicFrame>
        <p:nvGraphicFramePr>
          <p:cNvPr id="35" name="DELTA_QUALITY_CHANGED_CODE_UNIT_COMPLEXITY_CHART"/>
          <p:cNvGraphicFramePr>
            <a:graphicFrameLocks noGrp="1"/>
          </p:cNvGraphicFramePr>
          <p:nvPr/>
        </p:nvGraphicFramePr>
        <p:xfrm>
          <a:off x="2193170" y="4398630"/>
          <a:ext cx="2477427" cy="1392814"/>
        </p:xfrm>
        <a:graphic>
          <a:graphicData uri="http://schemas.openxmlformats.org/drawingml/2006/chart">
            <c:chart xmlns:c="http://schemas.openxmlformats.org/drawingml/2006/chart" xmlns:r="http://schemas.openxmlformats.org/officeDocument/2006/relationships" r:id="rId5"/>
          </a:graphicData>
        </a:graphic>
      </p:graphicFrame>
      <p:sp>
        <p:nvSpPr>
          <p:cNvPr id="36" name="TextBox 35"/>
          <p:cNvSpPr txBox="1"/>
          <p:nvPr/>
        </p:nvSpPr>
        <p:spPr>
          <a:xfrm>
            <a:off x="2267785"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37" name="TextBox 36"/>
          <p:cNvSpPr txBox="1"/>
          <p:nvPr/>
        </p:nvSpPr>
        <p:spPr>
          <a:xfrm>
            <a:off x="2267785"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DELTA_QUALITY_CHANGED_CODE_UNIT_COMPLEXITY_RATING_CHANGED_AFTER ★</a:t>
            </a:r>
          </a:p>
        </p:txBody>
      </p:sp>
      <p:sp>
        <p:nvSpPr>
          <p:cNvPr id="38" name="TextBox 37"/>
          <p:cNvSpPr txBox="1"/>
          <p:nvPr/>
        </p:nvSpPr>
        <p:spPr>
          <a:xfrm>
            <a:off x="3043851"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39" name="TextBox 38"/>
          <p:cNvSpPr txBox="1"/>
          <p:nvPr/>
        </p:nvSpPr>
        <p:spPr>
          <a:xfrm>
            <a:off x="3043851"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DELTA_QUALITY_CHANGED_CODE_UNIT_COMPLEXITY_RATING_CHANGED_BEFORE ★</a:t>
            </a:r>
          </a:p>
        </p:txBody>
      </p:sp>
      <p:sp>
        <p:nvSpPr>
          <p:cNvPr id="40" name="TextBox 39"/>
          <p:cNvSpPr txBox="1"/>
          <p:nvPr/>
        </p:nvSpPr>
        <p:spPr>
          <a:xfrm>
            <a:off x="3819916" y="5841187"/>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1" name="TextBox 40"/>
          <p:cNvSpPr txBox="1"/>
          <p:nvPr/>
        </p:nvSpPr>
        <p:spPr>
          <a:xfrm>
            <a:off x="3819916"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DELTA_QUALITY_CHANGED_CODE_UNIT_COMPLEXITY_RATING_TOTAL_BEFORE ★</a:t>
            </a:r>
          </a:p>
        </p:txBody>
      </p:sp>
      <p:sp>
        <p:nvSpPr>
          <p:cNvPr id="42" name="Rounded Rectangle 41"/>
          <p:cNvSpPr/>
          <p:nvPr/>
        </p:nvSpPr>
        <p:spPr>
          <a:xfrm>
            <a:off x="4819827"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43" name="TextBox 42"/>
          <p:cNvSpPr txBox="1"/>
          <p:nvPr/>
        </p:nvSpPr>
        <p:spPr>
          <a:xfrm>
            <a:off x="4931749" y="4187220"/>
            <a:ext cx="2328197" cy="186538"/>
          </a:xfrm>
          <a:prstGeom prst="rect">
            <a:avLst/>
          </a:prstGeom>
          <a:noFill/>
        </p:spPr>
        <p:txBody>
          <a:bodyPr wrap="square" lIns="0" tIns="0" rIns="0" bIns="0">
            <a:spAutoFit/>
          </a:bodyPr>
          <a:lstStyle/>
          <a:p>
            <a:pPr algn="l"/>
            <a:r>
              <a:rPr sz="850" b="1">
                <a:solidFill>
                  <a:srgbClr val="1F2933"/>
                </a:solidFill>
                <a:latin typeface="Arial"/>
              </a:rPr>
              <a:t>Unit interfacing</a:t>
            </a:r>
          </a:p>
        </p:txBody>
      </p:sp>
      <p:graphicFrame>
        <p:nvGraphicFramePr>
          <p:cNvPr id="44" name="DELTA_QUALITY_CHANGED_CODE_UNIT_INTERFACING_CHART"/>
          <p:cNvGraphicFramePr>
            <a:graphicFrameLocks noGrp="1"/>
          </p:cNvGraphicFramePr>
          <p:nvPr/>
        </p:nvGraphicFramePr>
        <p:xfrm>
          <a:off x="4857134" y="4398630"/>
          <a:ext cx="2477427" cy="1392814"/>
        </p:xfrm>
        <a:graphic>
          <a:graphicData uri="http://schemas.openxmlformats.org/drawingml/2006/chart">
            <c:chart xmlns:c="http://schemas.openxmlformats.org/drawingml/2006/chart" xmlns:r="http://schemas.openxmlformats.org/officeDocument/2006/relationships" r:id="rId6"/>
          </a:graphicData>
        </a:graphic>
      </p:graphicFrame>
      <p:sp>
        <p:nvSpPr>
          <p:cNvPr id="45" name="TextBox 44"/>
          <p:cNvSpPr txBox="1"/>
          <p:nvPr/>
        </p:nvSpPr>
        <p:spPr>
          <a:xfrm>
            <a:off x="4931749"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46" name="TextBox 45"/>
          <p:cNvSpPr txBox="1"/>
          <p:nvPr/>
        </p:nvSpPr>
        <p:spPr>
          <a:xfrm>
            <a:off x="4931749"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DELTA_QUALITY_CHANGED_CODE_UNIT_INTERFACING_RATING_CHANGED_AFTER ★</a:t>
            </a:r>
          </a:p>
        </p:txBody>
      </p:sp>
      <p:sp>
        <p:nvSpPr>
          <p:cNvPr id="47" name="TextBox 46"/>
          <p:cNvSpPr txBox="1"/>
          <p:nvPr/>
        </p:nvSpPr>
        <p:spPr>
          <a:xfrm>
            <a:off x="5707815"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48" name="TextBox 47"/>
          <p:cNvSpPr txBox="1"/>
          <p:nvPr/>
        </p:nvSpPr>
        <p:spPr>
          <a:xfrm>
            <a:off x="5707815"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DELTA_QUALITY_CHANGED_CODE_UNIT_INTERFACING_RATING_CHANGED_BEFORE ★</a:t>
            </a:r>
          </a:p>
        </p:txBody>
      </p:sp>
      <p:sp>
        <p:nvSpPr>
          <p:cNvPr id="49" name="TextBox 48"/>
          <p:cNvSpPr txBox="1"/>
          <p:nvPr/>
        </p:nvSpPr>
        <p:spPr>
          <a:xfrm>
            <a:off x="6483880" y="5841187"/>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50" name="TextBox 49"/>
          <p:cNvSpPr txBox="1"/>
          <p:nvPr/>
        </p:nvSpPr>
        <p:spPr>
          <a:xfrm>
            <a:off x="6483880"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DELTA_QUALITY_CHANGED_CODE_UNIT_INTERFACING_RATING_TOTAL_BEFORE ★</a:t>
            </a:r>
          </a:p>
        </p:txBody>
      </p:sp>
      <p:sp>
        <p:nvSpPr>
          <p:cNvPr id="51" name="Rounded Rectangle 50"/>
          <p:cNvSpPr/>
          <p:nvPr/>
        </p:nvSpPr>
        <p:spPr>
          <a:xfrm>
            <a:off x="7483791"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52" name="TextBox 51"/>
          <p:cNvSpPr txBox="1"/>
          <p:nvPr/>
        </p:nvSpPr>
        <p:spPr>
          <a:xfrm>
            <a:off x="7595714" y="4187220"/>
            <a:ext cx="2328197" cy="186538"/>
          </a:xfrm>
          <a:prstGeom prst="rect">
            <a:avLst/>
          </a:prstGeom>
          <a:noFill/>
        </p:spPr>
        <p:txBody>
          <a:bodyPr wrap="square" lIns="0" tIns="0" rIns="0" bIns="0">
            <a:spAutoFit/>
          </a:bodyPr>
          <a:lstStyle/>
          <a:p>
            <a:pPr algn="l"/>
            <a:r>
              <a:rPr sz="850" b="1">
                <a:solidFill>
                  <a:srgbClr val="1F2933"/>
                </a:solidFill>
                <a:latin typeface="Arial"/>
              </a:rPr>
              <a:t>Module coupling</a:t>
            </a:r>
          </a:p>
        </p:txBody>
      </p:sp>
      <p:graphicFrame>
        <p:nvGraphicFramePr>
          <p:cNvPr id="53" name="DELTA_QUALITY_CHANGED_CODE_MODULE_COUPLING_CHART"/>
          <p:cNvGraphicFramePr>
            <a:graphicFrameLocks noGrp="1"/>
          </p:cNvGraphicFramePr>
          <p:nvPr/>
        </p:nvGraphicFramePr>
        <p:xfrm>
          <a:off x="7521098" y="4398630"/>
          <a:ext cx="2477427" cy="1392814"/>
        </p:xfrm>
        <a:graphic>
          <a:graphicData uri="http://schemas.openxmlformats.org/drawingml/2006/chart">
            <c:chart xmlns:c="http://schemas.openxmlformats.org/drawingml/2006/chart" xmlns:r="http://schemas.openxmlformats.org/officeDocument/2006/relationships" r:id="rId7"/>
          </a:graphicData>
        </a:graphic>
      </p:graphicFrame>
      <p:sp>
        <p:nvSpPr>
          <p:cNvPr id="54" name="TextBox 53"/>
          <p:cNvSpPr txBox="1"/>
          <p:nvPr/>
        </p:nvSpPr>
        <p:spPr>
          <a:xfrm>
            <a:off x="7595714"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(After)</a:t>
            </a:r>
          </a:p>
        </p:txBody>
      </p:sp>
      <p:sp>
        <p:nvSpPr>
          <p:cNvPr id="55" name="TextBox 54"/>
          <p:cNvSpPr txBox="1"/>
          <p:nvPr/>
        </p:nvSpPr>
        <p:spPr>
          <a:xfrm>
            <a:off x="7595714"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DELTA_QUALITY_CHANGED_CODE_MODULE_COUPLING_RATING_CHANGED_AFTER ★</a:t>
            </a:r>
          </a:p>
        </p:txBody>
      </p:sp>
      <p:sp>
        <p:nvSpPr>
          <p:cNvPr id="56" name="TextBox 55"/>
          <p:cNvSpPr txBox="1"/>
          <p:nvPr/>
        </p:nvSpPr>
        <p:spPr>
          <a:xfrm>
            <a:off x="8371779" y="5841187"/>
            <a:ext cx="776066" cy="149230"/>
          </a:xfrm>
          <a:prstGeom prst="rect">
            <a:avLst/>
          </a:prstGeom>
          <a:noFill/>
        </p:spPr>
        <p:txBody>
          <a:bodyPr wrap="square" lIns="0" tIns="0" rIns="0" bIns="0">
            <a:spAutoFit/>
          </a:bodyPr>
          <a:lstStyle/>
          <a:p>
            <a:pPr algn="ctr"/>
            <a:r>
              <a:rPr sz="577" b="0">
                <a:solidFill>
                  <a:srgbClr val="5B6570"/>
                </a:solidFill>
                <a:latin typeface="Arial"/>
              </a:rPr>
              <a:t>Changed code (Before)</a:t>
            </a:r>
          </a:p>
        </p:txBody>
      </p:sp>
      <p:sp>
        <p:nvSpPr>
          <p:cNvPr id="57" name="TextBox 56"/>
          <p:cNvSpPr txBox="1"/>
          <p:nvPr/>
        </p:nvSpPr>
        <p:spPr>
          <a:xfrm>
            <a:off x="8371779"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DELTA_QUALITY_CHANGED_CODE_MODULE_COUPLING_RATING_CHANGED_BEFORE ★</a:t>
            </a:r>
          </a:p>
        </p:txBody>
      </p:sp>
      <p:sp>
        <p:nvSpPr>
          <p:cNvPr id="58" name="TextBox 57"/>
          <p:cNvSpPr txBox="1"/>
          <p:nvPr/>
        </p:nvSpPr>
        <p:spPr>
          <a:xfrm>
            <a:off x="9147845" y="5841187"/>
            <a:ext cx="776066"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59" name="TextBox 58"/>
          <p:cNvSpPr txBox="1"/>
          <p:nvPr/>
        </p:nvSpPr>
        <p:spPr>
          <a:xfrm>
            <a:off x="9147845" y="5990417"/>
            <a:ext cx="776066" cy="161666"/>
          </a:xfrm>
          <a:prstGeom prst="rect">
            <a:avLst/>
          </a:prstGeom>
          <a:noFill/>
        </p:spPr>
        <p:txBody>
          <a:bodyPr wrap="square" lIns="0" tIns="0" rIns="0" bIns="0">
            <a:spAutoFit/>
          </a:bodyPr>
          <a:lstStyle/>
          <a:p>
            <a:pPr algn="ctr"/>
            <a:r>
              <a:rPr sz="679" b="0">
                <a:solidFill>
                  <a:srgbClr val="5B6570"/>
                </a:solidFill>
                <a:latin typeface="Arial"/>
              </a:rPr>
              <a:t>DELTA_QUALITY_CHANGED_CODE_MODULE_COUPLING_RATING_TOTAL_BEFORE ★</a:t>
            </a:r>
          </a:p>
        </p:txBody>
      </p:sp>
      <p:sp>
        <p:nvSpPr>
          <p:cNvPr id="4" name="Footer Placeholder 4">
            <a:extLst>
              <a:ext uri="{FF2B5EF4-FFF2-40B4-BE49-F238E27FC236}">
                <a16:creationId xmlns:a16="http://schemas.microsoft.com/office/drawing/2014/main" id="{FCEA725B-7BB0-6B39-AA93-5B5A15A67DA2}"/>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557210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734E-33AB-88A0-B78E-567A4C2D23B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6300099-F10A-4F8F-61DE-D6CF607728F5}"/>
              </a:ext>
            </a:extLst>
          </p:cNvPr>
          <p:cNvSpPr>
            <a:spLocks noGrp="1"/>
          </p:cNvSpPr>
          <p:nvPr>
            <p:ph type="body" sz="quarter" idx="12"/>
          </p:nvPr>
        </p:nvSpPr>
        <p:spPr>
          <a:xfrm>
            <a:off x="381600" y="129568"/>
            <a:ext cx="2759263" cy="228209"/>
          </a:xfrm>
        </p:spPr>
        <p:txBody>
          <a:bodyPr/>
          <a:lstStyle/>
          <a:p>
            <a:r>
              <a:rPr lang="en-US" noProof="1"/>
              <a:t>System trends – Maintainability</a:t>
            </a:r>
          </a:p>
        </p:txBody>
      </p:sp>
      <p:sp>
        <p:nvSpPr>
          <p:cNvPr id="5" name="Slide Number Placeholder 4">
            <a:extLst>
              <a:ext uri="{FF2B5EF4-FFF2-40B4-BE49-F238E27FC236}">
                <a16:creationId xmlns:a16="http://schemas.microsoft.com/office/drawing/2014/main" id="{9C522B23-30EC-31B0-2471-76073B70A5F3}"/>
              </a:ext>
            </a:extLst>
          </p:cNvPr>
          <p:cNvSpPr>
            <a:spLocks noGrp="1"/>
          </p:cNvSpPr>
          <p:nvPr>
            <p:ph type="sldNum" sz="quarter" idx="15"/>
          </p:nvPr>
        </p:nvSpPr>
        <p:spPr/>
        <p:txBody>
          <a:bodyPr/>
          <a:lstStyle/>
          <a:p>
            <a:fld id="{E242BD21-9B61-2246-BCB1-4BE5E1BEBE1C}" type="slidenum">
              <a:rPr lang="en-US" noProof="1" smtClean="0"/>
              <a:pPr/>
              <a:t>4</a:t>
            </a:fld>
            <a:endParaRPr lang="en-US" noProof="1"/>
          </a:p>
        </p:txBody>
      </p:sp>
      <p:sp>
        <p:nvSpPr>
          <p:cNvPr id="6" name="Title 5">
            <a:extLst>
              <a:ext uri="{FF2B5EF4-FFF2-40B4-BE49-F238E27FC236}">
                <a16:creationId xmlns:a16="http://schemas.microsoft.com/office/drawing/2014/main" id="{E8BF3CA3-A905-50FB-54DA-F25648C3461A}"/>
              </a:ext>
            </a:extLst>
          </p:cNvPr>
          <p:cNvSpPr>
            <a:spLocks noGrp="1"/>
          </p:cNvSpPr>
          <p:nvPr>
            <p:ph type="title"/>
          </p:nvPr>
        </p:nvSpPr>
        <p:spPr>
          <a:xfrm>
            <a:off x="154800" y="440112"/>
            <a:ext cx="11880000" cy="710067"/>
          </a:xfrm>
        </p:spPr>
        <p:txBody>
          <a:bodyPr/>
          <a:lstStyle/>
          <a:p>
            <a:r>
              <a:rPr lang="en-US" noProof="1"/>
              <a:t>Maintainability delta scores for removed code </a:t>
            </a:r>
            <a:r>
              <a:rPr lang="en-GB" dirty="0"/>
              <a:t>between PERIOD_START_DATE and PERIOD_END_DATE</a:t>
            </a:r>
            <a:endParaRPr lang="en-US" noProof="1"/>
          </a:p>
        </p:txBody>
      </p:sp>
      <p:sp>
        <p:nvSpPr>
          <p:cNvPr id="7" name="Content Placeholder 2">
            <a:extLst>
              <a:ext uri="{FF2B5EF4-FFF2-40B4-BE49-F238E27FC236}">
                <a16:creationId xmlns:a16="http://schemas.microsoft.com/office/drawing/2014/main" id="{CCFDC5B5-1359-7769-07EB-0ABDF08A6234}"/>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sz="1200" noProof="1">
                <a:ea typeface="Calibri"/>
                <a:cs typeface="Calibri"/>
              </a:rPr>
              <a:t>@@</a:t>
            </a:r>
          </a:p>
        </p:txBody>
      </p:sp>
      <p:sp>
        <p:nvSpPr>
          <p:cNvPr id="8" name="Rounded Rectangle 7"/>
          <p:cNvSpPr/>
          <p:nvPr/>
        </p:nvSpPr>
        <p:spPr>
          <a:xfrm>
            <a:off x="2155863"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9" name="TextBox 8"/>
          <p:cNvSpPr txBox="1"/>
          <p:nvPr/>
        </p:nvSpPr>
        <p:spPr>
          <a:xfrm>
            <a:off x="2280221" y="1986077"/>
            <a:ext cx="2303325" cy="186538"/>
          </a:xfrm>
          <a:prstGeom prst="rect">
            <a:avLst/>
          </a:prstGeom>
          <a:noFill/>
        </p:spPr>
        <p:txBody>
          <a:bodyPr wrap="square" lIns="0" tIns="0" rIns="0" bIns="0">
            <a:spAutoFit/>
          </a:bodyPr>
          <a:lstStyle/>
          <a:p>
            <a:pPr algn="l"/>
            <a:r>
              <a:rPr sz="884" b="1">
                <a:solidFill>
                  <a:srgbClr val="1F2933"/>
                </a:solidFill>
                <a:latin typeface="Arial"/>
              </a:rPr>
              <a:t>Removed code quality</a:t>
            </a:r>
          </a:p>
        </p:txBody>
      </p:sp>
      <p:sp>
        <p:nvSpPr>
          <p:cNvPr id="10" name="TextBox 9"/>
          <p:cNvSpPr txBox="1"/>
          <p:nvPr/>
        </p:nvSpPr>
        <p:spPr>
          <a:xfrm>
            <a:off x="2280221" y="2234794"/>
            <a:ext cx="2303325" cy="994867"/>
          </a:xfrm>
          <a:prstGeom prst="rect">
            <a:avLst/>
          </a:prstGeom>
          <a:noFill/>
        </p:spPr>
        <p:txBody>
          <a:bodyPr wrap="square" lIns="0" tIns="0" rIns="0" bIns="0">
            <a:spAutoFit/>
          </a:bodyPr>
          <a:lstStyle/>
          <a:p>
            <a:pPr algn="l"/>
            <a:r>
              <a:rPr sz="577" b="0">
                <a:solidFill>
                  <a:srgbClr val="5B6570"/>
                </a:solidFill>
                <a:latin typeface="Arial"/>
              </a:rPr>
              <a:t>This compares the quality of removed code against the quality of the existing code. "Deleted code (Before)" refers to the quality of the code in files that were removed during the selected period, measured at the start of the period; "Total code (Before)" refers to the quality of the system as a whole at the start of the selected period.</a:t>
            </a:r>
          </a:p>
        </p:txBody>
      </p:sp>
      <p:sp>
        <p:nvSpPr>
          <p:cNvPr id="11" name="TextBox 10"/>
          <p:cNvSpPr txBox="1"/>
          <p:nvPr/>
        </p:nvSpPr>
        <p:spPr>
          <a:xfrm>
            <a:off x="2280221" y="3453506"/>
            <a:ext cx="767775" cy="136794"/>
          </a:xfrm>
          <a:prstGeom prst="rect">
            <a:avLst/>
          </a:prstGeom>
          <a:noFill/>
        </p:spPr>
        <p:txBody>
          <a:bodyPr wrap="square" lIns="0" tIns="0" rIns="0" bIns="0">
            <a:spAutoFit/>
          </a:bodyPr>
          <a:lstStyle/>
          <a:p>
            <a:pPr algn="l"/>
            <a:r>
              <a:rPr sz="645" b="0">
                <a:solidFill>
                  <a:srgbClr val="5B6570"/>
                </a:solidFill>
                <a:latin typeface="Arial"/>
              </a:rPr>
              <a:t>Volume</a:t>
            </a:r>
          </a:p>
        </p:txBody>
      </p:sp>
      <p:sp>
        <p:nvSpPr>
          <p:cNvPr id="12" name="TextBox 11"/>
          <p:cNvSpPr txBox="1"/>
          <p:nvPr/>
        </p:nvSpPr>
        <p:spPr>
          <a:xfrm>
            <a:off x="2280221" y="3590300"/>
            <a:ext cx="767775" cy="186538"/>
          </a:xfrm>
          <a:prstGeom prst="rect">
            <a:avLst/>
          </a:prstGeom>
          <a:noFill/>
        </p:spPr>
        <p:txBody>
          <a:bodyPr wrap="square" lIns="0" tIns="0" rIns="0" bIns="0">
            <a:spAutoFit/>
          </a:bodyPr>
          <a:lstStyle/>
          <a:p>
            <a:pPr algn="l"/>
            <a:r>
              <a:rPr sz="952" b="1">
                <a:solidFill>
                  <a:srgbClr val="1F2933"/>
                </a:solidFill>
                <a:latin typeface="Arial"/>
              </a:rPr>
              <a:t>—</a:t>
            </a:r>
          </a:p>
        </p:txBody>
      </p:sp>
      <p:sp>
        <p:nvSpPr>
          <p:cNvPr id="13" name="TextBox 12"/>
          <p:cNvSpPr txBox="1"/>
          <p:nvPr/>
        </p:nvSpPr>
        <p:spPr>
          <a:xfrm>
            <a:off x="3047996" y="3453506"/>
            <a:ext cx="767775" cy="136794"/>
          </a:xfrm>
          <a:prstGeom prst="rect">
            <a:avLst/>
          </a:prstGeom>
          <a:noFill/>
        </p:spPr>
        <p:txBody>
          <a:bodyPr wrap="square" lIns="0" tIns="0" rIns="0" bIns="0">
            <a:spAutoFit/>
          </a:bodyPr>
          <a:lstStyle/>
          <a:p>
            <a:pPr algn="l"/>
            <a:r>
              <a:rPr sz="645" b="0">
                <a:solidFill>
                  <a:srgbClr val="5B6570"/>
                </a:solidFill>
                <a:latin typeface="Arial"/>
              </a:rPr>
              <a:t>Rating</a:t>
            </a:r>
          </a:p>
        </p:txBody>
      </p:sp>
      <p:sp>
        <p:nvSpPr>
          <p:cNvPr id="14" name="TextBox 13"/>
          <p:cNvSpPr txBox="1"/>
          <p:nvPr/>
        </p:nvSpPr>
        <p:spPr>
          <a:xfrm>
            <a:off x="3047996" y="3590300"/>
            <a:ext cx="767775" cy="186538"/>
          </a:xfrm>
          <a:prstGeom prst="rect">
            <a:avLst/>
          </a:prstGeom>
          <a:noFill/>
        </p:spPr>
        <p:txBody>
          <a:bodyPr wrap="square" lIns="0" tIns="0" rIns="0" bIns="0">
            <a:spAutoFit/>
          </a:bodyPr>
          <a:lstStyle/>
          <a:p>
            <a:pPr algn="l"/>
            <a:r>
              <a:rPr sz="952" b="1">
                <a:solidFill>
                  <a:srgbClr val="1F2933"/>
                </a:solidFill>
                <a:latin typeface="Arial"/>
              </a:rPr>
              <a:t>DELTA_QUALITY_REMOVED_CODE_SUMMARY_RATING ★</a:t>
            </a:r>
          </a:p>
        </p:txBody>
      </p:sp>
      <p:sp>
        <p:nvSpPr>
          <p:cNvPr id="15" name="Rounded Rectangle 14"/>
          <p:cNvSpPr/>
          <p:nvPr/>
        </p:nvSpPr>
        <p:spPr>
          <a:xfrm>
            <a:off x="4819827"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16" name="TextBox 15"/>
          <p:cNvSpPr txBox="1"/>
          <p:nvPr/>
        </p:nvSpPr>
        <p:spPr>
          <a:xfrm>
            <a:off x="4931749" y="1986077"/>
            <a:ext cx="2328197" cy="186538"/>
          </a:xfrm>
          <a:prstGeom prst="rect">
            <a:avLst/>
          </a:prstGeom>
          <a:noFill/>
        </p:spPr>
        <p:txBody>
          <a:bodyPr wrap="square" lIns="0" tIns="0" rIns="0" bIns="0">
            <a:spAutoFit/>
          </a:bodyPr>
          <a:lstStyle/>
          <a:p>
            <a:pPr algn="l"/>
            <a:r>
              <a:rPr sz="850" b="1">
                <a:solidFill>
                  <a:srgbClr val="1F2933"/>
                </a:solidFill>
                <a:latin typeface="Arial"/>
              </a:rPr>
              <a:t>Duplication</a:t>
            </a:r>
          </a:p>
        </p:txBody>
      </p:sp>
      <p:graphicFrame>
        <p:nvGraphicFramePr>
          <p:cNvPr id="17" name="DELTA_QUALITY_REMOVED_CODE_DUPLICATION_CHART"/>
          <p:cNvGraphicFramePr>
            <a:graphicFrameLocks noGrp="1"/>
          </p:cNvGraphicFramePr>
          <p:nvPr/>
        </p:nvGraphicFramePr>
        <p:xfrm>
          <a:off x="4857134" y="2197486"/>
          <a:ext cx="2477427" cy="1392814"/>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4931749" y="3640044"/>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19" name="TextBox 18"/>
          <p:cNvSpPr txBox="1"/>
          <p:nvPr/>
        </p:nvSpPr>
        <p:spPr>
          <a:xfrm>
            <a:off x="4931749"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DELTA_QUALITY_REMOVED_CODE_DUPLICATION_RATING_DELETED_BEFORE ★</a:t>
            </a:r>
          </a:p>
        </p:txBody>
      </p:sp>
      <p:sp>
        <p:nvSpPr>
          <p:cNvPr id="20" name="TextBox 19"/>
          <p:cNvSpPr txBox="1"/>
          <p:nvPr/>
        </p:nvSpPr>
        <p:spPr>
          <a:xfrm>
            <a:off x="6095848" y="3640044"/>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1" name="TextBox 20"/>
          <p:cNvSpPr txBox="1"/>
          <p:nvPr/>
        </p:nvSpPr>
        <p:spPr>
          <a:xfrm>
            <a:off x="6095848"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DELTA_QUALITY_REMOVED_CODE_DUPLICATION_RATING_TOTAL_BEFORE ★</a:t>
            </a:r>
          </a:p>
        </p:txBody>
      </p:sp>
      <p:sp>
        <p:nvSpPr>
          <p:cNvPr id="22" name="Rounded Rectangle 21"/>
          <p:cNvSpPr/>
          <p:nvPr/>
        </p:nvSpPr>
        <p:spPr>
          <a:xfrm>
            <a:off x="7483791" y="1923898"/>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23" name="TextBox 22"/>
          <p:cNvSpPr txBox="1"/>
          <p:nvPr/>
        </p:nvSpPr>
        <p:spPr>
          <a:xfrm>
            <a:off x="7595714" y="1986077"/>
            <a:ext cx="2328197" cy="186538"/>
          </a:xfrm>
          <a:prstGeom prst="rect">
            <a:avLst/>
          </a:prstGeom>
          <a:noFill/>
        </p:spPr>
        <p:txBody>
          <a:bodyPr wrap="square" lIns="0" tIns="0" rIns="0" bIns="0">
            <a:spAutoFit/>
          </a:bodyPr>
          <a:lstStyle/>
          <a:p>
            <a:pPr algn="l"/>
            <a:r>
              <a:rPr sz="850" b="1">
                <a:solidFill>
                  <a:srgbClr val="1F2933"/>
                </a:solidFill>
                <a:latin typeface="Arial"/>
              </a:rPr>
              <a:t>Unit size</a:t>
            </a:r>
          </a:p>
        </p:txBody>
      </p:sp>
      <p:graphicFrame>
        <p:nvGraphicFramePr>
          <p:cNvPr id="24" name="DELTA_QUALITY_REMOVED_CODE_UNIT_SIZE_CHART"/>
          <p:cNvGraphicFramePr>
            <a:graphicFrameLocks noGrp="1"/>
          </p:cNvGraphicFramePr>
          <p:nvPr/>
        </p:nvGraphicFramePr>
        <p:xfrm>
          <a:off x="7521098" y="2197486"/>
          <a:ext cx="2477427" cy="1392814"/>
        </p:xfrm>
        <a:graphic>
          <a:graphicData uri="http://schemas.openxmlformats.org/drawingml/2006/chart">
            <c:chart xmlns:c="http://schemas.openxmlformats.org/drawingml/2006/chart" xmlns:r="http://schemas.openxmlformats.org/officeDocument/2006/relationships" r:id="rId4"/>
          </a:graphicData>
        </a:graphic>
      </p:graphicFrame>
      <p:sp>
        <p:nvSpPr>
          <p:cNvPr id="25" name="TextBox 24"/>
          <p:cNvSpPr txBox="1"/>
          <p:nvPr/>
        </p:nvSpPr>
        <p:spPr>
          <a:xfrm>
            <a:off x="7595714" y="3640044"/>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26" name="TextBox 25"/>
          <p:cNvSpPr txBox="1"/>
          <p:nvPr/>
        </p:nvSpPr>
        <p:spPr>
          <a:xfrm>
            <a:off x="7595714"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DELTA_QUALITY_REMOVED_CODE_UNIT_SIZE_RATING_DELETED_BEFORE ★</a:t>
            </a:r>
          </a:p>
        </p:txBody>
      </p:sp>
      <p:sp>
        <p:nvSpPr>
          <p:cNvPr id="27" name="TextBox 26"/>
          <p:cNvSpPr txBox="1"/>
          <p:nvPr/>
        </p:nvSpPr>
        <p:spPr>
          <a:xfrm>
            <a:off x="8759812" y="3640044"/>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28" name="TextBox 27"/>
          <p:cNvSpPr txBox="1"/>
          <p:nvPr/>
        </p:nvSpPr>
        <p:spPr>
          <a:xfrm>
            <a:off x="8759812" y="3789274"/>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DELTA_QUALITY_REMOVED_CODE_UNIT_SIZE_RATING_TOTAL_BEFORE ★</a:t>
            </a:r>
          </a:p>
        </p:txBody>
      </p:sp>
      <p:sp>
        <p:nvSpPr>
          <p:cNvPr id="29" name="Rounded Rectangle 28"/>
          <p:cNvSpPr/>
          <p:nvPr/>
        </p:nvSpPr>
        <p:spPr>
          <a:xfrm>
            <a:off x="2155863"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0" name="TextBox 29"/>
          <p:cNvSpPr txBox="1"/>
          <p:nvPr/>
        </p:nvSpPr>
        <p:spPr>
          <a:xfrm>
            <a:off x="2267785" y="4187220"/>
            <a:ext cx="2328197" cy="186538"/>
          </a:xfrm>
          <a:prstGeom prst="rect">
            <a:avLst/>
          </a:prstGeom>
          <a:noFill/>
        </p:spPr>
        <p:txBody>
          <a:bodyPr wrap="square" lIns="0" tIns="0" rIns="0" bIns="0">
            <a:spAutoFit/>
          </a:bodyPr>
          <a:lstStyle/>
          <a:p>
            <a:pPr algn="l"/>
            <a:r>
              <a:rPr sz="850" b="1">
                <a:solidFill>
                  <a:srgbClr val="1F2933"/>
                </a:solidFill>
                <a:latin typeface="Arial"/>
              </a:rPr>
              <a:t>Unit complexity</a:t>
            </a:r>
          </a:p>
        </p:txBody>
      </p:sp>
      <p:graphicFrame>
        <p:nvGraphicFramePr>
          <p:cNvPr id="31" name="DELTA_QUALITY_REMOVED_CODE_UNIT_COMPLEXITY_CHART"/>
          <p:cNvGraphicFramePr>
            <a:graphicFrameLocks noGrp="1"/>
          </p:cNvGraphicFramePr>
          <p:nvPr/>
        </p:nvGraphicFramePr>
        <p:xfrm>
          <a:off x="2193170" y="4398630"/>
          <a:ext cx="2477427" cy="1392814"/>
        </p:xfrm>
        <a:graphic>
          <a:graphicData uri="http://schemas.openxmlformats.org/drawingml/2006/chart">
            <c:chart xmlns:c="http://schemas.openxmlformats.org/drawingml/2006/chart" xmlns:r="http://schemas.openxmlformats.org/officeDocument/2006/relationships" r:id="rId5"/>
          </a:graphicData>
        </a:graphic>
      </p:graphicFrame>
      <p:sp>
        <p:nvSpPr>
          <p:cNvPr id="32" name="TextBox 31"/>
          <p:cNvSpPr txBox="1"/>
          <p:nvPr/>
        </p:nvSpPr>
        <p:spPr>
          <a:xfrm>
            <a:off x="2267785" y="5841187"/>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33" name="TextBox 32"/>
          <p:cNvSpPr txBox="1"/>
          <p:nvPr/>
        </p:nvSpPr>
        <p:spPr>
          <a:xfrm>
            <a:off x="2267785"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DELTA_QUALITY_REMOVED_CODE_UNIT_COMPLEXITY_RATING_DELETED_BEFORE ★</a:t>
            </a:r>
          </a:p>
        </p:txBody>
      </p:sp>
      <p:sp>
        <p:nvSpPr>
          <p:cNvPr id="34" name="TextBox 33"/>
          <p:cNvSpPr txBox="1"/>
          <p:nvPr/>
        </p:nvSpPr>
        <p:spPr>
          <a:xfrm>
            <a:off x="3431883"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35" name="TextBox 34"/>
          <p:cNvSpPr txBox="1"/>
          <p:nvPr/>
        </p:nvSpPr>
        <p:spPr>
          <a:xfrm>
            <a:off x="3431883"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DELTA_QUALITY_REMOVED_CODE_UNIT_COMPLEXITY_RATING_TOTAL_BEFORE ★</a:t>
            </a:r>
          </a:p>
        </p:txBody>
      </p:sp>
      <p:sp>
        <p:nvSpPr>
          <p:cNvPr id="36" name="Rounded Rectangle 35"/>
          <p:cNvSpPr/>
          <p:nvPr/>
        </p:nvSpPr>
        <p:spPr>
          <a:xfrm>
            <a:off x="4819827"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37" name="TextBox 36"/>
          <p:cNvSpPr txBox="1"/>
          <p:nvPr/>
        </p:nvSpPr>
        <p:spPr>
          <a:xfrm>
            <a:off x="4931749" y="4187220"/>
            <a:ext cx="2328197" cy="186538"/>
          </a:xfrm>
          <a:prstGeom prst="rect">
            <a:avLst/>
          </a:prstGeom>
          <a:noFill/>
        </p:spPr>
        <p:txBody>
          <a:bodyPr wrap="square" lIns="0" tIns="0" rIns="0" bIns="0">
            <a:spAutoFit/>
          </a:bodyPr>
          <a:lstStyle/>
          <a:p>
            <a:pPr algn="l"/>
            <a:r>
              <a:rPr sz="850" b="1">
                <a:solidFill>
                  <a:srgbClr val="1F2933"/>
                </a:solidFill>
                <a:latin typeface="Arial"/>
              </a:rPr>
              <a:t>Unit interfacing</a:t>
            </a:r>
          </a:p>
        </p:txBody>
      </p:sp>
      <p:graphicFrame>
        <p:nvGraphicFramePr>
          <p:cNvPr id="38" name="DELTA_QUALITY_REMOVED_CODE_UNIT_INTERFACING_CHART"/>
          <p:cNvGraphicFramePr>
            <a:graphicFrameLocks noGrp="1"/>
          </p:cNvGraphicFramePr>
          <p:nvPr/>
        </p:nvGraphicFramePr>
        <p:xfrm>
          <a:off x="4857134" y="4398630"/>
          <a:ext cx="2477427" cy="1392814"/>
        </p:xfrm>
        <a:graphic>
          <a:graphicData uri="http://schemas.openxmlformats.org/drawingml/2006/chart">
            <c:chart xmlns:c="http://schemas.openxmlformats.org/drawingml/2006/chart" xmlns:r="http://schemas.openxmlformats.org/officeDocument/2006/relationships" r:id="rId6"/>
          </a:graphicData>
        </a:graphic>
      </p:graphicFrame>
      <p:sp>
        <p:nvSpPr>
          <p:cNvPr id="39" name="TextBox 38"/>
          <p:cNvSpPr txBox="1"/>
          <p:nvPr/>
        </p:nvSpPr>
        <p:spPr>
          <a:xfrm>
            <a:off x="4931749" y="5841187"/>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40" name="TextBox 39"/>
          <p:cNvSpPr txBox="1"/>
          <p:nvPr/>
        </p:nvSpPr>
        <p:spPr>
          <a:xfrm>
            <a:off x="4931749"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DELTA_QUALITY_REMOVED_CODE_UNIT_INTERFACING_RATING_DELETED_BEFORE ★</a:t>
            </a:r>
          </a:p>
        </p:txBody>
      </p:sp>
      <p:sp>
        <p:nvSpPr>
          <p:cNvPr id="41" name="TextBox 40"/>
          <p:cNvSpPr txBox="1"/>
          <p:nvPr/>
        </p:nvSpPr>
        <p:spPr>
          <a:xfrm>
            <a:off x="6095848"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2" name="TextBox 41"/>
          <p:cNvSpPr txBox="1"/>
          <p:nvPr/>
        </p:nvSpPr>
        <p:spPr>
          <a:xfrm>
            <a:off x="6095848"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DELTA_QUALITY_REMOVED_CODE_UNIT_INTERFACING_RATING_TOTAL_BEFORE ★</a:t>
            </a:r>
          </a:p>
        </p:txBody>
      </p:sp>
      <p:sp>
        <p:nvSpPr>
          <p:cNvPr id="43" name="Rounded Rectangle 42"/>
          <p:cNvSpPr/>
          <p:nvPr/>
        </p:nvSpPr>
        <p:spPr>
          <a:xfrm>
            <a:off x="7483791" y="4125041"/>
            <a:ext cx="2552042" cy="2089221"/>
          </a:xfrm>
          <a:prstGeom prst="roundRect">
            <a:avLst>
              <a:gd name="adj" fmla="val 3500"/>
            </a:avLst>
          </a:prstGeom>
          <a:solidFill>
            <a:srgbClr val="FFFFFF"/>
          </a:solidFill>
          <a:ln w="8636">
            <a:solidFill>
              <a:srgbClr val="DADEE1"/>
            </a:solidFill>
          </a:ln>
          <a:effectLst>
            <a:outerShdw blurRad="9525" dist="9525" dir="2700000" algn="tl" rotWithShape="0">
              <a:prstClr val="black">
                <a:alpha val="15000"/>
              </a:prstClr>
            </a:outerShdw>
          </a:effectLst>
        </p:spPr>
        <p:txBody>
          <a:bodyPr rtlCol="0" anchor="ctr"/>
          <a:lstStyle/>
          <a:p>
            <a:pPr algn="ctr"/>
            <a:endParaRPr/>
          </a:p>
        </p:txBody>
      </p:sp>
      <p:sp>
        <p:nvSpPr>
          <p:cNvPr id="44" name="TextBox 43"/>
          <p:cNvSpPr txBox="1"/>
          <p:nvPr/>
        </p:nvSpPr>
        <p:spPr>
          <a:xfrm>
            <a:off x="7595714" y="4187220"/>
            <a:ext cx="2328197" cy="186538"/>
          </a:xfrm>
          <a:prstGeom prst="rect">
            <a:avLst/>
          </a:prstGeom>
          <a:noFill/>
        </p:spPr>
        <p:txBody>
          <a:bodyPr wrap="square" lIns="0" tIns="0" rIns="0" bIns="0">
            <a:spAutoFit/>
          </a:bodyPr>
          <a:lstStyle/>
          <a:p>
            <a:pPr algn="l"/>
            <a:r>
              <a:rPr sz="850" b="1">
                <a:solidFill>
                  <a:srgbClr val="1F2933"/>
                </a:solidFill>
                <a:latin typeface="Arial"/>
              </a:rPr>
              <a:t>Module coupling</a:t>
            </a:r>
          </a:p>
        </p:txBody>
      </p:sp>
      <p:graphicFrame>
        <p:nvGraphicFramePr>
          <p:cNvPr id="45" name="DELTA_QUALITY_REMOVED_CODE_MODULE_COUPLING_CHART"/>
          <p:cNvGraphicFramePr>
            <a:graphicFrameLocks noGrp="1"/>
          </p:cNvGraphicFramePr>
          <p:nvPr/>
        </p:nvGraphicFramePr>
        <p:xfrm>
          <a:off x="7521098" y="4398630"/>
          <a:ext cx="2477427" cy="1392814"/>
        </p:xfrm>
        <a:graphic>
          <a:graphicData uri="http://schemas.openxmlformats.org/drawingml/2006/chart">
            <c:chart xmlns:c="http://schemas.openxmlformats.org/drawingml/2006/chart" xmlns:r="http://schemas.openxmlformats.org/officeDocument/2006/relationships" r:id="rId7"/>
          </a:graphicData>
        </a:graphic>
      </p:graphicFrame>
      <p:sp>
        <p:nvSpPr>
          <p:cNvPr id="46" name="TextBox 45"/>
          <p:cNvSpPr txBox="1"/>
          <p:nvPr/>
        </p:nvSpPr>
        <p:spPr>
          <a:xfrm>
            <a:off x="7595714" y="5841187"/>
            <a:ext cx="1164098" cy="149230"/>
          </a:xfrm>
          <a:prstGeom prst="rect">
            <a:avLst/>
          </a:prstGeom>
          <a:noFill/>
        </p:spPr>
        <p:txBody>
          <a:bodyPr wrap="square" lIns="0" tIns="0" rIns="0" bIns="0">
            <a:spAutoFit/>
          </a:bodyPr>
          <a:lstStyle/>
          <a:p>
            <a:pPr algn="ctr"/>
            <a:r>
              <a:rPr sz="577" b="0">
                <a:solidFill>
                  <a:srgbClr val="5B6570"/>
                </a:solidFill>
                <a:latin typeface="Arial"/>
              </a:rPr>
              <a:t>Deleted code (Before)</a:t>
            </a:r>
          </a:p>
        </p:txBody>
      </p:sp>
      <p:sp>
        <p:nvSpPr>
          <p:cNvPr id="47" name="TextBox 46"/>
          <p:cNvSpPr txBox="1"/>
          <p:nvPr/>
        </p:nvSpPr>
        <p:spPr>
          <a:xfrm>
            <a:off x="7595714"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DELTA_QUALITY_REMOVED_CODE_MODULE_COUPLING_RATING_DELETED_BEFORE ★</a:t>
            </a:r>
          </a:p>
        </p:txBody>
      </p:sp>
      <p:sp>
        <p:nvSpPr>
          <p:cNvPr id="48" name="TextBox 47"/>
          <p:cNvSpPr txBox="1"/>
          <p:nvPr/>
        </p:nvSpPr>
        <p:spPr>
          <a:xfrm>
            <a:off x="8759812" y="5841187"/>
            <a:ext cx="1164098" cy="149230"/>
          </a:xfrm>
          <a:prstGeom prst="rect">
            <a:avLst/>
          </a:prstGeom>
          <a:noFill/>
        </p:spPr>
        <p:txBody>
          <a:bodyPr wrap="square" lIns="0" tIns="0" rIns="0" bIns="0">
            <a:spAutoFit/>
          </a:bodyPr>
          <a:lstStyle/>
          <a:p>
            <a:pPr algn="ctr"/>
            <a:r>
              <a:rPr sz="577" b="0">
                <a:solidFill>
                  <a:srgbClr val="5B6570"/>
                </a:solidFill>
                <a:latin typeface="Arial"/>
              </a:rPr>
              <a:t>Total code (Before)</a:t>
            </a:r>
          </a:p>
        </p:txBody>
      </p:sp>
      <p:sp>
        <p:nvSpPr>
          <p:cNvPr id="49" name="TextBox 48"/>
          <p:cNvSpPr txBox="1"/>
          <p:nvPr/>
        </p:nvSpPr>
        <p:spPr>
          <a:xfrm>
            <a:off x="8759812" y="5990417"/>
            <a:ext cx="1164098" cy="161666"/>
          </a:xfrm>
          <a:prstGeom prst="rect">
            <a:avLst/>
          </a:prstGeom>
          <a:noFill/>
        </p:spPr>
        <p:txBody>
          <a:bodyPr wrap="square" lIns="0" tIns="0" rIns="0" bIns="0">
            <a:spAutoFit/>
          </a:bodyPr>
          <a:lstStyle/>
          <a:p>
            <a:pPr algn="ctr"/>
            <a:r>
              <a:rPr sz="679" b="0">
                <a:solidFill>
                  <a:srgbClr val="5B6570"/>
                </a:solidFill>
                <a:latin typeface="Arial"/>
              </a:rPr>
              <a:t>DELTA_QUALITY_REMOVED_CODE_MODULE_COUPLING_RATING_TOTAL_BEFORE ★</a:t>
            </a:r>
          </a:p>
        </p:txBody>
      </p:sp>
      <p:sp>
        <p:nvSpPr>
          <p:cNvPr id="4" name="Footer Placeholder 4">
            <a:extLst>
              <a:ext uri="{FF2B5EF4-FFF2-40B4-BE49-F238E27FC236}">
                <a16:creationId xmlns:a16="http://schemas.microsoft.com/office/drawing/2014/main" id="{5B5C2AB3-8D9F-4FA1-EBF1-976805C59BD4}"/>
              </a:ext>
            </a:extLst>
          </p:cNvPr>
          <p:cNvSpPr>
            <a:spLocks noGrp="1"/>
          </p:cNvSpPr>
          <p:nvPr>
            <p:ph type="ftr" sz="quarter" idx="3"/>
          </p:nvPr>
        </p:nvSpPr>
        <p:spPr>
          <a:xfrm>
            <a:off x="192158" y="6392274"/>
            <a:ext cx="1763922" cy="370422"/>
          </a:xfrm>
          <a:prstGeom prst="rect">
            <a:avLst/>
          </a:prstGeom>
        </p:spPr>
        <p:txBody>
          <a:body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643982527"/>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18385</TotalTime>
  <Words>634</Words>
  <Application>Microsoft Macintosh PowerPoint</Application>
  <PresentationFormat>Widescreen</PresentationFormat>
  <Paragraphs>129</Paragraphs>
  <Slides>4</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vt:i4>
      </vt:variant>
    </vt:vector>
  </HeadingPairs>
  <TitlesOfParts>
    <vt:vector size="15" baseType="lpstr">
      <vt:lpstr>Arial</vt:lpstr>
      <vt:lpstr>Azeret Mono</vt:lpstr>
      <vt:lpstr>Azeret Mono Medium</vt:lpstr>
      <vt:lpstr>Calibri</vt:lpstr>
      <vt:lpstr>Calibri Bold</vt:lpstr>
      <vt:lpstr>Helvetica Neue Bold</vt:lpstr>
      <vt:lpstr>Noir Pro</vt:lpstr>
      <vt:lpstr>Noir Pro Medium</vt:lpstr>
      <vt:lpstr>Noir Pro Semi Bold</vt:lpstr>
      <vt:lpstr>Light theme (default)</vt:lpstr>
      <vt:lpstr>Dark theme</vt:lpstr>
      <vt:lpstr>PowerPoint Presentation</vt:lpstr>
      <vt:lpstr>Maintainability delta scores for newly added code between PORTFOLIO_PERIOD_START_DATE and PORTFOLIO_PERIOD_END_DATE</vt:lpstr>
      <vt:lpstr>Maintainability delta scores for changed code between PORTFOLIO_PERIOD_START_DATE and PORTFOLIO_PERIOD_END_DATE</vt:lpstr>
      <vt:lpstr>Maintainability delta scores for removed code between PORTFOLIO_PERIOD_START_DATE and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Andrei Tociu</cp:lastModifiedBy>
  <cp:revision>208</cp:revision>
  <cp:lastPrinted>2020-04-20T09:37:43Z</cp:lastPrinted>
  <dcterms:created xsi:type="dcterms:W3CDTF">2025-10-22T11:22:13Z</dcterms:created>
  <dcterms:modified xsi:type="dcterms:W3CDTF">2026-08-04T19:43:28Z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