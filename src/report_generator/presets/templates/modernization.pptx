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561" r:id="rId5"/>
    <p:sldId id="1547" r:id="rId6"/>
    <p:sldId id="1507" r:id="rId7"/>
    <p:sldId id="1766" r:id="rId8"/>
    <p:sldId id="1763" r:id="rId9"/>
    <p:sldId id="1764" r:id="rId10"/>
    <p:sldId id="1765" r:id="rId11"/>
    <p:sldId id="59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 management" id="{F882C068-ED6C-C445-9194-29C46CFF67E1}">
          <p14:sldIdLst/>
        </p14:section>
        <p14:section name="Front matter" id="{4A730639-607C-0E46-A965-5C2D2651664E}">
          <p14:sldIdLst>
            <p14:sldId id="561"/>
            <p14:sldId id="1547"/>
            <p14:sldId id="1507"/>
            <p14:sldId id="1766"/>
            <p14:sldId id="1763"/>
            <p14:sldId id="1764"/>
            <p14:sldId id="1765"/>
          </p14:sldIdLst>
        </p14:section>
        <p14:section name="Back matter" id="{3FD0872C-192F-5B46-895B-A626D88A1562}">
          <p14:sldIdLst>
            <p14:sldId id="597"/>
          </p14:sldIdLst>
        </p14:section>
        <p14:section name="Maintainability metrics" id="{A432B334-BA3D-FA4F-AC8E-C1EF3306B678}">
          <p14:sldIdLst/>
        </p14:section>
        <p14:section name="Architecture Metric Explanations" id="{4D6A3F6C-777D-D047-839D-BEA038349BE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7526"/>
    <a:srgbClr val="67E77F"/>
    <a:srgbClr val="0066FF"/>
    <a:srgbClr val="8A98A8"/>
    <a:srgbClr val="DF6837"/>
    <a:srgbClr val="DBE1FF"/>
    <a:srgbClr val="8DA8FF"/>
    <a:srgbClr val="2E6BFF"/>
    <a:srgbClr val="003DAB"/>
    <a:srgbClr val="C0CE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2094BA-3324-E44C-AFE3-01F0E8F31A48}" v="69" dt="2024-01-12T19:24:27.5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446"/>
    <p:restoredTop sz="96327"/>
  </p:normalViewPr>
  <p:slideViewPr>
    <p:cSldViewPr snapToGrid="0" snapToObjects="1" showGuides="1">
      <p:cViewPr varScale="1">
        <p:scale>
          <a:sx n="221" d="100"/>
          <a:sy n="221" d="100"/>
        </p:scale>
        <p:origin x="184" y="-1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8" d="100"/>
        <a:sy n="38" d="100"/>
      </p:scale>
      <p:origin x="0" y="0"/>
    </p:cViewPr>
  </p:sorterViewPr>
  <p:notesViewPr>
    <p:cSldViewPr snapToGrid="0" snapToObjects="1">
      <p:cViewPr varScale="1">
        <p:scale>
          <a:sx n="163" d="100"/>
          <a:sy n="163" d="100"/>
        </p:scale>
        <p:origin x="6728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84043513688066"/>
          <c:y val="7.1697246744931845E-2"/>
          <c:w val="0.81894294916779253"/>
          <c:h val="0.8799030863362404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Technical debt</c:v>
                </c:pt>
              </c:strCache>
            </c:strRef>
          </c:tx>
          <c:spPr>
            <a:solidFill>
              <a:srgbClr val="E17526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E17526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8D46-3D4B-996A-4B880DC4E095}"/>
              </c:ext>
            </c:extLst>
          </c:dPt>
          <c:cat>
            <c:strRef>
              <c:f>Sheet1!$A$2:$A$11</c:f>
              <c:strCache>
                <c:ptCount val="10"/>
                <c:pt idx="0">
                  <c:v>System 1 has a very long name</c:v>
                </c:pt>
                <c:pt idx="1">
                  <c:v>System 2</c:v>
                </c:pt>
                <c:pt idx="2">
                  <c:v>System 3</c:v>
                </c:pt>
                <c:pt idx="3">
                  <c:v>System 4</c:v>
                </c:pt>
                <c:pt idx="4">
                  <c:v>System 5</c:v>
                </c:pt>
                <c:pt idx="5">
                  <c:v>System 6</c:v>
                </c:pt>
                <c:pt idx="6">
                  <c:v>System 7</c:v>
                </c:pt>
                <c:pt idx="7">
                  <c:v>System 8</c:v>
                </c:pt>
                <c:pt idx="8">
                  <c:v>System 9</c:v>
                </c:pt>
                <c:pt idx="9">
                  <c:v>System 10</c:v>
                </c:pt>
              </c:strCache>
            </c:strRef>
          </c:cat>
          <c:val>
            <c:numRef>
              <c:f>Sheet1!$B$2:$B$11</c:f>
              <c:numCache>
                <c:formatCode>0.0</c:formatCode>
                <c:ptCount val="10"/>
                <c:pt idx="0">
                  <c:v>100</c:v>
                </c:pt>
                <c:pt idx="1">
                  <c:v>80</c:v>
                </c:pt>
                <c:pt idx="2">
                  <c:v>70</c:v>
                </c:pt>
                <c:pt idx="3">
                  <c:v>60</c:v>
                </c:pt>
                <c:pt idx="4">
                  <c:v>50</c:v>
                </c:pt>
                <c:pt idx="5">
                  <c:v>40</c:v>
                </c:pt>
                <c:pt idx="6">
                  <c:v>30</c:v>
                </c:pt>
                <c:pt idx="7">
                  <c:v>20</c:v>
                </c:pt>
                <c:pt idx="8">
                  <c:v>10</c:v>
                </c:pt>
                <c:pt idx="9">
                  <c:v>5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4-8D46-3D4B-996A-4B880DC4E09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Remaining code volume</c:v>
                </c:pt>
              </c:strCache>
            </c:strRef>
          </c:tx>
          <c:spPr>
            <a:solidFill>
              <a:srgbClr val="C0CEDA"/>
            </a:solidFill>
            <a:ln w="19050"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System 1 has a very long name</c:v>
                </c:pt>
                <c:pt idx="1">
                  <c:v>System 2</c:v>
                </c:pt>
                <c:pt idx="2">
                  <c:v>System 3</c:v>
                </c:pt>
                <c:pt idx="3">
                  <c:v>System 4</c:v>
                </c:pt>
                <c:pt idx="4">
                  <c:v>System 5</c:v>
                </c:pt>
                <c:pt idx="5">
                  <c:v>System 6</c:v>
                </c:pt>
                <c:pt idx="6">
                  <c:v>System 7</c:v>
                </c:pt>
                <c:pt idx="7">
                  <c:v>System 8</c:v>
                </c:pt>
                <c:pt idx="8">
                  <c:v>System 9</c:v>
                </c:pt>
                <c:pt idx="9">
                  <c:v>System 10</c:v>
                </c:pt>
              </c:strCache>
            </c:strRef>
          </c:cat>
          <c:val>
            <c:numRef>
              <c:f>Sheet1!$C$2:$C$11</c:f>
              <c:numCache>
                <c:formatCode>0.0</c:formatCode>
                <c:ptCount val="10"/>
                <c:pt idx="0">
                  <c:v>50</c:v>
                </c:pt>
                <c:pt idx="1">
                  <c:v>100</c:v>
                </c:pt>
                <c:pt idx="2">
                  <c:v>50</c:v>
                </c:pt>
                <c:pt idx="3">
                  <c:v>100</c:v>
                </c:pt>
                <c:pt idx="4">
                  <c:v>20</c:v>
                </c:pt>
                <c:pt idx="5">
                  <c:v>30</c:v>
                </c:pt>
                <c:pt idx="6">
                  <c:v>40</c:v>
                </c:pt>
                <c:pt idx="7">
                  <c:v>50</c:v>
                </c:pt>
                <c:pt idx="8">
                  <c:v>30</c:v>
                </c:pt>
                <c:pt idx="9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D46-3D4B-996A-4B880DC4E0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Estimated change speed increase</c:v>
                </c:pt>
              </c:strCache>
            </c:strRef>
          </c:tx>
          <c:spPr>
            <a:solidFill>
              <a:schemeClr val="accent1"/>
            </a:solidFill>
            <a:ln w="19050">
              <a:noFill/>
            </a:ln>
            <a:effectLst/>
          </c:spPr>
          <c:invertIfNegative val="0"/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  <c:pt idx="1">
                  <c:v>1.8</c:v>
                </c:pt>
                <c:pt idx="2">
                  <c:v>2.6</c:v>
                </c:pt>
              </c:numCache>
            </c:numRef>
          </c:xVal>
          <c:yVal>
            <c:numRef>
              <c:f>Sheet1!$B$2:$B$4</c:f>
              <c:numCache>
                <c:formatCode>0%</c:formatCode>
                <c:ptCount val="3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</c:numCache>
            </c:numRef>
          </c:yVal>
          <c:bubbleSize>
            <c:numLit>
              <c:formatCode>General</c:formatCode>
              <c:ptCount val="3"/>
              <c:pt idx="0">
                <c:v>1</c:v>
              </c:pt>
              <c:pt idx="1">
                <c:v>1</c:v>
              </c:pt>
              <c:pt idx="2">
                <c:v>1</c:v>
              </c:pt>
            </c:numLit>
          </c:bubbleSize>
          <c:bubble3D val="0"/>
          <c:extLst>
            <c:ext xmlns:c16="http://schemas.microsoft.com/office/drawing/2014/chart" uri="{C3380CC4-5D6E-409C-BE32-E72D297353CC}">
              <c16:uniqueId val="{00000000-D4B8-B94C-91E4-2DDF998DBB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392045280"/>
        <c:axId val="392046992"/>
      </c:bubbleChart>
      <c:valAx>
        <c:axId val="3920452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2046992"/>
        <c:crosses val="autoZero"/>
        <c:crossBetween val="midCat"/>
      </c:valAx>
      <c:valAx>
        <c:axId val="3920469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2045280"/>
        <c:crosses val="autoZero"/>
        <c:crossBetween val="midCat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lec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D4EE728-E82E-704D-ADEB-24FAC51A50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9833"/>
            <a:ext cx="12192000" cy="687578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1BFBDC1-0F88-404F-8878-DA6B9775F7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7AF298E3-4E90-9E47-86B5-57AC257443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5414" y="2937600"/>
            <a:ext cx="8486893" cy="366712"/>
          </a:xfrm>
          <a:prstGeom prst="rect">
            <a:avLst/>
          </a:prstGeom>
        </p:spPr>
        <p:txBody>
          <a:bodyPr wrap="none"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 dirty="0"/>
              <a:t>Client name - System name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7C6FE27-98CB-9247-98B6-B1989EF943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415" y="3319200"/>
            <a:ext cx="8486892" cy="344488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presentation subject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F0D60B5C-8D30-9A43-A2F0-A420A72384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76161" y="6525935"/>
            <a:ext cx="1146147" cy="257763"/>
          </a:xfrm>
          <a:prstGeom prst="rect">
            <a:avLst/>
          </a:prstGeom>
        </p:spPr>
        <p:txBody>
          <a:bodyPr wrap="none" rIns="0">
            <a:spAutoFit/>
          </a:bodyPr>
          <a:lstStyle>
            <a:lvl1pPr marL="0" indent="0" algn="r">
              <a:buNone/>
              <a:defRPr sz="1000" b="1" cap="all" baseline="0">
                <a:solidFill>
                  <a:schemeClr val="bg1"/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REPORT DATE</a:t>
            </a:r>
          </a:p>
        </p:txBody>
      </p:sp>
    </p:spTree>
    <p:extLst>
      <p:ext uri="{BB962C8B-B14F-4D97-AF65-F5344CB8AC3E}">
        <p14:creationId xmlns:p14="http://schemas.microsoft.com/office/powerpoint/2010/main" val="4182363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22E66F4-7F53-DD4A-8713-C073FB230C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0000" y="1366268"/>
            <a:ext cx="10665667" cy="4952085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342900" indent="-3429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2BECD"/>
              </a:buClr>
              <a:buFont typeface="+mj-lt"/>
              <a:buAutoNum type="arabicPeriod"/>
              <a:defRPr lang="en-US" sz="1600" b="0" dirty="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  <a:lvl6pPr>
              <a:defRPr sz="1600">
                <a:solidFill>
                  <a:schemeClr val="tx2"/>
                </a:solidFill>
              </a:defRPr>
            </a:lvl6pPr>
            <a:lvl7pPr>
              <a:defRPr sz="1600">
                <a:solidFill>
                  <a:schemeClr val="tx2"/>
                </a:solidFill>
              </a:defRPr>
            </a:lvl7pPr>
            <a:lvl8pPr>
              <a:defRPr sz="1600">
                <a:solidFill>
                  <a:schemeClr val="tx2"/>
                </a:solidFill>
              </a:defRPr>
            </a:lvl8pPr>
          </a:lstStyle>
          <a:p>
            <a:pPr marL="342900" indent="-342900">
              <a:lnSpc>
                <a:spcPct val="114000"/>
              </a:lnSpc>
              <a:buClr>
                <a:srgbClr val="9FABB6"/>
              </a:buClr>
              <a:buFont typeface="+mj-lt"/>
              <a:buAutoNum type="arabicPeriod"/>
            </a:pPr>
            <a:r>
              <a:rPr lang="en-US" dirty="0"/>
              <a:t>Insert sections (make bold to highlight sections)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0DD217-089D-C949-BCCE-0C2D8196FA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B4138DB0-ED82-C84A-8589-E27E32B9B5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>
              <a:defRPr lang="en-US" sz="1000" b="1" spc="10" dirty="0">
                <a:solidFill>
                  <a:srgbClr val="B3BECD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0F7AAF3-E03F-F445-84B7-DEC6FD5CC0B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8F36FC-ED84-CE49-90C1-FB88EDBAE7F2}"/>
              </a:ext>
            </a:extLst>
          </p:cNvPr>
          <p:cNvSpPr/>
          <p:nvPr userDrawn="1"/>
        </p:nvSpPr>
        <p:spPr>
          <a:xfrm>
            <a:off x="1526401" y="0"/>
            <a:ext cx="10665600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smtClean="0"/>
              <a:pPr/>
              <a:t>‹#›</a:t>
            </a:fld>
            <a:endParaRPr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A2DC225-29A5-1C4E-85B1-B1B58619FC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37A1B97-F536-DA40-9B5F-C768D92CAC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0000" y="1366268"/>
            <a:ext cx="10665667" cy="4952085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342900" indent="-3429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2BECD"/>
              </a:buClr>
              <a:buFont typeface="+mj-lt"/>
              <a:buAutoNum type="arabicPeriod"/>
              <a:defRPr lang="en-US" sz="1600" b="0" dirty="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>
                <a:solidFill>
                  <a:schemeClr val="bg1"/>
                </a:solidFill>
              </a:defRPr>
            </a:lvl6pPr>
            <a:lvl7pPr>
              <a:defRPr sz="1600">
                <a:solidFill>
                  <a:schemeClr val="bg1"/>
                </a:solidFill>
              </a:defRPr>
            </a:lvl7pPr>
            <a:lvl8pPr>
              <a:defRPr sz="1600">
                <a:solidFill>
                  <a:schemeClr val="bg1"/>
                </a:solidFill>
              </a:defRPr>
            </a:lvl8pPr>
          </a:lstStyle>
          <a:p>
            <a:pPr marL="342900" indent="-342900">
              <a:lnSpc>
                <a:spcPct val="114000"/>
              </a:lnSpc>
              <a:buClr>
                <a:srgbClr val="9FABB6"/>
              </a:buClr>
              <a:buFont typeface="+mj-lt"/>
              <a:buAutoNum type="arabicPeriod"/>
            </a:pPr>
            <a:r>
              <a:rPr lang="en-US" dirty="0"/>
              <a:t>Insert sections (make bold to highlight sections)</a:t>
            </a:r>
          </a:p>
        </p:txBody>
      </p:sp>
    </p:spTree>
    <p:extLst>
      <p:ext uri="{BB962C8B-B14F-4D97-AF65-F5344CB8AC3E}">
        <p14:creationId xmlns:p14="http://schemas.microsoft.com/office/powerpoint/2010/main" val="3569207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864A3-F6DC-434B-B5BE-5F14C8CEA463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A8B0682-F79C-014E-BF74-DADFA39EC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46037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0DD217-089D-C949-BCCE-0C2D8196FA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06E028-6F75-5A40-AE18-EB44D4BC81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2499030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B723CB0-4ECE-354C-B92C-5CCAC7B1422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73487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rgbClr val="AA98C4"/>
              </a:gs>
              <a:gs pos="0">
                <a:srgbClr val="576BAA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062C32F-BF79-8E4D-80C7-A236088BE3DC}"/>
              </a:ext>
            </a:extLst>
          </p:cNvPr>
          <p:cNvSpPr/>
          <p:nvPr userDrawn="1"/>
        </p:nvSpPr>
        <p:spPr>
          <a:xfrm>
            <a:off x="-230588" y="385969"/>
            <a:ext cx="12730038" cy="7310231"/>
          </a:xfrm>
          <a:prstGeom prst="ellipse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45000">
                <a:srgbClr val="FFFFFF">
                  <a:alpha val="15000"/>
                </a:srgbClr>
              </a:gs>
              <a:gs pos="0">
                <a:schemeClr val="bg1">
                  <a:alpha val="5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B5964A-85C4-E845-8FF0-BCE54011F8F7}"/>
              </a:ext>
            </a:extLst>
          </p:cNvPr>
          <p:cNvSpPr/>
          <p:nvPr userDrawn="1"/>
        </p:nvSpPr>
        <p:spPr>
          <a:xfrm>
            <a:off x="0" y="-4586"/>
            <a:ext cx="12192000" cy="6858000"/>
          </a:xfrm>
          <a:prstGeom prst="rect">
            <a:avLst/>
          </a:prstGeom>
          <a:gradFill>
            <a:gsLst>
              <a:gs pos="100000">
                <a:srgbClr val="576BAA">
                  <a:alpha val="45000"/>
                </a:srgbClr>
              </a:gs>
              <a:gs pos="50000">
                <a:srgbClr val="AA98C4">
                  <a:alpha val="0"/>
                </a:srgbClr>
              </a:gs>
              <a:gs pos="0">
                <a:srgbClr val="576BAA">
                  <a:alpha val="6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chemeClr val="bg1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B723CB0-4ECE-354C-B92C-5CCAC7B1422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04821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rk with graphic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7F570A5C-1465-F949-AFD7-E381D9043B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49"/>
            <a:ext cx="12192000" cy="68687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4000">
                <a:schemeClr val="tx2">
                  <a:alpha val="80000"/>
                </a:schemeClr>
              </a:gs>
              <a:gs pos="0">
                <a:schemeClr val="tx2">
                  <a:alpha val="74000"/>
                </a:schemeClr>
              </a:gs>
              <a:gs pos="93000">
                <a:schemeClr val="tx2">
                  <a:alpha val="25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44">
              <a:solidFill>
                <a:schemeClr val="accent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FB5ABF-597D-DA40-9F8B-5743780B79A1}"/>
              </a:ext>
            </a:extLst>
          </p:cNvPr>
          <p:cNvSpPr/>
          <p:nvPr userDrawn="1"/>
        </p:nvSpPr>
        <p:spPr>
          <a:xfrm>
            <a:off x="0" y="1720892"/>
            <a:ext cx="12192000" cy="5145061"/>
          </a:xfrm>
          <a:prstGeom prst="rect">
            <a:avLst/>
          </a:prstGeom>
          <a:gradFill>
            <a:gsLst>
              <a:gs pos="46000">
                <a:schemeClr val="accent2">
                  <a:alpha val="0"/>
                </a:schemeClr>
              </a:gs>
              <a:gs pos="100000">
                <a:srgbClr val="DFC101">
                  <a:alpha val="32000"/>
                </a:srgbClr>
              </a:gs>
              <a:gs pos="82000">
                <a:schemeClr val="accent2">
                  <a:alpha val="1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912" tIns="57275" rIns="85912" bIns="57275" rtlCol="0" anchor="t"/>
          <a:lstStyle/>
          <a:p>
            <a:pPr algn="l"/>
            <a:endParaRPr lang="en-US" sz="1273" dirty="0" err="1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B229FA-CC1D-8949-846A-2C092B3B817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F1029506-2B22-D540-9093-4B18C0BD13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543FC0-FA8A-4842-8FC2-F203AF9029D4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0B6AD95-6CA1-134E-A06C-BEECADF70E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EC2317AA-E47D-1A45-A701-485ECFFE29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B399D4FA-CC06-BB46-A0F0-A490F2F2218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847504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reversed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401" y="0"/>
            <a:ext cx="10665600" cy="856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864A3-F6DC-434B-B5BE-5F14C8CEA463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A8B0682-F79C-014E-BF74-DADFA39EC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88014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0CA7ACA-36F1-CC4B-B88F-E30BC3BB7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70E661-2568-014D-9679-50866771DD38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5E177DEE-B705-3E43-89AC-7B3420354C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17FC6343-20BF-144E-82D5-AAFFD46B9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1934A-DE0A-C841-9479-688B6BBD602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50" y="1366838"/>
            <a:ext cx="5421313" cy="4950149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DA720B1-8ADB-B746-A933-6029EBDCC50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45667" y="1366837"/>
            <a:ext cx="5421313" cy="495015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990561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contr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02F3CE-3A89-6048-9903-A3ECEDE9519E}"/>
              </a:ext>
            </a:extLst>
          </p:cNvPr>
          <p:cNvSpPr/>
          <p:nvPr userDrawn="1"/>
        </p:nvSpPr>
        <p:spPr>
          <a:xfrm>
            <a:off x="6092456" y="857977"/>
            <a:ext cx="6099544" cy="60095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4A2A52-2842-B847-AEC4-CBD2BA3484C4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49C73C1F-AEDD-7D45-8181-915FDFA101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E9CA1143-6585-1C41-BCC0-F6D8645487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3655483-73D5-1842-B980-1CB68BC0E61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50" y="1366838"/>
            <a:ext cx="5421313" cy="4950149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502811-F846-1F49-AD36-092A6CA4C35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45667" y="1366837"/>
            <a:ext cx="5421313" cy="495015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3317707-F6BD-BC43-AFE4-EF3A58BA0D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594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AB487C9-ECA1-B54D-8C96-3D8551EC5901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FA66B3B-E195-4A46-97EC-4F5B8E0BC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163FBFA-31D9-6B47-A169-FE02B1144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C84D26-9EDC-F949-AC1A-A72B1BBE389A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5304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3817169C-C0BF-0A40-9984-FECFBA08563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332642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6FEB4DC9-D693-9443-81DF-3152226B193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97449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45A2829-FFCA-D14F-91DA-F2D5FAE26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2653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AB487C9-ECA1-B54D-8C96-3D8551EC5901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FA66B3B-E195-4A46-97EC-4F5B8E0BC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163FBFA-31D9-6B47-A169-FE02B1144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A7E353-A588-4F4A-90F0-66ACD582169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218715" y="1366988"/>
            <a:ext cx="3526952" cy="4950000"/>
          </a:xfrm>
          <a:prstGeom prst="rect">
            <a:avLst/>
          </a:prstGeom>
        </p:spPr>
        <p:txBody>
          <a:bodyPr wrap="square" lIns="0" rIns="0" bIns="46800" anchor="ctr"/>
          <a:lstStyle>
            <a:lvl1pPr marL="0" indent="0" algn="ctr">
              <a:buNone/>
              <a:defRPr lang="en-US" sz="1400" b="0">
                <a:solidFill>
                  <a:schemeClr val="tx2"/>
                </a:solidFill>
              </a:defRPr>
            </a:lvl1pPr>
          </a:lstStyle>
          <a:p>
            <a:pPr marL="228600" lvl="0" indent="-228600">
              <a:lnSpc>
                <a:spcPct val="114000"/>
              </a:lnSpc>
            </a:pPr>
            <a:r>
              <a:rPr lang="en-US" dirty="0"/>
              <a:t>Insert a picture here. </a:t>
            </a:r>
            <a:br>
              <a:rPr lang="en-US" dirty="0"/>
            </a:br>
            <a:r>
              <a:rPr lang="en-US" dirty="0"/>
              <a:t>The picture will be cropped to placeholder.</a:t>
            </a:r>
            <a:br>
              <a:rPr lang="en-US" dirty="0"/>
            </a:br>
            <a:r>
              <a:rPr lang="en-US" dirty="0"/>
              <a:t>The position can be set via picture settings.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0930E766-BD21-724F-ADBE-C3AA43F4CD87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5304" y="1366988"/>
            <a:ext cx="3548218" cy="495000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F11B0C39-D009-B544-B7E4-F06D9BA4A5A7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332642" y="1366988"/>
            <a:ext cx="3548218" cy="495000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D44F31D-ED30-0B48-8DF3-597B351FA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11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A208878-2260-3E4C-BBF0-1ABC5DE8530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218713" y="1366988"/>
            <a:ext cx="3526953" cy="49514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Insert a picture here. </a:t>
            </a:r>
            <a:br>
              <a:rPr lang="en-US" dirty="0"/>
            </a:br>
            <a:r>
              <a:rPr lang="en-US" dirty="0"/>
              <a:t>The picture will be cropped to placeholder size.</a:t>
            </a:r>
            <a:br>
              <a:rPr lang="en-US" dirty="0"/>
            </a:br>
            <a:r>
              <a:rPr lang="en-US" dirty="0"/>
              <a:t>The position can be set via picture settings.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2F1FF5-0CB8-5244-87C9-8C167EB6734D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8289E72B-8537-DA46-B51A-1764BAD110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DCAD90D6-8AB2-DE4E-A1B2-D53B38CD25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1AE6A-17BD-3C43-B24D-A3D22CFBB4A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7345113" cy="4951412"/>
          </a:xfrm>
        </p:spPr>
        <p:txBody>
          <a:bodyPr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1EFC51B-F0FA-CF4B-AC2A-30474AC39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783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E4B9930-CD1C-CA44-8C43-D95C6097D120}"/>
              </a:ext>
            </a:extLst>
          </p:cNvPr>
          <p:cNvSpPr/>
          <p:nvPr userDrawn="1"/>
        </p:nvSpPr>
        <p:spPr>
          <a:xfrm>
            <a:off x="4989841" y="5698067"/>
            <a:ext cx="7202159" cy="1159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A564C0-5D9C-5145-B29A-05DCBD35ED69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F98EE3B-D03A-DD43-A8E2-3C5AB37DAA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393E49-A939-1E42-9494-C19B9F24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01FCD5-EE6E-3543-8FD5-9B4F7C1A74C1}"/>
              </a:ext>
            </a:extLst>
          </p:cNvPr>
          <p:cNvSpPr/>
          <p:nvPr userDrawn="1"/>
        </p:nvSpPr>
        <p:spPr>
          <a:xfrm>
            <a:off x="0" y="5505561"/>
            <a:ext cx="4253241" cy="7867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ECB82676-C1C3-D348-AF83-1EF35EDE36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3832" y="5908297"/>
            <a:ext cx="984550" cy="199737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IIIII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835C75AB-59F9-834C-8767-A3EB61616D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34754" y="5695488"/>
            <a:ext cx="482705" cy="198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#.#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430E3A36-E8DA-6C49-9EB1-E22666F652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4373" y="5798438"/>
            <a:ext cx="2397600" cy="223200"/>
          </a:xfrm>
          <a:prstGeom prst="rect">
            <a:avLst/>
          </a:prstGeom>
          <a:noFill/>
        </p:spPr>
        <p:txBody>
          <a:bodyPr wrap="square" lIns="0" tIns="0" rIns="90000" bIns="0" anchor="ctr">
            <a:spAutoFit/>
          </a:bodyPr>
          <a:lstStyle>
            <a:lvl1pPr marL="0" indent="0" algn="l">
              <a:lnSpc>
                <a:spcPct val="90000"/>
              </a:lnSpc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metric name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5AD301B-75B6-8D48-80C0-A4199B9A02BF}"/>
              </a:ext>
            </a:extLst>
          </p:cNvPr>
          <p:cNvSpPr/>
          <p:nvPr userDrawn="1"/>
        </p:nvSpPr>
        <p:spPr>
          <a:xfrm>
            <a:off x="2517735" y="859129"/>
            <a:ext cx="1721491" cy="4674369"/>
          </a:xfrm>
          <a:prstGeom prst="rect">
            <a:avLst/>
          </a:prstGeom>
          <a:gradFill>
            <a:gsLst>
              <a:gs pos="10000">
                <a:srgbClr val="AFB9C2">
                  <a:alpha val="1000"/>
                </a:srgbClr>
              </a:gs>
              <a:gs pos="90000">
                <a:srgbClr val="AFB9C2">
                  <a:alpha val="0"/>
                </a:srgbClr>
              </a:gs>
              <a:gs pos="50000">
                <a:srgbClr val="AFB9C2">
                  <a:alpha val="25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3E1BDCF-5BFE-FE49-A911-63130C874BA0}"/>
              </a:ext>
            </a:extLst>
          </p:cNvPr>
          <p:cNvSpPr/>
          <p:nvPr userDrawn="1"/>
        </p:nvSpPr>
        <p:spPr>
          <a:xfrm>
            <a:off x="2515428" y="860920"/>
            <a:ext cx="1715709" cy="464464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677BE5-1E8F-1041-94D8-7FE480E767C2}"/>
              </a:ext>
            </a:extLst>
          </p:cNvPr>
          <p:cNvCxnSpPr>
            <a:cxnSpLocks/>
          </p:cNvCxnSpPr>
          <p:nvPr userDrawn="1"/>
        </p:nvCxnSpPr>
        <p:spPr>
          <a:xfrm>
            <a:off x="4246367" y="1366988"/>
            <a:ext cx="0" cy="4025055"/>
          </a:xfrm>
          <a:prstGeom prst="line">
            <a:avLst/>
          </a:prstGeom>
          <a:ln w="19050">
            <a:solidFill>
              <a:srgbClr val="AFB9C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FAF313A3-FEEC-CE41-9CC2-83C432778B2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27221" y="5734485"/>
            <a:ext cx="466644" cy="1593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200" b="0">
                <a:solidFill>
                  <a:srgbClr val="B2BECD"/>
                </a:solidFill>
              </a:defRPr>
            </a:lvl1pPr>
          </a:lstStyle>
          <a:p>
            <a:pPr lvl="0"/>
            <a:r>
              <a:rPr lang="en-US" dirty="0"/>
              <a:t>+-#.##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D34E09-B672-CF47-8451-5270CB616A87}"/>
              </a:ext>
            </a:extLst>
          </p:cNvPr>
          <p:cNvSpPr/>
          <p:nvPr userDrawn="1"/>
        </p:nvSpPr>
        <p:spPr>
          <a:xfrm>
            <a:off x="4255741" y="5505560"/>
            <a:ext cx="7936259" cy="503364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9B80F2-D674-0E4C-842B-7A30702B1C06}"/>
              </a:ext>
            </a:extLst>
          </p:cNvPr>
          <p:cNvSpPr/>
          <p:nvPr userDrawn="1"/>
        </p:nvSpPr>
        <p:spPr>
          <a:xfrm>
            <a:off x="9343381" y="5238893"/>
            <a:ext cx="2848620" cy="1306286"/>
          </a:xfrm>
          <a:prstGeom prst="rect">
            <a:avLst/>
          </a:prstGeom>
          <a:gradFill>
            <a:gsLst>
              <a:gs pos="100000">
                <a:schemeClr val="bg2"/>
              </a:gs>
              <a:gs pos="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3F50C4B-7039-1045-AB59-6FDD08E2573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3354895" cy="3954086"/>
          </a:xfrm>
        </p:spPr>
        <p:txBody>
          <a:bodyPr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C4B0E93E-75EE-6A4B-8272-3D8D30E3A8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8643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 overview - Qualit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E4B9930-CD1C-CA44-8C43-D95C6097D120}"/>
              </a:ext>
            </a:extLst>
          </p:cNvPr>
          <p:cNvSpPr/>
          <p:nvPr userDrawn="1"/>
        </p:nvSpPr>
        <p:spPr>
          <a:xfrm>
            <a:off x="4989841" y="5698067"/>
            <a:ext cx="7202159" cy="1159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A564C0-5D9C-5145-B29A-05DCBD35ED69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F98EE3B-D03A-DD43-A8E2-3C5AB37DAA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393E49-A939-1E42-9494-C19B9F24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01FCD5-EE6E-3543-8FD5-9B4F7C1A74C1}"/>
              </a:ext>
            </a:extLst>
          </p:cNvPr>
          <p:cNvSpPr/>
          <p:nvPr userDrawn="1"/>
        </p:nvSpPr>
        <p:spPr>
          <a:xfrm>
            <a:off x="0" y="5505561"/>
            <a:ext cx="4253241" cy="7867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ECB82676-C1C3-D348-AF83-1EF35EDE36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3832" y="5908297"/>
            <a:ext cx="984550" cy="199737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IIIII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835C75AB-59F9-834C-8767-A3EB61616D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34754" y="5695488"/>
            <a:ext cx="482705" cy="198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#.#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430E3A36-E8DA-6C49-9EB1-E22666F652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4373" y="5799858"/>
            <a:ext cx="2397600" cy="223200"/>
          </a:xfrm>
          <a:prstGeom prst="rect">
            <a:avLst/>
          </a:prstGeom>
          <a:noFill/>
        </p:spPr>
        <p:txBody>
          <a:bodyPr vert="horz" wrap="square" lIns="0" tIns="0" rIns="90000" bIns="0" rtlCol="0" anchor="ctr">
            <a:spAutoFit/>
          </a:bodyPr>
          <a:lstStyle>
            <a:lvl1pPr marL="0" indent="0">
              <a:lnSpc>
                <a:spcPct val="90000"/>
              </a:lnSpc>
              <a:buNone/>
              <a:defRPr lang="en-US" b="1" dirty="0">
                <a:solidFill>
                  <a:schemeClr val="bg1"/>
                </a:solidFill>
              </a:defRPr>
            </a:lvl1pPr>
          </a:lstStyle>
          <a:p>
            <a:pPr marL="285750" lvl="0" indent="-285750"/>
            <a:r>
              <a:rPr lang="en-US" dirty="0"/>
              <a:t>metric name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677BE5-1E8F-1041-94D8-7FE480E767C2}"/>
              </a:ext>
            </a:extLst>
          </p:cNvPr>
          <p:cNvCxnSpPr>
            <a:cxnSpLocks/>
          </p:cNvCxnSpPr>
          <p:nvPr userDrawn="1"/>
        </p:nvCxnSpPr>
        <p:spPr>
          <a:xfrm>
            <a:off x="522333" y="1488831"/>
            <a:ext cx="0" cy="3903212"/>
          </a:xfrm>
          <a:prstGeom prst="line">
            <a:avLst/>
          </a:prstGeom>
          <a:ln w="19050">
            <a:solidFill>
              <a:srgbClr val="AFB9C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FAF313A3-FEEC-CE41-9CC2-83C432778B2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27221" y="5734485"/>
            <a:ext cx="466644" cy="1593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200" b="0">
                <a:solidFill>
                  <a:srgbClr val="B2BECD"/>
                </a:solidFill>
              </a:defRPr>
            </a:lvl1pPr>
          </a:lstStyle>
          <a:p>
            <a:pPr lvl="0"/>
            <a:r>
              <a:rPr lang="en-US" dirty="0"/>
              <a:t>+-#.##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D34E09-B672-CF47-8451-5270CB616A87}"/>
              </a:ext>
            </a:extLst>
          </p:cNvPr>
          <p:cNvSpPr/>
          <p:nvPr userDrawn="1"/>
        </p:nvSpPr>
        <p:spPr>
          <a:xfrm>
            <a:off x="4255741" y="5505560"/>
            <a:ext cx="7936259" cy="503364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9B80F2-D674-0E4C-842B-7A30702B1C06}"/>
              </a:ext>
            </a:extLst>
          </p:cNvPr>
          <p:cNvSpPr/>
          <p:nvPr userDrawn="1"/>
        </p:nvSpPr>
        <p:spPr>
          <a:xfrm>
            <a:off x="9343381" y="5238893"/>
            <a:ext cx="2848620" cy="1306286"/>
          </a:xfrm>
          <a:prstGeom prst="rect">
            <a:avLst/>
          </a:prstGeom>
          <a:gradFill>
            <a:gsLst>
              <a:gs pos="100000">
                <a:schemeClr val="bg2"/>
              </a:gs>
              <a:gs pos="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3F50C4B-7039-1045-AB59-6FDD08E2573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11231295" cy="3954086"/>
          </a:xfrm>
        </p:spPr>
        <p:txBody>
          <a:bodyPr lIns="18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7F9FF7DA-17F8-2241-8F5E-D615FB44F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5286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page gener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7F570A5C-1465-F949-AFD7-E381D9043B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49"/>
            <a:ext cx="12192000" cy="6868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565017-894C-E344-A8B5-B1F451E1E1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200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EA732E99-E093-BA43-9D65-ED4C138D063D}"/>
              </a:ext>
            </a:extLst>
          </p:cNvPr>
          <p:cNvSpPr txBox="1">
            <a:spLocks/>
          </p:cNvSpPr>
          <p:nvPr userDrawn="1"/>
        </p:nvSpPr>
        <p:spPr>
          <a:xfrm>
            <a:off x="1869429" y="1504098"/>
            <a:ext cx="2881289" cy="216792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defPPr>
              <a:defRPr lang="en-US"/>
            </a:defPPr>
            <a:lvl1pPr marL="228600" lvl="0" indent="-228600">
              <a:lnSpc>
                <a:spcPct val="80000"/>
              </a:lnSpc>
              <a:spcBef>
                <a:spcPts val="1000"/>
              </a:spcBef>
              <a:buFont typeface="Arial"/>
              <a:buNone/>
              <a:defRPr sz="2000" b="0">
                <a:solidFill>
                  <a:srgbClr val="AFB9C2"/>
                </a:solidFill>
                <a:ea typeface="TheSans B6 SemiBold" charset="0"/>
                <a:cs typeface="TheSans B6 SemiBold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pPr lvl="0" algn="l"/>
            <a:r>
              <a:rPr lang="en-US" sz="2400" b="1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Presented </a:t>
            </a:r>
            <a:r>
              <a:rPr lang="en-US" sz="240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by</a:t>
            </a:r>
            <a:endParaRPr lang="en-US" sz="2400" b="1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240597-FB20-6A42-8EA6-4B770828805B}"/>
              </a:ext>
            </a:extLst>
          </p:cNvPr>
          <p:cNvSpPr/>
          <p:nvPr userDrawn="1"/>
        </p:nvSpPr>
        <p:spPr>
          <a:xfrm>
            <a:off x="6096000" y="853201"/>
            <a:ext cx="6095999" cy="6012750"/>
          </a:xfrm>
          <a:prstGeom prst="rect">
            <a:avLst/>
          </a:prstGeom>
          <a:gradFill>
            <a:gsLst>
              <a:gs pos="0">
                <a:srgbClr val="DFC101"/>
              </a:gs>
              <a:gs pos="30000">
                <a:schemeClr val="accent2">
                  <a:alpha val="85000"/>
                </a:schemeClr>
              </a:gs>
              <a:gs pos="100000">
                <a:schemeClr val="accent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F12D71D-5C15-3F47-9ACB-1C4A8CF8A4B8}"/>
              </a:ext>
            </a:extLst>
          </p:cNvPr>
          <p:cNvCxnSpPr/>
          <p:nvPr userDrawn="1"/>
        </p:nvCxnSpPr>
        <p:spPr>
          <a:xfrm>
            <a:off x="6096000" y="853201"/>
            <a:ext cx="0" cy="4067142"/>
          </a:xfrm>
          <a:prstGeom prst="line">
            <a:avLst/>
          </a:prstGeom>
          <a:ln w="15875">
            <a:gradFill>
              <a:gsLst>
                <a:gs pos="19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80D622-8466-B04C-8DFD-B730E797EA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35666" y="219527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56FEDB43-2B74-1B40-B33C-A25AAD8DD9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35666" y="38088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18E3A589-B95B-D14B-8B35-827248735BA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35666" y="40788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8FBC5404-48F5-3F4D-9830-C71054E2212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35666" y="2663507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2B2F3057-76A4-6B43-818A-38CCFBF40B3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35666" y="3000701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6F444726-1D68-A94E-B387-A55930D429B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35666" y="3468938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013CFE9D-2F23-0946-B34E-FF8D67DEBB0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35666" y="46152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6" name="Text Placeholder 10">
            <a:extLst>
              <a:ext uri="{FF2B5EF4-FFF2-40B4-BE49-F238E27FC236}">
                <a16:creationId xmlns:a16="http://schemas.microsoft.com/office/drawing/2014/main" id="{CAEE56BA-F636-814A-A890-4BBAAE750F4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35666" y="48852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9813E48C-419C-714D-8526-2AA43F81E71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935666" y="54216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4D4FD237-047E-9B4E-8E24-7614DA39C6D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935666" y="56916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5D1CEA7-9339-3848-B2B0-9A6116B9924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35665" y="2464345"/>
            <a:ext cx="3691928" cy="201426"/>
          </a:xfrm>
        </p:spPr>
        <p:txBody>
          <a:bodyPr vert="horz" wrap="none" lIns="0" tIns="0" rIns="0" bIns="0" rtlCol="0">
            <a:noAutofit/>
          </a:bodyPr>
          <a:lstStyle>
            <a:lvl1pPr marL="0" indent="0">
              <a:buNone/>
              <a:defRPr lang="en-US" sz="1400" dirty="0">
                <a:solidFill>
                  <a:srgbClr val="B3BECD"/>
                </a:solidFill>
              </a:defRPr>
            </a:lvl1pPr>
          </a:lstStyle>
          <a:p>
            <a:pPr marL="285750" lvl="0" indent="-285750"/>
            <a:r>
              <a:rPr lang="en-US" dirty="0"/>
              <a:t>Title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6C3551FB-2F8C-B345-A30C-01137E5F311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935665" y="3265605"/>
            <a:ext cx="3691928" cy="201426"/>
          </a:xfrm>
        </p:spPr>
        <p:txBody>
          <a:bodyPr vert="horz" wrap="none" lIns="0" tIns="0" rIns="0" bIns="0" rtlCol="0">
            <a:noAutofit/>
          </a:bodyPr>
          <a:lstStyle>
            <a:lvl1pPr marL="0" indent="0">
              <a:buNone/>
              <a:defRPr lang="en-US" sz="1400" dirty="0">
                <a:solidFill>
                  <a:srgbClr val="B3BECD"/>
                </a:solidFill>
              </a:defRPr>
            </a:lvl1pPr>
          </a:lstStyle>
          <a:p>
            <a:pPr marL="285750" lvl="0" indent="-285750"/>
            <a:r>
              <a:rPr lang="en-US" dirty="0"/>
              <a:t>Title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AAEDB36D-8075-864A-96B7-0874A127938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935666" y="42768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EB7E0FE4-1626-7944-B91A-5691F585869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935666" y="50832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14A15AB8-FF15-5A48-948F-7B9B55B0F0D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35666" y="58896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B688E3D0-C02A-B94C-A130-548294B8E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chemeClr val="bg1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4806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 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B226EB-715A-5F46-819A-D97E866136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689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F796445-AFA9-D44D-80A5-7B00312D6B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239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SH system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E3D95FD-87E1-8242-936D-A016724AAC60}"/>
              </a:ext>
            </a:extLst>
          </p:cNvPr>
          <p:cNvGrpSpPr/>
          <p:nvPr userDrawn="1"/>
        </p:nvGrpSpPr>
        <p:grpSpPr>
          <a:xfrm>
            <a:off x="340066" y="1737023"/>
            <a:ext cx="5561970" cy="1324829"/>
            <a:chOff x="340066" y="1721909"/>
            <a:chExt cx="5561970" cy="1324829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D59DCD9-95CA-2849-8561-B2216ED23288}"/>
                </a:ext>
              </a:extLst>
            </p:cNvPr>
            <p:cNvSpPr/>
            <p:nvPr/>
          </p:nvSpPr>
          <p:spPr>
            <a:xfrm>
              <a:off x="340066" y="2357792"/>
              <a:ext cx="5405506" cy="688946"/>
            </a:xfrm>
            <a:prstGeom prst="ellipse">
              <a:avLst/>
            </a:prstGeom>
            <a:solidFill>
              <a:srgbClr val="000000">
                <a:alpha val="25000"/>
              </a:srgbClr>
            </a:solidFill>
            <a:ln>
              <a:noFill/>
            </a:ln>
            <a:effectLst>
              <a:softEdge rad="266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6731D74-9128-1544-855C-A1FEBA1CA2CF}"/>
                </a:ext>
              </a:extLst>
            </p:cNvPr>
            <p:cNvSpPr/>
            <p:nvPr/>
          </p:nvSpPr>
          <p:spPr>
            <a:xfrm>
              <a:off x="429915" y="1721909"/>
              <a:ext cx="5472121" cy="97288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21ED1E9-7DDE-7349-A824-0A8F7F613A5A}"/>
              </a:ext>
            </a:extLst>
          </p:cNvPr>
          <p:cNvSpPr txBox="1"/>
          <p:nvPr userDrawn="1"/>
        </p:nvSpPr>
        <p:spPr>
          <a:xfrm>
            <a:off x="429915" y="1364824"/>
            <a:ext cx="4469780" cy="357085"/>
          </a:xfrm>
          <a:prstGeom prst="rect">
            <a:avLst/>
          </a:prstGeom>
          <a:solidFill>
            <a:schemeClr val="accent1"/>
          </a:solidFill>
        </p:spPr>
        <p:txBody>
          <a:bodyPr wrap="square" lIns="90000" rtlCol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b="1" dirty="0">
                <a:solidFill>
                  <a:schemeClr val="bg1"/>
                </a:solidFill>
              </a:rPr>
              <a:t>Risks in external dependencies</a:t>
            </a:r>
            <a:r>
              <a:rPr lang="en-US" sz="1600" b="0" dirty="0">
                <a:solidFill>
                  <a:schemeClr val="bg1"/>
                </a:solidFill>
              </a:rPr>
              <a:t> – System overview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B90D4AFC-98E5-0C4A-9707-F2559B9A97DC}"/>
              </a:ext>
            </a:extLst>
          </p:cNvPr>
          <p:cNvSpPr txBox="1">
            <a:spLocks/>
          </p:cNvSpPr>
          <p:nvPr userDrawn="1"/>
        </p:nvSpPr>
        <p:spPr>
          <a:xfrm>
            <a:off x="1204383" y="1831229"/>
            <a:ext cx="3695312" cy="2621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400" b="1" dirty="0">
                <a:solidFill>
                  <a:schemeClr val="accent1"/>
                </a:solidFill>
                <a:latin typeface="Calibri Regular"/>
              </a:rPr>
              <a:t>Risk categories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6613CA-FC98-E948-8B09-66C076B53E70}"/>
              </a:ext>
            </a:extLst>
          </p:cNvPr>
          <p:cNvCxnSpPr>
            <a:cxnSpLocks/>
          </p:cNvCxnSpPr>
          <p:nvPr/>
        </p:nvCxnSpPr>
        <p:spPr>
          <a:xfrm>
            <a:off x="2533868" y="2164896"/>
            <a:ext cx="720000" cy="0"/>
          </a:xfrm>
          <a:prstGeom prst="line">
            <a:avLst/>
          </a:prstGeom>
          <a:ln w="57150" cap="rnd">
            <a:solidFill>
              <a:srgbClr val="DB4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utoShape 5">
            <a:extLst>
              <a:ext uri="{FF2B5EF4-FFF2-40B4-BE49-F238E27FC236}">
                <a16:creationId xmlns:a16="http://schemas.microsoft.com/office/drawing/2014/main" id="{9C79926D-A7E4-AB44-88CA-35B39C0B0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1038" y="2243219"/>
            <a:ext cx="649538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DB493D"/>
                </a:solidFill>
                <a:cs typeface="TheSansMono M5"/>
              </a:rPr>
              <a:t>high risk</a:t>
            </a:r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A0F466DD-E497-0B47-9C89-D4A346F11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0395" y="2241262"/>
            <a:ext cx="888385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EF981A"/>
                </a:solidFill>
                <a:cs typeface="TheSansMono M5"/>
              </a:rPr>
              <a:t>medium risk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61AE6C-EBE9-4F46-A618-ED7896ACA29D}"/>
              </a:ext>
            </a:extLst>
          </p:cNvPr>
          <p:cNvCxnSpPr>
            <a:cxnSpLocks/>
          </p:cNvCxnSpPr>
          <p:nvPr/>
        </p:nvCxnSpPr>
        <p:spPr>
          <a:xfrm>
            <a:off x="3373046" y="2164896"/>
            <a:ext cx="720000" cy="0"/>
          </a:xfrm>
          <a:prstGeom prst="line">
            <a:avLst/>
          </a:prstGeom>
          <a:ln w="57150" cap="rnd">
            <a:solidFill>
              <a:srgbClr val="EF98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utoShape 5">
            <a:extLst>
              <a:ext uri="{FF2B5EF4-FFF2-40B4-BE49-F238E27FC236}">
                <a16:creationId xmlns:a16="http://schemas.microsoft.com/office/drawing/2014/main" id="{EA2FDCAB-455C-4E49-AF74-1E4FA9011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0436" y="2236451"/>
            <a:ext cx="61529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F8C740"/>
                </a:solidFill>
                <a:cs typeface="TheSansMono M5"/>
              </a:rPr>
              <a:t>low risk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D80D8D2-64AB-5B45-9E98-3024038CA8F5}"/>
              </a:ext>
            </a:extLst>
          </p:cNvPr>
          <p:cNvCxnSpPr>
            <a:cxnSpLocks/>
          </p:cNvCxnSpPr>
          <p:nvPr/>
        </p:nvCxnSpPr>
        <p:spPr>
          <a:xfrm>
            <a:off x="4206995" y="2164896"/>
            <a:ext cx="720000" cy="0"/>
          </a:xfrm>
          <a:prstGeom prst="line">
            <a:avLst/>
          </a:prstGeom>
          <a:ln w="57150" cap="rnd">
            <a:solidFill>
              <a:srgbClr val="F8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utoShape 5">
            <a:extLst>
              <a:ext uri="{FF2B5EF4-FFF2-40B4-BE49-F238E27FC236}">
                <a16:creationId xmlns:a16="http://schemas.microsoft.com/office/drawing/2014/main" id="{83EAF45F-0735-074F-B8DE-661963E38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5071" y="2240877"/>
            <a:ext cx="69762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>
              <a:defRPr/>
            </a:pPr>
            <a:r>
              <a:rPr lang="en-US" sz="1100" b="1" dirty="0">
                <a:solidFill>
                  <a:srgbClr val="57C96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US" sz="1200" dirty="0">
                <a:solidFill>
                  <a:srgbClr val="57C968"/>
                </a:solidFill>
              </a:rPr>
              <a:t> </a:t>
            </a:r>
            <a:r>
              <a:rPr lang="en-US" sz="1200" spc="-50" noProof="1">
                <a:solidFill>
                  <a:srgbClr val="57C968"/>
                </a:solidFill>
                <a:cs typeface="TheSansMono M5"/>
              </a:rPr>
              <a:t>no risk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335F77-CBBF-B24B-8F0A-85FCA257B10A}"/>
              </a:ext>
            </a:extLst>
          </p:cNvPr>
          <p:cNvCxnSpPr>
            <a:cxnSpLocks/>
          </p:cNvCxnSpPr>
          <p:nvPr/>
        </p:nvCxnSpPr>
        <p:spPr>
          <a:xfrm>
            <a:off x="5040951" y="2164896"/>
            <a:ext cx="720000" cy="0"/>
          </a:xfrm>
          <a:prstGeom prst="line">
            <a:avLst/>
          </a:prstGeom>
          <a:ln w="57150" cap="rnd">
            <a:solidFill>
              <a:srgbClr val="57C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47">
            <a:extLst>
              <a:ext uri="{FF2B5EF4-FFF2-40B4-BE49-F238E27FC236}">
                <a16:creationId xmlns:a16="http://schemas.microsoft.com/office/drawing/2014/main" id="{91356441-694B-B541-8959-E690A83565FC}"/>
              </a:ext>
            </a:extLst>
          </p:cNvPr>
          <p:cNvSpPr/>
          <p:nvPr userDrawn="1"/>
        </p:nvSpPr>
        <p:spPr>
          <a:xfrm>
            <a:off x="529948" y="1793444"/>
            <a:ext cx="1078883" cy="721276"/>
          </a:xfrm>
          <a:custGeom>
            <a:avLst/>
            <a:gdLst>
              <a:gd name="connsiteX0" fmla="*/ 28050 w 1078883"/>
              <a:gd name="connsiteY0" fmla="*/ 0 h 721276"/>
              <a:gd name="connsiteX1" fmla="*/ 915239 w 1078883"/>
              <a:gd name="connsiteY1" fmla="*/ 0 h 721276"/>
              <a:gd name="connsiteX2" fmla="*/ 1078883 w 1078883"/>
              <a:gd name="connsiteY2" fmla="*/ 364710 h 721276"/>
              <a:gd name="connsiteX3" fmla="*/ 918893 w 1078883"/>
              <a:gd name="connsiteY3" fmla="*/ 721276 h 721276"/>
              <a:gd name="connsiteX4" fmla="*/ 28050 w 1078883"/>
              <a:gd name="connsiteY4" fmla="*/ 721276 h 721276"/>
              <a:gd name="connsiteX5" fmla="*/ 0 w 1078883"/>
              <a:gd name="connsiteY5" fmla="*/ 693226 h 721276"/>
              <a:gd name="connsiteX6" fmla="*/ 0 w 1078883"/>
              <a:gd name="connsiteY6" fmla="*/ 28050 h 721276"/>
              <a:gd name="connsiteX7" fmla="*/ 28050 w 1078883"/>
              <a:gd name="connsiteY7" fmla="*/ 0 h 721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8883" h="721276">
                <a:moveTo>
                  <a:pt x="28050" y="0"/>
                </a:moveTo>
                <a:lnTo>
                  <a:pt x="915239" y="0"/>
                </a:lnTo>
                <a:lnTo>
                  <a:pt x="1078883" y="364710"/>
                </a:lnTo>
                <a:lnTo>
                  <a:pt x="918893" y="721276"/>
                </a:lnTo>
                <a:lnTo>
                  <a:pt x="28050" y="721276"/>
                </a:lnTo>
                <a:cubicBezTo>
                  <a:pt x="12558" y="721276"/>
                  <a:pt x="0" y="708718"/>
                  <a:pt x="0" y="693226"/>
                </a:cubicBezTo>
                <a:lnTo>
                  <a:pt x="0" y="28050"/>
                </a:lnTo>
                <a:cubicBezTo>
                  <a:pt x="0" y="12558"/>
                  <a:pt x="12558" y="0"/>
                  <a:pt x="28050" y="0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25000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0"/>
          </a:gradFill>
          <a:ln w="9525">
            <a:solidFill>
              <a:schemeClr val="bg2">
                <a:alpha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A85B6768-8DD0-3840-98FF-EA35442768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29948" y="2082563"/>
            <a:ext cx="946336" cy="338554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square" lIns="36000" tIns="0" rIns="36000" bIns="0">
            <a:spAutoFit/>
          </a:bodyPr>
          <a:lstStyle/>
          <a:p>
            <a:pPr algn="ctr">
              <a:defRPr/>
            </a:pPr>
            <a: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</a:t>
            </a:r>
            <a:b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dependencies</a:t>
            </a:r>
            <a:endParaRPr lang="en-US" sz="1200" spc="-50" noProof="1">
              <a:solidFill>
                <a:schemeClr val="bg2"/>
              </a:solidFill>
              <a:cs typeface="TheSansMono M5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7CD0235-CB15-C949-BCBD-9E062FB24F3A}"/>
              </a:ext>
            </a:extLst>
          </p:cNvPr>
          <p:cNvSpPr/>
          <p:nvPr userDrawn="1"/>
        </p:nvSpPr>
        <p:spPr>
          <a:xfrm>
            <a:off x="6116295" y="730293"/>
            <a:ext cx="6075705" cy="61277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accent1"/>
              </a:solidFill>
            </a:endParaRP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8989BBF-287E-B847-9CAC-6DA102EFBD4A}"/>
              </a:ext>
            </a:extLst>
          </p:cNvPr>
          <p:cNvSpPr>
            <a:spLocks noGrp="1"/>
          </p:cNvSpPr>
          <p:nvPr userDrawn="1">
            <p:ph sz="quarter" idx="13" hasCustomPrompt="1"/>
          </p:nvPr>
        </p:nvSpPr>
        <p:spPr>
          <a:xfrm>
            <a:off x="6420006" y="1368000"/>
            <a:ext cx="5326793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8FE26B8D-BD73-4444-8D0F-1248DE1DD5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7149" y="1816783"/>
            <a:ext cx="83510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EDC22544-D9BC-B244-939B-9E83862D4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22570" y="1816783"/>
            <a:ext cx="73443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BB9C82F9-0A2D-9945-BB70-9C7924044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5172" y="1816783"/>
            <a:ext cx="760514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4F6EE5E4-7412-804B-AB0B-2612A9AEF1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80072" y="1816783"/>
            <a:ext cx="760514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20222DCE-C402-BC42-9510-1717F16DF8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98590" y="1816783"/>
            <a:ext cx="776867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57C968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B0C8CF-791F-18E5-4333-1B6A84495D38}"/>
              </a:ext>
            </a:extLst>
          </p:cNvPr>
          <p:cNvCxnSpPr>
            <a:cxnSpLocks/>
          </p:cNvCxnSpPr>
          <p:nvPr userDrawn="1"/>
        </p:nvCxnSpPr>
        <p:spPr>
          <a:xfrm>
            <a:off x="1696774" y="2159781"/>
            <a:ext cx="720000" cy="0"/>
          </a:xfrm>
          <a:prstGeom prst="line">
            <a:avLst/>
          </a:prstGeom>
          <a:ln w="57150" cap="rnd">
            <a:solidFill>
              <a:srgbClr val="9107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5">
            <a:extLst>
              <a:ext uri="{FF2B5EF4-FFF2-40B4-BE49-F238E27FC236}">
                <a16:creationId xmlns:a16="http://schemas.microsoft.com/office/drawing/2014/main" id="{D8BC2DDE-6625-F621-EC94-783A87A7B4F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63674" y="2238104"/>
            <a:ext cx="770084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910714"/>
                </a:solidFill>
                <a:cs typeface="TheSansMono M5"/>
              </a:rPr>
              <a:t>critical risk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AE3B6A-A32C-2E31-61A0-D3B86C8941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85476" y="1811668"/>
            <a:ext cx="73443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46E4A2-084F-9B55-1A76-59A9E48860A4}"/>
              </a:ext>
            </a:extLst>
          </p:cNvPr>
          <p:cNvSpPr txBox="1"/>
          <p:nvPr userDrawn="1"/>
        </p:nvSpPr>
        <p:spPr>
          <a:xfrm>
            <a:off x="-143206" y="5881381"/>
            <a:ext cx="2549071" cy="28943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200" dirty="0">
                <a:solidFill>
                  <a:schemeClr val="tx1">
                    <a:lumMod val="60000"/>
                    <a:lumOff val="40000"/>
                    <a:alpha val="50000"/>
                  </a:schemeClr>
                </a:solidFill>
              </a:rPr>
              <a:t>Number of dependencies: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4748B4A-7DD2-00DB-AD86-FD93B244FC19}"/>
              </a:ext>
            </a:extLst>
          </p:cNvPr>
          <p:cNvGrpSpPr/>
          <p:nvPr userDrawn="1"/>
        </p:nvGrpSpPr>
        <p:grpSpPr>
          <a:xfrm>
            <a:off x="184167" y="2938848"/>
            <a:ext cx="2176758" cy="478914"/>
            <a:chOff x="184167" y="2938848"/>
            <a:chExt cx="2176758" cy="478914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FD8BF416-6FD7-D2A6-2D79-58E7A1832B0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132325" y="3145777"/>
              <a:ext cx="228600" cy="2286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8FA3170-93BB-C32C-D469-8D7B377640BD}"/>
                </a:ext>
              </a:extLst>
            </p:cNvPr>
            <p:cNvSpPr txBox="1"/>
            <p:nvPr userDrawn="1"/>
          </p:nvSpPr>
          <p:spPr>
            <a:xfrm>
              <a:off x="184167" y="2938848"/>
              <a:ext cx="1930982" cy="4789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80000"/>
                </a:lnSpc>
              </a:pPr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vulnerability </a:t>
              </a:r>
              <a:r>
                <a:rPr lang="en-US" sz="160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5DD96C8-3ACF-1DFF-CF73-0AF5F066614E}"/>
              </a:ext>
            </a:extLst>
          </p:cNvPr>
          <p:cNvGrpSpPr/>
          <p:nvPr userDrawn="1"/>
        </p:nvGrpSpPr>
        <p:grpSpPr>
          <a:xfrm>
            <a:off x="1016807" y="3564280"/>
            <a:ext cx="1344118" cy="423514"/>
            <a:chOff x="1016807" y="3564280"/>
            <a:chExt cx="1344118" cy="423514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5D59CE77-F471-DC75-C135-1DA00EA336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32325" y="3703034"/>
              <a:ext cx="228600" cy="2286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AB1C286-E53F-9CE4-4C64-B0026A68614C}"/>
                </a:ext>
              </a:extLst>
            </p:cNvPr>
            <p:cNvSpPr txBox="1"/>
            <p:nvPr userDrawn="1"/>
          </p:nvSpPr>
          <p:spPr>
            <a:xfrm>
              <a:off x="1016807" y="3564280"/>
              <a:ext cx="1098342" cy="423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legal </a:t>
              </a:r>
              <a:r>
                <a:rPr lang="en-US" sz="160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3B04AA6-0170-8ABA-260D-D0032728A162}"/>
              </a:ext>
            </a:extLst>
          </p:cNvPr>
          <p:cNvGrpSpPr/>
          <p:nvPr userDrawn="1"/>
        </p:nvGrpSpPr>
        <p:grpSpPr>
          <a:xfrm>
            <a:off x="283779" y="4213198"/>
            <a:ext cx="2077146" cy="276999"/>
            <a:chOff x="283779" y="4213198"/>
            <a:chExt cx="2077146" cy="276999"/>
          </a:xfrm>
        </p:grpSpPr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54275B3F-AB3B-D0D7-E66A-918FA53CB7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132325" y="4260843"/>
              <a:ext cx="228600" cy="22860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AED634E-2496-806E-376D-3C44D5DAEAD1}"/>
                </a:ext>
              </a:extLst>
            </p:cNvPr>
            <p:cNvSpPr txBox="1"/>
            <p:nvPr userDrawn="1"/>
          </p:nvSpPr>
          <p:spPr>
            <a:xfrm>
              <a:off x="283779" y="4213198"/>
              <a:ext cx="183137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freshness risk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93FE0FE-23FE-D4C7-7966-960B2D6BD3D4}"/>
              </a:ext>
            </a:extLst>
          </p:cNvPr>
          <p:cNvGrpSpPr/>
          <p:nvPr userDrawn="1"/>
        </p:nvGrpSpPr>
        <p:grpSpPr>
          <a:xfrm>
            <a:off x="763256" y="4628191"/>
            <a:ext cx="1597669" cy="307777"/>
            <a:chOff x="763256" y="4610126"/>
            <a:chExt cx="1597669" cy="307777"/>
          </a:xfrm>
        </p:grpSpPr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A884E1D2-68C4-CC99-6761-4E51BA139A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32325" y="4671752"/>
              <a:ext cx="228600" cy="228600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B637B0B-B9F7-C45A-A2CD-E4236903CA44}"/>
                </a:ext>
              </a:extLst>
            </p:cNvPr>
            <p:cNvSpPr txBox="1"/>
            <p:nvPr userDrawn="1"/>
          </p:nvSpPr>
          <p:spPr>
            <a:xfrm>
              <a:off x="763256" y="4610126"/>
              <a:ext cx="135189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stability</a:t>
              </a:r>
              <a:r>
                <a:rPr lang="en-US" sz="14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 </a:t>
              </a: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DDEE55D-85C5-F1E0-82C9-656E14C98A45}"/>
              </a:ext>
            </a:extLst>
          </p:cNvPr>
          <p:cNvGrpSpPr/>
          <p:nvPr userDrawn="1"/>
        </p:nvGrpSpPr>
        <p:grpSpPr>
          <a:xfrm>
            <a:off x="632049" y="5073962"/>
            <a:ext cx="1728876" cy="276999"/>
            <a:chOff x="632049" y="5033912"/>
            <a:chExt cx="1728876" cy="276999"/>
          </a:xfrm>
        </p:grpSpPr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638CBB33-3CAC-D4D4-95F0-E601E9651F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132325" y="5075030"/>
              <a:ext cx="228600" cy="228600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EBE0748-E831-C177-8482-1AD9D7C8020A}"/>
                </a:ext>
              </a:extLst>
            </p:cNvPr>
            <p:cNvSpPr txBox="1"/>
            <p:nvPr userDrawn="1"/>
          </p:nvSpPr>
          <p:spPr>
            <a:xfrm>
              <a:off x="632049" y="5033912"/>
              <a:ext cx="14831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management risk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2F96D4F-7882-8E1E-059F-CF281133C60A}"/>
              </a:ext>
            </a:extLst>
          </p:cNvPr>
          <p:cNvGrpSpPr/>
          <p:nvPr userDrawn="1"/>
        </p:nvGrpSpPr>
        <p:grpSpPr>
          <a:xfrm>
            <a:off x="708077" y="5488955"/>
            <a:ext cx="1652848" cy="276999"/>
            <a:chOff x="708077" y="5488955"/>
            <a:chExt cx="1652848" cy="276999"/>
          </a:xfrm>
        </p:grpSpPr>
        <p:pic>
          <p:nvPicPr>
            <p:cNvPr id="59" name="Graphic 58">
              <a:extLst>
                <a:ext uri="{FF2B5EF4-FFF2-40B4-BE49-F238E27FC236}">
                  <a16:creationId xmlns:a16="http://schemas.microsoft.com/office/drawing/2014/main" id="{1A99E526-2AFE-852A-F382-C92035CEFB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32325" y="5517723"/>
              <a:ext cx="228600" cy="228600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4638D2F-CAB2-BA06-872A-ED7C6CD060EB}"/>
                </a:ext>
              </a:extLst>
            </p:cNvPr>
            <p:cNvSpPr txBox="1"/>
            <p:nvPr userDrawn="1"/>
          </p:nvSpPr>
          <p:spPr>
            <a:xfrm>
              <a:off x="708077" y="5488955"/>
              <a:ext cx="140707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activity risk</a:t>
              </a: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DA66A356-888B-5B88-7541-A81781B37E16}"/>
              </a:ext>
            </a:extLst>
          </p:cNvPr>
          <p:cNvSpPr txBox="1"/>
          <p:nvPr userDrawn="1"/>
        </p:nvSpPr>
        <p:spPr>
          <a:xfrm>
            <a:off x="1972649" y="2655839"/>
            <a:ext cx="1152452" cy="28943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NL" sz="1200" b="1" i="0" dirty="0">
                <a:solidFill>
                  <a:srgbClr val="C1C7CF"/>
                </a:solidFill>
              </a:rPr>
              <a:t>Risk categories</a:t>
            </a:r>
          </a:p>
        </p:txBody>
      </p:sp>
    </p:spTree>
    <p:extLst>
      <p:ext uri="{BB962C8B-B14F-4D97-AF65-F5344CB8AC3E}">
        <p14:creationId xmlns:p14="http://schemas.microsoft.com/office/powerpoint/2010/main" val="784851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hyperlink" Target="https://wiki.sig.eu/confluence/x/JoDbC" TargetMode="Externa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DFA920-C997-D084-6D6F-20383567486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77137826"/>
              </p:ext>
            </p:extLst>
          </p:nvPr>
        </p:nvGraphicFramePr>
        <p:xfrm>
          <a:off x="12294145" y="1986729"/>
          <a:ext cx="1440000" cy="23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">
                  <a:extLst>
                    <a:ext uri="{9D8B030D-6E8A-4147-A177-3AD203B41FA5}">
                      <a16:colId xmlns:a16="http://schemas.microsoft.com/office/drawing/2014/main" val="355718378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7131648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550956232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391318227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66216837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609036797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68797209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474073916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186812505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55898394"/>
                    </a:ext>
                  </a:extLst>
                </a:gridCol>
              </a:tblGrid>
              <a:tr h="288000"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4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97C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BEC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1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771366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575328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4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D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36A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159491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70536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D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36A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1587105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C22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EC5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91B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CD5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52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2382331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818685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7E16D"/>
                        </a:gs>
                        <a:gs pos="100000">
                          <a:srgbClr val="E0C223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100000">
                          <a:srgbClr val="6AD6E5"/>
                        </a:gs>
                        <a:gs pos="0">
                          <a:srgbClr val="04ABC8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AA98C3"/>
                        </a:gs>
                        <a:gs pos="100000">
                          <a:srgbClr val="6076BA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C5CD59"/>
                        </a:gs>
                        <a:gs pos="100000">
                          <a:srgbClr val="9DA43C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EB935C"/>
                        </a:gs>
                        <a:gs pos="35000">
                          <a:srgbClr val="D65200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0244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E16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C22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D6E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ABC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A98C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76B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CD5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A43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93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871530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424333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4A3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981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C64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7C96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6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488421"/>
                  </a:ext>
                </a:extLst>
              </a:tr>
            </a:tbl>
          </a:graphicData>
        </a:graphic>
      </p:graphicFrame>
      <p:sp>
        <p:nvSpPr>
          <p:cNvPr id="5" name="TextBox 4">
            <a:hlinkClick r:id="rId21"/>
            <a:extLst>
              <a:ext uri="{FF2B5EF4-FFF2-40B4-BE49-F238E27FC236}">
                <a16:creationId xmlns:a16="http://schemas.microsoft.com/office/drawing/2014/main" id="{97451D23-9484-A5AC-6DE0-B05B1E0505F7}"/>
              </a:ext>
            </a:extLst>
          </p:cNvPr>
          <p:cNvSpPr txBox="1"/>
          <p:nvPr userDrawn="1"/>
        </p:nvSpPr>
        <p:spPr>
          <a:xfrm>
            <a:off x="12260945" y="4406201"/>
            <a:ext cx="1574597" cy="43319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9B9A87"/>
              </a:buClr>
              <a:buSzPct val="100000"/>
              <a:buFont typeface="+mj-lt"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 Bold"/>
                <a:ea typeface="+mn-ea"/>
                <a:cs typeface="+mn-cs"/>
              </a:rPr>
              <a:t>Master template version: </a:t>
            </a:r>
          </a:p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9B9A87"/>
              </a:buClr>
              <a:buSzPct val="100000"/>
              <a:buFont typeface="+mj-lt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 Regular"/>
                <a:ea typeface="+mn-ea"/>
                <a:cs typeface="+mn-cs"/>
              </a:rPr>
              <a:t>v20220729</a:t>
            </a:r>
            <a:endParaRPr lang="en-US" sz="1000" b="0" i="0" dirty="0">
              <a:solidFill>
                <a:schemeClr val="tx1">
                  <a:lumMod val="60000"/>
                  <a:lumOff val="40000"/>
                </a:schemeClr>
              </a:solidFill>
              <a:latin typeface="Calibri Regula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9FC6F2-3923-4241-B710-1B30D0874A09}"/>
              </a:ext>
            </a:extLst>
          </p:cNvPr>
          <p:cNvSpPr/>
          <p:nvPr userDrawn="1"/>
        </p:nvSpPr>
        <p:spPr>
          <a:xfrm>
            <a:off x="0" y="-1"/>
            <a:ext cx="12192000" cy="68659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F04000-FB3A-6842-9B07-0251B414D6E4}"/>
              </a:ext>
            </a:extLst>
          </p:cNvPr>
          <p:cNvSpPr/>
          <p:nvPr userDrawn="1"/>
        </p:nvSpPr>
        <p:spPr>
          <a:xfrm>
            <a:off x="1526401" y="0"/>
            <a:ext cx="10665600" cy="856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3798" y="1360359"/>
            <a:ext cx="11231962" cy="49717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800" y="277200"/>
            <a:ext cx="9810000" cy="284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>
            <a:spAutoFit/>
          </a:bodyPr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068D9D8-6BDF-E84E-92C4-860CA2E281CA}"/>
              </a:ext>
            </a:extLst>
          </p:cNvPr>
          <p:cNvSpPr txBox="1"/>
          <p:nvPr userDrawn="1"/>
        </p:nvSpPr>
        <p:spPr>
          <a:xfrm>
            <a:off x="-1228363" y="-303006"/>
            <a:ext cx="1228362" cy="1658286"/>
          </a:xfrm>
          <a:prstGeom prst="rect">
            <a:avLst/>
          </a:prstGeom>
          <a:gradFill>
            <a:gsLst>
              <a:gs pos="53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2400000" scaled="0"/>
          </a:gradFill>
        </p:spPr>
        <p:txBody>
          <a:bodyPr wrap="square" rtlCol="0" anchor="b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 HERE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6DECB5-D39A-5146-B4F8-F6AE03D6367F}"/>
              </a:ext>
            </a:extLst>
          </p:cNvPr>
          <p:cNvSpPr txBox="1"/>
          <p:nvPr userDrawn="1"/>
        </p:nvSpPr>
        <p:spPr>
          <a:xfrm>
            <a:off x="-301318" y="-372507"/>
            <a:ext cx="826141" cy="369332"/>
          </a:xfrm>
          <a:prstGeom prst="rect">
            <a:avLst/>
          </a:prstGeom>
          <a:gradFill>
            <a:gsLst>
              <a:gs pos="60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30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    HERE</a:t>
            </a:r>
          </a:p>
        </p:txBody>
      </p:sp>
      <p:sp>
        <p:nvSpPr>
          <p:cNvPr id="80" name="Triangle 79">
            <a:extLst>
              <a:ext uri="{FF2B5EF4-FFF2-40B4-BE49-F238E27FC236}">
                <a16:creationId xmlns:a16="http://schemas.microsoft.com/office/drawing/2014/main" id="{F11C372E-FF74-1C46-AC9A-9C6FAC6B5901}"/>
              </a:ext>
            </a:extLst>
          </p:cNvPr>
          <p:cNvSpPr/>
          <p:nvPr userDrawn="1"/>
        </p:nvSpPr>
        <p:spPr>
          <a:xfrm rot="16200000">
            <a:off x="313381" y="-15883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reeform 80">
            <a:extLst>
              <a:ext uri="{FF2B5EF4-FFF2-40B4-BE49-F238E27FC236}">
                <a16:creationId xmlns:a16="http://schemas.microsoft.com/office/drawing/2014/main" id="{C37BE910-150E-F547-AA99-B012E5B28DE1}"/>
              </a:ext>
            </a:extLst>
          </p:cNvPr>
          <p:cNvSpPr/>
          <p:nvPr userDrawn="1"/>
        </p:nvSpPr>
        <p:spPr>
          <a:xfrm>
            <a:off x="12191262" y="1535801"/>
            <a:ext cx="1644280" cy="360000"/>
          </a:xfrm>
          <a:custGeom>
            <a:avLst/>
            <a:gdLst>
              <a:gd name="connsiteX0" fmla="*/ 0 w 1644280"/>
              <a:gd name="connsiteY0" fmla="*/ 0 h 360000"/>
              <a:gd name="connsiteX1" fmla="*/ 1584279 w 1644280"/>
              <a:gd name="connsiteY1" fmla="*/ 0 h 360000"/>
              <a:gd name="connsiteX2" fmla="*/ 1644280 w 1644280"/>
              <a:gd name="connsiteY2" fmla="*/ 60001 h 360000"/>
              <a:gd name="connsiteX3" fmla="*/ 1644280 w 1644280"/>
              <a:gd name="connsiteY3" fmla="*/ 299999 h 360000"/>
              <a:gd name="connsiteX4" fmla="*/ 1584279 w 1644280"/>
              <a:gd name="connsiteY4" fmla="*/ 360000 h 360000"/>
              <a:gd name="connsiteX5" fmla="*/ 0 w 1644280"/>
              <a:gd name="connsiteY5" fmla="*/ 36000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44280" h="360000">
                <a:moveTo>
                  <a:pt x="0" y="0"/>
                </a:moveTo>
                <a:lnTo>
                  <a:pt x="1584279" y="0"/>
                </a:lnTo>
                <a:cubicBezTo>
                  <a:pt x="1617417" y="0"/>
                  <a:pt x="1644280" y="26863"/>
                  <a:pt x="1644280" y="60001"/>
                </a:cubicBezTo>
                <a:lnTo>
                  <a:pt x="1644280" y="299999"/>
                </a:lnTo>
                <a:cubicBezTo>
                  <a:pt x="1644280" y="333137"/>
                  <a:pt x="1617417" y="360000"/>
                  <a:pt x="1584279" y="360000"/>
                </a:cubicBezTo>
                <a:lnTo>
                  <a:pt x="0" y="360000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85000"/>
                </a:schemeClr>
              </a:gs>
              <a:gs pos="4000">
                <a:schemeClr val="accent1">
                  <a:alpha val="70000"/>
                </a:schemeClr>
              </a:gs>
              <a:gs pos="0">
                <a:srgbClr val="17323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0" rtlCol="0" anchor="ctr">
            <a:noAutofit/>
          </a:bodyPr>
          <a:lstStyle/>
          <a:p>
            <a:pPr lvl="0"/>
            <a:r>
              <a:rPr lang="en-US" sz="1000" b="1" i="0" dirty="0">
                <a:solidFill>
                  <a:schemeClr val="bg1"/>
                </a:solidFill>
                <a:latin typeface="Calibri Bold"/>
              </a:rPr>
              <a:t>SIG COLOR </a:t>
            </a:r>
            <a:r>
              <a:rPr lang="en-US" sz="1000" b="0" i="0" dirty="0">
                <a:solidFill>
                  <a:schemeClr val="bg1"/>
                </a:solidFill>
                <a:latin typeface="Calibri Bold"/>
              </a:rPr>
              <a:t>PALETTE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0CBF917-BBFA-154F-AE49-00C72A97DC4D}"/>
              </a:ext>
            </a:extLst>
          </p:cNvPr>
          <p:cNvSpPr txBox="1"/>
          <p:nvPr userDrawn="1"/>
        </p:nvSpPr>
        <p:spPr>
          <a:xfrm>
            <a:off x="12261348" y="3358336"/>
            <a:ext cx="1432427" cy="268253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Gradients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3190199-C1C2-0549-B59C-931BCAB1B18A}"/>
              </a:ext>
            </a:extLst>
          </p:cNvPr>
          <p:cNvSpPr txBox="1"/>
          <p:nvPr userDrawn="1"/>
        </p:nvSpPr>
        <p:spPr>
          <a:xfrm>
            <a:off x="12261350" y="1990137"/>
            <a:ext cx="777584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Grey tones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A2C8420-18BB-7B4C-A8CE-24531816B381}"/>
              </a:ext>
            </a:extLst>
          </p:cNvPr>
          <p:cNvSpPr txBox="1"/>
          <p:nvPr userDrawn="1"/>
        </p:nvSpPr>
        <p:spPr>
          <a:xfrm>
            <a:off x="12255293" y="2341826"/>
            <a:ext cx="1914733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Text colors light bg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0C230F0-D526-6C4F-9E43-2F708FEF06D1}"/>
              </a:ext>
            </a:extLst>
          </p:cNvPr>
          <p:cNvSpPr txBox="1"/>
          <p:nvPr userDrawn="1"/>
        </p:nvSpPr>
        <p:spPr>
          <a:xfrm>
            <a:off x="12255293" y="2703535"/>
            <a:ext cx="1478852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Adjusted PPT colors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66F376A-0B7A-B448-B37D-0C09B74FA9CF}"/>
              </a:ext>
            </a:extLst>
          </p:cNvPr>
          <p:cNvSpPr txBox="1"/>
          <p:nvPr userDrawn="1"/>
        </p:nvSpPr>
        <p:spPr>
          <a:xfrm>
            <a:off x="12299254" y="2974539"/>
            <a:ext cx="1316722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Default SIG colors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446E0B7-64D4-2F4F-AD07-A36525F701FD}"/>
              </a:ext>
            </a:extLst>
          </p:cNvPr>
          <p:cNvSpPr txBox="1"/>
          <p:nvPr userDrawn="1"/>
        </p:nvSpPr>
        <p:spPr>
          <a:xfrm>
            <a:off x="12255294" y="4008901"/>
            <a:ext cx="1003261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 dirty="0">
                <a:solidFill>
                  <a:schemeClr val="bg1"/>
                </a:solidFill>
                <a:latin typeface="Calibri Bold"/>
              </a:rPr>
              <a:t>Signal colors</a:t>
            </a:r>
          </a:p>
        </p:txBody>
      </p:sp>
      <p:sp>
        <p:nvSpPr>
          <p:cNvPr id="94" name="Triangle 93">
            <a:extLst>
              <a:ext uri="{FF2B5EF4-FFF2-40B4-BE49-F238E27FC236}">
                <a16:creationId xmlns:a16="http://schemas.microsoft.com/office/drawing/2014/main" id="{95EA91EB-DF88-DC4C-8867-A6E89E2C68C6}"/>
              </a:ext>
            </a:extLst>
          </p:cNvPr>
          <p:cNvSpPr/>
          <p:nvPr userDrawn="1"/>
        </p:nvSpPr>
        <p:spPr>
          <a:xfrm>
            <a:off x="-178692" y="1203286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3730BB1-9B79-EB43-8C9B-DD4E1F8DAD52}"/>
              </a:ext>
            </a:extLst>
          </p:cNvPr>
          <p:cNvCxnSpPr>
            <a:cxnSpLocks/>
          </p:cNvCxnSpPr>
          <p:nvPr userDrawn="1"/>
        </p:nvCxnSpPr>
        <p:spPr>
          <a:xfrm>
            <a:off x="517893" y="-299831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F3CBACC-10D2-674D-8DF2-97BE380A1038}"/>
              </a:ext>
            </a:extLst>
          </p:cNvPr>
          <p:cNvCxnSpPr>
            <a:cxnSpLocks/>
          </p:cNvCxnSpPr>
          <p:nvPr userDrawn="1"/>
        </p:nvCxnSpPr>
        <p:spPr>
          <a:xfrm flipH="1">
            <a:off x="-1179871" y="1352986"/>
            <a:ext cx="116971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58AB2E3C-062E-554B-991E-0F04B3480EAB}"/>
              </a:ext>
            </a:extLst>
          </p:cNvPr>
          <p:cNvSpPr txBox="1"/>
          <p:nvPr userDrawn="1"/>
        </p:nvSpPr>
        <p:spPr>
          <a:xfrm>
            <a:off x="-1228363" y="6332096"/>
            <a:ext cx="1228362" cy="533854"/>
          </a:xfrm>
          <a:prstGeom prst="rect">
            <a:avLst/>
          </a:prstGeom>
          <a:gradFill>
            <a:gsLst>
              <a:gs pos="56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8000000" scaled="0"/>
          </a:gradFill>
        </p:spPr>
        <p:txBody>
          <a:bodyPr wrap="square" rtlCol="0" anchor="t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 HERE</a:t>
            </a:r>
          </a:p>
        </p:txBody>
      </p:sp>
      <p:sp>
        <p:nvSpPr>
          <p:cNvPr id="98" name="Triangle 97">
            <a:extLst>
              <a:ext uri="{FF2B5EF4-FFF2-40B4-BE49-F238E27FC236}">
                <a16:creationId xmlns:a16="http://schemas.microsoft.com/office/drawing/2014/main" id="{11579231-7E59-274F-85B7-5EF4619636F1}"/>
              </a:ext>
            </a:extLst>
          </p:cNvPr>
          <p:cNvSpPr/>
          <p:nvPr userDrawn="1"/>
        </p:nvSpPr>
        <p:spPr>
          <a:xfrm flipV="1">
            <a:off x="-178692" y="640801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5E706FE-9CC7-DB4A-94D2-5B4F0983B282}"/>
              </a:ext>
            </a:extLst>
          </p:cNvPr>
          <p:cNvCxnSpPr>
            <a:cxnSpLocks/>
          </p:cNvCxnSpPr>
          <p:nvPr userDrawn="1"/>
        </p:nvCxnSpPr>
        <p:spPr>
          <a:xfrm flipH="1">
            <a:off x="-1179871" y="6336930"/>
            <a:ext cx="116971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A2D8030A-24DD-F24C-B561-91D005086F32}"/>
              </a:ext>
            </a:extLst>
          </p:cNvPr>
          <p:cNvSpPr txBox="1"/>
          <p:nvPr userDrawn="1"/>
        </p:nvSpPr>
        <p:spPr>
          <a:xfrm>
            <a:off x="-301318" y="6865950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89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    HERE</a:t>
            </a:r>
          </a:p>
        </p:txBody>
      </p:sp>
      <p:sp>
        <p:nvSpPr>
          <p:cNvPr id="101" name="Triangle 100">
            <a:extLst>
              <a:ext uri="{FF2B5EF4-FFF2-40B4-BE49-F238E27FC236}">
                <a16:creationId xmlns:a16="http://schemas.microsoft.com/office/drawing/2014/main" id="{FAF50A31-8A21-194A-AACD-F93E3F7DDBA2}"/>
              </a:ext>
            </a:extLst>
          </p:cNvPr>
          <p:cNvSpPr/>
          <p:nvPr userDrawn="1"/>
        </p:nvSpPr>
        <p:spPr>
          <a:xfrm rot="16200000">
            <a:off x="313381" y="7083822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EA568D93-8F76-1F47-8432-E5BA84BD883F}"/>
              </a:ext>
            </a:extLst>
          </p:cNvPr>
          <p:cNvCxnSpPr>
            <a:cxnSpLocks/>
          </p:cNvCxnSpPr>
          <p:nvPr userDrawn="1"/>
        </p:nvCxnSpPr>
        <p:spPr>
          <a:xfrm>
            <a:off x="517893" y="6887674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CA5E9F19-F0DD-8D49-906A-3B4B9F498BE0}"/>
              </a:ext>
            </a:extLst>
          </p:cNvPr>
          <p:cNvSpPr txBox="1"/>
          <p:nvPr userDrawn="1"/>
        </p:nvSpPr>
        <p:spPr>
          <a:xfrm>
            <a:off x="12197109" y="-7624"/>
            <a:ext cx="1256301" cy="1362904"/>
          </a:xfrm>
          <a:prstGeom prst="rect">
            <a:avLst/>
          </a:prstGeom>
          <a:gradFill>
            <a:gsLst>
              <a:gs pos="53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8400000" scaled="0"/>
          </a:gradFill>
        </p:spPr>
        <p:txBody>
          <a:bodyPr wrap="square" rtlCol="0" anchor="b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NO CONTENT HERE</a:t>
            </a:r>
          </a:p>
        </p:txBody>
      </p:sp>
      <p:sp>
        <p:nvSpPr>
          <p:cNvPr id="104" name="Triangle 103">
            <a:extLst>
              <a:ext uri="{FF2B5EF4-FFF2-40B4-BE49-F238E27FC236}">
                <a16:creationId xmlns:a16="http://schemas.microsoft.com/office/drawing/2014/main" id="{26D0B294-32A3-6E48-A0F8-F348E1C5475D}"/>
              </a:ext>
            </a:extLst>
          </p:cNvPr>
          <p:cNvSpPr/>
          <p:nvPr userDrawn="1"/>
        </p:nvSpPr>
        <p:spPr>
          <a:xfrm>
            <a:off x="12278571" y="1203286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25C59B47-1A1E-E048-B3C7-1674CBF00BA4}"/>
              </a:ext>
            </a:extLst>
          </p:cNvPr>
          <p:cNvCxnSpPr>
            <a:cxnSpLocks/>
          </p:cNvCxnSpPr>
          <p:nvPr userDrawn="1"/>
        </p:nvCxnSpPr>
        <p:spPr>
          <a:xfrm flipH="1">
            <a:off x="12206176" y="1352986"/>
            <a:ext cx="1141114" cy="1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31C1F5FB-91A2-734D-A19C-C1FBD5BA6428}"/>
              </a:ext>
            </a:extLst>
          </p:cNvPr>
          <p:cNvSpPr txBox="1"/>
          <p:nvPr userDrawn="1"/>
        </p:nvSpPr>
        <p:spPr>
          <a:xfrm>
            <a:off x="12197109" y="6332096"/>
            <a:ext cx="1256301" cy="533854"/>
          </a:xfrm>
          <a:prstGeom prst="rect">
            <a:avLst/>
          </a:prstGeom>
          <a:gradFill>
            <a:gsLst>
              <a:gs pos="56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4400000" scaled="0"/>
          </a:gradFill>
        </p:spPr>
        <p:txBody>
          <a:bodyPr wrap="square" rtlCol="0" anchor="t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NO CONTENT HERE</a:t>
            </a:r>
          </a:p>
        </p:txBody>
      </p:sp>
      <p:sp>
        <p:nvSpPr>
          <p:cNvPr id="107" name="Triangle 106">
            <a:extLst>
              <a:ext uri="{FF2B5EF4-FFF2-40B4-BE49-F238E27FC236}">
                <a16:creationId xmlns:a16="http://schemas.microsoft.com/office/drawing/2014/main" id="{DE0C5951-F714-9C44-8682-C724B5FE1100}"/>
              </a:ext>
            </a:extLst>
          </p:cNvPr>
          <p:cNvSpPr/>
          <p:nvPr userDrawn="1"/>
        </p:nvSpPr>
        <p:spPr>
          <a:xfrm flipV="1">
            <a:off x="12278571" y="640801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1B6EB480-EA98-0A40-89A3-61F487FE4C85}"/>
              </a:ext>
            </a:extLst>
          </p:cNvPr>
          <p:cNvCxnSpPr>
            <a:cxnSpLocks/>
          </p:cNvCxnSpPr>
          <p:nvPr userDrawn="1"/>
        </p:nvCxnSpPr>
        <p:spPr>
          <a:xfrm flipH="1">
            <a:off x="12206176" y="6329115"/>
            <a:ext cx="1133740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6D8FDB07-3CA8-1B45-A406-77809CF8B74B}"/>
              </a:ext>
            </a:extLst>
          </p:cNvPr>
          <p:cNvSpPr txBox="1"/>
          <p:nvPr userDrawn="1"/>
        </p:nvSpPr>
        <p:spPr>
          <a:xfrm>
            <a:off x="11753369" y="-369332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84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HERE</a:t>
            </a:r>
          </a:p>
        </p:txBody>
      </p:sp>
      <p:sp>
        <p:nvSpPr>
          <p:cNvPr id="110" name="Triangle 109">
            <a:extLst>
              <a:ext uri="{FF2B5EF4-FFF2-40B4-BE49-F238E27FC236}">
                <a16:creationId xmlns:a16="http://schemas.microsoft.com/office/drawing/2014/main" id="{3B56AC1A-0522-8447-B54E-A3B921BE61CA}"/>
              </a:ext>
            </a:extLst>
          </p:cNvPr>
          <p:cNvSpPr/>
          <p:nvPr userDrawn="1"/>
        </p:nvSpPr>
        <p:spPr>
          <a:xfrm rot="5400000" flipH="1">
            <a:off x="11831127" y="-158835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297B4272-1DA3-CD44-8357-76391CEA3A5F}"/>
              </a:ext>
            </a:extLst>
          </p:cNvPr>
          <p:cNvCxnSpPr>
            <a:cxnSpLocks/>
          </p:cNvCxnSpPr>
          <p:nvPr userDrawn="1"/>
        </p:nvCxnSpPr>
        <p:spPr>
          <a:xfrm>
            <a:off x="11748091" y="-303006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38127C6C-4883-104A-B1C6-B43ADDFA08D8}"/>
              </a:ext>
            </a:extLst>
          </p:cNvPr>
          <p:cNvSpPr txBox="1"/>
          <p:nvPr userDrawn="1"/>
        </p:nvSpPr>
        <p:spPr>
          <a:xfrm>
            <a:off x="11753369" y="6873324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32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HERE</a:t>
            </a:r>
          </a:p>
        </p:txBody>
      </p:sp>
      <p:sp>
        <p:nvSpPr>
          <p:cNvPr id="113" name="Triangle 112">
            <a:extLst>
              <a:ext uri="{FF2B5EF4-FFF2-40B4-BE49-F238E27FC236}">
                <a16:creationId xmlns:a16="http://schemas.microsoft.com/office/drawing/2014/main" id="{5E23F091-2253-9A46-A773-B6E33A4E19DA}"/>
              </a:ext>
            </a:extLst>
          </p:cNvPr>
          <p:cNvSpPr/>
          <p:nvPr userDrawn="1"/>
        </p:nvSpPr>
        <p:spPr>
          <a:xfrm rot="5400000" flipH="1">
            <a:off x="11831127" y="7083821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ED939B88-4AB8-874C-A524-9CF7AB4C7AE2}"/>
              </a:ext>
            </a:extLst>
          </p:cNvPr>
          <p:cNvCxnSpPr>
            <a:cxnSpLocks/>
          </p:cNvCxnSpPr>
          <p:nvPr userDrawn="1"/>
        </p:nvCxnSpPr>
        <p:spPr>
          <a:xfrm>
            <a:off x="11748091" y="6874974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662" r:id="rId2"/>
    <p:sldLayoutId id="2147483673" r:id="rId3"/>
    <p:sldLayoutId id="2147483713" r:id="rId4"/>
    <p:sldLayoutId id="2147483714" r:id="rId5"/>
    <p:sldLayoutId id="2147483668" r:id="rId6"/>
    <p:sldLayoutId id="2147483720" r:id="rId7"/>
    <p:sldLayoutId id="2147483719" r:id="rId8"/>
    <p:sldLayoutId id="2147483661" r:id="rId9"/>
    <p:sldLayoutId id="2147483664" r:id="rId10"/>
    <p:sldLayoutId id="2147483692" r:id="rId11"/>
    <p:sldLayoutId id="2147483693" r:id="rId12"/>
    <p:sldLayoutId id="2147483690" r:id="rId13"/>
    <p:sldLayoutId id="2147483691" r:id="rId14"/>
    <p:sldLayoutId id="2147483697" r:id="rId15"/>
    <p:sldLayoutId id="2147483715" r:id="rId16"/>
    <p:sldLayoutId id="2147483717" r:id="rId17"/>
    <p:sldLayoutId id="2147483704" r:id="rId18"/>
    <p:sldLayoutId id="214748372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000" b="1" kern="1200" spc="-10" smtClean="0">
          <a:solidFill>
            <a:schemeClr val="tx2"/>
          </a:solidFill>
          <a:latin typeface="+mn-lt"/>
          <a:ea typeface="+mn-ea"/>
          <a:cs typeface="+mn-cs"/>
        </a:defRPr>
      </a:lvl1pPr>
    </p:titleStyle>
    <p:bodyStyle>
      <a:lvl1pPr marL="0" indent="-2646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1pPr>
      <a:lvl2pPr marL="540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2pPr>
      <a:lvl3pPr marL="792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3pPr>
      <a:lvl4pPr marL="1044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4pPr>
      <a:lvl5pPr marL="1296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51" userDrawn="1">
          <p15:clr>
            <a:srgbClr val="F26B43"/>
          </p15:clr>
        </p15:guide>
        <p15:guide id="2" pos="32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emf"/><Relationship Id="rId5" Type="http://schemas.openxmlformats.org/officeDocument/2006/relationships/image" Target="../media/image18.emf"/><Relationship Id="rId4" Type="http://schemas.openxmlformats.org/officeDocument/2006/relationships/image" Target="../media/image17.tif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6C553A6-C217-8C4D-9A6D-8D0D48D4D7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Software Quality report on MODERNIZATION_</a:t>
            </a:r>
            <a:r>
              <a:rPr lang="en-US" dirty="0" err="1"/>
              <a:t>CUSTOMER_NAME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1FE993F-25A4-CA1C-44DD-67230D2F26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Modernization Assessment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FC6248-201F-1144-8C5C-E4B4C27EF42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636000" y="4119279"/>
            <a:ext cx="1450572" cy="215444"/>
          </a:xfrm>
        </p:spPr>
        <p:txBody>
          <a:bodyPr>
            <a:normAutofit fontScale="40000" lnSpcReduction="20000"/>
          </a:bodyPr>
          <a:lstStyle/>
          <a:p>
            <a:r>
              <a:rPr lang="en-US" dirty="0"/>
              <a:t>Software Improvement Group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EB27F3-0AC4-E148-A0B1-7E0851BF0D3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 err="1"/>
              <a:t>REPORT_DATE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10CA19-199D-DB48-2F97-A61E7A0CD1A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629355" y="6536558"/>
            <a:ext cx="2391680" cy="247948"/>
          </a:xfrm>
        </p:spPr>
        <p:txBody>
          <a:bodyPr>
            <a:normAutofit fontScale="625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91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>
            <a:extLst>
              <a:ext uri="{FF2B5EF4-FFF2-40B4-BE49-F238E27FC236}">
                <a16:creationId xmlns:a16="http://schemas.microsoft.com/office/drawing/2014/main" id="{37F4E57E-2315-9749-9586-B32F24FF9B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44" b="16332"/>
          <a:stretch/>
        </p:blipFill>
        <p:spPr>
          <a:xfrm>
            <a:off x="-1" y="844663"/>
            <a:ext cx="12171003" cy="6021288"/>
          </a:xfrm>
          <a:prstGeom prst="rect">
            <a:avLst/>
          </a:prstGeom>
        </p:spPr>
      </p:pic>
      <p:sp>
        <p:nvSpPr>
          <p:cNvPr id="88" name="Rectangle 87">
            <a:extLst>
              <a:ext uri="{FF2B5EF4-FFF2-40B4-BE49-F238E27FC236}">
                <a16:creationId xmlns:a16="http://schemas.microsoft.com/office/drawing/2014/main" id="{7DC72909-4B1B-F74A-BF43-2DB5FC1DCB1B}"/>
              </a:ext>
            </a:extLst>
          </p:cNvPr>
          <p:cNvSpPr/>
          <p:nvPr/>
        </p:nvSpPr>
        <p:spPr>
          <a:xfrm>
            <a:off x="1" y="836712"/>
            <a:ext cx="12191999" cy="6021288"/>
          </a:xfrm>
          <a:prstGeom prst="rect">
            <a:avLst/>
          </a:prstGeom>
          <a:gradFill flip="none" rotWithShape="1">
            <a:gsLst>
              <a:gs pos="0">
                <a:schemeClr val="accent6">
                  <a:satMod val="110000"/>
                  <a:lumMod val="100000"/>
                  <a:shade val="100000"/>
                </a:schemeClr>
              </a:gs>
              <a:gs pos="0">
                <a:schemeClr val="accent1">
                  <a:lumMod val="60000"/>
                  <a:lumOff val="40000"/>
                  <a:alpha val="52000"/>
                </a:schemeClr>
              </a:gs>
              <a:gs pos="99000">
                <a:schemeClr val="accent1">
                  <a:lumMod val="75000"/>
                  <a:alpha val="78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9F4A3C8-2D2A-ED4B-8A5A-8B5FA1C7654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50800" cmpd="sng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9A0C7D-ED79-1C41-B9E8-05543C0C959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Legacy modernization assurance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5D40D92-28CE-014C-9D3A-F89D52015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5667" y="391823"/>
            <a:ext cx="9810000" cy="282819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t"/>
          <a:lstStyle/>
          <a:p>
            <a:r>
              <a:rPr lang="en-US" dirty="0"/>
              <a:t>A 3-phase approach to support modernization; focus for this report is </a:t>
            </a:r>
            <a:r>
              <a:rPr lang="en-US" dirty="0">
                <a:solidFill>
                  <a:schemeClr val="accent2"/>
                </a:solidFill>
              </a:rPr>
              <a:t>Phase 2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3223B75-9701-1C4D-92DE-AF89A656DE22}"/>
              </a:ext>
            </a:extLst>
          </p:cNvPr>
          <p:cNvGrpSpPr/>
          <p:nvPr/>
        </p:nvGrpSpPr>
        <p:grpSpPr>
          <a:xfrm>
            <a:off x="5006801" y="1071914"/>
            <a:ext cx="2209800" cy="1989458"/>
            <a:chOff x="3145912" y="4308725"/>
            <a:chExt cx="2209800" cy="1989458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7C03BF3-586D-3547-A7C6-E1CF136DA3AC}"/>
                </a:ext>
              </a:extLst>
            </p:cNvPr>
            <p:cNvSpPr/>
            <p:nvPr/>
          </p:nvSpPr>
          <p:spPr>
            <a:xfrm>
              <a:off x="3145912" y="5470254"/>
              <a:ext cx="2209800" cy="82792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b"/>
            <a:lstStyle/>
            <a:p>
              <a:pPr algn="ctr"/>
              <a:r>
                <a:rPr lang="en-US" sz="1600" b="1" dirty="0">
                  <a:solidFill>
                    <a:schemeClr val="accent2"/>
                  </a:solidFill>
                </a:rPr>
                <a:t>Phase 2</a:t>
              </a:r>
            </a:p>
            <a:p>
              <a:pPr algn="ctr"/>
              <a:r>
                <a:rPr lang="en-US" sz="1600" b="1" dirty="0">
                  <a:solidFill>
                    <a:schemeClr val="accent2"/>
                  </a:solidFill>
                </a:rPr>
                <a:t>Modernization Assessment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5F786E5-A81C-4549-AAD0-3C3177E4782D}"/>
                </a:ext>
              </a:extLst>
            </p:cNvPr>
            <p:cNvSpPr/>
            <p:nvPr/>
          </p:nvSpPr>
          <p:spPr>
            <a:xfrm>
              <a:off x="3709113" y="4308725"/>
              <a:ext cx="1083399" cy="108339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2E5BCB1F-62B3-D842-98FD-3689A9755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100000"/>
            </a:blip>
            <a:stretch>
              <a:fillRect/>
            </a:stretch>
          </p:blipFill>
          <p:spPr>
            <a:xfrm>
              <a:off x="3833429" y="4482668"/>
              <a:ext cx="792773" cy="673857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B8BE51C-20C0-A14C-A4A2-9EAB80BAB487}"/>
              </a:ext>
            </a:extLst>
          </p:cNvPr>
          <p:cNvGrpSpPr/>
          <p:nvPr/>
        </p:nvGrpSpPr>
        <p:grpSpPr>
          <a:xfrm>
            <a:off x="9662555" y="2456932"/>
            <a:ext cx="2337989" cy="1732444"/>
            <a:chOff x="7914209" y="4283074"/>
            <a:chExt cx="2337989" cy="1732444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B16BE29-6B13-7E44-8403-0C579A2D8740}"/>
                </a:ext>
              </a:extLst>
            </p:cNvPr>
            <p:cNvSpPr/>
            <p:nvPr/>
          </p:nvSpPr>
          <p:spPr>
            <a:xfrm>
              <a:off x="7914209" y="5607871"/>
              <a:ext cx="2337989" cy="40764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Phase 3</a:t>
              </a:r>
            </a:p>
            <a:p>
              <a:pPr algn="ctr"/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Sigrid Continuous Assurance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791965E-97DA-ED4B-95A4-2C1E50262FBF}"/>
                </a:ext>
              </a:extLst>
            </p:cNvPr>
            <p:cNvSpPr/>
            <p:nvPr/>
          </p:nvSpPr>
          <p:spPr>
            <a:xfrm>
              <a:off x="8490111" y="4283074"/>
              <a:ext cx="1083399" cy="108339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dirty="0" err="1">
                <a:solidFill>
                  <a:schemeClr val="tx1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38B2A39E-4056-5846-8346-8BC6A184F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100000"/>
            </a:blip>
            <a:stretch>
              <a:fillRect/>
            </a:stretch>
          </p:blipFill>
          <p:spPr>
            <a:xfrm>
              <a:off x="8691596" y="4482668"/>
              <a:ext cx="694134" cy="590014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6097FB3-105A-3146-9C83-F353F350F638}"/>
              </a:ext>
            </a:extLst>
          </p:cNvPr>
          <p:cNvGrpSpPr/>
          <p:nvPr/>
        </p:nvGrpSpPr>
        <p:grpSpPr>
          <a:xfrm>
            <a:off x="171654" y="2456932"/>
            <a:ext cx="2209800" cy="1774529"/>
            <a:chOff x="189717" y="4308725"/>
            <a:chExt cx="2209800" cy="177452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EF567B5-009C-8A45-B4A1-E01785A0F227}"/>
                </a:ext>
              </a:extLst>
            </p:cNvPr>
            <p:cNvSpPr/>
            <p:nvPr/>
          </p:nvSpPr>
          <p:spPr>
            <a:xfrm>
              <a:off x="189717" y="5675607"/>
              <a:ext cx="2209800" cy="40764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Phase 1</a:t>
              </a:r>
            </a:p>
            <a:p>
              <a:pPr algn="ctr"/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Priority </a:t>
              </a:r>
            </a:p>
            <a:p>
              <a:pPr algn="ctr"/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Portfolio Scan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2C34D03-95D0-EC42-905B-E5564FE54565}"/>
                </a:ext>
              </a:extLst>
            </p:cNvPr>
            <p:cNvSpPr/>
            <p:nvPr/>
          </p:nvSpPr>
          <p:spPr>
            <a:xfrm>
              <a:off x="765618" y="4308725"/>
              <a:ext cx="1083399" cy="108339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tx1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2B6D5A84-B1EE-C849-A50F-4723EC6331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917322" y="4547122"/>
              <a:ext cx="749510" cy="637084"/>
            </a:xfrm>
            <a:prstGeom prst="rect">
              <a:avLst/>
            </a:prstGeom>
          </p:spPr>
        </p:pic>
      </p:grp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0425303F-80E3-8640-940B-98030EAEE2EB}"/>
              </a:ext>
            </a:extLst>
          </p:cNvPr>
          <p:cNvCxnSpPr>
            <a:cxnSpLocks/>
            <a:stCxn id="69" idx="2"/>
            <a:endCxn id="70" idx="1"/>
          </p:cNvCxnSpPr>
          <p:nvPr/>
        </p:nvCxnSpPr>
        <p:spPr>
          <a:xfrm rot="16200000" flipH="1">
            <a:off x="5931043" y="5073913"/>
            <a:ext cx="361316" cy="1225371"/>
          </a:xfrm>
          <a:prstGeom prst="bentConnector2">
            <a:avLst/>
          </a:prstGeom>
          <a:ln w="38100" cap="rnd" cmpd="sng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FFA6D62-785B-1B41-A941-B7F0C1610920}"/>
              </a:ext>
            </a:extLst>
          </p:cNvPr>
          <p:cNvSpPr/>
          <p:nvPr/>
        </p:nvSpPr>
        <p:spPr>
          <a:xfrm>
            <a:off x="2905352" y="3216440"/>
            <a:ext cx="6381295" cy="3236896"/>
          </a:xfrm>
          <a:prstGeom prst="rect">
            <a:avLst/>
          </a:prstGeom>
          <a:solidFill>
            <a:schemeClr val="tx2">
              <a:lumMod val="75000"/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3840F6F-3AC0-8E49-8994-24398DB9A99F}"/>
              </a:ext>
            </a:extLst>
          </p:cNvPr>
          <p:cNvGrpSpPr/>
          <p:nvPr/>
        </p:nvGrpSpPr>
        <p:grpSpPr>
          <a:xfrm>
            <a:off x="3316358" y="3713108"/>
            <a:ext cx="5517292" cy="386563"/>
            <a:chOff x="2959100" y="2742577"/>
            <a:chExt cx="6436451" cy="51167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85C033B-C32C-BB43-BB54-2C71421DB84C}"/>
                </a:ext>
              </a:extLst>
            </p:cNvPr>
            <p:cNvSpPr/>
            <p:nvPr/>
          </p:nvSpPr>
          <p:spPr>
            <a:xfrm>
              <a:off x="2959100" y="2742579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99E8E97-2D39-E749-8228-DEBC4A9B8FF7}"/>
                </a:ext>
              </a:extLst>
            </p:cNvPr>
            <p:cNvSpPr/>
            <p:nvPr/>
          </p:nvSpPr>
          <p:spPr>
            <a:xfrm>
              <a:off x="4320563" y="2742578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01DA10C-949F-5645-A257-226241BF7045}"/>
                </a:ext>
              </a:extLst>
            </p:cNvPr>
            <p:cNvSpPr/>
            <p:nvPr/>
          </p:nvSpPr>
          <p:spPr>
            <a:xfrm>
              <a:off x="5682026" y="2742577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BFCC6E8-5D67-2840-BCB1-5DBA89F6DD26}"/>
                </a:ext>
              </a:extLst>
            </p:cNvPr>
            <p:cNvSpPr/>
            <p:nvPr/>
          </p:nvSpPr>
          <p:spPr>
            <a:xfrm>
              <a:off x="7043489" y="2742577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4A76D03-2893-5B47-BAA4-CC26C80F7254}"/>
                </a:ext>
              </a:extLst>
            </p:cNvPr>
            <p:cNvSpPr/>
            <p:nvPr/>
          </p:nvSpPr>
          <p:spPr>
            <a:xfrm>
              <a:off x="8404951" y="2742577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94EF0DD-1759-7F4E-8ECA-47867518434C}"/>
              </a:ext>
            </a:extLst>
          </p:cNvPr>
          <p:cNvGrpSpPr/>
          <p:nvPr/>
        </p:nvGrpSpPr>
        <p:grpSpPr>
          <a:xfrm>
            <a:off x="3316358" y="4354253"/>
            <a:ext cx="5517290" cy="392116"/>
            <a:chOff x="2959100" y="2735226"/>
            <a:chExt cx="6436449" cy="519028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692D9B0F-EB09-7F4F-9AEB-55FC58EA1EA5}"/>
                </a:ext>
              </a:extLst>
            </p:cNvPr>
            <p:cNvSpPr/>
            <p:nvPr/>
          </p:nvSpPr>
          <p:spPr>
            <a:xfrm>
              <a:off x="2959100" y="2742579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2763C4D7-BA68-2B4A-BED3-6E00AE6434AE}"/>
                </a:ext>
              </a:extLst>
            </p:cNvPr>
            <p:cNvSpPr/>
            <p:nvPr/>
          </p:nvSpPr>
          <p:spPr>
            <a:xfrm>
              <a:off x="4320563" y="2742578"/>
              <a:ext cx="990600" cy="511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A853EF2-B80D-284A-BA23-A4B3A5B77A07}"/>
                </a:ext>
              </a:extLst>
            </p:cNvPr>
            <p:cNvSpPr/>
            <p:nvPr/>
          </p:nvSpPr>
          <p:spPr>
            <a:xfrm>
              <a:off x="5682026" y="2742577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F18C55D-FF8C-CA44-9AE5-CBEF13C56FE5}"/>
                </a:ext>
              </a:extLst>
            </p:cNvPr>
            <p:cNvSpPr/>
            <p:nvPr/>
          </p:nvSpPr>
          <p:spPr>
            <a:xfrm>
              <a:off x="7040074" y="2735226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3EC374D-2E3D-ED44-AA4B-BED8ECA23EF2}"/>
                </a:ext>
              </a:extLst>
            </p:cNvPr>
            <p:cNvSpPr/>
            <p:nvPr/>
          </p:nvSpPr>
          <p:spPr>
            <a:xfrm>
              <a:off x="8404949" y="2735226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D77E088-2608-9041-B249-AD61D1F17F82}"/>
              </a:ext>
            </a:extLst>
          </p:cNvPr>
          <p:cNvGrpSpPr/>
          <p:nvPr/>
        </p:nvGrpSpPr>
        <p:grpSpPr>
          <a:xfrm>
            <a:off x="3316357" y="5012677"/>
            <a:ext cx="5517290" cy="390631"/>
            <a:chOff x="2959100" y="2742577"/>
            <a:chExt cx="6436449" cy="517061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A86137B-1F19-3C48-9B71-C1D7DE30C3ED}"/>
                </a:ext>
              </a:extLst>
            </p:cNvPr>
            <p:cNvSpPr/>
            <p:nvPr/>
          </p:nvSpPr>
          <p:spPr>
            <a:xfrm>
              <a:off x="2959100" y="2742579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B6BBBDAB-C959-B345-87C8-C19ECFBBADB1}"/>
                </a:ext>
              </a:extLst>
            </p:cNvPr>
            <p:cNvSpPr/>
            <p:nvPr/>
          </p:nvSpPr>
          <p:spPr>
            <a:xfrm>
              <a:off x="4320563" y="2742578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C68E6811-E68E-A14F-98E9-ED955FA0EF2A}"/>
                </a:ext>
              </a:extLst>
            </p:cNvPr>
            <p:cNvSpPr/>
            <p:nvPr/>
          </p:nvSpPr>
          <p:spPr>
            <a:xfrm>
              <a:off x="5682026" y="2742577"/>
              <a:ext cx="990600" cy="511675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2DE56583-052F-0544-AEAD-2FAE6E54C5D4}"/>
                </a:ext>
              </a:extLst>
            </p:cNvPr>
            <p:cNvSpPr/>
            <p:nvPr/>
          </p:nvSpPr>
          <p:spPr>
            <a:xfrm>
              <a:off x="7040394" y="2747963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5D7835D1-444D-A04A-84F0-F2F26CCC4A3E}"/>
                </a:ext>
              </a:extLst>
            </p:cNvPr>
            <p:cNvSpPr/>
            <p:nvPr/>
          </p:nvSpPr>
          <p:spPr>
            <a:xfrm>
              <a:off x="8404949" y="2747963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7252448-50FE-9B44-B193-631FF237A454}"/>
              </a:ext>
            </a:extLst>
          </p:cNvPr>
          <p:cNvGrpSpPr/>
          <p:nvPr/>
        </p:nvGrpSpPr>
        <p:grpSpPr>
          <a:xfrm>
            <a:off x="3316357" y="5659374"/>
            <a:ext cx="5517290" cy="424658"/>
            <a:chOff x="2959100" y="2742577"/>
            <a:chExt cx="6436449" cy="562102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901C41E7-8EE7-BE4D-87D8-4A07E3A51D65}"/>
                </a:ext>
              </a:extLst>
            </p:cNvPr>
            <p:cNvSpPr/>
            <p:nvPr/>
          </p:nvSpPr>
          <p:spPr>
            <a:xfrm>
              <a:off x="2959100" y="2742579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B34C73B9-3881-3C49-888A-D04941F1FC16}"/>
                </a:ext>
              </a:extLst>
            </p:cNvPr>
            <p:cNvSpPr/>
            <p:nvPr/>
          </p:nvSpPr>
          <p:spPr>
            <a:xfrm>
              <a:off x="4320563" y="2742578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1C97176F-CFC7-5F43-A30F-D8E2F2FD1F3F}"/>
                </a:ext>
              </a:extLst>
            </p:cNvPr>
            <p:cNvSpPr/>
            <p:nvPr/>
          </p:nvSpPr>
          <p:spPr>
            <a:xfrm>
              <a:off x="7040074" y="2768874"/>
              <a:ext cx="990600" cy="511675"/>
            </a:xfrm>
            <a:prstGeom prst="rect">
              <a:avLst/>
            </a:prstGeom>
            <a:solidFill>
              <a:srgbClr val="8635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CBB63F2B-BA2E-6F4A-9EAD-1E639CA624E7}"/>
                </a:ext>
              </a:extLst>
            </p:cNvPr>
            <p:cNvSpPr/>
            <p:nvPr/>
          </p:nvSpPr>
          <p:spPr>
            <a:xfrm>
              <a:off x="8404949" y="2793004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CB17A318-92AC-9C4D-8331-5C362DA941AA}"/>
                </a:ext>
              </a:extLst>
            </p:cNvPr>
            <p:cNvSpPr/>
            <p:nvPr/>
          </p:nvSpPr>
          <p:spPr>
            <a:xfrm>
              <a:off x="5682026" y="2742577"/>
              <a:ext cx="990600" cy="511675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21BC2EC-1C22-0D47-B700-C6EC5A8B61CE}"/>
              </a:ext>
            </a:extLst>
          </p:cNvPr>
          <p:cNvCxnSpPr>
            <a:cxnSpLocks/>
            <a:stCxn id="29" idx="2"/>
            <a:endCxn id="69" idx="0"/>
          </p:cNvCxnSpPr>
          <p:nvPr/>
        </p:nvCxnSpPr>
        <p:spPr>
          <a:xfrm rot="5400000">
            <a:off x="5213427" y="3346962"/>
            <a:ext cx="1183864" cy="612685"/>
          </a:xfrm>
          <a:prstGeom prst="bentConnector3">
            <a:avLst>
              <a:gd name="adj1" fmla="val 50000"/>
            </a:avLst>
          </a:prstGeom>
          <a:ln w="15875" cap="rnd" cmpd="sng">
            <a:solidFill>
              <a:schemeClr val="accent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7B9BA59E-AE25-3D41-94A9-55882E709106}"/>
              </a:ext>
            </a:extLst>
          </p:cNvPr>
          <p:cNvSpPr/>
          <p:nvPr/>
        </p:nvSpPr>
        <p:spPr>
          <a:xfrm>
            <a:off x="3165067" y="3512124"/>
            <a:ext cx="5786849" cy="2718793"/>
          </a:xfrm>
          <a:prstGeom prst="rect">
            <a:avLst/>
          </a:prstGeom>
          <a:noFill/>
          <a:ln w="22225" cap="rnd" cmpd="sng">
            <a:solidFill>
              <a:schemeClr val="accent2"/>
            </a:solidFill>
            <a:prstDash val="sysDot"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D573F2E-BDD6-FC4C-86EE-67C33F9AB989}"/>
              </a:ext>
            </a:extLst>
          </p:cNvPr>
          <p:cNvSpPr/>
          <p:nvPr/>
        </p:nvSpPr>
        <p:spPr>
          <a:xfrm>
            <a:off x="4377266" y="4245236"/>
            <a:ext cx="2243500" cy="1260705"/>
          </a:xfrm>
          <a:prstGeom prst="rect">
            <a:avLst/>
          </a:prstGeom>
          <a:noFill/>
          <a:ln w="15875" cap="rnd" cmpd="sng">
            <a:solidFill>
              <a:schemeClr val="accent2"/>
            </a:solidFill>
            <a:prstDash val="sysDash"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F107F4D-8296-0B49-A19B-696EDD676A71}"/>
              </a:ext>
            </a:extLst>
          </p:cNvPr>
          <p:cNvSpPr/>
          <p:nvPr/>
        </p:nvSpPr>
        <p:spPr>
          <a:xfrm>
            <a:off x="6724387" y="5601111"/>
            <a:ext cx="1022210" cy="532292"/>
          </a:xfrm>
          <a:prstGeom prst="rect">
            <a:avLst/>
          </a:prstGeom>
          <a:noFill/>
          <a:ln w="15875" cap="rnd" cmpd="sng">
            <a:solidFill>
              <a:schemeClr val="accent2"/>
            </a:solidFill>
            <a:prstDash val="sys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A9808078-E9C7-6E40-BAB1-EDF2F7E898FA}"/>
              </a:ext>
            </a:extLst>
          </p:cNvPr>
          <p:cNvCxnSpPr>
            <a:cxnSpLocks/>
            <a:stCxn id="69" idx="2"/>
          </p:cNvCxnSpPr>
          <p:nvPr/>
        </p:nvCxnSpPr>
        <p:spPr>
          <a:xfrm rot="16200000" flipH="1">
            <a:off x="5908512" y="5096445"/>
            <a:ext cx="381198" cy="1200190"/>
          </a:xfrm>
          <a:prstGeom prst="bentConnector2">
            <a:avLst/>
          </a:prstGeom>
          <a:ln w="15875" cap="rnd" cmpd="sng">
            <a:solidFill>
              <a:schemeClr val="accent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99D84C3-F56B-6C41-9FAC-E8D1BA8FC920}"/>
              </a:ext>
            </a:extLst>
          </p:cNvPr>
          <p:cNvCxnSpPr>
            <a:cxnSpLocks/>
            <a:stCxn id="23" idx="6"/>
            <a:endCxn id="13" idx="1"/>
          </p:cNvCxnSpPr>
          <p:nvPr/>
        </p:nvCxnSpPr>
        <p:spPr>
          <a:xfrm>
            <a:off x="1830954" y="2998632"/>
            <a:ext cx="1334113" cy="1872889"/>
          </a:xfrm>
          <a:prstGeom prst="bentConnector3">
            <a:avLst>
              <a:gd name="adj1" fmla="val 44923"/>
            </a:avLst>
          </a:prstGeom>
          <a:ln w="22225" cap="rnd" cmpd="sng">
            <a:solidFill>
              <a:schemeClr val="accent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E796A30-D8CD-324F-99B3-4D8BD6703804}"/>
              </a:ext>
            </a:extLst>
          </p:cNvPr>
          <p:cNvSpPr/>
          <p:nvPr/>
        </p:nvSpPr>
        <p:spPr>
          <a:xfrm>
            <a:off x="5650435" y="5659373"/>
            <a:ext cx="858025" cy="41811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04BCA459-E3A3-284E-AB5C-ECA4DA4A6D57}"/>
              </a:ext>
            </a:extLst>
          </p:cNvPr>
          <p:cNvSpPr/>
          <p:nvPr/>
        </p:nvSpPr>
        <p:spPr>
          <a:xfrm>
            <a:off x="342015" y="4608206"/>
            <a:ext cx="1873641" cy="1751355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Insight in Modernization Candidates Within weeks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Based on Technology Risk, Size and  Benchmark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Provides Fact-Based Initial Input for Modernization Assignments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>
                  <a:lumMod val="40000"/>
                  <a:lumOff val="60000"/>
                </a:schemeClr>
              </a:solidFill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>
                  <a:lumMod val="40000"/>
                  <a:lumOff val="60000"/>
                </a:schemeClr>
              </a:solidFill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EAD2E50B-DC57-014C-9A32-081F2ED80996}"/>
              </a:ext>
            </a:extLst>
          </p:cNvPr>
          <p:cNvSpPr/>
          <p:nvPr/>
        </p:nvSpPr>
        <p:spPr>
          <a:xfrm>
            <a:off x="9894728" y="4604274"/>
            <a:ext cx="1873641" cy="1755287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Continuous Multi-Year Governance using the Modernization Road Map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Guidance with the Sigrid Platform and Expert Consultancy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A continuous overview of your progress in your modernization program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>
                  <a:lumMod val="40000"/>
                  <a:lumOff val="60000"/>
                </a:schemeClr>
              </a:solidFill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123" name="Straight Connector 14">
            <a:extLst>
              <a:ext uri="{FF2B5EF4-FFF2-40B4-BE49-F238E27FC236}">
                <a16:creationId xmlns:a16="http://schemas.microsoft.com/office/drawing/2014/main" id="{20E62444-4006-724F-A913-FB3F9472A068}"/>
              </a:ext>
            </a:extLst>
          </p:cNvPr>
          <p:cNvCxnSpPr>
            <a:cxnSpLocks/>
            <a:stCxn id="38" idx="2"/>
            <a:endCxn id="70" idx="3"/>
          </p:cNvCxnSpPr>
          <p:nvPr/>
        </p:nvCxnSpPr>
        <p:spPr>
          <a:xfrm rot="10800000" flipV="1">
            <a:off x="7746597" y="2998631"/>
            <a:ext cx="2491860" cy="2868625"/>
          </a:xfrm>
          <a:prstGeom prst="bentConnector3">
            <a:avLst>
              <a:gd name="adj1" fmla="val 25919"/>
            </a:avLst>
          </a:prstGeom>
          <a:ln w="22225" cap="rnd" cmpd="sng">
            <a:solidFill>
              <a:schemeClr val="accent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 125">
            <a:extLst>
              <a:ext uri="{FF2B5EF4-FFF2-40B4-BE49-F238E27FC236}">
                <a16:creationId xmlns:a16="http://schemas.microsoft.com/office/drawing/2014/main" id="{95443DFE-0D05-1940-BD5D-83F5CAB76E3C}"/>
              </a:ext>
            </a:extLst>
          </p:cNvPr>
          <p:cNvSpPr/>
          <p:nvPr/>
        </p:nvSpPr>
        <p:spPr>
          <a:xfrm>
            <a:off x="7033095" y="1075206"/>
            <a:ext cx="1873641" cy="1855824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</a:rPr>
              <a:t>A fact-based Modernization Roadmap within two months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</a:rPr>
              <a:t>Based on SIG’s Unique Architecture Quality Model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</a:rPr>
              <a:t>Provides detailed per-system modernization scenarios, ready to be used in the transformation program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bg1"/>
              </a:solidFill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bg1"/>
              </a:solidFill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bg1"/>
              </a:solidFill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84BD81F7-BDCF-A144-BCD2-F3D2ABC2A112}"/>
              </a:ext>
            </a:extLst>
          </p:cNvPr>
          <p:cNvSpPr/>
          <p:nvPr/>
        </p:nvSpPr>
        <p:spPr>
          <a:xfrm>
            <a:off x="0" y="6493811"/>
            <a:ext cx="373804" cy="372140"/>
          </a:xfrm>
          <a:prstGeom prst="rect">
            <a:avLst/>
          </a:prstGeom>
          <a:solidFill>
            <a:srgbClr val="DFC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0C06A79-34BE-5947-B21B-C9DE300C0105}"/>
              </a:ext>
            </a:extLst>
          </p:cNvPr>
          <p:cNvSpPr/>
          <p:nvPr/>
        </p:nvSpPr>
        <p:spPr>
          <a:xfrm>
            <a:off x="7988358" y="5679240"/>
            <a:ext cx="858025" cy="41811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74" name="Footer Placeholder 3">
            <a:extLst>
              <a:ext uri="{FF2B5EF4-FFF2-40B4-BE49-F238E27FC236}">
                <a16:creationId xmlns:a16="http://schemas.microsoft.com/office/drawing/2014/main" id="{A155D93F-407B-CD43-B610-142636DA4C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387607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Public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184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70" grpId="0" animBg="1"/>
      <p:bldP spid="121" grpId="0" animBg="1"/>
      <p:bldP spid="122" grpId="0" animBg="1"/>
      <p:bldP spid="1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ight Arrow 54">
            <a:extLst>
              <a:ext uri="{FF2B5EF4-FFF2-40B4-BE49-F238E27FC236}">
                <a16:creationId xmlns:a16="http://schemas.microsoft.com/office/drawing/2014/main" id="{5137A122-FBEA-1742-BA77-69F545AC8736}"/>
              </a:ext>
            </a:extLst>
          </p:cNvPr>
          <p:cNvSpPr/>
          <p:nvPr/>
        </p:nvSpPr>
        <p:spPr>
          <a:xfrm>
            <a:off x="7803207" y="3834866"/>
            <a:ext cx="1422401" cy="655970"/>
          </a:xfrm>
          <a:prstGeom prst="rightArrow">
            <a:avLst>
              <a:gd name="adj1" fmla="val 52474"/>
              <a:gd name="adj2" fmla="val 62243"/>
            </a:avLst>
          </a:prstGeom>
          <a:gradFill>
            <a:gsLst>
              <a:gs pos="52000">
                <a:srgbClr val="57C968"/>
              </a:gs>
              <a:gs pos="10000">
                <a:srgbClr val="57C968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241300" dist="38100" dir="2700000" algn="tl" rotWithShape="0">
              <a:schemeClr val="accent4">
                <a:lumMod val="7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C7B98A-1D37-EB47-A5C8-6EE15061B1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Key findings – </a:t>
            </a:r>
            <a:r>
              <a:rPr lang="en-US" dirty="0">
                <a:solidFill>
                  <a:schemeClr val="accent3"/>
                </a:solidFill>
              </a:rPr>
              <a:t>Cost estimation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17AE71-FCC3-E142-BF3B-A35E9D876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Cost Estimation model combines Sigrid analysis results with SIG benchmarks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C2AB6C-22EA-C84B-A69B-8ED8B4FA4C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E08FD-47BE-0743-8ED6-69C95CED73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Confidential</a:t>
            </a:r>
            <a:endParaRPr lang="en-US" dirty="0"/>
          </a:p>
        </p:txBody>
      </p:sp>
      <p:sp>
        <p:nvSpPr>
          <p:cNvPr id="86" name="Content Placeholder 85">
            <a:extLst>
              <a:ext uri="{FF2B5EF4-FFF2-40B4-BE49-F238E27FC236}">
                <a16:creationId xmlns:a16="http://schemas.microsoft.com/office/drawing/2014/main" id="{4EE5E8AD-0E47-6E45-B275-4E63022E37C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4800" y="1368000"/>
            <a:ext cx="2847369" cy="4950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The Cost Estimation Model (</a:t>
            </a:r>
            <a:r>
              <a:rPr lang="en-US" b="1" dirty="0" err="1"/>
              <a:t>CEM</a:t>
            </a:r>
            <a:r>
              <a:rPr lang="en-US" b="1" dirty="0"/>
              <a:t>) enables translating technical analysis results to cost estimations.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The most important input for the CEM are the maintainability analysis results. This is mandatory. CEM then combines this with </a:t>
            </a:r>
            <a:r>
              <a:rPr lang="en-US" b="1" dirty="0"/>
              <a:t>SIG’s benchmarks </a:t>
            </a:r>
            <a:r>
              <a:rPr lang="en-US" dirty="0"/>
              <a:t>on productivity and maintainability.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Cost estimations form key input for scenario comparison.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E1AA55C1-EE8A-A74A-88AB-60628F1B1773}"/>
              </a:ext>
            </a:extLst>
          </p:cNvPr>
          <p:cNvSpPr/>
          <p:nvPr/>
        </p:nvSpPr>
        <p:spPr>
          <a:xfrm>
            <a:off x="5079004" y="2590633"/>
            <a:ext cx="2996276" cy="1329772"/>
          </a:xfrm>
          <a:prstGeom prst="diamond">
            <a:avLst/>
          </a:prstGeom>
          <a:gradFill>
            <a:gsLst>
              <a:gs pos="0">
                <a:srgbClr val="E0C201"/>
              </a:gs>
              <a:gs pos="93000">
                <a:srgbClr val="D0A6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7230205B-31AD-5D44-B3B0-EECBEA1912BF}"/>
              </a:ext>
            </a:extLst>
          </p:cNvPr>
          <p:cNvSpPr/>
          <p:nvPr/>
        </p:nvSpPr>
        <p:spPr>
          <a:xfrm rot="5400000" flipV="1">
            <a:off x="5161201" y="2520728"/>
            <a:ext cx="1329552" cy="1486418"/>
          </a:xfrm>
          <a:prstGeom prst="triangle">
            <a:avLst/>
          </a:prstGeom>
          <a:gradFill>
            <a:gsLst>
              <a:gs pos="100000">
                <a:srgbClr val="806600"/>
              </a:gs>
              <a:gs pos="0">
                <a:srgbClr val="F1DE68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14BB7099-4E07-EE44-A41E-2C600F6B157E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5927333" y="2809739"/>
            <a:ext cx="1245883" cy="1059000"/>
          </a:xfrm>
          <a:prstGeom prst="rect">
            <a:avLst/>
          </a:prstGeom>
        </p:spPr>
      </p:pic>
      <p:sp>
        <p:nvSpPr>
          <p:cNvPr id="9" name="Parallelogram 8">
            <a:extLst>
              <a:ext uri="{FF2B5EF4-FFF2-40B4-BE49-F238E27FC236}">
                <a16:creationId xmlns:a16="http://schemas.microsoft.com/office/drawing/2014/main" id="{BF3E8A0D-0499-C140-94FB-BD9038D5E442}"/>
              </a:ext>
            </a:extLst>
          </p:cNvPr>
          <p:cNvSpPr/>
          <p:nvPr/>
        </p:nvSpPr>
        <p:spPr>
          <a:xfrm rot="5400000">
            <a:off x="4634891" y="3699603"/>
            <a:ext cx="2386359" cy="1498137"/>
          </a:xfrm>
          <a:prstGeom prst="parallelogram">
            <a:avLst>
              <a:gd name="adj" fmla="val 43913"/>
            </a:avLst>
          </a:prstGeom>
          <a:gradFill>
            <a:gsLst>
              <a:gs pos="0">
                <a:srgbClr val="586B77"/>
              </a:gs>
              <a:gs pos="55000">
                <a:srgbClr val="17323F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253B108D-011B-0349-BDC8-530006765974}"/>
              </a:ext>
            </a:extLst>
          </p:cNvPr>
          <p:cNvSpPr/>
          <p:nvPr/>
        </p:nvSpPr>
        <p:spPr>
          <a:xfrm rot="16200000" flipH="1">
            <a:off x="6133030" y="3697205"/>
            <a:ext cx="2386359" cy="1498141"/>
          </a:xfrm>
          <a:prstGeom prst="parallelogram">
            <a:avLst>
              <a:gd name="adj" fmla="val 44259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F9F04B5-077E-3F4D-B473-02E85BDD9A5A}"/>
              </a:ext>
            </a:extLst>
          </p:cNvPr>
          <p:cNvCxnSpPr>
            <a:cxnSpLocks/>
          </p:cNvCxnSpPr>
          <p:nvPr/>
        </p:nvCxnSpPr>
        <p:spPr>
          <a:xfrm>
            <a:off x="6579838" y="2595948"/>
            <a:ext cx="0" cy="1328076"/>
          </a:xfrm>
          <a:prstGeom prst="line">
            <a:avLst/>
          </a:prstGeom>
          <a:ln w="12700">
            <a:gradFill>
              <a:gsLst>
                <a:gs pos="0">
                  <a:srgbClr val="D0A600">
                    <a:alpha val="74000"/>
                  </a:srgbClr>
                </a:gs>
                <a:gs pos="100000">
                  <a:srgbClr val="524702">
                    <a:alpha val="9500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iamond 11">
            <a:extLst>
              <a:ext uri="{FF2B5EF4-FFF2-40B4-BE49-F238E27FC236}">
                <a16:creationId xmlns:a16="http://schemas.microsoft.com/office/drawing/2014/main" id="{6E1D2B65-CBD3-6849-8FFA-E3F2C87C0950}"/>
              </a:ext>
            </a:extLst>
          </p:cNvPr>
          <p:cNvSpPr/>
          <p:nvPr/>
        </p:nvSpPr>
        <p:spPr>
          <a:xfrm>
            <a:off x="5121399" y="2590368"/>
            <a:ext cx="2945924" cy="1330037"/>
          </a:xfrm>
          <a:prstGeom prst="diamond">
            <a:avLst/>
          </a:prstGeom>
          <a:gradFill>
            <a:gsLst>
              <a:gs pos="50000">
                <a:srgbClr val="E0C201">
                  <a:alpha val="0"/>
                </a:srgbClr>
              </a:gs>
              <a:gs pos="100000">
                <a:srgbClr val="8066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A6C4506E-F159-024C-9D2B-55CEB186C9B9}"/>
              </a:ext>
            </a:extLst>
          </p:cNvPr>
          <p:cNvSpPr/>
          <p:nvPr/>
        </p:nvSpPr>
        <p:spPr>
          <a:xfrm rot="5400000">
            <a:off x="5418989" y="2912513"/>
            <a:ext cx="826537" cy="1498137"/>
          </a:xfrm>
          <a:prstGeom prst="parallelogram">
            <a:avLst>
              <a:gd name="adj" fmla="val 81461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92F27295-6EFA-0345-8F08-6B563F06E3DD}"/>
              </a:ext>
            </a:extLst>
          </p:cNvPr>
          <p:cNvSpPr/>
          <p:nvPr/>
        </p:nvSpPr>
        <p:spPr>
          <a:xfrm rot="16200000" flipH="1">
            <a:off x="6915922" y="2916938"/>
            <a:ext cx="826537" cy="1498137"/>
          </a:xfrm>
          <a:prstGeom prst="parallelogram">
            <a:avLst>
              <a:gd name="adj" fmla="val 81461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B5025897-2A61-BF48-A538-F0F8D83E93B4}"/>
              </a:ext>
            </a:extLst>
          </p:cNvPr>
          <p:cNvSpPr/>
          <p:nvPr/>
        </p:nvSpPr>
        <p:spPr>
          <a:xfrm>
            <a:off x="5078637" y="2586000"/>
            <a:ext cx="2993738" cy="676206"/>
          </a:xfrm>
          <a:custGeom>
            <a:avLst/>
            <a:gdLst>
              <a:gd name="connsiteX0" fmla="*/ 1120135 w 2240270"/>
              <a:gd name="connsiteY0" fmla="*/ 0 h 514231"/>
              <a:gd name="connsiteX1" fmla="*/ 2240270 w 2240270"/>
              <a:gd name="connsiteY1" fmla="*/ 505723 h 514231"/>
              <a:gd name="connsiteX2" fmla="*/ 2221427 w 2240270"/>
              <a:gd name="connsiteY2" fmla="*/ 514231 h 514231"/>
              <a:gd name="connsiteX3" fmla="*/ 1120135 w 2240270"/>
              <a:gd name="connsiteY3" fmla="*/ 17015 h 514231"/>
              <a:gd name="connsiteX4" fmla="*/ 18844 w 2240270"/>
              <a:gd name="connsiteY4" fmla="*/ 514231 h 514231"/>
              <a:gd name="connsiteX5" fmla="*/ 0 w 2240270"/>
              <a:gd name="connsiteY5" fmla="*/ 505723 h 514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40270" h="514231">
                <a:moveTo>
                  <a:pt x="1120135" y="0"/>
                </a:moveTo>
                <a:lnTo>
                  <a:pt x="2240270" y="505723"/>
                </a:lnTo>
                <a:lnTo>
                  <a:pt x="2221427" y="514231"/>
                </a:lnTo>
                <a:lnTo>
                  <a:pt x="1120135" y="17015"/>
                </a:lnTo>
                <a:lnTo>
                  <a:pt x="18844" y="514231"/>
                </a:lnTo>
                <a:lnTo>
                  <a:pt x="0" y="505723"/>
                </a:lnTo>
                <a:close/>
              </a:path>
            </a:pathLst>
          </a:custGeom>
          <a:solidFill>
            <a:srgbClr val="D0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28B09AAF-2C21-6E49-905B-A3A62EB84501}"/>
              </a:ext>
            </a:extLst>
          </p:cNvPr>
          <p:cNvCxnSpPr>
            <a:cxnSpLocks/>
          </p:cNvCxnSpPr>
          <p:nvPr/>
        </p:nvCxnSpPr>
        <p:spPr>
          <a:xfrm flipH="1" flipV="1">
            <a:off x="5072227" y="4165225"/>
            <a:ext cx="1499248" cy="661403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22D027F-F0AB-634F-8339-767F5ABDCDDF}"/>
              </a:ext>
            </a:extLst>
          </p:cNvPr>
          <p:cNvCxnSpPr>
            <a:cxnSpLocks/>
          </p:cNvCxnSpPr>
          <p:nvPr/>
        </p:nvCxnSpPr>
        <p:spPr>
          <a:xfrm flipH="1">
            <a:off x="6562877" y="4155650"/>
            <a:ext cx="1511327" cy="670050"/>
          </a:xfrm>
          <a:prstGeom prst="line">
            <a:avLst/>
          </a:prstGeom>
          <a:ln w="19050">
            <a:gradFill>
              <a:gsLst>
                <a:gs pos="66000">
                  <a:schemeClr val="accent4"/>
                </a:gs>
                <a:gs pos="100000">
                  <a:schemeClr val="accent3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Arc 52">
            <a:extLst>
              <a:ext uri="{FF2B5EF4-FFF2-40B4-BE49-F238E27FC236}">
                <a16:creationId xmlns:a16="http://schemas.microsoft.com/office/drawing/2014/main" id="{95B2D585-67CB-BF4C-B950-7E96C38B9198}"/>
              </a:ext>
            </a:extLst>
          </p:cNvPr>
          <p:cNvSpPr/>
          <p:nvPr/>
        </p:nvSpPr>
        <p:spPr>
          <a:xfrm rot="7200000" flipH="1">
            <a:off x="7518488" y="4271564"/>
            <a:ext cx="569438" cy="1631518"/>
          </a:xfrm>
          <a:prstGeom prst="arc">
            <a:avLst>
              <a:gd name="adj1" fmla="val 16312158"/>
              <a:gd name="adj2" fmla="val 2410627"/>
            </a:avLst>
          </a:prstGeom>
          <a:ln w="1905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EDF8416-E011-C846-9769-2A0C09F54F8B}"/>
              </a:ext>
            </a:extLst>
          </p:cNvPr>
          <p:cNvSpPr txBox="1"/>
          <p:nvPr/>
        </p:nvSpPr>
        <p:spPr>
          <a:xfrm>
            <a:off x="7803207" y="5521661"/>
            <a:ext cx="1422401" cy="440231"/>
          </a:xfrm>
          <a:prstGeom prst="rect">
            <a:avLst/>
          </a:prstGeom>
          <a:noFill/>
        </p:spPr>
        <p:txBody>
          <a:bodyPr wrap="none" lIns="90000" rtlCol="0" anchor="t">
            <a:noAutofit/>
          </a:bodyPr>
          <a:lstStyle/>
          <a:p>
            <a:pPr algn="l">
              <a:lnSpc>
                <a:spcPct val="113000"/>
              </a:lnSpc>
            </a:pPr>
            <a:r>
              <a:rPr lang="en-US" sz="1600" b="1" dirty="0">
                <a:solidFill>
                  <a:schemeClr val="accent4">
                    <a:lumMod val="75000"/>
                  </a:schemeClr>
                </a:solidFill>
              </a:rPr>
              <a:t>Configuration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AAABA69-2D22-F945-9F0A-F21D4794A943}"/>
              </a:ext>
            </a:extLst>
          </p:cNvPr>
          <p:cNvSpPr txBox="1"/>
          <p:nvPr/>
        </p:nvSpPr>
        <p:spPr>
          <a:xfrm>
            <a:off x="4638252" y="1962027"/>
            <a:ext cx="1857076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1"/>
                </a:solidFill>
              </a:rPr>
              <a:t>Language productivity </a:t>
            </a:r>
            <a:r>
              <a:rPr lang="en-US" sz="1400" dirty="0">
                <a:solidFill>
                  <a:schemeClr val="accent1"/>
                </a:solidFill>
              </a:rPr>
              <a:t>benchmark</a:t>
            </a:r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58EB8A2E-4250-374D-9C6F-751709832BB3}"/>
              </a:ext>
            </a:extLst>
          </p:cNvPr>
          <p:cNvSpPr/>
          <p:nvPr/>
        </p:nvSpPr>
        <p:spPr>
          <a:xfrm rot="2987567">
            <a:off x="6604893" y="2105254"/>
            <a:ext cx="453707" cy="1104183"/>
          </a:xfrm>
          <a:prstGeom prst="arc">
            <a:avLst>
              <a:gd name="adj1" fmla="val 17800726"/>
              <a:gd name="adj2" fmla="val 3079022"/>
            </a:avLst>
          </a:prstGeom>
          <a:ln w="19050">
            <a:solidFill>
              <a:srgbClr val="8066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B85841F-6683-CF40-9932-8828AE41F11E}"/>
              </a:ext>
            </a:extLst>
          </p:cNvPr>
          <p:cNvGrpSpPr/>
          <p:nvPr/>
        </p:nvGrpSpPr>
        <p:grpSpPr>
          <a:xfrm>
            <a:off x="7243408" y="3970416"/>
            <a:ext cx="404550" cy="608645"/>
            <a:chOff x="6766330" y="3866689"/>
            <a:chExt cx="404550" cy="608645"/>
          </a:xfrm>
          <a:effectLst/>
        </p:grpSpPr>
        <p:sp>
          <p:nvSpPr>
            <p:cNvPr id="64" name="Parallelogram 63">
              <a:extLst>
                <a:ext uri="{FF2B5EF4-FFF2-40B4-BE49-F238E27FC236}">
                  <a16:creationId xmlns:a16="http://schemas.microsoft.com/office/drawing/2014/main" id="{0921C6FF-D373-6247-B405-01819C3C7E24}"/>
                </a:ext>
              </a:extLst>
            </p:cNvPr>
            <p:cNvSpPr/>
            <p:nvPr/>
          </p:nvSpPr>
          <p:spPr>
            <a:xfrm rot="16200000" flipV="1">
              <a:off x="6664282" y="3968737"/>
              <a:ext cx="608645" cy="404550"/>
            </a:xfrm>
            <a:prstGeom prst="parallelogram">
              <a:avLst>
                <a:gd name="adj" fmla="val 43700"/>
              </a:avLst>
            </a:prstGeom>
            <a:solidFill>
              <a:schemeClr val="accent4">
                <a:lumMod val="5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  <a:effectLst>
              <a:outerShdw blurRad="50800" dist="25400" dir="13500000" algn="br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26E2B5FF-9F70-2242-8C9E-812ADBC595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100000"/>
              <a:alphaModFix amt="80000"/>
            </a:blip>
            <a:stretch>
              <a:fillRect/>
            </a:stretch>
          </p:blipFill>
          <p:spPr>
            <a:xfrm>
              <a:off x="6817345" y="4000299"/>
              <a:ext cx="324000" cy="324000"/>
            </a:xfrm>
            <a:prstGeom prst="rect">
              <a:avLst/>
            </a:prstGeom>
            <a:scene3d>
              <a:camera prst="perspectiveContrastingRightFacing">
                <a:rot lat="1200000" lon="18963666" rev="213211"/>
              </a:camera>
              <a:lightRig rig="threePt" dir="t"/>
            </a:scene3d>
          </p:spPr>
        </p:pic>
      </p:grpSp>
      <p:pic>
        <p:nvPicPr>
          <p:cNvPr id="74" name="Picture 73">
            <a:extLst>
              <a:ext uri="{FF2B5EF4-FFF2-40B4-BE49-F238E27FC236}">
                <a16:creationId xmlns:a16="http://schemas.microsoft.com/office/drawing/2014/main" id="{CE691106-5872-9244-8C2C-32361B782B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4388" y="1751935"/>
            <a:ext cx="306703" cy="204469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1905CB36-76AE-DA4B-813A-19091F0BFE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3874" y="1745715"/>
            <a:ext cx="306703" cy="204469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1C339567-966E-5548-A3E1-78F848309A8F}"/>
              </a:ext>
            </a:extLst>
          </p:cNvPr>
          <p:cNvSpPr txBox="1"/>
          <p:nvPr/>
        </p:nvSpPr>
        <p:spPr>
          <a:xfrm>
            <a:off x="6731540" y="1962027"/>
            <a:ext cx="1669471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1"/>
                </a:solidFill>
              </a:rPr>
              <a:t>Maintainability </a:t>
            </a:r>
            <a:r>
              <a:rPr lang="en-US" sz="1400" dirty="0">
                <a:solidFill>
                  <a:schemeClr val="accent1"/>
                </a:solidFill>
              </a:rPr>
              <a:t>benchmark</a:t>
            </a:r>
          </a:p>
        </p:txBody>
      </p:sp>
      <p:sp>
        <p:nvSpPr>
          <p:cNvPr id="77" name="Arc 76">
            <a:extLst>
              <a:ext uri="{FF2B5EF4-FFF2-40B4-BE49-F238E27FC236}">
                <a16:creationId xmlns:a16="http://schemas.microsoft.com/office/drawing/2014/main" id="{8B41564C-FA6B-E241-8C5D-1056084FFFC4}"/>
              </a:ext>
            </a:extLst>
          </p:cNvPr>
          <p:cNvSpPr/>
          <p:nvPr/>
        </p:nvSpPr>
        <p:spPr>
          <a:xfrm rot="18545569" flipH="1">
            <a:off x="6059440" y="2066237"/>
            <a:ext cx="519130" cy="1104183"/>
          </a:xfrm>
          <a:prstGeom prst="arc">
            <a:avLst>
              <a:gd name="adj1" fmla="val 18116925"/>
              <a:gd name="adj2" fmla="val 3079022"/>
            </a:avLst>
          </a:prstGeom>
          <a:ln w="19050">
            <a:solidFill>
              <a:srgbClr val="8066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A8D9DE88-D137-6A46-BF49-1001C1A3E343}"/>
              </a:ext>
            </a:extLst>
          </p:cNvPr>
          <p:cNvSpPr/>
          <p:nvPr/>
        </p:nvSpPr>
        <p:spPr>
          <a:xfrm>
            <a:off x="5117973" y="2598381"/>
            <a:ext cx="2945924" cy="1330037"/>
          </a:xfrm>
          <a:prstGeom prst="diamond">
            <a:avLst/>
          </a:prstGeom>
          <a:gradFill>
            <a:gsLst>
              <a:gs pos="45000">
                <a:srgbClr val="E0C201">
                  <a:alpha val="0"/>
                </a:srgbClr>
              </a:gs>
              <a:gs pos="98000">
                <a:schemeClr val="tx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Parallelogram 41">
            <a:extLst>
              <a:ext uri="{FF2B5EF4-FFF2-40B4-BE49-F238E27FC236}">
                <a16:creationId xmlns:a16="http://schemas.microsoft.com/office/drawing/2014/main" id="{63AE8408-4A3A-6445-85CA-50DA808E1E7D}"/>
              </a:ext>
            </a:extLst>
          </p:cNvPr>
          <p:cNvSpPr/>
          <p:nvPr/>
        </p:nvSpPr>
        <p:spPr>
          <a:xfrm rot="5400000">
            <a:off x="5097932" y="4020495"/>
            <a:ext cx="1355507" cy="863067"/>
          </a:xfrm>
          <a:prstGeom prst="parallelogram">
            <a:avLst>
              <a:gd name="adj" fmla="val 44398"/>
            </a:avLst>
          </a:prstGeom>
          <a:solidFill>
            <a:schemeClr val="accent3">
              <a:lumMod val="50000"/>
            </a:schemeClr>
          </a:solidFill>
          <a:ln>
            <a:solidFill>
              <a:schemeClr val="accent3"/>
            </a:solidFill>
          </a:ln>
          <a:effectLst>
            <a:innerShdw blurRad="330200" dist="381000" dir="36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226E3AA-BFAE-264C-B4C3-9DCEE417B0BE}"/>
              </a:ext>
            </a:extLst>
          </p:cNvPr>
          <p:cNvSpPr txBox="1"/>
          <p:nvPr/>
        </p:nvSpPr>
        <p:spPr>
          <a:xfrm>
            <a:off x="3795639" y="5387926"/>
            <a:ext cx="2304442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Software metric results </a:t>
            </a:r>
          </a:p>
          <a:p>
            <a:r>
              <a:rPr lang="en-US" sz="1200" b="1" dirty="0">
                <a:solidFill>
                  <a:schemeClr val="bg1"/>
                </a:solidFill>
              </a:rPr>
              <a:t>(e.g. Maintainability)</a:t>
            </a:r>
          </a:p>
        </p:txBody>
      </p:sp>
      <p:sp>
        <p:nvSpPr>
          <p:cNvPr id="81" name="Arc 80">
            <a:extLst>
              <a:ext uri="{FF2B5EF4-FFF2-40B4-BE49-F238E27FC236}">
                <a16:creationId xmlns:a16="http://schemas.microsoft.com/office/drawing/2014/main" id="{3AD1255A-0D09-EE44-9D63-4C936D2D9887}"/>
              </a:ext>
            </a:extLst>
          </p:cNvPr>
          <p:cNvSpPr/>
          <p:nvPr/>
        </p:nvSpPr>
        <p:spPr>
          <a:xfrm rot="14869025">
            <a:off x="5025208" y="4674616"/>
            <a:ext cx="964482" cy="1456519"/>
          </a:xfrm>
          <a:prstGeom prst="arc">
            <a:avLst>
              <a:gd name="adj1" fmla="val 17571897"/>
              <a:gd name="adj2" fmla="val 19555005"/>
            </a:avLst>
          </a:prstGeom>
          <a:ln w="19050">
            <a:gradFill>
              <a:gsLst>
                <a:gs pos="0">
                  <a:schemeClr val="bg1"/>
                </a:gs>
                <a:gs pos="100000">
                  <a:schemeClr val="bg1"/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2A15D27-A2E0-1544-8335-A12B0B22FA3B}"/>
              </a:ext>
            </a:extLst>
          </p:cNvPr>
          <p:cNvGrpSpPr/>
          <p:nvPr/>
        </p:nvGrpSpPr>
        <p:grpSpPr>
          <a:xfrm>
            <a:off x="4860311" y="4084788"/>
            <a:ext cx="1320198" cy="1054052"/>
            <a:chOff x="4776551" y="4119688"/>
            <a:chExt cx="1320198" cy="1054052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92B95C8-BDD4-1146-9798-FC02D3B575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7332" y="4464161"/>
              <a:ext cx="459417" cy="182553"/>
            </a:xfrm>
            <a:prstGeom prst="straightConnector1">
              <a:avLst/>
            </a:prstGeom>
            <a:ln w="60325">
              <a:gradFill>
                <a:gsLst>
                  <a:gs pos="0">
                    <a:schemeClr val="bg1">
                      <a:alpha val="0"/>
                    </a:schemeClr>
                  </a:gs>
                  <a:gs pos="58000">
                    <a:schemeClr val="bg1">
                      <a:alpha val="80000"/>
                    </a:schemeClr>
                  </a:gs>
                </a:gsLst>
                <a:lin ang="1800000" scaled="0"/>
              </a:gradFill>
              <a:tailEnd type="triangle"/>
            </a:ln>
            <a:scene3d>
              <a:camera prst="orthographicFront">
                <a:rot lat="0" lon="2400000" rev="2142000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5B67A9C-8C7C-5D46-B4CC-F49A58235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76551" y="4119688"/>
              <a:ext cx="1036484" cy="1054052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A0599B3-F474-9A42-A7F7-59AB35D845A2}"/>
              </a:ext>
            </a:extLst>
          </p:cNvPr>
          <p:cNvGrpSpPr/>
          <p:nvPr/>
        </p:nvGrpSpPr>
        <p:grpSpPr>
          <a:xfrm>
            <a:off x="7229635" y="4505723"/>
            <a:ext cx="448277" cy="691525"/>
            <a:chOff x="7229635" y="4467623"/>
            <a:chExt cx="448277" cy="691525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92A3E72-8850-D84D-97D3-722AD21660DB}"/>
                </a:ext>
              </a:extLst>
            </p:cNvPr>
            <p:cNvGrpSpPr/>
            <p:nvPr/>
          </p:nvGrpSpPr>
          <p:grpSpPr>
            <a:xfrm>
              <a:off x="7229635" y="4613881"/>
              <a:ext cx="128366" cy="545267"/>
              <a:chOff x="7229635" y="4613881"/>
              <a:chExt cx="128366" cy="545267"/>
            </a:xfrm>
          </p:grpSpPr>
          <p:sp>
            <p:nvSpPr>
              <p:cNvPr id="48" name="Rounded Rectangle 47">
                <a:extLst>
                  <a:ext uri="{FF2B5EF4-FFF2-40B4-BE49-F238E27FC236}">
                    <a16:creationId xmlns:a16="http://schemas.microsoft.com/office/drawing/2014/main" id="{D25CFAC8-0AC7-C249-ADEF-A47E6C7FA912}"/>
                  </a:ext>
                </a:extLst>
              </p:cNvPr>
              <p:cNvSpPr/>
              <p:nvPr/>
            </p:nvSpPr>
            <p:spPr>
              <a:xfrm>
                <a:off x="7229635" y="4613881"/>
                <a:ext cx="128366" cy="545267"/>
              </a:xfrm>
              <a:prstGeom prst="roundRect">
                <a:avLst>
                  <a:gd name="adj" fmla="val 50000"/>
                </a:avLst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>
                  <a:rot lat="0" lon="300000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54E0E835-A03D-2942-91B9-4015231D31B1}"/>
                  </a:ext>
                </a:extLst>
              </p:cNvPr>
              <p:cNvSpPr/>
              <p:nvPr/>
            </p:nvSpPr>
            <p:spPr>
              <a:xfrm>
                <a:off x="7249431" y="4665799"/>
                <a:ext cx="89983" cy="899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  <a:scene3d>
                <a:camera prst="orthographicFront">
                  <a:rot lat="0" lon="300000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6868B29-3372-9040-8637-FB79DB1C4E0F}"/>
                </a:ext>
              </a:extLst>
            </p:cNvPr>
            <p:cNvGrpSpPr/>
            <p:nvPr/>
          </p:nvGrpSpPr>
          <p:grpSpPr>
            <a:xfrm>
              <a:off x="7392240" y="4542056"/>
              <a:ext cx="128366" cy="545267"/>
              <a:chOff x="7392240" y="4542056"/>
              <a:chExt cx="128366" cy="545267"/>
            </a:xfrm>
          </p:grpSpPr>
          <p:sp>
            <p:nvSpPr>
              <p:cNvPr id="71" name="Rounded Rectangle 70">
                <a:extLst>
                  <a:ext uri="{FF2B5EF4-FFF2-40B4-BE49-F238E27FC236}">
                    <a16:creationId xmlns:a16="http://schemas.microsoft.com/office/drawing/2014/main" id="{DDDA38A0-B408-7F40-93AD-512728FCFFD1}"/>
                  </a:ext>
                </a:extLst>
              </p:cNvPr>
              <p:cNvSpPr/>
              <p:nvPr/>
            </p:nvSpPr>
            <p:spPr>
              <a:xfrm>
                <a:off x="7392240" y="4542056"/>
                <a:ext cx="128366" cy="545267"/>
              </a:xfrm>
              <a:prstGeom prst="roundRect">
                <a:avLst>
                  <a:gd name="adj" fmla="val 50000"/>
                </a:avLst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>
                  <a:rot lat="0" lon="300000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A866759E-9D39-F74B-A6A9-2E8B822437D6}"/>
                  </a:ext>
                </a:extLst>
              </p:cNvPr>
              <p:cNvSpPr/>
              <p:nvPr/>
            </p:nvSpPr>
            <p:spPr>
              <a:xfrm>
                <a:off x="7412036" y="4982760"/>
                <a:ext cx="89983" cy="899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  <a:scene3d>
                <a:camera prst="orthographicFront">
                  <a:rot lat="0" lon="300000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469AF4C-8970-314C-86F0-CC60081B6B3A}"/>
                </a:ext>
              </a:extLst>
            </p:cNvPr>
            <p:cNvGrpSpPr/>
            <p:nvPr/>
          </p:nvGrpSpPr>
          <p:grpSpPr>
            <a:xfrm>
              <a:off x="7549546" y="4467623"/>
              <a:ext cx="128366" cy="545267"/>
              <a:chOff x="7549546" y="4467623"/>
              <a:chExt cx="128366" cy="545267"/>
            </a:xfrm>
          </p:grpSpPr>
          <p:sp>
            <p:nvSpPr>
              <p:cNvPr id="73" name="Rounded Rectangle 72">
                <a:extLst>
                  <a:ext uri="{FF2B5EF4-FFF2-40B4-BE49-F238E27FC236}">
                    <a16:creationId xmlns:a16="http://schemas.microsoft.com/office/drawing/2014/main" id="{C5232F7C-1C5B-5C4B-ABFA-C7D5C7B67E90}"/>
                  </a:ext>
                </a:extLst>
              </p:cNvPr>
              <p:cNvSpPr/>
              <p:nvPr/>
            </p:nvSpPr>
            <p:spPr>
              <a:xfrm>
                <a:off x="7549546" y="4467623"/>
                <a:ext cx="128366" cy="545267"/>
              </a:xfrm>
              <a:prstGeom prst="roundRect">
                <a:avLst>
                  <a:gd name="adj" fmla="val 50000"/>
                </a:avLst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>
                  <a:rot lat="0" lon="300000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90C72879-F1A8-B649-9079-79685ABC19B1}"/>
                  </a:ext>
                </a:extLst>
              </p:cNvPr>
              <p:cNvSpPr/>
              <p:nvPr/>
            </p:nvSpPr>
            <p:spPr>
              <a:xfrm>
                <a:off x="7569342" y="4656048"/>
                <a:ext cx="89983" cy="899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  <a:scene3d>
                <a:camera prst="orthographicFront">
                  <a:rot lat="0" lon="300000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914330B-C56C-634D-916E-29BA18E6FC14}"/>
              </a:ext>
            </a:extLst>
          </p:cNvPr>
          <p:cNvGrpSpPr/>
          <p:nvPr/>
        </p:nvGrpSpPr>
        <p:grpSpPr>
          <a:xfrm>
            <a:off x="9361589" y="3840047"/>
            <a:ext cx="2043473" cy="587979"/>
            <a:chOff x="9361589" y="3840047"/>
            <a:chExt cx="2043473" cy="587979"/>
          </a:xfrm>
          <a:effectLst>
            <a:outerShdw blurRad="317500" sx="102000" sy="102000" algn="ctr" rotWithShape="0">
              <a:prstClr val="black">
                <a:alpha val="20000"/>
              </a:prstClr>
            </a:outerShdw>
          </a:effectLst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2BA20F0-0E5D-B34A-B308-8B0A50390FFA}"/>
                </a:ext>
              </a:extLst>
            </p:cNvPr>
            <p:cNvSpPr/>
            <p:nvPr/>
          </p:nvSpPr>
          <p:spPr>
            <a:xfrm>
              <a:off x="9363200" y="3840047"/>
              <a:ext cx="2041862" cy="587979"/>
            </a:xfrm>
            <a:prstGeom prst="rect">
              <a:avLst/>
            </a:prstGeom>
            <a:solidFill>
              <a:srgbClr val="57C9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32000" tIns="108000" rIns="108000" bIns="72000" rtlCol="0" anchor="ctr"/>
            <a:lstStyle/>
            <a:p>
              <a:pPr>
                <a:lnSpc>
                  <a:spcPct val="90000"/>
                </a:lnSpc>
              </a:pPr>
              <a:r>
                <a:rPr lang="en-US" sz="1600" dirty="0">
                  <a:solidFill>
                    <a:schemeClr val="bg1"/>
                  </a:solidFill>
                </a:rPr>
                <a:t>Development effort estimations</a:t>
              </a:r>
            </a:p>
          </p:txBody>
        </p:sp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C8E6EB14-5EA5-2448-B95A-770C94B25FD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9361589" y="3928713"/>
              <a:ext cx="443858" cy="377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4303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075 0.06412 L 5E-6 -3.7037E-6 " pathEditMode="relative" rAng="0" ptsTypes="AA">
                                      <p:cBhvr>
                                        <p:cTn id="6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57" y="-321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3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8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1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1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60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3" grpId="0" animBg="1"/>
      <p:bldP spid="54" grpId="0"/>
      <p:bldP spid="57" grpId="0"/>
      <p:bldP spid="58" grpId="0" animBg="1"/>
      <p:bldP spid="76" grpId="0"/>
      <p:bldP spid="77" grpId="0" animBg="1"/>
      <p:bldP spid="80" grpId="0"/>
      <p:bldP spid="8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248EB1-A754-5A0F-8F3A-4D8167E84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CFEE5-8B4D-BCC2-0FE2-5BF793497CA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05790" y="169213"/>
            <a:ext cx="9639877" cy="504143"/>
          </a:xfrm>
        </p:spPr>
        <p:txBody>
          <a:bodyPr/>
          <a:lstStyle/>
          <a:p>
            <a:r>
              <a:rPr lang="en-US" dirty="0"/>
              <a:t>Key findings – </a:t>
            </a:r>
            <a:r>
              <a:rPr lang="en-US" dirty="0">
                <a:solidFill>
                  <a:schemeClr val="accent3"/>
                </a:solidFill>
              </a:rPr>
              <a:t>Cost estimation</a:t>
            </a:r>
          </a:p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83A967A-0A83-C495-346F-AEBDF6AB7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Modernization plan: Management summary 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944233C7-740C-C72D-4C88-FB362A263B7B}"/>
              </a:ext>
            </a:extLst>
          </p:cNvPr>
          <p:cNvSpPr/>
          <p:nvPr/>
        </p:nvSpPr>
        <p:spPr>
          <a:xfrm>
            <a:off x="3193634" y="2893888"/>
            <a:ext cx="5468222" cy="7269"/>
          </a:xfrm>
          <a:custGeom>
            <a:avLst/>
            <a:gdLst>
              <a:gd name="connsiteX0" fmla="*/ 0 w 5468222"/>
              <a:gd name="connsiteY0" fmla="*/ 0 h 7269"/>
              <a:gd name="connsiteX1" fmla="*/ 5468223 w 5468222"/>
              <a:gd name="connsiteY1" fmla="*/ 0 h 7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468222" h="7269">
                <a:moveTo>
                  <a:pt x="0" y="0"/>
                </a:moveTo>
                <a:lnTo>
                  <a:pt x="5468223" y="0"/>
                </a:lnTo>
              </a:path>
            </a:pathLst>
          </a:custGeom>
          <a:noFill/>
          <a:ln w="7263" cap="flat">
            <a:solidFill>
              <a:srgbClr val="9EB5C5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0D24529C-DAE6-8596-14D8-55515B1524D4}"/>
              </a:ext>
            </a:extLst>
          </p:cNvPr>
          <p:cNvSpPr/>
          <p:nvPr/>
        </p:nvSpPr>
        <p:spPr>
          <a:xfrm>
            <a:off x="3193634" y="4065644"/>
            <a:ext cx="5468222" cy="7269"/>
          </a:xfrm>
          <a:custGeom>
            <a:avLst/>
            <a:gdLst>
              <a:gd name="connsiteX0" fmla="*/ 0 w 5468222"/>
              <a:gd name="connsiteY0" fmla="*/ 0 h 7269"/>
              <a:gd name="connsiteX1" fmla="*/ 5468223 w 5468222"/>
              <a:gd name="connsiteY1" fmla="*/ 0 h 7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468222" h="7269">
                <a:moveTo>
                  <a:pt x="0" y="0"/>
                </a:moveTo>
                <a:lnTo>
                  <a:pt x="5468223" y="0"/>
                </a:lnTo>
              </a:path>
            </a:pathLst>
          </a:custGeom>
          <a:noFill/>
          <a:ln w="7263" cap="flat">
            <a:solidFill>
              <a:srgbClr val="9EB5C5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F191D14-9172-C235-983B-F2675F67A7B2}"/>
              </a:ext>
            </a:extLst>
          </p:cNvPr>
          <p:cNvGrpSpPr/>
          <p:nvPr/>
        </p:nvGrpSpPr>
        <p:grpSpPr>
          <a:xfrm>
            <a:off x="3175467" y="4160857"/>
            <a:ext cx="5513433" cy="988601"/>
            <a:chOff x="3175467" y="3718593"/>
            <a:chExt cx="5513433" cy="98860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96E004EC-5DD7-630E-DD97-73BB105447D9}"/>
                </a:ext>
              </a:extLst>
            </p:cNvPr>
            <p:cNvSpPr/>
            <p:nvPr/>
          </p:nvSpPr>
          <p:spPr>
            <a:xfrm flipH="1">
              <a:off x="4585215" y="4205625"/>
              <a:ext cx="4083908" cy="14538"/>
            </a:xfrm>
            <a:custGeom>
              <a:avLst/>
              <a:gdLst>
                <a:gd name="connsiteX0" fmla="*/ 4076642 w 4083908"/>
                <a:gd name="connsiteY0" fmla="*/ 14538 h 14538"/>
                <a:gd name="connsiteX1" fmla="*/ 4083909 w 4083908"/>
                <a:gd name="connsiteY1" fmla="*/ 7269 h 14538"/>
                <a:gd name="connsiteX2" fmla="*/ 4076642 w 4083908"/>
                <a:gd name="connsiteY2" fmla="*/ 0 h 14538"/>
                <a:gd name="connsiteX3" fmla="*/ 4076642 w 4083908"/>
                <a:gd name="connsiteY3" fmla="*/ 14538 h 14538"/>
                <a:gd name="connsiteX4" fmla="*/ 0 w 4083908"/>
                <a:gd name="connsiteY4" fmla="*/ 14538 h 14538"/>
                <a:gd name="connsiteX5" fmla="*/ 4076642 w 4083908"/>
                <a:gd name="connsiteY5" fmla="*/ 14538 h 14538"/>
                <a:gd name="connsiteX6" fmla="*/ 4076642 w 4083908"/>
                <a:gd name="connsiteY6" fmla="*/ 0 h 14538"/>
                <a:gd name="connsiteX7" fmla="*/ 0 w 4083908"/>
                <a:gd name="connsiteY7" fmla="*/ 0 h 14538"/>
                <a:gd name="connsiteX8" fmla="*/ 0 w 4083908"/>
                <a:gd name="connsiteY8" fmla="*/ 14538 h 14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83908" h="14538">
                  <a:moveTo>
                    <a:pt x="4076642" y="14538"/>
                  </a:moveTo>
                  <a:cubicBezTo>
                    <a:pt x="4080653" y="14538"/>
                    <a:pt x="4083909" y="11282"/>
                    <a:pt x="4083909" y="7269"/>
                  </a:cubicBezTo>
                  <a:cubicBezTo>
                    <a:pt x="4083909" y="3257"/>
                    <a:pt x="4080653" y="0"/>
                    <a:pt x="4076642" y="0"/>
                  </a:cubicBezTo>
                  <a:lnTo>
                    <a:pt x="4076642" y="14538"/>
                  </a:lnTo>
                  <a:close/>
                  <a:moveTo>
                    <a:pt x="0" y="14538"/>
                  </a:moveTo>
                  <a:lnTo>
                    <a:pt x="4076642" y="14538"/>
                  </a:lnTo>
                  <a:lnTo>
                    <a:pt x="4076642" y="0"/>
                  </a:lnTo>
                  <a:lnTo>
                    <a:pt x="0" y="0"/>
                  </a:lnTo>
                  <a:lnTo>
                    <a:pt x="0" y="14538"/>
                  </a:lnTo>
                  <a:close/>
                </a:path>
              </a:pathLst>
            </a:custGeom>
            <a:gradFill>
              <a:gsLst>
                <a:gs pos="0">
                  <a:srgbClr val="DF6838"/>
                </a:gs>
                <a:gs pos="50000">
                  <a:srgbClr val="A3A75B"/>
                </a:gs>
                <a:gs pos="100000">
                  <a:srgbClr val="67E77F"/>
                </a:gs>
              </a:gsLst>
              <a:lin ang="0" scaled="1"/>
            </a:gradFill>
            <a:ln w="72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E09308EB-33D2-D378-2B71-06F03D8AC3BF}"/>
                </a:ext>
              </a:extLst>
            </p:cNvPr>
            <p:cNvSpPr/>
            <p:nvPr/>
          </p:nvSpPr>
          <p:spPr>
            <a:xfrm>
              <a:off x="4399598" y="3991186"/>
              <a:ext cx="378144" cy="301667"/>
            </a:xfrm>
            <a:custGeom>
              <a:avLst/>
              <a:gdLst>
                <a:gd name="connsiteX0" fmla="*/ 184470 w 343767"/>
                <a:gd name="connsiteY0" fmla="*/ 294400 h 301667"/>
                <a:gd name="connsiteX1" fmla="*/ 159298 w 343767"/>
                <a:gd name="connsiteY1" fmla="*/ 294400 h 301667"/>
                <a:gd name="connsiteX2" fmla="*/ 1966 w 343767"/>
                <a:gd name="connsiteY2" fmla="*/ 21807 h 301667"/>
                <a:gd name="connsiteX3" fmla="*/ 14552 w 343767"/>
                <a:gd name="connsiteY3" fmla="*/ 0 h 301667"/>
                <a:gd name="connsiteX4" fmla="*/ 329216 w 343767"/>
                <a:gd name="connsiteY4" fmla="*/ 0 h 301667"/>
                <a:gd name="connsiteX5" fmla="*/ 341802 w 343767"/>
                <a:gd name="connsiteY5" fmla="*/ 21807 h 301667"/>
                <a:gd name="connsiteX6" fmla="*/ 184470 w 343767"/>
                <a:gd name="connsiteY6" fmla="*/ 294400 h 301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3767" h="301667">
                  <a:moveTo>
                    <a:pt x="184470" y="294400"/>
                  </a:moveTo>
                  <a:cubicBezTo>
                    <a:pt x="178874" y="304090"/>
                    <a:pt x="164894" y="304090"/>
                    <a:pt x="159298" y="294400"/>
                  </a:cubicBezTo>
                  <a:lnTo>
                    <a:pt x="1966" y="21807"/>
                  </a:lnTo>
                  <a:cubicBezTo>
                    <a:pt x="-3622" y="12118"/>
                    <a:pt x="3368" y="0"/>
                    <a:pt x="14552" y="0"/>
                  </a:cubicBezTo>
                  <a:lnTo>
                    <a:pt x="329216" y="0"/>
                  </a:lnTo>
                  <a:cubicBezTo>
                    <a:pt x="340400" y="0"/>
                    <a:pt x="347390" y="12118"/>
                    <a:pt x="341802" y="21807"/>
                  </a:cubicBezTo>
                  <a:lnTo>
                    <a:pt x="184470" y="294400"/>
                  </a:lnTo>
                  <a:close/>
                </a:path>
              </a:pathLst>
            </a:custGeom>
            <a:solidFill>
              <a:srgbClr val="0066FF"/>
            </a:solidFill>
            <a:ln w="7263" cap="flat">
              <a:noFill/>
              <a:prstDash val="solid"/>
              <a:miter/>
            </a:ln>
          </p:spPr>
          <p:txBody>
            <a:bodyPr lIns="0" rIns="0" rtlCol="0" anchor="ctr"/>
            <a:lstStyle/>
            <a:p>
              <a:pPr algn="ctr"/>
              <a:r>
                <a:rPr lang="en-US" sz="1000" b="1">
                  <a:solidFill>
                    <a:srgbClr val="0066FF"/>
                  </a:solidFill>
                </a:rPr>
                <a:t>MARKER_MODERNIZATION_EFFORT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F80FF2A0-2A6E-3FEB-983A-AF96E9799909}"/>
                </a:ext>
              </a:extLst>
            </p:cNvPr>
            <p:cNvSpPr txBox="1"/>
            <p:nvPr/>
          </p:nvSpPr>
          <p:spPr>
            <a:xfrm>
              <a:off x="8212338" y="4211799"/>
              <a:ext cx="476562" cy="289438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r">
                <a:lnSpc>
                  <a:spcPct val="113000"/>
                </a:lnSpc>
              </a:pPr>
              <a:r>
                <a:rPr lang="en-US" sz="1200" b="1" dirty="0" err="1">
                  <a:solidFill>
                    <a:srgbClr val="E17526"/>
                  </a:solidFill>
                </a:rPr>
                <a:t>High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F723BDF-6B35-4615-25B1-A780E66F8EDE}"/>
                </a:ext>
              </a:extLst>
            </p:cNvPr>
            <p:cNvGrpSpPr/>
            <p:nvPr/>
          </p:nvGrpSpPr>
          <p:grpSpPr>
            <a:xfrm>
              <a:off x="3175467" y="3718593"/>
              <a:ext cx="1090012" cy="988601"/>
              <a:chOff x="3175467" y="3718593"/>
              <a:chExt cx="1090012" cy="988601"/>
            </a:xfrm>
          </p:grpSpPr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2D8219B0-F329-793E-CC73-F3C72202561E}"/>
                  </a:ext>
                </a:extLst>
              </p:cNvPr>
              <p:cNvSpPr/>
              <p:nvPr/>
            </p:nvSpPr>
            <p:spPr>
              <a:xfrm>
                <a:off x="3175467" y="3718593"/>
                <a:ext cx="1090011" cy="988601"/>
              </a:xfrm>
              <a:custGeom>
                <a:avLst/>
                <a:gdLst>
                  <a:gd name="connsiteX0" fmla="*/ 1053678 w 1090011"/>
                  <a:gd name="connsiteY0" fmla="*/ 0 h 988601"/>
                  <a:gd name="connsiteX1" fmla="*/ 1090011 w 1090011"/>
                  <a:gd name="connsiteY1" fmla="*/ 0 h 988601"/>
                  <a:gd name="connsiteX2" fmla="*/ 1090011 w 1090011"/>
                  <a:gd name="connsiteY2" fmla="*/ 988602 h 988601"/>
                  <a:gd name="connsiteX3" fmla="*/ 1053678 w 1090011"/>
                  <a:gd name="connsiteY3" fmla="*/ 988602 h 988601"/>
                  <a:gd name="connsiteX4" fmla="*/ 36334 w 1090011"/>
                  <a:gd name="connsiteY4" fmla="*/ 988602 h 988601"/>
                  <a:gd name="connsiteX5" fmla="*/ 0 w 1090011"/>
                  <a:gd name="connsiteY5" fmla="*/ 988602 h 988601"/>
                  <a:gd name="connsiteX6" fmla="*/ 0 w 1090011"/>
                  <a:gd name="connsiteY6" fmla="*/ 0 h 988601"/>
                  <a:gd name="connsiteX7" fmla="*/ 36334 w 1090011"/>
                  <a:gd name="connsiteY7" fmla="*/ 0 h 988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90011" h="988601">
                    <a:moveTo>
                      <a:pt x="1053678" y="0"/>
                    </a:moveTo>
                    <a:cubicBezTo>
                      <a:pt x="1073744" y="0"/>
                      <a:pt x="1090011" y="0"/>
                      <a:pt x="1090011" y="0"/>
                    </a:cubicBezTo>
                    <a:lnTo>
                      <a:pt x="1090011" y="988602"/>
                    </a:lnTo>
                    <a:cubicBezTo>
                      <a:pt x="1090011" y="988602"/>
                      <a:pt x="1073744" y="988602"/>
                      <a:pt x="1053678" y="988602"/>
                    </a:cubicBezTo>
                    <a:lnTo>
                      <a:pt x="36334" y="988602"/>
                    </a:lnTo>
                    <a:cubicBezTo>
                      <a:pt x="16267" y="988602"/>
                      <a:pt x="0" y="988602"/>
                      <a:pt x="0" y="988602"/>
                    </a:cubicBezTo>
                    <a:lnTo>
                      <a:pt x="0" y="0"/>
                    </a:lnTo>
                    <a:cubicBezTo>
                      <a:pt x="0" y="0"/>
                      <a:pt x="16267" y="0"/>
                      <a:pt x="3633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151632"/>
                  </a:gs>
                  <a:gs pos="50000">
                    <a:srgbClr val="183E98"/>
                  </a:gs>
                  <a:gs pos="100000">
                    <a:srgbClr val="1B66FF"/>
                  </a:gs>
                </a:gsLst>
                <a:lin ang="5400000" scaled="1"/>
              </a:gradFill>
              <a:ln w="7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8AF88E4A-3FC6-78C6-09AF-810DBCFED102}"/>
                  </a:ext>
                </a:extLst>
              </p:cNvPr>
              <p:cNvSpPr txBox="1"/>
              <p:nvPr/>
            </p:nvSpPr>
            <p:spPr>
              <a:xfrm>
                <a:off x="3175467" y="4416584"/>
                <a:ext cx="1090012" cy="273023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pPr algn="ctr">
                  <a:lnSpc>
                    <a:spcPct val="113000"/>
                  </a:lnSpc>
                </a:pPr>
                <a:r>
                  <a:rPr lang="en-US" sz="1100" b="1" dirty="0" err="1">
                    <a:solidFill>
                      <a:schemeClr val="bg1"/>
                    </a:solidFill>
                  </a:rPr>
                  <a:t>Renovation effort</a:t>
                </a:r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9ED4C63B-3DE4-5CA5-C815-046602139C1B}"/>
                  </a:ext>
                </a:extLst>
              </p:cNvPr>
              <p:cNvSpPr/>
              <p:nvPr/>
            </p:nvSpPr>
            <p:spPr>
              <a:xfrm>
                <a:off x="3582405" y="3877209"/>
                <a:ext cx="277167" cy="436147"/>
              </a:xfrm>
              <a:custGeom>
                <a:avLst/>
                <a:gdLst>
                  <a:gd name="connsiteX0" fmla="*/ 266486 w 277167"/>
                  <a:gd name="connsiteY0" fmla="*/ 327097 h 436147"/>
                  <a:gd name="connsiteX1" fmla="*/ 237092 w 277167"/>
                  <a:gd name="connsiteY1" fmla="*/ 360840 h 436147"/>
                  <a:gd name="connsiteX2" fmla="*/ 192336 w 277167"/>
                  <a:gd name="connsiteY2" fmla="*/ 381259 h 436147"/>
                  <a:gd name="connsiteX3" fmla="*/ 168741 w 277167"/>
                  <a:gd name="connsiteY3" fmla="*/ 385598 h 436147"/>
                  <a:gd name="connsiteX4" fmla="*/ 168741 w 277167"/>
                  <a:gd name="connsiteY4" fmla="*/ 436148 h 436147"/>
                  <a:gd name="connsiteX5" fmla="*/ 108427 w 277167"/>
                  <a:gd name="connsiteY5" fmla="*/ 436148 h 436147"/>
                  <a:gd name="connsiteX6" fmla="*/ 108427 w 277167"/>
                  <a:gd name="connsiteY6" fmla="*/ 386609 h 436147"/>
                  <a:gd name="connsiteX7" fmla="*/ 59369 w 277167"/>
                  <a:gd name="connsiteY7" fmla="*/ 378220 h 436147"/>
                  <a:gd name="connsiteX8" fmla="*/ 4856 w 277167"/>
                  <a:gd name="connsiteY8" fmla="*/ 345638 h 436147"/>
                  <a:gd name="connsiteX9" fmla="*/ 79 w 277167"/>
                  <a:gd name="connsiteY9" fmla="*/ 338372 h 436147"/>
                  <a:gd name="connsiteX10" fmla="*/ 2900 w 277167"/>
                  <a:gd name="connsiteY10" fmla="*/ 330119 h 436147"/>
                  <a:gd name="connsiteX11" fmla="*/ 33117 w 277167"/>
                  <a:gd name="connsiteY11" fmla="*/ 299878 h 436147"/>
                  <a:gd name="connsiteX12" fmla="*/ 45345 w 277167"/>
                  <a:gd name="connsiteY12" fmla="*/ 298440 h 436147"/>
                  <a:gd name="connsiteX13" fmla="*/ 85101 w 277167"/>
                  <a:gd name="connsiteY13" fmla="*/ 322771 h 436147"/>
                  <a:gd name="connsiteX14" fmla="*/ 136208 w 277167"/>
                  <a:gd name="connsiteY14" fmla="*/ 329773 h 436147"/>
                  <a:gd name="connsiteX15" fmla="*/ 189313 w 277167"/>
                  <a:gd name="connsiteY15" fmla="*/ 318432 h 436147"/>
                  <a:gd name="connsiteX16" fmla="*/ 210365 w 277167"/>
                  <a:gd name="connsiteY16" fmla="*/ 282974 h 436147"/>
                  <a:gd name="connsiteX17" fmla="*/ 200002 w 277167"/>
                  <a:gd name="connsiteY17" fmla="*/ 255554 h 436147"/>
                  <a:gd name="connsiteX18" fmla="*/ 164926 w 277167"/>
                  <a:gd name="connsiteY18" fmla="*/ 242870 h 436147"/>
                  <a:gd name="connsiteX19" fmla="*/ 110796 w 277167"/>
                  <a:gd name="connsiteY19" fmla="*/ 238211 h 436147"/>
                  <a:gd name="connsiteX20" fmla="*/ 36656 w 277167"/>
                  <a:gd name="connsiteY20" fmla="*/ 211484 h 436147"/>
                  <a:gd name="connsiteX21" fmla="*/ 10590 w 277167"/>
                  <a:gd name="connsiteY21" fmla="*/ 144653 h 436147"/>
                  <a:gd name="connsiteX22" fmla="*/ 20610 w 277167"/>
                  <a:gd name="connsiteY22" fmla="*/ 100531 h 436147"/>
                  <a:gd name="connsiteX23" fmla="*/ 48006 w 277167"/>
                  <a:gd name="connsiteY23" fmla="*/ 67801 h 436147"/>
                  <a:gd name="connsiteX24" fmla="*/ 88429 w 277167"/>
                  <a:gd name="connsiteY24" fmla="*/ 47755 h 436147"/>
                  <a:gd name="connsiteX25" fmla="*/ 108427 w 277167"/>
                  <a:gd name="connsiteY25" fmla="*/ 43549 h 436147"/>
                  <a:gd name="connsiteX26" fmla="*/ 108427 w 277167"/>
                  <a:gd name="connsiteY26" fmla="*/ 0 h 436147"/>
                  <a:gd name="connsiteX27" fmla="*/ 168741 w 277167"/>
                  <a:gd name="connsiteY27" fmla="*/ 0 h 436147"/>
                  <a:gd name="connsiteX28" fmla="*/ 168741 w 277167"/>
                  <a:gd name="connsiteY28" fmla="*/ 42673 h 436147"/>
                  <a:gd name="connsiteX29" fmla="*/ 208686 w 277167"/>
                  <a:gd name="connsiteY29" fmla="*/ 49754 h 436147"/>
                  <a:gd name="connsiteX30" fmla="*/ 252061 w 277167"/>
                  <a:gd name="connsiteY30" fmla="*/ 72914 h 436147"/>
                  <a:gd name="connsiteX31" fmla="*/ 257213 w 277167"/>
                  <a:gd name="connsiteY31" fmla="*/ 80155 h 436147"/>
                  <a:gd name="connsiteX32" fmla="*/ 254474 w 277167"/>
                  <a:gd name="connsiteY32" fmla="*/ 88647 h 436147"/>
                  <a:gd name="connsiteX33" fmla="*/ 226134 w 277167"/>
                  <a:gd name="connsiteY33" fmla="*/ 117423 h 436147"/>
                  <a:gd name="connsiteX34" fmla="*/ 214580 w 277167"/>
                  <a:gd name="connsiteY34" fmla="*/ 119287 h 436147"/>
                  <a:gd name="connsiteX35" fmla="*/ 183296 w 277167"/>
                  <a:gd name="connsiteY35" fmla="*/ 103555 h 436147"/>
                  <a:gd name="connsiteX36" fmla="*/ 137552 w 277167"/>
                  <a:gd name="connsiteY36" fmla="*/ 97857 h 436147"/>
                  <a:gd name="connsiteX37" fmla="*/ 91118 w 277167"/>
                  <a:gd name="connsiteY37" fmla="*/ 109876 h 436147"/>
                  <a:gd name="connsiteX38" fmla="*/ 76112 w 277167"/>
                  <a:gd name="connsiteY38" fmla="*/ 141288 h 436147"/>
                  <a:gd name="connsiteX39" fmla="*/ 86779 w 277167"/>
                  <a:gd name="connsiteY39" fmla="*/ 168001 h 436147"/>
                  <a:gd name="connsiteX40" fmla="*/ 122851 w 277167"/>
                  <a:gd name="connsiteY40" fmla="*/ 180034 h 436147"/>
                  <a:gd name="connsiteX41" fmla="*/ 170289 w 277167"/>
                  <a:gd name="connsiteY41" fmla="*/ 184080 h 436147"/>
                  <a:gd name="connsiteX42" fmla="*/ 250107 w 277167"/>
                  <a:gd name="connsiteY42" fmla="*/ 212125 h 436147"/>
                  <a:gd name="connsiteX43" fmla="*/ 277168 w 277167"/>
                  <a:gd name="connsiteY43" fmla="*/ 280286 h 436147"/>
                  <a:gd name="connsiteX44" fmla="*/ 266486 w 277167"/>
                  <a:gd name="connsiteY44" fmla="*/ 327097 h 436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277167" h="436147">
                    <a:moveTo>
                      <a:pt x="266486" y="327097"/>
                    </a:moveTo>
                    <a:cubicBezTo>
                      <a:pt x="259343" y="340501"/>
                      <a:pt x="249525" y="351681"/>
                      <a:pt x="237092" y="360840"/>
                    </a:cubicBezTo>
                    <a:cubicBezTo>
                      <a:pt x="224615" y="369970"/>
                      <a:pt x="209682" y="376774"/>
                      <a:pt x="192336" y="381259"/>
                    </a:cubicBezTo>
                    <a:cubicBezTo>
                      <a:pt x="184750" y="383170"/>
                      <a:pt x="176807" y="384508"/>
                      <a:pt x="168741" y="385598"/>
                    </a:cubicBezTo>
                    <a:lnTo>
                      <a:pt x="168741" y="436148"/>
                    </a:lnTo>
                    <a:lnTo>
                      <a:pt x="108427" y="436148"/>
                    </a:lnTo>
                    <a:lnTo>
                      <a:pt x="108427" y="386609"/>
                    </a:lnTo>
                    <a:cubicBezTo>
                      <a:pt x="91248" y="385155"/>
                      <a:pt x="74833" y="382480"/>
                      <a:pt x="59369" y="378220"/>
                    </a:cubicBezTo>
                    <a:cubicBezTo>
                      <a:pt x="35765" y="371751"/>
                      <a:pt x="4856" y="345638"/>
                      <a:pt x="4856" y="345638"/>
                    </a:cubicBezTo>
                    <a:cubicBezTo>
                      <a:pt x="2208" y="344094"/>
                      <a:pt x="451" y="341379"/>
                      <a:pt x="79" y="338372"/>
                    </a:cubicBezTo>
                    <a:cubicBezTo>
                      <a:pt x="-307" y="335337"/>
                      <a:pt x="732" y="332276"/>
                      <a:pt x="2900" y="330119"/>
                    </a:cubicBezTo>
                    <a:lnTo>
                      <a:pt x="33117" y="299878"/>
                    </a:lnTo>
                    <a:cubicBezTo>
                      <a:pt x="36377" y="296657"/>
                      <a:pt x="41434" y="296045"/>
                      <a:pt x="45345" y="298440"/>
                    </a:cubicBezTo>
                    <a:cubicBezTo>
                      <a:pt x="45345" y="298440"/>
                      <a:pt x="67966" y="318086"/>
                      <a:pt x="85101" y="322771"/>
                    </a:cubicBezTo>
                    <a:cubicBezTo>
                      <a:pt x="102243" y="327430"/>
                      <a:pt x="119247" y="329773"/>
                      <a:pt x="136208" y="329773"/>
                    </a:cubicBezTo>
                    <a:cubicBezTo>
                      <a:pt x="157608" y="329773"/>
                      <a:pt x="175288" y="325992"/>
                      <a:pt x="189313" y="318432"/>
                    </a:cubicBezTo>
                    <a:cubicBezTo>
                      <a:pt x="203367" y="310819"/>
                      <a:pt x="210365" y="299053"/>
                      <a:pt x="210365" y="282974"/>
                    </a:cubicBezTo>
                    <a:cubicBezTo>
                      <a:pt x="210365" y="271394"/>
                      <a:pt x="206935" y="262263"/>
                      <a:pt x="200002" y="255554"/>
                    </a:cubicBezTo>
                    <a:cubicBezTo>
                      <a:pt x="193092" y="248899"/>
                      <a:pt x="181414" y="244707"/>
                      <a:pt x="164926" y="242870"/>
                    </a:cubicBezTo>
                    <a:lnTo>
                      <a:pt x="110796" y="238211"/>
                    </a:lnTo>
                    <a:cubicBezTo>
                      <a:pt x="78742" y="235083"/>
                      <a:pt x="54021" y="226138"/>
                      <a:pt x="36656" y="211484"/>
                    </a:cubicBezTo>
                    <a:cubicBezTo>
                      <a:pt x="19239" y="196776"/>
                      <a:pt x="10590" y="174469"/>
                      <a:pt x="10590" y="144653"/>
                    </a:cubicBezTo>
                    <a:cubicBezTo>
                      <a:pt x="10590" y="128149"/>
                      <a:pt x="13916" y="113454"/>
                      <a:pt x="20610" y="100531"/>
                    </a:cubicBezTo>
                    <a:cubicBezTo>
                      <a:pt x="27316" y="87606"/>
                      <a:pt x="36417" y="76692"/>
                      <a:pt x="48006" y="67801"/>
                    </a:cubicBezTo>
                    <a:cubicBezTo>
                      <a:pt x="59580" y="58883"/>
                      <a:pt x="73074" y="52200"/>
                      <a:pt x="88429" y="47755"/>
                    </a:cubicBezTo>
                    <a:cubicBezTo>
                      <a:pt x="94860" y="45891"/>
                      <a:pt x="101589" y="44667"/>
                      <a:pt x="108427" y="43549"/>
                    </a:cubicBezTo>
                    <a:lnTo>
                      <a:pt x="108427" y="0"/>
                    </a:lnTo>
                    <a:lnTo>
                      <a:pt x="168741" y="0"/>
                    </a:lnTo>
                    <a:lnTo>
                      <a:pt x="168741" y="42673"/>
                    </a:lnTo>
                    <a:cubicBezTo>
                      <a:pt x="182824" y="44057"/>
                      <a:pt x="196216" y="46320"/>
                      <a:pt x="208686" y="49754"/>
                    </a:cubicBezTo>
                    <a:cubicBezTo>
                      <a:pt x="229840" y="55530"/>
                      <a:pt x="252061" y="72914"/>
                      <a:pt x="252061" y="72914"/>
                    </a:cubicBezTo>
                    <a:cubicBezTo>
                      <a:pt x="254845" y="74352"/>
                      <a:pt x="256734" y="77067"/>
                      <a:pt x="257213" y="80155"/>
                    </a:cubicBezTo>
                    <a:cubicBezTo>
                      <a:pt x="257693" y="83296"/>
                      <a:pt x="256669" y="86385"/>
                      <a:pt x="254474" y="88647"/>
                    </a:cubicBezTo>
                    <a:lnTo>
                      <a:pt x="226134" y="117423"/>
                    </a:lnTo>
                    <a:cubicBezTo>
                      <a:pt x="223111" y="120485"/>
                      <a:pt x="218438" y="121283"/>
                      <a:pt x="214580" y="119287"/>
                    </a:cubicBezTo>
                    <a:cubicBezTo>
                      <a:pt x="214580" y="119287"/>
                      <a:pt x="197801" y="107335"/>
                      <a:pt x="183296" y="103555"/>
                    </a:cubicBezTo>
                    <a:cubicBezTo>
                      <a:pt x="168806" y="99774"/>
                      <a:pt x="153590" y="97857"/>
                      <a:pt x="137552" y="97857"/>
                    </a:cubicBezTo>
                    <a:cubicBezTo>
                      <a:pt x="116595" y="97857"/>
                      <a:pt x="101109" y="101877"/>
                      <a:pt x="91118" y="109876"/>
                    </a:cubicBezTo>
                    <a:cubicBezTo>
                      <a:pt x="81082" y="117929"/>
                      <a:pt x="76112" y="128390"/>
                      <a:pt x="76112" y="141288"/>
                    </a:cubicBezTo>
                    <a:cubicBezTo>
                      <a:pt x="76112" y="152908"/>
                      <a:pt x="79607" y="161799"/>
                      <a:pt x="86779" y="168001"/>
                    </a:cubicBezTo>
                    <a:cubicBezTo>
                      <a:pt x="93901" y="174257"/>
                      <a:pt x="105913" y="178316"/>
                      <a:pt x="122851" y="180034"/>
                    </a:cubicBezTo>
                    <a:lnTo>
                      <a:pt x="170289" y="184080"/>
                    </a:lnTo>
                    <a:cubicBezTo>
                      <a:pt x="205453" y="187195"/>
                      <a:pt x="232078" y="196538"/>
                      <a:pt x="250107" y="212125"/>
                    </a:cubicBezTo>
                    <a:cubicBezTo>
                      <a:pt x="268165" y="227737"/>
                      <a:pt x="277168" y="250472"/>
                      <a:pt x="277168" y="280286"/>
                    </a:cubicBezTo>
                    <a:cubicBezTo>
                      <a:pt x="277175" y="298162"/>
                      <a:pt x="273607" y="313720"/>
                      <a:pt x="266486" y="327097"/>
                    </a:cubicBezTo>
                    <a:close/>
                  </a:path>
                </a:pathLst>
              </a:custGeom>
              <a:noFill/>
              <a:ln w="72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7F66163-B57E-3B36-7B32-0E916195F142}"/>
                </a:ext>
              </a:extLst>
            </p:cNvPr>
            <p:cNvSpPr txBox="1"/>
            <p:nvPr/>
          </p:nvSpPr>
          <p:spPr>
            <a:xfrm>
              <a:off x="4481963" y="4211799"/>
              <a:ext cx="447387" cy="289438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200" b="1" dirty="0" err="1">
                  <a:solidFill>
                    <a:srgbClr val="67E77F"/>
                  </a:solidFill>
                </a:rPr>
                <a:t>Low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01AA58A-1827-0E81-71E9-3143BF0EBE18}"/>
              </a:ext>
            </a:extLst>
          </p:cNvPr>
          <p:cNvGrpSpPr/>
          <p:nvPr/>
        </p:nvGrpSpPr>
        <p:grpSpPr>
          <a:xfrm>
            <a:off x="3175467" y="2989100"/>
            <a:ext cx="5513433" cy="988601"/>
            <a:chOff x="3175467" y="2555533"/>
            <a:chExt cx="5513433" cy="988601"/>
          </a:xfrm>
        </p:grpSpPr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B2AF553E-630F-A3D7-EEE7-C3302EE3FBAC}"/>
                </a:ext>
              </a:extLst>
            </p:cNvPr>
            <p:cNvSpPr/>
            <p:nvPr/>
          </p:nvSpPr>
          <p:spPr>
            <a:xfrm>
              <a:off x="4585215" y="3042564"/>
              <a:ext cx="4083908" cy="14538"/>
            </a:xfrm>
            <a:custGeom>
              <a:avLst/>
              <a:gdLst>
                <a:gd name="connsiteX0" fmla="*/ 4076642 w 4083908"/>
                <a:gd name="connsiteY0" fmla="*/ 14538 h 14538"/>
                <a:gd name="connsiteX1" fmla="*/ 4083909 w 4083908"/>
                <a:gd name="connsiteY1" fmla="*/ 7269 h 14538"/>
                <a:gd name="connsiteX2" fmla="*/ 4076642 w 4083908"/>
                <a:gd name="connsiteY2" fmla="*/ 0 h 14538"/>
                <a:gd name="connsiteX3" fmla="*/ 4076642 w 4083908"/>
                <a:gd name="connsiteY3" fmla="*/ 14538 h 14538"/>
                <a:gd name="connsiteX4" fmla="*/ 0 w 4083908"/>
                <a:gd name="connsiteY4" fmla="*/ 14538 h 14538"/>
                <a:gd name="connsiteX5" fmla="*/ 4076642 w 4083908"/>
                <a:gd name="connsiteY5" fmla="*/ 14538 h 14538"/>
                <a:gd name="connsiteX6" fmla="*/ 4076642 w 4083908"/>
                <a:gd name="connsiteY6" fmla="*/ 0 h 14538"/>
                <a:gd name="connsiteX7" fmla="*/ 0 w 4083908"/>
                <a:gd name="connsiteY7" fmla="*/ 0 h 14538"/>
                <a:gd name="connsiteX8" fmla="*/ 0 w 4083908"/>
                <a:gd name="connsiteY8" fmla="*/ 14538 h 14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83908" h="14538">
                  <a:moveTo>
                    <a:pt x="4076642" y="14538"/>
                  </a:moveTo>
                  <a:cubicBezTo>
                    <a:pt x="4080653" y="14538"/>
                    <a:pt x="4083909" y="11282"/>
                    <a:pt x="4083909" y="7269"/>
                  </a:cubicBezTo>
                  <a:cubicBezTo>
                    <a:pt x="4083909" y="3257"/>
                    <a:pt x="4080653" y="0"/>
                    <a:pt x="4076642" y="0"/>
                  </a:cubicBezTo>
                  <a:lnTo>
                    <a:pt x="4076642" y="14538"/>
                  </a:lnTo>
                  <a:close/>
                  <a:moveTo>
                    <a:pt x="0" y="14538"/>
                  </a:moveTo>
                  <a:lnTo>
                    <a:pt x="4076642" y="14538"/>
                  </a:lnTo>
                  <a:lnTo>
                    <a:pt x="4076642" y="0"/>
                  </a:lnTo>
                  <a:lnTo>
                    <a:pt x="0" y="0"/>
                  </a:lnTo>
                  <a:lnTo>
                    <a:pt x="0" y="14538"/>
                  </a:lnTo>
                  <a:close/>
                </a:path>
              </a:pathLst>
            </a:custGeom>
            <a:gradFill>
              <a:gsLst>
                <a:gs pos="0">
                  <a:srgbClr val="DF6838"/>
                </a:gs>
                <a:gs pos="50000">
                  <a:srgbClr val="A3A75B"/>
                </a:gs>
                <a:gs pos="100000">
                  <a:srgbClr val="67E77F"/>
                </a:gs>
              </a:gsLst>
              <a:lin ang="0" scaled="1"/>
            </a:gradFill>
            <a:ln w="72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5AFD0732-87D6-6F51-90E0-5730B444D262}"/>
                </a:ext>
              </a:extLst>
            </p:cNvPr>
            <p:cNvSpPr/>
            <p:nvPr/>
          </p:nvSpPr>
          <p:spPr>
            <a:xfrm>
              <a:off x="4399598" y="2806318"/>
              <a:ext cx="378145" cy="301667"/>
            </a:xfrm>
            <a:custGeom>
              <a:avLst/>
              <a:gdLst>
                <a:gd name="connsiteX0" fmla="*/ 184470 w 343768"/>
                <a:gd name="connsiteY0" fmla="*/ 294400 h 301667"/>
                <a:gd name="connsiteX1" fmla="*/ 159298 w 343768"/>
                <a:gd name="connsiteY1" fmla="*/ 294400 h 301667"/>
                <a:gd name="connsiteX2" fmla="*/ 1966 w 343768"/>
                <a:gd name="connsiteY2" fmla="*/ 21807 h 301667"/>
                <a:gd name="connsiteX3" fmla="*/ 14552 w 343768"/>
                <a:gd name="connsiteY3" fmla="*/ 0 h 301667"/>
                <a:gd name="connsiteX4" fmla="*/ 329216 w 343768"/>
                <a:gd name="connsiteY4" fmla="*/ 0 h 301667"/>
                <a:gd name="connsiteX5" fmla="*/ 341802 w 343768"/>
                <a:gd name="connsiteY5" fmla="*/ 21807 h 301667"/>
                <a:gd name="connsiteX6" fmla="*/ 184470 w 343768"/>
                <a:gd name="connsiteY6" fmla="*/ 294400 h 301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3768" h="301667">
                  <a:moveTo>
                    <a:pt x="184470" y="294400"/>
                  </a:moveTo>
                  <a:cubicBezTo>
                    <a:pt x="178875" y="304090"/>
                    <a:pt x="164893" y="304090"/>
                    <a:pt x="159298" y="294400"/>
                  </a:cubicBezTo>
                  <a:lnTo>
                    <a:pt x="1966" y="21807"/>
                  </a:lnTo>
                  <a:cubicBezTo>
                    <a:pt x="-3622" y="12118"/>
                    <a:pt x="3368" y="0"/>
                    <a:pt x="14552" y="0"/>
                  </a:cubicBezTo>
                  <a:lnTo>
                    <a:pt x="329216" y="0"/>
                  </a:lnTo>
                  <a:cubicBezTo>
                    <a:pt x="340400" y="0"/>
                    <a:pt x="347390" y="12118"/>
                    <a:pt x="341802" y="21807"/>
                  </a:cubicBezTo>
                  <a:lnTo>
                    <a:pt x="184470" y="294400"/>
                  </a:lnTo>
                  <a:close/>
                </a:path>
              </a:pathLst>
            </a:custGeom>
            <a:solidFill>
              <a:srgbClr val="0066FF"/>
            </a:solidFill>
            <a:ln w="7263" cap="flat">
              <a:noFill/>
              <a:prstDash val="solid"/>
              <a:miter/>
            </a:ln>
          </p:spPr>
          <p:txBody>
            <a:bodyPr lIns="0" rIns="0" rtlCol="0" anchor="ctr"/>
            <a:lstStyle/>
            <a:p>
              <a:pPr algn="ctr"/>
              <a:r>
                <a:rPr lang="en-US" sz="1000" b="1">
                  <a:solidFill>
                    <a:srgbClr val="0066FF"/>
                  </a:solidFill>
                </a:rPr>
                <a:t>MARKER_MODERNIZATION_SPEED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AD70E39-AF26-E925-204C-B75F716B4191}"/>
                </a:ext>
              </a:extLst>
            </p:cNvPr>
            <p:cNvGrpSpPr/>
            <p:nvPr/>
          </p:nvGrpSpPr>
          <p:grpSpPr>
            <a:xfrm>
              <a:off x="3175467" y="2555533"/>
              <a:ext cx="1090012" cy="988601"/>
              <a:chOff x="3175467" y="2555533"/>
              <a:chExt cx="1090012" cy="988601"/>
            </a:xfrm>
          </p:grpSpPr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FC136603-2216-7601-C5DF-D85D8F43160F}"/>
                  </a:ext>
                </a:extLst>
              </p:cNvPr>
              <p:cNvSpPr/>
              <p:nvPr/>
            </p:nvSpPr>
            <p:spPr>
              <a:xfrm>
                <a:off x="3175467" y="2555533"/>
                <a:ext cx="1090011" cy="988601"/>
              </a:xfrm>
              <a:custGeom>
                <a:avLst/>
                <a:gdLst>
                  <a:gd name="connsiteX0" fmla="*/ 1053678 w 1090011"/>
                  <a:gd name="connsiteY0" fmla="*/ 0 h 988601"/>
                  <a:gd name="connsiteX1" fmla="*/ 1090011 w 1090011"/>
                  <a:gd name="connsiteY1" fmla="*/ 0 h 988601"/>
                  <a:gd name="connsiteX2" fmla="*/ 1090011 w 1090011"/>
                  <a:gd name="connsiteY2" fmla="*/ 988602 h 988601"/>
                  <a:gd name="connsiteX3" fmla="*/ 1053678 w 1090011"/>
                  <a:gd name="connsiteY3" fmla="*/ 988602 h 988601"/>
                  <a:gd name="connsiteX4" fmla="*/ 36334 w 1090011"/>
                  <a:gd name="connsiteY4" fmla="*/ 988602 h 988601"/>
                  <a:gd name="connsiteX5" fmla="*/ 0 w 1090011"/>
                  <a:gd name="connsiteY5" fmla="*/ 988602 h 988601"/>
                  <a:gd name="connsiteX6" fmla="*/ 0 w 1090011"/>
                  <a:gd name="connsiteY6" fmla="*/ 0 h 988601"/>
                  <a:gd name="connsiteX7" fmla="*/ 36334 w 1090011"/>
                  <a:gd name="connsiteY7" fmla="*/ 0 h 988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90011" h="988601">
                    <a:moveTo>
                      <a:pt x="1053678" y="0"/>
                    </a:moveTo>
                    <a:cubicBezTo>
                      <a:pt x="1073744" y="0"/>
                      <a:pt x="1090011" y="0"/>
                      <a:pt x="1090011" y="0"/>
                    </a:cubicBezTo>
                    <a:lnTo>
                      <a:pt x="1090011" y="988602"/>
                    </a:lnTo>
                    <a:cubicBezTo>
                      <a:pt x="1090011" y="988602"/>
                      <a:pt x="1073744" y="988602"/>
                      <a:pt x="1053678" y="988602"/>
                    </a:cubicBezTo>
                    <a:lnTo>
                      <a:pt x="36334" y="988602"/>
                    </a:lnTo>
                    <a:cubicBezTo>
                      <a:pt x="16267" y="988602"/>
                      <a:pt x="0" y="988602"/>
                      <a:pt x="0" y="988602"/>
                    </a:cubicBezTo>
                    <a:lnTo>
                      <a:pt x="0" y="0"/>
                    </a:lnTo>
                    <a:cubicBezTo>
                      <a:pt x="0" y="0"/>
                      <a:pt x="16267" y="0"/>
                      <a:pt x="3633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151632"/>
                  </a:gs>
                  <a:gs pos="50000">
                    <a:srgbClr val="183E98"/>
                  </a:gs>
                  <a:gs pos="100000">
                    <a:srgbClr val="1B66FF"/>
                  </a:gs>
                </a:gsLst>
                <a:lin ang="3971604" scaled="1"/>
              </a:gradFill>
              <a:ln w="7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68" name="Graphic 67">
                <a:extLst>
                  <a:ext uri="{FF2B5EF4-FFF2-40B4-BE49-F238E27FC236}">
                    <a16:creationId xmlns:a16="http://schemas.microsoft.com/office/drawing/2014/main" id="{5B8B6CE0-96F1-FE31-6A30-9D720FFCF6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3422441" y="2682083"/>
                <a:ext cx="582058" cy="498480"/>
              </a:xfrm>
              <a:prstGeom prst="rect">
                <a:avLst/>
              </a:prstGeom>
            </p:spPr>
          </p:pic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89C0F40-A36E-1F14-8EA9-2B436B82C6AD}"/>
                  </a:ext>
                </a:extLst>
              </p:cNvPr>
              <p:cNvSpPr txBox="1"/>
              <p:nvPr/>
            </p:nvSpPr>
            <p:spPr>
              <a:xfrm>
                <a:off x="3175467" y="3256157"/>
                <a:ext cx="1090012" cy="273023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pPr algn="ctr">
                  <a:lnSpc>
                    <a:spcPct val="113000"/>
                  </a:lnSpc>
                </a:pPr>
                <a:r>
                  <a:rPr lang="en-US" sz="1100" b="1" dirty="0" err="1">
                    <a:solidFill>
                      <a:schemeClr val="bg1"/>
                    </a:solidFill>
                  </a:rPr>
                  <a:t>Potential return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82AD63B6-A060-37AC-AE10-A89553C98806}"/>
                </a:ext>
              </a:extLst>
            </p:cNvPr>
            <p:cNvSpPr txBox="1"/>
            <p:nvPr/>
          </p:nvSpPr>
          <p:spPr>
            <a:xfrm>
              <a:off x="4481963" y="3051373"/>
              <a:ext cx="1428296" cy="289438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200" b="1" dirty="0" err="1">
                  <a:solidFill>
                    <a:srgbClr val="DF6837"/>
                  </a:solidFill>
                </a:rPr>
                <a:t>Low speed increase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3E171B44-7D55-3C69-AF53-2A643B381D0B}"/>
                </a:ext>
              </a:extLst>
            </p:cNvPr>
            <p:cNvSpPr txBox="1"/>
            <p:nvPr/>
          </p:nvSpPr>
          <p:spPr>
            <a:xfrm>
              <a:off x="7231430" y="3051373"/>
              <a:ext cx="1457470" cy="289438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r">
                <a:lnSpc>
                  <a:spcPct val="113000"/>
                </a:lnSpc>
              </a:pPr>
              <a:r>
                <a:rPr lang="en-US" sz="1200" b="1" dirty="0" err="1">
                  <a:solidFill>
                    <a:srgbClr val="67E77F"/>
                  </a:solidFill>
                </a:rPr>
                <a:t>High speed increase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4E83F57-1D7F-B025-D7A5-EA55FD7B6A9D}"/>
              </a:ext>
            </a:extLst>
          </p:cNvPr>
          <p:cNvGrpSpPr/>
          <p:nvPr/>
        </p:nvGrpSpPr>
        <p:grpSpPr>
          <a:xfrm>
            <a:off x="3175467" y="1817344"/>
            <a:ext cx="5513433" cy="988601"/>
            <a:chOff x="3175467" y="1375080"/>
            <a:chExt cx="5513433" cy="98860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D716B20-B5AF-DC6F-3740-306AD6C65D67}"/>
                </a:ext>
              </a:extLst>
            </p:cNvPr>
            <p:cNvGrpSpPr/>
            <p:nvPr/>
          </p:nvGrpSpPr>
          <p:grpSpPr>
            <a:xfrm>
              <a:off x="3175467" y="1375080"/>
              <a:ext cx="1090012" cy="988601"/>
              <a:chOff x="3175467" y="1375080"/>
              <a:chExt cx="1090012" cy="988601"/>
            </a:xfrm>
          </p:grpSpPr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2B2E99E9-6FC9-F31E-927C-6F26B225088A}"/>
                  </a:ext>
                </a:extLst>
              </p:cNvPr>
              <p:cNvSpPr/>
              <p:nvPr/>
            </p:nvSpPr>
            <p:spPr>
              <a:xfrm>
                <a:off x="3175467" y="1375080"/>
                <a:ext cx="1090011" cy="988601"/>
              </a:xfrm>
              <a:custGeom>
                <a:avLst/>
                <a:gdLst>
                  <a:gd name="connsiteX0" fmla="*/ 1053678 w 1090011"/>
                  <a:gd name="connsiteY0" fmla="*/ 0 h 988601"/>
                  <a:gd name="connsiteX1" fmla="*/ 1090011 w 1090011"/>
                  <a:gd name="connsiteY1" fmla="*/ 0 h 988601"/>
                  <a:gd name="connsiteX2" fmla="*/ 1090011 w 1090011"/>
                  <a:gd name="connsiteY2" fmla="*/ 988602 h 988601"/>
                  <a:gd name="connsiteX3" fmla="*/ 1053678 w 1090011"/>
                  <a:gd name="connsiteY3" fmla="*/ 988602 h 988601"/>
                  <a:gd name="connsiteX4" fmla="*/ 36334 w 1090011"/>
                  <a:gd name="connsiteY4" fmla="*/ 988602 h 988601"/>
                  <a:gd name="connsiteX5" fmla="*/ 0 w 1090011"/>
                  <a:gd name="connsiteY5" fmla="*/ 988602 h 988601"/>
                  <a:gd name="connsiteX6" fmla="*/ 0 w 1090011"/>
                  <a:gd name="connsiteY6" fmla="*/ 0 h 988601"/>
                  <a:gd name="connsiteX7" fmla="*/ 36334 w 1090011"/>
                  <a:gd name="connsiteY7" fmla="*/ 0 h 988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90011" h="988601">
                    <a:moveTo>
                      <a:pt x="1053678" y="0"/>
                    </a:moveTo>
                    <a:cubicBezTo>
                      <a:pt x="1073744" y="0"/>
                      <a:pt x="1090011" y="0"/>
                      <a:pt x="1090011" y="0"/>
                    </a:cubicBezTo>
                    <a:lnTo>
                      <a:pt x="1090011" y="988602"/>
                    </a:lnTo>
                    <a:cubicBezTo>
                      <a:pt x="1090011" y="988602"/>
                      <a:pt x="1073744" y="988602"/>
                      <a:pt x="1053678" y="988602"/>
                    </a:cubicBezTo>
                    <a:lnTo>
                      <a:pt x="36334" y="988602"/>
                    </a:lnTo>
                    <a:cubicBezTo>
                      <a:pt x="16267" y="988602"/>
                      <a:pt x="0" y="988602"/>
                      <a:pt x="0" y="988602"/>
                    </a:cubicBezTo>
                    <a:lnTo>
                      <a:pt x="0" y="0"/>
                    </a:lnTo>
                    <a:cubicBezTo>
                      <a:pt x="0" y="0"/>
                      <a:pt x="16267" y="0"/>
                      <a:pt x="3633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1B66FF"/>
                  </a:gs>
                  <a:gs pos="50000">
                    <a:srgbClr val="183E98"/>
                  </a:gs>
                  <a:gs pos="100000">
                    <a:srgbClr val="151632"/>
                  </a:gs>
                </a:gsLst>
                <a:lin ang="5400000" scaled="1"/>
              </a:gradFill>
              <a:ln w="7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69" name="Graphic 68">
                <a:extLst>
                  <a:ext uri="{FF2B5EF4-FFF2-40B4-BE49-F238E27FC236}">
                    <a16:creationId xmlns:a16="http://schemas.microsoft.com/office/drawing/2014/main" id="{E418F06E-C20B-037A-E6C6-026F0159DA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458380" y="1520447"/>
                <a:ext cx="515100" cy="436659"/>
              </a:xfrm>
              <a:prstGeom prst="rect">
                <a:avLst/>
              </a:prstGeom>
            </p:spPr>
          </p:pic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830E433-EC1A-9E7D-C276-49B7EEF215C7}"/>
                  </a:ext>
                </a:extLst>
              </p:cNvPr>
              <p:cNvSpPr txBox="1"/>
              <p:nvPr/>
            </p:nvSpPr>
            <p:spPr>
              <a:xfrm>
                <a:off x="3175467" y="2067739"/>
                <a:ext cx="1090012" cy="273023"/>
              </a:xfrm>
              <a:prstGeom prst="rect">
                <a:avLst/>
              </a:prstGeom>
              <a:noFill/>
            </p:spPr>
            <p:txBody>
              <a:bodyPr wrap="square" lIns="90000" rtlCol="0" anchor="t">
                <a:spAutoFit/>
              </a:bodyPr>
              <a:lstStyle/>
              <a:p>
                <a:pPr algn="ctr">
                  <a:lnSpc>
                    <a:spcPct val="113000"/>
                  </a:lnSpc>
                </a:pPr>
                <a:r>
                  <a:rPr lang="en-US" sz="1100" b="1" dirty="0" err="1">
                    <a:solidFill>
                      <a:schemeClr val="bg1"/>
                    </a:solidFill>
                  </a:rPr>
                  <a:t>Portfolio size</a:t>
                </a:r>
              </a:p>
            </p:txBody>
          </p:sp>
        </p:grp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659BC7AE-1850-9CF5-C1C7-5F5104F1B756}"/>
                </a:ext>
              </a:extLst>
            </p:cNvPr>
            <p:cNvSpPr/>
            <p:nvPr/>
          </p:nvSpPr>
          <p:spPr>
            <a:xfrm flipH="1">
              <a:off x="4541614" y="1809446"/>
              <a:ext cx="4083908" cy="14538"/>
            </a:xfrm>
            <a:custGeom>
              <a:avLst/>
              <a:gdLst>
                <a:gd name="connsiteX0" fmla="*/ 4076642 w 4083908"/>
                <a:gd name="connsiteY0" fmla="*/ 14538 h 14538"/>
                <a:gd name="connsiteX1" fmla="*/ 4083909 w 4083908"/>
                <a:gd name="connsiteY1" fmla="*/ 7269 h 14538"/>
                <a:gd name="connsiteX2" fmla="*/ 4076642 w 4083908"/>
                <a:gd name="connsiteY2" fmla="*/ 0 h 14538"/>
                <a:gd name="connsiteX3" fmla="*/ 4076642 w 4083908"/>
                <a:gd name="connsiteY3" fmla="*/ 14538 h 14538"/>
                <a:gd name="connsiteX4" fmla="*/ 0 w 4083908"/>
                <a:gd name="connsiteY4" fmla="*/ 14538 h 14538"/>
                <a:gd name="connsiteX5" fmla="*/ 4076642 w 4083908"/>
                <a:gd name="connsiteY5" fmla="*/ 14538 h 14538"/>
                <a:gd name="connsiteX6" fmla="*/ 4076642 w 4083908"/>
                <a:gd name="connsiteY6" fmla="*/ 0 h 14538"/>
                <a:gd name="connsiteX7" fmla="*/ 0 w 4083908"/>
                <a:gd name="connsiteY7" fmla="*/ 0 h 14538"/>
                <a:gd name="connsiteX8" fmla="*/ 0 w 4083908"/>
                <a:gd name="connsiteY8" fmla="*/ 14538 h 14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83908" h="14538">
                  <a:moveTo>
                    <a:pt x="4076642" y="14538"/>
                  </a:moveTo>
                  <a:cubicBezTo>
                    <a:pt x="4080653" y="14538"/>
                    <a:pt x="4083909" y="11282"/>
                    <a:pt x="4083909" y="7269"/>
                  </a:cubicBezTo>
                  <a:cubicBezTo>
                    <a:pt x="4083909" y="3257"/>
                    <a:pt x="4080653" y="0"/>
                    <a:pt x="4076642" y="0"/>
                  </a:cubicBezTo>
                  <a:lnTo>
                    <a:pt x="4076642" y="14538"/>
                  </a:lnTo>
                  <a:close/>
                  <a:moveTo>
                    <a:pt x="0" y="14538"/>
                  </a:moveTo>
                  <a:lnTo>
                    <a:pt x="4076642" y="14538"/>
                  </a:lnTo>
                  <a:lnTo>
                    <a:pt x="4076642" y="0"/>
                  </a:lnTo>
                  <a:lnTo>
                    <a:pt x="0" y="0"/>
                  </a:lnTo>
                  <a:lnTo>
                    <a:pt x="0" y="14538"/>
                  </a:lnTo>
                  <a:close/>
                </a:path>
              </a:pathLst>
            </a:custGeom>
            <a:gradFill>
              <a:gsLst>
                <a:gs pos="0">
                  <a:srgbClr val="DF6838"/>
                </a:gs>
                <a:gs pos="50000">
                  <a:srgbClr val="A3A75B"/>
                </a:gs>
                <a:gs pos="100000">
                  <a:srgbClr val="67E77F"/>
                </a:gs>
              </a:gsLst>
              <a:lin ang="0" scaled="1"/>
            </a:gradFill>
            <a:ln w="72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A1436FEF-2734-3E85-C550-879300A56BB7}"/>
                </a:ext>
              </a:extLst>
            </p:cNvPr>
            <p:cNvSpPr/>
            <p:nvPr/>
          </p:nvSpPr>
          <p:spPr>
            <a:xfrm>
              <a:off x="4399598" y="1595006"/>
              <a:ext cx="378145" cy="301667"/>
            </a:xfrm>
            <a:custGeom>
              <a:avLst/>
              <a:gdLst>
                <a:gd name="connsiteX0" fmla="*/ 184470 w 343768"/>
                <a:gd name="connsiteY0" fmla="*/ 294400 h 301667"/>
                <a:gd name="connsiteX1" fmla="*/ 159298 w 343768"/>
                <a:gd name="connsiteY1" fmla="*/ 294400 h 301667"/>
                <a:gd name="connsiteX2" fmla="*/ 1966 w 343768"/>
                <a:gd name="connsiteY2" fmla="*/ 21807 h 301667"/>
                <a:gd name="connsiteX3" fmla="*/ 14552 w 343768"/>
                <a:gd name="connsiteY3" fmla="*/ 0 h 301667"/>
                <a:gd name="connsiteX4" fmla="*/ 329216 w 343768"/>
                <a:gd name="connsiteY4" fmla="*/ 0 h 301667"/>
                <a:gd name="connsiteX5" fmla="*/ 341802 w 343768"/>
                <a:gd name="connsiteY5" fmla="*/ 21807 h 301667"/>
                <a:gd name="connsiteX6" fmla="*/ 184470 w 343768"/>
                <a:gd name="connsiteY6" fmla="*/ 294400 h 301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3768" h="301667">
                  <a:moveTo>
                    <a:pt x="184470" y="294400"/>
                  </a:moveTo>
                  <a:cubicBezTo>
                    <a:pt x="178875" y="304090"/>
                    <a:pt x="164893" y="304090"/>
                    <a:pt x="159298" y="294400"/>
                  </a:cubicBezTo>
                  <a:lnTo>
                    <a:pt x="1966" y="21807"/>
                  </a:lnTo>
                  <a:cubicBezTo>
                    <a:pt x="-3622" y="12118"/>
                    <a:pt x="3368" y="0"/>
                    <a:pt x="14552" y="0"/>
                  </a:cubicBezTo>
                  <a:lnTo>
                    <a:pt x="329216" y="0"/>
                  </a:lnTo>
                  <a:cubicBezTo>
                    <a:pt x="340400" y="0"/>
                    <a:pt x="347390" y="12118"/>
                    <a:pt x="341802" y="21807"/>
                  </a:cubicBezTo>
                  <a:lnTo>
                    <a:pt x="184470" y="294400"/>
                  </a:lnTo>
                  <a:close/>
                </a:path>
              </a:pathLst>
            </a:custGeom>
            <a:solidFill>
              <a:srgbClr val="0066FF"/>
            </a:solidFill>
            <a:ln w="7263" cap="flat">
              <a:noFill/>
              <a:prstDash val="solid"/>
              <a:miter/>
            </a:ln>
          </p:spPr>
          <p:txBody>
            <a:bodyPr lIns="0" rIns="0" rtlCol="0" anchor="ctr"/>
            <a:lstStyle/>
            <a:p>
              <a:pPr algn="ctr"/>
              <a:r>
                <a:rPr lang="en-US" sz="1000" b="1">
                  <a:solidFill>
                    <a:srgbClr val="0066FF"/>
                  </a:solidFill>
                </a:rPr>
                <a:t>MARKER_MODERNIZATION_VOLUME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B4B64E5A-9179-448E-090A-5864C363F480}"/>
                </a:ext>
              </a:extLst>
            </p:cNvPr>
            <p:cNvSpPr txBox="1"/>
            <p:nvPr/>
          </p:nvSpPr>
          <p:spPr>
            <a:xfrm>
              <a:off x="4481963" y="1818652"/>
              <a:ext cx="591978" cy="322268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400" b="1" dirty="0" err="1">
                  <a:solidFill>
                    <a:srgbClr val="67E77F"/>
                  </a:solidFill>
                </a:rPr>
                <a:t>Small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02B9148E-E5DB-E38E-63D0-559E35AAA3C9}"/>
                </a:ext>
              </a:extLst>
            </p:cNvPr>
            <p:cNvSpPr txBox="1"/>
            <p:nvPr/>
          </p:nvSpPr>
          <p:spPr>
            <a:xfrm>
              <a:off x="8107374" y="1818652"/>
              <a:ext cx="581526" cy="322268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r">
                <a:lnSpc>
                  <a:spcPct val="113000"/>
                </a:lnSpc>
              </a:pPr>
              <a:r>
                <a:rPr lang="en-US" sz="1400" b="1" dirty="0" err="1">
                  <a:solidFill>
                    <a:srgbClr val="E17526"/>
                  </a:solidFill>
                </a:rPr>
                <a:t>Large</a:t>
              </a:r>
            </a:p>
          </p:txBody>
        </p:sp>
      </p:grp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431EC11-E004-CBAD-A155-7723F3CBB0E7}"/>
              </a:ext>
            </a:extLst>
          </p:cNvPr>
          <p:cNvCxnSpPr/>
          <p:nvPr/>
        </p:nvCxnSpPr>
        <p:spPr>
          <a:xfrm>
            <a:off x="4578340" y="5430348"/>
            <a:ext cx="4103685" cy="0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C0E78637-2D76-EC46-D7A6-73BC4FE90B2F}"/>
              </a:ext>
            </a:extLst>
          </p:cNvPr>
          <p:cNvSpPr txBox="1"/>
          <p:nvPr/>
        </p:nvSpPr>
        <p:spPr>
          <a:xfrm>
            <a:off x="4585214" y="5437576"/>
            <a:ext cx="4076641" cy="273023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b="1" dirty="0" err="1">
                <a:solidFill>
                  <a:srgbClr val="8A98A8"/>
                </a:solidFill>
              </a:rPr>
              <a:t>Relative to SIG benchmark</a:t>
            </a:r>
          </a:p>
        </p:txBody>
      </p:sp>
    </p:spTree>
    <p:extLst>
      <p:ext uri="{BB962C8B-B14F-4D97-AF65-F5344CB8AC3E}">
        <p14:creationId xmlns:p14="http://schemas.microsoft.com/office/powerpoint/2010/main" val="2879068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DF466E-D479-3CDB-520B-7A4B78107F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CFD1C6-C494-FC62-82C3-C6328C2ACD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05790" y="169213"/>
            <a:ext cx="9639877" cy="504206"/>
          </a:xfrm>
        </p:spPr>
        <p:txBody>
          <a:bodyPr/>
          <a:lstStyle/>
          <a:p>
            <a:r>
              <a:rPr lang="en-US" dirty="0"/>
              <a:t>Key findings – </a:t>
            </a:r>
            <a:r>
              <a:rPr lang="en-US" dirty="0">
                <a:solidFill>
                  <a:schemeClr val="accent3"/>
                </a:solidFill>
              </a:rPr>
              <a:t>Cost estimation</a:t>
            </a:r>
          </a:p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7CD9AF-ACFE-6D22-FD02-CD29B7EDE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 modernization candidates, prioritized based on estimated technical benefits and effort</a:t>
            </a:r>
          </a:p>
        </p:txBody>
      </p:sp>
      <p:graphicFrame>
        <p:nvGraphicFramePr>
          <p:cNvPr id="6" name="Table 10">
            <a:extLst>
              <a:ext uri="{FF2B5EF4-FFF2-40B4-BE49-F238E27FC236}">
                <a16:creationId xmlns:a16="http://schemas.microsoft.com/office/drawing/2014/main" id="{712C4A9F-525C-FF71-4862-143F8CB59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1822899"/>
              </p:ext>
            </p:extLst>
          </p:nvPr>
        </p:nvGraphicFramePr>
        <p:xfrm>
          <a:off x="937766" y="1466791"/>
          <a:ext cx="10316468" cy="1734192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524291">
                  <a:extLst>
                    <a:ext uri="{9D8B030D-6E8A-4147-A177-3AD203B41FA5}">
                      <a16:colId xmlns:a16="http://schemas.microsoft.com/office/drawing/2014/main" val="1413959097"/>
                    </a:ext>
                  </a:extLst>
                </a:gridCol>
                <a:gridCol w="3002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2475028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496963063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3996317199"/>
                    </a:ext>
                  </a:extLst>
                </a:gridCol>
                <a:gridCol w="1188504">
                  <a:extLst>
                    <a:ext uri="{9D8B030D-6E8A-4147-A177-3AD203B41FA5}">
                      <a16:colId xmlns:a16="http://schemas.microsoft.com/office/drawing/2014/main" val="144622969"/>
                    </a:ext>
                  </a:extLst>
                </a:gridCol>
              </a:tblGrid>
              <a:tr h="367774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0" i="0" noProof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#</a:t>
                      </a:r>
                    </a:p>
                  </a:txBody>
                  <a:tcPr marL="108000" marR="108000" marT="90000" marB="90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1" noProof="0">
                          <a:solidFill>
                            <a:schemeClr val="bg1"/>
                          </a:solidFill>
                          <a:latin typeface="+mn-lt"/>
                        </a:rPr>
                        <a:t>System</a:t>
                      </a:r>
                      <a:endParaRPr lang="nl-NL" sz="1400" b="1" i="0" noProof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90000" marB="90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b="1" noProof="0">
                          <a:solidFill>
                            <a:schemeClr val="bg1"/>
                          </a:solidFill>
                          <a:latin typeface="+mn-lt"/>
                        </a:rPr>
                        <a:t>Business criticality</a:t>
                      </a:r>
                      <a:endParaRPr lang="nl-NL" sz="1400" b="1" i="0" noProof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b="1" i="0" noProof="0" err="1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Volume</a:t>
                      </a:r>
                      <a:endParaRPr lang="nl-NL" sz="1400" b="1" i="0" noProof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b="1" i="0" noProof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Activity</a:t>
                      </a:r>
                      <a:br>
                        <a:rPr lang="nl-NL" sz="1400" b="1" i="0" noProof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</a:br>
                      <a:r>
                        <a:rPr lang="nl-NL" sz="1400" b="1" i="0" noProof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last year</a:t>
                      </a: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b="1" i="0" noProof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Scenario</a:t>
                      </a: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b="1" i="0" noProof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Estimated change speed increase</a:t>
                      </a: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b="1" i="0" noProof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Estimated effort</a:t>
                      </a: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MODERNIZATION_N_1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MODERNIZATION_SYSTEM_1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MODERNIZATION_BUSINESS_1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MODERNIZATION_PY_1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MODERNIZATION_ACTIVITY_1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MODERNIZATION_SCENARIO_1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MODERNIZATION_CHANGE_SPEED_1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MODERNIZATION_EFFORT_1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MODERNIZATION_N_2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MODERNIZATION_SYSTEM_2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MODERNIZATION_BUSINESS_2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MODERNIZATION_PY_2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MODERNIZATION_ACTIVITY_2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MODERNIZATION_SCENARIO_2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MODERNIZATION_CHANGE_SPEED_2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MODERNIZATION_EFFORT_2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MODERNIZATION_N_3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MODERNIZATION_SYSTEM_3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MODERNIZATION_BUSINESS_3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MODERNIZATION_PY_3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MODERNIZATION_ACTIVITY_3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MODERNIZATION_SCENARIO_3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MODERNIZATION_CHANGE_SPEED_3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MODERNIZATION_EFFORT_3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MODERNIZATION_N_4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MODERNIZATION_SYSTEM_4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MODERNIZATION_BUSINESS_4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MODERNIZATION_PY_4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MODERNIZATION_ACTIVITY_4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MODERNIZATION_SCENARIO_4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MODERNIZATION_CHANGE_SPEED_4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MODERNIZATION_EFFORT_4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MODERNIZATION_N_5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MODERNIZATION_SYSTEM_5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MODERNIZATION_BUSINESS_5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MODERNIZATION_PY_5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MODERNIZATION_ACTIVITY_5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MODERNIZATION_SCENARIO_5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MODERNIZATION_CHANGE_SPEED_5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MODERNIZATION_EFFORT_5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MODERNIZATION_N_6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MODERNIZATION_SYSTEM_6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MODERNIZATION_BUSINESS_6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MODERNIZATION_PY_6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MODERNIZATION_ACTIVITY_6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MODERNIZATION_SCENARIO_6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MODERNIZATION_CHANGE_SPEED_6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MODERNIZATION_EFFORT_6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7650327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MODERNIZATION_N_7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MODERNIZATION_SYSTEM_7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MODERNIZATION_BUSINESS_7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MODERNIZATION_PY_7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MODERNIZATION_ACTIVITY_7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MODERNIZATION_SCENARIO_7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MODERNIZATION_CHANGE_SPEED_7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MODERNIZATION_EFFORT_7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8375208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MODERNIZATION_N_8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MODERNIZATION_SYSTEM_8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MODERNIZATION_BUSINESS_8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MODERNIZATION_PY_8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MODERNIZATION_ACTIVITY_8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MODERNIZATION_SCENARIO_8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MODERNIZATION_CHANGE_SPEED_8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MODERNIZATION_EFFORT_8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1610944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MODERNIZATION_N_9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MODERNIZATION_SYSTEM_9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MODERNIZATION_BUSINESS_9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MODERNIZATION_PY_9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MODERNIZATION_ACTIVITY_9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MODERNIZATION_SCENARIO_9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MODERNIZATION_CHANGE_SPEED_9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MODERNIZATION_EFFORT_9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633309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MODERNIZATION_N_10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MODERNIZATION_SYSTEM_10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MODERNIZATION_BUSINESS_10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MODERNIZATION_PY_10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MODERNIZATION_ACTIVITY_10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MODERNIZATION_SCENARIO_10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MODERNIZATION_CHANGE_SPEED_10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MODERNIZATION_EFFORT_10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18195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4707320-1A54-86A3-7DF0-F901F78775F8}"/>
              </a:ext>
            </a:extLst>
          </p:cNvPr>
          <p:cNvSpPr txBox="1"/>
          <p:nvPr/>
        </p:nvSpPr>
        <p:spPr>
          <a:xfrm>
            <a:off x="478224" y="6317714"/>
            <a:ext cx="6481667" cy="322332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400" i="1" dirty="0" err="1">
                <a:solidFill>
                  <a:schemeClr val="tx2"/>
                </a:solidFill>
              </a:rPr>
              <a:t>Modernization analysis was performed on MODERNIZATION_SYSTEM_COUNT systems.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3EED6C-657E-7099-71C4-FD0C6139E50E}"/>
              </a:ext>
            </a:extLst>
          </p:cNvPr>
          <p:cNvSpPr txBox="1"/>
          <p:nvPr/>
        </p:nvSpPr>
        <p:spPr>
          <a:xfrm>
            <a:off x="3958841" y="1138248"/>
            <a:ext cx="1196310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200" b="1" dirty="0" err="1">
                <a:solidFill>
                  <a:schemeClr val="tx2"/>
                </a:solidFill>
              </a:rPr>
              <a:t>CURRENT STATE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F0DB798-FA76-9B14-5FDF-A59E36050CC7}"/>
              </a:ext>
            </a:extLst>
          </p:cNvPr>
          <p:cNvCxnSpPr>
            <a:cxnSpLocks/>
          </p:cNvCxnSpPr>
          <p:nvPr/>
        </p:nvCxnSpPr>
        <p:spPr>
          <a:xfrm>
            <a:off x="4052807" y="1406672"/>
            <a:ext cx="3566700" cy="0"/>
          </a:xfrm>
          <a:prstGeom prst="line">
            <a:avLst/>
          </a:prstGeom>
          <a:ln w="254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09977C-9B37-B465-BD89-5F57AD3E3CB9}"/>
              </a:ext>
            </a:extLst>
          </p:cNvPr>
          <p:cNvCxnSpPr>
            <a:cxnSpLocks/>
          </p:cNvCxnSpPr>
          <p:nvPr/>
        </p:nvCxnSpPr>
        <p:spPr>
          <a:xfrm>
            <a:off x="7710407" y="1406672"/>
            <a:ext cx="4035259" cy="0"/>
          </a:xfrm>
          <a:prstGeom prst="line">
            <a:avLst/>
          </a:prstGeom>
          <a:ln w="25400">
            <a:solidFill>
              <a:schemeClr val="accent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B9F55D8-8B2C-4187-3FF2-F344D659CEDF}"/>
              </a:ext>
            </a:extLst>
          </p:cNvPr>
          <p:cNvSpPr txBox="1"/>
          <p:nvPr/>
        </p:nvSpPr>
        <p:spPr>
          <a:xfrm>
            <a:off x="7619507" y="1138248"/>
            <a:ext cx="1992746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200" b="1" dirty="0" err="1">
                <a:solidFill>
                  <a:schemeClr val="accent3"/>
                </a:solidFill>
              </a:rPr>
              <a:t>MODERNIZATION SCENARIO</a:t>
            </a:r>
          </a:p>
        </p:txBody>
      </p:sp>
    </p:spTree>
    <p:extLst>
      <p:ext uri="{BB962C8B-B14F-4D97-AF65-F5344CB8AC3E}">
        <p14:creationId xmlns:p14="http://schemas.microsoft.com/office/powerpoint/2010/main" val="1460982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78F9F4-ED89-F956-1891-100EADA18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82B7C7-F4EF-4C86-EE64-B11C541DC5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05790" y="169213"/>
            <a:ext cx="9639877" cy="504206"/>
          </a:xfrm>
        </p:spPr>
        <p:txBody>
          <a:bodyPr/>
          <a:lstStyle/>
          <a:p>
            <a:r>
              <a:rPr lang="en-US" dirty="0"/>
              <a:t>Key findings – </a:t>
            </a:r>
            <a:r>
              <a:rPr lang="en-US" dirty="0">
                <a:solidFill>
                  <a:schemeClr val="accent3"/>
                </a:solidFill>
              </a:rPr>
              <a:t>Cost estimation</a:t>
            </a:r>
          </a:p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E56A6D8-09CB-7545-730D-D92AAEE73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Systems with the most technical debt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8FAD63-FD9D-D60C-90D1-A55EE503E9B1}"/>
              </a:ext>
            </a:extLst>
          </p:cNvPr>
          <p:cNvSpPr txBox="1"/>
          <p:nvPr/>
        </p:nvSpPr>
        <p:spPr>
          <a:xfrm>
            <a:off x="478224" y="6317714"/>
            <a:ext cx="6481667" cy="322332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400" i="1" dirty="0" err="1">
                <a:solidFill>
                  <a:schemeClr val="tx2"/>
                </a:solidFill>
              </a:rPr>
              <a:t>Modernization analysis was performed on MODERNIZATION_SYSTEM_COUNT systems.</a:t>
            </a:r>
          </a:p>
        </p:txBody>
      </p:sp>
      <p:graphicFrame>
        <p:nvGraphicFramePr>
          <p:cNvPr id="8" name="TECHNICAL_DEBT_SYSTEMS_CHART">
            <a:extLst>
              <a:ext uri="{FF2B5EF4-FFF2-40B4-BE49-F238E27FC236}">
                <a16:creationId xmlns:a16="http://schemas.microsoft.com/office/drawing/2014/main" id="{220D7F51-72F0-DC6F-B733-E9F269FA92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3346089"/>
              </p:ext>
            </p:extLst>
          </p:nvPr>
        </p:nvGraphicFramePr>
        <p:xfrm>
          <a:off x="478224" y="1483096"/>
          <a:ext cx="11267443" cy="41983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07BA8D1-8150-E6E3-849C-0B4B4196A999}"/>
              </a:ext>
            </a:extLst>
          </p:cNvPr>
          <p:cNvSpPr txBox="1"/>
          <p:nvPr/>
        </p:nvSpPr>
        <p:spPr>
          <a:xfrm>
            <a:off x="9880522" y="1193593"/>
            <a:ext cx="1984474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200" dirty="0" err="1">
                <a:solidFill>
                  <a:schemeClr val="tx2"/>
                </a:solidFill>
              </a:rPr>
              <a:t>Code volume in person years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EA5188-42F3-957B-3D03-356F5A986459}"/>
              </a:ext>
            </a:extLst>
          </p:cNvPr>
          <p:cNvSpPr txBox="1"/>
          <p:nvPr/>
        </p:nvSpPr>
        <p:spPr>
          <a:xfrm>
            <a:off x="7807069" y="5618547"/>
            <a:ext cx="3768681" cy="320922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400" dirty="0" err="1">
                <a:solidFill>
                  <a:srgbClr val="E17526"/>
                </a:solidFill>
              </a:rPr>
              <a:t>⬤</a:t>
            </a:r>
            <a:r>
              <a:rPr lang="en-US" sz="1400" dirty="0" err="1">
                <a:solidFill>
                  <a:schemeClr val="tx2"/>
                </a:solidFill>
              </a:rPr>
              <a:t>  Technical debt        </a:t>
            </a:r>
            <a:r>
              <a:rPr lang="en-US" sz="1400" dirty="0" err="1">
                <a:solidFill>
                  <a:srgbClr val="C0CEDA"/>
                </a:solidFill>
              </a:rPr>
              <a:t>⬤</a:t>
            </a:r>
            <a:r>
              <a:rPr lang="en-US" sz="1400" dirty="0" err="1">
                <a:solidFill>
                  <a:schemeClr val="tx2"/>
                </a:solidFill>
              </a:rPr>
              <a:t>  Remaining code volume</a:t>
            </a:r>
          </a:p>
        </p:txBody>
      </p:sp>
    </p:spTree>
    <p:extLst>
      <p:ext uri="{BB962C8B-B14F-4D97-AF65-F5344CB8AC3E}">
        <p14:creationId xmlns:p14="http://schemas.microsoft.com/office/powerpoint/2010/main" val="610074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DF886-A81C-4A0E-6FCD-3BE49FCA3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F41744-6095-9476-FF65-F52E3A93C6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BF57BF-8092-E114-5769-D4C82E742F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05790" y="169213"/>
            <a:ext cx="9639877" cy="504206"/>
          </a:xfrm>
        </p:spPr>
        <p:txBody>
          <a:bodyPr/>
          <a:lstStyle/>
          <a:p>
            <a:r>
              <a:rPr lang="en-US" dirty="0"/>
              <a:t>Key findings – </a:t>
            </a:r>
            <a:r>
              <a:rPr lang="en-US" dirty="0">
                <a:solidFill>
                  <a:schemeClr val="accent3"/>
                </a:solidFill>
              </a:rPr>
              <a:t>Cost estimation</a:t>
            </a:r>
          </a:p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600AE25-DFA8-CE88-5B65-AEFB78172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 modernization candidates: Estimated technical benefits versus effort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AE3CDC-A5AE-B588-AF02-77F4F7158C1C}"/>
              </a:ext>
            </a:extLst>
          </p:cNvPr>
          <p:cNvSpPr txBox="1"/>
          <p:nvPr/>
        </p:nvSpPr>
        <p:spPr>
          <a:xfrm>
            <a:off x="478224" y="6317714"/>
            <a:ext cx="6481667" cy="322332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400" i="1" dirty="0" err="1">
                <a:solidFill>
                  <a:schemeClr val="tx2"/>
                </a:solidFill>
              </a:rPr>
              <a:t>Modernization analysis was performed on MODERNIZATION_SYSTEM_COUNT systems.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DD329B-7B5E-5594-AA10-E59357E3F4A1}"/>
              </a:ext>
            </a:extLst>
          </p:cNvPr>
          <p:cNvSpPr txBox="1"/>
          <p:nvPr/>
        </p:nvSpPr>
        <p:spPr>
          <a:xfrm>
            <a:off x="1915875" y="1454041"/>
            <a:ext cx="1289605" cy="498150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200" dirty="0" err="1">
                <a:solidFill>
                  <a:schemeClr val="tx2"/>
                </a:solidFill>
              </a:rPr>
              <a:t>Estimated change</a:t>
            </a:r>
            <a:br>
              <a:rPr lang="en-US" sz="1200" dirty="0" err="1">
                <a:solidFill>
                  <a:schemeClr val="tx2"/>
                </a:solidFill>
              </a:rPr>
            </a:br>
            <a:r>
              <a:rPr lang="en-US" sz="1200" dirty="0" err="1">
                <a:solidFill>
                  <a:schemeClr val="tx2"/>
                </a:solidFill>
              </a:rPr>
              <a:t>speed increase 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8D4FAD-46DE-E90D-A6F1-58C401FBAA15}"/>
              </a:ext>
            </a:extLst>
          </p:cNvPr>
          <p:cNvSpPr txBox="1"/>
          <p:nvPr/>
        </p:nvSpPr>
        <p:spPr>
          <a:xfrm>
            <a:off x="8986520" y="5830039"/>
            <a:ext cx="2172218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200" dirty="0" err="1">
                <a:solidFill>
                  <a:schemeClr val="tx2"/>
                </a:solidFill>
              </a:rPr>
              <a:t>Estimated effort in person years</a:t>
            </a:r>
          </a:p>
        </p:txBody>
      </p:sp>
      <p:graphicFrame>
        <p:nvGraphicFramePr>
          <p:cNvPr id="10" name="MODERNIZATION_SCATTER_PLOT_CHART">
            <a:extLst>
              <a:ext uri="{FF2B5EF4-FFF2-40B4-BE49-F238E27FC236}">
                <a16:creationId xmlns:a16="http://schemas.microsoft.com/office/drawing/2014/main" id="{FA04012A-8076-57D9-16E6-FD4DB5AABD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1213908"/>
              </p:ext>
            </p:extLst>
          </p:nvPr>
        </p:nvGraphicFramePr>
        <p:xfrm>
          <a:off x="3205480" y="1258969"/>
          <a:ext cx="5781040" cy="48849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AC59350-5BAE-C14A-E256-A8547FC717B5}"/>
              </a:ext>
            </a:extLst>
          </p:cNvPr>
          <p:cNvSpPr txBox="1"/>
          <p:nvPr/>
        </p:nvSpPr>
        <p:spPr>
          <a:xfrm>
            <a:off x="8989693" y="2764630"/>
            <a:ext cx="1559166" cy="1538242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400" b="1" dirty="0" err="1">
                <a:solidFill>
                  <a:schemeClr val="tx2"/>
                </a:solidFill>
              </a:rPr>
              <a:t>Business criticality</a:t>
            </a:r>
          </a:p>
          <a:p>
            <a:pPr>
              <a:lnSpc>
                <a:spcPct val="113000"/>
              </a:lnSpc>
            </a:pPr>
            <a:r>
              <a:rPr lang="en-US" sz="1400" dirty="0" err="1">
                <a:solidFill>
                  <a:srgbClr val="003DAB"/>
                </a:solidFill>
              </a:rPr>
              <a:t>⬤</a:t>
            </a:r>
            <a:r>
              <a:rPr lang="en-US" sz="1400" dirty="0" err="1">
                <a:solidFill>
                  <a:schemeClr val="tx2"/>
                </a:solidFill>
              </a:rPr>
              <a:t>  Critical</a:t>
            </a:r>
          </a:p>
          <a:p>
            <a:pPr>
              <a:lnSpc>
                <a:spcPct val="113000"/>
              </a:lnSpc>
            </a:pPr>
            <a:r>
              <a:rPr lang="en-US" sz="1400" dirty="0" err="1">
                <a:solidFill>
                  <a:srgbClr val="2E6BFF"/>
                </a:solidFill>
              </a:rPr>
              <a:t>⬤</a:t>
            </a:r>
            <a:r>
              <a:rPr lang="en-US" sz="1400" dirty="0" err="1">
                <a:solidFill>
                  <a:srgbClr val="E17526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 High</a:t>
            </a:r>
          </a:p>
          <a:p>
            <a:pPr>
              <a:lnSpc>
                <a:spcPct val="113000"/>
              </a:lnSpc>
            </a:pPr>
            <a:r>
              <a:rPr lang="en-US" sz="1400" dirty="0" err="1">
                <a:solidFill>
                  <a:srgbClr val="8DA8FF"/>
                </a:solidFill>
              </a:rPr>
              <a:t>⬤</a:t>
            </a:r>
            <a:r>
              <a:rPr lang="en-US" sz="1400" dirty="0" err="1">
                <a:solidFill>
                  <a:srgbClr val="E17526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 Medium</a:t>
            </a:r>
          </a:p>
          <a:p>
            <a:pPr>
              <a:lnSpc>
                <a:spcPct val="113000"/>
              </a:lnSpc>
            </a:pPr>
            <a:r>
              <a:rPr lang="en-US" sz="1400" dirty="0" err="1">
                <a:solidFill>
                  <a:srgbClr val="DBE1FF"/>
                </a:solidFill>
              </a:rPr>
              <a:t>⬤</a:t>
            </a:r>
            <a:r>
              <a:rPr lang="en-US" sz="1400" dirty="0" err="1">
                <a:solidFill>
                  <a:srgbClr val="E17526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 Low</a:t>
            </a:r>
          </a:p>
          <a:p>
            <a:pPr>
              <a:lnSpc>
                <a:spcPct val="113000"/>
              </a:lnSpc>
            </a:pPr>
            <a:r>
              <a:rPr lang="en-US" sz="1400" dirty="0" err="1">
                <a:solidFill>
                  <a:srgbClr val="8A98A8"/>
                </a:solidFill>
              </a:rPr>
              <a:t>⬤</a:t>
            </a:r>
            <a:r>
              <a:rPr lang="en-US" sz="1400" dirty="0" err="1">
                <a:solidFill>
                  <a:srgbClr val="E17526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 Unknown</a:t>
            </a:r>
          </a:p>
        </p:txBody>
      </p:sp>
    </p:spTree>
    <p:extLst>
      <p:ext uri="{BB962C8B-B14F-4D97-AF65-F5344CB8AC3E}">
        <p14:creationId xmlns:p14="http://schemas.microsoft.com/office/powerpoint/2010/main" val="2061729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2309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IG 2020">
      <a:dk1>
        <a:srgbClr val="657484"/>
      </a:dk1>
      <a:lt1>
        <a:srgbClr val="FFFFFF"/>
      </a:lt1>
      <a:dk2>
        <a:srgbClr val="1F354B"/>
      </a:dk2>
      <a:lt2>
        <a:srgbClr val="EFF3F8"/>
      </a:lt2>
      <a:accent1>
        <a:srgbClr val="1F354B"/>
      </a:accent1>
      <a:accent2>
        <a:srgbClr val="DFC101"/>
      </a:accent2>
      <a:accent3>
        <a:srgbClr val="04ABC8"/>
      </a:accent3>
      <a:accent4>
        <a:srgbClr val="8269A4"/>
      </a:accent4>
      <a:accent5>
        <a:srgbClr val="C5CD58"/>
      </a:accent5>
      <a:accent6>
        <a:srgbClr val="D45200"/>
      </a:accent6>
      <a:hlink>
        <a:srgbClr val="08ACC8"/>
      </a:hlink>
      <a:folHlink>
        <a:srgbClr val="00ADC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B3BECD"/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87A88162-E9FA-E744-BFFA-BC08FDA9AD0B}" vid="{A5F00ED1-E9E7-C44B-A961-D0FA0EAA5A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8B4EB28540854BB4092730D7F67224" ma:contentTypeVersion="13" ma:contentTypeDescription="Create a new document." ma:contentTypeScope="" ma:versionID="07d6997c7358ecc3b6f0d78039f1ac55">
  <xsd:schema xmlns:xsd="http://www.w3.org/2001/XMLSchema" xmlns:xs="http://www.w3.org/2001/XMLSchema" xmlns:p="http://schemas.microsoft.com/office/2006/metadata/properties" xmlns:ns2="fa937df2-abe2-4d38-b5f4-c228acba3827" xmlns:ns3="bc8ba18a-4a58-4ad2-bfc0-6516af8e7dc2" targetNamespace="http://schemas.microsoft.com/office/2006/metadata/properties" ma:root="true" ma:fieldsID="a7d20d2c9a349b6838acf4b79389f2fd" ns2:_="" ns3:_="">
    <xsd:import namespace="fa937df2-abe2-4d38-b5f4-c228acba3827"/>
    <xsd:import namespace="bc8ba18a-4a58-4ad2-bfc0-6516af8e7d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937df2-abe2-4d38-b5f4-c228acba38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0897a51-27a2-4a5e-b602-66a4649d25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8ba18a-4a58-4ad2-bfc0-6516af8e7dc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119a7a8-86cc-43f5-a248-74259e6177ea}" ma:internalName="TaxCatchAll" ma:showField="CatchAllData" ma:web="bc8ba18a-4a58-4ad2-bfc0-6516af8e7d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937df2-abe2-4d38-b5f4-c228acba3827">
      <Terms xmlns="http://schemas.microsoft.com/office/infopath/2007/PartnerControls"/>
    </lcf76f155ced4ddcb4097134ff3c332f>
    <TaxCatchAll xmlns="bc8ba18a-4a58-4ad2-bfc0-6516af8e7dc2" xsi:nil="true"/>
  </documentManagement>
</p:properties>
</file>

<file path=customXml/itemProps1.xml><?xml version="1.0" encoding="utf-8"?>
<ds:datastoreItem xmlns:ds="http://schemas.openxmlformats.org/officeDocument/2006/customXml" ds:itemID="{06E6923A-C221-4753-B75B-BA213EEB7564}">
  <ds:schemaRefs>
    <ds:schemaRef ds:uri="bc8ba18a-4a58-4ad2-bfc0-6516af8e7dc2"/>
    <ds:schemaRef ds:uri="fa937df2-abe2-4d38-b5f4-c228acba382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70928F0-D7CA-4732-B7F3-1F945720D0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B629362-CF15-4610-8FAC-A8E699942233}">
  <ds:schemaRefs>
    <ds:schemaRef ds:uri="http://schemas.microsoft.com/office/2006/documentManagement/types"/>
    <ds:schemaRef ds:uri="http://purl.org/dc/elements/1.1/"/>
    <ds:schemaRef ds:uri="bc8ba18a-4a58-4ad2-bfc0-6516af8e7dc2"/>
    <ds:schemaRef ds:uri="http://purl.org/dc/terms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fa937df2-abe2-4d38-b5f4-c228acba3827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31146</TotalTime>
  <Words>817</Words>
  <Application>Microsoft Macintosh PowerPoint</Application>
  <PresentationFormat>Widescreen</PresentationFormat>
  <Paragraphs>169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Calibri Bold</vt:lpstr>
      <vt:lpstr>Calibri Light</vt:lpstr>
      <vt:lpstr>Calibri Regular</vt:lpstr>
      <vt:lpstr>TheSansMono M5</vt:lpstr>
      <vt:lpstr>Wingdings</vt:lpstr>
      <vt:lpstr>Office Theme</vt:lpstr>
      <vt:lpstr>PowerPoint Presentation</vt:lpstr>
      <vt:lpstr>A 3-phase approach to support modernization; focus for this report is Phase 2</vt:lpstr>
      <vt:lpstr>The Cost Estimation model combines Sigrid analysis results with SIG benchmarks</vt:lpstr>
      <vt:lpstr>Modernization plan: Management summary </vt:lpstr>
      <vt:lpstr>Top modernization candidates, prioritized based on estimated technical benefits and effort</vt:lpstr>
      <vt:lpstr>Systems with the most technical debt</vt:lpstr>
      <vt:lpstr>Top modernization candidates: Estimated technical benefits versus effort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O'Brien</dc:creator>
  <cp:lastModifiedBy>Floris van Leeuwen</cp:lastModifiedBy>
  <cp:revision>259</cp:revision>
  <cp:lastPrinted>2020-07-02T15:41:27Z</cp:lastPrinted>
  <dcterms:created xsi:type="dcterms:W3CDTF">2024-01-03T15:04:34Z</dcterms:created>
  <dcterms:modified xsi:type="dcterms:W3CDTF">2026-03-12T15:45:10Z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0x010100398B4EB28540854BB4092730D7F67224</vt:lpwstr>
  </property>
  <property fmtid="{D5CDD505-2E9C-101B-9397-08002B2CF9AE}" pid="3" name="MediaServiceImageTags">
    <vt:lpwstr/>
  </property>
</Properties>
</file>