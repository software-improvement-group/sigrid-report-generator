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4" r:id="rId5"/>
  </p:sldMasterIdLst>
  <p:notesMasterIdLst>
    <p:notesMasterId r:id="rId24"/>
  </p:notesMasterIdLst>
  <p:handoutMasterIdLst>
    <p:handoutMasterId r:id="rId25"/>
  </p:handoutMasterIdLst>
  <p:sldIdLst>
    <p:sldId id="1973" r:id="rId6"/>
    <p:sldId id="11378" r:id="rId7"/>
    <p:sldId id="11371" r:id="rId8"/>
    <p:sldId id="1824" r:id="rId9"/>
    <p:sldId id="11403" r:id="rId10"/>
    <p:sldId id="11404" r:id="rId11"/>
    <p:sldId id="11387" r:id="rId12"/>
    <p:sldId id="11379" r:id="rId13"/>
    <p:sldId id="11374" r:id="rId14"/>
    <p:sldId id="11380" r:id="rId15"/>
    <p:sldId id="11376" r:id="rId16"/>
    <p:sldId id="11381" r:id="rId17"/>
    <p:sldId id="11377" r:id="rId18"/>
    <p:sldId id="11383" r:id="rId19"/>
    <p:sldId id="11382" r:id="rId20"/>
    <p:sldId id="11384" r:id="rId21"/>
    <p:sldId id="11385" r:id="rId22"/>
    <p:sldId id="1138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54E7"/>
    <a:srgbClr val="E15735"/>
    <a:srgbClr val="E98C36"/>
    <a:srgbClr val="BFC855"/>
    <a:srgbClr val="BDC855"/>
    <a:srgbClr val="F8C716"/>
    <a:srgbClr val="F9C816"/>
    <a:srgbClr val="083595"/>
    <a:srgbClr val="093AA0"/>
    <a:srgbClr val="0836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77"/>
    <p:restoredTop sz="96763"/>
  </p:normalViewPr>
  <p:slideViewPr>
    <p:cSldViewPr snapToGrid="0" snapToObjects="1" showGuides="1">
      <p:cViewPr varScale="1">
        <p:scale>
          <a:sx n="118" d="100"/>
          <a:sy n="118" d="100"/>
        </p:scale>
        <p:origin x="232" y="4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F40D714F-D901-B846-A923-D3175C30ABD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CBC9E87-F35A-FD49-B1D8-399F6AEF5CE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E2E4-0547-BD87-A6B50BFB06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ACEC4BE-688D-AB48-8611-48EB25BAFCF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E2E4-0547-BD87-A6B50BFB06ED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E2E4-0547-BD87-A6B50BFB06E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E2E4-0547-BD87-A6B50BFB06E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E2E4-0547-BD87-A6B50BFB06E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E2E4-0547-BD87-A6B50BFB06E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E2E4-0547-BD87-A6B50BFB06E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E2E4-0547-BD87-A6B50BFB06ED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35</c:v>
                </c:pt>
                <c:pt idx="1">
                  <c:v>12</c:v>
                </c:pt>
                <c:pt idx="2">
                  <c:v>15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2.5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  <c:pt idx="0">
                    <c:v>System 1</c:v>
                  </c:pt>
                  <c:pt idx="1">
                    <c:v>System 2</c:v>
                  </c:pt>
                  <c:pt idx="2">
                    <c:v>System 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35</c:v>
                </c:pt>
                <c:pt idx="1">
                  <c:v>12</c:v>
                </c:pt>
                <c:pt idx="2">
                  <c:v>15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System 1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33E4-2C4E-BF34-F4F568F22E8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System 2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33E4-2C4E-BF34-F4F568F22E8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System 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33E4-2C4E-BF34-F4F568F22E8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PostgreSQL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33E4-2C4E-BF34-F4F568F22E8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Postman-runtime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33E4-2C4E-BF34-F4F568F22E8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Puppet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5-33E4-2C4E-BF34-F4F568F22E8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Roslyn analyzers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6-33E4-2C4E-BF34-F4F568F22E8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Mainframe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7-33E4-2C4E-BF34-F4F568F22E8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Swift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8-33E4-2C4E-BF34-F4F568F22E8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Spring-boot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33E4-2C4E-BF34-F4F568F22E8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HR App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3E4-2C4E-BF34-F4F568F22E8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/>
                      <a:t>Platform cloud 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3E4-2C4E-BF34-F4F568F22E8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3E4-2C4E-BF34-F4F568F22E8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3E4-2C4E-BF34-F4F568F22E8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33E4-2C4E-BF34-F4F568F22E8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Oracle GraalVM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33E4-2C4E-BF34-F4F568F22E8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33E4-2C4E-BF34-F4F568F22E8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33E4-2C4E-BF34-F4F568F22E8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33E4-2C4E-BF34-F4F568F22E8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33E4-2C4E-BF34-F4F568F22E8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33E4-2C4E-BF34-F4F568F22E8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33E4-2C4E-BF34-F4F568F22E8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Google 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33E4-2C4E-BF34-F4F568F22E8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33E4-2C4E-BF34-F4F568F22E8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33E4-2C4E-BF34-F4F568F22E8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33E4-2C4E-BF34-F4F568F22E8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33E4-2C4E-BF34-F4F568F22E8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33E4-2C4E-BF34-F4F568F22E8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33E4-2C4E-BF34-F4F568F22E8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33E4-2C4E-BF34-F4F568F22E8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33E4-2C4E-BF34-F4F568F22E8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33E4-2C4E-BF34-F4F568F22E8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33E4-2C4E-BF34-F4F568F22E8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33E4-2C4E-BF34-F4F568F22E8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33E4-2C4E-BF34-F4F568F22E8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Microsoft 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33E4-2C4E-BF34-F4F568F22E8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33E4-2C4E-BF34-F4F568F22E8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33E4-2C4E-BF34-F4F568F22E8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33E4-2C4E-BF34-F4F568F22E8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33E4-2C4E-BF34-F4F568F22E8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33E4-2C4E-BF34-F4F568F22E8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33E4-2C4E-BF34-F4F568F22E8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Webmethods Integration Examples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33E4-2C4E-BF34-F4F568F22E8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33E4-2C4E-BF34-F4F568F22E8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33E4-2C4E-BF34-F4F568F22E8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33E4-2C4E-BF34-F4F568F22E8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33E4-2C4E-BF34-F4F568F22E8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33E4-2C4E-BF34-F4F568F22E8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33E4-2C4E-BF34-F4F568F22E8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Twitter Algorithm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33E4-2C4E-BF34-F4F568F22E82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r>
                      <a:rPr lang="en-US"/>
                      <a:t>Artemis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33E4-2C4E-BF34-F4F568F22E82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r>
                      <a:rPr lang="en-US"/>
                      <a:t>Google Maps web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33E4-2C4E-BF34-F4F568F22E82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r>
                      <a:rPr lang="en-US"/>
                      <a:t>Discovery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33E4-2C4E-BF34-F4F568F22E82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r>
                      <a:rPr lang="en-US"/>
                      <a:t>Outsystems-ui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33E4-2C4E-BF34-F4F568F22E82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r>
                      <a:rPr lang="en-US"/>
                      <a:t>Credit request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33E4-2C4E-BF34-F4F568F22E82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r>
                      <a:rPr lang="en-US"/>
                      <a:t>Outsystems-demo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7-33E4-2C4E-BF34-F4F568F22E82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r>
                      <a:rPr lang="en-US"/>
                      <a:t>Grails_nV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33E4-2C4E-BF34-F4F568F22E82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r>
                      <a:rPr lang="en-US"/>
                      <a:t>PLC Automated Warehouse System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33E4-2C4E-BF34-F4F568F22E82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r>
                      <a:rPr lang="en-US"/>
                      <a:t>6DOF positioning tool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33E4-2C4E-BF34-F4F568F22E82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r>
                      <a:rPr lang="en-US"/>
                      <a:t>CANopen SDO Server Protocol Processor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33E4-2C4E-BF34-F4F568F22E82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r>
                      <a:rPr lang="en-US"/>
                      <a:t>abapGit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33E4-2C4E-BF34-F4F568F22E82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r>
                      <a:rPr lang="en-US"/>
                      <a:t>Google 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33E4-2C4E-BF34-F4F568F22E82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r>
                      <a:rPr lang="en-US"/>
                      <a:t>CSPacman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33E4-2C4E-BF34-F4F568F22E82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r>
                      <a:rPr lang="en-US"/>
                      <a:t>JIT Request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33E4-2C4E-BF34-F4F568F22E82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r>
                      <a:rPr lang="en-US"/>
                      <a:t>Building Access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33E4-2C4E-BF34-F4F568F22E82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r>
                      <a:rPr lang="en-US"/>
                      <a:t>Meeting Notes V2 -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33E4-2C4E-BF34-F4F568F22E82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r>
                      <a:rPr lang="en-US"/>
                      <a:t>Collections cookbook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33E4-2C4E-BF34-F4F568F22E82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r>
                      <a:rPr lang="en-US"/>
                      <a:t>Emergency Response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33E4-2C4E-BF34-F4F568F22E82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r>
                      <a:rPr lang="en-US"/>
                      <a:t>Return to workplace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33E4-2C4E-BF34-F4F568F22E82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r>
                      <a:rPr lang="en-US"/>
                      <a:t>Crisis Communication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33E4-2C4E-BF34-F4F568F22E82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r>
                      <a:rPr lang="en-US"/>
                      <a:t>Power Apps Formula Reference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33E4-2C4E-BF34-F4F568F22E82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r>
                      <a:rPr lang="en-US"/>
                      <a:t>AL-Demos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33E4-2C4E-BF34-F4F568F22E82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r>
                      <a:rPr lang="en-US"/>
                      <a:t>Libcluster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33E4-2C4E-BF34-F4F568F22E82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r>
                      <a:rPr lang="en-US"/>
                      <a:t>Example of SBOM import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33E4-2C4E-BF34-F4F568F22E82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r>
                      <a:rPr lang="en-US"/>
                      <a:t>Solana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A-33E4-2C4E-BF34-F4F568F22E82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r>
                      <a:rPr lang="en-US"/>
                      <a:t>Chatgpt-desktop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33E4-2C4E-BF34-F4F568F22E82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r>
                      <a:rPr lang="en-US"/>
                      <a:t>Golang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C-33E4-2C4E-BF34-F4F568F22E82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r>
                      <a:rPr lang="en-US"/>
                      <a:t>IAM Proxy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D-33E4-2C4E-BF34-F4F568F22E82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r>
                      <a:rPr lang="en-US"/>
                      <a:t>Struts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E-33E4-2C4E-BF34-F4F568F22E82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r>
                      <a:rPr lang="en-US"/>
                      <a:t>Mediawiki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F-33E4-2C4E-BF34-F4F568F22E82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r>
                      <a:rPr lang="en-US"/>
                      <a:t>Clickhouse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0-33E4-2C4E-BF34-F4F568F22E82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r>
                      <a:rPr lang="en-US"/>
                      <a:t>Vscode-python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1-33E4-2C4E-BF34-F4F568F22E82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r>
                      <a:rPr lang="en-US"/>
                      <a:t>Curl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2-33E4-2C4E-BF34-F4F568F22E82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r>
                      <a:rPr lang="en-US"/>
                      <a:t>Blender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3-33E4-2C4E-BF34-F4F568F22E82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r>
                      <a:rPr lang="en-US"/>
                      <a:t>Brave-core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4-33E4-2C4E-BF34-F4F568F22E82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r>
                      <a:rPr lang="en-US"/>
                      <a:t>Umbraco-cms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5-33E4-2C4E-BF34-F4F568F22E82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r>
                      <a:rPr lang="en-US"/>
                      <a:t>insecure-progress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6-33E4-2C4E-BF34-F4F568F22E82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r>
                      <a:rPr lang="en-US"/>
                      <a:t>ai-usage-demo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7-33E4-2C4E-BF34-F4F568F22E82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r>
                      <a:rPr lang="en-US"/>
                      <a:t>vulnado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8-33E4-2C4E-BF34-F4F568F22E82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r>
                      <a:rPr lang="en-US"/>
                      <a:t>webgoatdotnet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9-33E4-2C4E-BF34-F4F568F22E82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r>
                      <a:rPr lang="en-US"/>
                      <a:t>webgoat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A-33E4-2C4E-BF34-F4F568F22E82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r>
                      <a:rPr lang="en-US"/>
                      <a:t>insecure-salesforce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33E4-2C4E-BF34-F4F568F22E82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Sheet1!$A$2:$A$93</c:f>
              <c:numCache>
                <c:formatCode>General</c:formatCode>
                <c:ptCount val="92"/>
                <c:pt idx="0">
                  <c:v>28.693159713391491</c:v>
                </c:pt>
                <c:pt idx="1">
                  <c:v>40</c:v>
                </c:pt>
                <c:pt idx="2">
                  <c:v>61.081362280100286</c:v>
                </c:pt>
              </c:numCache>
            </c:numRef>
          </c:xVal>
          <c:yVal>
            <c:numRef>
              <c:f>Sheet1!$B$2:$B$93</c:f>
              <c:numCache>
                <c:formatCode>General</c:formatCode>
                <c:ptCount val="92"/>
                <c:pt idx="0">
                  <c:v>2.5845052581441581</c:v>
                </c:pt>
                <c:pt idx="1">
                  <c:v>3.048315504593619</c:v>
                </c:pt>
                <c:pt idx="2">
                  <c:v>2.2450609633654048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</c15:dlblRangeCache>
              </c15:datalabelsRange>
            </c:ext>
            <c:ext xmlns:c16="http://schemas.microsoft.com/office/drawing/2014/chart" uri="{C3380CC4-5D6E-409C-BE32-E72D297353CC}">
              <c16:uniqueId val="{0000005C-33E4-2C4E-BF34-F4F568F22E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orientation val="minMax"/>
          <c:max val="1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System 1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33E4-2C4E-BF34-F4F568F22E8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System 2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33E4-2C4E-BF34-F4F568F22E8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System 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33E4-2C4E-BF34-F4F568F22E8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PostgreSQL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33E4-2C4E-BF34-F4F568F22E8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Postman-runtime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33E4-2C4E-BF34-F4F568F22E8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Puppet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5-33E4-2C4E-BF34-F4F568F22E8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Roslyn analyzers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6-33E4-2C4E-BF34-F4F568F22E8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Mainframe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7-33E4-2C4E-BF34-F4F568F22E8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Swift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8-33E4-2C4E-BF34-F4F568F22E8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Spring-boot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33E4-2C4E-BF34-F4F568F22E8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HR App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3E4-2C4E-BF34-F4F568F22E8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/>
                      <a:t>Platform cloud 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3E4-2C4E-BF34-F4F568F22E8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3E4-2C4E-BF34-F4F568F22E8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3E4-2C4E-BF34-F4F568F22E8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33E4-2C4E-BF34-F4F568F22E8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Oracle GraalVM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33E4-2C4E-BF34-F4F568F22E8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33E4-2C4E-BF34-F4F568F22E8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33E4-2C4E-BF34-F4F568F22E8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33E4-2C4E-BF34-F4F568F22E8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33E4-2C4E-BF34-F4F568F22E8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33E4-2C4E-BF34-F4F568F22E8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33E4-2C4E-BF34-F4F568F22E8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Google 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33E4-2C4E-BF34-F4F568F22E8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33E4-2C4E-BF34-F4F568F22E8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33E4-2C4E-BF34-F4F568F22E8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33E4-2C4E-BF34-F4F568F22E8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33E4-2C4E-BF34-F4F568F22E8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33E4-2C4E-BF34-F4F568F22E8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33E4-2C4E-BF34-F4F568F22E8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33E4-2C4E-BF34-F4F568F22E8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33E4-2C4E-BF34-F4F568F22E8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33E4-2C4E-BF34-F4F568F22E8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33E4-2C4E-BF34-F4F568F22E8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33E4-2C4E-BF34-F4F568F22E8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33E4-2C4E-BF34-F4F568F22E8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Microsoft 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33E4-2C4E-BF34-F4F568F22E8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33E4-2C4E-BF34-F4F568F22E8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33E4-2C4E-BF34-F4F568F22E8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33E4-2C4E-BF34-F4F568F22E8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33E4-2C4E-BF34-F4F568F22E8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33E4-2C4E-BF34-F4F568F22E8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33E4-2C4E-BF34-F4F568F22E8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Webmethods Integration Examples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33E4-2C4E-BF34-F4F568F22E8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33E4-2C4E-BF34-F4F568F22E8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33E4-2C4E-BF34-F4F568F22E8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33E4-2C4E-BF34-F4F568F22E8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33E4-2C4E-BF34-F4F568F22E8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33E4-2C4E-BF34-F4F568F22E8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33E4-2C4E-BF34-F4F568F22E8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Twitter Algorithm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33E4-2C4E-BF34-F4F568F22E82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r>
                      <a:rPr lang="en-US"/>
                      <a:t>Artemis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33E4-2C4E-BF34-F4F568F22E82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r>
                      <a:rPr lang="en-US"/>
                      <a:t>Google Maps web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33E4-2C4E-BF34-F4F568F22E82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r>
                      <a:rPr lang="en-US"/>
                      <a:t>Discovery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33E4-2C4E-BF34-F4F568F22E82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r>
                      <a:rPr lang="en-US"/>
                      <a:t>Outsystems-ui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33E4-2C4E-BF34-F4F568F22E82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r>
                      <a:rPr lang="en-US"/>
                      <a:t>Credit request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33E4-2C4E-BF34-F4F568F22E82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r>
                      <a:rPr lang="en-US"/>
                      <a:t>Outsystems-demo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7-33E4-2C4E-BF34-F4F568F22E82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r>
                      <a:rPr lang="en-US"/>
                      <a:t>Grails_nV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33E4-2C4E-BF34-F4F568F22E82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r>
                      <a:rPr lang="en-US"/>
                      <a:t>PLC Automated Warehouse System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33E4-2C4E-BF34-F4F568F22E82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r>
                      <a:rPr lang="en-US"/>
                      <a:t>6DOF positioning tool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33E4-2C4E-BF34-F4F568F22E82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r>
                      <a:rPr lang="en-US"/>
                      <a:t>CANopen SDO Server Protocol Processor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33E4-2C4E-BF34-F4F568F22E82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r>
                      <a:rPr lang="en-US"/>
                      <a:t>abapGit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33E4-2C4E-BF34-F4F568F22E82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r>
                      <a:rPr lang="en-US"/>
                      <a:t>Google 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33E4-2C4E-BF34-F4F568F22E82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r>
                      <a:rPr lang="en-US"/>
                      <a:t>CSPacman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33E4-2C4E-BF34-F4F568F22E82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r>
                      <a:rPr lang="en-US"/>
                      <a:t>JIT Request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33E4-2C4E-BF34-F4F568F22E82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r>
                      <a:rPr lang="en-US"/>
                      <a:t>Building Access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33E4-2C4E-BF34-F4F568F22E82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r>
                      <a:rPr lang="en-US"/>
                      <a:t>Meeting Notes V2 -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33E4-2C4E-BF34-F4F568F22E82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r>
                      <a:rPr lang="en-US"/>
                      <a:t>Collections cookbook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33E4-2C4E-BF34-F4F568F22E82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r>
                      <a:rPr lang="en-US"/>
                      <a:t>Emergency Response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33E4-2C4E-BF34-F4F568F22E82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r>
                      <a:rPr lang="en-US"/>
                      <a:t>Return to workplace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33E4-2C4E-BF34-F4F568F22E82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r>
                      <a:rPr lang="en-US"/>
                      <a:t>Crisis Communication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33E4-2C4E-BF34-F4F568F22E82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r>
                      <a:rPr lang="en-US"/>
                      <a:t>Power Apps Formula Reference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33E4-2C4E-BF34-F4F568F22E82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r>
                      <a:rPr lang="en-US"/>
                      <a:t>AL-Demos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33E4-2C4E-BF34-F4F568F22E82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r>
                      <a:rPr lang="en-US"/>
                      <a:t>Libcluster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33E4-2C4E-BF34-F4F568F22E82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r>
                      <a:rPr lang="en-US"/>
                      <a:t>Example of SBOM import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33E4-2C4E-BF34-F4F568F22E82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r>
                      <a:rPr lang="en-US"/>
                      <a:t>Solana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A-33E4-2C4E-BF34-F4F568F22E82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r>
                      <a:rPr lang="en-US"/>
                      <a:t>Chatgpt-desktop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33E4-2C4E-BF34-F4F568F22E82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r>
                      <a:rPr lang="en-US"/>
                      <a:t>Golang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C-33E4-2C4E-BF34-F4F568F22E82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r>
                      <a:rPr lang="en-US"/>
                      <a:t>IAM Proxy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D-33E4-2C4E-BF34-F4F568F22E82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r>
                      <a:rPr lang="en-US"/>
                      <a:t>Struts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E-33E4-2C4E-BF34-F4F568F22E82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r>
                      <a:rPr lang="en-US"/>
                      <a:t>Mediawiki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F-33E4-2C4E-BF34-F4F568F22E82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r>
                      <a:rPr lang="en-US"/>
                      <a:t>Clickhouse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0-33E4-2C4E-BF34-F4F568F22E82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r>
                      <a:rPr lang="en-US"/>
                      <a:t>Vscode-python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1-33E4-2C4E-BF34-F4F568F22E82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r>
                      <a:rPr lang="en-US"/>
                      <a:t>Curl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2-33E4-2C4E-BF34-F4F568F22E82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r>
                      <a:rPr lang="en-US"/>
                      <a:t>Blender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3-33E4-2C4E-BF34-F4F568F22E82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r>
                      <a:rPr lang="en-US"/>
                      <a:t>Brave-core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4-33E4-2C4E-BF34-F4F568F22E82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r>
                      <a:rPr lang="en-US"/>
                      <a:t>Umbraco-cms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5-33E4-2C4E-BF34-F4F568F22E82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r>
                      <a:rPr lang="en-US"/>
                      <a:t>insecure-progress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6-33E4-2C4E-BF34-F4F568F22E82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r>
                      <a:rPr lang="en-US"/>
                      <a:t>ai-usage-demo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7-33E4-2C4E-BF34-F4F568F22E82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r>
                      <a:rPr lang="en-US"/>
                      <a:t>vulnado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8-33E4-2C4E-BF34-F4F568F22E82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r>
                      <a:rPr lang="en-US"/>
                      <a:t>webgoatdotnet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9-33E4-2C4E-BF34-F4F568F22E82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r>
                      <a:rPr lang="en-US"/>
                      <a:t>webgoat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A-33E4-2C4E-BF34-F4F568F22E82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r>
                      <a:rPr lang="en-US"/>
                      <a:t>insecure-salesforce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33E4-2C4E-BF34-F4F568F22E82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Sheet1!$A$2:$A$93</c:f>
              <c:numCache>
                <c:formatCode>General</c:formatCode>
                <c:ptCount val="92"/>
                <c:pt idx="0">
                  <c:v>28.693159713391491</c:v>
                </c:pt>
                <c:pt idx="1">
                  <c:v>40</c:v>
                </c:pt>
                <c:pt idx="2">
                  <c:v>61.081362280100286</c:v>
                </c:pt>
              </c:numCache>
            </c:numRef>
          </c:xVal>
          <c:yVal>
            <c:numRef>
              <c:f>Sheet1!$B$2:$B$93</c:f>
              <c:numCache>
                <c:formatCode>General</c:formatCode>
                <c:ptCount val="92"/>
                <c:pt idx="0">
                  <c:v>2.5845052581441581</c:v>
                </c:pt>
                <c:pt idx="1">
                  <c:v>3.048315504593619</c:v>
                </c:pt>
                <c:pt idx="2">
                  <c:v>2.2450609633654048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</c15:dlblRangeCache>
              </c15:datalabelsRange>
            </c:ext>
            <c:ext xmlns:c16="http://schemas.microsoft.com/office/drawing/2014/chart" uri="{C3380CC4-5D6E-409C-BE32-E72D297353CC}">
              <c16:uniqueId val="{0000005C-33E4-2C4E-BF34-F4F568F22E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orientation val="minMax"/>
          <c:max val="1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System 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33E4-2C4E-BF34-F4F568F22E8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System</a:t>
                    </a:r>
                    <a:r>
                      <a:rPr lang="en-US" baseline="0" dirty="0"/>
                      <a:t> 2</a:t>
                    </a:r>
                    <a:endParaRPr lang="en-US" dirty="0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33E4-2C4E-BF34-F4F568F22E8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System 1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33E4-2C4E-BF34-F4F568F22E8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PostgreSQL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33E4-2C4E-BF34-F4F568F22E8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Postman-runtime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33E4-2C4E-BF34-F4F568F22E8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Puppet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5-33E4-2C4E-BF34-F4F568F22E8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Roslyn analyzers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6-33E4-2C4E-BF34-F4F568F22E8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Mainframe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7-33E4-2C4E-BF34-F4F568F22E8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Swift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8-33E4-2C4E-BF34-F4F568F22E8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Spring-boot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33E4-2C4E-BF34-F4F568F22E8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HR App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3E4-2C4E-BF34-F4F568F22E8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/>
                      <a:t>Platform cloud 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3E4-2C4E-BF34-F4F568F22E8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3E4-2C4E-BF34-F4F568F22E8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3E4-2C4E-BF34-F4F568F22E8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33E4-2C4E-BF34-F4F568F22E8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Oracle GraalVM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33E4-2C4E-BF34-F4F568F22E8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33E4-2C4E-BF34-F4F568F22E8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33E4-2C4E-BF34-F4F568F22E8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33E4-2C4E-BF34-F4F568F22E8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33E4-2C4E-BF34-F4F568F22E8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33E4-2C4E-BF34-F4F568F22E8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33E4-2C4E-BF34-F4F568F22E8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Google 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33E4-2C4E-BF34-F4F568F22E8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33E4-2C4E-BF34-F4F568F22E8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33E4-2C4E-BF34-F4F568F22E8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33E4-2C4E-BF34-F4F568F22E8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33E4-2C4E-BF34-F4F568F22E8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33E4-2C4E-BF34-F4F568F22E8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33E4-2C4E-BF34-F4F568F22E8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33E4-2C4E-BF34-F4F568F22E8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33E4-2C4E-BF34-F4F568F22E8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33E4-2C4E-BF34-F4F568F22E8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33E4-2C4E-BF34-F4F568F22E8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33E4-2C4E-BF34-F4F568F22E8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33E4-2C4E-BF34-F4F568F22E8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Microsoft 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33E4-2C4E-BF34-F4F568F22E8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33E4-2C4E-BF34-F4F568F22E8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33E4-2C4E-BF34-F4F568F22E8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33E4-2C4E-BF34-F4F568F22E8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33E4-2C4E-BF34-F4F568F22E8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33E4-2C4E-BF34-F4F568F22E8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33E4-2C4E-BF34-F4F568F22E8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Webmethods Integration Examples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33E4-2C4E-BF34-F4F568F22E8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33E4-2C4E-BF34-F4F568F22E8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33E4-2C4E-BF34-F4F568F22E8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33E4-2C4E-BF34-F4F568F22E8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33E4-2C4E-BF34-F4F568F22E8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33E4-2C4E-BF34-F4F568F22E8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33E4-2C4E-BF34-F4F568F22E8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Twitter Algorithm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33E4-2C4E-BF34-F4F568F22E82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r>
                      <a:rPr lang="en-US"/>
                      <a:t>Artemis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33E4-2C4E-BF34-F4F568F22E82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r>
                      <a:rPr lang="en-US"/>
                      <a:t>Google Maps web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33E4-2C4E-BF34-F4F568F22E82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r>
                      <a:rPr lang="en-US"/>
                      <a:t>Discovery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33E4-2C4E-BF34-F4F568F22E82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r>
                      <a:rPr lang="en-US"/>
                      <a:t>Outsystems-ui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33E4-2C4E-BF34-F4F568F22E82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r>
                      <a:rPr lang="en-US"/>
                      <a:t>Credit request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33E4-2C4E-BF34-F4F568F22E82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r>
                      <a:rPr lang="en-US"/>
                      <a:t>Outsystems-demo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7-33E4-2C4E-BF34-F4F568F22E82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r>
                      <a:rPr lang="en-US"/>
                      <a:t>Grails_nV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33E4-2C4E-BF34-F4F568F22E82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r>
                      <a:rPr lang="en-US"/>
                      <a:t>PLC Automated Warehouse System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33E4-2C4E-BF34-F4F568F22E82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r>
                      <a:rPr lang="en-US"/>
                      <a:t>6DOF positioning tool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33E4-2C4E-BF34-F4F568F22E82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r>
                      <a:rPr lang="en-US"/>
                      <a:t>CANopen SDO Server Protocol Processor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33E4-2C4E-BF34-F4F568F22E82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r>
                      <a:rPr lang="en-US"/>
                      <a:t>abapGit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33E4-2C4E-BF34-F4F568F22E82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r>
                      <a:rPr lang="en-US"/>
                      <a:t>Google 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33E4-2C4E-BF34-F4F568F22E82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r>
                      <a:rPr lang="en-US"/>
                      <a:t>CSPacman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33E4-2C4E-BF34-F4F568F22E82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r>
                      <a:rPr lang="en-US"/>
                      <a:t>JIT Request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33E4-2C4E-BF34-F4F568F22E82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r>
                      <a:rPr lang="en-US"/>
                      <a:t>Building Access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33E4-2C4E-BF34-F4F568F22E82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r>
                      <a:rPr lang="en-US"/>
                      <a:t>Meeting Notes V2 -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33E4-2C4E-BF34-F4F568F22E82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r>
                      <a:rPr lang="en-US"/>
                      <a:t>Collections cookbook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33E4-2C4E-BF34-F4F568F22E82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r>
                      <a:rPr lang="en-US"/>
                      <a:t>Emergency Response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33E4-2C4E-BF34-F4F568F22E82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r>
                      <a:rPr lang="en-US"/>
                      <a:t>Return to workplace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33E4-2C4E-BF34-F4F568F22E82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r>
                      <a:rPr lang="en-US"/>
                      <a:t>Crisis Communication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33E4-2C4E-BF34-F4F568F22E82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r>
                      <a:rPr lang="en-US"/>
                      <a:t>Power Apps Formula Reference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33E4-2C4E-BF34-F4F568F22E82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r>
                      <a:rPr lang="en-US"/>
                      <a:t>AL-Demos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33E4-2C4E-BF34-F4F568F22E82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r>
                      <a:rPr lang="en-US"/>
                      <a:t>Libcluster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33E4-2C4E-BF34-F4F568F22E82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r>
                      <a:rPr lang="en-US"/>
                      <a:t>Example of SBOM import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33E4-2C4E-BF34-F4F568F22E82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r>
                      <a:rPr lang="en-US"/>
                      <a:t>Solana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A-33E4-2C4E-BF34-F4F568F22E82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r>
                      <a:rPr lang="en-US"/>
                      <a:t>Chatgpt-desktop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33E4-2C4E-BF34-F4F568F22E82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r>
                      <a:rPr lang="en-US"/>
                      <a:t>Golang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C-33E4-2C4E-BF34-F4F568F22E82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r>
                      <a:rPr lang="en-US"/>
                      <a:t>IAM Proxy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D-33E4-2C4E-BF34-F4F568F22E82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r>
                      <a:rPr lang="en-US"/>
                      <a:t>Struts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E-33E4-2C4E-BF34-F4F568F22E82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r>
                      <a:rPr lang="en-US"/>
                      <a:t>Mediawiki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F-33E4-2C4E-BF34-F4F568F22E82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r>
                      <a:rPr lang="en-US"/>
                      <a:t>Clickhouse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0-33E4-2C4E-BF34-F4F568F22E82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r>
                      <a:rPr lang="en-US"/>
                      <a:t>Vscode-python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1-33E4-2C4E-BF34-F4F568F22E82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r>
                      <a:rPr lang="en-US"/>
                      <a:t>Curl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2-33E4-2C4E-BF34-F4F568F22E82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r>
                      <a:rPr lang="en-US"/>
                      <a:t>Blender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3-33E4-2C4E-BF34-F4F568F22E82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r>
                      <a:rPr lang="en-US"/>
                      <a:t>Brave-core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4-33E4-2C4E-BF34-F4F568F22E82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r>
                      <a:rPr lang="en-US"/>
                      <a:t>Umbraco-cms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5-33E4-2C4E-BF34-F4F568F22E82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r>
                      <a:rPr lang="en-US"/>
                      <a:t>insecure-progress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6-33E4-2C4E-BF34-F4F568F22E82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r>
                      <a:rPr lang="en-US"/>
                      <a:t>ai-usage-demo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7-33E4-2C4E-BF34-F4F568F22E82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r>
                      <a:rPr lang="en-US"/>
                      <a:t>vulnado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8-33E4-2C4E-BF34-F4F568F22E82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r>
                      <a:rPr lang="en-US"/>
                      <a:t>webgoatdotnet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9-33E4-2C4E-BF34-F4F568F22E82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r>
                      <a:rPr lang="en-US"/>
                      <a:t>webgoat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A-33E4-2C4E-BF34-F4F568F22E82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r>
                      <a:rPr lang="en-US"/>
                      <a:t>insecure-salesforce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33E4-2C4E-BF34-F4F568F22E82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Sheet1!$A$2:$A$93</c:f>
              <c:numCache>
                <c:formatCode>General</c:formatCode>
                <c:ptCount val="92"/>
                <c:pt idx="0">
                  <c:v>30</c:v>
                </c:pt>
                <c:pt idx="1">
                  <c:v>12</c:v>
                </c:pt>
                <c:pt idx="2">
                  <c:v>2</c:v>
                </c:pt>
              </c:numCache>
            </c:numRef>
          </c:xVal>
          <c:yVal>
            <c:numRef>
              <c:f>Sheet1!$B$2:$B$93</c:f>
              <c:numCache>
                <c:formatCode>General</c:formatCode>
                <c:ptCount val="92"/>
                <c:pt idx="0">
                  <c:v>0.85</c:v>
                </c:pt>
                <c:pt idx="1">
                  <c:v>0.4</c:v>
                </c:pt>
                <c:pt idx="2">
                  <c:v>0.12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</c15:dlblRangeCache>
              </c15:datalabelsRange>
            </c:ext>
            <c:ext xmlns:c16="http://schemas.microsoft.com/office/drawing/2014/chart" uri="{C3380CC4-5D6E-409C-BE32-E72D297353CC}">
              <c16:uniqueId val="{0000005C-33E4-2C4E-BF34-F4F568F22E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orientation val="minMax"/>
          <c:max val="4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22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C1C6-BC1D-876C-C929-67909D34A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4EE42-286C-CED2-9FAC-CEAAEF285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BC3BF-95EA-53CE-6718-609AF6A0A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BF8E8-FCF2-2883-17FC-C0D3A44FB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1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6CAD3-97C0-987F-4A3B-3EDAD9A4B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C9F19-E1C4-A978-C9D5-F1148083E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60FF6-C88A-3CDB-0F41-3FD1356CD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CC2B3-92B9-2A87-DE10-7F23A20E2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51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A4033-D843-9BA9-8BFB-9E7633DEE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680B2-0864-0084-869D-61EC69D0B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F2EE9-7125-2F7F-245F-B2CE7460E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5E074-043C-06F2-D423-6F5773419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13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20FC2D-DB38-A66D-B4BE-8E608C2A5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4D9293-49E2-42AF-E099-654DFF3A9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8077D-F430-EB3F-E631-8256B604A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757" y="6417853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11849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4D9293-49E2-42AF-E099-654DFF3A9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936385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555" y="6388767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9910" y="6416406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  <p:sp>
        <p:nvSpPr>
          <p:cNvPr id="91" name="Footer Placeholder 4">
            <a:extLst>
              <a:ext uri="{FF2B5EF4-FFF2-40B4-BE49-F238E27FC236}">
                <a16:creationId xmlns:a16="http://schemas.microsoft.com/office/drawing/2014/main" id="{4B43F158-1CF1-84A8-C697-55A7D273A919}"/>
              </a:ext>
            </a:extLst>
          </p:cNvPr>
          <p:cNvSpPr txBox="1">
            <a:spLocks/>
          </p:cNvSpPr>
          <p:nvPr userDrawn="1"/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4373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emf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CUSTOMER_NAME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0" dirty="0"/>
              <a:t>NPR 5333 </a:t>
            </a:r>
            <a:r>
              <a:rPr lang="nl-NL" b="0" noProof="1"/>
              <a:t>report</a:t>
            </a:r>
            <a:endParaRPr lang="en-US" b="0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Confidential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8EDD08-CCC5-44D9-9DB0-DFE84E93571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EC5D11-B7F5-0F1D-16D4-2000C771B0C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1A9DC5-308A-D201-E22F-8EFC88A42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Outline of 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844E52-42CC-4588-AD68-8540712EABC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396447"/>
          </a:xfrm>
        </p:spPr>
        <p:txBody>
          <a:bodyPr/>
          <a:lstStyle/>
          <a:p>
            <a:r>
              <a:rPr lang="en-US" dirty="0"/>
              <a:t>Maintainability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Functional Suitability</a:t>
            </a:r>
          </a:p>
          <a:p>
            <a:r>
              <a:rPr lang="en-US" dirty="0"/>
              <a:t>Appendix: Highlighted outliers </a:t>
            </a:r>
          </a:p>
        </p:txBody>
      </p:sp>
      <p:sp>
        <p:nvSpPr>
          <p:cNvPr id="6" name="Afgeronde rechthoek 27">
            <a:extLst>
              <a:ext uri="{FF2B5EF4-FFF2-40B4-BE49-F238E27FC236}">
                <a16:creationId xmlns:a16="http://schemas.microsoft.com/office/drawing/2014/main" id="{B7C1F3ED-7A84-7D05-7765-6C071B85BA4A}"/>
              </a:ext>
            </a:extLst>
          </p:cNvPr>
          <p:cNvSpPr/>
          <p:nvPr/>
        </p:nvSpPr>
        <p:spPr>
          <a:xfrm>
            <a:off x="4467599" y="736116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812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8671C5-F042-037A-74D6-4C34BE22CC2D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</a:t>
            </a:r>
            <a:r>
              <a:rPr lang="en-US" sz="1600" dirty="0">
                <a:solidFill>
                  <a:schemeClr val="bg1"/>
                </a:solidFill>
              </a:rPr>
              <a:t>_GROUPED_BY_TEAM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A601DF-C4A8-2D87-FD83-478449C523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012217" cy="228209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973F4-BD90-5319-109B-46FFDE9337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EF4FCE-16C7-AAE8-D773-A8EA6186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PORTFOLIO_PERIOD_MAINT_SHORT_SUMMARY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B8A7248-F03C-088E-C008-987A5B232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CDA2AA-8345-4B77-9D19-3B6B6B682D6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D9E6FA-490C-7A76-F042-C6CBE8EC8CC9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CC85E8-4CEE-1443-5223-4D50EF70486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9B90DD7-4FB9-2883-E7AE-08032D550C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B124ED-E704-12AA-C864-811D9D5670BD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0E027F-C043-85D4-8A7D-8FB2639DA35A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21A6AD1-50D4-60BA-DA82-432C012CDE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D7359A-F9B0-6788-C6F6-1FD4C4F5901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42E839-1AC6-A973-B2D6-FE03C7A2EAA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574C697C-D5E2-1EC6-E364-0363EB8D95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6AB6F5-8F91-2462-9FB2-89399076ED14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B966A2-CD6E-43B3-1B35-574D340193A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EBB239A8-7183-B922-0F96-5ECD20AD38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E13405-55E4-337C-0075-F5940C9366AF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B9F2CE7-8B0B-523F-B2D6-B2F5B8E1AF5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B9C71E9A-6525-560E-1410-76D0C3A629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8E06C3-DD1E-DA61-E312-484DB2CB23C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maintainability rating for the portfolio is PORTFOLIO_MAINT_AVG_RATING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sp>
        <p:nvSpPr>
          <p:cNvPr id="3" name="Tijdelijke aanduiding voor voettekst 14">
            <a:extLst>
              <a:ext uri="{FF2B5EF4-FFF2-40B4-BE49-F238E27FC236}">
                <a16:creationId xmlns:a16="http://schemas.microsoft.com/office/drawing/2014/main" id="{9F7E0A07-F0E8-12F9-7BBD-2C963F2C9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753497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</p:spPr>
        <p:txBody>
          <a:bodyPr/>
          <a:lstStyle/>
          <a:p>
            <a:r>
              <a:rPr lang="en-US"/>
              <a:t>Portfolio trends – Maintainability</a:t>
            </a:r>
            <a:endParaRPr lang="en-US" dirty="0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8399" y="6469694"/>
            <a:ext cx="626400" cy="231923"/>
          </a:xfrm>
        </p:spPr>
        <p:txBody>
          <a:bodyPr/>
          <a:lstStyle/>
          <a:p>
            <a:fld id="{E242BD21-9B61-2246-BCB1-4BE5E1BEBE1C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/>
              <a:t>PORTFOLIO_PERIOD_MAINT_SHORT_SUMMARY</a:t>
            </a:r>
            <a:endParaRPr lang="en-US" noProof="0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E61F4EF7-95D6-9141-8632-993E0F351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757" y="6417853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PORTFOLIO_GALAXY_CHART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/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222FB8-7B13-BCD6-F6A0-91FE5654FB8F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PORTFOLIO_PERIOD_MAINTAINABILITY_CHANGE_GROUPED_BY_TEAM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67B8CA-FA62-44B4-D64F-7AE66F54E4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771079" cy="228145"/>
          </a:xfrm>
        </p:spPr>
        <p:txBody>
          <a:bodyPr/>
          <a:lstStyle/>
          <a:p>
            <a:r>
              <a:rPr lang="en-GB" dirty="0"/>
              <a:t>Portfolio trends – Maintainability –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869EA-9362-72EE-ED3C-8D75DBC0EA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42A00E-00AC-EFDD-9879-48F07659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PORTFOLIO_PERIOD_MAINT_CHANGE_SHORT_SUMMARY</a:t>
            </a:r>
            <a:endParaRPr lang="en-GB" dirty="0"/>
          </a:p>
        </p:txBody>
      </p: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62677B25-859C-76E2-7724-E46BE3056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957715-193B-2979-0E14-2837D7FD4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9255" y="5889905"/>
            <a:ext cx="371130" cy="206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A1486B-1FC8-8061-2EAD-D6029AC875CA}"/>
              </a:ext>
            </a:extLst>
          </p:cNvPr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54B19E9-6032-3569-1EA3-AD547B485538}"/>
              </a:ext>
            </a:extLst>
          </p:cNvPr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C89DDEB-866F-F9CB-F41F-492551803AA3}"/>
              </a:ext>
            </a:extLst>
          </p:cNvPr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7413425-5C90-1783-D3A3-3D305C306676}"/>
              </a:ext>
            </a:extLst>
          </p:cNvPr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7CD411-A534-DB90-F70A-80399BB52D7B}"/>
              </a:ext>
            </a:extLst>
          </p:cNvPr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AA03C95-0F32-285C-472B-DA0501614D58}"/>
              </a:ext>
            </a:extLst>
          </p:cNvPr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A4FE0-6970-0254-9F24-4B7D592FD93A}"/>
              </a:ext>
            </a:extLst>
          </p:cNvPr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4045B-77E5-3803-3EEF-A0F4A38EE046}"/>
              </a:ext>
            </a:extLst>
          </p:cNvPr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792AFD3-A811-53EC-B9FF-ACF5582A6ED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PORTFOLIO_MAINT_INCREASED% of systems has seen an increase in maintainability. PORTFOLIO_MAINT_STABLE% of systems has remained stable. PORTFOLIO_MAINT_DECREASED%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</a:t>
            </a:r>
          </a:p>
        </p:txBody>
      </p:sp>
    </p:spTree>
    <p:extLst>
      <p:ext uri="{BB962C8B-B14F-4D97-AF65-F5344CB8AC3E}">
        <p14:creationId xmlns:p14="http://schemas.microsoft.com/office/powerpoint/2010/main" val="500511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D37E637B-F307-DB1A-A51A-12A2262AEFC9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PORTFOLIO_PERIOD_MAINTAINABILITY_DELTA_QUALITY_NEW_CODE_GROUPED_BY</a:t>
            </a:r>
            <a:r>
              <a:rPr lang="en-GB" sz="1600">
                <a:solidFill>
                  <a:schemeClr val="bg1"/>
                </a:solidFill>
              </a:rPr>
              <a:t>_TEAM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F5E6F9-F646-2621-3ECC-B2A693B532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4361304" cy="228145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4F2BF-4CA6-50AA-B99F-E948E9B811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2D033D-4CA9-CECD-FC25-4F30961B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Maintainability ratings of newly written code between PORTFOLIO_PERIOD_START_DATE and PORTFOLIO_PERIOD_END_DATE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E4CE6E4-E826-8855-8337-8A8040831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135570-D80B-D1B1-054A-C690D8195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A80C054-C74A-85C9-4528-6DC22A256A65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570F5E-51BF-3962-84E2-45A92F1C8BFA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36F1B5-B6B1-B883-8B3C-00693DA070F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1CD5492-40E3-E786-F583-1EE2149D22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778BD3-6B52-E7DA-5105-B5B0FFC5CA61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4AA2C9-D341-5635-F3CA-78A97D525D4B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F602512-EB0F-1D20-C16F-9F6E8C2D80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AADD56-4D4C-8447-3FD7-F1E94288BBE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0AFED2B-5565-64C7-6B99-35E8CCBE475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37D1A56F-2AFD-E4E9-0F6B-599384DFF8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D6DDFCC-FDD6-8B50-CC33-F43116CE5873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16EAB9-CCB1-9D30-142C-E67002C7E9A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063CD8A-141A-63AF-6CBE-D3879FAC87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343AE2-DC60-4FB8-90CB-328B3B292E39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256AFF-19A8-F941-A8C9-00EB6EF20D5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2F57D1EE-A07F-BAE6-42C8-B3AC608958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5EA2AF5-0C7B-6DB1-46A7-9076322F3A73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PORTFOLIO_NEW_CODE_BIGGEST_CHANGES</a:t>
            </a:r>
          </a:p>
        </p:txBody>
      </p:sp>
    </p:spTree>
    <p:extLst>
      <p:ext uri="{BB962C8B-B14F-4D97-AF65-F5344CB8AC3E}">
        <p14:creationId xmlns:p14="http://schemas.microsoft.com/office/powerpoint/2010/main" val="2743704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B5EC3-2A89-EF88-5A56-3D554D8C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CD3CD12-8F31-5FC5-9D7A-C77F8DB8A480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PORTFOLIO_PERIOD_MAINTAINABILITY_DELTA_QUALITY_CHANGED_CODE_GROUPED_BY_TEAM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6B5548-3455-9844-5004-E49CD11C6D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4361304" cy="228145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A32CF-7CBE-2C0C-5381-28EFF19753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7371D7-A678-7A32-E175-0E7DF8D9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Maintainability ratings of changed code between PORTFOLIO_PERIOD_START_DATE and PORTFOLIO_PERIOD_END_DATE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5E2B7E1-5A1B-B2EC-5518-63FC0E359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63B0AA-5D87-F385-AF46-88B1DD533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C61E12F-4F73-0E02-AFAE-4D08CA48A0C3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FC7257-2BE2-5CE3-C10B-BE3AC2B18C72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D1508AC-9EBA-994D-5A5A-FA52E9A69E9C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71DCEDD-7FD1-7BDF-F5C1-F91EA2E8DD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D34B76-0227-F645-0A0C-1697CB7E19CB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C2DA85-206F-DB2E-5C73-7B08646DBA88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E7C13A2-9231-F9A5-DAE6-B9C2B934C9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57F437-2819-329B-EDCB-5E85A7422083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17E262-89FB-1571-225F-028F46BE08C6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9C4B866F-F8B8-9878-A0F7-B0591D011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0982081-C926-E0A8-28C5-FE9E62F4125A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04B11B7-6316-2B2B-1EB6-00E55E6915B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EA03BAA-5800-AFD6-84A6-38D9A87D6E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7DC13E-BA93-909A-5BA6-1FFE85D9E34C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901BBD6-0742-680E-25F0-D19CEBB0E33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EA51C4B-192C-AF95-F9B9-3B24E46BF6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D880514-4785-0D93-6BDA-1F2E0E83B5B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5466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0EB8C-0585-35DE-C720-93E4701D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13899B-861D-6EA2-155F-9B107FABDB2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B34746-2C1D-9E59-321C-DA3EDA2028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C08C13-763E-0390-BBEC-55382B01F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Outline of 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9CC6EC-759D-B6DB-196C-BD581644A18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396447"/>
          </a:xfrm>
        </p:spPr>
        <p:txBody>
          <a:bodyPr/>
          <a:lstStyle/>
          <a:p>
            <a:r>
              <a:rPr lang="en-US" dirty="0"/>
              <a:t>Maintainability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Functional Suitability</a:t>
            </a:r>
          </a:p>
          <a:p>
            <a:r>
              <a:rPr lang="en-US" dirty="0"/>
              <a:t>Appendix: Highlighted outliers </a:t>
            </a:r>
          </a:p>
        </p:txBody>
      </p:sp>
      <p:sp>
        <p:nvSpPr>
          <p:cNvPr id="6" name="Afgeronde rechthoek 27">
            <a:extLst>
              <a:ext uri="{FF2B5EF4-FFF2-40B4-BE49-F238E27FC236}">
                <a16:creationId xmlns:a16="http://schemas.microsoft.com/office/drawing/2014/main" id="{599F516E-0A98-69E5-34A1-62FDFB6A5B93}"/>
              </a:ext>
            </a:extLst>
          </p:cNvPr>
          <p:cNvSpPr/>
          <p:nvPr/>
        </p:nvSpPr>
        <p:spPr>
          <a:xfrm>
            <a:off x="4467599" y="1429449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587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8EFCB-CC45-E68E-DB38-D46DEC574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26198F-EA40-32D8-F6B8-E95D520EBB19}"/>
              </a:ext>
            </a:extLst>
          </p:cNvPr>
          <p:cNvSpPr/>
          <p:nvPr/>
        </p:nvSpPr>
        <p:spPr>
          <a:xfrm>
            <a:off x="1899110" y="1983136"/>
            <a:ext cx="9603130" cy="3611880"/>
          </a:xfrm>
          <a:prstGeom prst="rect">
            <a:avLst/>
          </a:prstGeom>
          <a:gradFill flip="none" rotWithShape="1">
            <a:gsLst>
              <a:gs pos="0">
                <a:srgbClr val="FF0000">
                  <a:alpha val="49578"/>
                  <a:lumMod val="50402"/>
                  <a:lumOff val="49598"/>
                </a:srgbClr>
              </a:gs>
              <a:gs pos="49000">
                <a:schemeClr val="accent4">
                  <a:lumMod val="60000"/>
                  <a:lumOff val="40000"/>
                  <a:alpha val="48219"/>
                </a:schemeClr>
              </a:gs>
              <a:gs pos="100000">
                <a:srgbClr val="92D050">
                  <a:lumMod val="51000"/>
                  <a:lumOff val="49000"/>
                  <a:alpha val="48964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FD0E4E-4C38-E2CB-8AD7-113E2BE335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3CC7A45-40B7-4B5E-6EF5-40340E0F49C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0D8F7BB-D32B-BF01-16BC-463F3AA8B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</a:t>
            </a:r>
            <a:endParaRPr lang="en-US" noProof="0" dirty="0"/>
          </a:p>
        </p:txBody>
      </p:sp>
      <p:sp>
        <p:nvSpPr>
          <p:cNvPr id="6" name="Tijdelijke aanduiding voor voettekst 14">
            <a:extLst>
              <a:ext uri="{FF2B5EF4-FFF2-40B4-BE49-F238E27FC236}">
                <a16:creationId xmlns:a16="http://schemas.microsoft.com/office/drawing/2014/main" id="{E29BF3F4-80F9-7A42-DBC0-17817FD38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74E0F9-A737-B62C-AD41-38CE0B0AA681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BBC3C5-941B-5E57-EEAC-D4C756A9A3F9}"/>
              </a:ext>
            </a:extLst>
          </p:cNvPr>
          <p:cNvSpPr txBox="1"/>
          <p:nvPr/>
        </p:nvSpPr>
        <p:spPr>
          <a:xfrm rot="16200000">
            <a:off x="-38082" y="3636822"/>
            <a:ext cx="1175471" cy="27443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Security rating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D02834-D60B-AE9D-5EAE-4D25768477ED}"/>
              </a:ext>
            </a:extLst>
          </p:cNvPr>
          <p:cNvSpPr txBox="1"/>
          <p:nvPr/>
        </p:nvSpPr>
        <p:spPr>
          <a:xfrm>
            <a:off x="5578113" y="5901169"/>
            <a:ext cx="2525200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Open findings above set objective*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DA4A48-5A63-123D-800E-FBB27FB46C0C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4A872D-8154-83DD-8D0C-3C74BD26FEF9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D273BCC-6B1D-4261-24DD-B1423252E371}"/>
              </a:ext>
            </a:extLst>
          </p:cNvPr>
          <p:cNvGrpSpPr/>
          <p:nvPr/>
        </p:nvGrpSpPr>
        <p:grpSpPr>
          <a:xfrm>
            <a:off x="5118606" y="1363956"/>
            <a:ext cx="2264311" cy="390363"/>
            <a:chOff x="4652159" y="1363956"/>
            <a:chExt cx="226431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1E874FB-47F3-BF6A-14E0-8CD7BADE5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9260F0-EFEC-7BAE-66E5-6655B4ECAABF}"/>
                </a:ext>
              </a:extLst>
            </p:cNvPr>
            <p:cNvSpPr txBox="1"/>
            <p:nvPr/>
          </p:nvSpPr>
          <p:spPr>
            <a:xfrm>
              <a:off x="4987587" y="1363956"/>
              <a:ext cx="192888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rgbClr val="0A54E7"/>
                  </a:solidFill>
                  <a:latin typeface="☞NOIR PRO MEDIUM" pitchFamily="2" charset="0"/>
                </a:rPr>
                <a:t>security scoring</a:t>
              </a:r>
            </a:p>
          </p:txBody>
        </p:sp>
      </p:grpSp>
      <p:graphicFrame>
        <p:nvGraphicFramePr>
          <p:cNvPr id="2" name="PORTFOLIO_SECURITY_SCATTERPLOT">
            <a:extLst>
              <a:ext uri="{FF2B5EF4-FFF2-40B4-BE49-F238E27FC236}">
                <a16:creationId xmlns:a16="http://schemas.microsoft.com/office/drawing/2014/main" id="{AB22CC1D-95CD-41A1-1CB1-0DB0A86584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2896966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2F9F1D8-84CD-A5DC-E1E9-A251AC9422FF}"/>
              </a:ext>
            </a:extLst>
          </p:cNvPr>
          <p:cNvSpPr txBox="1"/>
          <p:nvPr/>
        </p:nvSpPr>
        <p:spPr>
          <a:xfrm>
            <a:off x="9174032" y="6175668"/>
            <a:ext cx="2925950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*Defaults to ≤Medium if no objectives set</a:t>
            </a:r>
          </a:p>
        </p:txBody>
      </p:sp>
    </p:spTree>
    <p:extLst>
      <p:ext uri="{BB962C8B-B14F-4D97-AF65-F5344CB8AC3E}">
        <p14:creationId xmlns:p14="http://schemas.microsoft.com/office/powerpoint/2010/main" val="2677745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9A61-F43C-3F94-A8BE-ADAE4D362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0C6966-9F66-0D5C-79ED-3C1EFA8577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C3D398-CD91-6C18-7809-120195E0642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10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15253B-69E2-7B4E-2AEB-F3006A4DE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Outline of 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860F80-4874-9803-FA46-9418B3FC3F5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396447"/>
          </a:xfrm>
        </p:spPr>
        <p:txBody>
          <a:bodyPr/>
          <a:lstStyle/>
          <a:p>
            <a:r>
              <a:rPr lang="en-US" dirty="0"/>
              <a:t>Maintainability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Functional Suitability</a:t>
            </a:r>
          </a:p>
          <a:p>
            <a:r>
              <a:rPr lang="en-US" dirty="0"/>
              <a:t>Appendix: Highlighted outliers </a:t>
            </a:r>
          </a:p>
        </p:txBody>
      </p:sp>
      <p:sp>
        <p:nvSpPr>
          <p:cNvPr id="6" name="Afgeronde rechthoek 27">
            <a:extLst>
              <a:ext uri="{FF2B5EF4-FFF2-40B4-BE49-F238E27FC236}">
                <a16:creationId xmlns:a16="http://schemas.microsoft.com/office/drawing/2014/main" id="{176A6E2D-FBC0-C8BB-1AA5-24A28B89D332}"/>
              </a:ext>
            </a:extLst>
          </p:cNvPr>
          <p:cNvSpPr/>
          <p:nvPr/>
        </p:nvSpPr>
        <p:spPr>
          <a:xfrm>
            <a:off x="4467600" y="2077408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594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507E6-92C2-8C32-066B-12693452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E22752-FCD7-A062-6E9E-B213CBC1102B}"/>
              </a:ext>
            </a:extLst>
          </p:cNvPr>
          <p:cNvSpPr/>
          <p:nvPr/>
        </p:nvSpPr>
        <p:spPr>
          <a:xfrm>
            <a:off x="1899110" y="1983136"/>
            <a:ext cx="9603130" cy="3611880"/>
          </a:xfrm>
          <a:prstGeom prst="rect">
            <a:avLst/>
          </a:prstGeom>
          <a:gradFill flip="none" rotWithShape="1">
            <a:gsLst>
              <a:gs pos="0">
                <a:srgbClr val="FF0000">
                  <a:alpha val="49578"/>
                  <a:lumMod val="50402"/>
                  <a:lumOff val="49598"/>
                </a:srgbClr>
              </a:gs>
              <a:gs pos="49000">
                <a:schemeClr val="accent4">
                  <a:lumMod val="60000"/>
                  <a:lumOff val="40000"/>
                  <a:alpha val="48219"/>
                </a:schemeClr>
              </a:gs>
              <a:gs pos="100000">
                <a:srgbClr val="92D050">
                  <a:lumMod val="51000"/>
                  <a:lumOff val="49000"/>
                  <a:alpha val="48964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D720A5-D17E-2A48-479B-66D0377F09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A6990A02-51BA-24C0-196E-DEB23EDBCD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BD8691-F07B-F5FB-0F55-8E188FFC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>
                <a:solidFill>
                  <a:srgbClr val="0A54E7"/>
                </a:solidFill>
                <a:latin typeface="☞NOIR PRO MEDIUM" pitchFamily="2" charset="0"/>
              </a:rPr>
              <a:t>Reliability</a:t>
            </a:r>
            <a:endParaRPr lang="en-US" noProof="0" dirty="0"/>
          </a:p>
        </p:txBody>
      </p:sp>
      <p:sp>
        <p:nvSpPr>
          <p:cNvPr id="6" name="Tijdelijke aanduiding voor voettekst 14">
            <a:extLst>
              <a:ext uri="{FF2B5EF4-FFF2-40B4-BE49-F238E27FC236}">
                <a16:creationId xmlns:a16="http://schemas.microsoft.com/office/drawing/2014/main" id="{A1BE1706-0BA8-767C-DF60-19FDC3BC6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282964-60AA-8690-64FB-8B32A1C26A5C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4A6479-63C1-9CD7-08B3-0AC151DBBAD1}"/>
              </a:ext>
            </a:extLst>
          </p:cNvPr>
          <p:cNvSpPr txBox="1"/>
          <p:nvPr/>
        </p:nvSpPr>
        <p:spPr>
          <a:xfrm rot="16200000">
            <a:off x="-92581" y="3636790"/>
            <a:ext cx="1284475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Reliability rating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5BB4D4-977D-1384-7190-113A28D56D13}"/>
              </a:ext>
            </a:extLst>
          </p:cNvPr>
          <p:cNvSpPr txBox="1"/>
          <p:nvPr/>
        </p:nvSpPr>
        <p:spPr>
          <a:xfrm>
            <a:off x="5578103" y="5901169"/>
            <a:ext cx="2525199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dirty="0">
                <a:solidFill>
                  <a:srgbClr val="0A54E7"/>
                </a:solidFill>
                <a:latin typeface="☞NOIR PRO MEDIUM" pitchFamily="2" charset="0"/>
              </a:rPr>
              <a:t>Open findings above set objective*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743769-70DC-C2EE-8A2A-B4696154751A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E6C562-3415-3211-5307-13042C69AFC9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F810A8-DD23-5716-5888-00095732BFA3}"/>
              </a:ext>
            </a:extLst>
          </p:cNvPr>
          <p:cNvGrpSpPr/>
          <p:nvPr/>
        </p:nvGrpSpPr>
        <p:grpSpPr>
          <a:xfrm>
            <a:off x="5118606" y="1363956"/>
            <a:ext cx="2419801" cy="390363"/>
            <a:chOff x="4652159" y="1363956"/>
            <a:chExt cx="241980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F1A8D06-041F-26C7-1DD2-61446A90A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767F50D-638B-55F6-F607-054E036A817A}"/>
                </a:ext>
              </a:extLst>
            </p:cNvPr>
            <p:cNvSpPr txBox="1"/>
            <p:nvPr/>
          </p:nvSpPr>
          <p:spPr>
            <a:xfrm>
              <a:off x="4987587" y="1363956"/>
              <a:ext cx="208437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rgbClr val="0A54E7"/>
                  </a:solidFill>
                  <a:latin typeface="☞NOIR PRO MEDIUM" pitchFamily="2" charset="0"/>
                </a:rPr>
                <a:t>reliability scoring</a:t>
              </a:r>
            </a:p>
          </p:txBody>
        </p:sp>
      </p:grpSp>
      <p:graphicFrame>
        <p:nvGraphicFramePr>
          <p:cNvPr id="2" name="PORTFOLIO_RELIABILITY_SCATTERPLOT">
            <a:extLst>
              <a:ext uri="{FF2B5EF4-FFF2-40B4-BE49-F238E27FC236}">
                <a16:creationId xmlns:a16="http://schemas.microsoft.com/office/drawing/2014/main" id="{B39A37C3-60BD-D736-16FC-B0151872FF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9198386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99C3531-8AF8-6021-8484-549BFE1E75AC}"/>
              </a:ext>
            </a:extLst>
          </p:cNvPr>
          <p:cNvSpPr txBox="1"/>
          <p:nvPr/>
        </p:nvSpPr>
        <p:spPr>
          <a:xfrm>
            <a:off x="9174032" y="6175668"/>
            <a:ext cx="2925950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*Defaults to ≤Medium if no objectives set</a:t>
            </a:r>
          </a:p>
        </p:txBody>
      </p:sp>
    </p:spTree>
    <p:extLst>
      <p:ext uri="{BB962C8B-B14F-4D97-AF65-F5344CB8AC3E}">
        <p14:creationId xmlns:p14="http://schemas.microsoft.com/office/powerpoint/2010/main" val="708692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B4938-716F-5455-516C-609B13E4F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1B4870-0B42-1DC5-BAFF-26CF35E6344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8FEF06-E575-FF48-8B9E-114BB96EA20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12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3D334A-95F7-4B3F-9319-C9548479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Outline of 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8A986A-2419-240A-D923-4054BAD5D2E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396447"/>
          </a:xfrm>
        </p:spPr>
        <p:txBody>
          <a:bodyPr/>
          <a:lstStyle/>
          <a:p>
            <a:r>
              <a:rPr lang="en-US" dirty="0"/>
              <a:t>Maintainability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Functional Suitability</a:t>
            </a:r>
          </a:p>
          <a:p>
            <a:r>
              <a:rPr lang="en-US" dirty="0"/>
              <a:t>Appendix: Highlighted outliers </a:t>
            </a:r>
          </a:p>
        </p:txBody>
      </p:sp>
      <p:sp>
        <p:nvSpPr>
          <p:cNvPr id="6" name="Afgeronde rechthoek 27">
            <a:extLst>
              <a:ext uri="{FF2B5EF4-FFF2-40B4-BE49-F238E27FC236}">
                <a16:creationId xmlns:a16="http://schemas.microsoft.com/office/drawing/2014/main" id="{9A195BAA-266B-AEF8-8A86-5DBF12312698}"/>
              </a:ext>
            </a:extLst>
          </p:cNvPr>
          <p:cNvSpPr/>
          <p:nvPr/>
        </p:nvSpPr>
        <p:spPr>
          <a:xfrm>
            <a:off x="4483780" y="2704740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926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549BF-04C3-C85F-53D5-5BAD8C10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32EF6C-DE9A-1B65-9769-A5AC8FD8087A}"/>
              </a:ext>
            </a:extLst>
          </p:cNvPr>
          <p:cNvSpPr/>
          <p:nvPr/>
        </p:nvSpPr>
        <p:spPr>
          <a:xfrm>
            <a:off x="1466117" y="1617720"/>
            <a:ext cx="9605005" cy="3986901"/>
          </a:xfrm>
          <a:prstGeom prst="rect">
            <a:avLst/>
          </a:prstGeom>
          <a:gradFill flip="none" rotWithShape="1">
            <a:gsLst>
              <a:gs pos="0">
                <a:srgbClr val="FF0000">
                  <a:alpha val="49578"/>
                  <a:lumMod val="50402"/>
                  <a:lumOff val="49598"/>
                </a:srgbClr>
              </a:gs>
              <a:gs pos="49000">
                <a:schemeClr val="accent4">
                  <a:lumMod val="60000"/>
                  <a:lumOff val="40000"/>
                  <a:alpha val="48219"/>
                </a:schemeClr>
              </a:gs>
              <a:gs pos="100000">
                <a:srgbClr val="92D050">
                  <a:lumMod val="51000"/>
                  <a:lumOff val="49000"/>
                  <a:alpha val="48964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C31A254-9956-7BF9-D6E3-EA87274BB3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000401" cy="228145"/>
          </a:xfrm>
        </p:spPr>
        <p:txBody>
          <a:bodyPr/>
          <a:lstStyle/>
          <a:p>
            <a:r>
              <a:rPr lang="en-US" dirty="0"/>
              <a:t>Functional Suitability</a:t>
            </a:r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580BCF9B-86D9-21C8-7C70-2D0D96B376B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90000" tIns="46800" rIns="90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Confidential</a:t>
            </a:r>
            <a:endParaRPr lang="en-US" noProof="0" dirty="0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9B0FE32D-B8DB-25C0-9C42-42167498E1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BDE8AB7-EA7C-30C0-9807-2F45DC3A3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Suitability</a:t>
            </a:r>
            <a:endParaRPr lang="en-U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DFDC49-3E84-9C81-2024-CB372A4E92BF}"/>
              </a:ext>
            </a:extLst>
          </p:cNvPr>
          <p:cNvSpPr txBox="1"/>
          <p:nvPr/>
        </p:nvSpPr>
        <p:spPr>
          <a:xfrm rot="16200000">
            <a:off x="-46094" y="3636822"/>
            <a:ext cx="1191501" cy="27443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Test code ratio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069B38-3D40-8646-F4EE-82C262585BFE}"/>
              </a:ext>
            </a:extLst>
          </p:cNvPr>
          <p:cNvSpPr txBox="1"/>
          <p:nvPr/>
        </p:nvSpPr>
        <p:spPr>
          <a:xfrm>
            <a:off x="5275936" y="5901169"/>
            <a:ext cx="3129532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Number of open Functional Suitability CWEs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B254DAD-E039-D9F3-96E2-D727A887B8C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7C7CC9-7D5A-7655-B2D6-EBA5A4F2F492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PORTFOLIO_NPR_5333_FUNCTIONAL_SUITABILITY_SCATTERPLOT">
            <a:extLst>
              <a:ext uri="{FF2B5EF4-FFF2-40B4-BE49-F238E27FC236}">
                <a16:creationId xmlns:a16="http://schemas.microsoft.com/office/drawing/2014/main" id="{C259C17A-58AA-FC0A-C45C-F1B7D3606F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0938249"/>
              </p:ext>
            </p:extLst>
          </p:nvPr>
        </p:nvGraphicFramePr>
        <p:xfrm>
          <a:off x="916412" y="1473201"/>
          <a:ext cx="10359177" cy="4492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ijdelijke aanduiding voor voettekst 14">
            <a:extLst>
              <a:ext uri="{FF2B5EF4-FFF2-40B4-BE49-F238E27FC236}">
                <a16:creationId xmlns:a16="http://schemas.microsoft.com/office/drawing/2014/main" id="{764A83C7-1F5D-CED1-2CE6-DBFAC3F39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02830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43BD3-285D-4E41-730B-B892002D2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9F647B-3CD4-5023-9044-BC721EC9B28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403B08-EE26-9CF4-A536-2DB6BCB3B1D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14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0642C6-203D-9DC8-4729-9CC8471EA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Outline of 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B92340-844C-285E-32E4-1F54FC3475B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396447"/>
          </a:xfrm>
        </p:spPr>
        <p:txBody>
          <a:bodyPr/>
          <a:lstStyle/>
          <a:p>
            <a:r>
              <a:rPr lang="en-US" dirty="0"/>
              <a:t>Maintainability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Functional Suitability</a:t>
            </a:r>
          </a:p>
          <a:p>
            <a:r>
              <a:rPr lang="en-US" dirty="0"/>
              <a:t>Appendix: Highlighted outliers </a:t>
            </a:r>
          </a:p>
        </p:txBody>
      </p:sp>
      <p:sp>
        <p:nvSpPr>
          <p:cNvPr id="6" name="Afgeronde rechthoek 27">
            <a:extLst>
              <a:ext uri="{FF2B5EF4-FFF2-40B4-BE49-F238E27FC236}">
                <a16:creationId xmlns:a16="http://schemas.microsoft.com/office/drawing/2014/main" id="{AD836954-C524-0388-39F9-0DC3891C5407}"/>
              </a:ext>
            </a:extLst>
          </p:cNvPr>
          <p:cNvSpPr/>
          <p:nvPr/>
        </p:nvSpPr>
        <p:spPr>
          <a:xfrm>
            <a:off x="4483780" y="3390542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473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911F36-F7CB-2F3B-3688-4C146CDAFA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US" dirty="0"/>
              <a:t>Appendix: Highlighted outliers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A2732-241B-BEDA-57F2-0E92B46B830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15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63F398-78F6-EF4A-762E-099CD55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systems with lowest maintainability rating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E3A1D-8DA2-2D94-12AD-CE4AC4449B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MAINTAINABILITY_TOP_SYSTEMS_TABLE">
            <a:extLst>
              <a:ext uri="{FF2B5EF4-FFF2-40B4-BE49-F238E27FC236}">
                <a16:creationId xmlns:a16="http://schemas.microsoft.com/office/drawing/2014/main" id="{40682DA7-6851-B9B2-1AE0-A6F9759DC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280456"/>
              </p:ext>
            </p:extLst>
          </p:nvPr>
        </p:nvGraphicFramePr>
        <p:xfrm>
          <a:off x="904099" y="1828472"/>
          <a:ext cx="10383803" cy="3809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517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6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247">
                  <a:extLst>
                    <a:ext uri="{9D8B030D-6E8A-4147-A177-3AD203B41FA5}">
                      <a16:colId xmlns:a16="http://schemas.microsoft.com/office/drawing/2014/main" val="2857446439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System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Maintainability Rating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Volume (in PY)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Sigrid Link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Bold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860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4A4A-5FB3-1B7F-3D80-C68C92A67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99E0F7-5118-1245-821D-F114C020F8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US" dirty="0"/>
              <a:t>Appendix: Highlighted outliers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FC4C0-07BD-FBA8-1E12-9145618C7BB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16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02DA2C-FAC3-6850-05D0-ED6B8B97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systems with most open security findings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37E1B-D176-DB48-322C-5C9F1EFF3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SECURITY_FINDINGS_TOP_SYSTEMS_TABLE">
            <a:extLst>
              <a:ext uri="{FF2B5EF4-FFF2-40B4-BE49-F238E27FC236}">
                <a16:creationId xmlns:a16="http://schemas.microsoft.com/office/drawing/2014/main" id="{DAF63B00-D956-089D-5EEE-9D098A7D8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553291"/>
              </p:ext>
            </p:extLst>
          </p:nvPr>
        </p:nvGraphicFramePr>
        <p:xfrm>
          <a:off x="479153" y="1828472"/>
          <a:ext cx="11231294" cy="3809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517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028">
                  <a:extLst>
                    <a:ext uri="{9D8B030D-6E8A-4147-A177-3AD203B41FA5}">
                      <a16:colId xmlns:a16="http://schemas.microsoft.com/office/drawing/2014/main" val="254995918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247">
                  <a:extLst>
                    <a:ext uri="{9D8B030D-6E8A-4147-A177-3AD203B41FA5}">
                      <a16:colId xmlns:a16="http://schemas.microsoft.com/office/drawing/2014/main" val="2857446439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System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Objective set</a:t>
                      </a: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Findings above objective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Rating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Sigrid Link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Bold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5060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90D17-5712-755B-6E06-69C74DEE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5C0A52-3787-CA3B-B6F0-321DF7908E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US" dirty="0"/>
              <a:t>Appendix: Highlighted outliers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8CE53-3500-C82F-03A9-27546F68D8F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17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643174-E46A-3CFD-2363-5F938F6D9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systems with most open reliability findings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01715-F2DA-49F7-BB93-B54117288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RELIABILITY_FINDINGS_TOP_SYSTEMS_TABLE">
            <a:extLst>
              <a:ext uri="{FF2B5EF4-FFF2-40B4-BE49-F238E27FC236}">
                <a16:creationId xmlns:a16="http://schemas.microsoft.com/office/drawing/2014/main" id="{FCCA9BB9-A59F-A2D9-87B5-01C0C3B32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54199"/>
              </p:ext>
            </p:extLst>
          </p:nvPr>
        </p:nvGraphicFramePr>
        <p:xfrm>
          <a:off x="479153" y="1828472"/>
          <a:ext cx="11231294" cy="3809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517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028">
                  <a:extLst>
                    <a:ext uri="{9D8B030D-6E8A-4147-A177-3AD203B41FA5}">
                      <a16:colId xmlns:a16="http://schemas.microsoft.com/office/drawing/2014/main" val="254995918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247">
                  <a:extLst>
                    <a:ext uri="{9D8B030D-6E8A-4147-A177-3AD203B41FA5}">
                      <a16:colId xmlns:a16="http://schemas.microsoft.com/office/drawing/2014/main" val="2857446439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System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Objective set</a:t>
                      </a: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Findings above objective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Rating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Sigrid Link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Bold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1645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D8EB-5877-DB2F-5CFE-9E8DEDDDB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F5A386-360D-57D4-1ECE-6A65570012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US" dirty="0"/>
              <a:t>Appendix: Highlighted outliers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84A03-542D-1545-30F3-243D3F6692E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18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937056-5B45-BBD1-0F2B-DAE206681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systems with most open functional suitability CWEs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26896-3F3B-C598-10D3-88C5C9673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FUNCTIONAL_SUITABILITY_TOP_SYSTEMS_TABLE">
            <a:extLst>
              <a:ext uri="{FF2B5EF4-FFF2-40B4-BE49-F238E27FC236}">
                <a16:creationId xmlns:a16="http://schemas.microsoft.com/office/drawing/2014/main" id="{41E5D995-AE81-504E-58DA-C3005036E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447042"/>
              </p:ext>
            </p:extLst>
          </p:nvPr>
        </p:nvGraphicFramePr>
        <p:xfrm>
          <a:off x="1515327" y="1828472"/>
          <a:ext cx="9158946" cy="3809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594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029">
                  <a:extLst>
                    <a:ext uri="{9D8B030D-6E8A-4147-A177-3AD203B41FA5}">
                      <a16:colId xmlns:a16="http://schemas.microsoft.com/office/drawing/2014/main" val="2711908970"/>
                    </a:ext>
                  </a:extLst>
                </a:gridCol>
                <a:gridCol w="1733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599">
                  <a:extLst>
                    <a:ext uri="{9D8B030D-6E8A-4147-A177-3AD203B41FA5}">
                      <a16:colId xmlns:a16="http://schemas.microsoft.com/office/drawing/2014/main" val="2857446439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System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Test Code Ratio</a:t>
                      </a: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Open CWEs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Sigrid Link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Bold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Example Style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437748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18600</TotalTime>
  <Words>1158</Words>
  <Application>Microsoft Macintosh PowerPoint</Application>
  <PresentationFormat>Widescreen</PresentationFormat>
  <Paragraphs>481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2" baseType="lpstr">
      <vt:lpstr>☞NOIR PRO MEDIUM</vt:lpstr>
      <vt:lpstr>Arial</vt:lpstr>
      <vt:lpstr>Azeret Mono</vt:lpstr>
      <vt:lpstr>Azeret Mono Medium</vt:lpstr>
      <vt:lpstr>Calibri</vt:lpstr>
      <vt:lpstr>Calibri Bold</vt:lpstr>
      <vt:lpstr>Calibri Regular</vt:lpstr>
      <vt:lpstr>Helvetica Neue Bold</vt:lpstr>
      <vt:lpstr>Noir Pro</vt:lpstr>
      <vt:lpstr>Noir Pro Medium</vt:lpstr>
      <vt:lpstr>Noir Pro Semi Bold</vt:lpstr>
      <vt:lpstr>Sigsterren</vt:lpstr>
      <vt:lpstr>Light theme (default)</vt:lpstr>
      <vt:lpstr>Dark theme</vt:lpstr>
      <vt:lpstr>PowerPoint Presentation</vt:lpstr>
      <vt:lpstr>Outline of topics</vt:lpstr>
      <vt:lpstr>PORTFOLIO_PERIOD_MAINT_SHORT_SUMMARY</vt:lpstr>
      <vt:lpstr>PORTFOLIO_PERIOD_MAINT_SHORT_SUMMARY</vt:lpstr>
      <vt:lpstr>PORTFOLIO_PERIOD_MAINT_CHANGE_SHORT_SUMMARY</vt:lpstr>
      <vt:lpstr>Maintainability ratings of newly written code between PORTFOLIO_PERIOD_START_DATE and PORTFOLIO_PERIOD_END_DATE</vt:lpstr>
      <vt:lpstr>Maintainability ratings of changed code between PORTFOLIO_PERIOD_START_DATE and PORTFOLIO_PERIOD_END_DATE</vt:lpstr>
      <vt:lpstr>Outline of topics</vt:lpstr>
      <vt:lpstr>Security</vt:lpstr>
      <vt:lpstr>Outline of topics</vt:lpstr>
      <vt:lpstr>Reliability</vt:lpstr>
      <vt:lpstr>Outline of topics</vt:lpstr>
      <vt:lpstr>Functional Suitability</vt:lpstr>
      <vt:lpstr>Outline of topics</vt:lpstr>
      <vt:lpstr>Top 10 systems with lowest maintainability rating</vt:lpstr>
      <vt:lpstr>Top 10 systems with most open security findings</vt:lpstr>
      <vt:lpstr>Top 10 systems with most open reliability findings</vt:lpstr>
      <vt:lpstr>Top 10 systems with most open functional suitability CWEs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254</cp:revision>
  <cp:lastPrinted>2020-04-20T09:37:43Z</cp:lastPrinted>
  <dcterms:created xsi:type="dcterms:W3CDTF">2025-10-22T11:22:13Z</dcterms:created>
  <dcterms:modified xsi:type="dcterms:W3CDTF">2026-05-26T10:27:12Z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