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4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1"/>
  </p:notesMasterIdLst>
  <p:handoutMasterIdLst>
    <p:handoutMasterId r:id="rId12"/>
  </p:handoutMasterIdLst>
  <p:sldIdLst>
    <p:sldId id="1973" r:id="rId5"/>
    <p:sldId id="10749" r:id="rId6"/>
    <p:sldId id="10750" r:id="rId7"/>
    <p:sldId id="10751" r:id="rId8"/>
    <p:sldId id="10752" r:id="rId9"/>
    <p:sldId id="1135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361"/>
    <p:restoredTop sz="96763"/>
  </p:normalViewPr>
  <p:slideViewPr>
    <p:cSldViewPr snapToGrid="0" snapToObjects="1" showGuides="1">
      <p:cViewPr>
        <p:scale>
          <a:sx n="114" d="100"/>
          <a:sy n="114" d="100"/>
        </p:scale>
        <p:origin x="1152" y="62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handoutMaster" Target="handoutMasters/handoutMaster1.xml"/><Relationship Id="rId17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</c:v>
                </c:pt>
              </c:strCache>
            </c:strRef>
          </c:tx>
          <c:spPr>
            <a:solidFill>
              <a:schemeClr val="accent2">
                <a:shade val="76000"/>
              </a:schemeClr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  <c:ext xmlns:c16="http://schemas.microsoft.com/office/drawing/2014/chart" uri="{C3380CC4-5D6E-409C-BE32-E72D297353CC}">
                <c16:uniqueId val="{00000000-7C96-CF4F-94AD-E08A5CD6D25E}"/>
              </c:ext>
            </c:extLst>
          </c:dPt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4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Sheet1!$A$2:$A$11</c:f>
              <c:strCache>
                <c:ptCount val="10"/>
                <c:pt idx="0">
                  <c:v>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</c:v>
                </c:pt>
                <c:pt idx="8">
                  <c:v>Team</c:v>
                </c:pt>
                <c:pt idx="9">
                  <c:v>Division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</c:numCache>
            </c:numRef>
          </c:val>
      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      <c:ext xmlns:c16="http://schemas.microsoft.com/office/drawing/2014/chart" uri="{C3380CC4-5D6E-409C-BE32-E72D297353CC}">
              <c16:uniqueId val="{00000001-7C96-CF4F-94AD-E08A5CD6D25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Incomplete</c:v>
                </c:pt>
              </c:strCache>
            </c:strRef>
          </c:tx>
          <c:spPr>
            <a:solidFill>
              <a:schemeClr val="accent3">
                <a:lumMod val="60000"/>
                <a:lumOff val="40000"/>
              </a:schemeClr>
            </a:solidFill>
            <a:ln w="19050">
              <a:noFill/>
            </a:ln>
            <a:effectLst/>
          </c:spPr>
          <c:invertIfNegative val="0"/>
          <c:cat>
            <c:strRef>
              <c:f>Sheet1!$A$2:$A$11</c:f>
              <c:strCache>
                <c:ptCount val="10"/>
                <c:pt idx="0">
                  <c:v>Distribution strategy</c:v>
                </c:pt>
                <c:pt idx="1">
                  <c:v>Application type</c:v>
                </c:pt>
                <c:pt idx="2">
                  <c:v>Deployment type</c:v>
                </c:pt>
                <c:pt idx="3">
                  <c:v>Target industry</c:v>
                </c:pt>
                <c:pt idx="4">
                  <c:v>Lifecycle phase</c:v>
                </c:pt>
                <c:pt idx="5">
                  <c:v>Business criticality</c:v>
                </c:pt>
                <c:pt idx="6">
                  <c:v>In production since</c:v>
                </c:pt>
                <c:pt idx="7">
                  <c:v>Supplier</c:v>
                </c:pt>
                <c:pt idx="8">
                  <c:v>Team</c:v>
                </c:pt>
                <c:pt idx="9">
                  <c:v>Division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50</c:v>
                </c:pt>
                <c:pt idx="1">
                  <c:v>50</c:v>
                </c:pt>
                <c:pt idx="2">
                  <c:v>50</c:v>
                </c:pt>
                <c:pt idx="3">
                  <c:v>50</c:v>
                </c:pt>
                <c:pt idx="4">
                  <c:v>50</c:v>
                </c:pt>
                <c:pt idx="5">
                  <c:v>50</c:v>
                </c:pt>
                <c:pt idx="6">
                  <c:v>50</c:v>
                </c:pt>
                <c:pt idx="7">
                  <c:v>50</c:v>
                </c:pt>
                <c:pt idx="8">
                  <c:v>50</c:v>
                </c:pt>
                <c:pt idx="9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7C96-CF4F-94AD-E08A5CD6D25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476387520"/>
        <c:axId val="477616192"/>
      </c:barChart>
      <c:catAx>
        <c:axId val="476387520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76387520"/>
        <c:crosses val="autoZero"/>
        <c:crossBetween val="between"/>
      </c:valAx>
      <c:spPr>
        <a:solidFill>
          <a:srgbClr val="F0F4F8"/>
        </a:solidFill>
        <a:ln>
          <a:noFill/>
        </a:ln>
        <a:effectLst/>
      </c:spPr>
    </c:plotArea>
    <c:plotVisOnly val="1"/>
    <c:dispBlanksAs val="gap"/>
    <c:showDLblsOverMax val="0"/>
    <c:extLst xmlns:lc="http://schemas.openxmlformats.org/drawingml/2006/lockedCanvas" xmlns:comp="http://schemas.openxmlformats.org/drawingml/2006/compatibility" xmlns:we="http://schemas.microsoft.com/office/webextensions/webextension/2010/11" xmlns:wetp="http://schemas.microsoft.com/office/webextensions/taskpanes/2010/11" xmlns:w16cid="http://schemas.microsoft.com/office/word/2016/wordml/cid" xmlns:w16se="http://schemas.microsoft.com/office/word/2015/wordml/symex" xmlns:wps="http://schemas.microsoft.com/office/word/2010/wordprocessingShape" xmlns:b="http://schemas.openxmlformats.org/officeDocument/2006/bibliography" xmlns:odgm="http://opendope.org/SmartArt/DataHierarchy" xmlns:odi="http://opendope.org/components" xmlns:oda="http://opendope.org/answers" xmlns:odq="http://opendope.org/questions" xmlns:odc="http://opendope.org/conditions" xmlns:odx="http://opendope.org/xpaths" xmlns:cppr="http://schemas.microsoft.com/office/2006/coverPageProps" xmlns:pvml="urn:schemas-microsoft-com:office:powerpoint" xmlns:w10="urn:schemas-microsoft-com:office:word" xmlns:v="urn:schemas-microsoft-com:vml" xmlns:o="urn:schemas-microsoft-com:office:office" xmlns:xvml="urn:schemas-microsoft-com:office:excel" xmlns:dsp="http://schemas.microsoft.com/office/drawing/2008/diagram" xmlns:xdr="http://schemas.openxmlformats.org/drawingml/2006/spreadsheetDrawing" xmlns:pic="http://schemas.openxmlformats.org/drawingml/2006/picture" xmlns:dgm="http://schemas.openxmlformats.org/drawingml/2006/diagram" xmlns:c14="http://schemas.microsoft.com/office/drawing/2007/8/2/chart" xmlns:cdr="http://schemas.openxmlformats.org/drawingml/2006/chartDrawing" xmlns:wne="http://schemas.microsoft.com/office/word/2006/wordml" xmlns:sl="http://schemas.openxmlformats.org/schemaLibrary/2006/main" xmlns:mc="http://schemas.openxmlformats.org/markup-compatibility/2006" xmlns:wp14="http://schemas.microsoft.com/office/word/2010/wordprocessingDrawing" xmlns:wp="http://schemas.openxmlformats.org/drawingml/2006/wordprocessingDrawing" xmlns:m="http://schemas.openxmlformats.org/officeDocument/2006/math" xmlns:w14="http://schemas.microsoft.com/office/word/2010/wordml" xmlns:w15="http://schemas.microsoft.com/office/word/2012/wordml" xmlns:w="http://schemas.openxmlformats.org/wordprocessingml/2006/main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6 months</c:v>
                </c:pt>
                <c:pt idx="5">
                  <c:v>&gt;6 months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736-CA4F-BA2E-5477A899A8B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Total</c:v>
                </c:pt>
                <c:pt idx="1">
                  <c:v>Deactivated</c:v>
                </c:pt>
                <c:pt idx="2">
                  <c:v>EOL</c:v>
                </c:pt>
                <c:pt idx="3">
                  <c:v>EOL &amp; Deactivated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23-114A-AFCA-6814C018FD0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98520383"/>
        <c:axId val="2098523071"/>
      </c:barChart>
      <c:catAx>
        <c:axId val="209852038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3071"/>
        <c:crosses val="autoZero"/>
        <c:auto val="1"/>
        <c:lblAlgn val="ctr"/>
        <c:lblOffset val="100"/>
        <c:noMultiLvlLbl val="0"/>
      </c:catAx>
      <c:valAx>
        <c:axId val="2098523071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09852038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Admin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 active accounts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 year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ED0-B745-99C2-4242B486326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Maintainer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2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 active accounts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 year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ED0-B745-99C2-4242B486326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User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 w="12700">
                <a:solidFill>
                  <a:schemeClr val="accent3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 active accounts</c:v>
                </c:pt>
                <c:pt idx="1">
                  <c:v>1 week</c:v>
                </c:pt>
                <c:pt idx="2">
                  <c:v>1 month</c:v>
                </c:pt>
                <c:pt idx="3">
                  <c:v>3 months</c:v>
                </c:pt>
                <c:pt idx="4">
                  <c:v>1 year</c:v>
                </c:pt>
                <c:pt idx="5">
                  <c:v>&gt;1  year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ED0-B745-99C2-4242B486326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Systems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solidFill>
                <a:schemeClr val="bg1"/>
              </a:solidFill>
              <a:ln w="12700">
                <a:solidFill>
                  <a:schemeClr val="accent1"/>
                </a:solidFill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accen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Sheet1!$A$2:$A$7</c:f>
              <c:strCache>
                <c:ptCount val="6"/>
                <c:pt idx="0">
                  <c:v>Total</c:v>
                </c:pt>
                <c:pt idx="1">
                  <c:v>All Capabilities</c:v>
                </c:pt>
                <c:pt idx="2">
                  <c:v>Maintainability</c:v>
                </c:pt>
                <c:pt idx="3">
                  <c:v>Architecture Quality</c:v>
                </c:pt>
                <c:pt idx="4">
                  <c:v>Open Source Health</c:v>
                </c:pt>
                <c:pt idx="5">
                  <c:v>Security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20</c:v>
                </c:pt>
                <c:pt idx="2">
                  <c:v>20</c:v>
                </c:pt>
                <c:pt idx="3">
                  <c:v>20</c:v>
                </c:pt>
                <c:pt idx="4">
                  <c:v>20</c:v>
                </c:pt>
                <c:pt idx="5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26-474B-919E-22DA88E63E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297280"/>
        <c:axId val="2146427199"/>
      </c:barChart>
      <c:catAx>
        <c:axId val="5929728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146427199"/>
        <c:crosses val="autoZero"/>
        <c:auto val="1"/>
        <c:lblAlgn val="ctr"/>
        <c:lblOffset val="100"/>
        <c:noMultiLvlLbl val="0"/>
      </c:catAx>
      <c:valAx>
        <c:axId val="214642719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2972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2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4/9/26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483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58D11-594F-21E6-1BF2-59539F831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952ACA-ABBB-AAE5-2D7F-478E2C17C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B0B491-32D5-B650-4DF6-674FDC593E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B6DFA3-E7F7-F62B-807A-F52D169B01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821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D1AF-EC2D-82B6-2207-BB2F3A1C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11AC35-64F3-F293-BD6C-C5D9933CB5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9B27AE-183B-27E6-7BAD-428979314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E926F-8775-E16C-7510-8101F9B9E2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77190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EEF95-B2A0-2E63-C0D6-DD83B5202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E8E766-C00A-4CD1-FF30-7F1E745696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5C787E-418C-0877-1DAD-1215C8A01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04474-9993-B153-FB2B-645AC69DB6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9013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Sigrid Hygiene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GB" dirty="0"/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959DA3E-BC4D-56BF-3D02-3ACC9ACAB5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916084" cy="228209"/>
          </a:xfrm>
        </p:spPr>
        <p:txBody>
          <a:bodyPr/>
          <a:lstStyle/>
          <a:p>
            <a:r>
              <a:rPr lang="en-GB" dirty="0"/>
              <a:t>Metadata completeness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5DB27D0-EDA4-3C43-0A09-967F11094A3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2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65B9EEB-750A-B63C-431E-C83D0FD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Metadata completeness per field</a:t>
            </a:r>
          </a:p>
        </p:txBody>
      </p:sp>
      <p:graphicFrame>
        <p:nvGraphicFramePr>
          <p:cNvPr id="12" name="METADATA_COMPLETENESS_CHART">
            <a:extLst>
              <a:ext uri="{FF2B5EF4-FFF2-40B4-BE49-F238E27FC236}">
                <a16:creationId xmlns:a16="http://schemas.microsoft.com/office/drawing/2014/main" id="{8A441EFF-07E9-9E27-9640-D73D806C4D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4532152"/>
              </p:ext>
            </p:extLst>
          </p:nvPr>
        </p:nvGraphicFramePr>
        <p:xfrm>
          <a:off x="478224" y="2397760"/>
          <a:ext cx="11267443" cy="36705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7EBEF1-AE34-0146-7D18-236358E52DA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Results in Sigrid become more accurate and useful the more systems have the metadata filled in.</a:t>
            </a:r>
          </a:p>
        </p:txBody>
      </p:sp>
    </p:spTree>
    <p:extLst>
      <p:ext uri="{BB962C8B-B14F-4D97-AF65-F5344CB8AC3E}">
        <p14:creationId xmlns:p14="http://schemas.microsoft.com/office/powerpoint/2010/main" val="1780981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F09B-1C22-172A-FFF0-0D958699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546A525-4ADC-96E1-093F-2CD3A566AC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Snapshot freshness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D218BA11-3D9E-7D9D-8D97-CF8F378F7E0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5B96D18-7D9C-40F7-50CC-B77A7E36B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Last snapshot time in Sigrid for the systems</a:t>
            </a:r>
          </a:p>
        </p:txBody>
      </p:sp>
      <p:graphicFrame>
        <p:nvGraphicFramePr>
          <p:cNvPr id="3" name="SNAPSHOT_FRESHNESS_CHART">
            <a:extLst>
              <a:ext uri="{FF2B5EF4-FFF2-40B4-BE49-F238E27FC236}">
                <a16:creationId xmlns:a16="http://schemas.microsoft.com/office/drawing/2014/main" id="{F90CD9BA-AD7D-48A4-38A5-8004F155961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36251351"/>
              </p:ext>
            </p:extLst>
          </p:nvPr>
        </p:nvGraphicFramePr>
        <p:xfrm>
          <a:off x="2032000" y="2550160"/>
          <a:ext cx="8128000" cy="363160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AD7F908-3840-2F82-24E2-1A1AC35C11F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recent snapshots in Sigrid helps you obtain both an accurate picture and timely results for your software portfolio.</a:t>
            </a:r>
          </a:p>
        </p:txBody>
      </p:sp>
    </p:spTree>
    <p:extLst>
      <p:ext uri="{BB962C8B-B14F-4D97-AF65-F5344CB8AC3E}">
        <p14:creationId xmlns:p14="http://schemas.microsoft.com/office/powerpoint/2010/main" val="3181785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C0900-3E03-617C-57EA-882B43C65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F0DCB79-09D5-8B9B-10E3-06F55289409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180853" cy="228209"/>
          </a:xfrm>
        </p:spPr>
        <p:txBody>
          <a:bodyPr/>
          <a:lstStyle/>
          <a:p>
            <a:r>
              <a:rPr lang="en-GB" dirty="0"/>
              <a:t>EOL systems hygiene &amp; Hidden systems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F7F3BCB6-9477-5128-9A38-9AC9BF9472B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4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BE596FD-9EA9-E7CC-F85C-901CB1B35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Status of End-of-life (EOL) and deactivated systems in Sigrid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1D33C-4184-6E9D-1A92-4C22E097AED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Removing EOL systems from Sigrid helps maintain a clean portfolio.</a:t>
            </a:r>
          </a:p>
        </p:txBody>
      </p:sp>
      <p:graphicFrame>
        <p:nvGraphicFramePr>
          <p:cNvPr id="5" name="EOL_DEACTIVATED_CHART">
            <a:extLst>
              <a:ext uri="{FF2B5EF4-FFF2-40B4-BE49-F238E27FC236}">
                <a16:creationId xmlns:a16="http://schemas.microsoft.com/office/drawing/2014/main" id="{E7702704-1E25-0AA6-4ECA-55B4D16AE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006025"/>
              </p:ext>
            </p:extLst>
          </p:nvPr>
        </p:nvGraphicFramePr>
        <p:xfrm>
          <a:off x="2119152" y="2637351"/>
          <a:ext cx="7953695" cy="332656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96125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B2A34-72F6-3A10-832F-B1D0E59FA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08C5441-27BD-EA09-AE2E-B520E826BF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GB" dirty="0"/>
              <a:t>Last Sigrid access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A2D8E595-0959-3752-A0DF-CC24C80E24A7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5</a:t>
            </a:fld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606F80A-2185-0642-35D4-322A163A3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access time in Sigrid per account role</a:t>
            </a:r>
            <a:endParaRPr lang="en-GB" dirty="0"/>
          </a:p>
        </p:txBody>
      </p:sp>
      <p:graphicFrame>
        <p:nvGraphicFramePr>
          <p:cNvPr id="3" name="USERS_LAST_LOGIN_CHART">
            <a:extLst>
              <a:ext uri="{FF2B5EF4-FFF2-40B4-BE49-F238E27FC236}">
                <a16:creationId xmlns:a16="http://schemas.microsoft.com/office/drawing/2014/main" id="{22E7EC0E-ACE6-3DDF-FB84-9B4BAA3FD1E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6995323"/>
              </p:ext>
            </p:extLst>
          </p:nvPr>
        </p:nvGraphicFramePr>
        <p:xfrm>
          <a:off x="1838715" y="2588492"/>
          <a:ext cx="8512169" cy="32773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9C7D34BB-38AF-B1D8-E918-0552C118098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Recent access times are an indicator that the users actively engage with Sigrid and make use of its insights.</a:t>
            </a:r>
          </a:p>
        </p:txBody>
      </p:sp>
    </p:spTree>
    <p:extLst>
      <p:ext uri="{BB962C8B-B14F-4D97-AF65-F5344CB8AC3E}">
        <p14:creationId xmlns:p14="http://schemas.microsoft.com/office/powerpoint/2010/main" val="42166255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EA562B4-433C-6AD3-BE97-6669903E222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747448" cy="228209"/>
          </a:xfrm>
        </p:spPr>
        <p:txBody>
          <a:bodyPr/>
          <a:lstStyle/>
          <a:p>
            <a:r>
              <a:rPr lang="en-US" dirty="0"/>
              <a:t>Objectives coverage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6B275E-9687-84C1-BAB5-0DAE4218D09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6</a:t>
            </a:fld>
            <a:endParaRPr lang="nl-NL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471E740-C96B-E177-A48D-9DDFA9B47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of systems covered by objectives</a:t>
            </a:r>
          </a:p>
        </p:txBody>
      </p:sp>
      <p:graphicFrame>
        <p:nvGraphicFramePr>
          <p:cNvPr id="8" name="OBJECTIVES_COVERAGE_CHART">
            <a:extLst>
              <a:ext uri="{FF2B5EF4-FFF2-40B4-BE49-F238E27FC236}">
                <a16:creationId xmlns:a16="http://schemas.microsoft.com/office/drawing/2014/main" id="{0EEA915C-1522-0D70-85F6-DB14A1F8E99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25585759"/>
              </p:ext>
            </p:extLst>
          </p:nvPr>
        </p:nvGraphicFramePr>
        <p:xfrm>
          <a:off x="1235282" y="2540951"/>
          <a:ext cx="9719035" cy="37230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9FF7D-CC98-58F5-DA1F-6B85E8AE0DF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11880000" cy="986560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Having objectives set in Sigrid helps your teams to track the quality of the portfolio and gradually improve it over time.</a:t>
            </a:r>
          </a:p>
        </p:txBody>
      </p:sp>
    </p:spTree>
    <p:extLst>
      <p:ext uri="{BB962C8B-B14F-4D97-AF65-F5344CB8AC3E}">
        <p14:creationId xmlns:p14="http://schemas.microsoft.com/office/powerpoint/2010/main" val="93935893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11142</TotalTime>
  <Words>158</Words>
  <Application>Microsoft Macintosh PowerPoint</Application>
  <PresentationFormat>Widescreen</PresentationFormat>
  <Paragraphs>27</Paragraphs>
  <Slides>6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Arial</vt:lpstr>
      <vt:lpstr>Azeret Mono</vt:lpstr>
      <vt:lpstr>Azeret Mono Medium</vt:lpstr>
      <vt:lpstr>Calibri</vt:lpstr>
      <vt:lpstr>Helvetica Neue Bold</vt:lpstr>
      <vt:lpstr>Noir Pro</vt:lpstr>
      <vt:lpstr>Noir Pro Medium</vt:lpstr>
      <vt:lpstr>Noir Pro Semi Bold</vt:lpstr>
      <vt:lpstr>Light theme (default)</vt:lpstr>
      <vt:lpstr>PowerPoint Presentation</vt:lpstr>
      <vt:lpstr>Metadata completeness per field</vt:lpstr>
      <vt:lpstr>Last snapshot time in Sigrid for the systems</vt:lpstr>
      <vt:lpstr>Status of End-of-life (EOL) and deactivated systems in Sigrid</vt:lpstr>
      <vt:lpstr>Last access time in Sigrid per account role</vt:lpstr>
      <vt:lpstr>Number of systems covered by objectives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Andrei Tociu</cp:lastModifiedBy>
  <cp:revision>172</cp:revision>
  <cp:lastPrinted>2020-04-20T09:37:43Z</cp:lastPrinted>
  <dcterms:created xsi:type="dcterms:W3CDTF">2025-10-22T11:22:13Z</dcterms:created>
  <dcterms:modified xsi:type="dcterms:W3CDTF">2026-04-09T13:37:11Z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