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5"/>
  </p:notesMasterIdLst>
  <p:handoutMasterIdLst>
    <p:handoutMasterId r:id="rId26"/>
  </p:handoutMasterIdLst>
  <p:sldIdLst>
    <p:sldId id="1973" r:id="rId6"/>
    <p:sldId id="2010" r:id="rId7"/>
    <p:sldId id="11288" r:id="rId8"/>
    <p:sldId id="11394" r:id="rId9"/>
    <p:sldId id="2011" r:id="rId10"/>
    <p:sldId id="11482" r:id="rId11"/>
    <p:sldId id="11330" r:id="rId12"/>
    <p:sldId id="1988" r:id="rId13"/>
    <p:sldId id="2016" r:id="rId14"/>
    <p:sldId id="1824" r:id="rId15"/>
    <p:sldId id="11430" r:id="rId16"/>
    <p:sldId id="11483" r:id="rId17"/>
    <p:sldId id="11484" r:id="rId18"/>
    <p:sldId id="11481" r:id="rId19"/>
    <p:sldId id="11485" r:id="rId20"/>
    <p:sldId id="11486" r:id="rId21"/>
    <p:sldId id="2184" r:id="rId22"/>
    <p:sldId id="11487" r:id="rId23"/>
    <p:sldId id="1148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288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6763"/>
  </p:normalViewPr>
  <p:slideViewPr>
    <p:cSldViewPr snapToGrid="0" snapToObjects="1" showGuides="1">
      <p:cViewPr varScale="1">
        <p:scale>
          <a:sx n="123" d="100"/>
          <a:sy n="123" d="100"/>
        </p:scale>
        <p:origin x="840" y="-1873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emf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B7C8C91-AAEE-88A6-BA81-7A5C3377C9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C30E21-03D0-E176-48CC-E0A928A3028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169037" cy="228209"/>
          </a:xfrm>
        </p:spPr>
        <p:txBody>
          <a:bodyPr/>
          <a:lstStyle/>
          <a:p>
            <a:r>
              <a:rPr lang="en-GB" dirty="0"/>
              <a:t>System Metadata Overview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FB862-C01C-1641-7BFB-3619861959D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8F2885-3B34-E982-B629-94D55750761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3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023B51F-B4CF-A232-65A9-E0C75114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dirty="0">
                <a:latin typeface="Noir Pro Medium"/>
              </a:rPr>
              <a:t>Metadata overview for system SYSTEM_NAME</a:t>
            </a:r>
            <a:endParaRPr lang="en-GB" dirty="0"/>
          </a:p>
        </p:txBody>
      </p:sp>
      <p:graphicFrame>
        <p:nvGraphicFramePr>
          <p:cNvPr id="8" name="Table 10">
            <a:extLst>
              <a:ext uri="{FF2B5EF4-FFF2-40B4-BE49-F238E27FC236}">
                <a16:creationId xmlns:a16="http://schemas.microsoft.com/office/drawing/2014/main" id="{09A0B31C-AF41-29A5-D80B-73D37328C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613492"/>
              </p:ext>
            </p:extLst>
          </p:nvPr>
        </p:nvGraphicFramePr>
        <p:xfrm>
          <a:off x="582448" y="1509955"/>
          <a:ext cx="5222328" cy="3305539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57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52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General information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Full System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SYSTEM_FULL_NAME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Display name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SYSTEM_NAME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Division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METADATA_DIVISION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Team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Bold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METADATA_TEAM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Supplier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METADATA_SUPPLIER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Remark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METADATA_REMARK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Status Active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METADATA_STATUS_ACTIVE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Excluded from Dashboards</a:t>
                      </a:r>
                      <a:endParaRPr lang="en-US" sz="1400" b="1" i="0" u="none" strike="noStrike" dirty="0">
                        <a:solidFill>
                          <a:schemeClr val="tx2"/>
                        </a:solidFill>
                        <a:effectLst/>
                        <a:latin typeface="Calibri Regular"/>
                      </a:endParaRP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METADATA_EXCLUDED_FROM_DASHBOARDS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</a:tbl>
          </a:graphicData>
        </a:graphic>
      </p:graphicFrame>
      <p:graphicFrame>
        <p:nvGraphicFramePr>
          <p:cNvPr id="23" name="Table 10">
            <a:extLst>
              <a:ext uri="{FF2B5EF4-FFF2-40B4-BE49-F238E27FC236}">
                <a16:creationId xmlns:a16="http://schemas.microsoft.com/office/drawing/2014/main" id="{B0FB2279-02D8-F84F-22E7-354A133847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644355"/>
              </p:ext>
            </p:extLst>
          </p:nvPr>
        </p:nvGraphicFramePr>
        <p:xfrm>
          <a:off x="6387224" y="1505382"/>
          <a:ext cx="5222328" cy="389955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7269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95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Metadata</a:t>
                      </a:r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nl-NL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In production since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METADATA_IN_PRODUCTION_SINCE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Business criticality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METADATA_BUSINESS_CRITICALITY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Lifecycle phase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METADATA_LIFECYCLE_PHASE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Bold"/>
                        </a:rPr>
                        <a:t>Target industry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METADATA_TARGET_INDUSTRY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Deployment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METADATA_DEPLOYMENT_TYPE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Application type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METADATA_APPLICATION_TYPE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811633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Distribution strategy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METADATA_DISTRIBUTION_STRATEGY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589065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ID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METADATA_EXTERNAL_ID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047809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i="0" u="none" strike="noStrike" dirty="0">
                          <a:solidFill>
                            <a:schemeClr val="tx2"/>
                          </a:solidFill>
                          <a:effectLst/>
                          <a:latin typeface="Calibri Regular"/>
                        </a:rPr>
                        <a:t>External display 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0" i="0" u="none" strike="noStrike" kern="1200" dirty="0">
                          <a:solidFill>
                            <a:schemeClr val="tx2"/>
                          </a:solidFill>
                          <a:effectLst/>
                          <a:latin typeface="Calibri Regular"/>
                          <a:ea typeface="+mn-ea"/>
                          <a:cs typeface="+mn-cs"/>
                        </a:rPr>
                        <a:t>METADATA_EXTERNAL_DISPLAY_NAME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197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7542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MAINT_RELATIVE_COST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Calibri" panose="020F0502020204030204" pitchFamily="34" charset="0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CC222B10-C35A-E1BF-3C6F-DEEE025002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6403D236-46DC-F53D-82C2-4D20A0AF68A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3955803" y="2780488"/>
            <a:ext cx="1487734" cy="339865"/>
            <a:chOff x="3955803" y="2830273"/>
            <a:chExt cx="1487734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4065156" y="2918313"/>
              <a:ext cx="1287688" cy="157941"/>
              <a:chOff x="4307640" y="2702807"/>
              <a:chExt cx="1287688" cy="157941"/>
            </a:xfrm>
          </p:grpSpPr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3955803" y="2830273"/>
              <a:ext cx="148773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6096000" y="3717908"/>
            <a:ext cx="5168112" cy="339865"/>
            <a:chOff x="6096000" y="3744528"/>
            <a:chExt cx="5168112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6368262" y="3835491"/>
              <a:ext cx="4797653" cy="157941"/>
              <a:chOff x="6610746" y="3796856"/>
              <a:chExt cx="4797653" cy="157941"/>
            </a:xfrm>
          </p:grpSpPr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6096000" y="3744528"/>
              <a:ext cx="516811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088215"/>
              </p:ext>
            </p:extLst>
          </p:nvPr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1200" b="0" i="0" noProof="0" dirty="0">
                        <a:solidFill>
                          <a:schemeClr val="bg1"/>
                        </a:solidFill>
                        <a:latin typeface="☞NOIR PRO MEDIUM" pitchFamily="2" charset="0"/>
                      </a:endParaRP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GALAXY_CHART&#13;&#10;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6225825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MAINT_RELATIVE_COST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C752FB1-03C1-7292-253C-C8435A815C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SYSTEM_NAME scores MAINT_RELATIVE market average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962954"/>
              </p:ext>
            </p:extLst>
          </p:nvPr>
        </p:nvGraphicFramePr>
        <p:xfrm>
          <a:off x="8571496" y="3035953"/>
          <a:ext cx="3315521" cy="1691748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70E21-F741-00F2-0514-4F39688D23D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ECHNOLOGY_CHART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51CEE-B969-2DB6-0530-EA6B02637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TEST_CODE_RATIO_CHART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ep 6">
            <a:extLst>
              <a:ext uri="{FF2B5EF4-FFF2-40B4-BE49-F238E27FC236}">
                <a16:creationId xmlns:a16="http://schemas.microsoft.com/office/drawing/2014/main" id="{6B0DEB51-B2FE-F834-8777-2603B3D20B39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69" name="Rechthoek 25">
              <a:extLst>
                <a:ext uri="{FF2B5EF4-FFF2-40B4-BE49-F238E27FC236}">
                  <a16:creationId xmlns:a16="http://schemas.microsoft.com/office/drawing/2014/main" id="{F62F3BBE-F027-D806-FFCD-85040BCE7D01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0" name="Afgeronde rechthoek 36">
              <a:extLst>
                <a:ext uri="{FF2B5EF4-FFF2-40B4-BE49-F238E27FC236}">
                  <a16:creationId xmlns:a16="http://schemas.microsoft.com/office/drawing/2014/main" id="{E1A4E865-37F0-9A34-FD7D-835BA918DD1E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2" name="TextBox 39">
              <a:extLst>
                <a:ext uri="{FF2B5EF4-FFF2-40B4-BE49-F238E27FC236}">
                  <a16:creationId xmlns:a16="http://schemas.microsoft.com/office/drawing/2014/main" id="{E0DB69D7-1842-B942-7F31-5E79154351F4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77" name="Afgeronde rechthoek 2">
              <a:extLst>
                <a:ext uri="{FF2B5EF4-FFF2-40B4-BE49-F238E27FC236}">
                  <a16:creationId xmlns:a16="http://schemas.microsoft.com/office/drawing/2014/main" id="{4E632430-34C6-9115-5659-8CA345289B2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9" name="Rechte verbindingslijn 8">
              <a:extLst>
                <a:ext uri="{FF2B5EF4-FFF2-40B4-BE49-F238E27FC236}">
                  <a16:creationId xmlns:a16="http://schemas.microsoft.com/office/drawing/2014/main" id="{DF949A42-8A7E-EEDC-FDCB-2F42B36E3D8F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Rechte verbindingslijn 9">
              <a:extLst>
                <a:ext uri="{FF2B5EF4-FFF2-40B4-BE49-F238E27FC236}">
                  <a16:creationId xmlns:a16="http://schemas.microsoft.com/office/drawing/2014/main" id="{82321C5C-F1A3-1ADC-CFDB-1BE9EE1CFE45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Rechte verbindingslijn 10">
              <a:extLst>
                <a:ext uri="{FF2B5EF4-FFF2-40B4-BE49-F238E27FC236}">
                  <a16:creationId xmlns:a16="http://schemas.microsoft.com/office/drawing/2014/main" id="{E108268E-41B0-FD95-ED4E-7897ADD92B47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Rechte verbindingslijn 12">
              <a:extLst>
                <a:ext uri="{FF2B5EF4-FFF2-40B4-BE49-F238E27FC236}">
                  <a16:creationId xmlns:a16="http://schemas.microsoft.com/office/drawing/2014/main" id="{03CDD57C-F5C9-5D96-0FF3-F3D5249E2A9E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Rechthoek 14">
              <a:extLst>
                <a:ext uri="{FF2B5EF4-FFF2-40B4-BE49-F238E27FC236}">
                  <a16:creationId xmlns:a16="http://schemas.microsoft.com/office/drawing/2014/main" id="{7663298D-4D08-EA75-E570-301709FB63B5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5" name="Afgeronde rechthoek 18">
              <a:extLst>
                <a:ext uri="{FF2B5EF4-FFF2-40B4-BE49-F238E27FC236}">
                  <a16:creationId xmlns:a16="http://schemas.microsoft.com/office/drawing/2014/main" id="{A5FAAF41-C124-ED48-3B06-0E05FE2716BD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86" name="Afgeronde rechthoek 19">
              <a:extLst>
                <a:ext uri="{FF2B5EF4-FFF2-40B4-BE49-F238E27FC236}">
                  <a16:creationId xmlns:a16="http://schemas.microsoft.com/office/drawing/2014/main" id="{498A98D2-8FFB-F176-FF97-11B1FF459B19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87" name="Afgeronde rechthoek 20">
              <a:extLst>
                <a:ext uri="{FF2B5EF4-FFF2-40B4-BE49-F238E27FC236}">
                  <a16:creationId xmlns:a16="http://schemas.microsoft.com/office/drawing/2014/main" id="{7F5F2E8F-73B0-A7E0-AAF4-9EE5770CF8D5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88" name="Afgeronde rechthoek 21">
              <a:extLst>
                <a:ext uri="{FF2B5EF4-FFF2-40B4-BE49-F238E27FC236}">
                  <a16:creationId xmlns:a16="http://schemas.microsoft.com/office/drawing/2014/main" id="{CE4A8CD8-E211-19E8-2A9B-E2339DFE182C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89" name="Afgeronde rechthoek 22">
              <a:extLst>
                <a:ext uri="{FF2B5EF4-FFF2-40B4-BE49-F238E27FC236}">
                  <a16:creationId xmlns:a16="http://schemas.microsoft.com/office/drawing/2014/main" id="{91EA6B1C-419C-984B-628F-BF569F9E6635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90" name="Afgeronde rechthoek 23">
              <a:extLst>
                <a:ext uri="{FF2B5EF4-FFF2-40B4-BE49-F238E27FC236}">
                  <a16:creationId xmlns:a16="http://schemas.microsoft.com/office/drawing/2014/main" id="{57F1BCDC-2201-676E-E672-58D1F045E3EC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91" name="Rectangle 29">
              <a:extLst>
                <a:ext uri="{FF2B5EF4-FFF2-40B4-BE49-F238E27FC236}">
                  <a16:creationId xmlns:a16="http://schemas.microsoft.com/office/drawing/2014/main" id="{8F2CF3F5-6DDD-DD26-B94B-228E7E2A9207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2" name="Rectangle 34">
              <a:extLst>
                <a:ext uri="{FF2B5EF4-FFF2-40B4-BE49-F238E27FC236}">
                  <a16:creationId xmlns:a16="http://schemas.microsoft.com/office/drawing/2014/main" id="{A9B6994F-DDB5-543C-0A4C-09D790753C2A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3" name="Rectangle 35">
              <a:extLst>
                <a:ext uri="{FF2B5EF4-FFF2-40B4-BE49-F238E27FC236}">
                  <a16:creationId xmlns:a16="http://schemas.microsoft.com/office/drawing/2014/main" id="{CDFCB27B-9C34-D648-B912-48313CC5A18A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94" name="Rectangle 36">
              <a:extLst>
                <a:ext uri="{FF2B5EF4-FFF2-40B4-BE49-F238E27FC236}">
                  <a16:creationId xmlns:a16="http://schemas.microsoft.com/office/drawing/2014/main" id="{D6D645DA-F400-D23F-2E6A-8F7B3B74EB03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95" name="Rectangle 37">
              <a:extLst>
                <a:ext uri="{FF2B5EF4-FFF2-40B4-BE49-F238E27FC236}">
                  <a16:creationId xmlns:a16="http://schemas.microsoft.com/office/drawing/2014/main" id="{02A52E32-90C2-9F1D-5BEC-07FB7A0CC76C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6" name="Rechte verbindingslijn 77">
              <a:extLst>
                <a:ext uri="{FF2B5EF4-FFF2-40B4-BE49-F238E27FC236}">
                  <a16:creationId xmlns:a16="http://schemas.microsoft.com/office/drawing/2014/main" id="{A6E6830D-28D0-4E29-B40C-0F125AB5CEB2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Rechte verbindingslijn 79">
              <a:extLst>
                <a:ext uri="{FF2B5EF4-FFF2-40B4-BE49-F238E27FC236}">
                  <a16:creationId xmlns:a16="http://schemas.microsoft.com/office/drawing/2014/main" id="{E3D5E980-DCCD-CC53-AEBE-BD8A28D28CDF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6184C160-E2F7-3EE1-80A1-FA0E7C453FAF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99" name="Rechte verbindingslijn 27">
              <a:extLst>
                <a:ext uri="{FF2B5EF4-FFF2-40B4-BE49-F238E27FC236}">
                  <a16:creationId xmlns:a16="http://schemas.microsoft.com/office/drawing/2014/main" id="{D4B51BB0-9CB9-13BD-8469-038BBA75B4CA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0" name="Graphic 99">
              <a:extLst>
                <a:ext uri="{FF2B5EF4-FFF2-40B4-BE49-F238E27FC236}">
                  <a16:creationId xmlns:a16="http://schemas.microsoft.com/office/drawing/2014/main" id="{00092586-1408-3B9B-0915-DD60B92E3A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D74ABEF-BBA7-7EB8-0A5E-BB2FB1DE2F0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scores ARCH_AT_BELOW market average (ARCH_RATING </a:t>
            </a: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339754"/>
              </p:ext>
            </p:extLst>
          </p:nvPr>
        </p:nvGraphicFramePr>
        <p:xfrm>
          <a:off x="8395675" y="3035953"/>
          <a:ext cx="3480722" cy="28426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awareness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STARS_KNOWLEDGE_AWARENESS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ARCH_RATING_KNOWLEDGE_AWARENESS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kern="1200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Team 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kern="1200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STARS_TEAM_STABILITY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ARCH_RATING_TEAM_STABILITY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7605174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>
                <a:solidFill>
                  <a:srgbClr val="1E354B"/>
                </a:solidFill>
              </a:rPr>
              <a:t>COLOR_ARCH_RATING_STRUCTURE ★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algn="ctr">
              <a:defRPr/>
            </a:pPr>
            <a:r>
              <a:rPr lang="en-US" sz="1200" noProof="0" dirty="0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★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6">
            <a:extLst>
              <a:ext uri="{FF2B5EF4-FFF2-40B4-BE49-F238E27FC236}">
                <a16:creationId xmlns:a16="http://schemas.microsoft.com/office/drawing/2014/main" id="{4CE14A0A-B8B6-7D0D-3564-33C85D8F48B0}"/>
              </a:ext>
            </a:extLst>
          </p:cNvPr>
          <p:cNvGrpSpPr/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14" name="Rechthoek 25">
              <a:extLst>
                <a:ext uri="{FF2B5EF4-FFF2-40B4-BE49-F238E27FC236}">
                  <a16:creationId xmlns:a16="http://schemas.microsoft.com/office/drawing/2014/main" id="{6024112E-385A-46B2-9146-3B430094ECEE}"/>
                </a:ext>
              </a:extLst>
            </p:cNvPr>
            <p:cNvSpPr/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6" name="Afgeronde rechthoek 36">
              <a:extLst>
                <a:ext uri="{FF2B5EF4-FFF2-40B4-BE49-F238E27FC236}">
                  <a16:creationId xmlns:a16="http://schemas.microsoft.com/office/drawing/2014/main" id="{D5AF62F9-2731-16DA-3D50-41C5C6913927}"/>
                </a:ext>
              </a:extLst>
            </p:cNvPr>
            <p:cNvSpPr/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39">
              <a:extLst>
                <a:ext uri="{FF2B5EF4-FFF2-40B4-BE49-F238E27FC236}">
                  <a16:creationId xmlns:a16="http://schemas.microsoft.com/office/drawing/2014/main" id="{5F9B5B7F-C4FB-ED20-5174-E893C3E53456}"/>
                </a:ext>
              </a:extLst>
            </p:cNvPr>
            <p:cNvSpPr txBox="1"/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25" name="Afgeronde rechthoek 2">
              <a:extLst>
                <a:ext uri="{FF2B5EF4-FFF2-40B4-BE49-F238E27FC236}">
                  <a16:creationId xmlns:a16="http://schemas.microsoft.com/office/drawing/2014/main" id="{4BA3C8BC-C5A7-3237-B1EA-EEA17EC91199}"/>
                </a:ext>
              </a:extLst>
            </p:cNvPr>
            <p:cNvSpPr/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29" name="Rechte verbindingslijn 8">
              <a:extLst>
                <a:ext uri="{FF2B5EF4-FFF2-40B4-BE49-F238E27FC236}">
                  <a16:creationId xmlns:a16="http://schemas.microsoft.com/office/drawing/2014/main" id="{A3239A47-7688-AC30-090B-A22E630FC15C}"/>
                </a:ext>
              </a:extLst>
            </p:cNvPr>
            <p:cNvCxnSpPr/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Rechte verbindingslijn 9">
              <a:extLst>
                <a:ext uri="{FF2B5EF4-FFF2-40B4-BE49-F238E27FC236}">
                  <a16:creationId xmlns:a16="http://schemas.microsoft.com/office/drawing/2014/main" id="{AB03C8D2-A77E-F86D-699F-61EEAF3A6F6D}"/>
                </a:ext>
              </a:extLst>
            </p:cNvPr>
            <p:cNvCxnSpPr/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Rechte verbindingslijn 10">
              <a:extLst>
                <a:ext uri="{FF2B5EF4-FFF2-40B4-BE49-F238E27FC236}">
                  <a16:creationId xmlns:a16="http://schemas.microsoft.com/office/drawing/2014/main" id="{A14CB0E1-CAAE-D4CC-52AE-D4F8F65D414D}"/>
                </a:ext>
              </a:extLst>
            </p:cNvPr>
            <p:cNvCxnSpPr/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Rechte verbindingslijn 12">
              <a:extLst>
                <a:ext uri="{FF2B5EF4-FFF2-40B4-BE49-F238E27FC236}">
                  <a16:creationId xmlns:a16="http://schemas.microsoft.com/office/drawing/2014/main" id="{0A8A6778-B9CF-3E87-C97E-26A24A41A976}"/>
                </a:ext>
              </a:extLst>
            </p:cNvPr>
            <p:cNvCxnSpPr/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hthoek 14">
              <a:extLst>
                <a:ext uri="{FF2B5EF4-FFF2-40B4-BE49-F238E27FC236}">
                  <a16:creationId xmlns:a16="http://schemas.microsoft.com/office/drawing/2014/main" id="{1A9FF113-390D-B765-CB3B-9A27EC9E0043}"/>
                </a:ext>
              </a:extLst>
            </p:cNvPr>
            <p:cNvSpPr/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41" name="Afgeronde rechthoek 18">
              <a:extLst>
                <a:ext uri="{FF2B5EF4-FFF2-40B4-BE49-F238E27FC236}">
                  <a16:creationId xmlns:a16="http://schemas.microsoft.com/office/drawing/2014/main" id="{60755CF8-D102-5653-00B8-BE78247EA5F1}"/>
                </a:ext>
              </a:extLst>
            </p:cNvPr>
            <p:cNvSpPr/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42" name="Afgeronde rechthoek 19">
              <a:extLst>
                <a:ext uri="{FF2B5EF4-FFF2-40B4-BE49-F238E27FC236}">
                  <a16:creationId xmlns:a16="http://schemas.microsoft.com/office/drawing/2014/main" id="{DEE64A5D-4E01-5524-F799-1F6F1ECA090D}"/>
                </a:ext>
              </a:extLst>
            </p:cNvPr>
            <p:cNvSpPr/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43" name="Afgeronde rechthoek 20">
              <a:extLst>
                <a:ext uri="{FF2B5EF4-FFF2-40B4-BE49-F238E27FC236}">
                  <a16:creationId xmlns:a16="http://schemas.microsoft.com/office/drawing/2014/main" id="{BEBD6C4E-1E55-C06A-BBF3-8958FF7D7C43}"/>
                </a:ext>
              </a:extLst>
            </p:cNvPr>
            <p:cNvSpPr/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44" name="Afgeronde rechthoek 21">
              <a:extLst>
                <a:ext uri="{FF2B5EF4-FFF2-40B4-BE49-F238E27FC236}">
                  <a16:creationId xmlns:a16="http://schemas.microsoft.com/office/drawing/2014/main" id="{51CB4841-8577-D508-2FD2-5FE829BE9E20}"/>
                </a:ext>
              </a:extLst>
            </p:cNvPr>
            <p:cNvSpPr/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45" name="Afgeronde rechthoek 22">
              <a:extLst>
                <a:ext uri="{FF2B5EF4-FFF2-40B4-BE49-F238E27FC236}">
                  <a16:creationId xmlns:a16="http://schemas.microsoft.com/office/drawing/2014/main" id="{424AEB5C-E6BC-5C31-CBB0-CB678E021394}"/>
                </a:ext>
              </a:extLst>
            </p:cNvPr>
            <p:cNvSpPr/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46" name="Afgeronde rechthoek 23">
              <a:extLst>
                <a:ext uri="{FF2B5EF4-FFF2-40B4-BE49-F238E27FC236}">
                  <a16:creationId xmlns:a16="http://schemas.microsoft.com/office/drawing/2014/main" id="{B28E507D-44A0-F88A-01F1-566B0FAD0FC8}"/>
                </a:ext>
              </a:extLst>
            </p:cNvPr>
            <p:cNvSpPr/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48" name="Rectangle 29">
              <a:extLst>
                <a:ext uri="{FF2B5EF4-FFF2-40B4-BE49-F238E27FC236}">
                  <a16:creationId xmlns:a16="http://schemas.microsoft.com/office/drawing/2014/main" id="{5AA3918E-C243-8940-15ED-6DCB20D268B1}"/>
                </a:ext>
              </a:extLst>
            </p:cNvPr>
            <p:cNvSpPr/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★☆☆☆☆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9" name="Rectangle 34">
              <a:extLst>
                <a:ext uri="{FF2B5EF4-FFF2-40B4-BE49-F238E27FC236}">
                  <a16:creationId xmlns:a16="http://schemas.microsoft.com/office/drawing/2014/main" id="{2B7654F3-F274-18DB-3333-74D092A89FB0}"/>
                </a:ext>
              </a:extLst>
            </p:cNvPr>
            <p:cNvSpPr/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★★☆☆☆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35">
              <a:extLst>
                <a:ext uri="{FF2B5EF4-FFF2-40B4-BE49-F238E27FC236}">
                  <a16:creationId xmlns:a16="http://schemas.microsoft.com/office/drawing/2014/main" id="{ED200687-7BC1-C02E-D320-49D6FB896F25}"/>
                </a:ext>
              </a:extLst>
            </p:cNvPr>
            <p:cNvSpPr/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>
                  <a:solidFill>
                    <a:schemeClr val="bg1"/>
                  </a:solidFill>
                  <a:cs typeface="Sigsterren"/>
                </a:rPr>
                <a:t>★★★☆☆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52" name="Rectangle 36">
              <a:extLst>
                <a:ext uri="{FF2B5EF4-FFF2-40B4-BE49-F238E27FC236}">
                  <a16:creationId xmlns:a16="http://schemas.microsoft.com/office/drawing/2014/main" id="{50A96A4F-95C3-61B9-5011-65B391A77225}"/>
                </a:ext>
              </a:extLst>
            </p:cNvPr>
            <p:cNvSpPr/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★★★★☆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5" name="Rectangle 37">
              <a:extLst>
                <a:ext uri="{FF2B5EF4-FFF2-40B4-BE49-F238E27FC236}">
                  <a16:creationId xmlns:a16="http://schemas.microsoft.com/office/drawing/2014/main" id="{367A8A67-3457-4FA2-A363-B3F14A43072E}"/>
                </a:ext>
              </a:extLst>
            </p:cNvPr>
            <p:cNvSpPr/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/>
                  </a:solidFill>
                  <a:cs typeface="Sigsterren"/>
                </a:rPr>
                <a:t>★★★★★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56" name="Rechte verbindingslijn 77">
              <a:extLst>
                <a:ext uri="{FF2B5EF4-FFF2-40B4-BE49-F238E27FC236}">
                  <a16:creationId xmlns:a16="http://schemas.microsoft.com/office/drawing/2014/main" id="{BA782917-279D-CB2D-D97E-3910DF4196B4}"/>
                </a:ext>
              </a:extLst>
            </p:cNvPr>
            <p:cNvCxnSpPr/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Rechte verbindingslijn 79">
              <a:extLst>
                <a:ext uri="{FF2B5EF4-FFF2-40B4-BE49-F238E27FC236}">
                  <a16:creationId xmlns:a16="http://schemas.microsoft.com/office/drawing/2014/main" id="{2667CBF8-AB62-D99D-BA51-142C08F5CF79}"/>
                </a:ext>
              </a:extLst>
            </p:cNvPr>
            <p:cNvCxnSpPr/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Graphic 57">
              <a:extLst>
                <a:ext uri="{FF2B5EF4-FFF2-40B4-BE49-F238E27FC236}">
                  <a16:creationId xmlns:a16="http://schemas.microsoft.com/office/drawing/2014/main" id="{E2BAF064-7635-1B45-EA75-1067691D05F4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59" name="Rechte verbindingslijn 27">
              <a:extLst>
                <a:ext uri="{FF2B5EF4-FFF2-40B4-BE49-F238E27FC236}">
                  <a16:creationId xmlns:a16="http://schemas.microsoft.com/office/drawing/2014/main" id="{2DD03688-C2CE-72C7-2E9D-3FF562749A55}"/>
                </a:ext>
              </a:extLst>
            </p:cNvPr>
            <p:cNvCxnSpPr/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7C1EB5F-382D-9F3C-AD26-C3E7BE7E26CB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44616"/>
              </p:ext>
            </p:extLst>
          </p:nvPr>
        </p:nvGraphicFramePr>
        <p:xfrm>
          <a:off x="8571496" y="3035953"/>
          <a:ext cx="3315521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19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graphicFrame>
        <p:nvGraphicFramePr>
          <p:cNvPr id="2" name="OSH_VULN_LEGAL_GRAPH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OTHER_RISKS_GRAPH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55695836"/>
              </p:ext>
            </p:extLst>
          </p:nvPr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11244</TotalTime>
  <Words>1977</Words>
  <Application>Microsoft Macintosh PowerPoint</Application>
  <PresentationFormat>Widescreen</PresentationFormat>
  <Paragraphs>426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37" baseType="lpstr">
      <vt:lpstr>.AppleSystemUIFont</vt:lpstr>
      <vt:lpstr>Calibri Bold</vt:lpstr>
      <vt:lpstr>Calibri Regular</vt:lpstr>
      <vt:lpstr>Google Sans</vt:lpstr>
      <vt:lpstr>TheSansMono M5</vt:lpstr>
      <vt:lpstr>☞NOIR PRO MEDIUM</vt:lpstr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Sigsterren</vt:lpstr>
      <vt:lpstr>Wingdings</vt:lpstr>
      <vt:lpstr>Light theme (default)</vt:lpstr>
      <vt:lpstr>Dark theme</vt:lpstr>
      <vt:lpstr>PowerPoint Presentation</vt:lpstr>
      <vt:lpstr>Outline of topics</vt:lpstr>
      <vt:lpstr>Metadata overview for system SYSTEM_NAME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MAINT_RELATIVE market average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★)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Dennis Bijlsma</cp:lastModifiedBy>
  <cp:revision>205</cp:revision>
  <cp:lastPrinted>2020-04-20T09:37:43Z</cp:lastPrinted>
  <dcterms:created xsi:type="dcterms:W3CDTF">2025-10-22T11:22:13Z</dcterms:created>
  <dcterms:modified xsi:type="dcterms:W3CDTF">2026-04-20T15:45:29Z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