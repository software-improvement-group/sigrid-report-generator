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60"/>
  </p:notesMasterIdLst>
  <p:handoutMasterIdLst>
    <p:handoutMasterId r:id="rId61"/>
  </p:handoutMasterIdLst>
  <p:sldIdLst>
    <p:sldId id="1973" r:id="rId6"/>
    <p:sldId id="2022" r:id="rId7"/>
    <p:sldId id="11371" r:id="rId8"/>
    <p:sldId id="11403" r:id="rId9"/>
    <p:sldId id="11450" r:id="rId10"/>
    <p:sldId id="11451" r:id="rId11"/>
    <p:sldId id="11452" r:id="rId12"/>
    <p:sldId id="11478" r:id="rId13"/>
    <p:sldId id="11453" r:id="rId14"/>
    <p:sldId id="11479" r:id="rId15"/>
    <p:sldId id="11454" r:id="rId16"/>
    <p:sldId id="11480" r:id="rId17"/>
    <p:sldId id="11455" r:id="rId18"/>
    <p:sldId id="11481" r:id="rId19"/>
    <p:sldId id="11456" r:id="rId20"/>
    <p:sldId id="11482" r:id="rId21"/>
    <p:sldId id="11457" r:id="rId22"/>
    <p:sldId id="11483" r:id="rId23"/>
    <p:sldId id="11458" r:id="rId24"/>
    <p:sldId id="11484" r:id="rId25"/>
    <p:sldId id="2023" r:id="rId26"/>
    <p:sldId id="11459" r:id="rId27"/>
    <p:sldId id="11485" r:id="rId28"/>
    <p:sldId id="11460" r:id="rId29"/>
    <p:sldId id="11486" r:id="rId30"/>
    <p:sldId id="11461" r:id="rId31"/>
    <p:sldId id="11487" r:id="rId32"/>
    <p:sldId id="11462" r:id="rId33"/>
    <p:sldId id="11488" r:id="rId34"/>
    <p:sldId id="11463" r:id="rId35"/>
    <p:sldId id="11489" r:id="rId36"/>
    <p:sldId id="11464" r:id="rId37"/>
    <p:sldId id="11490" r:id="rId38"/>
    <p:sldId id="11465" r:id="rId39"/>
    <p:sldId id="11491" r:id="rId40"/>
    <p:sldId id="11466" r:id="rId41"/>
    <p:sldId id="11492" r:id="rId42"/>
    <p:sldId id="11467" r:id="rId43"/>
    <p:sldId id="11493" r:id="rId44"/>
    <p:sldId id="11468" r:id="rId45"/>
    <p:sldId id="11494" r:id="rId46"/>
    <p:sldId id="11469" r:id="rId47"/>
    <p:sldId id="11495" r:id="rId48"/>
    <p:sldId id="11470" r:id="rId49"/>
    <p:sldId id="11496" r:id="rId50"/>
    <p:sldId id="11471" r:id="rId51"/>
    <p:sldId id="11497" r:id="rId52"/>
    <p:sldId id="2024" r:id="rId53"/>
    <p:sldId id="11472" r:id="rId54"/>
    <p:sldId id="11473" r:id="rId55"/>
    <p:sldId id="11474" r:id="rId56"/>
    <p:sldId id="11475" r:id="rId57"/>
    <p:sldId id="11476" r:id="rId58"/>
    <p:sldId id="11477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371"/>
            <p14:sldId id="11403"/>
            <p14:sldId id="11450"/>
            <p14:sldId id="11451"/>
            <p14:sldId id="11452"/>
            <p14:sldId id="11478"/>
            <p14:sldId id="11453"/>
            <p14:sldId id="11479"/>
            <p14:sldId id="11454"/>
            <p14:sldId id="11480"/>
            <p14:sldId id="11455"/>
            <p14:sldId id="11481"/>
            <p14:sldId id="11456"/>
            <p14:sldId id="11482"/>
            <p14:sldId id="11457"/>
            <p14:sldId id="11483"/>
            <p14:sldId id="11458"/>
            <p14:sldId id="11484"/>
            <p14:sldId id="2023"/>
            <p14:sldId id="11459"/>
            <p14:sldId id="11485"/>
            <p14:sldId id="11460"/>
            <p14:sldId id="11486"/>
            <p14:sldId id="11461"/>
            <p14:sldId id="11487"/>
            <p14:sldId id="11462"/>
            <p14:sldId id="11488"/>
            <p14:sldId id="11463"/>
            <p14:sldId id="11489"/>
            <p14:sldId id="11464"/>
            <p14:sldId id="11490"/>
            <p14:sldId id="11465"/>
            <p14:sldId id="11491"/>
            <p14:sldId id="11466"/>
            <p14:sldId id="11492"/>
            <p14:sldId id="11467"/>
            <p14:sldId id="11493"/>
            <p14:sldId id="11468"/>
            <p14:sldId id="11494"/>
            <p14:sldId id="11469"/>
            <p14:sldId id="11495"/>
            <p14:sldId id="11470"/>
            <p14:sldId id="11496"/>
            <p14:sldId id="11471"/>
            <p14:sldId id="11497"/>
            <p14:sldId id="2024"/>
            <p14:sldId id="11472"/>
            <p14:sldId id="11473"/>
            <p14:sldId id="11474"/>
            <p14:sldId id="11475"/>
            <p14:sldId id="11476"/>
            <p14:sldId id="1147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2"/>
    <p:restoredTop sz="96763"/>
  </p:normalViewPr>
  <p:slideViewPr>
    <p:cSldViewPr snapToGrid="0" snapToObjects="1" showGuides="1">
      <p:cViewPr varScale="1">
        <p:scale>
          <a:sx n="112" d="100"/>
          <a:sy n="112" d="100"/>
        </p:scale>
        <p:origin x="208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microsoft.com/office/2018/10/relationships/authors" Target="authors.xml"/><Relationship Id="rId5" Type="http://schemas.openxmlformats.org/officeDocument/2006/relationships/slideMaster" Target="slideMasters/slideMaster2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Volume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PORTFOLIO_PERIOD_MAINT_VOLUME_GROUPED_BY_TEAM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63501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Volume metric for portfolio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PORTFOLIO_PERIOD_MAINT_VOLUME_CHANGE_GROUPED_BY_TEAM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73559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028529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738139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478757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812787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541612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557207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381381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753925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853261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435501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081079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509898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588205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69850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552775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3258004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024166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87711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4815679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483972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3160118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8417032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Reuse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PORTFOLIO_PERIOD_ARCH_CODE_REUSE_GROUPED_BY_TEAM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4269605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Reuse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PORTFOLIO_PERIOD_ARCH_CODE_REUSE_RATINGS_CHANGE_GROUPED_BY_TEAM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6681794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Communication Centralization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PORTFOLIO_PERIOD_ARCH_COMMUNICATION_CENTRALIZATION_GROUPED_BY_TEAM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462586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PORTFOLIO_PERIOD_ARCH_COMMUNICATION_CENTRALIZATION_RATINGS_CHANGE_GROUPED_BY_TEAM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2855799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3455708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8730512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Technology Prevalence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PORTFOLIO_PERIOD_ARCH_TECHNOLOGY_PREVALENCE_GROUPED_BY_TEAM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2014437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Technology Prevalence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PORTFOLIO_PERIOD_ARCH_TECHNOLOGY_PREVALENCE_RATINGS_CHANGE_GROUPED_BY_TEAM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2265809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286626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1784630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Distribution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PORTFOLIO_PERIOD_ARCH_KNOWLEDGE_DISTRIBUTION_GROUPED_BY_TEAM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371437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Distribution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PORTFOLIO_PERIOD_ARCH_KNOWLEDGE_DISTRIBUTION_RATINGS_CHANGE_GROUPED_BY_TEAM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4299906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9184622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041879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8177980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9972936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1369242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2611837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48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PORTFOLIO_PERIOD_OSH_VULNERABILITY_GROUPED_BY_TEAM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6825192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PORTFOLIO_PERIOD_OSH_LICENSES_GROUPED_BY_TEAM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6817882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PORTFOLIO_PERIOD_OSH_FRESHNESS_GROUPED_BY_TEAM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586056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PORTFOLIO_PERIOD_OSH_MANAGEMENT_GROUPED_BY_TEAM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4789435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PORTFOLIO_PERIOD_OSH_ACTIVITY_GROUPED_BY_TEAM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17809171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PORTFOLIO_PERIOD_OSH_STABILITY_GROUPED_BY_TEAM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245585147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22877</TotalTime>
  <Words>2457</Words>
  <Application>Microsoft Macintosh PowerPoint</Application>
  <PresentationFormat>Widescreen</PresentationFormat>
  <Paragraphs>550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54</vt:i4>
      </vt:variant>
    </vt:vector>
  </HeadingPairs>
  <TitlesOfParts>
    <vt:vector size="68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Index of Metrics</vt:lpstr>
      <vt:lpstr>PORTFOLIO_PERIOD_MAINT_SHORT_SUMMARY</vt:lpstr>
      <vt:lpstr>PORTFOLIO_PERIOD_MAINT_CHANGE_SHORT_SUMMARY</vt:lpstr>
      <vt:lpstr>Overview of Volume metric for portfolio CUSTOMER_NAME</vt:lpstr>
      <vt:lpstr>Change in Volume metric for portfolio CUSTOMER_NAME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Code Reuse metric for portfolio CUSTOMER_NAME</vt:lpstr>
      <vt:lpstr>Change in Code Reuse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Technology Prevalence metric for portfolio CUSTOMER_NAME</vt:lpstr>
      <vt:lpstr>Change in Technology Prevalence metric for portfolio CUSTOMER_NAME</vt:lpstr>
      <vt:lpstr>Overview of Bounded Evolution metric for portfolio CUSTOMER_NAME</vt:lpstr>
      <vt:lpstr>Change in Bounded Evolution metric for portfolio CUSTOMER_NAME</vt:lpstr>
      <vt:lpstr>Overview of Knowledge Distribution metric for portfolio CUSTOMER_NAME</vt:lpstr>
      <vt:lpstr>Change in Knowledge Distribution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  <vt:lpstr>Overview of Stability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216</cp:revision>
  <cp:lastPrinted>2020-04-20T09:37:43Z</cp:lastPrinted>
  <dcterms:created xsi:type="dcterms:W3CDTF">2025-10-22T11:22:13Z</dcterms:created>
  <dcterms:modified xsi:type="dcterms:W3CDTF">2026-08-03T12:01:40Z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