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4" r:id="rId5"/>
  </p:sldMasterIdLst>
  <p:notesMasterIdLst>
    <p:notesMasterId r:id="rId49"/>
  </p:notesMasterIdLst>
  <p:handoutMasterIdLst>
    <p:handoutMasterId r:id="rId50"/>
  </p:handoutMasterIdLst>
  <p:sldIdLst>
    <p:sldId id="1973" r:id="rId6"/>
    <p:sldId id="2022" r:id="rId7"/>
    <p:sldId id="11601" r:id="rId8"/>
    <p:sldId id="11602" r:id="rId9"/>
    <p:sldId id="11603" r:id="rId10"/>
    <p:sldId id="11604" r:id="rId11"/>
    <p:sldId id="11605" r:id="rId12"/>
    <p:sldId id="11606" r:id="rId13"/>
    <p:sldId id="11607" r:id="rId14"/>
    <p:sldId id="11608" r:id="rId15"/>
    <p:sldId id="11609" r:id="rId16"/>
    <p:sldId id="11610" r:id="rId17"/>
    <p:sldId id="11611" r:id="rId18"/>
    <p:sldId id="11612" r:id="rId19"/>
    <p:sldId id="11613" r:id="rId20"/>
    <p:sldId id="11614" r:id="rId21"/>
    <p:sldId id="2023" r:id="rId22"/>
    <p:sldId id="11615" r:id="rId23"/>
    <p:sldId id="11570" r:id="rId24"/>
    <p:sldId id="11616" r:id="rId25"/>
    <p:sldId id="11572" r:id="rId26"/>
    <p:sldId id="11617" r:id="rId27"/>
    <p:sldId id="11574" r:id="rId28"/>
    <p:sldId id="11618" r:id="rId29"/>
    <p:sldId id="11576" r:id="rId30"/>
    <p:sldId id="11619" r:id="rId31"/>
    <p:sldId id="11620" r:id="rId32"/>
    <p:sldId id="11621" r:id="rId33"/>
    <p:sldId id="11622" r:id="rId34"/>
    <p:sldId id="11625" r:id="rId35"/>
    <p:sldId id="11626" r:id="rId36"/>
    <p:sldId id="11629" r:id="rId37"/>
    <p:sldId id="11630" r:id="rId38"/>
    <p:sldId id="11631" r:id="rId39"/>
    <p:sldId id="11632" r:id="rId40"/>
    <p:sldId id="11633" r:id="rId41"/>
    <p:sldId id="11634" r:id="rId42"/>
    <p:sldId id="2024" r:id="rId43"/>
    <p:sldId id="11635" r:id="rId44"/>
    <p:sldId id="11636" r:id="rId45"/>
    <p:sldId id="11637" r:id="rId46"/>
    <p:sldId id="11638" r:id="rId47"/>
    <p:sldId id="1163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6A477B1-2C54-A644-8CEF-050146F58422}">
          <p14:sldIdLst>
            <p14:sldId id="1973"/>
          </p14:sldIdLst>
        </p14:section>
        <p14:section name="Untitled Section" id="{31B79D2E-C635-F04E-A4F6-74A549C95224}">
          <p14:sldIdLst>
            <p14:sldId id="2022"/>
            <p14:sldId id="11601"/>
            <p14:sldId id="11602"/>
            <p14:sldId id="11603"/>
            <p14:sldId id="11604"/>
            <p14:sldId id="11605"/>
            <p14:sldId id="11606"/>
            <p14:sldId id="11607"/>
            <p14:sldId id="11608"/>
            <p14:sldId id="11609"/>
            <p14:sldId id="11610"/>
            <p14:sldId id="11611"/>
            <p14:sldId id="11612"/>
            <p14:sldId id="11613"/>
            <p14:sldId id="11614"/>
            <p14:sldId id="2023"/>
            <p14:sldId id="11615"/>
            <p14:sldId id="11570"/>
            <p14:sldId id="11616"/>
            <p14:sldId id="11572"/>
            <p14:sldId id="11617"/>
            <p14:sldId id="11574"/>
            <p14:sldId id="11618"/>
            <p14:sldId id="11576"/>
            <p14:sldId id="11619"/>
            <p14:sldId id="11620"/>
            <p14:sldId id="11621"/>
            <p14:sldId id="11622"/>
            <p14:sldId id="11625"/>
            <p14:sldId id="11626"/>
            <p14:sldId id="11629"/>
            <p14:sldId id="11630"/>
            <p14:sldId id="11631"/>
            <p14:sldId id="11632"/>
            <p14:sldId id="11633"/>
            <p14:sldId id="11634"/>
            <p14:sldId id="2024"/>
            <p14:sldId id="11635"/>
            <p14:sldId id="11636"/>
            <p14:sldId id="11637"/>
            <p14:sldId id="11638"/>
            <p14:sldId id="116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42"/>
    <p:restoredTop sz="96763"/>
  </p:normalViewPr>
  <p:slideViewPr>
    <p:cSldViewPr snapToGrid="0" snapToObjects="1" showGuides="1">
      <p:cViewPr varScale="1">
        <p:scale>
          <a:sx n="112" d="100"/>
          <a:sy n="112" d="100"/>
        </p:scale>
        <p:origin x="208" y="5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handoutMaster" Target="handoutMasters/handoutMaster1.xml"/><Relationship Id="rId55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20FC2D-DB38-A66D-B4BE-8E608C2A5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4D9293-49E2-42AF-E099-654DFF3A9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D583B0-04E8-97BC-998D-5328C105E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077D-F430-EB3F-E631-8256B604A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1184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555" y="6388767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37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CUSTOMER_NAME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Portfolio Metrics Overview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  <a:p>
            <a:endParaRPr lang="en-GB" dirty="0"/>
          </a:p>
        </p:txBody>
      </p:sp>
      <p:sp>
        <p:nvSpPr>
          <p:cNvPr id="4" name="Tijdelijke aanduiding voor tekst 1">
            <a:extLst>
              <a:ext uri="{FF2B5EF4-FFF2-40B4-BE49-F238E27FC236}">
                <a16:creationId xmlns:a16="http://schemas.microsoft.com/office/drawing/2014/main" id="{9AD8A29F-88B6-1458-3D23-92698A071436}"/>
              </a:ext>
            </a:extLst>
          </p:cNvPr>
          <p:cNvSpPr txBox="1">
            <a:spLocks/>
          </p:cNvSpPr>
          <p:nvPr/>
        </p:nvSpPr>
        <p:spPr>
          <a:xfrm>
            <a:off x="395999" y="2959200"/>
            <a:ext cx="11174400" cy="450000"/>
          </a:xfrm>
          <a:prstGeom prst="rect">
            <a:avLst/>
          </a:prstGeom>
        </p:spPr>
        <p:txBody>
          <a:bodyPr vert="horz" wrap="none" lIns="216000" tIns="46800" rIns="234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64FF"/>
              </a:buClr>
              <a:buFont typeface="Arial" panose="020B0604020202020204" pitchFamily="34" charset="0"/>
              <a:buNone/>
              <a:defRPr lang="en-US" sz="2800" b="0" i="0" kern="120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ea typeface="+mn-ea"/>
                <a:cs typeface="Calibri Light" panose="020F030202020403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FILTER_INFO</a:t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FAAAC3-03E2-1E82-24A5-0097FAFA71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25011F-6250-5727-D825-C4BC235ED5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873849-ED0F-8E7D-9221-DB920248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Index of Metrics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864AFF-8AE9-6747-55C1-D2047BB4A87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US" dirty="0"/>
              <a:t>Maintainability </a:t>
            </a:r>
          </a:p>
          <a:p>
            <a:r>
              <a:rPr lang="en-US" dirty="0"/>
              <a:t>Architecture Quality</a:t>
            </a:r>
          </a:p>
          <a:p>
            <a:r>
              <a:rPr lang="en-US" dirty="0"/>
              <a:t>Open Source Health</a:t>
            </a:r>
          </a:p>
        </p:txBody>
      </p:sp>
      <p:sp>
        <p:nvSpPr>
          <p:cNvPr id="6" name="Afgeronde rechthoek 33">
            <a:extLst>
              <a:ext uri="{FF2B5EF4-FFF2-40B4-BE49-F238E27FC236}">
                <a16:creationId xmlns:a16="http://schemas.microsoft.com/office/drawing/2014/main" id="{62AC8E64-6993-BFDC-20FC-716CD59A1B54}"/>
              </a:ext>
            </a:extLst>
          </p:cNvPr>
          <p:cNvSpPr/>
          <p:nvPr/>
        </p:nvSpPr>
        <p:spPr>
          <a:xfrm>
            <a:off x="4454347" y="754749"/>
            <a:ext cx="7567201" cy="672117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492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Duplication metric for portfolio CUSTOMER_NAME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PORTFOLIO_PERIOD_MAINT_DUPLICATION_GROUPED_BY_TEAM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Duplication rating for the portfolio is PORTFOLIO_MAINT_AVG_RATING_DUPLICATION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PORTFOLIO_MAINT_ABOVE_MARKET_DUPLICATION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PORTFOLIO_MAINT_MARKET_AVERAGE_DUPLICATION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PORTFOLIO_MAINT_BELOW_MARKET_DUPLICATION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36388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Duplication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PORTFOLIO_PERIOD_MAINT_DUPLICATION_CHANGE_GROUPED_BY_TEAM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PORTFOLIO_MAINT_INCREASED_DUPLICATION% of systems has seen an increase in their Duplication rating. PORTFOLIO_MAINT_STABLE_DUPLICATION% of systems has remained stable. PORTFOLIO_MAINT_DECREASED_DUPLICATION%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PORTFOLIO_MAINT_BIGGEST_CHANGES_DUPLICATION</a:t>
            </a:r>
          </a:p>
        </p:txBody>
      </p:sp>
    </p:spTree>
    <p:extLst>
      <p:ext uri="{BB962C8B-B14F-4D97-AF65-F5344CB8AC3E}">
        <p14:creationId xmlns:p14="http://schemas.microsoft.com/office/powerpoint/2010/main" val="3281526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Unit Size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PORTFOLIO_PERIOD_MAINT_UNIT_SIZE_GROUPED_BY_TEAM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Unit Size rating for the portfolio is PORTFOLIO_MAINT_AVG_RATING_UNIT_SIZE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PORTFOLIO_MAINT_ABOVE_MARKET_UNIT_SIZE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PORTFOLIO_MAINT_MARKET_AVERAGE_UNIT_SIZE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PORTFOLIO_MAINT_BELOW_MARKET_UNIT_SIZE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91030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Unit Size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PORTFOLIO_PERIOD_MAINT_UNIT_SIZE_CHANGE_GROUPED_BY_TEAM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PORTFOLIO_MAINT_INCREASED_UNIT_SIZE% of systems has seen an increase in their Unit Size rating. PORTFOLIO_MAINT_STABLE_UNIT_SIZE% of systems has remained stable. PORTFOLIO_MAINT_DECREASED_UNIT_SIZE%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PORTFOLIO_MAINT_BIGGEST_CHANGES_UNIT_SIZE</a:t>
            </a:r>
          </a:p>
        </p:txBody>
      </p:sp>
    </p:spTree>
    <p:extLst>
      <p:ext uri="{BB962C8B-B14F-4D97-AF65-F5344CB8AC3E}">
        <p14:creationId xmlns:p14="http://schemas.microsoft.com/office/powerpoint/2010/main" val="335089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Unit Complexity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PORTFOLIO_PERIOD_MAINT_UNIT_COMPLEXITY_GROUPED_BY_TEAM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Unit Complexity rating for the portfolio is PORTFOLIO_MAINT_AVG_RATING_UNIT_COMPLEXITY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PORTFOLIO_MAINT_ABOVE_MARKET_UNIT_COMPLEXITY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PORTFOLIO_MAINT_MARKET_AVERAGE_UNIT_COMPLEXITY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PORTFOLIO_MAINT_BELOW_MARKET_UNIT_COMPLEXITY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4452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Unit Complexity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PORTFOLIO_PERIOD_MAINT_UNIT_COMPLEXITY_CHANGE_GROUPED_BY_TEAM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PORTFOLIO_MAINT_INCREASED_UNIT_COMPLEXITY% of systems has seen an increase in their Unit Complexity rating. PORTFOLIO_MAINT_STABLE_UNIT_COMPLEXITY% of systems has remained stable. PORTFOLIO_MAINT_DECREASED_UNIT_COMPLEXITY%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PORTFOLIO_MAINT_BIGGEST_CHANGES_UNIT_COMPLEXITY</a:t>
            </a:r>
          </a:p>
        </p:txBody>
      </p:sp>
    </p:spTree>
    <p:extLst>
      <p:ext uri="{BB962C8B-B14F-4D97-AF65-F5344CB8AC3E}">
        <p14:creationId xmlns:p14="http://schemas.microsoft.com/office/powerpoint/2010/main" val="3102491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Unit Interfacing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PORTFOLIO_PERIOD_MAINT_UNIT_INTERFACING_GROUPED_BY_TEAM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Unit Interfacing rating for the portfolio is PORTFOLIO_MAINT_AVG_RATING_UNIT_INTERFACING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PORTFOLIO_MAINT_ABOVE_MARKET_UNIT_INTERFACING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PORTFOLIO_MAINT_MARKET_AVERAGE_UNIT_INTERFACING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PORTFOLIO_MAINT_BELOW_MARKET_UNIT_INTERFACING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07563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Unit Interfacing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PORTFOLIO_PERIOD_MAINT_UNIT_INTERFACING_CHANGE_GROUPED_BY_TEAM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PORTFOLIO_MAINT_INCREASED_UNIT_INTERFACING% of systems has seen an increase in their Unit Interfacing rating. PORTFOLIO_MAINT_STABLE_UNIT_INTERFACING% of systems has remained stable. PORTFOLIO_MAINT_DECREASED_UNIT_INTERFACING%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PORTFOLIO_MAINT_BIGGEST_CHANGES_UNIT_INTERFACING</a:t>
            </a:r>
          </a:p>
        </p:txBody>
      </p:sp>
    </p:spTree>
    <p:extLst>
      <p:ext uri="{BB962C8B-B14F-4D97-AF65-F5344CB8AC3E}">
        <p14:creationId xmlns:p14="http://schemas.microsoft.com/office/powerpoint/2010/main" val="384004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Module Coupling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PORTFOLIO_PERIOD_MAINT_MODULE_COUPLING_GROUPED_BY_TEAM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Module Coupling rating for the portfolio is PORTFOLIO_MAINT_AVG_RATING_MODULE_COUPLING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PORTFOLIO_MAINT_ABOVE_MARKET_MODULE_COUPLING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PORTFOLIO_MAINT_MARKET_AVERAGE_MODULE_COUPLING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PORTFOLIO_MAINT_BELOW_MARKET_MODULE_COUPLING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19988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Module Coupling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PORTFOLIO_PERIOD_MAINT_MODULE_COUPLING_CHANGE_GROUPED_BY_TEAM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PORTFOLIO_MAINT_INCREASED_MODULE_COUPLING% of systems has seen an increase in their Module Coupling rating. PORTFOLIO_MAINT_STABLE_MODULE_COUPLING% of systems has remained stable. PORTFOLIO_MAINT_DECREASED_MODULE_COUPLING%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PORTFOLIO_MAINT_BIGGEST_CHANGES_MODULE_COUPLING</a:t>
            </a:r>
          </a:p>
        </p:txBody>
      </p:sp>
    </p:spTree>
    <p:extLst>
      <p:ext uri="{BB962C8B-B14F-4D97-AF65-F5344CB8AC3E}">
        <p14:creationId xmlns:p14="http://schemas.microsoft.com/office/powerpoint/2010/main" val="3004612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Independence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PORTFOLIO_PERIOD_MAINT_COMPONENT_INDEPENDENCE_GROUPED_BY_TEAM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Independence rating for the portfolio is PORTFOLIO_MAINT_AVG_RATING_COMPONENT_INDEPENDENCE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PORTFOLIO_MAINT_ABOVE_MARKET_COMPONENT_INDEPENDENCE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PORTFOLIO_MAINT_MARKET_AVERAGE_COMPONENT_INDEPENDENCE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PORTFOLIO_MAINT_BELOW_MARKET_COMPONENT_INDEPENDENCE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09020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Independence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PORTFOLIO_PERIOD_MAINT_COMPONENT_INDEPENDENCE_CHANGE_GROUPED_BY_TEAM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PORTFOLIO_MAINT_INCREASED_COMPONENT_INDEPENDENCE% of systems has seen an increase in their Component Independence rating. PORTFOLIO_MAINT_STABLE_COMPONENT_INDEPENDENCE% of systems has remained stable. PORTFOLIO_MAINT_DECREASED_COMPONENT_INDEPENDENCE%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PORTFOLIO_MAINT_BIGGEST_CHANGES_COMPONENT_INDEPENDENCE</a:t>
            </a:r>
          </a:p>
        </p:txBody>
      </p:sp>
    </p:spTree>
    <p:extLst>
      <p:ext uri="{BB962C8B-B14F-4D97-AF65-F5344CB8AC3E}">
        <p14:creationId xmlns:p14="http://schemas.microsoft.com/office/powerpoint/2010/main" val="2442605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Entanglement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PORTFOLIO_PERIOD_MAINT_COMPONENT_ENTANGLEMENT_GROUPED_BY_TEAM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Entanglement rating for the portfolio is PORTFOLIO_MAINT_AVG_RATING_COMPONENT_ENTANGLEMENT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PORTFOLIO_MAINT_ABOVE_MARKET_COMPONENT_ENTANGLEMENT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PORTFOLIO_MAINT_MARKET_AVERAGE_COMPONENT_ENTANGLEMENT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PORTFOLIO_MAINT_BELOW_MARKET_COMPONENT_ENTANGLEMENT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82024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10176" cy="228209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Entanglement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PORTFOLIO_PERIOD_MAINT_COMPONENT_ENTANGLEMENT_CHANGE_GROUPED_BY_TEAM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PORTFOLIO_MAINT_INCREASED_COMPONENT_ENTANGLEMENT% of systems has seen an increase in their Component Entanglement rating. PORTFOLIO_MAINT_STABLE_COMPONENT_ENTANGLEMENT% of systems has remained stable. PORTFOLIO_MAINT_DECREASED_COMPONENT_ENTANGLEMENT%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PORTFOLIO_MAINT_BIGGEST_CHANGES_COMPONENT_ENTANGLEMENT</a:t>
            </a:r>
          </a:p>
        </p:txBody>
      </p:sp>
    </p:spTree>
    <p:extLst>
      <p:ext uri="{BB962C8B-B14F-4D97-AF65-F5344CB8AC3E}">
        <p14:creationId xmlns:p14="http://schemas.microsoft.com/office/powerpoint/2010/main" val="751612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DAED-12F5-A259-BC91-56EC7C1D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8ED157-A2D5-52AF-255A-424BB0A762D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6A4176-AD1E-9A14-096D-40AD01C407B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17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2B9473-68A5-9566-236F-C2E388AA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Index of Metrics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542849-2FC7-08E3-5336-D0F86AAB7F1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US" dirty="0"/>
              <a:t>Maintainability </a:t>
            </a:r>
          </a:p>
          <a:p>
            <a:r>
              <a:rPr lang="en-US" dirty="0"/>
              <a:t>Architecture Quality</a:t>
            </a:r>
          </a:p>
          <a:p>
            <a:r>
              <a:rPr lang="en-US" dirty="0"/>
              <a:t>Open Source Health</a:t>
            </a:r>
          </a:p>
        </p:txBody>
      </p:sp>
      <p:sp>
        <p:nvSpPr>
          <p:cNvPr id="6" name="Afgeronde rechthoek 33">
            <a:extLst>
              <a:ext uri="{FF2B5EF4-FFF2-40B4-BE49-F238E27FC236}">
                <a16:creationId xmlns:a16="http://schemas.microsoft.com/office/drawing/2014/main" id="{4B2109DD-DFE3-4DAC-D878-F79657C4BC34}"/>
              </a:ext>
            </a:extLst>
          </p:cNvPr>
          <p:cNvSpPr/>
          <p:nvPr/>
        </p:nvSpPr>
        <p:spPr>
          <a:xfrm>
            <a:off x="4467600" y="1438444"/>
            <a:ext cx="7567201" cy="672117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605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Code Breakdown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PORTFOLIO_PERIOD_ARCH_CODE_BREAKDOWN_GROUPED_BY_TEAM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Code Breakdown rating for the portfolio is PORTFOLIO_ARCH_AVG_RATING_CODE_BREAKDOWN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PORTFOLIO_ARCH_ABOVE_MARKET_CODE_BREAKDOWN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PORTFOLIO_ARCH_MARKET_AVERAGE_CODE_BREAKDOWN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PORTFOLIO_ARCH_BELOW_MARKET_CODE_BREAKDOWN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47279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Code Breakdown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PORTFOLIO_PERIOD_ARCH_CODE_BREAKDOWN_RATINGS_CHANGE_GROUPED_BY_TEAM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PORTFOLIO_ARCH_INCREASED_CODE_BREAKDOWN% of systems has seen an increase in their Code Breakdown rating. PORTFOLIO_ARCH_STABLE_CODE_BREAKDOWN% of systems has remained stable. PORTFOLIO_ARCH_DECREASED_CODE_BREAKDOWN%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PORTFOLIO_ARCH_BIGGEST_CHANGES_CODE_BREAKDOWN</a:t>
            </a:r>
          </a:p>
        </p:txBody>
      </p:sp>
    </p:spTree>
    <p:extLst>
      <p:ext uri="{BB962C8B-B14F-4D97-AF65-F5344CB8AC3E}">
        <p14:creationId xmlns:p14="http://schemas.microsoft.com/office/powerpoint/2010/main" val="3858913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Coupling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PORTFOLIO_PERIOD_ARCH_COMPONENT_COUPLING_GROUPED_BY_TEAM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Coupling rating for the portfolio is PORTFOLIO_ARCH_AVG_RATING_COMPONENT_COUPLING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PORTFOLIO_ARCH_ABOVE_MARKET_COMPONENT_COUPLING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PORTFOLIO_ARCH_MARKET_AVERAGE_COMPONENT_COUPLING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PORTFOLIO_ARCH_BELOW_MARKET_COMPONENT_COUPLING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08251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Coupling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PORTFOLIO_PERIOD_ARCH_COMPONENT_COUPLING_RATINGS_CHANGE_GROUPED_BY_TEAM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PORTFOLIO_ARCH_INCREASED_COMPONENT_COUPLING% of systems has seen an increase in their Component Coupling rating. PORTFOLIO_ARCH_STABLE_COMPONENT_COUPLING% of systems has remained stable. PORTFOLIO_ARCH_DECREASED_COMPONENT_COUPLING%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PORTFOLIO_ARCH_BIGGEST_CHANGES_COMPONENT_COUPLING</a:t>
            </a:r>
          </a:p>
        </p:txBody>
      </p:sp>
    </p:spTree>
    <p:extLst>
      <p:ext uri="{BB962C8B-B14F-4D97-AF65-F5344CB8AC3E}">
        <p14:creationId xmlns:p14="http://schemas.microsoft.com/office/powerpoint/2010/main" val="3440080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Adjacency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PORTFOLIO_PERIOD_ARCH_COMPONENT_ADJACENCY_GROUPED_BY_TEAM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Adjacency rating for the portfolio is PORTFOLIO_ARCH_AVG_RATING_COMPONENT_ADJACENCY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PORTFOLIO_ARCH_ABOVE_MARKET_COMPONENT_ADJACENCY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PORTFOLIO_ARCH_MARKET_AVERAGE_COMPONENT_ADJACENCY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PORTFOLIO_ARCH_BELOW_MARKET_COMPONENT_ADJACENCY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42442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Adjacency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PORTFOLIO_PERIOD_ARCH_COMPONENT_ADJACENCY_RATINGS_CHANGE_GROUPED_BY_TEAM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PORTFOLIO_ARCH_INCREASED_COMPONENT_ADJACENCY% of systems has seen an increase in their Component Adjacency rating. PORTFOLIO_ARCH_STABLE_COMPONENT_ADJACENCY% of systems has remained stable. PORTFOLIO_ARCH_DECREASED_COMPONENT_ADJACENCY%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PORTFOLIO_ARCH_BIGGEST_CHANGES_COMPONENT_ADJACENCY</a:t>
            </a:r>
          </a:p>
        </p:txBody>
      </p:sp>
    </p:spTree>
    <p:extLst>
      <p:ext uri="{BB962C8B-B14F-4D97-AF65-F5344CB8AC3E}">
        <p14:creationId xmlns:p14="http://schemas.microsoft.com/office/powerpoint/2010/main" val="2842640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Cohesion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PORTFOLIO_PERIOD_ARCH_COMPONENT_COHESION_GROUPED_BY_TEAM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Cohesion rating for the portfolio is PORTFOLIO_ARCH_AVG_RATING_COMPONENT_COHESION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PORTFOLIO_ARCH_ABOVE_MARKET_COMPONENT_COHESION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PORTFOLIO_ARCH_MARKET_AVERAGE_COMPONENT_COHESION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PORTFOLIO_ARCH_BELOW_MARKET_COMPONENT_COHESION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72228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Cohesion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PORTFOLIO_PERIOD_ARCH_COMPONENT_COHESION_RATINGS_CHANGE_GROUPED_BY_TEAM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PORTFOLIO_ARCH_INCREASED_COMPONENT_COHESION% of systems has seen an increase in their Component Cohesion rating. PORTFOLIO_ARCH_STABLE_COMPONENT_COHESION% of systems has remained stable. PORTFOLIO_ARCH_DECREASED_COMPONENT_COHESION%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PORTFOLIO_ARCH_BIGGEST_CHANGES_COMPONENT_COHESION</a:t>
            </a:r>
          </a:p>
        </p:txBody>
      </p:sp>
    </p:spTree>
    <p:extLst>
      <p:ext uri="{BB962C8B-B14F-4D97-AF65-F5344CB8AC3E}">
        <p14:creationId xmlns:p14="http://schemas.microsoft.com/office/powerpoint/2010/main" val="2136918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</a:t>
            </a:r>
            <a:r>
              <a:rPr lang="en-GB" dirty="0">
                <a:ea typeface="Calibri"/>
                <a:cs typeface="Calibri"/>
              </a:rPr>
              <a:t>Communication Centralization </a:t>
            </a:r>
            <a:r>
              <a:rPr lang="en-US" dirty="0"/>
              <a:t>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</a:t>
            </a:r>
            <a:r>
              <a:rPr lang="en-GB" sz="1600" dirty="0">
                <a:ea typeface="Calibri"/>
                <a:cs typeface="Calibri"/>
              </a:rPr>
              <a:t>_COMMUNICATION_CENTRALIZATION</a:t>
            </a:r>
            <a:r>
              <a:rPr lang="en-US" sz="1600" dirty="0">
                <a:solidFill>
                  <a:schemeClr val="bg1"/>
                </a:solidFill>
              </a:rPr>
              <a:t>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</a:t>
            </a:r>
            <a:r>
              <a:rPr lang="en-GB" dirty="0">
                <a:ea typeface="Calibri"/>
                <a:cs typeface="Calibri"/>
              </a:rPr>
              <a:t>Communication Centralization rating</a:t>
            </a:r>
            <a:r>
              <a:rPr lang="en-US" dirty="0"/>
              <a:t> for the portfolio is PORTFOLIO_ARCH_AVG_RATING_</a:t>
            </a:r>
            <a:r>
              <a:rPr lang="en-GB" dirty="0">
                <a:ea typeface="Calibri"/>
                <a:cs typeface="Calibri"/>
              </a:rPr>
              <a:t>COMMUNICATION_CENTRALIZATION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</a:t>
            </a:r>
            <a:r>
              <a:rPr lang="en-GB" dirty="0">
                <a:ea typeface="Calibri"/>
                <a:cs typeface="Calibri"/>
              </a:rPr>
              <a:t>COMMUNICATION_CENTRALIZATION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</a:t>
            </a:r>
            <a:r>
              <a:rPr lang="en-GB" dirty="0">
                <a:ea typeface="Calibri"/>
                <a:cs typeface="Calibri"/>
              </a:rPr>
              <a:t>COMMUNICATION_CENTRALIZATION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</a:t>
            </a:r>
            <a:r>
              <a:rPr lang="en-GB" dirty="0">
                <a:ea typeface="Calibri"/>
                <a:cs typeface="Calibri"/>
              </a:rPr>
              <a:t>COMMUNICATION_CENTRALIZATION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09379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Communication Centralization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PORTFOLIO_PERIOD_ARCH_COMMUNICATION_CENTRALIZATION_RATINGS_CHANGE_GROUPED_BY_TEAM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PORTFOLIO_ARCH_INCREASED_COMMUNICATION_CENTRALIZATION% of systems has seen an increase in their Communication Centralization rating. PORTFOLIO_ARCH_STABLE_COMMUNICATION_CENTRALIZATION% of systems has remained stable. PORTFOLIO_ARCH_DECREASED_COMMUNICATION_CENTRALIZATION%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PORTFOLIO_ARCH_BIGGEST_CHANGES_COMMUNICATION_CENTRALIZATION</a:t>
            </a:r>
          </a:p>
        </p:txBody>
      </p:sp>
    </p:spTree>
    <p:extLst>
      <p:ext uri="{BB962C8B-B14F-4D97-AF65-F5344CB8AC3E}">
        <p14:creationId xmlns:p14="http://schemas.microsoft.com/office/powerpoint/2010/main" val="3769247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Data Coupling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PORTFOLIO_PERIOD_ARCH_DATA_COUPLING_GROUPED_BY_TEAM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Data Coupling rating for the portfolio is PORTFOLIO_ARCH_AVG_RATING_DATA_COUPLING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PORTFOLIO_ARCH_ABOVE_MARKET_DATA_COUPLING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PORTFOLIO_ARCH_MARKET_AVERAGE_DATA_COUPLING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PORTFOLIO_ARCH_BELOW_MARKET_DATA_COUPLING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38735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Data Coupling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PORTFOLIO_PERIOD_ARCH_DATA_COUPLING_RATINGS_CHANGE_GROUPED_BY_TEAM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PORTFOLIO_ARCH_INCREASED_DATA_COUPLING% of systems has seen an increase in their Data Coupling rating. PORTFOLIO_ARCH_STABLE_DATA_COUPLING% of systems has remained stable. PORTFOLIO_ARCH_DECREASED_DATA_COUPLING%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PORTFOLIO_ARCH_BIGGEST_CHANGES_DATA_COUPLING</a:t>
            </a:r>
          </a:p>
        </p:txBody>
      </p:sp>
    </p:spTree>
    <p:extLst>
      <p:ext uri="{BB962C8B-B14F-4D97-AF65-F5344CB8AC3E}">
        <p14:creationId xmlns:p14="http://schemas.microsoft.com/office/powerpoint/2010/main" val="2532164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Bounded Evolution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PORTFOLIO_PERIOD_ARCH_BOUNDED_EVOLUTION_GROUPED_BY_TEAM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Bounded Evolution rating for the portfolio is PORTFOLIO_ARCH_AVG_RATING_BOUNDED_EVOLUTION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PORTFOLIO_ARCH_ABOVE_MARKET_BOUNDED_EVOLUTION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PORTFOLIO_ARCH_MARKET_AVERAGE_BOUNDED_EVOLUTION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PORTFOLIO_ARCH_BELOW_MARKET_BOUNDED_EVOLUTION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5749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Bounded Evolution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PORTFOLIO_PERIOD_ARCH_BOUNDED_EVOLUTION_RATINGS_CHANGE_GROUPED_BY_TEAM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PORTFOLIO_ARCH_INCREASED_BOUNDED_EVOLUTION% of systems has seen an increase in their Bounded Evolution rating. PORTFOLIO_ARCH_STABLE_BOUNDED_EVOLUTION% of systems has remained stable. PORTFOLIO_ARCH_DECREASED_BOUNDED_EVOLUTION%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PORTFOLIO_ARCH_BIGGEST_CHANGES_BOUNDED_EVOLUTION</a:t>
            </a:r>
          </a:p>
        </p:txBody>
      </p:sp>
    </p:spTree>
    <p:extLst>
      <p:ext uri="{BB962C8B-B14F-4D97-AF65-F5344CB8AC3E}">
        <p14:creationId xmlns:p14="http://schemas.microsoft.com/office/powerpoint/2010/main" val="3718647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Knowledge Awareness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PORTFOLIO_PERIOD_ARCH_KNOWLEDGE_AWARENESS_GROUPED_BY_TEAM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Knowledge Awareness rating for the portfolio is PORTFOLIO_ARCH_AVG_RATING_KNOWLEDGE_AWARENESS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PORTFOLIO_ARCH_ABOVE_MARKET_KNOWLEDGE_AWARENESS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PORTFOLIO_ARCH_MARKET_AVERAGE_KNOWLEDGE_AWARENESS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PORTFOLIO_ARCH_BELOW_MARKET_KNOWLEDGE_AWARENESS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0117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Knowledge Awareness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PORTFOLIO_PERIOD_ARCH_KNOWLEDGE_AWARENESS_RATINGS_CHANGE_GROUPED_BY_TEAM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PORTFOLIO_ARCH_INCREASED_KNOWLEDGE_AWARENESS% of systems has seen an increase in their Knowledge Awareness rating. PORTFOLIO_ARCH_STABLE_KNOWLEDGE_AWARENESS% of systems has remained stable. PORTFOLIO_ARCH_DECREASED_KNOWLEDGE_AWARENESS%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PORTFOLIO_ARCH_BIGGEST_CHANGES_KNOWLEDGE_AWARENESS</a:t>
            </a:r>
          </a:p>
        </p:txBody>
      </p:sp>
    </p:spTree>
    <p:extLst>
      <p:ext uri="{BB962C8B-B14F-4D97-AF65-F5344CB8AC3E}">
        <p14:creationId xmlns:p14="http://schemas.microsoft.com/office/powerpoint/2010/main" val="2290815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Freshness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PORTFOLIO_PERIOD_ARCH_COMPONENT_FRESHNESS_GROUPED_BY_TEAM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Freshness rating for the portfolio is PORTFOLIO_ARCH_AVG_RATING_COMPONENT_FRESHNESS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PORTFOLIO_ARCH_ABOVE_MARKET_COMPONENT_FRESHNESS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PORTFOLIO_ARCH_MARKET_AVERAGE_COMPONENT_FRESHNESS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PORTFOLIO_ARCH_BELOW_MARKET_COMPONENT_FRESHNESS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2276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Freshness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PORTFOLIO_PERIOD_ARCH_COMPONENT_FRESHNESS_RATINGS_CHANGE_GROUPED_BY_TEAM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PORTFOLIO_ARCH_INCREASED_COMPONENT_FRESHNESS% of systems has seen an increase in their Component Freshness rating. PORTFOLIO_ARCH_STABLE_COMPONENT_FRESHNESS% of systems has remained stable. PORTFOLIO_ARCH_DECREASED_COMPONENT_FRESHNESS%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PORTFOLIO_ARCH_BIGGEST_CHANGES_COMPONENT_FRESHNESS</a:t>
            </a:r>
          </a:p>
        </p:txBody>
      </p:sp>
    </p:spTree>
    <p:extLst>
      <p:ext uri="{BB962C8B-B14F-4D97-AF65-F5344CB8AC3E}">
        <p14:creationId xmlns:p14="http://schemas.microsoft.com/office/powerpoint/2010/main" val="4040404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Team Stability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PORTFOLIO_PERIOD_ARCH_TEAM_STABILITY_GROUPED_BY_TEAM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Team Stability rating for the portfolio is PORTFOLIO_ARCH_AVG_RATING_TEAM_STABILITY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PORTFOLIO_ARCH_ABOVE_MARKET_TEAM_STABILITY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PORTFOLIO_ARCH_MARKET_AVERAGE_TEAM_STABILITY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PORTFOLIO_ARCH_BELOW_MARKET_TEAM_STABILITY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555438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157222" cy="228209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Team Stability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PORTFOLIO_PERIOD_ARCH_TEAM_STABILITY_RATINGS_CHANGE_GROUPED_BY_TEAM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PORTFOLIO_ARCH_INCREASED_TEAM_STABILITY% of systems has seen an increase in their Team Stability rating. PORTFOLIO_ARCH_STABLE_TEAM_STABILITY% of systems has remained stable. PORTFOLIO_ARCH_DECREASED_TEAM_STABILITY%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PORTFOLIO_ARCH_BIGGEST_CHANGES_TEAM_STABILITY</a:t>
            </a:r>
          </a:p>
        </p:txBody>
      </p:sp>
    </p:spTree>
    <p:extLst>
      <p:ext uri="{BB962C8B-B14F-4D97-AF65-F5344CB8AC3E}">
        <p14:creationId xmlns:p14="http://schemas.microsoft.com/office/powerpoint/2010/main" val="19523367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2A848-3C3B-60D0-07AA-C794FB3D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8832CF-89C8-A678-3DE3-0B8570E1CDF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C0FA17-A24A-8F00-536B-10B083EAB6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38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CCD467-505B-0161-53C5-DD337156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Index of Metrics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133B35-BDB7-23F8-73B5-D80C3CA774C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US" dirty="0"/>
              <a:t>Maintainability </a:t>
            </a:r>
          </a:p>
          <a:p>
            <a:r>
              <a:rPr lang="en-US" dirty="0"/>
              <a:t>Architecture Quality</a:t>
            </a:r>
          </a:p>
          <a:p>
            <a:r>
              <a:rPr lang="en-US" dirty="0"/>
              <a:t>Open Source Health</a:t>
            </a:r>
          </a:p>
        </p:txBody>
      </p:sp>
      <p:sp>
        <p:nvSpPr>
          <p:cNvPr id="6" name="Afgeronde rechthoek 33">
            <a:extLst>
              <a:ext uri="{FF2B5EF4-FFF2-40B4-BE49-F238E27FC236}">
                <a16:creationId xmlns:a16="http://schemas.microsoft.com/office/drawing/2014/main" id="{D0F816A6-BE10-E46B-5A30-AEE2C76C6193}"/>
              </a:ext>
            </a:extLst>
          </p:cNvPr>
          <p:cNvSpPr/>
          <p:nvPr/>
        </p:nvSpPr>
        <p:spPr>
          <a:xfrm>
            <a:off x="4467600" y="2103479"/>
            <a:ext cx="7567201" cy="672117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4349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Vulnerability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PORTFOLIO_PERIOD_OSH_VULNERABILITY_GROUPED_BY_TEAM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Vulnerability rating for the portfolio is PORTFOLIO_OSH_AVG_RATING_VULNERABILITY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PORTFOLIO_OSH_ABOVE_MARKET_VULNERABILITY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PORTFOLIO_OSH_MARKET_AVERAGE_VULNERABILITY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PORTFOLIO_OSH_BELOW_MARKET_VULNERABILITY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657671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Licenses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PORTFOLIO_PERIOD_OSH_LICENSES_GROUPED_BY_TEAM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Licenses rating for the portfolio is PORTFOLIO_OSH_AVG_RATING_LICENSES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PORTFOLIO_OSH_ABOVE_MARKET_LICENSES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PORTFOLIO_OSH_MARKET_AVERAGE_LICENSES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PORTFOLIO_OSH_BELOW_MARKET_LICENSES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347953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Freshness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PORTFOLIO_PERIOD_OSH_FRESHNESS_GROUPED_BY_TEAM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Freshness rating for the portfolio is PORTFOLIO_OSH_AVG_RATING_FRESHNESS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PORTFOLIO_OSH_ABOVE_MARKET_FRESHNESS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PORTFOLIO_OSH_MARKET_AVERAGE_FRESHNESS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PORTFOLIO_OSH_BELOW_MARKET_FRESHNESS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704159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Management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PORTFOLIO_PERIOD_OSH_MANAGEMENT_GROUPED_BY_TEAM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Management rating for the portfolio is PORTFOLIO_OSH_AVG_RATING_MANAGEMENT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PORTFOLIO_OSH_ABOVE_MARKET_MANAGEMENT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PORTFOLIO_OSH_MARKET_AVERAGE_MANAGEMENT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PORTFOLIO_OSH_BELOW_MARKET_MANAGEMENT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570160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Activity metric for portfolio CUSTOMER_NAME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PORTFOLIO_PERIOD_OSH_ACTIVITY_GROUPED_BY_TEAM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Activity rating for the portfolio is PORTFOLIO_OSH_AVG_RATING_ACTIVITY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PORTFOLIO_OSH_ABOVE_MARKET_ACTIVITY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PORTFOLIO_OSH_MARKET_AVERAGE_ACTIVITY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PORTFOLIO_OSH_BELOW_MARKET_ACTIVITY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grpSp>
        <p:nvGrpSpPr>
          <p:cNvPr id="6" name="Group 1030">
            <a:extLst>
              <a:ext uri="{FF2B5EF4-FFF2-40B4-BE49-F238E27FC236}">
                <a16:creationId xmlns:a16="http://schemas.microsoft.com/office/drawing/2014/main" id="{99AFEB87-0CCD-A5AC-7E55-A8E60931ECD5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8" name="TextBox 1031">
              <a:extLst>
                <a:ext uri="{FF2B5EF4-FFF2-40B4-BE49-F238E27FC236}">
                  <a16:creationId xmlns:a16="http://schemas.microsoft.com/office/drawing/2014/main" id="{D76B4ABE-E39A-C561-402E-9E302879EEFD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9" name="Rounded Rectangle 1032">
              <a:extLst>
                <a:ext uri="{FF2B5EF4-FFF2-40B4-BE49-F238E27FC236}">
                  <a16:creationId xmlns:a16="http://schemas.microsoft.com/office/drawing/2014/main" id="{6FBCB493-E9C2-EFBB-FBE4-182DA74247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1033">
            <a:extLst>
              <a:ext uri="{FF2B5EF4-FFF2-40B4-BE49-F238E27FC236}">
                <a16:creationId xmlns:a16="http://schemas.microsoft.com/office/drawing/2014/main" id="{F4A7F3FD-0B04-7430-64C3-66D73D44FDFB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1" name="TextBox 1034">
              <a:extLst>
                <a:ext uri="{FF2B5EF4-FFF2-40B4-BE49-F238E27FC236}">
                  <a16:creationId xmlns:a16="http://schemas.microsoft.com/office/drawing/2014/main" id="{B9650F97-8672-3BEA-FA99-CF3043EDFB02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2" name="Rounded Rectangle 1035">
              <a:extLst>
                <a:ext uri="{FF2B5EF4-FFF2-40B4-BE49-F238E27FC236}">
                  <a16:creationId xmlns:a16="http://schemas.microsoft.com/office/drawing/2014/main" id="{FFADB97F-2BF7-4867-DCDB-A9D48DC52A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036">
            <a:extLst>
              <a:ext uri="{FF2B5EF4-FFF2-40B4-BE49-F238E27FC236}">
                <a16:creationId xmlns:a16="http://schemas.microsoft.com/office/drawing/2014/main" id="{D7604836-9265-A1A8-0D56-2C140B29F83E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4" name="TextBox 1037">
              <a:extLst>
                <a:ext uri="{FF2B5EF4-FFF2-40B4-BE49-F238E27FC236}">
                  <a16:creationId xmlns:a16="http://schemas.microsoft.com/office/drawing/2014/main" id="{C73D936E-59D4-6831-50F0-AB8CEB499B6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5" name="Rounded Rectangle 1038">
              <a:extLst>
                <a:ext uri="{FF2B5EF4-FFF2-40B4-BE49-F238E27FC236}">
                  <a16:creationId xmlns:a16="http://schemas.microsoft.com/office/drawing/2014/main" id="{AD985571-355E-A893-64A2-BBBC0A52D4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039">
            <a:extLst>
              <a:ext uri="{FF2B5EF4-FFF2-40B4-BE49-F238E27FC236}">
                <a16:creationId xmlns:a16="http://schemas.microsoft.com/office/drawing/2014/main" id="{EA407F70-674E-C448-46FF-DAC346F52A8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7" name="TextBox 1040">
              <a:extLst>
                <a:ext uri="{FF2B5EF4-FFF2-40B4-BE49-F238E27FC236}">
                  <a16:creationId xmlns:a16="http://schemas.microsoft.com/office/drawing/2014/main" id="{F0FF61F8-4401-D061-4AC6-47B3AC5BBA1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8" name="Rounded Rectangle 1041">
              <a:extLst>
                <a:ext uri="{FF2B5EF4-FFF2-40B4-BE49-F238E27FC236}">
                  <a16:creationId xmlns:a16="http://schemas.microsoft.com/office/drawing/2014/main" id="{F47CC817-B00D-E027-7B3D-415586015C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042">
            <a:extLst>
              <a:ext uri="{FF2B5EF4-FFF2-40B4-BE49-F238E27FC236}">
                <a16:creationId xmlns:a16="http://schemas.microsoft.com/office/drawing/2014/main" id="{F16CAD8B-5312-A8AE-4012-68F182A02B54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20" name="TextBox 1043">
              <a:extLst>
                <a:ext uri="{FF2B5EF4-FFF2-40B4-BE49-F238E27FC236}">
                  <a16:creationId xmlns:a16="http://schemas.microsoft.com/office/drawing/2014/main" id="{9338EA57-AEDC-B417-24A7-2B066B9B45D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21" name="Rounded Rectangle 1044">
              <a:extLst>
                <a:ext uri="{FF2B5EF4-FFF2-40B4-BE49-F238E27FC236}">
                  <a16:creationId xmlns:a16="http://schemas.microsoft.com/office/drawing/2014/main" id="{FB244793-B8B6-6212-8052-82DC320F85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Footer Placeholder 1004">
            <a:extLst>
              <a:ext uri="{FF2B5EF4-FFF2-40B4-BE49-F238E27FC236}">
                <a16:creationId xmlns:a16="http://schemas.microsoft.com/office/drawing/2014/main" id="{3003FB07-67E0-4E3E-208C-0F579A9ED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830947613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A1475D-C9B4-4340-AC97-53E7D60D3545}">
  <we:reference id="11d7cf85-ae5a-43b8-bc58-1e1a151cce24" version="1.0.0.1" store="EXCatalog" storeType="EXCatalog"/>
  <we:alternateReferences>
    <we:reference id="WA200010725" version="1.0.0.1" store="en-US" storeType="OMEX"/>
  </we:alternateReferences>
  <we:properties>
    <we:property name="claude.fileId" value="&quot;bea3a859-62ab-42e4-a198-05891709eb9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22962</TotalTime>
  <Words>4874</Words>
  <Application>Microsoft Macintosh PowerPoint</Application>
  <PresentationFormat>Widescreen</PresentationFormat>
  <Paragraphs>523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☞NOIR PRO MEDIUM</vt:lpstr>
      <vt:lpstr>Arial</vt:lpstr>
      <vt:lpstr>Azeret Mono</vt:lpstr>
      <vt:lpstr>Azeret Mono Medium</vt:lpstr>
      <vt:lpstr>Calibri</vt:lpstr>
      <vt:lpstr>Calibri Bold</vt:lpstr>
      <vt:lpstr>Helvetica Neue Bold</vt:lpstr>
      <vt:lpstr>Noir Pro</vt:lpstr>
      <vt:lpstr>Noir Pro Medium</vt:lpstr>
      <vt:lpstr>Noir Pro Semi Bold</vt:lpstr>
      <vt:lpstr>TheSansMono M5</vt:lpstr>
      <vt:lpstr>Light theme (default)</vt:lpstr>
      <vt:lpstr>Dark theme</vt:lpstr>
      <vt:lpstr>PowerPoint Presentation</vt:lpstr>
      <vt:lpstr>Index of Metrics</vt:lpstr>
      <vt:lpstr>Overview of Duplication metric for portfolio CUSTOMER_NAME</vt:lpstr>
      <vt:lpstr>Change in Duplication metric for portfolio CUSTOMER_NAME</vt:lpstr>
      <vt:lpstr>Overview of Unit Size metric for portfolio CUSTOMER_NAME</vt:lpstr>
      <vt:lpstr>Change in Unit Size metric for portfolio CUSTOMER_NAME</vt:lpstr>
      <vt:lpstr>Overview of Unit Complexity metric for portfolio CUSTOMER_NAME</vt:lpstr>
      <vt:lpstr>Change in Unit Complexity metric for portfolio CUSTOMER_NAME</vt:lpstr>
      <vt:lpstr>Overview of Unit Interfacing metric for portfolio CUSTOMER_NAME</vt:lpstr>
      <vt:lpstr>Change in Unit Interfacing metric for portfolio CUSTOMER_NAME</vt:lpstr>
      <vt:lpstr>Overview of Module Coupling metric for portfolio CUSTOMER_NAME</vt:lpstr>
      <vt:lpstr>Change in Module Coupling metric for portfolio CUSTOMER_NAME</vt:lpstr>
      <vt:lpstr>Overview of Component Independence metric for portfolio CUSTOMER_NAME</vt:lpstr>
      <vt:lpstr>Change in Component Independence metric for portfolio CUSTOMER_NAME</vt:lpstr>
      <vt:lpstr>Overview of Component Entanglement metric for portfolio CUSTOMER_NAME</vt:lpstr>
      <vt:lpstr>Change in Component Entanglement metric for portfolio CUSTOMER_NAME</vt:lpstr>
      <vt:lpstr>Index of Metrics</vt:lpstr>
      <vt:lpstr>Overview of Code Breakdown metric for portfolio CUSTOMER_NAME</vt:lpstr>
      <vt:lpstr>Change in Code Breakdown metric for portfolio CUSTOMER_NAME</vt:lpstr>
      <vt:lpstr>Overview of Component Coupling metric for portfolio CUSTOMER_NAME</vt:lpstr>
      <vt:lpstr>Change in Component Coupling metric for portfolio CUSTOMER_NAME</vt:lpstr>
      <vt:lpstr>Overview of Component Adjacency metric for portfolio CUSTOMER_NAME</vt:lpstr>
      <vt:lpstr>Change in Component Adjacency metric for portfolio CUSTOMER_NAME</vt:lpstr>
      <vt:lpstr>Overview of Component Cohesion metric for portfolio CUSTOMER_NAME</vt:lpstr>
      <vt:lpstr>Change in Component Cohesion metric for portfolio CUSTOMER_NAME</vt:lpstr>
      <vt:lpstr>Overview of Communication Centralization metric for portfolio CUSTOMER_NAME</vt:lpstr>
      <vt:lpstr>Change in Communication Centralization metric for portfolio CUSTOMER_NAME</vt:lpstr>
      <vt:lpstr>Overview of Data Coupling metric for portfolio CUSTOMER_NAME</vt:lpstr>
      <vt:lpstr>Change in Data Coupling metric for portfolio CUSTOMER_NAME</vt:lpstr>
      <vt:lpstr>Overview of Bounded Evolution metric for portfolio CUSTOMER_NAME</vt:lpstr>
      <vt:lpstr>Change in Bounded Evolution metric for portfolio CUSTOMER_NAME</vt:lpstr>
      <vt:lpstr>Overview of Knowledge Awareness metric for portfolio CUSTOMER_NAME</vt:lpstr>
      <vt:lpstr>Change in Knowledge Awareness metric for portfolio CUSTOMER_NAME</vt:lpstr>
      <vt:lpstr>Overview of Component Freshness metric for portfolio CUSTOMER_NAME</vt:lpstr>
      <vt:lpstr>Change in Component Freshness metric for portfolio CUSTOMER_NAME</vt:lpstr>
      <vt:lpstr>Overview of Team Stability metric for portfolio CUSTOMER_NAME</vt:lpstr>
      <vt:lpstr>Change in Team Stability metric for portfolio CUSTOMER_NAME</vt:lpstr>
      <vt:lpstr>Index of Metrics</vt:lpstr>
      <vt:lpstr>Overview of Vulnerability metric for portfolio CUSTOMER_NAME</vt:lpstr>
      <vt:lpstr>Overview of Licenses metric for portfolio CUSTOMER_NAME</vt:lpstr>
      <vt:lpstr>Overview of Freshness metric for portfolio CUSTOMER_NAME</vt:lpstr>
      <vt:lpstr>Overview of Management metric for portfolio CUSTOMER_NAME</vt:lpstr>
      <vt:lpstr>Overview of Activity metric for portfolio CUSTOMER_NAME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221</cp:revision>
  <cp:lastPrinted>2020-04-20T09:37:43Z</cp:lastPrinted>
  <dcterms:created xsi:type="dcterms:W3CDTF">2025-10-22T11:22:13Z</dcterms:created>
  <dcterms:modified xsi:type="dcterms:W3CDTF">2026-08-21T15:07:34Z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