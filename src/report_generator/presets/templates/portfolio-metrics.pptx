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50"/>
  </p:notesMasterIdLst>
  <p:handoutMasterIdLst>
    <p:handoutMasterId r:id="rId51"/>
  </p:handoutMasterIdLst>
  <p:sldIdLst>
    <p:sldId id="1973" r:id="rId6"/>
    <p:sldId id="2022" r:id="rId7"/>
    <p:sldId id="11601" r:id="rId8"/>
    <p:sldId id="11602" r:id="rId9"/>
    <p:sldId id="11603" r:id="rId10"/>
    <p:sldId id="11604" r:id="rId11"/>
    <p:sldId id="11605" r:id="rId12"/>
    <p:sldId id="11606" r:id="rId13"/>
    <p:sldId id="11607" r:id="rId14"/>
    <p:sldId id="11608" r:id="rId15"/>
    <p:sldId id="11609" r:id="rId16"/>
    <p:sldId id="11610" r:id="rId17"/>
    <p:sldId id="11611" r:id="rId18"/>
    <p:sldId id="11612" r:id="rId19"/>
    <p:sldId id="11613" r:id="rId20"/>
    <p:sldId id="11614" r:id="rId21"/>
    <p:sldId id="2023" r:id="rId22"/>
    <p:sldId id="11615" r:id="rId23"/>
    <p:sldId id="11570" r:id="rId24"/>
    <p:sldId id="11616" r:id="rId25"/>
    <p:sldId id="11572" r:id="rId26"/>
    <p:sldId id="11617" r:id="rId27"/>
    <p:sldId id="11574" r:id="rId28"/>
    <p:sldId id="11618" r:id="rId29"/>
    <p:sldId id="11576" r:id="rId30"/>
    <p:sldId id="11619" r:id="rId31"/>
    <p:sldId id="11620" r:id="rId32"/>
    <p:sldId id="11621" r:id="rId33"/>
    <p:sldId id="11622" r:id="rId34"/>
    <p:sldId id="11625" r:id="rId35"/>
    <p:sldId id="11626" r:id="rId36"/>
    <p:sldId id="11629" r:id="rId37"/>
    <p:sldId id="11630" r:id="rId38"/>
    <p:sldId id="11631" r:id="rId39"/>
    <p:sldId id="11632" r:id="rId40"/>
    <p:sldId id="11633" r:id="rId41"/>
    <p:sldId id="11634" r:id="rId42"/>
    <p:sldId id="2024" r:id="rId43"/>
    <p:sldId id="11635" r:id="rId44"/>
    <p:sldId id="11636" r:id="rId45"/>
    <p:sldId id="11637" r:id="rId46"/>
    <p:sldId id="11638" r:id="rId47"/>
    <p:sldId id="11639" r:id="rId48"/>
    <p:sldId id="11640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6A477B1-2C54-A644-8CEF-050146F58422}">
          <p14:sldIdLst>
            <p14:sldId id="1973"/>
          </p14:sldIdLst>
        </p14:section>
        <p14:section name="Untitled Section" id="{31B79D2E-C635-F04E-A4F6-74A549C95224}">
          <p14:sldIdLst>
            <p14:sldId id="2022"/>
            <p14:sldId id="11601"/>
            <p14:sldId id="11602"/>
            <p14:sldId id="11603"/>
            <p14:sldId id="11604"/>
            <p14:sldId id="11605"/>
            <p14:sldId id="11606"/>
            <p14:sldId id="11607"/>
            <p14:sldId id="11608"/>
            <p14:sldId id="11609"/>
            <p14:sldId id="11610"/>
            <p14:sldId id="11611"/>
            <p14:sldId id="11612"/>
            <p14:sldId id="11613"/>
            <p14:sldId id="11614"/>
            <p14:sldId id="2023"/>
            <p14:sldId id="11615"/>
            <p14:sldId id="11570"/>
            <p14:sldId id="11616"/>
            <p14:sldId id="11572"/>
            <p14:sldId id="11617"/>
            <p14:sldId id="11574"/>
            <p14:sldId id="11618"/>
            <p14:sldId id="11576"/>
            <p14:sldId id="11619"/>
            <p14:sldId id="11620"/>
            <p14:sldId id="11621"/>
            <p14:sldId id="11622"/>
            <p14:sldId id="11625"/>
            <p14:sldId id="11626"/>
            <p14:sldId id="11629"/>
            <p14:sldId id="11630"/>
            <p14:sldId id="11631"/>
            <p14:sldId id="11632"/>
            <p14:sldId id="11633"/>
            <p14:sldId id="11634"/>
            <p14:sldId id="2024"/>
            <p14:sldId id="11635"/>
            <p14:sldId id="11636"/>
            <p14:sldId id="11637"/>
            <p14:sldId id="11638"/>
            <p14:sldId id="11639"/>
            <p14:sldId id="1164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842"/>
    <p:restoredTop sz="96763"/>
  </p:normalViewPr>
  <p:slideViewPr>
    <p:cSldViewPr snapToGrid="0" snapToObjects="1" showGuides="1">
      <p:cViewPr varScale="1">
        <p:scale>
          <a:sx n="112" d="100"/>
          <a:sy n="112" d="100"/>
        </p:scale>
        <p:origin x="208" y="5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microsoft.com/office/2018/10/relationships/authors" Target="authors.xml"/><Relationship Id="rId8" Type="http://schemas.openxmlformats.org/officeDocument/2006/relationships/slide" Target="slides/slide3.xml"/><Relationship Id="rId51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Metrics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  <a:p>
            <a:endParaRPr lang="en-GB" dirty="0"/>
          </a:p>
        </p:txBody>
      </p:sp>
      <p:sp>
        <p:nvSpPr>
          <p:cNvPr id="4" name="Tijdelijke aanduiding voor tekst 1">
            <a:extLst>
              <a:ext uri="{FF2B5EF4-FFF2-40B4-BE49-F238E27FC236}">
                <a16:creationId xmlns:a16="http://schemas.microsoft.com/office/drawing/2014/main" id="{9AD8A29F-88B6-1458-3D23-92698A071436}"/>
              </a:ext>
            </a:extLst>
          </p:cNvPr>
          <p:cNvSpPr txBox="1">
            <a:spLocks/>
          </p:cNvSpPr>
          <p:nvPr/>
        </p:nvSpPr>
        <p:spPr>
          <a:xfrm>
            <a:off x="395999" y="2959200"/>
            <a:ext cx="11174400" cy="450000"/>
          </a:xfrm>
          <a:prstGeom prst="rect">
            <a:avLst/>
          </a:prstGeom>
        </p:spPr>
        <p:txBody>
          <a:bodyPr vert="horz" wrap="none" lIns="216000" tIns="46800" rIns="234000" bIns="4680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864FF"/>
              </a:buClr>
              <a:buFont typeface="Arial" panose="020B0604020202020204" pitchFamily="34" charset="0"/>
              <a:buNone/>
              <a:defRPr lang="en-US" sz="2800" b="0" i="0" kern="120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rgbClr val="DFC12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FILTER_INFO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3FAAAC3-03E2-1E82-24A5-0097FAFA71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25011F-6250-5727-D825-C4BC235ED54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873849-ED0F-8E7D-9221-DB920248C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Index of Metrics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2864AFF-8AE9-6747-55C1-D2047BB4A87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US" dirty="0"/>
              <a:t>Maintainability </a:t>
            </a:r>
          </a:p>
          <a:p>
            <a:r>
              <a:rPr lang="en-US" dirty="0"/>
              <a:t>Architecture Quality</a:t>
            </a:r>
          </a:p>
          <a:p>
            <a:r>
              <a:rPr lang="en-US" dirty="0"/>
              <a:t>Open Source Health</a:t>
            </a:r>
          </a:p>
        </p:txBody>
      </p:sp>
      <p:sp>
        <p:nvSpPr>
          <p:cNvPr id="6" name="Afgeronde rechthoek 33">
            <a:extLst>
              <a:ext uri="{FF2B5EF4-FFF2-40B4-BE49-F238E27FC236}">
                <a16:creationId xmlns:a16="http://schemas.microsoft.com/office/drawing/2014/main" id="{62AC8E64-6993-BFDC-20FC-716CD59A1B54}"/>
              </a:ext>
            </a:extLst>
          </p:cNvPr>
          <p:cNvSpPr/>
          <p:nvPr/>
        </p:nvSpPr>
        <p:spPr>
          <a:xfrm>
            <a:off x="4454347" y="754749"/>
            <a:ext cx="7567201" cy="672117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492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Duplication metric for portfolio CUSTOMER_NAME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PORTFOLIO_PERIOD_MAINT_DUPLICATION_GROUPED_BY_TEAM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Duplication rating for the portfolio is PORTFOLIO_MAINT_AVG_RATING_DUPLICATION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PORTFOLIO_MAINT_ABOVE_MARKET_DUPLICATION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PORTFOLIO_MAINT_MARKET_AVERAGE_DUPLICATION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PORTFOLIO_MAINT_BELOW_MARKET_DUPLICATION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136388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Duplication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PORTFOLIO_PERIOD_MAINT_DUPLICATION_CHANGE_GROUPED_BY_TEAM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PORTFOLIO_MAINT_INCREASED_DUPLICATION% of systems has seen an increase in their Duplication rating. PORTFOLIO_MAINT_STABLE_DUPLICATION% of systems has remained stable. PORTFOLIO_MAINT_DECREASED_DUPLICATION%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PORTFOLIO_MAINT_BIGGEST_CHANGES_DUPLICATION</a:t>
            </a:r>
          </a:p>
        </p:txBody>
      </p:sp>
    </p:spTree>
    <p:extLst>
      <p:ext uri="{BB962C8B-B14F-4D97-AF65-F5344CB8AC3E}">
        <p14:creationId xmlns:p14="http://schemas.microsoft.com/office/powerpoint/2010/main" val="3281526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Unit Size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PORTFOLIO_PERIOD_MAINT_UNIT_SIZE_GROUPED_BY_TEAM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Unit Size rating for the portfolio is PORTFOLIO_MAINT_AVG_RATING_UNIT_SIZE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PORTFOLIO_MAINT_ABOVE_MARKET_UNIT_SIZE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PORTFOLIO_MAINT_MARKET_AVERAGE_UNIT_SIZE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PORTFOLIO_MAINT_BELOW_MARKET_UNIT_SIZE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891030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Unit Size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PORTFOLIO_PERIOD_MAINT_UNIT_SIZE_CHANGE_GROUPED_BY_TEAM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PORTFOLIO_MAINT_INCREASED_UNIT_SIZE% of systems has seen an increase in their Unit Size rating. PORTFOLIO_MAINT_STABLE_UNIT_SIZE% of systems has remained stable. PORTFOLIO_MAINT_DECREASED_UNIT_SIZE%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PORTFOLIO_MAINT_BIGGEST_CHANGES_UNIT_SIZE</a:t>
            </a:r>
          </a:p>
        </p:txBody>
      </p:sp>
    </p:spTree>
    <p:extLst>
      <p:ext uri="{BB962C8B-B14F-4D97-AF65-F5344CB8AC3E}">
        <p14:creationId xmlns:p14="http://schemas.microsoft.com/office/powerpoint/2010/main" val="3350898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Unit Complexity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PORTFOLIO_PERIOD_MAINT_UNIT_COMPLEXITY_GROUPED_BY_TEAM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Unit Complexity rating for the portfolio is PORTFOLIO_MAINT_AVG_RATING_UNIT_COMPLEXITY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PORTFOLIO_MAINT_ABOVE_MARKET_UNIT_COMPLEXITY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PORTFOLIO_MAINT_MARKET_AVERAGE_UNIT_COMPLEXITY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PORTFOLIO_MAINT_BELOW_MARKET_UNIT_COMPLEXITY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244520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Unit Complexity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PORTFOLIO_PERIOD_MAINT_UNIT_COMPLEXITY_CHANGE_GROUPED_BY_TEAM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PORTFOLIO_MAINT_INCREASED_UNIT_COMPLEXITY% of systems has seen an increase in their Unit Complexity rating. PORTFOLIO_MAINT_STABLE_UNIT_COMPLEXITY% of systems has remained stable. PORTFOLIO_MAINT_DECREASED_UNIT_COMPLEXITY%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PORTFOLIO_MAINT_BIGGEST_CHANGES_UNIT_COMPLEXITY</a:t>
            </a:r>
          </a:p>
        </p:txBody>
      </p:sp>
    </p:spTree>
    <p:extLst>
      <p:ext uri="{BB962C8B-B14F-4D97-AF65-F5344CB8AC3E}">
        <p14:creationId xmlns:p14="http://schemas.microsoft.com/office/powerpoint/2010/main" val="31024912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Unit Interfacing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PORTFOLIO_PERIOD_MAINT_UNIT_INTERFACING_GROUPED_BY_TEAM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Unit Interfacing rating for the portfolio is PORTFOLIO_MAINT_AVG_RATING_UNIT_INTERFACING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PORTFOLIO_MAINT_ABOVE_MARKET_UNIT_INTERFACING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PORTFOLIO_MAINT_MARKET_AVERAGE_UNIT_INTERFACING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PORTFOLIO_MAINT_BELOW_MARKET_UNIT_INTERFACING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907563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Unit Interfacing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PORTFOLIO_PERIOD_MAINT_UNIT_INTERFACING_CHANGE_GROUPED_BY_TEAM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PORTFOLIO_MAINT_INCREASED_UNIT_INTERFACING% of systems has seen an increase in their Unit Interfacing rating. PORTFOLIO_MAINT_STABLE_UNIT_INTERFACING% of systems has remained stable. PORTFOLIO_MAINT_DECREASED_UNIT_INTERFACING%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PORTFOLIO_MAINT_BIGGEST_CHANGES_UNIT_INTERFACING</a:t>
            </a:r>
          </a:p>
        </p:txBody>
      </p:sp>
    </p:spTree>
    <p:extLst>
      <p:ext uri="{BB962C8B-B14F-4D97-AF65-F5344CB8AC3E}">
        <p14:creationId xmlns:p14="http://schemas.microsoft.com/office/powerpoint/2010/main" val="38400444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Module Coupling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PORTFOLIO_PERIOD_MAINT_MODULE_COUPLING_GROUPED_BY_TEAM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Module Coupling rating for the portfolio is PORTFOLIO_MAINT_AVG_RATING_MODULE_COUPLING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PORTFOLIO_MAINT_ABOVE_MARKET_MODULE_COUPLING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PORTFOLIO_MAINT_MARKET_AVERAGE_MODULE_COUPLING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PORTFOLIO_MAINT_BELOW_MARKET_MODULE_COUPLING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2199882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Module Coupling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PORTFOLIO_PERIOD_MAINT_MODULE_COUPLING_CHANGE_GROUPED_BY_TEAM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PORTFOLIO_MAINT_INCREASED_MODULE_COUPLING% of systems has seen an increase in their Module Coupling rating. PORTFOLIO_MAINT_STABLE_MODULE_COUPLING% of systems has remained stable. PORTFOLIO_MAINT_DECREASED_MODULE_COUPLING%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PORTFOLIO_MAINT_BIGGEST_CHANGES_MODULE_COUPLING</a:t>
            </a:r>
          </a:p>
        </p:txBody>
      </p:sp>
    </p:spTree>
    <p:extLst>
      <p:ext uri="{BB962C8B-B14F-4D97-AF65-F5344CB8AC3E}">
        <p14:creationId xmlns:p14="http://schemas.microsoft.com/office/powerpoint/2010/main" val="30046122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Independence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PORTFOLIO_PERIOD_MAINT_COMPONENT_INDEPENDENCE_GROUPED_BY_TEAM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Independence rating for the portfolio is PORTFOLIO_MAINT_AVG_RATING_COMPONENT_INDEPENDENCE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PORTFOLIO_MAINT_ABOVE_MARKET_COMPONENT_INDEPENDENCE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PORTFOLIO_MAINT_MARKET_AVERAGE_COMPONENT_INDEPENDENCE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PORTFOLIO_MAINT_BELOW_MARKET_COMPONENT_INDEPENDENCE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6090203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Independence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PORTFOLIO_PERIOD_MAINT_COMPONENT_INDEPENDENCE_CHANGE_GROUPED_BY_TEAM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PORTFOLIO_MAINT_INCREASED_COMPONENT_INDEPENDENCE% of systems has seen an increase in their Component Independence rating. PORTFOLIO_MAINT_STABLE_COMPONENT_INDEPENDENCE% of systems has remained stable. PORTFOLIO_MAINT_DECREASED_COMPONENT_INDEPENDENCE%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PORTFOLIO_MAINT_BIGGEST_CHANGES_COMPONENT_INDEPENDENCE</a:t>
            </a:r>
          </a:p>
        </p:txBody>
      </p:sp>
    </p:spTree>
    <p:extLst>
      <p:ext uri="{BB962C8B-B14F-4D97-AF65-F5344CB8AC3E}">
        <p14:creationId xmlns:p14="http://schemas.microsoft.com/office/powerpoint/2010/main" val="24426056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Entanglement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PORTFOLIO_PERIOD_MAINT_COMPONENT_ENTANGLEMENT_GROUPED_BY_TEAM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Entanglement rating for the portfolio is PORTFOLIO_MAINT_AVG_RATING_COMPONENT_ENTANGLEMENT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PORTFOLIO_MAINT_ABOVE_MARKET_COMPONENT_ENTANGLEMENT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PORTFOLIO_MAINT_MARKET_AVERAGE_COMPONENT_ENTANGLEMENT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PORTFOLIO_MAINT_BELOW_MARKET_COMPONENT_ENTANGLEMENT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9820244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10176" cy="228209"/>
          </a:xfrm>
        </p:spPr>
        <p:txBody>
          <a:bodyPr>
            <a:spAutoFit/>
          </a:bodyPr>
          <a:lstStyle/>
          <a:p>
            <a:r>
              <a:rPr lang="en-US" dirty="0"/>
              <a:t>Maintainability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Entanglement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PORTFOLIO_PERIOD_MAINT_COMPONENT_ENTANGLEMENT_CHANGE_GROUPED_BY_TEAM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PORTFOLIO_MAINT_INCREASED_COMPONENT_ENTANGLEMENT% of systems has seen an increase in their Component Entanglement rating. PORTFOLIO_MAINT_STABLE_COMPONENT_ENTANGLEMENT% of systems has remained stable. PORTFOLIO_MAINT_DECREASED_COMPONENT_ENTANGLEMENT%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PORTFOLIO_MAINT_BIGGEST_CHANGES_COMPONENT_ENTANGLEMENT</a:t>
            </a:r>
          </a:p>
        </p:txBody>
      </p:sp>
    </p:spTree>
    <p:extLst>
      <p:ext uri="{BB962C8B-B14F-4D97-AF65-F5344CB8AC3E}">
        <p14:creationId xmlns:p14="http://schemas.microsoft.com/office/powerpoint/2010/main" val="7516122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9DAED-12F5-A259-BC91-56EC7C1D2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68ED157-A2D5-52AF-255A-424BB0A762D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6A4176-AD1E-9A14-096D-40AD01C407B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2B9473-68A5-9566-236F-C2E388AAE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Index of Metrics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6542849-2FC7-08E3-5336-D0F86AAB7F1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US" dirty="0"/>
              <a:t>Maintainability </a:t>
            </a:r>
          </a:p>
          <a:p>
            <a:r>
              <a:rPr lang="en-US" dirty="0"/>
              <a:t>Architecture Quality</a:t>
            </a:r>
          </a:p>
          <a:p>
            <a:r>
              <a:rPr lang="en-US" dirty="0"/>
              <a:t>Open Source Health</a:t>
            </a:r>
          </a:p>
        </p:txBody>
      </p:sp>
      <p:sp>
        <p:nvSpPr>
          <p:cNvPr id="6" name="Afgeronde rechthoek 33">
            <a:extLst>
              <a:ext uri="{FF2B5EF4-FFF2-40B4-BE49-F238E27FC236}">
                <a16:creationId xmlns:a16="http://schemas.microsoft.com/office/drawing/2014/main" id="{4B2109DD-DFE3-4DAC-D878-F79657C4BC34}"/>
              </a:ext>
            </a:extLst>
          </p:cNvPr>
          <p:cNvSpPr/>
          <p:nvPr/>
        </p:nvSpPr>
        <p:spPr>
          <a:xfrm>
            <a:off x="4467600" y="1438444"/>
            <a:ext cx="7567201" cy="672117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0605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Code Breakdown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PORTFOLIO_PERIOD_ARCH_CODE_BREAKDOWN_GROUPED_BY_TEAM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Code Breakdown rating for the portfolio is PORTFOLIO_ARCH_AVG_RATING_CODE_BREAKDOWN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PORTFOLIO_ARCH_ABOVE_MARKET_CODE_BREAKDOWN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PORTFOLIO_ARCH_MARKET_AVERAGE_CODE_BREAKDOWN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PORTFOLIO_ARCH_BELOW_MARKET_CODE_BREAKDOWN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472794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Code Breakdown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PORTFOLIO_PERIOD_ARCH_CODE_BREAKDOWN_RATINGS_CHANGE_GROUPED_BY_TEAM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PORTFOLIO_ARCH_INCREASED_CODE_BREAKDOWN% of systems has seen an increase in their Code Breakdown rating. PORTFOLIO_ARCH_STABLE_CODE_BREAKDOWN% of systems has remained stable. PORTFOLIO_ARCH_DECREASED_CODE_BREAKDOWN%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PORTFOLIO_ARCH_BIGGEST_CHANGES_CODE_BREAKDOWN</a:t>
            </a:r>
          </a:p>
        </p:txBody>
      </p:sp>
    </p:spTree>
    <p:extLst>
      <p:ext uri="{BB962C8B-B14F-4D97-AF65-F5344CB8AC3E}">
        <p14:creationId xmlns:p14="http://schemas.microsoft.com/office/powerpoint/2010/main" val="38589134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Coupling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PORTFOLIO_PERIOD_ARCH_COMPONENT_COUPLING_GROUPED_BY_TEAM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Coupling rating for the portfolio is PORTFOLIO_ARCH_AVG_RATING_COMPONENT_COUPLING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PORTFOLIO_ARCH_ABOVE_MARKET_COMPONENT_COUPLING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PORTFOLIO_ARCH_MARKET_AVERAGE_COMPONENT_COUPLING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PORTFOLIO_ARCH_BELOW_MARKET_COMPONENT_COUPLING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082517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Coupling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PORTFOLIO_PERIOD_ARCH_COMPONENT_COUPLING_RATINGS_CHANGE_GROUPED_BY_TEAM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PORTFOLIO_ARCH_INCREASED_COMPONENT_COUPLING% of systems has seen an increase in their Component Coupling rating. PORTFOLIO_ARCH_STABLE_COMPONENT_COUPLING% of systems has remained stable. PORTFOLIO_ARCH_DECREASED_COMPONENT_COUPLING%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PORTFOLIO_ARCH_BIGGEST_CHANGES_COMPONENT_COUPLING</a:t>
            </a:r>
          </a:p>
        </p:txBody>
      </p:sp>
    </p:spTree>
    <p:extLst>
      <p:ext uri="{BB962C8B-B14F-4D97-AF65-F5344CB8AC3E}">
        <p14:creationId xmlns:p14="http://schemas.microsoft.com/office/powerpoint/2010/main" val="34400809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Adjacency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PORTFOLIO_PERIOD_ARCH_COMPONENT_ADJACENCY_GROUPED_BY_TEAM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Adjacency rating for the portfolio is PORTFOLIO_ARCH_AVG_RATING_COMPONENT_ADJACENCY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PORTFOLIO_ARCH_ABOVE_MARKET_COMPONENT_ADJACENCY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PORTFOLIO_ARCH_MARKET_AVERAGE_COMPONENT_ADJACENCY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PORTFOLIO_ARCH_BELOW_MARKET_COMPONENT_ADJACENCY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8424427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Adjacency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PORTFOLIO_PERIOD_ARCH_COMPONENT_ADJACENCY_RATINGS_CHANGE_GROUPED_BY_TEAM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PORTFOLIO_ARCH_INCREASED_COMPONENT_ADJACENCY% of systems has seen an increase in their Component Adjacency rating. PORTFOLIO_ARCH_STABLE_COMPONENT_ADJACENCY% of systems has remained stable. PORTFOLIO_ARCH_DECREASED_COMPONENT_ADJACENCY%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PORTFOLIO_ARCH_BIGGEST_CHANGES_COMPONENT_ADJACENCY</a:t>
            </a:r>
          </a:p>
        </p:txBody>
      </p:sp>
    </p:spTree>
    <p:extLst>
      <p:ext uri="{BB962C8B-B14F-4D97-AF65-F5344CB8AC3E}">
        <p14:creationId xmlns:p14="http://schemas.microsoft.com/office/powerpoint/2010/main" val="28426400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Cohesion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PORTFOLIO_PERIOD_ARCH_COMPONENT_COHESION_GROUPED_BY_TEAM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Cohesion rating for the portfolio is PORTFOLIO_ARCH_AVG_RATING_COMPONENT_COHESION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PORTFOLIO_ARCH_ABOVE_MARKET_COMPONENT_COHESION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PORTFOLIO_ARCH_MARKET_AVERAGE_COMPONENT_COHESION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PORTFOLIO_ARCH_BELOW_MARKET_COMPONENT_COHESION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0722280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Cohesion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PORTFOLIO_PERIOD_ARCH_COMPONENT_COHESION_RATINGS_CHANGE_GROUPED_BY_TEAM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PORTFOLIO_ARCH_INCREASED_COMPONENT_COHESION% of systems has seen an increase in their Component Cohesion rating. PORTFOLIO_ARCH_STABLE_COMPONENT_COHESION% of systems has remained stable. PORTFOLIO_ARCH_DECREASED_COMPONENT_COHESION%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PORTFOLIO_ARCH_BIGGEST_CHANGES_COMPONENT_COHESION</a:t>
            </a:r>
          </a:p>
        </p:txBody>
      </p:sp>
    </p:spTree>
    <p:extLst>
      <p:ext uri="{BB962C8B-B14F-4D97-AF65-F5344CB8AC3E}">
        <p14:creationId xmlns:p14="http://schemas.microsoft.com/office/powerpoint/2010/main" val="21369185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</a:t>
            </a:r>
            <a:r>
              <a:rPr lang="en-GB" dirty="0">
                <a:ea typeface="Calibri"/>
                <a:cs typeface="Calibri"/>
              </a:rPr>
              <a:t>Communication Centralization </a:t>
            </a:r>
            <a:r>
              <a:rPr lang="en-US" dirty="0"/>
              <a:t>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</a:t>
            </a:r>
            <a:r>
              <a:rPr lang="en-GB" sz="1600" dirty="0">
                <a:ea typeface="Calibri"/>
                <a:cs typeface="Calibri"/>
              </a:rPr>
              <a:t>_COMMUNICATION_CENTRALIZATION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</a:t>
            </a:r>
            <a:r>
              <a:rPr lang="en-GB" dirty="0">
                <a:ea typeface="Calibri"/>
                <a:cs typeface="Calibri"/>
              </a:rPr>
              <a:t>Communication Centralization rating</a:t>
            </a:r>
            <a:r>
              <a:rPr lang="en-US" dirty="0"/>
              <a:t> for the portfolio is PORTFOLIO_ARCH_AVG_RATING_</a:t>
            </a:r>
            <a:r>
              <a:rPr lang="en-GB" dirty="0">
                <a:ea typeface="Calibri"/>
                <a:cs typeface="Calibri"/>
              </a:rPr>
              <a:t>COMMUNICATION_CENTRALIZATION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</a:t>
            </a:r>
            <a:r>
              <a:rPr lang="en-GB" dirty="0">
                <a:ea typeface="Calibri"/>
                <a:cs typeface="Calibri"/>
              </a:rPr>
              <a:t>COMMUNICATION_CENTRALIZATION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</a:t>
            </a:r>
            <a:r>
              <a:rPr lang="en-GB" dirty="0">
                <a:ea typeface="Calibri"/>
                <a:cs typeface="Calibri"/>
              </a:rPr>
              <a:t>COMMUNICATION_CENTRALIZATION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</a:t>
            </a:r>
            <a:r>
              <a:rPr lang="en-GB" dirty="0">
                <a:ea typeface="Calibri"/>
                <a:cs typeface="Calibri"/>
              </a:rPr>
              <a:t>COMMUNICATION_CENTRALIZATION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70937993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Communication Centralization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PORTFOLIO_PERIOD_ARCH_COMMUNICATION_CENTRALIZATION_RATINGS_CHANGE_GROUPED_BY_TEAM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PORTFOLIO_ARCH_INCREASED_COMMUNICATION_CENTRALIZATION% of systems has seen an increase in their Communication Centralization rating. PORTFOLIO_ARCH_STABLE_COMMUNICATION_CENTRALIZATION% of systems has remained stable. PORTFOLIO_ARCH_DECREASED_COMMUNICATION_CENTRALIZATION%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PORTFOLIO_ARCH_BIGGEST_CHANGES_COMMUNICATION_CENTRALIZATION</a:t>
            </a:r>
          </a:p>
        </p:txBody>
      </p:sp>
    </p:spTree>
    <p:extLst>
      <p:ext uri="{BB962C8B-B14F-4D97-AF65-F5344CB8AC3E}">
        <p14:creationId xmlns:p14="http://schemas.microsoft.com/office/powerpoint/2010/main" val="37692473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Data Coupling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PORTFOLIO_PERIOD_ARCH_DATA_COUPLING_GROUPED_BY_TEAM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Data Coupling rating for the portfolio is PORTFOLIO_ARCH_AVG_RATING_DATA_COUPLING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PORTFOLIO_ARCH_ABOVE_MARKET_DATA_COUPLING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PORTFOLIO_ARCH_MARKET_AVERAGE_DATA_COUPLING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PORTFOLIO_ARCH_BELOW_MARKET_DATA_COUPLING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387350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Data Coupling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PORTFOLIO_PERIOD_ARCH_DATA_COUPLING_RATINGS_CHANGE_GROUPED_BY_TEAM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PORTFOLIO_ARCH_INCREASED_DATA_COUPLING% of systems has seen an increase in their Data Coupling rating. PORTFOLIO_ARCH_STABLE_DATA_COUPLING% of systems has remained stable. PORTFOLIO_ARCH_DECREASED_DATA_COUPLING%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PORTFOLIO_ARCH_BIGGEST_CHANGES_DATA_COUPLING</a:t>
            </a:r>
          </a:p>
        </p:txBody>
      </p:sp>
    </p:spTree>
    <p:extLst>
      <p:ext uri="{BB962C8B-B14F-4D97-AF65-F5344CB8AC3E}">
        <p14:creationId xmlns:p14="http://schemas.microsoft.com/office/powerpoint/2010/main" val="25321641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Bounded Evolution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PORTFOLIO_PERIOD_ARCH_BOUNDED_EVOLUTION_GROUPED_BY_TEAM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Bounded Evolution rating for the portfolio is PORTFOLIO_ARCH_AVG_RATING_BOUNDED_EVOLUTION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PORTFOLIO_ARCH_ABOVE_MARKET_BOUNDED_EVOLUTION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PORTFOLIO_ARCH_MARKET_AVERAGE_BOUNDED_EVOLUTION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PORTFOLIO_ARCH_BELOW_MARKET_BOUNDED_EVOLUTION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957495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Bounded Evolution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PORTFOLIO_PERIOD_ARCH_BOUNDED_EVOLUTION_RATINGS_CHANGE_GROUPED_BY_TEAM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PORTFOLIO_ARCH_INCREASED_BOUNDED_EVOLUTION% of systems has seen an increase in their Bounded Evolution rating. PORTFOLIO_ARCH_STABLE_BOUNDED_EVOLUTION% of systems has remained stable. PORTFOLIO_ARCH_DECREASED_BOUNDED_EVOLUTION%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PORTFOLIO_ARCH_BIGGEST_CHANGES_BOUNDED_EVOLUTION</a:t>
            </a:r>
          </a:p>
        </p:txBody>
      </p:sp>
    </p:spTree>
    <p:extLst>
      <p:ext uri="{BB962C8B-B14F-4D97-AF65-F5344CB8AC3E}">
        <p14:creationId xmlns:p14="http://schemas.microsoft.com/office/powerpoint/2010/main" val="37186473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Knowledge Awareness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PORTFOLIO_PERIOD_ARCH_KNOWLEDGE_AWARENESS_GROUPED_BY_TEAM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Knowledge Awareness rating for the portfolio is PORTFOLIO_ARCH_AVG_RATING_KNOWLEDGE_AWARENESS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PORTFOLIO_ARCH_ABOVE_MARKET_KNOWLEDGE_AWARENESS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PORTFOLIO_ARCH_MARKET_AVERAGE_KNOWLEDGE_AWARENESS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PORTFOLIO_ARCH_BELOW_MARKET_KNOWLEDGE_AWARENESS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901172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Knowledge Awareness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PORTFOLIO_PERIOD_ARCH_KNOWLEDGE_AWARENESS_RATINGS_CHANGE_GROUPED_BY_TEAM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PORTFOLIO_ARCH_INCREASED_KNOWLEDGE_AWARENESS% of systems has seen an increase in their Knowledge Awareness rating. PORTFOLIO_ARCH_STABLE_KNOWLEDGE_AWARENESS% of systems has remained stable. PORTFOLIO_ARCH_DECREASED_KNOWLEDGE_AWARENESS%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PORTFOLIO_ARCH_BIGGEST_CHANGES_KNOWLEDGE_AWARENESS</a:t>
            </a:r>
          </a:p>
        </p:txBody>
      </p:sp>
    </p:spTree>
    <p:extLst>
      <p:ext uri="{BB962C8B-B14F-4D97-AF65-F5344CB8AC3E}">
        <p14:creationId xmlns:p14="http://schemas.microsoft.com/office/powerpoint/2010/main" val="22908151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Component Freshness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PORTFOLIO_PERIOD_ARCH_COMPONENT_FRESHNESS_GROUPED_BY_TEAM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Component Freshness rating for the portfolio is PORTFOLIO_ARCH_AVG_RATING_COMPONENT_FRESHNESS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PORTFOLIO_ARCH_ABOVE_MARKET_COMPONENT_FRESHNESS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PORTFOLIO_ARCH_MARKET_AVERAGE_COMPONENT_FRESHNESS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PORTFOLIO_ARCH_BELOW_MARKET_COMPONENT_FRESHNESS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622760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Component Freshness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PORTFOLIO_PERIOD_ARCH_COMPONENT_FRESHNESS_RATINGS_CHANGE_GROUPED_BY_TEAM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PORTFOLIO_ARCH_INCREASED_COMPONENT_FRESHNESS% of systems has seen an increase in their Component Freshness rating. PORTFOLIO_ARCH_STABLE_COMPONENT_FRESHNESS% of systems has remained stable. PORTFOLIO_ARCH_DECREASED_COMPONENT_FRESHNESS%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PORTFOLIO_ARCH_BIGGEST_CHANGES_COMPONENT_FRESHNESS</a:t>
            </a:r>
          </a:p>
        </p:txBody>
      </p:sp>
    </p:spTree>
    <p:extLst>
      <p:ext uri="{BB962C8B-B14F-4D97-AF65-F5344CB8AC3E}">
        <p14:creationId xmlns:p14="http://schemas.microsoft.com/office/powerpoint/2010/main" val="40404048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Team Stability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PORTFOLIO_PERIOD_ARCH_TEAM_STABILITY_GROUPED_BY_TEAM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Team Stability rating for the portfolio is PORTFOLIO_ARCH_AVG_RATING_TEAM_STABILITY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PORTFOLIO_ARCH_ABOVE_MARKET_TEAM_STABILITY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PORTFOLIO_ARCH_MARKET_AVERAGE_TEAM_STABILITY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PORTFOLIO_ARCH_BELOW_MARKET_TEAM_STABILITY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9555438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157222" cy="228209"/>
          </a:xfrm>
        </p:spPr>
        <p:txBody>
          <a:bodyPr>
            <a:spAutoFit/>
          </a:bodyPr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Change in Team Stability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PORTFOLIO_PERIOD_ARCH_TEAM_STABILITY_RATINGS_CHANGE_GROUPED_BY_TEAM</a:t>
            </a:r>
          </a:p>
        </p:txBody>
      </p:sp>
      <p:sp>
        <p:nvSpPr>
          <p:cNvPr id="2017" name="TextBox 2017"/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</a:p>
        </p:txBody>
      </p:sp>
      <p:sp>
        <p:nvSpPr>
          <p:cNvPr id="2011" name="Rounded Rectangle 2011"/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2" name="Rounded Rectangle 2012"/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3" name="Rounded Rectangle 2013"/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4" name="Rounded Rectangle 2014"/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5" name="Rounded Rectangle 2015"/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016" name="TextBox 2016"/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</a:p>
        </p:txBody>
      </p:sp>
      <p:sp>
        <p:nvSpPr>
          <p:cNvPr id="2004" name="Footer Placeholder 2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2071" name="TextBox 2071"/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2060" name="TextBox 2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PORTFOLIO_ARCH_INCREASED_TEAM_STABILITY% of systems has seen an increase in their Team Stability rating. PORTFOLIO_ARCH_STABLE_TEAM_STABILITY% of systems has remained stable. PORTFOLIO_ARCH_DECREASED_TEAM_STABILITY%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PORTFOLIO_ARCH_BIGGEST_CHANGES_TEAM_STABILITY</a:t>
            </a:r>
          </a:p>
        </p:txBody>
      </p:sp>
    </p:spTree>
    <p:extLst>
      <p:ext uri="{BB962C8B-B14F-4D97-AF65-F5344CB8AC3E}">
        <p14:creationId xmlns:p14="http://schemas.microsoft.com/office/powerpoint/2010/main" val="19523367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2A848-3C3B-60D0-07AA-C794FB3DE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78832CF-89C8-A678-3DE3-0B8570E1CDF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C0FA17-A24A-8F00-536B-10B083EAB6B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38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CCD467-505B-0161-53C5-DD3371562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Index of Metrics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133B35-BDB7-23F8-73B5-D80C3CA774C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US" dirty="0"/>
              <a:t>Maintainability </a:t>
            </a:r>
          </a:p>
          <a:p>
            <a:r>
              <a:rPr lang="en-US" dirty="0"/>
              <a:t>Architecture Quality</a:t>
            </a:r>
          </a:p>
          <a:p>
            <a:r>
              <a:rPr lang="en-US" dirty="0"/>
              <a:t>Open Source Health</a:t>
            </a:r>
          </a:p>
        </p:txBody>
      </p:sp>
      <p:sp>
        <p:nvSpPr>
          <p:cNvPr id="6" name="Afgeronde rechthoek 33">
            <a:extLst>
              <a:ext uri="{FF2B5EF4-FFF2-40B4-BE49-F238E27FC236}">
                <a16:creationId xmlns:a16="http://schemas.microsoft.com/office/drawing/2014/main" id="{D0F816A6-BE10-E46B-5A30-AEE2C76C6193}"/>
              </a:ext>
            </a:extLst>
          </p:cNvPr>
          <p:cNvSpPr/>
          <p:nvPr/>
        </p:nvSpPr>
        <p:spPr>
          <a:xfrm>
            <a:off x="4467600" y="2103479"/>
            <a:ext cx="7567201" cy="672117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84349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Vulnerability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PORTFOLIO_PERIOD_OSH_VULNERABILITY_GROUPED_BY_TEAM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Vulnerability rating for the portfolio is PORTFOLIO_OSH_AVG_RATING_VULNERABILITY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PORTFOLIO_OSH_ABOVE_MARKET_VULNERABILITY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PORTFOLIO_OSH_MARKET_AVERAGE_VULNERABILITY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PORTFOLIO_OSH_BELOW_MARKET_VULNERABILITY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5657671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Licenses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PORTFOLIO_PERIOD_OSH_LICENSES_GROUPED_BY_TEAM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Licenses rating for the portfolio is PORTFOLIO_OSH_AVG_RATING_LICENSES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PORTFOLIO_OSH_ABOVE_MARKET_LICENSES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PORTFOLIO_OSH_MARKET_AVERAGE_LICENSES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PORTFOLIO_OSH_BELOW_MARKET_LICENSES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0347953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Freshness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PORTFOLIO_PERIOD_OSH_FRESHNESS_GROUPED_BY_TEAM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Freshness rating for the portfolio is PORTFOLIO_OSH_AVG_RATING_FRESHNESS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PORTFOLIO_OSH_ABOVE_MARKET_FRESHNESS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PORTFOLIO_OSH_MARKET_AVERAGE_FRESHNESS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PORTFOLIO_OSH_BELOW_MARKET_FRESHNESS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2704159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Management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PORTFOLIO_PERIOD_OSH_MANAGEMENT_GROUPED_BY_TEAM</a:t>
            </a:r>
          </a:p>
        </p:txBody>
      </p:sp>
      <p:grpSp>
        <p:nvGrpSpPr>
          <p:cNvPr id="1030" name="Group 1030"/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1031" name="TextBox 1031"/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1032" name="Rounded Rectangle 1032"/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3" name="Group 1033"/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034" name="TextBox 1034"/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035" name="Rounded Rectangle 1035"/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6" name="Group 1036"/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037" name="TextBox 1037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038" name="Rounded Rectangle 1038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39" name="Group 1039"/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040" name="TextBox 1040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041" name="Rounded Rectangle 1041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42" name="Group 1042"/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1043" name="TextBox 1043"/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1044" name="Rounded Rectangle 1044"/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04" name="Footer Placeholder 1004"/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Management rating for the portfolio is PORTFOLIO_OSH_AVG_RATING_MANAGEMENT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PORTFOLIO_OSH_ABOVE_MARKET_MANAGEMENT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PORTFOLIO_OSH_MARKET_AVERAGE_MANAGEMENT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PORTFOLIO_OSH_BELOW_MARKET_MANAGEMENT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57016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Activity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PORTFOLIO_PERIOD_OSH_ACTIVITY_GROUPED_BY_TEAM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Activity rating for the portfolio is PORTFOLIO_OSH_AVG_RATING_ACTIVITY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PORTFOLIO_OSH_ABOVE_MARKET_ACTIVITY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PORTFOLIO_OSH_MARKET_AVERAGE_ACTIVITY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PORTFOLIO_OSH_BELOW_MARKET_ACTIVITY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grpSp>
        <p:nvGrpSpPr>
          <p:cNvPr id="6" name="Group 1030">
            <a:extLst>
              <a:ext uri="{FF2B5EF4-FFF2-40B4-BE49-F238E27FC236}">
                <a16:creationId xmlns:a16="http://schemas.microsoft.com/office/drawing/2014/main" id="{99AFEB87-0CCD-A5AC-7E55-A8E60931ECD5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8" name="TextBox 1031">
              <a:extLst>
                <a:ext uri="{FF2B5EF4-FFF2-40B4-BE49-F238E27FC236}">
                  <a16:creationId xmlns:a16="http://schemas.microsoft.com/office/drawing/2014/main" id="{D76B4ABE-E39A-C561-402E-9E302879EEFD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9" name="Rounded Rectangle 1032">
              <a:extLst>
                <a:ext uri="{FF2B5EF4-FFF2-40B4-BE49-F238E27FC236}">
                  <a16:creationId xmlns:a16="http://schemas.microsoft.com/office/drawing/2014/main" id="{6FBCB493-E9C2-EFBB-FBE4-182DA74247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" name="Group 1033">
            <a:extLst>
              <a:ext uri="{FF2B5EF4-FFF2-40B4-BE49-F238E27FC236}">
                <a16:creationId xmlns:a16="http://schemas.microsoft.com/office/drawing/2014/main" id="{F4A7F3FD-0B04-7430-64C3-66D73D44FDF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1" name="TextBox 1034">
              <a:extLst>
                <a:ext uri="{FF2B5EF4-FFF2-40B4-BE49-F238E27FC236}">
                  <a16:creationId xmlns:a16="http://schemas.microsoft.com/office/drawing/2014/main" id="{B9650F97-8672-3BEA-FA99-CF3043EDFB0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2" name="Rounded Rectangle 1035">
              <a:extLst>
                <a:ext uri="{FF2B5EF4-FFF2-40B4-BE49-F238E27FC236}">
                  <a16:creationId xmlns:a16="http://schemas.microsoft.com/office/drawing/2014/main" id="{FFADB97F-2BF7-4867-DCDB-A9D48DC52A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Group 1036">
            <a:extLst>
              <a:ext uri="{FF2B5EF4-FFF2-40B4-BE49-F238E27FC236}">
                <a16:creationId xmlns:a16="http://schemas.microsoft.com/office/drawing/2014/main" id="{D7604836-9265-A1A8-0D56-2C140B29F83E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4" name="TextBox 1037">
              <a:extLst>
                <a:ext uri="{FF2B5EF4-FFF2-40B4-BE49-F238E27FC236}">
                  <a16:creationId xmlns:a16="http://schemas.microsoft.com/office/drawing/2014/main" id="{C73D936E-59D4-6831-50F0-AB8CEB499B6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5" name="Rounded Rectangle 1038">
              <a:extLst>
                <a:ext uri="{FF2B5EF4-FFF2-40B4-BE49-F238E27FC236}">
                  <a16:creationId xmlns:a16="http://schemas.microsoft.com/office/drawing/2014/main" id="{AD985571-355E-A893-64A2-BBBC0A52D4D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6" name="Group 1039">
            <a:extLst>
              <a:ext uri="{FF2B5EF4-FFF2-40B4-BE49-F238E27FC236}">
                <a16:creationId xmlns:a16="http://schemas.microsoft.com/office/drawing/2014/main" id="{EA407F70-674E-C448-46FF-DAC346F52A8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7" name="TextBox 1040">
              <a:extLst>
                <a:ext uri="{FF2B5EF4-FFF2-40B4-BE49-F238E27FC236}">
                  <a16:creationId xmlns:a16="http://schemas.microsoft.com/office/drawing/2014/main" id="{F0FF61F8-4401-D061-4AC6-47B3AC5BBA1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8" name="Rounded Rectangle 1041">
              <a:extLst>
                <a:ext uri="{FF2B5EF4-FFF2-40B4-BE49-F238E27FC236}">
                  <a16:creationId xmlns:a16="http://schemas.microsoft.com/office/drawing/2014/main" id="{F47CC817-B00D-E027-7B3D-415586015C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042">
            <a:extLst>
              <a:ext uri="{FF2B5EF4-FFF2-40B4-BE49-F238E27FC236}">
                <a16:creationId xmlns:a16="http://schemas.microsoft.com/office/drawing/2014/main" id="{F16CAD8B-5312-A8AE-4012-68F182A02B54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20" name="TextBox 1043">
              <a:extLst>
                <a:ext uri="{FF2B5EF4-FFF2-40B4-BE49-F238E27FC236}">
                  <a16:creationId xmlns:a16="http://schemas.microsoft.com/office/drawing/2014/main" id="{9338EA57-AEDC-B417-24A7-2B066B9B45D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1" name="Rounded Rectangle 1044">
              <a:extLst>
                <a:ext uri="{FF2B5EF4-FFF2-40B4-BE49-F238E27FC236}">
                  <a16:creationId xmlns:a16="http://schemas.microsoft.com/office/drawing/2014/main" id="{FB244793-B8B6-6212-8052-82DC320F85F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22" name="Footer Placeholder 1004">
            <a:extLst>
              <a:ext uri="{FF2B5EF4-FFF2-40B4-BE49-F238E27FC236}">
                <a16:creationId xmlns:a16="http://schemas.microsoft.com/office/drawing/2014/main" id="{3003FB07-67E0-4E3E-208C-0F579A9ED4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8309476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>
            <a:spAutoFit/>
          </a:bodyPr>
          <a:lstStyle/>
          <a:p>
            <a:r>
              <a:rPr lang="en-US" dirty="0"/>
              <a:t>Open Source Health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Overview of Stability metric for portfolio CUSTOMER_NAME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PORTFOLIO_PERIOD_OSH_STABILITY_GROUPED_BY_TEAM</a:t>
            </a:r>
          </a:p>
        </p:txBody>
      </p:sp>
      <p:sp>
        <p:nvSpPr>
          <p:cNvPr id="1071" name="TextBox 1071"/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060" name="TextBox 1060"/>
          <p:cNvSpPr txBox="1"/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indent="-283845"/>
            <a:r>
              <a:rPr lang="en-US" dirty="0"/>
              <a:t>The average Stability rating for the portfolio is PORTFOLIO_OSH_AVG_RATING_STABILITY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PORTFOLIO_OSH_ABOVE_MARKET_STABILITY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PORTFOLIO_OSH_MARKET_AVERAGE_STABILITY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PORTFOLIO_OSH_BELOW_MARKET_STABILITY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grpSp>
        <p:nvGrpSpPr>
          <p:cNvPr id="6" name="Group 1030">
            <a:extLst>
              <a:ext uri="{FF2B5EF4-FFF2-40B4-BE49-F238E27FC236}">
                <a16:creationId xmlns:a16="http://schemas.microsoft.com/office/drawing/2014/main" id="{513B02F0-2AA1-5FFD-D5C4-7347F2421D8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8" name="TextBox 1031">
              <a:extLst>
                <a:ext uri="{FF2B5EF4-FFF2-40B4-BE49-F238E27FC236}">
                  <a16:creationId xmlns:a16="http://schemas.microsoft.com/office/drawing/2014/main" id="{0F18060E-AAC3-E654-127C-6597327BF93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9" name="Rounded Rectangle 1032">
              <a:extLst>
                <a:ext uri="{FF2B5EF4-FFF2-40B4-BE49-F238E27FC236}">
                  <a16:creationId xmlns:a16="http://schemas.microsoft.com/office/drawing/2014/main" id="{D2A7757E-779F-2810-5E4E-E62E1A0BAF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0" name="Group 1033">
            <a:extLst>
              <a:ext uri="{FF2B5EF4-FFF2-40B4-BE49-F238E27FC236}">
                <a16:creationId xmlns:a16="http://schemas.microsoft.com/office/drawing/2014/main" id="{AFA85250-5C32-0E74-0FD5-67E4490B30C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11" name="TextBox 1034">
              <a:extLst>
                <a:ext uri="{FF2B5EF4-FFF2-40B4-BE49-F238E27FC236}">
                  <a16:creationId xmlns:a16="http://schemas.microsoft.com/office/drawing/2014/main" id="{423750AE-D097-DABA-1E9D-A5D4601C6AF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12" name="Rounded Rectangle 1035">
              <a:extLst>
                <a:ext uri="{FF2B5EF4-FFF2-40B4-BE49-F238E27FC236}">
                  <a16:creationId xmlns:a16="http://schemas.microsoft.com/office/drawing/2014/main" id="{DCA5851D-1798-0A20-5A71-774836BD4F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3" name="Group 1036">
            <a:extLst>
              <a:ext uri="{FF2B5EF4-FFF2-40B4-BE49-F238E27FC236}">
                <a16:creationId xmlns:a16="http://schemas.microsoft.com/office/drawing/2014/main" id="{49B9D467-2411-DC5B-B05F-6F662BF677A0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14" name="TextBox 1037">
              <a:extLst>
                <a:ext uri="{FF2B5EF4-FFF2-40B4-BE49-F238E27FC236}">
                  <a16:creationId xmlns:a16="http://schemas.microsoft.com/office/drawing/2014/main" id="{CC5C6A22-8797-60A5-73E8-1D1CB180F31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15" name="Rounded Rectangle 1038">
              <a:extLst>
                <a:ext uri="{FF2B5EF4-FFF2-40B4-BE49-F238E27FC236}">
                  <a16:creationId xmlns:a16="http://schemas.microsoft.com/office/drawing/2014/main" id="{4AA5AD01-5458-540B-26C9-068D9EC2C1E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6" name="Group 1039">
            <a:extLst>
              <a:ext uri="{FF2B5EF4-FFF2-40B4-BE49-F238E27FC236}">
                <a16:creationId xmlns:a16="http://schemas.microsoft.com/office/drawing/2014/main" id="{494117D0-24D7-5736-0510-8FF302DE122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17" name="TextBox 1040">
              <a:extLst>
                <a:ext uri="{FF2B5EF4-FFF2-40B4-BE49-F238E27FC236}">
                  <a16:creationId xmlns:a16="http://schemas.microsoft.com/office/drawing/2014/main" id="{23408114-59B2-C1D2-8E4E-1ADA2A65B568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18" name="Rounded Rectangle 1041">
              <a:extLst>
                <a:ext uri="{FF2B5EF4-FFF2-40B4-BE49-F238E27FC236}">
                  <a16:creationId xmlns:a16="http://schemas.microsoft.com/office/drawing/2014/main" id="{803085FD-82BC-A32D-C289-50A1EA389C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9" name="Group 1042">
            <a:extLst>
              <a:ext uri="{FF2B5EF4-FFF2-40B4-BE49-F238E27FC236}">
                <a16:creationId xmlns:a16="http://schemas.microsoft.com/office/drawing/2014/main" id="{EA1A3B8F-2D14-50E5-CC9E-8D67204ED42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20" name="TextBox 1043">
              <a:extLst>
                <a:ext uri="{FF2B5EF4-FFF2-40B4-BE49-F238E27FC236}">
                  <a16:creationId xmlns:a16="http://schemas.microsoft.com/office/drawing/2014/main" id="{DAA04C80-6D49-A5BF-6EE7-1A1509E8E50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21" name="Rounded Rectangle 1044">
              <a:extLst>
                <a:ext uri="{FF2B5EF4-FFF2-40B4-BE49-F238E27FC236}">
                  <a16:creationId xmlns:a16="http://schemas.microsoft.com/office/drawing/2014/main" id="{8EDD62DD-BDAB-A371-10CA-58F3594F77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>
                <a:solidFill>
                  <a:schemeClr val="bg1"/>
                </a:solidFill>
              </a:endParaRPr>
            </a:p>
          </p:txBody>
        </p:sp>
      </p:grpSp>
      <p:sp>
        <p:nvSpPr>
          <p:cNvPr id="22" name="Footer Placeholder 1004">
            <a:extLst>
              <a:ext uri="{FF2B5EF4-FFF2-40B4-BE49-F238E27FC236}">
                <a16:creationId xmlns:a16="http://schemas.microsoft.com/office/drawing/2014/main" id="{93EAE8AB-0033-D4D9-57B7-71ECAF7ABC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en-US" dirty="0"/>
              <a:t>Generated with Sigrid</a:t>
            </a:r>
          </a:p>
          <a:p>
            <a:r>
              <a:rPr lang="en-US" dirty="0"/>
              <a:t>for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93546117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7A1475D-C9B4-4340-AC97-53E7D60D3545}">
  <we:reference id="11d7cf85-ae5a-43b8-bc58-1e1a151cce24" version="1.0.0.1" store="EXCatalog" storeType="EXCatalog"/>
  <we:alternateReferences>
    <we:reference id="WA200010725" version="1.0.0.1" store="en-US" storeType="OMEX"/>
  </we:alternateReferences>
  <we:properties>
    <we:property name="claude.fileId" value="&quot;bea3a859-62ab-42e4-a198-05891709eb96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22946</TotalTime>
  <Words>5000</Words>
  <Application>Microsoft Macintosh PowerPoint</Application>
  <PresentationFormat>Widescreen</PresentationFormat>
  <Paragraphs>538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44</vt:i4>
      </vt:variant>
    </vt:vector>
  </HeadingPairs>
  <TitlesOfParts>
    <vt:vector size="57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TheSansMono M5</vt:lpstr>
      <vt:lpstr>Light theme (default)</vt:lpstr>
      <vt:lpstr>Dark theme</vt:lpstr>
      <vt:lpstr>PowerPoint Presentation</vt:lpstr>
      <vt:lpstr>Index of Metrics</vt:lpstr>
      <vt:lpstr>Overview of Duplication metric for portfolio CUSTOMER_NAME</vt:lpstr>
      <vt:lpstr>Change in Duplication metric for portfolio CUSTOMER_NAME</vt:lpstr>
      <vt:lpstr>Overview of Unit Size metric for portfolio CUSTOMER_NAME</vt:lpstr>
      <vt:lpstr>Change in Unit Size metric for portfolio CUSTOMER_NAME</vt:lpstr>
      <vt:lpstr>Overview of Unit Complexity metric for portfolio CUSTOMER_NAME</vt:lpstr>
      <vt:lpstr>Change in Unit Complexity metric for portfolio CUSTOMER_NAME</vt:lpstr>
      <vt:lpstr>Overview of Unit Interfacing metric for portfolio CUSTOMER_NAME</vt:lpstr>
      <vt:lpstr>Change in Unit Interfacing metric for portfolio CUSTOMER_NAME</vt:lpstr>
      <vt:lpstr>Overview of Module Coupling metric for portfolio CUSTOMER_NAME</vt:lpstr>
      <vt:lpstr>Change in Module Coupling metric for portfolio CUSTOMER_NAME</vt:lpstr>
      <vt:lpstr>Overview of Component Independence metric for portfolio CUSTOMER_NAME</vt:lpstr>
      <vt:lpstr>Change in Component Independence metric for portfolio CUSTOMER_NAME</vt:lpstr>
      <vt:lpstr>Overview of Component Entanglement metric for portfolio CUSTOMER_NAME</vt:lpstr>
      <vt:lpstr>Change in Component Entanglement metric for portfolio CUSTOMER_NAME</vt:lpstr>
      <vt:lpstr>Index of Metrics</vt:lpstr>
      <vt:lpstr>Overview of Code Breakdown metric for portfolio CUSTOMER_NAME</vt:lpstr>
      <vt:lpstr>Change in Code Breakdown metric for portfolio CUSTOMER_NAME</vt:lpstr>
      <vt:lpstr>Overview of Component Coupling metric for portfolio CUSTOMER_NAME</vt:lpstr>
      <vt:lpstr>Change in Component Coupling metric for portfolio CUSTOMER_NAME</vt:lpstr>
      <vt:lpstr>Overview of Component Adjacency metric for portfolio CUSTOMER_NAME</vt:lpstr>
      <vt:lpstr>Change in Component Adjacency metric for portfolio CUSTOMER_NAME</vt:lpstr>
      <vt:lpstr>Overview of Component Cohesion metric for portfolio CUSTOMER_NAME</vt:lpstr>
      <vt:lpstr>Change in Component Cohesion metric for portfolio CUSTOMER_NAME</vt:lpstr>
      <vt:lpstr>Overview of Communication Centralization metric for portfolio CUSTOMER_NAME</vt:lpstr>
      <vt:lpstr>Change in Communication Centralization metric for portfolio CUSTOMER_NAME</vt:lpstr>
      <vt:lpstr>Overview of Data Coupling metric for portfolio CUSTOMER_NAME</vt:lpstr>
      <vt:lpstr>Change in Data Coupling metric for portfolio CUSTOMER_NAME</vt:lpstr>
      <vt:lpstr>Overview of Bounded Evolution metric for portfolio CUSTOMER_NAME</vt:lpstr>
      <vt:lpstr>Change in Bounded Evolution metric for portfolio CUSTOMER_NAME</vt:lpstr>
      <vt:lpstr>Overview of Knowledge Awareness metric for portfolio CUSTOMER_NAME</vt:lpstr>
      <vt:lpstr>Change in Knowledge Awareness metric for portfolio CUSTOMER_NAME</vt:lpstr>
      <vt:lpstr>Overview of Component Freshness metric for portfolio CUSTOMER_NAME</vt:lpstr>
      <vt:lpstr>Change in Component Freshness metric for portfolio CUSTOMER_NAME</vt:lpstr>
      <vt:lpstr>Overview of Team Stability metric for portfolio CUSTOMER_NAME</vt:lpstr>
      <vt:lpstr>Change in Team Stability metric for portfolio CUSTOMER_NAME</vt:lpstr>
      <vt:lpstr>Index of Metrics</vt:lpstr>
      <vt:lpstr>Overview of Vulnerability metric for portfolio CUSTOMER_NAME</vt:lpstr>
      <vt:lpstr>Overview of Licenses metric for portfolio CUSTOMER_NAME</vt:lpstr>
      <vt:lpstr>Overview of Freshness metric for portfolio CUSTOMER_NAME</vt:lpstr>
      <vt:lpstr>Overview of Management metric for portfolio CUSTOMER_NAME</vt:lpstr>
      <vt:lpstr>Overview of Activity metric for portfolio CUSTOMER_NAME</vt:lpstr>
      <vt:lpstr>Overview of Stability metric for portfolio CUSTOMER_NAME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220</cp:revision>
  <cp:lastPrinted>2020-04-20T09:37:43Z</cp:lastPrinted>
  <dcterms:created xsi:type="dcterms:W3CDTF">2025-10-22T11:22:13Z</dcterms:created>
  <dcterms:modified xsi:type="dcterms:W3CDTF">2026-08-21T14:51:33Z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