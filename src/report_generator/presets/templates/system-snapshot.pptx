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3"/>
  </p:notesMasterIdLst>
  <p:handoutMasterIdLst>
    <p:handoutMasterId r:id="rId24"/>
  </p:handoutMasterIdLst>
  <p:sldIdLst>
    <p:sldId id="1973" r:id="rId6"/>
    <p:sldId id="2010" r:id="rId7"/>
    <p:sldId id="11288" r:id="rId8"/>
    <p:sldId id="11394" r:id="rId9"/>
    <p:sldId id="2011" r:id="rId10"/>
    <p:sldId id="1988" r:id="rId11"/>
    <p:sldId id="2016" r:id="rId12"/>
    <p:sldId id="1824" r:id="rId13"/>
    <p:sldId id="11430" r:id="rId14"/>
    <p:sldId id="11483" r:id="rId15"/>
    <p:sldId id="11484" r:id="rId16"/>
    <p:sldId id="11481" r:id="rId17"/>
    <p:sldId id="11489" r:id="rId18"/>
    <p:sldId id="11486" r:id="rId19"/>
    <p:sldId id="2184" r:id="rId20"/>
    <p:sldId id="11487" r:id="rId21"/>
    <p:sldId id="1148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288"/>
            <p14:sldId id="11394"/>
            <p14:sldId id="2011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9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20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11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F6B2F43-D7A6-D9F8-CAD8-6FEC12BF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F773-C034-71B2-8B60-5119D8604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F205-FFFA-6ED7-9061-5B4D60AD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856B4B-2510-25E2-394B-3C52A618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4520EC1-637F-0CE0-12BF-1C2DF620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5">
            <a:extLst>
              <a:ext uri="{FF2B5EF4-FFF2-40B4-BE49-F238E27FC236}">
                <a16:creationId xmlns:a16="http://schemas.microsoft.com/office/drawing/2014/main" id="{0AFB5E79-46BA-CFF3-8602-D6B1591B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emf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5400" noProof="0" dirty="0"/>
              <a:t>Sigrid System Snapshot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996221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1739263"/>
            <a:chOff x="1187436" y="2607314"/>
            <a:chExt cx="8637048" cy="1739263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F5DF0A7-B635-04F6-A414-66B1D5F49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30E21-03D0-E176-48CC-E0A928A30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GB" dirty="0"/>
              <a:t>System Metadata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2885-3B34-E982-B629-94D557507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23B51F-B4CF-A232-65A9-E0C75114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>
                <a:latin typeface="Noir Pro Medium"/>
              </a:rPr>
              <a:t>Metadata overview for system SYSTEM_NAME</a:t>
            </a:r>
            <a:endParaRPr lang="en-GB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A0B31C-AF41-29A5-D80B-73D37328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13492"/>
              </p:ext>
            </p:extLst>
          </p:nvPr>
        </p:nvGraphicFramePr>
        <p:xfrm>
          <a:off x="582448" y="1509955"/>
          <a:ext cx="5222328" cy="3305539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General information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Full System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SYSTEM_FULL_NAME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Display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Division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METADATA_DIVISION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Team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Supplier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METADATA_SUPPLIER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Remark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METADATA_REMARK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Status Active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METADATA_STATUS_ACTIVE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Excluded from Dashboards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METADATA_EXCLUDED_FROM_DASHBOARDS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B0FB2279-02D8-F84F-22E7-354A1338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44355"/>
              </p:ext>
            </p:extLst>
          </p:nvPr>
        </p:nvGraphicFramePr>
        <p:xfrm>
          <a:off x="6387224" y="1505382"/>
          <a:ext cx="5222328" cy="389955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2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Metadata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 production since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METADATA_IN_PRODUCTION_SINCE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Business criticality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METADATA_BUSINESS_CRITICALITY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Lifecycle phase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METADATA_LIFECYCLE_PHASE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Target industry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METADATA_TARGET_INDUSTRY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Deployment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METADATA_DEPLOYMENT_TYPE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Application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METADATA_APPLICATION_TYPE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Distribution strategy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METADATA_DISTRIBUTION_STRATEGY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ID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display 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METADATA_EXTERNAL_DISPLAY_NAME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7969"/>
                  </a:ext>
                </a:extLst>
              </a:tr>
            </a:tbl>
          </a:graphicData>
        </a:graphic>
      </p:graphicFrame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668F418-C9C8-DC1B-60B7-39B80C74F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87575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6D11E59-CE75-1FCB-882A-D95DE0C0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07A884-AC28-2314-C739-5F3DD7BB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DCB514-EEAB-921C-29E3-76B18FF54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3955803" y="2780488"/>
            <a:ext cx="1487734" cy="339865"/>
            <a:chOff x="3955803" y="2830273"/>
            <a:chExt cx="1487734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4065156" y="2918313"/>
              <a:ext cx="1287688" cy="157941"/>
              <a:chOff x="4307640" y="2702807"/>
              <a:chExt cx="1287688" cy="157941"/>
            </a:xfrm>
          </p:grpSpPr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3955803" y="2830273"/>
              <a:ext cx="148773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6096000" y="3717908"/>
            <a:ext cx="5168112" cy="339865"/>
            <a:chOff x="6096000" y="3744528"/>
            <a:chExt cx="5168112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6368262" y="3835491"/>
              <a:ext cx="4797653" cy="157941"/>
              <a:chOff x="6610746" y="3796856"/>
              <a:chExt cx="4797653" cy="157941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6096000" y="3744528"/>
              <a:ext cx="516811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88215"/>
              </p:ext>
            </p:extLst>
          </p:nvPr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i="0" noProof="0" dirty="0">
                        <a:solidFill>
                          <a:schemeClr val="bg1"/>
                        </a:solidFill>
                        <a:latin typeface="☞NOIR PRO MEDIUM" pitchFamily="2" charset="0"/>
                      </a:endParaRP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8B98495-652D-FBE8-27A1-3D955AEE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/>
              <a:t>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CHART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225825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F93ECD-8304-30C3-8FA0-5E7662AC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6226"/>
              </p:ext>
            </p:extLst>
          </p:nvPr>
        </p:nvGraphicFramePr>
        <p:xfrm>
          <a:off x="8571496" y="3035953"/>
          <a:ext cx="3315521" cy="16917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89C97-6C2B-CBC6-7C32-011FC35EC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/>
              <a:t>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9170FB-EB04-2D52-E4B3-55BBDBB0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C94B99-D17E-9114-E33E-B540BB7A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4C08B4-CA73-A94F-C526-596AC4A9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577"/>
            <a:ext cx="1663129" cy="228209"/>
          </a:xfrm>
        </p:spPr>
        <p:txBody>
          <a:bodyPr/>
          <a:lstStyle/>
          <a:p>
            <a:r>
              <a:rPr lang="en-GB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/>
              <a:t>SIG’s Architecture Model maps the sub-characteristics to 10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1766208" y="2788139"/>
            <a:ext cx="5301886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spc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GB" sz="140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GB" sz="140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933" y="2194935"/>
          <a:ext cx="102958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9580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957207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892013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8850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awareness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Team stability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170570" y="2889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218304" y="2900136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303086" y="2889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303086" y="335388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218552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155075" y="333780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366562" y="334630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8387620" y="334931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307759" y="382272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218552" y="383469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155075" y="3830396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366562" y="3828819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17160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218304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218552" y="287523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155075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8387619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9423812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466349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508886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2794000" y="3250502"/>
            <a:ext cx="6119115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2878468" y="3717283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1769459" y="4194000"/>
            <a:ext cx="825093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9084347" y="4644777"/>
            <a:ext cx="276400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Ovaal 11">
            <a:extLst>
              <a:ext uri="{FF2B5EF4-FFF2-40B4-BE49-F238E27FC236}">
                <a16:creationId xmlns:a16="http://schemas.microsoft.com/office/drawing/2014/main" id="{49FD37FC-78C6-8AE7-1213-80B6F7C3AF38}"/>
              </a:ext>
            </a:extLst>
          </p:cNvPr>
          <p:cNvSpPr/>
          <p:nvPr/>
        </p:nvSpPr>
        <p:spPr>
          <a:xfrm>
            <a:off x="9423812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Ovaal 9">
            <a:extLst>
              <a:ext uri="{FF2B5EF4-FFF2-40B4-BE49-F238E27FC236}">
                <a16:creationId xmlns:a16="http://schemas.microsoft.com/office/drawing/2014/main" id="{E5033087-6D00-921C-BBC1-59A13BC7FF0E}"/>
              </a:ext>
            </a:extLst>
          </p:cNvPr>
          <p:cNvSpPr/>
          <p:nvPr/>
        </p:nvSpPr>
        <p:spPr>
          <a:xfrm>
            <a:off x="3155076" y="29053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8B15C3-9AA0-9340-025A-FDC579028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865637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inhoud 53">
            <a:extLst>
              <a:ext uri="{FF2B5EF4-FFF2-40B4-BE49-F238E27FC236}">
                <a16:creationId xmlns:a16="http://schemas.microsoft.com/office/drawing/2014/main" id="{8EB15A5B-28E6-B0D0-3A64-FDA8C14C14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dirty="0"/>
              <a:t>ARCH_WORST_METRIC_REMARK</a:t>
            </a:r>
          </a:p>
          <a:p>
            <a:br>
              <a:rPr lang="en-US" sz="1400" dirty="0"/>
            </a:br>
            <a:r>
              <a:rPr lang="en-US" sz="1400" dirty="0"/>
              <a:t>ARCH_BEST_METRIC_REMARK</a:t>
            </a:r>
            <a:endParaRPr lang="en-US" sz="2000" dirty="0"/>
          </a:p>
        </p:txBody>
      </p:sp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/>
              <a:t>Key findings – Architecture quality</a:t>
            </a:r>
            <a:endParaRPr lang="en-US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/>
              <a:t>SYSTEM_NAME scores ARCH_AT_BELOW market average (ARCH_RATING </a:t>
            </a:r>
            <a:r>
              <a:rPr lang="en-US" noProof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/>
              <a:t>) for Architecture Quality</a:t>
            </a:r>
            <a:endParaRPr lang="en-US" noProof="0" dirty="0"/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7445"/>
              </p:ext>
            </p:extLst>
          </p:nvPr>
        </p:nvGraphicFramePr>
        <p:xfrm>
          <a:off x="8245096" y="3035953"/>
          <a:ext cx="3754745" cy="1361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25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672160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awareness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STARS_KNOWLEDGE_AWARENESS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ARCH_RATING_KNOWLEDGE_AWARENESS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Team 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605174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23964EB-0BB8-77A0-1CCD-99E2E09C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A056AD-5C98-2081-69A4-5F42AF98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044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76990D-E053-DFD3-6F1D-6FADB02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400" noProof="0" dirty="0"/>
              <a:t>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000087"/>
              </p:ext>
            </p:extLst>
          </p:nvPr>
        </p:nvGraphicFramePr>
        <p:xfrm>
          <a:off x="2993512" y="2856792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9FC3-B21B-D813-DD82-33A7B160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11481</TotalTime>
  <Words>1633</Words>
  <Application>Microsoft Macintosh PowerPoint</Application>
  <PresentationFormat>Widescreen</PresentationFormat>
  <Paragraphs>395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Metadata overview for system SYSTEM_NAME</vt:lpstr>
      <vt:lpstr>System "SYSTEM_NAME" technical quality: management summary</vt:lpstr>
      <vt:lpstr>Outline of topics</vt:lpstr>
      <vt:lpstr>Explanation: The ISO 25010 standard for Maintainability has 5 sub-characteristics</vt:lpstr>
      <vt:lpstr>The SIG/TÜViT model maps the sub-characteristics to the system properties</vt:lpstr>
      <vt:lpstr>SYSTEM_NAME is a system of SYSTEM_PY PY which scores MAINT_RATING for maintainability </vt:lpstr>
      <vt:lpstr>SYSTEM_NAME scores MAINT_RELATIVE market average for maintainability</vt:lpstr>
      <vt:lpstr>The system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10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239</cp:revision>
  <cp:lastPrinted>2020-04-20T09:37:43Z</cp:lastPrinted>
  <dcterms:created xsi:type="dcterms:W3CDTF">2025-10-22T11:22:13Z</dcterms:created>
  <dcterms:modified xsi:type="dcterms:W3CDTF">2026-08-12T15:08:58Z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