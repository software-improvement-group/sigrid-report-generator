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1403" r:id="rId27"/>
    <p:sldId id="11404" r:id="rId28"/>
    <p:sldId id="11387" r:id="rId29"/>
    <p:sldId id="11384" r:id="rId30"/>
    <p:sldId id="11374" r:id="rId31"/>
    <p:sldId id="11405" r:id="rId32"/>
    <p:sldId id="11406" r:id="rId33"/>
    <p:sldId id="11402" r:id="rId34"/>
    <p:sldId id="11376" r:id="rId35"/>
    <p:sldId id="11284" r:id="rId36"/>
    <p:sldId id="11377" r:id="rId37"/>
    <p:sldId id="11415" r:id="rId38"/>
    <p:sldId id="11416" r:id="rId39"/>
    <p:sldId id="11378" r:id="rId40"/>
    <p:sldId id="1137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207"/>
    <p:restoredTop sz="96763"/>
  </p:normalViewPr>
  <p:slideViewPr>
    <p:cSldViewPr snapToGrid="0" snapToObjects="1" showGuides="1">
      <p:cViewPr varScale="1">
        <p:scale>
          <a:sx n="33" d="100"/>
          <a:sy n="33" d="100"/>
        </p:scale>
        <p:origin x="208" y="26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1186</c:v>
                </c:pt>
                <c:pt idx="1">
                  <c:v>0</c:v>
                </c:pt>
                <c:pt idx="2">
                  <c:v>0</c:v>
                </c:pt>
                <c:pt idx="3">
                  <c:v>515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455</c:v>
                </c:pt>
                <c:pt idx="1">
                  <c:v>0</c:v>
                </c:pt>
                <c:pt idx="2">
                  <c:v>0</c:v>
                </c:pt>
                <c:pt idx="3">
                  <c:v>197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695</c:v>
                </c:pt>
                <c:pt idx="1">
                  <c:v>406</c:v>
                </c:pt>
                <c:pt idx="2">
                  <c:v>723</c:v>
                </c:pt>
                <c:pt idx="3">
                  <c:v>499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564</c:v>
                </c:pt>
                <c:pt idx="1">
                  <c:v>0</c:v>
                </c:pt>
                <c:pt idx="2">
                  <c:v>0</c:v>
                </c:pt>
                <c:pt idx="3">
                  <c:v>561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179</c:v>
                </c:pt>
                <c:pt idx="1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11</c:v>
                </c:pt>
                <c:pt idx="1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1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</c:v>
                </c:pt>
                <c:pt idx="1">
                  <c:v>9</c:v>
                </c:pt>
                <c:pt idx="2">
                  <c:v>9</c:v>
                </c:pt>
                <c:pt idx="3">
                  <c:v>7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1</c:v>
                </c:pt>
                <c:pt idx="9">
                  <c:v>1</c:v>
                </c:pt>
                <c:pt idx="11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9">
                  <c:v>1</c:v>
                </c:pt>
                <c:pt idx="11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16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13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</c:v>
                </c:pt>
                <c:pt idx="9">
                  <c:v>3</c:v>
                </c:pt>
                <c:pt idx="10">
                  <c:v>12</c:v>
                </c:pt>
                <c:pt idx="11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</c:v>
                </c:pt>
                <c:pt idx="3">
                  <c:v>5</c:v>
                </c:pt>
                <c:pt idx="6">
                  <c:v>5</c:v>
                </c:pt>
                <c:pt idx="9">
                  <c:v>5</c:v>
                </c:pt>
                <c:pt idx="12">
                  <c:v>5</c:v>
                </c:pt>
                <c:pt idx="15">
                  <c:v>5</c:v>
                </c:pt>
                <c:pt idx="18">
                  <c:v>5</c:v>
                </c:pt>
                <c:pt idx="21">
                  <c:v>5</c:v>
                </c:pt>
                <c:pt idx="24">
                  <c:v>5</c:v>
                </c:pt>
                <c:pt idx="27">
                  <c:v>5</c:v>
                </c:pt>
                <c:pt idx="30">
                  <c:v>5</c:v>
                </c:pt>
                <c:pt idx="3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55</c:v>
                </c:pt>
                <c:pt idx="3">
                  <c:v>55</c:v>
                </c:pt>
                <c:pt idx="6">
                  <c:v>55</c:v>
                </c:pt>
                <c:pt idx="9">
                  <c:v>55</c:v>
                </c:pt>
                <c:pt idx="12">
                  <c:v>55</c:v>
                </c:pt>
                <c:pt idx="15">
                  <c:v>55</c:v>
                </c:pt>
                <c:pt idx="18">
                  <c:v>55</c:v>
                </c:pt>
                <c:pt idx="21">
                  <c:v>55</c:v>
                </c:pt>
                <c:pt idx="24">
                  <c:v>55</c:v>
                </c:pt>
                <c:pt idx="27">
                  <c:v>55</c:v>
                </c:pt>
                <c:pt idx="30">
                  <c:v>55</c:v>
                </c:pt>
                <c:pt idx="3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1">
                  <c:v>10</c:v>
                </c:pt>
                <c:pt idx="4">
                  <c:v>10</c:v>
                </c:pt>
                <c:pt idx="7">
                  <c:v>10</c:v>
                </c:pt>
                <c:pt idx="10">
                  <c:v>10</c:v>
                </c:pt>
                <c:pt idx="13">
                  <c:v>10</c:v>
                </c:pt>
                <c:pt idx="16">
                  <c:v>10</c:v>
                </c:pt>
                <c:pt idx="19">
                  <c:v>10</c:v>
                </c:pt>
                <c:pt idx="22">
                  <c:v>10</c:v>
                </c:pt>
                <c:pt idx="25">
                  <c:v>10</c:v>
                </c:pt>
                <c:pt idx="28">
                  <c:v>10</c:v>
                </c:pt>
                <c:pt idx="31">
                  <c:v>10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60</c:v>
                </c:pt>
                <c:pt idx="1">
                  <c:v>10</c:v>
                </c:pt>
                <c:pt idx="2">
                  <c:v>0</c:v>
                </c:pt>
                <c:pt idx="3">
                  <c:v>60</c:v>
                </c:pt>
                <c:pt idx="4">
                  <c:v>10</c:v>
                </c:pt>
                <c:pt idx="5">
                  <c:v>0</c:v>
                </c:pt>
                <c:pt idx="6">
                  <c:v>60</c:v>
                </c:pt>
                <c:pt idx="7">
                  <c:v>10</c:v>
                </c:pt>
                <c:pt idx="8">
                  <c:v>0</c:v>
                </c:pt>
                <c:pt idx="9">
                  <c:v>60</c:v>
                </c:pt>
                <c:pt idx="10">
                  <c:v>10</c:v>
                </c:pt>
                <c:pt idx="11">
                  <c:v>0</c:v>
                </c:pt>
                <c:pt idx="12">
                  <c:v>60</c:v>
                </c:pt>
                <c:pt idx="13">
                  <c:v>10</c:v>
                </c:pt>
                <c:pt idx="14">
                  <c:v>0</c:v>
                </c:pt>
                <c:pt idx="15">
                  <c:v>60</c:v>
                </c:pt>
                <c:pt idx="16">
                  <c:v>10</c:v>
                </c:pt>
                <c:pt idx="17">
                  <c:v>0</c:v>
                </c:pt>
                <c:pt idx="18">
                  <c:v>60</c:v>
                </c:pt>
                <c:pt idx="19">
                  <c:v>10</c:v>
                </c:pt>
                <c:pt idx="20">
                  <c:v>0</c:v>
                </c:pt>
                <c:pt idx="21">
                  <c:v>60</c:v>
                </c:pt>
                <c:pt idx="22">
                  <c:v>10</c:v>
                </c:pt>
                <c:pt idx="23">
                  <c:v>0</c:v>
                </c:pt>
                <c:pt idx="24">
                  <c:v>60</c:v>
                </c:pt>
                <c:pt idx="25">
                  <c:v>10</c:v>
                </c:pt>
                <c:pt idx="26">
                  <c:v>0</c:v>
                </c:pt>
                <c:pt idx="27">
                  <c:v>60</c:v>
                </c:pt>
                <c:pt idx="28">
                  <c:v>10</c:v>
                </c:pt>
                <c:pt idx="29">
                  <c:v>0</c:v>
                </c:pt>
                <c:pt idx="30">
                  <c:v>60</c:v>
                </c:pt>
                <c:pt idx="31">
                  <c:v>10</c:v>
                </c:pt>
                <c:pt idx="32">
                  <c:v>0</c:v>
                </c:pt>
                <c:pt idx="33">
                  <c:v>60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402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chart" Target="../charts/chart23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2.xml"/><Relationship Id="rId5" Type="http://schemas.openxmlformats.org/officeDocument/2006/relationships/chart" Target="../charts/chart21.xml"/><Relationship Id="rId4" Type="http://schemas.openxmlformats.org/officeDocument/2006/relationships/chart" Target="../charts/char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PROGRESS_STATUS_CHART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PROGRESS_CAPABILITY_CHART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PROGRESS_MAINTAINABILITY_TIME_CHART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PROGRESS_ARCHITECTURE_TIME_CHART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PROGRESS_OSH_TIME_CHART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PROGRESS_SECURITY_TIME_CHART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39E27-D90F-E20C-49BD-FB57BABEFAC9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OBJECTIVES_STATUS_CHART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8BFEBBE-782F-5949-61DC-BFDB2677CFC4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OBJECTIVES_TEAM_CHART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118AE4-B9DA-B3FE-EEDD-1BDB04D2F462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OBJECTIVES_CAPABILITY_CHART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D29FE66-4BB3-5D2F-A3C4-C8B49FF32A9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OBJECTIVES_OVERALL_CHART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BA44144-1546-C60D-08A3-3BA8963BD131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OBJECTIVES_SECURITY_CHART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A9FCBC9-E8E9-8172-ED03-E01AFEA3D080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OBJECTIVES_OSH_CHART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AF101A0-D2C5-ABB6-3561-D791839A8F4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OBJECTIVES_MAINTAINABILITY_CHART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B94DF9-0680-0BC8-EEFA-8DEBE0564A3D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GB" b="1" dirty="0"/>
              <a:t>OBJECTIVES_ARCHITECTURE_CHART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GB" sz="1550" dirty="0">
                <a:latin typeface="Sigsterren" pitchFamily="2" charset="0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GB" sz="1550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GB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11F98-52B8-0076-76CB-238BEE6E686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74C2F-D188-5116-64A1-84C15F30C53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77DDD-2A9C-A11A-BCC8-78FB2B6B00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PORTFOLIO_PERIOD_START_DATE and PORTFOLIO_PERIOD_END_DATE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7695A-0F52-1B53-B0CD-9FE176D84948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PORTFOLIO_PERIOD_MAINTAINABILITY_DELTA_QUALITY_NEW_CODE_GROUPED_BY_TEAM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15FDBA-44E5-4000-CE8B-09E1F218B77D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CCA3F0-A440-956F-9DFA-0417F9AF51B1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PORTFOLIO_PERIOD_MAINTAINABILITY_DELTA_QUALITY_NEW_AND_CHANGED_CODE_GROUPED_BY_TEAM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6B50AD-427C-5D86-3D4E-3F19EA3CD336}"/>
              </a:ext>
            </a:extLst>
          </p:cNvPr>
          <p:cNvSpPr txBox="1"/>
          <p:nvPr/>
        </p:nvSpPr>
        <p:spPr>
          <a:xfrm>
            <a:off x="10029657" y="-386323"/>
            <a:ext cx="2162343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OSH_PORTFOLIO_SLIDE</a:t>
            </a:r>
          </a:p>
        </p:txBody>
      </p:sp>
      <p:graphicFrame>
        <p:nvGraphicFramePr>
          <p:cNvPr id="2" name="CHART_2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/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1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/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>
                <a:latin typeface="Sigsterren" pitchFamily="2" charset="0"/>
              </a:rPr>
              <a:t>H.</a:t>
            </a:r>
            <a:endParaRPr lang="en-US" dirty="0"/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GB" dirty="0">
                <a:latin typeface="Sigsterren" pitchFamily="2" charset="0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GB" dirty="0">
                <a:latin typeface="Sigsterren" pitchFamily="2" charset="0"/>
                <a:ea typeface="Calibri"/>
                <a:cs typeface="Calibri"/>
              </a:rPr>
              <a:t>H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Critical findings trends of the last 12 months (ending at 2025-12-31)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2025-01-01, 675 critical security findings have been resolved while 731 new critical findings were discovered. Overall, there has been an increase in critical security findings of 56.</a:t>
            </a:r>
          </a:p>
          <a:p>
            <a:pPr indent="-283845"/>
            <a:r>
              <a:rPr lang="en-GB" sz="1550" dirty="0"/>
              <a:t>Of the resolved critical findings, most were resolved in at least 30 days (518 findings). 37 findings were resolved within the recommended 7 days while 518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BA603-4FBD-82C4-AF78-275C415604E9}"/>
              </a:ext>
            </a:extLst>
          </p:cNvPr>
          <p:cNvSpPr txBox="1"/>
          <p:nvPr/>
        </p:nvSpPr>
        <p:spPr>
          <a:xfrm>
            <a:off x="8376169" y="-369332"/>
            <a:ext cx="4236629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PORTFOLIO_SECURITY_FINDINGS_CRITICAL</a:t>
            </a: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/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/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/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/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/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/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2DF3773-3A5B-588B-8446-1DD6A3E84C57}"/>
              </a:ext>
            </a:extLst>
          </p:cNvPr>
          <p:cNvSpPr txBox="1"/>
          <p:nvPr/>
        </p:nvSpPr>
        <p:spPr>
          <a:xfrm>
            <a:off x="8376169" y="-369332"/>
            <a:ext cx="4350443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dirty="0"/>
              <a:t>PORTFOLIO_SECURITY_FINDINGS_HIGHMED</a:t>
            </a:r>
          </a:p>
        </p:txBody>
      </p:sp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7D697A-5898-BC8D-7FDD-2963082C235A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PORTFOLIO_PERIOD_SECURITY_DASHBOARD_CRITICAL_FINDINGS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323D03-0FA5-05B7-856B-6719A4976026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PORTFOLIO_PERIOD_SECURITY_DASHBOARD_HIGH_FINDINGS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181C4-932C-9DD5-007C-ED06D54DF6D0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PORTFOLIO_PERIOD_SECURITY_DASHBOARD_MEDIUM_FINDINGS</a:t>
            </a:r>
          </a:p>
        </p:txBody>
      </p:sp>
    </p:spTree>
    <p:extLst>
      <p:ext uri="{BB962C8B-B14F-4D97-AF65-F5344CB8AC3E}">
        <p14:creationId xmlns:p14="http://schemas.microsoft.com/office/powerpoint/2010/main" val="26497130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77EB17-68A8-9989-4B73-B6834C966EA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7B73DC-D004-3742-2EF5-83AA3EA2EDE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7C1107-9C4E-BEF1-D482-6D93F9645C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E68DA0A-1BAA-11A7-87B2-E8E6AA2B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8D02EBD-4368-7DEA-F1C3-D3D6F40E1E9E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6FAC28B-BB7E-56DE-44DD-293BD630C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5805A47-8C3C-44DB-8E49-05F344CCCB4B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0F7DC0-731B-C78A-4583-9BDB4FBCEAFE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PORTFOLIO_PERIOD_SECURITY_DASHBOARD_CRITICAL_RESOLUTION_TIMES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3528A8-3EC7-4BE2-02A8-A1B2EF4535A1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1130B5-25A7-0143-5ADD-E148A342921F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PORTFOLIO_PERIOD_SECURITY_DASHBOARD_MEDIUM_RESOLUTION_TIMES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E833D5-D3A5-4A84-33C4-A0BF25127520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431D9F-12AD-2EFE-B770-D0321F188501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PORTFOLIO_PERIOD_SECURITY_DASHBOARD_MEDIUM_RESOLUTION_TIMES</a:t>
            </a:r>
          </a:p>
        </p:txBody>
      </p:sp>
    </p:spTree>
    <p:extLst>
      <p:ext uri="{BB962C8B-B14F-4D97-AF65-F5344CB8AC3E}">
        <p14:creationId xmlns:p14="http://schemas.microsoft.com/office/powerpoint/2010/main" val="10523020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11103</TotalTime>
  <Words>2469</Words>
  <Application>Microsoft Macintosh PowerPoint</Application>
  <PresentationFormat>Widescreen</PresentationFormat>
  <Paragraphs>371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9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2025-12-31)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resolution times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141</cp:revision>
  <cp:lastPrinted>2020-04-20T09:37:43Z</cp:lastPrinted>
  <dcterms:created xsi:type="dcterms:W3CDTF">2025-10-22T11:22:13Z</dcterms:created>
  <dcterms:modified xsi:type="dcterms:W3CDTF">2026-01-23T12:52:31Z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