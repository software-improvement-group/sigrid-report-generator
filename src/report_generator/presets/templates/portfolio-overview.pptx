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notesSlides/notesSlide13.xml" ContentType="application/vnd.openxmlformats-officedocument.presentationml.notesSlid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44"/>
  </p:notesMasterIdLst>
  <p:handoutMasterIdLst>
    <p:handoutMasterId r:id="rId45"/>
  </p:handoutMasterIdLst>
  <p:sldIdLst>
    <p:sldId id="1973" r:id="rId6"/>
    <p:sldId id="11390" r:id="rId7"/>
    <p:sldId id="10749" r:id="rId8"/>
    <p:sldId id="10751" r:id="rId9"/>
    <p:sldId id="10753" r:id="rId10"/>
    <p:sldId id="10750" r:id="rId11"/>
    <p:sldId id="10754" r:id="rId12"/>
    <p:sldId id="10755" r:id="rId13"/>
    <p:sldId id="10756" r:id="rId14"/>
    <p:sldId id="11363" r:id="rId15"/>
    <p:sldId id="11364" r:id="rId16"/>
    <p:sldId id="11365" r:id="rId17"/>
    <p:sldId id="11366" r:id="rId18"/>
    <p:sldId id="11367" r:id="rId19"/>
    <p:sldId id="11368" r:id="rId20"/>
    <p:sldId id="11369" r:id="rId21"/>
    <p:sldId id="11370" r:id="rId22"/>
    <p:sldId id="11389" r:id="rId23"/>
    <p:sldId id="11371" r:id="rId24"/>
    <p:sldId id="10757" r:id="rId25"/>
    <p:sldId id="11409" r:id="rId26"/>
    <p:sldId id="11410" r:id="rId27"/>
    <p:sldId id="1824" r:id="rId28"/>
    <p:sldId id="11403" r:id="rId29"/>
    <p:sldId id="11404" r:id="rId30"/>
    <p:sldId id="11387" r:id="rId31"/>
    <p:sldId id="11384" r:id="rId32"/>
    <p:sldId id="11374" r:id="rId33"/>
    <p:sldId id="11405" r:id="rId34"/>
    <p:sldId id="11406" r:id="rId35"/>
    <p:sldId id="11402" r:id="rId36"/>
    <p:sldId id="11376" r:id="rId37"/>
    <p:sldId id="11284" r:id="rId38"/>
    <p:sldId id="11377" r:id="rId39"/>
    <p:sldId id="11415" r:id="rId40"/>
    <p:sldId id="11416" r:id="rId41"/>
    <p:sldId id="11417" r:id="rId42"/>
    <p:sldId id="11418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840"/>
    <p:restoredTop sz="96763"/>
  </p:normalViewPr>
  <p:slideViewPr>
    <p:cSldViewPr snapToGrid="0" snapToObjects="1" showGuides="1">
      <p:cViewPr varScale="1">
        <p:scale>
          <a:sx n="160" d="100"/>
          <a:sy n="160" d="100"/>
        </p:scale>
        <p:origin x="224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viewProps" Target="viewProps.xml"/><Relationship Id="rId50" Type="http://schemas.microsoft.com/office/2018/10/relationships/authors" Target="author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handoutMaster" Target="handoutMasters/handout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theme" Target="theme/theme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presProps" Target="presProp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fld id="{CA685B97-D3C3-DB4B-8745-B95C3857D7C4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36549871-EAEB-A249-B549-87CBB42BEA86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13C32D95-330F-8A49-957D-014ECB1000F3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3</c:v>
                </c:pt>
                <c:pt idx="2">
                  <c:v>2.5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if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emf"/><Relationship Id="rId4" Type="http://schemas.openxmlformats.org/officeDocument/2006/relationships/chart" Target="../charts/chart1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4.xml"/><Relationship Id="rId5" Type="http://schemas.openxmlformats.org/officeDocument/2006/relationships/chart" Target="../charts/chart23.xml"/><Relationship Id="rId4" Type="http://schemas.openxmlformats.org/officeDocument/2006/relationships/chart" Target="../charts/chart2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27.xml"/><Relationship Id="rId4" Type="http://schemas.openxmlformats.org/officeDocument/2006/relationships/chart" Target="../charts/chart2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30.xml"/><Relationship Id="rId4" Type="http://schemas.openxmlformats.org/officeDocument/2006/relationships/chart" Target="../charts/char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B63DDC-05A6-1327-D587-7F5756A583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1C39327-FCCB-9925-2C56-F0F2027873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585CE50-769E-57F0-D096-7931858DD3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B48095F-3B8A-4132-2F2E-BF6B266DAB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0BEA1B1-2A0E-D397-E556-362D0DB59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/>
              <a:t>Objectives – Open Source Health</a:t>
            </a:r>
            <a:endParaRPr lang="en-GB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Progress towards objectives: Open Source Health</a:t>
            </a:r>
            <a:endParaRPr lang="en-GB" dirty="0"/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5692CD9-4AE3-CDD3-1F88-18341671CC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BFDEE-B39F-2F33-8BE8-21E452A51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team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759263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C707EC47-51B6-60D2-5D25-8146CD4204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4CC371E-7328-F7F7-E9E1-4858B90AD402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0FD24B40-8A09-8BE1-DFEB-86A20ADCB9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A79886F-F6FA-7F5B-8560-B0BE0161E43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PORTFOLIO_PERIOD_MAINTAINABILITY_GROUPED_BY_BUSINESS_CRITICALITY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8DC9DB02-3011-E249-D943-BF8E867E7B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PORTFOLIO_PERIOD_MAINT_SHORT_SUMMARY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75" y="6407677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/>
              <a:t>Portfolio trends – Maintainability – Change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PORTFOLIO_PERIOD_MAINT_CHANGE_SHORT_SUMMARY</a:t>
            </a:r>
            <a:endParaRPr lang="en-GB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37E637B-F307-DB1A-A51A-12A2262AEFC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</a:t>
            </a:r>
            <a:r>
              <a:rPr lang="en-GB" sz="1600">
                <a:solidFill>
                  <a:schemeClr val="bg1"/>
                </a:solidFill>
              </a:rPr>
              <a:t>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newly written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PORTFOLIO_NEW_CODE_BIGGEST_CHANGES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D3CD12-8F31-5FC5-9D7A-C77F8DB8A480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changed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446F1-4C2E-3E8E-B8CF-472DCCEA8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F309309-A96C-94CD-FD90-AEC66468BD3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AC8139-63F5-DD9B-84D1-A0E0FE1373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DACB4F8-DCF6-6037-2620-E3F7A90BD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delta quality ratings of the portfolio between PORTFOLIO_PERIOD_START_DATE and PORTFOLIO_PERIOD_END_DATE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59FE4D2-6709-94D1-92D9-433748541C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673761-5FC2-9029-6267-B19DD2C2F08B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242F203-49FD-78B9-B03E-4B9D44080378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F7BC1B3-A2C3-BB29-2484-DB2065CFD8C1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FA531F56-1E0E-6966-F40D-82C11CD93C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695109-2321-E534-0496-0ADC19043553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4620934-284F-2137-983F-DA633CD4E2E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2435BBC8-9793-F0F4-6F77-AC9C450E21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19A2AF-EE85-F130-2282-3114CACC0253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5B8074A-2CFD-EC0C-FB62-DDD31D98A528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9DA4B9E-871A-CA27-7E89-0340C130DD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1B07BA2-B357-2D15-D5DF-CA3BD8F33EB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C6C928-3648-4252-D644-F64A97E52B4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CD3E39B9-2702-25B6-A505-D5656EBFEB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DE2C6F-AEEE-26B4-005C-17E9581A5312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01A3FAA-9759-8285-2BDD-A70A6DD18FC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A12D9BB-7561-E3D0-BCAD-DE466F39D2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C767695A-0F52-1B53-B0CD-9FE176D84948}"/>
              </a:ext>
            </a:extLst>
          </p:cNvPr>
          <p:cNvSpPr/>
          <p:nvPr/>
        </p:nvSpPr>
        <p:spPr>
          <a:xfrm>
            <a:off x="156000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PORTFOLIO_PERIOD_MAINTAINABILITY_DELTA_QUALITY_NEW_CODE_GROUPED_BY_TEAM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515FDBA-44E5-4000-CE8B-09E1F218B77D}"/>
              </a:ext>
            </a:extLst>
          </p:cNvPr>
          <p:cNvSpPr/>
          <p:nvPr/>
        </p:nvSpPr>
        <p:spPr>
          <a:xfrm>
            <a:off x="417224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4CCA3F0-A440-956F-9DFA-0417F9AF51B1}"/>
              </a:ext>
            </a:extLst>
          </p:cNvPr>
          <p:cNvSpPr/>
          <p:nvPr/>
        </p:nvSpPr>
        <p:spPr>
          <a:xfrm>
            <a:off x="818849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PORTFOLIO_PERIOD_MAINTAINABILITY_DELTA_QUALITY_NEW_AND_CHANGED_CODE_GROUPED_BY_TEAM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CC2EDDF-C97F-C25E-F440-BBC1D7D1DC85}"/>
              </a:ext>
            </a:extLst>
          </p:cNvPr>
          <p:cNvSpPr txBox="1"/>
          <p:nvPr/>
        </p:nvSpPr>
        <p:spPr>
          <a:xfrm>
            <a:off x="1565977" y="1478241"/>
            <a:ext cx="102754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>
                <a:solidFill>
                  <a:schemeClr val="tx1"/>
                </a:solidFill>
              </a:rPr>
              <a:t>New code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73620C-AE1D-DD22-A4B2-1F42A19EE0DC}"/>
              </a:ext>
            </a:extLst>
          </p:cNvPr>
          <p:cNvSpPr txBox="1"/>
          <p:nvPr/>
        </p:nvSpPr>
        <p:spPr>
          <a:xfrm>
            <a:off x="5406473" y="1478241"/>
            <a:ext cx="137905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/>
              <a:t>Changed</a:t>
            </a:r>
            <a:r>
              <a:rPr lang="en-GB" sz="1600" b="1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9C04E7-0175-768A-89BA-8351440D4908}"/>
              </a:ext>
            </a:extLst>
          </p:cNvPr>
          <p:cNvSpPr txBox="1"/>
          <p:nvPr/>
        </p:nvSpPr>
        <p:spPr>
          <a:xfrm>
            <a:off x="9032106" y="1478241"/>
            <a:ext cx="21602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>
                <a:solidFill>
                  <a:schemeClr val="tx1"/>
                </a:solidFill>
              </a:rPr>
              <a:t>New and changed code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35B06959-AA64-6199-960B-820EF741F6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5348020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1">
            <a:extLst>
              <a:ext uri="{FF2B5EF4-FFF2-40B4-BE49-F238E27FC236}">
                <a16:creationId xmlns:a16="http://schemas.microsoft.com/office/drawing/2014/main" id="{72E9D2A6-2917-A151-9F95-9B69A0D029E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PORTFOLIO_PERIOD_VOLUME_CHANGE_GROUPED_BY_TEAM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PORTFOLIO_PERIOD_START_DATE and PORTFOLIO_PERIOD_END_DATE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PORTFOLIO_RELATIVE_VOLUME_CHANGE in volume of PORTFOLIO_VOLUME_CHANGE.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PORTFOLIO_SYSTEM_BIGGEST_VOLUME_CHANGE has seen the biggest change with PORTFOLIO_RELATIVE_BIGGEST_VOLUME_CHANGE of PORTFOLIO_SYSTEM_PM_BIGGEST_VOLUME_CHANGE.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D4A10E2-A9D0-9CB8-4A20-12E583F531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4AAAF0DF-523F-2152-BE91-E690F0C16A3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PORTFOLIO_TEST_CODE_LOW</a:t>
            </a:r>
            <a:r>
              <a:rPr lang="en-GB" sz="1550" noProof="0" dirty="0"/>
              <a:t>% systems have a test code ratio of &lt; 50%.</a:t>
            </a:r>
          </a:p>
          <a:p>
            <a:pPr indent="-283845"/>
            <a:r>
              <a:rPr lang="en-GB" sz="1550" dirty="0"/>
              <a:t>PORTFOLIO_TEST_CODE_MEDIUM</a:t>
            </a:r>
            <a:r>
              <a:rPr lang="en-GB" sz="1550" dirty="0">
                <a:ea typeface="Calibri"/>
                <a:cs typeface="Calibri"/>
              </a:rPr>
              <a:t>% of systems have a test code ratio between 50% and 100%.</a:t>
            </a:r>
          </a:p>
          <a:p>
            <a:pPr indent="-283845"/>
            <a:r>
              <a:rPr lang="en-GB" sz="1550" dirty="0"/>
              <a:t>PORTFOLIO_TEST_CODE_HIGH</a:t>
            </a:r>
            <a:r>
              <a:rPr lang="en-GB" sz="1550" dirty="0">
                <a:ea typeface="Calibri"/>
                <a:cs typeface="Calibri"/>
              </a:rPr>
              <a:t>% of systems have a test code ratio ≥ 100%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61DD779-D29F-E00A-9C65-A4D9D7C38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2F531B6D-B81A-7E98-1D56-EABC271BE38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PORTFOLIO_RELATIVE_TEST_CODE_DIFFERENCE in test code ratio for the </a:t>
            </a:r>
            <a:r>
              <a:rPr lang="en-GB" sz="1550" dirty="0"/>
              <a:t>portfolio (PORTFOLIO_TEST_CODE_DIFFERENCE%).</a:t>
            </a:r>
            <a:endParaRPr lang="en-GB" sz="1550" noProof="0" dirty="0"/>
          </a:p>
          <a:p>
            <a:pPr indent="-283845"/>
            <a:r>
              <a:rPr lang="en-GB" sz="1550" dirty="0"/>
              <a:t>PORTFOLIO_TEST_CODE_INCREASE% of systems have seen an increase in test code ratio while PORTFOLIO_TEST_CODE_DECREASE% of systems have seen a decrease. </a:t>
            </a:r>
          </a:p>
          <a:p>
            <a:pPr indent="-283845"/>
            <a:r>
              <a:rPr lang="en-GB" sz="1550" dirty="0"/>
              <a:t>PORTFOLIO_TEST_CODE_BIGGEST_CHANGES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5DF429E-1695-7507-23C8-7080223EC2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F90BB58-CA09-58E2-BE3B-2E065F51CF77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en-GB" dirty="0"/>
              <a:t>Architecture Quality</a:t>
            </a:r>
            <a:r>
              <a:rPr lang="en-US" dirty="0"/>
              <a:t> rating for the portfolio is PORTFOLIO_ARCH_AVG_RATING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</a:t>
            </a:r>
            <a:r>
              <a:rPr lang="en-GB" dirty="0"/>
              <a:t>% of systems score above market average for Architecture Quality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PORTFOLIO_ARCH_MARKET_AVERAGE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9F0196F-C2C8-901D-3388-01AE9D1AB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PORTFOLIO_PERIOD_START_DATE and PORTFOLIO_PERIOD_END_DATE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E8C506-EBA7-D433-19CB-BD7B4186FE2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PORTFOLIO_PERIOD_OSH_RATINGS_GROUPED_BY_TEAM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Open Source Health </a:t>
            </a:r>
            <a:r>
              <a:rPr lang="en-US" dirty="0"/>
              <a:t>rating for the portfolio is PORTFOLIO_OSH_AVG_RATING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PORTFOLIO_OSH_ABOVE_MARKET% of systems score above market average for Open Source Health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PORTFOLIO_OSH_MARKET_AVERAGE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2A1D2F67-A90D-74AA-22CD-017BC0D93D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PORTFOLIO_OSH_VULN_SUMMARY</a:t>
            </a:r>
          </a:p>
          <a:p>
            <a:r>
              <a:rPr lang="en-US" dirty="0"/>
              <a:t>PORTFOLIO_OSH_LEGAL_SUMMARY</a:t>
            </a:r>
          </a:p>
          <a:p>
            <a:r>
              <a:rPr lang="en-US" dirty="0"/>
              <a:t>PORTFOLIO_OSH_FRESHNESS_SUMMARY</a:t>
            </a:r>
          </a:p>
          <a:p>
            <a:r>
              <a:rPr lang="en-US" dirty="0"/>
              <a:t>PORTFOLIO_OSH_MANAGEMENT_SUMMARY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PORTFOLIO_OSH_TOTAL_DEPS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33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0B2912-5022-184F-E496-1EDCEC82A1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1B5DD80-60E5-8513-9972-0F7EF4189F0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Security </a:t>
            </a:r>
            <a:r>
              <a:rPr lang="en-US" dirty="0"/>
              <a:t>rating for the portfolio is PORTFOLIO_SEC_AVG_RATING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PORTFOLIO_SEC_ABOVE_MARKET% of systems score above market average for Security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PORTFOLIO_SEC_MARKET_AVERAGE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Security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PORTFOLIO_SEC_BELOW_MARKET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Security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5AE87DF-A1BC-5958-DE2A-A8C3A6CD9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Critical findings trends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</a:t>
            </a:r>
            <a:r>
              <a:rPr lang="en-GB" sz="1550" dirty="0"/>
              <a:t>PORTFOLIO_SEC_PERIOD_START_DATE</a:t>
            </a:r>
            <a:r>
              <a:rPr lang="en-GB" sz="1550" noProof="0" dirty="0"/>
              <a:t>, </a:t>
            </a:r>
            <a:r>
              <a:rPr lang="en-GB" sz="1550" dirty="0"/>
              <a:t>PORTFOLIO_SEC_CRITICAL_RESOLVED</a:t>
            </a:r>
            <a:r>
              <a:rPr lang="en-GB" sz="1550" noProof="0" dirty="0"/>
              <a:t> critical security findings have been resolved </a:t>
            </a:r>
            <a:r>
              <a:rPr lang="en-GB" sz="1550" dirty="0"/>
              <a:t>while PORTFOLIO_SEC_CRITICAL_ADDED new critical findings were discovered. Overall, there has been PORTFOLIO_SEC_RELATIVE_CRITICAL in critical security findings of PORTFOLIO_SEC_CRITICAL_DIFFERENCE.</a:t>
            </a:r>
          </a:p>
          <a:p>
            <a:pPr indent="-283845"/>
            <a:r>
              <a:rPr lang="en-GB" sz="1550" dirty="0"/>
              <a:t>Of the resolved critical findings, most were resolved in PORTFOLIO_SEC_CRITICAL_RESOLUTION_MOST (PORTFOLIO_</a:t>
            </a:r>
            <a:r>
              <a:rPr lang="en-GB" sz="1550"/>
              <a:t>SEC_CRITICAL</a:t>
            </a:r>
            <a:r>
              <a:rPr lang="en-GB" sz="1550" dirty="0"/>
              <a:t>_RESOLUTION_FINDINGS_MOST findings). PORTFOLIO_SEC_CRITICAL_RESOLUTION_NO_RISK findings were resolved within the recommended 7 days while PORTFOLIO_SEC_CRITICAL_RESOLUTION_HIGH_RISK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01190819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4663586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resolution times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PORTFOLIO_SEC_PERIOD_START_DATE, PORTFOLIO_SEC_HIGH_RESOLVED high security findings have been resolved while PORTFOLIO_SEC_HIGH_ADDED new high findings were discovered. Overall, there has been PORTFOLIO_SEC_RELATIVE_HIGH in high security findings of PORTFOLIO_SEC_HIGH_DIFFERENCE.</a:t>
            </a:r>
          </a:p>
          <a:p>
            <a:pPr indent="-283845"/>
            <a:r>
              <a:rPr lang="en-GB" sz="1550" dirty="0"/>
              <a:t>Of the resolved high findings, most were resolved in PORTFOLIO_SEC_HIGH_RESOLUTION_MOST (PORTFOLIO_SEC_HIGH_RESOLUTION_FINDINGS_MOST findings). PORTFOLIO_SEC_HIGH_RESOLUTION_NO_RISK findings were resolved within the recommended 14 days while PORTFOLIO_SEC_HIGH_RESOLUTION_HIGH_RISK were resolved after 180 days or more. </a:t>
            </a:r>
          </a:p>
          <a:p>
            <a:pPr indent="-283845"/>
            <a:r>
              <a:rPr lang="en-GB" sz="1550" dirty="0"/>
              <a:t>PORTFOLIO_SEC_MEDIUM_RESOLVED medium security findings have been resolved while PORTFOLIO_SEC_MEDIUM_ADDED new medium findings were discovered. Overall, there has been PORTFOLIO_SEC_RELATIVE_MEDIUM in medium security findings of PORTFOLIO_SEC_MEDIUM_DIFFERENCE.</a:t>
            </a:r>
          </a:p>
          <a:p>
            <a:pPr indent="-283845"/>
            <a:r>
              <a:rPr lang="en-GB" sz="1550" dirty="0"/>
              <a:t>Of the resolved medium findings, most were resolved in PORTFOLIO_SEC_MEDIUM_RESOLUTION_MOST (PORTFOLIO_SEC_MEDIUM_RESOLUTION_FINDINGS_MOST findings). PORTFOLIO_SEC_MEDIUM_RESOLUTION_NO_RISK findings were resolved within the recommended 30 days while PORTFOLIO_SEC_MEDIUM_RESOLUTION_HIGH_RISK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18339</TotalTime>
  <Words>2655</Words>
  <Application>Microsoft Macintosh PowerPoint</Application>
  <PresentationFormat>Widescreen</PresentationFormat>
  <Paragraphs>415</Paragraphs>
  <Slides>38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38</vt:i4>
      </vt:variant>
    </vt:vector>
  </HeadingPairs>
  <TitlesOfParts>
    <vt:vector size="52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Dark theme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Maintainability delta quality ratings of the portfolio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Critical findings trends of the last 12 months (ending at PORTFOLIO_PERIOD_END_DATE)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findings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199</cp:revision>
  <cp:lastPrinted>2020-04-20T09:37:43Z</cp:lastPrinted>
  <dcterms:created xsi:type="dcterms:W3CDTF">2025-10-22T11:22:13Z</dcterms:created>
  <dcterms:modified xsi:type="dcterms:W3CDTF">2026-05-19T13:01:11Z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