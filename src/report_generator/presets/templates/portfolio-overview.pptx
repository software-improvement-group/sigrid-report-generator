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5.xml" ContentType="application/vnd.openxmlformats-officedocument.presentationml.notesSl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6.xml" ContentType="application/vnd.openxmlformats-officedocument.presentationml.notesSl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notesSlides/notesSlide7.xml" ContentType="application/vnd.openxmlformats-officedocument.presentationml.notesSl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ppt/charts/chart15.xml" ContentType="application/vnd.openxmlformats-officedocument.drawingml.chart+xml"/>
  <Override PartName="/ppt/charts/style15.xml" ContentType="application/vnd.ms-office.chartstyle+xml"/>
  <Override PartName="/ppt/charts/colors15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6.xml" ContentType="application/vnd.openxmlformats-officedocument.drawingml.chart+xml"/>
  <Override PartName="/ppt/charts/style16.xml" ContentType="application/vnd.ms-office.chartstyle+xml"/>
  <Override PartName="/ppt/charts/colors16.xml" ContentType="application/vnd.ms-office.chartcolorstyle+xml"/>
  <Override PartName="/ppt/notesSlides/notesSlide13.xml" ContentType="application/vnd.openxmlformats-officedocument.presentationml.notesSlide+xml"/>
  <Override PartName="/ppt/charts/chart17.xml" ContentType="application/vnd.openxmlformats-officedocument.drawingml.chart+xml"/>
  <Override PartName="/ppt/charts/style17.xml" ContentType="application/vnd.ms-office.chartstyle+xml"/>
  <Override PartName="/ppt/charts/colors17.xml" ContentType="application/vnd.ms-office.chartcolorstyle+xml"/>
  <Override PartName="/ppt/charts/chart18.xml" ContentType="application/vnd.openxmlformats-officedocument.drawingml.chart+xml"/>
  <Override PartName="/ppt/charts/style18.xml" ContentType="application/vnd.ms-office.chartstyle+xml"/>
  <Override PartName="/ppt/charts/colors18.xml" ContentType="application/vnd.ms-office.chartcolorstyle+xml"/>
  <Override PartName="/ppt/charts/chart19.xml" ContentType="application/vnd.openxmlformats-officedocument.drawingml.chart+xml"/>
  <Override PartName="/ppt/charts/style19.xml" ContentType="application/vnd.ms-office.chartstyle+xml"/>
  <Override PartName="/ppt/charts/colors19.xml" ContentType="application/vnd.ms-office.chartcolorstyle+xml"/>
  <Override PartName="/ppt/charts/chart20.xml" ContentType="application/vnd.openxmlformats-officedocument.drawingml.chart+xml"/>
  <Override PartName="/ppt/charts/style20.xml" ContentType="application/vnd.ms-office.chartstyle+xml"/>
  <Override PartName="/ppt/charts/colors20.xml" ContentType="application/vnd.ms-office.chartcolorstyle+xml"/>
  <Override PartName="/ppt/charts/chart21.xml" ContentType="application/vnd.openxmlformats-officedocument.drawingml.chart+xml"/>
  <Override PartName="/ppt/charts/style21.xml" ContentType="application/vnd.ms-office.chartstyle+xml"/>
  <Override PartName="/ppt/charts/colors21.xml" ContentType="application/vnd.ms-office.chartcolorstyle+xml"/>
  <Override PartName="/ppt/charts/chart22.xml" ContentType="application/vnd.openxmlformats-officedocument.drawingml.chart+xml"/>
  <Override PartName="/ppt/charts/style22.xml" ContentType="application/vnd.ms-office.chartstyle+xml"/>
  <Override PartName="/ppt/charts/colors22.xml" ContentType="application/vnd.ms-office.chartcolorstyle+xml"/>
  <Override PartName="/ppt/charts/chart23.xml" ContentType="application/vnd.openxmlformats-officedocument.drawingml.chart+xml"/>
  <Override PartName="/ppt/charts/style23.xml" ContentType="application/vnd.ms-office.chartstyle+xml"/>
  <Override PartName="/ppt/charts/colors23.xml" ContentType="application/vnd.ms-office.chartcolorstyle+xml"/>
  <Override PartName="/ppt/charts/chart24.xml" ContentType="application/vnd.openxmlformats-officedocument.drawingml.chart+xml"/>
  <Override PartName="/ppt/charts/style24.xml" ContentType="application/vnd.ms-office.chartstyle+xml"/>
  <Override PartName="/ppt/charts/colors24.xml" ContentType="application/vnd.ms-office.chartcolorstyle+xml"/>
  <Override PartName="/ppt/charts/chart25.xml" ContentType="application/vnd.openxmlformats-officedocument.drawingml.chart+xml"/>
  <Override PartName="/ppt/charts/style25.xml" ContentType="application/vnd.ms-office.chartstyle+xml"/>
  <Override PartName="/ppt/charts/colors25.xml" ContentType="application/vnd.ms-office.chartcolorstyle+xml"/>
  <Override PartName="/ppt/charts/chart26.xml" ContentType="application/vnd.openxmlformats-officedocument.drawingml.chart+xml"/>
  <Override PartName="/ppt/charts/style26.xml" ContentType="application/vnd.ms-office.chartstyle+xml"/>
  <Override PartName="/ppt/charts/colors26.xml" ContentType="application/vnd.ms-office.chartcolorstyle+xml"/>
  <Override PartName="/ppt/charts/chart27.xml" ContentType="application/vnd.openxmlformats-officedocument.drawingml.chart+xml"/>
  <Override PartName="/ppt/charts/style27.xml" ContentType="application/vnd.ms-office.chartstyle+xml"/>
  <Override PartName="/ppt/charts/colors27.xml" ContentType="application/vnd.ms-office.chartcolorstyle+xml"/>
  <Override PartName="/ppt/charts/chart28.xml" ContentType="application/vnd.openxmlformats-officedocument.drawingml.chart+xml"/>
  <Override PartName="/ppt/charts/style28.xml" ContentType="application/vnd.ms-office.chartstyle+xml"/>
  <Override PartName="/ppt/charts/colors28.xml" ContentType="application/vnd.ms-office.chartcolorstyle+xml"/>
  <Override PartName="/ppt/charts/chart29.xml" ContentType="application/vnd.openxmlformats-officedocument.drawingml.chart+xml"/>
  <Override PartName="/ppt/charts/style29.xml" ContentType="application/vnd.ms-office.chartstyle+xml"/>
  <Override PartName="/ppt/charts/colors29.xml" ContentType="application/vnd.ms-office.chartcolorstyle+xml"/>
  <Override PartName="/ppt/charts/chart30.xml" ContentType="application/vnd.openxmlformats-officedocument.drawingml.chart+xml"/>
  <Override PartName="/ppt/charts/style30.xml" ContentType="application/vnd.ms-office.chartstyle+xml"/>
  <Override PartName="/ppt/charts/colors30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44"/>
  </p:notesMasterIdLst>
  <p:handoutMasterIdLst>
    <p:handoutMasterId r:id="rId45"/>
  </p:handoutMasterIdLst>
  <p:sldIdLst>
    <p:sldId id="1973" r:id="rId6"/>
    <p:sldId id="11390" r:id="rId7"/>
    <p:sldId id="10749" r:id="rId8"/>
    <p:sldId id="10751" r:id="rId9"/>
    <p:sldId id="10753" r:id="rId10"/>
    <p:sldId id="10750" r:id="rId11"/>
    <p:sldId id="10754" r:id="rId12"/>
    <p:sldId id="10755" r:id="rId13"/>
    <p:sldId id="10756" r:id="rId14"/>
    <p:sldId id="11363" r:id="rId15"/>
    <p:sldId id="11364" r:id="rId16"/>
    <p:sldId id="11365" r:id="rId17"/>
    <p:sldId id="11366" r:id="rId18"/>
    <p:sldId id="11367" r:id="rId19"/>
    <p:sldId id="11368" r:id="rId20"/>
    <p:sldId id="11369" r:id="rId21"/>
    <p:sldId id="11370" r:id="rId22"/>
    <p:sldId id="11389" r:id="rId23"/>
    <p:sldId id="11371" r:id="rId24"/>
    <p:sldId id="10757" r:id="rId25"/>
    <p:sldId id="11409" r:id="rId26"/>
    <p:sldId id="11410" r:id="rId27"/>
    <p:sldId id="1824" r:id="rId28"/>
    <p:sldId id="11403" r:id="rId29"/>
    <p:sldId id="11404" r:id="rId30"/>
    <p:sldId id="11387" r:id="rId31"/>
    <p:sldId id="11374" r:id="rId32"/>
    <p:sldId id="11405" r:id="rId33"/>
    <p:sldId id="11419" r:id="rId34"/>
    <p:sldId id="11406" r:id="rId35"/>
    <p:sldId id="11402" r:id="rId36"/>
    <p:sldId id="11376" r:id="rId37"/>
    <p:sldId id="11284" r:id="rId38"/>
    <p:sldId id="11377" r:id="rId39"/>
    <p:sldId id="11415" r:id="rId40"/>
    <p:sldId id="11416" r:id="rId41"/>
    <p:sldId id="11417" r:id="rId42"/>
    <p:sldId id="1141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37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3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slide" Target="slides/slide34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openxmlformats.org/officeDocument/2006/relationships/slide" Target="slides/slide37.xml"/><Relationship Id="rId47" Type="http://schemas.openxmlformats.org/officeDocument/2006/relationships/viewProps" Target="viewProps.xml"/><Relationship Id="rId50" Type="http://schemas.microsoft.com/office/2018/10/relationships/authors" Target="author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9" Type="http://schemas.openxmlformats.org/officeDocument/2006/relationships/slide" Target="slides/slide24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40" Type="http://schemas.openxmlformats.org/officeDocument/2006/relationships/slide" Target="slides/slide35.xml"/><Relationship Id="rId45" Type="http://schemas.openxmlformats.org/officeDocument/2006/relationships/handoutMaster" Target="handoutMasters/handout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tableStyles" Target="tableStyle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43" Type="http://schemas.openxmlformats.org/officeDocument/2006/relationships/slide" Target="slides/slide38.xml"/><Relationship Id="rId48" Type="http://schemas.openxmlformats.org/officeDocument/2006/relationships/theme" Target="theme/theme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46" Type="http://schemas.openxmlformats.org/officeDocument/2006/relationships/presProps" Target="presProps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_rels/chart1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4.xlsx"/><Relationship Id="rId2" Type="http://schemas.microsoft.com/office/2011/relationships/chartColorStyle" Target="colors15.xml"/><Relationship Id="rId1" Type="http://schemas.microsoft.com/office/2011/relationships/chartStyle" Target="style15.xml"/></Relationships>
</file>

<file path=ppt/charts/_rels/chart1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5.xlsx"/><Relationship Id="rId2" Type="http://schemas.microsoft.com/office/2011/relationships/chartColorStyle" Target="colors16.xml"/><Relationship Id="rId1" Type="http://schemas.microsoft.com/office/2011/relationships/chartStyle" Target="style16.xml"/></Relationships>
</file>

<file path=ppt/charts/_rels/chart1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6.xlsx"/><Relationship Id="rId2" Type="http://schemas.microsoft.com/office/2011/relationships/chartColorStyle" Target="colors17.xml"/><Relationship Id="rId1" Type="http://schemas.microsoft.com/office/2011/relationships/chartStyle" Target="style17.xml"/></Relationships>
</file>

<file path=ppt/charts/_rels/chart1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7.xlsx"/><Relationship Id="rId2" Type="http://schemas.microsoft.com/office/2011/relationships/chartColorStyle" Target="colors18.xml"/><Relationship Id="rId1" Type="http://schemas.microsoft.com/office/2011/relationships/chartStyle" Target="style18.xml"/></Relationships>
</file>

<file path=ppt/charts/_rels/chart1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8.xlsx"/><Relationship Id="rId2" Type="http://schemas.microsoft.com/office/2011/relationships/chartColorStyle" Target="colors19.xml"/><Relationship Id="rId1" Type="http://schemas.microsoft.com/office/2011/relationships/chartStyle" Target="style19.xml"/></Relationships>
</file>

<file path=ppt/charts/_rels/chart2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9.xlsx"/><Relationship Id="rId2" Type="http://schemas.microsoft.com/office/2011/relationships/chartColorStyle" Target="colors20.xml"/><Relationship Id="rId1" Type="http://schemas.microsoft.com/office/2011/relationships/chartStyle" Target="style20.xml"/></Relationships>
</file>

<file path=ppt/charts/_rels/chart2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0.xlsx"/><Relationship Id="rId2" Type="http://schemas.microsoft.com/office/2011/relationships/chartColorStyle" Target="colors21.xml"/><Relationship Id="rId1" Type="http://schemas.microsoft.com/office/2011/relationships/chartStyle" Target="style21.xml"/></Relationships>
</file>

<file path=ppt/charts/_rels/chart2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1.xlsx"/><Relationship Id="rId2" Type="http://schemas.microsoft.com/office/2011/relationships/chartColorStyle" Target="colors22.xml"/><Relationship Id="rId1" Type="http://schemas.microsoft.com/office/2011/relationships/chartStyle" Target="style22.xml"/></Relationships>
</file>

<file path=ppt/charts/_rels/chart2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2.xlsx"/><Relationship Id="rId2" Type="http://schemas.microsoft.com/office/2011/relationships/chartColorStyle" Target="colors23.xml"/><Relationship Id="rId1" Type="http://schemas.microsoft.com/office/2011/relationships/chartStyle" Target="style23.xml"/></Relationships>
</file>

<file path=ppt/charts/_rels/chart2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3.xlsx"/><Relationship Id="rId2" Type="http://schemas.microsoft.com/office/2011/relationships/chartColorStyle" Target="colors24.xml"/><Relationship Id="rId1" Type="http://schemas.microsoft.com/office/2011/relationships/chartStyle" Target="style24.xml"/></Relationships>
</file>

<file path=ppt/charts/_rels/chart2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4.xlsx"/><Relationship Id="rId2" Type="http://schemas.microsoft.com/office/2011/relationships/chartColorStyle" Target="colors25.xml"/><Relationship Id="rId1" Type="http://schemas.microsoft.com/office/2011/relationships/chartStyle" Target="style25.xml"/></Relationships>
</file>

<file path=ppt/charts/_rels/chart2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5.xlsx"/><Relationship Id="rId2" Type="http://schemas.microsoft.com/office/2011/relationships/chartColorStyle" Target="colors26.xml"/><Relationship Id="rId1" Type="http://schemas.microsoft.com/office/2011/relationships/chartStyle" Target="style26.xml"/></Relationships>
</file>

<file path=ppt/charts/_rels/chart2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6.xlsx"/><Relationship Id="rId2" Type="http://schemas.microsoft.com/office/2011/relationships/chartColorStyle" Target="colors27.xml"/><Relationship Id="rId1" Type="http://schemas.microsoft.com/office/2011/relationships/chartStyle" Target="style27.xml"/></Relationships>
</file>

<file path=ppt/charts/_rels/chart2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7.xlsx"/><Relationship Id="rId2" Type="http://schemas.microsoft.com/office/2011/relationships/chartColorStyle" Target="colors28.xml"/><Relationship Id="rId1" Type="http://schemas.microsoft.com/office/2011/relationships/chartStyle" Target="style28.xml"/></Relationships>
</file>

<file path=ppt/charts/_rels/chart2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8.xlsx"/><Relationship Id="rId2" Type="http://schemas.microsoft.com/office/2011/relationships/chartColorStyle" Target="colors29.xml"/><Relationship Id="rId1" Type="http://schemas.microsoft.com/office/2011/relationships/chartStyle" Target="style29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9.xlsx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01A5FE6A-D37A-834F-B8C5-870900F9D163}" type="VALUE">
                      <a:rPr lang="en-US" sz="1400" b="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147-E74A-AA7B-5531F0E4EE0C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1A15AB0D-C73F-2F4E-B068-1138B91CEB95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dLbl>
              <c:idx val="0"/>
              <c:tx>
                <c:rich>
                  <a:bodyPr/>
                  <a:lstStyle/>
                  <a:p>
                    <a:fld id="{834D244C-CE32-A046-8143-A59D5CA86E7E}" type="VALUE">
                      <a:rPr lang="en-US" sz="1400">
                        <a:solidFill>
                          <a:schemeClr val="bg1"/>
                        </a:solidFill>
                      </a:rPr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3B95-5448-A5A8-44A174A721F0}"/>
                </c:ext>
              </c:extLst>
            </c:dLbl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dLbls>
            <c:delete val="1"/>
          </c:dLbls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147-E74A-AA7B-5531F0E4EE0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147-E74A-AA7B-5531F0E4EE0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D0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ln w="28575" cap="rnd">
              <a:solidFill>
                <a:srgbClr val="0066FF"/>
              </a:solidFill>
              <a:round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marker>
            <c:symbol val="circle"/>
            <c:size val="5"/>
            <c:spPr>
              <a:solidFill>
                <a:srgbClr val="0066FF"/>
              </a:solidFill>
              <a:ln w="9525">
                <a:solidFill>
                  <a:srgbClr val="0066FF"/>
                </a:solidFill>
              </a:ln>
              <a:effectLst/>
            </c:spPr>
          </c:marker>
          <c:dPt>
            <c:idx val="0"/>
            <c:marker>
              <c:symbol val="circle"/>
              <c:size val="5"/>
              <c:spPr>
                <a:solidFill>
                  <a:srgbClr val="0066FF"/>
                </a:solidFill>
                <a:ln w="9525">
                  <a:solidFill>
                    <a:srgbClr val="0066FF"/>
                  </a:solidFill>
                </a:ln>
                <a:effectLst/>
              </c:spPr>
            </c:marker>
            <c:bubble3D val="0"/>
            <c:explosion val="6"/>
            <c:spPr>
              <a:ln w="28575" cap="rnd">
                <a:solidFill>
                  <a:srgbClr val="0066FF"/>
                </a:solidFill>
                <a:round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6147-E74A-AA7B-5531F0E4EE0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clip" horzOverflow="clip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wedgeRectCallout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smooth val="0"/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6147-E74A-AA7B-5531F0E4EE0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76387520"/>
        <c:axId val="477616192"/>
      </c:line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75D5-D342-BCFC-56747FBB812F}"/>
              </c:ext>
            </c:extLst>
          </c:dPt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Sheet1!$B$2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75D5-D342-BCFC-56747FBB81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Sheet1!$C$2</c:f>
              <c:numCache>
                <c:formatCode>0.0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75D5-D342-BCFC-56747FBB812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5D5-D342-BCFC-56747FBB812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75D5-D342-BCFC-56747FBB812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Overall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5D5-D342-BCFC-56747FBB812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189D-224A-BCD3-20CC2B33F5C5}"/>
              </c:ext>
            </c:extLst>
          </c:dPt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189D-224A-BCD3-20CC2B33F5C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9D-224A-BCD3-20CC2B33F5C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89D-224A-BCD3-20CC2B33F5C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9D-224A-BCD3-20CC2B33F5C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Team 1</c:v>
                </c:pt>
                <c:pt idx="1">
                  <c:v>Team 2</c:v>
                </c:pt>
                <c:pt idx="2">
                  <c:v>Team 3</c:v>
                </c:pt>
                <c:pt idx="3">
                  <c:v>Team 4</c:v>
                </c:pt>
                <c:pt idx="4">
                  <c:v>Team 5</c:v>
                </c:pt>
                <c:pt idx="5">
                  <c:v>Team 6</c:v>
                </c:pt>
                <c:pt idx="6">
                  <c:v>Team 7</c:v>
                </c:pt>
                <c:pt idx="7">
                  <c:v>Team 8</c:v>
                </c:pt>
                <c:pt idx="8">
                  <c:v>Team 9</c:v>
                </c:pt>
                <c:pt idx="9">
                  <c:v>Team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189D-224A-BCD3-20CC2B33F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E98D-4640-8B14-A67FDFDE3FF3}"/>
              </c:ext>
            </c:extLst>
          </c:dPt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Sheet1!$B$2:$B$11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E98D-4640-8B14-A67FDFDE3FF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Sheet1!$C$2:$C$11</c:f>
              <c:numCache>
                <c:formatCode>0.0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98D-4640-8B14-A67FDFDE3FF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98D-4640-8B14-A67FDFDE3FF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E98D-4640-8B14-A67FDFDE3FF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Capability 1</c:v>
                </c:pt>
                <c:pt idx="1">
                  <c:v>Capability 2</c:v>
                </c:pt>
                <c:pt idx="2">
                  <c:v>Capability 3</c:v>
                </c:pt>
                <c:pt idx="3">
                  <c:v>Capability 4</c:v>
                </c:pt>
                <c:pt idx="4">
                  <c:v>Capability 5</c:v>
                </c:pt>
                <c:pt idx="5">
                  <c:v>Capability 6</c:v>
                </c:pt>
                <c:pt idx="6">
                  <c:v>Capability 7</c:v>
                </c:pt>
                <c:pt idx="7">
                  <c:v>Capability 8</c:v>
                </c:pt>
                <c:pt idx="8">
                  <c:v>Capability 9</c:v>
                </c:pt>
                <c:pt idx="9">
                  <c:v>Capability 10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E98D-4640-8B14-A67FDFDE3F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343-2840-AF35-77DE56009DF9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343-2840-AF35-77DE56009DF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343-2840-AF35-77DE56009DF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343-2840-AF35-77DE56009DF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343-2840-AF35-77DE56009DF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343-2840-AF35-77DE56009D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1-5A7D-2A41-8E40-3CF6BA9EF6C8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2-5A7D-2A41-8E40-3CF6BA9EF6C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5A7D-2A41-8E40-3CF6BA9EF6C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5A7D-2A41-8E40-3CF6BA9EF6C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5A7D-2A41-8E40-3CF6BA9EF6C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7D-2A41-8E40-3CF6BA9EF6C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2F9E-3B4D-B259-782ED914E23F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2F9E-3B4D-B259-782ED914E23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F9E-3B4D-B259-782ED914E23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F9E-3B4D-B259-782ED914E23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F9E-3B4D-B259-782ED914E23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F9E-3B4D-B259-782ED914E2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BA9D-A148-A366-632DBB31698B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BA9D-A148-A366-632DBB3169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A9D-A148-A366-632DBB3169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A9D-A148-A366-632DBB31698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A9D-A148-A366-632DBB31698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A9D-A148-A366-632DBB3169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Objective met</c:v>
                </c:pt>
              </c:strCache>
            </c:strRef>
          </c:tx>
          <c:spPr>
            <a:solidFill>
              <a:srgbClr val="0066FF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rgbClr val="0066FF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  <c:ext xmlns:c16="http://schemas.microsoft.com/office/drawing/2014/chart" uri="{C3380CC4-5D6E-409C-BE32-E72D297353CC}">
                <c16:uniqueId val="{00000001-9CDF-4B43-A58B-3C03F478D7BE}"/>
              </c:ext>
            </c:extLst>
          </c:dPt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Sheet1!$B$2:$B$13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      <c:ext xmlns:c16="http://schemas.microsoft.com/office/drawing/2014/chart" uri="{C3380CC4-5D6E-409C-BE32-E72D297353CC}">
              <c16:uniqueId val="{00000002-9CDF-4B43-A58B-3C03F478D7B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Improved</c:v>
                </c:pt>
              </c:strCache>
            </c:strRef>
          </c:tx>
          <c:spPr>
            <a:solidFill>
              <a:srgbClr val="67E77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Sheet1!$C$2:$C$13</c:f>
              <c:numCache>
                <c:formatCode>0.0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CDF-4B43-A58B-3C03F478D7BE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Unchanged</c:v>
                </c:pt>
              </c:strCache>
            </c:strRef>
          </c:tx>
          <c:spPr>
            <a:solidFill>
              <a:srgbClr val="BFC4CF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CDF-4B43-A58B-3C03F478D7BE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Worsened</c:v>
                </c:pt>
              </c:strCache>
            </c:strRef>
          </c:tx>
          <c:spPr>
            <a:solidFill>
              <a:srgbClr val="F06241"/>
            </a:solidFill>
            <a:ln w="19050">
              <a:noFill/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CDF-4B43-A58B-3C03F478D7BE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solidFill>
              <a:schemeClr val="bg1"/>
            </a:solidFill>
            <a:ln w="19050">
              <a:solidFill>
                <a:schemeClr val="lt1"/>
              </a:solidFill>
            </a:ln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Month 1</c:v>
                </c:pt>
                <c:pt idx="1">
                  <c:v>Month 2</c:v>
                </c:pt>
                <c:pt idx="2">
                  <c:v>Month 3</c:v>
                </c:pt>
                <c:pt idx="3">
                  <c:v>Month 4</c:v>
                </c:pt>
                <c:pt idx="4">
                  <c:v>Month 5</c:v>
                </c:pt>
                <c:pt idx="5">
                  <c:v>Month 6</c:v>
                </c:pt>
                <c:pt idx="6">
                  <c:v>Month 7</c:v>
                </c:pt>
                <c:pt idx="7">
                  <c:v>Month 8</c:v>
                </c:pt>
                <c:pt idx="8">
                  <c:v>Month 9</c:v>
                </c:pt>
                <c:pt idx="9">
                  <c:v>Month 10</c:v>
                </c:pt>
                <c:pt idx="10">
                  <c:v>Month 11</c:v>
                </c:pt>
                <c:pt idx="11">
                  <c:v>Month 12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  <c:pt idx="7">
                  <c:v>0.5</c:v>
                </c:pt>
                <c:pt idx="8">
                  <c:v>0.5</c:v>
                </c:pt>
                <c:pt idx="9">
                  <c:v>0.5</c:v>
                </c:pt>
                <c:pt idx="10">
                  <c:v>0.5</c:v>
                </c:pt>
                <c:pt idx="11">
                  <c:v>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CDF-4B43-A58B-3C03F478D7B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w="http://schemas.openxmlformats.org/wordprocessingml/2006/main" xmlns:w15="http://schemas.microsoft.com/office/word/2012/wordml" xmlns:w14="http://schemas.microsoft.com/office/word/2010/wordml" xmlns:m="http://schemas.openxmlformats.org/officeDocument/2006/math" xmlns:wp="http://schemas.openxmlformats.org/drawingml/2006/wordprocessingDrawing" xmlns:wp14="http://schemas.microsoft.com/office/word/2010/wordprocessingDrawing" xmlns:mc="http://schemas.openxmlformats.org/markup-compatibility/2006" xmlns:sl="http://schemas.openxmlformats.org/schemaLibrary/2006/main" xmlns:wne="http://schemas.microsoft.com/office/word/2006/wordml" xmlns:cdr="http://schemas.openxmlformats.org/drawingml/2006/chartDrawing" xmlns:c14="http://schemas.microsoft.com/office/drawing/2007/8/2/chart" xmlns:dgm="http://schemas.openxmlformats.org/drawingml/2006/diagram" xmlns:pic="http://schemas.openxmlformats.org/drawingml/2006/picture" xmlns:xdr="http://schemas.openxmlformats.org/drawingml/2006/spreadsheetDrawing" xmlns:dsp="http://schemas.microsoft.com/office/drawing/2008/diagram" xmlns:xvml="urn:schemas-microsoft-com:office:excel" xmlns:o="urn:schemas-microsoft-com:office:office" xmlns:v="urn:schemas-microsoft-com:vml" xmlns:w10="urn:schemas-microsoft-com:office:word" xmlns:pvml="urn:schemas-microsoft-com:office:powerpoint" xmlns:cppr="http://schemas.microsoft.com/office/2006/coverPageProps" xmlns:odx="http://opendope.org/xpaths" xmlns:odc="http://opendope.org/conditions" xmlns:odq="http://opendope.org/questions" xmlns:oda="http://opendope.org/answers" xmlns:odi="http://opendope.org/components" xmlns:odgm="http://opendope.org/SmartArt/DataHierarchy" xmlns:b="http://schemas.openxmlformats.org/officeDocument/2006/bibliography" xmlns:wps="http://schemas.microsoft.com/office/word/2010/wordprocessingShape" xmlns:w16se="http://schemas.microsoft.com/office/word/2015/wordml/symex" xmlns:w16cid="http://schemas.microsoft.com/office/word/2016/wordml/cid" xmlns:wetp="http://schemas.microsoft.com/office/webextensions/taskpanes/2010/11" xmlns:we="http://schemas.microsoft.com/office/webextensions/webextension/2010/11" xmlns:comp="http://schemas.openxmlformats.org/drawingml/2006/compatibility" xmlns:lc="http://schemas.openxmlformats.org/drawingml/2006/lockedCanvas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E613694E-4A9F-6D4D-91E8-2DA2664EFF87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93192574-731C-1447-9434-ECE4EFD241C8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C4A6BE7D-5F50-4F4C-A9BF-37EED7A5B319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0-983E-B549-A770-4B561453C6B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983E-B549-A770-4B561453C6BF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983E-B549-A770-4B561453C6BF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9-983E-B549-A770-4B561453C6B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83E-B549-A770-4B561453C6BF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83E-B549-A770-4B561453C6BF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E-983E-B549-A770-4B561453C6B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F-983E-B549-A770-4B561453C6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9604363196085568"/>
          <c:w val="1"/>
          <c:h val="6.8688680738566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666667989039644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0-6308-9C42-B1E9-65C8973ABF7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6308-9C42-B1E9-65C8973ABF79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6308-9C42-B1E9-65C8973ABF79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9-6308-9C42-B1E9-65C8973ABF7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6308-9C42-B1E9-65C8973ABF79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6308-9C42-B1E9-65C8973ABF79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E-6308-9C42-B1E9-65C8973ABF7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Legal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</c:numCache>
            </c:numRef>
          </c:val>
          <c:extLst>
            <c:ext xmlns:c16="http://schemas.microsoft.com/office/drawing/2014/chart" uri="{C3380CC4-5D6E-409C-BE32-E72D297353CC}">
              <c16:uniqueId val="{0000000F-6308-9C42-B1E9-65C8973ABF7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3190.0000000000005"/>
          <c:min val="0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171D-B549-A7DE-EF4D33711D1D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171D-B549-A7DE-EF4D33711D1D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71D-B549-A7DE-EF4D33711D1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171D-B549-A7DE-EF4D33711D1D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71D-B549-A7DE-EF4D33711D1D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171D-B549-A7DE-EF4D33711D1D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71D-B549-A7DE-EF4D33711D1D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171D-B549-A7DE-EF4D33711D1D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71D-B549-A7DE-EF4D33711D1D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171D-B549-A7DE-EF4D33711D1D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71D-B549-A7DE-EF4D33711D1D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171D-B549-A7DE-EF4D33711D1D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71D-B549-A7DE-EF4D33711D1D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171D-B549-A7DE-EF4D33711D1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171D-B549-A7DE-EF4D33711D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980E-0B4B-A8CF-968C5F8B2D40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980E-0B4B-A8CF-968C5F8B2D40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980E-0B4B-A8CF-968C5F8B2D40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80E-0B4B-A8CF-968C5F8B2D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4516723674428567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0E27-A747-9927-F7F0E1E987C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0E27-A747-9927-F7F0E1E987C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0E27-A747-9927-F7F0E1E987CA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0E27-A747-9927-F7F0E1E987C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2878023052360095"/>
          <c:w val="0.99589338467782274"/>
          <c:h val="0.1381688580606488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6F4-9648-A147-F9769DAF760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6F4-9648-A147-F9769DAF760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6F4-9648-A147-F9769DAF760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6F4-9648-A147-F9769DAF760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6F4-9648-A147-F9769DAF760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6F4-9648-A147-F9769DAF760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6F4-9648-A147-F9769DAF760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6F4-9648-A147-F9769DAF760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6F4-9648-A147-F9769DAF760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6F4-9648-A147-F9769DAF760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6F4-9648-A147-F9769DAF760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6F4-9648-A147-F9769DAF760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6F4-9648-A147-F9769DAF760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6F4-9648-A147-F9769DAF760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6F4-9648-A147-F9769DAF76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951134644002104E-2"/>
          <c:y val="6.0593337595541856E-2"/>
          <c:w val="0.91209773071199585"/>
          <c:h val="0.6561842072162023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1F71-2347-B18D-6B630A30733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1F71-2347-B18D-6B630A30733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1F71-2347-B18D-6B630A307332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F71-2347-B18D-6B630A3073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3428871575955932"/>
          <c:w val="0.99589338467782274"/>
          <c:h val="0.13266037282469048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3E51-4E42-8C00-A948DC2E75DF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3E51-4E42-8C00-A948DC2E75DF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3E51-4E42-8C00-A948DC2E75DF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3E51-4E42-8C00-A948DC2E75DF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3E51-4E42-8C00-A948DC2E75DF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3E51-4E42-8C00-A948DC2E75DF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3E51-4E42-8C00-A948DC2E75DF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3E51-4E42-8C00-A948DC2E75DF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3E51-4E42-8C00-A948DC2E75DF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3E51-4E42-8C00-A948DC2E75DF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3E51-4E42-8C00-A948DC2E75DF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3E51-4E42-8C00-A948DC2E75DF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3E51-4E42-8C00-A948DC2E75DF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3E51-4E42-8C00-A948DC2E75D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3E51-4E42-8C00-A948DC2E75D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B586-A04E-8798-76AFBDCDFE8A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B586-A04E-8798-76AFBDCDFE8A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86-A04E-8798-76AFBDCDFE8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B586-A04E-8798-76AFBDCDFE8A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86-A04E-8798-76AFBDCDFE8A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B586-A04E-8798-76AFBDCDFE8A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86-A04E-8798-76AFBDCDFE8A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B586-A04E-8798-76AFBDCDFE8A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586-A04E-8798-76AFBDCDFE8A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B586-A04E-8798-76AFBDCDFE8A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586-A04E-8798-76AFBDCDFE8A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B586-A04E-8798-76AFBDCDFE8A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586-A04E-8798-76AFBDCDFE8A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B586-A04E-8798-76AFBDCDFE8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B586-A04E-8798-76AFBDCDFE8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9C7F-D847-A4AD-44605D3AD5C5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9C7F-D847-A4AD-44605D3AD5C5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C7F-D847-A4AD-44605D3AD5C5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9C7F-D847-A4AD-44605D3AD5C5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C7F-D847-A4AD-44605D3AD5C5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9C7F-D847-A4AD-44605D3AD5C5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C7F-D847-A4AD-44605D3AD5C5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9C7F-D847-A4AD-44605D3AD5C5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9C7F-D847-A4AD-44605D3AD5C5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9C7F-D847-A4AD-44605D3AD5C5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9C7F-D847-A4AD-44605D3AD5C5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9C7F-D847-A4AD-44605D3AD5C5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9C7F-D847-A4AD-44605D3AD5C5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9C7F-D847-A4AD-44605D3AD5C5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9C7F-D847-A4AD-44605D3AD5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New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Sheet1!$C$2:$C$36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0-8F19-F14D-B63F-8C5F7A032322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Existing</c:v>
                </c:pt>
              </c:strCache>
            </c:strRef>
          </c:tx>
          <c:spPr>
            <a:solidFill>
              <a:srgbClr val="B6C4FF"/>
            </a:solidFill>
            <a:ln>
              <a:noFill/>
            </a:ln>
            <a:effectLst>
              <a:outerShdw blurRad="50800" dist="50800" dir="5400000" algn="ctr" rotWithShape="0">
                <a:srgbClr val="B6C4FF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Sheet1!$D$2:$D$36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1-8F19-F14D-B63F-8C5F7A032322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Resolved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>
              <a:outerShdw blurRad="50800" dist="50800" dir="5400000" algn="ctr" rotWithShape="0">
                <a:srgbClr val="40C360"/>
              </a:outerShdw>
            </a:effectLst>
          </c:spPr>
          <c:invertIfNegative val="0"/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Sheet1!$E$2:$E$36</c:f>
              <c:numCache>
                <c:formatCode>General</c:formatCode>
                <c:ptCount val="35"/>
              </c:numCache>
            </c:numRef>
          </c:val>
          <c:extLst>
            <c:ext xmlns:c16="http://schemas.microsoft.com/office/drawing/2014/chart" uri="{C3380CC4-5D6E-409C-BE32-E72D297353CC}">
              <c16:uniqueId val="{00000002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3"/>
          <c:tx>
            <c:strRef>
              <c:f>Sheet1!$F$1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dLbl>
              <c:idx val="0"/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F19-F14D-B63F-8C5F7A03232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8F19-F14D-B63F-8C5F7A032322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F19-F14D-B63F-8C5F7A032322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F19-F14D-B63F-8C5F7A032322}"/>
                </c:ext>
              </c:extLst>
            </c:dLbl>
            <c:dLbl>
              <c:idx val="1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F19-F14D-B63F-8C5F7A032322}"/>
                </c:ext>
              </c:extLst>
            </c:dLbl>
            <c:dLbl>
              <c:idx val="1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8F19-F14D-B63F-8C5F7A032322}"/>
                </c:ext>
              </c:extLst>
            </c:dLbl>
            <c:dLbl>
              <c:idx val="17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F19-F14D-B63F-8C5F7A032322}"/>
                </c:ext>
              </c:extLst>
            </c:dLbl>
            <c:dLbl>
              <c:idx val="2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8F19-F14D-B63F-8C5F7A032322}"/>
                </c:ext>
              </c:extLst>
            </c:dLbl>
            <c:dLbl>
              <c:idx val="2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F19-F14D-B63F-8C5F7A032322}"/>
                </c:ext>
              </c:extLst>
            </c:dLbl>
            <c:dLbl>
              <c:idx val="2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8F19-F14D-B63F-8C5F7A032322}"/>
                </c:ext>
              </c:extLst>
            </c:dLbl>
            <c:dLbl>
              <c:idx val="2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F19-F14D-B63F-8C5F7A032322}"/>
                </c:ext>
              </c:extLst>
            </c:dLbl>
            <c:dLbl>
              <c:idx val="3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8F19-F14D-B63F-8C5F7A03232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strRef>
              <c:f>Sheet1!$B$2:$B$36</c:f>
              <c:strCache>
                <c:ptCount val="34"/>
                <c:pt idx="0">
                  <c:v>Jan</c:v>
                </c:pt>
                <c:pt idx="3">
                  <c:v>Feb</c:v>
                </c:pt>
                <c:pt idx="6">
                  <c:v>Mar</c:v>
                </c:pt>
                <c:pt idx="9">
                  <c:v>Apr</c:v>
                </c:pt>
                <c:pt idx="12">
                  <c:v>May</c:v>
                </c:pt>
                <c:pt idx="15">
                  <c:v>Jun</c:v>
                </c:pt>
                <c:pt idx="18">
                  <c:v>Jul</c:v>
                </c:pt>
                <c:pt idx="21">
                  <c:v>Aug</c:v>
                </c:pt>
                <c:pt idx="24">
                  <c:v>Sep</c:v>
                </c:pt>
                <c:pt idx="27">
                  <c:v>Oct</c:v>
                </c:pt>
                <c:pt idx="30">
                  <c:v>Nov</c:v>
                </c:pt>
                <c:pt idx="33">
                  <c:v>Dec</c:v>
                </c:pt>
              </c:strCache>
            </c:strRef>
          </c:cat>
          <c:val>
            <c:numRef>
              <c:f>Sheet1!$F$2:$F$36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F-8F19-F14D-B63F-8C5F7A03232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613A-144D-9198-B504C851AC66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613A-144D-9198-B504C851AC66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613A-144D-9198-B504C851AC66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13A-144D-9198-B504C851AC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2.8909766555187129E-2"/>
          <c:y val="6.0220552925546358E-2"/>
          <c:w val="0.94218046688962576"/>
          <c:h val="0.67221095212272064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period_1</c:v>
                </c:pt>
              </c:strCache>
            </c:strRef>
          </c:tx>
          <c:spPr>
            <a:solidFill>
              <a:srgbClr val="40C360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0-BFBC-094D-8877-0309CBC0B0DB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period_2</c:v>
                </c:pt>
              </c:strCache>
            </c:strRef>
          </c:tx>
          <c:spPr>
            <a:solidFill>
              <a:srgbClr val="39A498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1-BFBC-094D-8877-0309CBC0B0DB}"/>
            </c:ext>
          </c:extLst>
        </c:ser>
        <c:ser>
          <c:idx val="2"/>
          <c:order val="2"/>
          <c:tx>
            <c:strRef>
              <c:f>Sheet1!$E$1</c:f>
              <c:strCache>
                <c:ptCount val="1"/>
                <c:pt idx="0">
                  <c:v>period_3</c:v>
                </c:pt>
              </c:strCache>
            </c:strRef>
          </c:tx>
          <c:spPr>
            <a:solidFill>
              <a:srgbClr val="358AC7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2-BFBC-094D-8877-0309CBC0B0DB}"/>
            </c:ext>
          </c:extLst>
        </c:ser>
        <c:ser>
          <c:idx val="3"/>
          <c:order val="3"/>
          <c:tx>
            <c:strRef>
              <c:f>Sheet1!$F$1</c:f>
              <c:strCache>
                <c:ptCount val="1"/>
                <c:pt idx="0">
                  <c:v>period_4</c:v>
                </c:pt>
              </c:strCache>
            </c:strRef>
          </c:tx>
          <c:spPr>
            <a:solidFill>
              <a:srgbClr val="2D6BFF"/>
            </a:solidFill>
            <a:ln>
              <a:noFill/>
            </a:ln>
            <a:effectLst/>
          </c:spPr>
          <c:invertIfNegative val="0"/>
          <c:cat>
            <c:strRef>
              <c:f>Sheet1!$B$2:$B$13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</c:numCache>
            </c:numRef>
          </c:val>
          <c:extLst>
            <c:ext xmlns:c16="http://schemas.microsoft.com/office/drawing/2014/chart" uri="{C3380CC4-5D6E-409C-BE32-E72D297353CC}">
              <c16:uniqueId val="{00000003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696374703"/>
        <c:axId val="1696344063"/>
      </c:barChart>
      <c:lineChart>
        <c:grouping val="standard"/>
        <c:varyColors val="0"/>
        <c:ser>
          <c:idx val="4"/>
          <c:order val="4"/>
          <c:tx>
            <c:strRef>
              <c:f>Sheet1!$G$1</c:f>
              <c:strCache>
                <c:ptCount val="1"/>
              </c:strCache>
            </c:strRef>
          </c:tx>
          <c:spPr>
            <a:ln w="28575" cap="rnd">
              <a:noFill/>
              <a:round/>
            </a:ln>
            <a:effectLst/>
          </c:spPr>
          <c:marker>
            <c:symbol val="none"/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none" lIns="36576" tIns="18288" rIns="36576" bIns="18288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eparator>,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flowChartAlternateProcess">
                    <a:avLst/>
                  </a:prstGeom>
                  <a:noFill/>
                  <a:ln>
                    <a:noFill/>
                  </a:ln>
                </c15:spPr>
                <c15:showLeaderLines val="0"/>
              </c:ext>
            </c:extLst>
          </c:dLbls>
          <c:cat>
            <c:multiLvlStrRef>
              <c:f>Sheet1!#REF!</c:f>
            </c:multiLvlStrRef>
          </c:cat>
          <c:val>
            <c:numRef>
              <c:f>Sheet1!$G$2:$G$13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FBC-094D-8877-0309CBC0B0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96374703"/>
        <c:axId val="1696344063"/>
      </c:lineChart>
      <c:catAx>
        <c:axId val="169637470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accent1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96344063"/>
        <c:crosses val="autoZero"/>
        <c:auto val="1"/>
        <c:lblAlgn val="ctr"/>
        <c:lblOffset val="10"/>
        <c:noMultiLvlLbl val="0"/>
      </c:catAx>
      <c:valAx>
        <c:axId val="1696344063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69637470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4"/>
        <c:delete val="1"/>
      </c:legendEntry>
      <c:layout>
        <c:manualLayout>
          <c:xMode val="edge"/>
          <c:yMode val="edge"/>
          <c:x val="0"/>
          <c:y val="0.85514823222286696"/>
          <c:w val="0.99682530616518883"/>
          <c:h val="0.1448517677771331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9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0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3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4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5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1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3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6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7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8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9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62B7-BF97-0973-EDF4-48908FBE9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D3CEDA-8AB3-6AF0-70C6-E15C6FC8C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069262-B5A4-2FCE-7E08-7EAAD1DB39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B9485A-62C7-3089-C70F-6405456B2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5542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2D2F1-F27E-F008-D28F-A80C65A7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CFE20B-AC68-A715-1904-A8997A7407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C90C4E-EA51-177C-42BA-46AF20D0BD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E6F7B-6012-765E-DCF5-2558BB00D9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238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77F13-6185-DA3A-E4BF-93AB08710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AAA878-4BCC-C37E-C60B-5C73D7AB75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91676A-8DB0-EB68-AFE3-4B5980881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1DA36-1389-3F55-2F71-57DFDF61F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8385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C86E9-8DBC-7315-34FD-58C7242D7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8AD624-4D2F-82F2-F904-1C760725E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94E577-5C9F-05A6-2A63-85479AB3CA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DF337-03B5-BF71-3308-EB7914FE2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3301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2D0F5-8BBF-7EE5-13F5-9F0CF5DC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B9B9BD-FD8B-6877-05B7-E7676153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3D1F4E-1948-87BC-0DC9-1B2643E769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1974D-1303-6585-E51A-9BB4C09339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3302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2AC41-72C5-457E-68E0-ABA79431E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875686-AB67-CADF-5E29-F5A5E8D972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87485-085D-0D90-7A80-DA34DCDD1B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BB4E9A-7183-4A81-0FF4-A45C7629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371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9E683-C9EC-1D45-88B8-5E84B58549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B5CBF-3012-045D-BF54-6FE84596A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33B5E4-7175-81ED-5825-D28FF4AD0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7745D3-74FD-0ADA-5B6C-DC6DBDDF1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318681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A74F8-E8A1-04EC-B454-288A2CC88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6F02B9-A2E5-ED61-3237-42E0AC4BB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B8B389-453E-3433-6FA3-9E9724AFA9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64E3-FBDC-C133-4E72-F1AAC73304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756031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40C3-8B77-A987-276E-F1D31C851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65009-84BF-8836-E818-4EE4D95DBD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697E46-BEF0-F40D-55DD-BD10F7747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66F44B-8DFA-7FEC-E0BE-04E5455D62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65466-C581-7E43-9AE7-259D040BA751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23927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37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91D583B0-04E8-97BC-998D-5328C105EF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08" y="6407914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if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emf"/><Relationship Id="rId4" Type="http://schemas.openxmlformats.org/officeDocument/2006/relationships/chart" Target="../charts/chart1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chart" Target="../charts/chart17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chart" Target="../charts/chart19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6" Type="http://schemas.openxmlformats.org/officeDocument/2006/relationships/chart" Target="../charts/chart24.xml"/><Relationship Id="rId5" Type="http://schemas.openxmlformats.org/officeDocument/2006/relationships/chart" Target="../charts/chart23.xml"/><Relationship Id="rId4" Type="http://schemas.openxmlformats.org/officeDocument/2006/relationships/chart" Target="../charts/chart2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27.xml"/><Relationship Id="rId4" Type="http://schemas.openxmlformats.org/officeDocument/2006/relationships/chart" Target="../charts/chart2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3.xml"/><Relationship Id="rId5" Type="http://schemas.openxmlformats.org/officeDocument/2006/relationships/chart" Target="../charts/chart30.xml"/><Relationship Id="rId4" Type="http://schemas.openxmlformats.org/officeDocument/2006/relationships/chart" Target="../charts/char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Portfolio Overview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28E9F-84B3-1417-B1C1-8497B0441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996AB135-5D98-6CB2-2236-27FA6BFF1DF8}"/>
              </a:ext>
            </a:extLst>
          </p:cNvPr>
          <p:cNvSpPr/>
          <p:nvPr/>
        </p:nvSpPr>
        <p:spPr>
          <a:xfrm>
            <a:off x="4454347" y="754749"/>
            <a:ext cx="7567201" cy="14065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6C2F1336-0E3A-77B1-7FED-5097E0B73E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06585796-F7AC-E22A-DAA4-BFADBBE1AED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1C30576-65F7-766C-094F-C9239AE17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8B9E1154-CDD8-EB91-949B-479B334BF67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207300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endParaRPr lang="en-GB" dirty="0"/>
          </a:p>
          <a:p>
            <a:r>
              <a:rPr lang="en-GB" dirty="0"/>
              <a:t>Portfolio trends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8221DC0E-2ACB-F130-731C-38C80934C0BA}"/>
              </a:ext>
            </a:extLst>
          </p:cNvPr>
          <p:cNvSpPr/>
          <p:nvPr/>
        </p:nvSpPr>
        <p:spPr>
          <a:xfrm>
            <a:off x="4467601" y="2720084"/>
            <a:ext cx="7567200" cy="17392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8A9620-EABF-7EE8-9AD9-DC016D1A3074}"/>
              </a:ext>
            </a:extLst>
          </p:cNvPr>
          <p:cNvGrpSpPr/>
          <p:nvPr/>
        </p:nvGrpSpPr>
        <p:grpSpPr>
          <a:xfrm>
            <a:off x="5682921" y="1563345"/>
            <a:ext cx="5119353" cy="332898"/>
            <a:chOff x="5682921" y="2898499"/>
            <a:chExt cx="5119353" cy="332898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96D49B4-3075-D523-A87B-34907DB1D635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" name="Rectangle 12">
              <a:extLst>
                <a:ext uri="{FF2B5EF4-FFF2-40B4-BE49-F238E27FC236}">
                  <a16:creationId xmlns:a16="http://schemas.microsoft.com/office/drawing/2014/main" id="{12943039-BE55-8114-7DAD-5D4EF8731FF6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B5A5871D-7343-4BC4-31A9-01F0CD087096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Objectives</a:t>
              </a:r>
            </a:p>
          </p:txBody>
        </p:sp>
        <p:sp>
          <p:nvSpPr>
            <p:cNvPr id="18" name="TextBox 18">
              <a:extLst>
                <a:ext uri="{FF2B5EF4-FFF2-40B4-BE49-F238E27FC236}">
                  <a16:creationId xmlns:a16="http://schemas.microsoft.com/office/drawing/2014/main" id="{2F51B979-8832-1084-DED6-F0BE94169ECE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Objective trends per capability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9905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graphicFrame>
        <p:nvGraphicFramePr>
          <p:cNvPr id="6" name="PROGRESS_STATUS_CHART">
            <a:extLst>
              <a:ext uri="{FF2B5EF4-FFF2-40B4-BE49-F238E27FC236}">
                <a16:creationId xmlns:a16="http://schemas.microsoft.com/office/drawing/2014/main" id="{9A17AFA3-FC96-B65B-0A6A-D4A1754157FE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CD0E6B1-41C3-CBAF-81A1-5291864E7E21}"/>
              </a:ext>
            </a:extLst>
          </p:cNvPr>
          <p:cNvSpPr txBox="1"/>
          <p:nvPr/>
        </p:nvSpPr>
        <p:spPr>
          <a:xfrm>
            <a:off x="3343684" y="392400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A08C5B-250B-FC47-1AD3-3C078984145A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FB63DDC-05A6-1327-D587-7F5756A583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FA7D2-16D5-A283-E5D3-02028E6C0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4002B0A-CA08-2984-487D-E204E843852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036A146-29BF-7CA2-2908-F2C86F33F1C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8EFB01E-7199-3087-1F83-52C1190C7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 over time</a:t>
            </a:r>
          </a:p>
        </p:txBody>
      </p:sp>
      <p:graphicFrame>
        <p:nvGraphicFramePr>
          <p:cNvPr id="6" name="PROGRESS_TIME_CHART">
            <a:extLst>
              <a:ext uri="{FF2B5EF4-FFF2-40B4-BE49-F238E27FC236}">
                <a16:creationId xmlns:a16="http://schemas.microsoft.com/office/drawing/2014/main" id="{52C16B72-396C-FACA-8BB0-F4504E8F3C3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FA1C5AF-9085-C111-CACA-05BD3DAB557A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7F3C6A-7DFB-53D1-2356-25E4D5CBC43A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1C39327-FCCB-9925-2C56-F0F2027873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33539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95A28-0797-82EC-8AAB-40E0AD48F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B67376D-DF88-6D74-9C9C-4F16D33E792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916084" cy="228145"/>
          </a:xfrm>
        </p:spPr>
        <p:txBody>
          <a:bodyPr/>
          <a:lstStyle/>
          <a:p>
            <a:r>
              <a:rPr lang="en-GB" dirty="0"/>
              <a:t>Objectives - Progress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458A9EA-AB86-5971-70BD-18746FED9BD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F4B936-22AE-53AE-D47F-598EDA21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graphicFrame>
        <p:nvGraphicFramePr>
          <p:cNvPr id="6" name="PROGRESS_CAPABILITY_CHART">
            <a:extLst>
              <a:ext uri="{FF2B5EF4-FFF2-40B4-BE49-F238E27FC236}">
                <a16:creationId xmlns:a16="http://schemas.microsoft.com/office/drawing/2014/main" id="{2774041C-71AE-0495-78BB-3253007E9E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56673381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64208DC-0422-1C0A-F36A-3E68057F3E5B}"/>
              </a:ext>
            </a:extLst>
          </p:cNvPr>
          <p:cNvSpPr txBox="1"/>
          <p:nvPr/>
        </p:nvSpPr>
        <p:spPr>
          <a:xfrm>
            <a:off x="3352012" y="5941071"/>
            <a:ext cx="5284288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Complete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Increased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Decreased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Incomplete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77E27A-346A-7209-76CD-BF5DB2681082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585CE50-769E-57F0-D096-7931858DD3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709089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99A0F-B83A-EBEB-A808-30AD19FF0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6DF103-9A84-4CFA-15FA-0BD904F9B38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47307F2D-FDB8-AC4C-ACFA-CDBAE3CD8F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1346EF3-CD28-FFA0-169F-DB5D8A0CD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Maintainability</a:t>
            </a:r>
          </a:p>
        </p:txBody>
      </p:sp>
      <p:graphicFrame>
        <p:nvGraphicFramePr>
          <p:cNvPr id="6" name="PROGRESS_MAINTAINABILITY_TIME_CHART">
            <a:extLst>
              <a:ext uri="{FF2B5EF4-FFF2-40B4-BE49-F238E27FC236}">
                <a16:creationId xmlns:a16="http://schemas.microsoft.com/office/drawing/2014/main" id="{6A5764CB-E5B1-083A-A3BC-4B4C31D364C6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CC9FF0-AB79-ABC8-F329-16AC81263C86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C2580F-B6CD-77C6-14B9-30EB83366C2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B48095F-3B8A-4132-2F2E-BF6B266DAB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406191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433548-AF8A-DB5D-1B63-77CE67683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742CA01-A950-E39F-CC0E-94DE74A9CAD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7A2343E-4E3B-DE64-59CA-4672A92430F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BF2716D-9FE8-0CD3-81E1-C55968C5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Progress towards objectives: Architecture</a:t>
            </a:r>
          </a:p>
        </p:txBody>
      </p:sp>
      <p:graphicFrame>
        <p:nvGraphicFramePr>
          <p:cNvPr id="6" name="PROGRESS_ARCHITECTURE_TIME_CHART">
            <a:extLst>
              <a:ext uri="{FF2B5EF4-FFF2-40B4-BE49-F238E27FC236}">
                <a16:creationId xmlns:a16="http://schemas.microsoft.com/office/drawing/2014/main" id="{7507C9AC-02D8-080E-E0DF-076B8886E4D4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271B99D-BF0F-6325-0317-FAF16C1BFC8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EC1496-868F-E561-71C3-7A9DC6833873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80BEA1B1-2A0E-D397-E556-362D0DB599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9542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DB560-0589-B274-3129-E2437CFA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29B3573-6428-0E36-04D1-823E45CA08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GB"/>
              <a:t>Objectives – Open Source Health</a:t>
            </a:r>
            <a:endParaRPr lang="en-GB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07EFD069-A5E8-28E5-C656-D9092244E0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8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90226-C387-AD0E-CB48-3AC0D6BA8C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Progress towards objectives: Open Source Health</a:t>
            </a:r>
            <a:endParaRPr lang="en-GB" dirty="0"/>
          </a:p>
        </p:txBody>
      </p:sp>
      <p:graphicFrame>
        <p:nvGraphicFramePr>
          <p:cNvPr id="6" name="PROGRESS_OSH_TIME_CHART">
            <a:extLst>
              <a:ext uri="{FF2B5EF4-FFF2-40B4-BE49-F238E27FC236}">
                <a16:creationId xmlns:a16="http://schemas.microsoft.com/office/drawing/2014/main" id="{CEFBE414-6C0F-D888-D92A-8F4B1578B1E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5F32ED1-229A-B9CF-7034-34B50F9DA34E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0B8231-088E-AD7D-64C5-DE763E94554E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85692CD9-4AE3-CDD3-1F88-18341671CC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67510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53B19-00F5-BFA0-C36C-ACEB0F916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033F2A3-DC2A-0CBF-4932-AEA088FF9D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7D7CB3C8-5FC1-63F4-9226-2151F828029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505556D-9CC2-9B0A-DDA8-9AF0AA5A6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>
            <a:normAutofit/>
          </a:bodyPr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BFDEE-B39F-2F33-8BE8-21E452A51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6" name="PROGRESS_SECURITY_TIME_CHART">
            <a:extLst>
              <a:ext uri="{FF2B5EF4-FFF2-40B4-BE49-F238E27FC236}">
                <a16:creationId xmlns:a16="http://schemas.microsoft.com/office/drawing/2014/main" id="{C6FA88CE-DDBE-C10D-7439-48AFDF8BC9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1605918"/>
              </p:ext>
            </p:extLst>
          </p:nvPr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6152522-5061-5A0D-7288-66E187FB7C31}"/>
              </a:ext>
            </a:extLst>
          </p:cNvPr>
          <p:cNvSpPr txBox="1"/>
          <p:nvPr/>
        </p:nvSpPr>
        <p:spPr>
          <a:xfrm>
            <a:off x="5277226" y="5921762"/>
            <a:ext cx="2345855" cy="35554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Objectives completed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C72B87-2D1E-D2F1-65AB-69BA6680A392}"/>
              </a:ext>
            </a:extLst>
          </p:cNvPr>
          <p:cNvSpPr txBox="1"/>
          <p:nvPr/>
        </p:nvSpPr>
        <p:spPr>
          <a:xfrm>
            <a:off x="470981" y="1293279"/>
            <a:ext cx="1938179" cy="291490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 (%)</a:t>
            </a:r>
          </a:p>
        </p:txBody>
      </p:sp>
    </p:spTree>
    <p:extLst>
      <p:ext uri="{BB962C8B-B14F-4D97-AF65-F5344CB8AC3E}">
        <p14:creationId xmlns:p14="http://schemas.microsoft.com/office/powerpoint/2010/main" val="13433655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C888B32-26A7-257B-DDDE-599EEC4CEC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747448" cy="228145"/>
          </a:xfrm>
        </p:spPr>
        <p:txBody>
          <a:bodyPr/>
          <a:lstStyle/>
          <a:p>
            <a:r>
              <a:rPr lang="en-GB" dirty="0"/>
              <a:t>Objectives – Status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773B6-825A-4167-35E1-B39EF2B9436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216A0FA-E540-B347-F0E6-078404ED9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FCD154-723A-2909-18F9-136A88A427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TATUS_CHART">
            <a:extLst>
              <a:ext uri="{FF2B5EF4-FFF2-40B4-BE49-F238E27FC236}">
                <a16:creationId xmlns:a16="http://schemas.microsoft.com/office/drawing/2014/main" id="{2EDB28D6-D893-2834-1452-760EA34FA080}"/>
              </a:ext>
            </a:extLst>
          </p:cNvPr>
          <p:cNvGraphicFramePr/>
          <p:nvPr/>
        </p:nvGraphicFramePr>
        <p:xfrm>
          <a:off x="478224" y="2116469"/>
          <a:ext cx="11267443" cy="145781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37CF6F7A-28F4-82F4-BD9F-05E947064F24}"/>
              </a:ext>
            </a:extLst>
          </p:cNvPr>
          <p:cNvSpPr txBox="1"/>
          <p:nvPr/>
        </p:nvSpPr>
        <p:spPr>
          <a:xfrm>
            <a:off x="2791143" y="394977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A64C5C-AD9F-1F4B-55E5-F3377812A35C}"/>
              </a:ext>
            </a:extLst>
          </p:cNvPr>
          <p:cNvSpPr txBox="1"/>
          <p:nvPr/>
        </p:nvSpPr>
        <p:spPr>
          <a:xfrm>
            <a:off x="681046" y="1888751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624414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B576D7E-6A52-4C14-1626-F436107D18C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578812" cy="228145"/>
          </a:xfrm>
        </p:spPr>
        <p:txBody>
          <a:bodyPr/>
          <a:lstStyle/>
          <a:p>
            <a:r>
              <a:rPr lang="en-GB" dirty="0"/>
              <a:t>Objectives – Team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DA563-94D2-2769-14DD-8932B8AF8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11CF856C-82D4-2AD8-52DB-B4AC65873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team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1C7CD8-F0E2-3AA8-5650-3D8DA4191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11" name="OBJECTIVES_TEAM_CHART">
            <a:extLst>
              <a:ext uri="{FF2B5EF4-FFF2-40B4-BE49-F238E27FC236}">
                <a16:creationId xmlns:a16="http://schemas.microsoft.com/office/drawing/2014/main" id="{90D37655-7D68-97A1-42BD-3EA9E53215FD}"/>
              </a:ext>
            </a:extLst>
          </p:cNvPr>
          <p:cNvGraphicFramePr/>
          <p:nvPr/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8D842B39-F206-50DB-DCE4-FBFE6B59063D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CFE085-67E8-695F-F564-B8C48BE4ECD4}"/>
              </a:ext>
            </a:extLst>
          </p:cNvPr>
          <p:cNvSpPr txBox="1"/>
          <p:nvPr/>
        </p:nvSpPr>
        <p:spPr>
          <a:xfrm>
            <a:off x="9508826" y="1325702"/>
            <a:ext cx="2023844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team’s systems</a:t>
            </a:r>
          </a:p>
        </p:txBody>
      </p:sp>
    </p:spTree>
    <p:extLst>
      <p:ext uri="{BB962C8B-B14F-4D97-AF65-F5344CB8AC3E}">
        <p14:creationId xmlns:p14="http://schemas.microsoft.com/office/powerpoint/2010/main" val="12503349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2E287AD-36A0-DD07-3A6C-318F5D2B12F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084720" cy="228145"/>
          </a:xfrm>
        </p:spPr>
        <p:txBody>
          <a:bodyPr/>
          <a:lstStyle/>
          <a:p>
            <a:r>
              <a:rPr lang="en-GB" dirty="0"/>
              <a:t>Objectives – Capability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CB7156-CCFF-605D-4D31-9506947FE0B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97C09E9-29E6-1EC3-4D1D-7D72EF930B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per capability between OBJECTIVES_PERIOD_START and OBJECTIVES_PERIOD_END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19CDB-F8BA-4683-92D5-E4255AE0D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CAPABILITY_CHART">
            <a:extLst>
              <a:ext uri="{FF2B5EF4-FFF2-40B4-BE49-F238E27FC236}">
                <a16:creationId xmlns:a16="http://schemas.microsoft.com/office/drawing/2014/main" id="{F7EC7942-12DF-47CD-7568-513CF44E5D1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671865"/>
              </p:ext>
            </p:extLst>
          </p:nvPr>
        </p:nvGraphicFramePr>
        <p:xfrm>
          <a:off x="478224" y="1507525"/>
          <a:ext cx="11267443" cy="43372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90E694A-649F-7E3D-3A63-6F6D6F81E40E}"/>
              </a:ext>
            </a:extLst>
          </p:cNvPr>
          <p:cNvSpPr txBox="1"/>
          <p:nvPr/>
        </p:nvSpPr>
        <p:spPr>
          <a:xfrm>
            <a:off x="2791143" y="5988637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E8EC1-BCA9-D803-2F62-A8F5EF7DDCDA}"/>
              </a:ext>
            </a:extLst>
          </p:cNvPr>
          <p:cNvSpPr txBox="1"/>
          <p:nvPr/>
        </p:nvSpPr>
        <p:spPr>
          <a:xfrm>
            <a:off x="9905465" y="1325702"/>
            <a:ext cx="1622453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96346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9481FAE-4A75-47A8-A91D-55F888E119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831765" cy="228145"/>
          </a:xfrm>
        </p:spPr>
        <p:txBody>
          <a:bodyPr/>
          <a:lstStyle/>
          <a:p>
            <a:r>
              <a:rPr lang="en-GB" dirty="0"/>
              <a:t>Objectives – Overall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CF516E-D9DE-46A4-39EC-49C4A7E4D71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068BC10-5510-3D83-FFE3-706AA2FBC6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 over time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6FB6BB-5502-6059-F44F-990FF73C4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VERALL_CHART">
            <a:extLst>
              <a:ext uri="{FF2B5EF4-FFF2-40B4-BE49-F238E27FC236}">
                <a16:creationId xmlns:a16="http://schemas.microsoft.com/office/drawing/2014/main" id="{717088A6-F703-E509-DF51-C3923B3A075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330F4B4-9201-428C-E53A-F1AEFD8E5616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F3D3893-DC86-A976-1AB5-AE31EF208FC8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13882327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51F31D-6F2E-DFE6-587E-A78BD8E8816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1916084" cy="228145"/>
          </a:xfrm>
        </p:spPr>
        <p:txBody>
          <a:bodyPr/>
          <a:lstStyle/>
          <a:p>
            <a:r>
              <a:rPr lang="en-GB" dirty="0"/>
              <a:t>Objectives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FE7E0D-EF19-08C9-4FF3-D4190366909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8977723-C726-4DFE-2330-B77DBE26A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Security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C895C3-ED96-7EAA-081E-E246ABA2B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SECURITY_CHART">
            <a:extLst>
              <a:ext uri="{FF2B5EF4-FFF2-40B4-BE49-F238E27FC236}">
                <a16:creationId xmlns:a16="http://schemas.microsoft.com/office/drawing/2014/main" id="{FE1E4419-38A2-FC5F-E723-8277D7239FCE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2DC61A-F9F3-987F-31AE-C332F7F54B24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C7B2F6-4CBE-9108-1F8E-D799C529DCCF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0064698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A2875A-8544-1533-7916-43BBF6E829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759263" cy="228145"/>
          </a:xfrm>
        </p:spPr>
        <p:txBody>
          <a:bodyPr/>
          <a:lstStyle/>
          <a:p>
            <a:r>
              <a:rPr lang="en-GB" dirty="0"/>
              <a:t>Objectives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29A5E5-D48A-3B03-A54D-B02E30DC03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0495C68-B12D-B774-99A2-0D8AD051F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Open Source Health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5FEB5E-6597-18A4-BEEB-888581F956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OSH_CHART">
            <a:extLst>
              <a:ext uri="{FF2B5EF4-FFF2-40B4-BE49-F238E27FC236}">
                <a16:creationId xmlns:a16="http://schemas.microsoft.com/office/drawing/2014/main" id="{0EBCAFE5-E641-00DD-A9BA-54DDF716F8A7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D2A8387-99CF-53E7-C02C-0F47937D058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9B4172-3DFC-6A98-8387-0A5860FF68EC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617045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B3FBCFC-165E-6074-D295-7213C886B06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506309" cy="228145"/>
          </a:xfrm>
        </p:spPr>
        <p:txBody>
          <a:bodyPr/>
          <a:lstStyle/>
          <a:p>
            <a:r>
              <a:rPr lang="en-GB" dirty="0"/>
              <a:t>Objectives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22AA93-DDC2-222A-347A-F3D1A30F09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21FF725-8BE2-FFE6-09CA-89427E9C30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Maintainability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DB2143-4E69-C9AB-EF61-72293A1BC1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MAINTAINABILITY_CHART">
            <a:extLst>
              <a:ext uri="{FF2B5EF4-FFF2-40B4-BE49-F238E27FC236}">
                <a16:creationId xmlns:a16="http://schemas.microsoft.com/office/drawing/2014/main" id="{B1D17370-4289-2EDA-3CF4-CDE176E45E7F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5D94812-AFF9-6320-FC55-9DFAD9E49F53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F85A181-CE4E-BF8F-1749-76DA5E7EB5F5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386941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37335B8-EE82-608B-22C4-A627436D36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253356" cy="228145"/>
          </a:xfrm>
        </p:spPr>
        <p:txBody>
          <a:bodyPr/>
          <a:lstStyle/>
          <a:p>
            <a:r>
              <a:rPr lang="en-GB" dirty="0"/>
              <a:t>Objectives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1A783F-27CE-A200-297F-D46B148F653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6D9A223-DF60-A573-9531-80EE0F5E6D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Progress towards objectives: Architecture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9E40D1-0E68-7E25-1B05-ACD30948CC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OBJECTIVES_ARCHITECTURE_CHART">
            <a:extLst>
              <a:ext uri="{FF2B5EF4-FFF2-40B4-BE49-F238E27FC236}">
                <a16:creationId xmlns:a16="http://schemas.microsoft.com/office/drawing/2014/main" id="{160E225E-2E69-5802-F5E6-34A8D5119A38}"/>
              </a:ext>
            </a:extLst>
          </p:cNvPr>
          <p:cNvGraphicFramePr/>
          <p:nvPr/>
        </p:nvGraphicFramePr>
        <p:xfrm>
          <a:off x="478224" y="1606666"/>
          <a:ext cx="11267443" cy="42360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0CE47C19-C293-E59B-609F-8B720AE9857C}"/>
              </a:ext>
            </a:extLst>
          </p:cNvPr>
          <p:cNvSpPr txBox="1"/>
          <p:nvPr/>
        </p:nvSpPr>
        <p:spPr>
          <a:xfrm>
            <a:off x="2791143" y="6026120"/>
            <a:ext cx="6609715" cy="353558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1600" dirty="0">
                <a:solidFill>
                  <a:srgbClr val="0066F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Objective met    </a:t>
            </a:r>
            <a:r>
              <a:rPr lang="en-GB" sz="1600" dirty="0">
                <a:solidFill>
                  <a:srgbClr val="67E77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Improved    </a:t>
            </a:r>
            <a:r>
              <a:rPr lang="en-GB" sz="1600" dirty="0">
                <a:solidFill>
                  <a:srgbClr val="BFC4CF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Unchanged    </a:t>
            </a:r>
            <a:r>
              <a:rPr lang="en-GB" sz="1600" dirty="0">
                <a:solidFill>
                  <a:srgbClr val="F0624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Worsened    </a:t>
            </a:r>
            <a:r>
              <a:rPr lang="en-GB" sz="1600" dirty="0">
                <a:solidFill>
                  <a:schemeClr val="bg1"/>
                </a:solidFill>
              </a:rPr>
              <a:t>⬤</a:t>
            </a:r>
            <a:r>
              <a:rPr lang="en-GB" sz="1600" dirty="0">
                <a:solidFill>
                  <a:schemeClr val="tx2"/>
                </a:solidFill>
              </a:rPr>
              <a:t> Unknown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F4C6F2-6589-ECFC-76DC-423AFBC2B33A}"/>
              </a:ext>
            </a:extLst>
          </p:cNvPr>
          <p:cNvSpPr txBox="1"/>
          <p:nvPr/>
        </p:nvSpPr>
        <p:spPr>
          <a:xfrm>
            <a:off x="470981" y="1293279"/>
            <a:ext cx="1622452" cy="289503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1200" dirty="0">
                <a:solidFill>
                  <a:schemeClr val="tx2"/>
                </a:solidFill>
              </a:rPr>
              <a:t>Percentage of portfolio</a:t>
            </a:r>
          </a:p>
        </p:txBody>
      </p:sp>
    </p:spTree>
    <p:extLst>
      <p:ext uri="{BB962C8B-B14F-4D97-AF65-F5344CB8AC3E}">
        <p14:creationId xmlns:p14="http://schemas.microsoft.com/office/powerpoint/2010/main" val="35434294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fgeronde rechthoek 33">
            <a:extLst>
              <a:ext uri="{FF2B5EF4-FFF2-40B4-BE49-F238E27FC236}">
                <a16:creationId xmlns:a16="http://schemas.microsoft.com/office/drawing/2014/main" id="{5C67D71A-21D5-7B62-C401-C5338679DFE0}"/>
              </a:ext>
            </a:extLst>
          </p:cNvPr>
          <p:cNvSpPr/>
          <p:nvPr/>
        </p:nvSpPr>
        <p:spPr>
          <a:xfrm>
            <a:off x="4454347" y="1406584"/>
            <a:ext cx="7567201" cy="2033330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GB" dirty="0">
              <a:solidFill>
                <a:schemeClr val="tx2"/>
              </a:solidFill>
              <a:latin typeface="Noir Pro Medium" pitchFamily="2" charset="0"/>
            </a:endParaRP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B159244B-2E65-D403-B5EA-9ABB5CA8CB9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392751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727C3B66-2BB8-6651-49B3-C22404EF56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D7D0FD1C-DD8F-FA69-E8D5-51EBF8A00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B8640D79-73F3-DDBF-46E3-A770D0CE4F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7999"/>
            <a:ext cx="7092000" cy="2734727"/>
          </a:xfrm>
        </p:spPr>
        <p:txBody>
          <a:bodyPr/>
          <a:lstStyle/>
          <a:p>
            <a:r>
              <a:rPr lang="en-GB" dirty="0"/>
              <a:t>Objectives</a:t>
            </a:r>
          </a:p>
          <a:p>
            <a:r>
              <a:rPr lang="en-GB" dirty="0"/>
              <a:t>Portfolio trends</a:t>
            </a:r>
          </a:p>
          <a:p>
            <a:endParaRPr lang="en-GB" dirty="0"/>
          </a:p>
          <a:p>
            <a:endParaRPr lang="en-GB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64DC9F-CC1F-F90B-BAEE-7FE68259B0A0}"/>
              </a:ext>
            </a:extLst>
          </p:cNvPr>
          <p:cNvGrpSpPr/>
          <p:nvPr/>
        </p:nvGrpSpPr>
        <p:grpSpPr>
          <a:xfrm>
            <a:off x="5678270" y="2777977"/>
            <a:ext cx="2396827" cy="332897"/>
            <a:chOff x="5682921" y="2898500"/>
            <a:chExt cx="2396827" cy="332897"/>
          </a:xfrm>
        </p:grpSpPr>
        <p:sp>
          <p:nvSpPr>
            <p:cNvPr id="14" name="Rectangle 5">
              <a:extLst>
                <a:ext uri="{FF2B5EF4-FFF2-40B4-BE49-F238E27FC236}">
                  <a16:creationId xmlns:a16="http://schemas.microsoft.com/office/drawing/2014/main" id="{164776AD-70C4-808F-74DD-3C14795FF549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26E313BE-4539-951D-39B6-8270E8E286F4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Security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3AEFF71-AFAA-2A9B-1B52-69C00DF203AA}"/>
              </a:ext>
            </a:extLst>
          </p:cNvPr>
          <p:cNvGrpSpPr/>
          <p:nvPr/>
        </p:nvGrpSpPr>
        <p:grpSpPr>
          <a:xfrm>
            <a:off x="5682921" y="2128093"/>
            <a:ext cx="5119353" cy="332898"/>
            <a:chOff x="5682921" y="2898499"/>
            <a:chExt cx="5119353" cy="332898"/>
          </a:xfrm>
        </p:grpSpPr>
        <p:sp>
          <p:nvSpPr>
            <p:cNvPr id="33" name="Rectangle 5">
              <a:extLst>
                <a:ext uri="{FF2B5EF4-FFF2-40B4-BE49-F238E27FC236}">
                  <a16:creationId xmlns:a16="http://schemas.microsoft.com/office/drawing/2014/main" id="{CF5648A5-989D-607F-8E33-BE663B334A22}"/>
                </a:ext>
              </a:extLst>
            </p:cNvPr>
            <p:cNvSpPr/>
            <p:nvPr/>
          </p:nvSpPr>
          <p:spPr>
            <a:xfrm>
              <a:off x="5682921" y="289850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34" name="Rectangle 12">
              <a:extLst>
                <a:ext uri="{FF2B5EF4-FFF2-40B4-BE49-F238E27FC236}">
                  <a16:creationId xmlns:a16="http://schemas.microsoft.com/office/drawing/2014/main" id="{6199A04C-EC60-FB43-DB8D-97CCBCA311F4}"/>
                </a:ext>
              </a:extLst>
            </p:cNvPr>
            <p:cNvSpPr/>
            <p:nvPr/>
          </p:nvSpPr>
          <p:spPr>
            <a:xfrm>
              <a:off x="7940516" y="2898499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GB" sz="16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35" name="TextBox 6">
              <a:extLst>
                <a:ext uri="{FF2B5EF4-FFF2-40B4-BE49-F238E27FC236}">
                  <a16:creationId xmlns:a16="http://schemas.microsoft.com/office/drawing/2014/main" id="{277D7F99-1C55-864A-511F-89B598866BE7}"/>
                </a:ext>
              </a:extLst>
            </p:cNvPr>
            <p:cNvSpPr txBox="1"/>
            <p:nvPr/>
          </p:nvSpPr>
          <p:spPr>
            <a:xfrm>
              <a:off x="6108764" y="290912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36" name="TextBox 18">
              <a:extLst>
                <a:ext uri="{FF2B5EF4-FFF2-40B4-BE49-F238E27FC236}">
                  <a16:creationId xmlns:a16="http://schemas.microsoft.com/office/drawing/2014/main" id="{E7FB80B6-7D6D-E1C4-A31F-209945D62AC9}"/>
                </a:ext>
              </a:extLst>
            </p:cNvPr>
            <p:cNvSpPr txBox="1"/>
            <p:nvPr/>
          </p:nvSpPr>
          <p:spPr>
            <a:xfrm>
              <a:off x="8364857" y="2909129"/>
              <a:ext cx="243741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GB" sz="140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36048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19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6C63DE-00A7-4FC0-4AEC-0B46C34CB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4800F3-3D18-CF63-16D4-96CA78393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14AA8-0AD7-EDFF-9986-B230DB557AA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F1BFF63-C4B5-7AB9-E5D9-E74391AFD97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D9EB6A-8DF6-69EE-B118-CBF9A8558A5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AFF12C5-E73A-8501-2BCE-9BD95E2EC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Lifecycle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956AE0-666A-B966-0B15-61A5E6C88F75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B9C8604-49B1-C79B-52E3-E11913D097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044EBA72-3AF3-C450-92C3-70B42255A7A7}"/>
              </a:ext>
            </a:extLst>
          </p:cNvPr>
          <p:cNvSpPr txBox="1"/>
          <p:nvPr/>
        </p:nvSpPr>
        <p:spPr>
          <a:xfrm>
            <a:off x="2643466" y="6054740"/>
            <a:ext cx="1520116" cy="22512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Lifecycle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6849045C-A3DB-D503-5F61-D4753A6B2ED2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5624AC01-AE32-E25C-2E9D-D62F1A546D5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E528D542-C236-FC7F-A86B-58E301E03F2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C8A81E2-505A-2686-805D-D50F2ED4D58F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B6DC148D-262C-83BE-A7DB-4CEECDA9841D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3216D68-D9B6-5F6A-FBB5-3659B7899EE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C52AC4-11B0-1D06-863D-8E95DF4FAEE5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FCAE05B-9910-83DD-05A3-9ED3538CAB1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B02E6CFD-57D4-174C-07D0-383B813F680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F26E1917-406F-73B3-C93D-1D8325F31D6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67C8CEE-6BFB-AD76-8318-6426CA6A5C12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8290A5E7-04EA-1335-3D95-D2A8C4CF3F1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9C1BB1CA-50D6-5754-E886-56DDDB6B630E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AAE7018-A3D7-FF0D-2550-A7320B145E2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CDBAC6E5-512A-CB63-DCC5-44139D7EAC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865897F-56E3-D0DA-D709-1ABB8A25DE1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BD4EC-E668-DDBB-C898-CDC11794C48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2" name="Footer Placeholder 3">
            <a:extLst>
              <a:ext uri="{FF2B5EF4-FFF2-40B4-BE49-F238E27FC236}">
                <a16:creationId xmlns:a16="http://schemas.microsoft.com/office/drawing/2014/main" id="{C707EC47-51B6-60D2-5D25-8146CD4204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2323457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9E1A0-F677-7ABE-9F7B-0B74434D5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E9586-B72E-67FD-21F0-E86559BC657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678337E4-C7B3-967F-A5FA-450CDEAD96F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C5351A-A8A1-C0E9-116D-C791E57414D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21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2DB2541-F26E-1A45-8C1C-10C58277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Deployment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DBC813-1EFC-AA71-9CF7-12E30412E01E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2C797B5-3356-1576-4F18-BFFC41D8A5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D358172D-32D9-F7C1-D993-4B31C910BDC4}"/>
              </a:ext>
            </a:extLst>
          </p:cNvPr>
          <p:cNvSpPr txBox="1"/>
          <p:nvPr/>
        </p:nvSpPr>
        <p:spPr>
          <a:xfrm>
            <a:off x="2643466" y="6054740"/>
            <a:ext cx="179423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Deployment Type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94076F7-E0CB-4844-36A0-D8ADEDF46A51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06BDAFEE-BD87-364A-427B-1ADAFE9D2FD2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7A5818A4-3349-D5D3-42AF-155A2D3964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CC7B01C-4916-26E1-BEC3-B97CA46AC676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715FDF0-0DD1-688E-2C19-BE57D0DA2F90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AF55BD8D-BD79-0350-2FF6-1D572839C3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2A0D7B8-8D00-392D-59FD-31D01E88F3E8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F2AE4D71-1C4A-A29C-0135-FB7FC88EE56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E8395B98-85FF-EEBA-96FB-A7FD105389A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AE17E4DA-2C3C-2AE2-3363-D2D775759D3D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1EF211C-C030-38AE-15E4-BA37EEBA212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4618CD8B-F77F-7B94-7099-D2A6E08715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887D693-398F-725A-9E0E-7CE3C9CEBF7F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3A213B5F-642D-ACFE-8DAA-017FB6B32DF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5212BCE3-BB24-D5A2-9072-32AB9DC116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D4CC371E-7328-F7F7-E9E1-4858B90AD402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56A5C-934D-E3B5-596C-448BF20A39E1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0FD24B40-8A09-8BE1-DFEB-86A20ADCB9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5909019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90F2-097E-682B-E154-B7F5F68A6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A01EA-8BF6-6C6E-C2EA-026E3BA52E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012217" cy="228145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1A6A741-490B-4D85-EDEC-A2D787FD2B6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51532D-92C0-31A1-1473-96C62B00C1E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22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D82FDEF-4FFE-5D1A-E5F7-E673D396C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400" dirty="0"/>
              <a:t>Maintainability Grouped by Business Criticality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8214E2-3C43-8276-BC3B-196FE252F2B4}"/>
              </a:ext>
            </a:extLst>
          </p:cNvPr>
          <p:cNvSpPr/>
          <p:nvPr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A6D6577-B13F-B6A8-C50E-B924340478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74536" y="6071736"/>
            <a:ext cx="371130" cy="206558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ACC91BC5-C6A3-5E77-246D-36FE2F685E7F}"/>
              </a:ext>
            </a:extLst>
          </p:cNvPr>
          <p:cNvSpPr txBox="1"/>
          <p:nvPr/>
        </p:nvSpPr>
        <p:spPr>
          <a:xfrm>
            <a:off x="2643466" y="6054740"/>
            <a:ext cx="1864762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800" dirty="0">
                <a:solidFill>
                  <a:schemeClr val="tx2"/>
                </a:solidFill>
              </a:rPr>
              <a:t>Systems grouped by </a:t>
            </a:r>
            <a:r>
              <a:rPr lang="en-US" sz="800" b="1" dirty="0">
                <a:solidFill>
                  <a:schemeClr val="tx2"/>
                </a:solidFill>
              </a:rPr>
              <a:t>Business Criticality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5C38E846-65C7-5F8A-02D3-5E9652F1F70D}"/>
              </a:ext>
            </a:extLst>
          </p:cNvPr>
          <p:cNvGrpSpPr/>
          <p:nvPr/>
        </p:nvGrpSpPr>
        <p:grpSpPr>
          <a:xfrm>
            <a:off x="516802" y="6117354"/>
            <a:ext cx="300732" cy="98617"/>
            <a:chOff x="586253" y="6116391"/>
            <a:chExt cx="300732" cy="98617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446B051-EB92-D2E7-6D04-74636614C2A9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99D95B88-8CC0-573A-6535-1AF23E138BB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CBCBF650-7B39-402A-827B-0981957A785C}"/>
              </a:ext>
            </a:extLst>
          </p:cNvPr>
          <p:cNvGrpSpPr/>
          <p:nvPr/>
        </p:nvGrpSpPr>
        <p:grpSpPr>
          <a:xfrm>
            <a:off x="934179" y="6117354"/>
            <a:ext cx="331190" cy="98617"/>
            <a:chOff x="961765" y="6117353"/>
            <a:chExt cx="331190" cy="98617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00EB7BA-5DEA-3F0D-197E-72B2F548A843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99B21F0D-B748-B211-AE94-D684974C743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F94FE93-43F4-84F8-E7F2-D0A5E5B08F99}"/>
              </a:ext>
            </a:extLst>
          </p:cNvPr>
          <p:cNvGrpSpPr/>
          <p:nvPr/>
        </p:nvGrpSpPr>
        <p:grpSpPr>
          <a:xfrm>
            <a:off x="1382015" y="6117354"/>
            <a:ext cx="331190" cy="98617"/>
            <a:chOff x="1114165" y="6269753"/>
            <a:chExt cx="331190" cy="98617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36C1F78-BC5D-CEC8-ED18-7E9E38E2B3F0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67" name="Rounded Rectangle 66">
              <a:extLst>
                <a:ext uri="{FF2B5EF4-FFF2-40B4-BE49-F238E27FC236}">
                  <a16:creationId xmlns:a16="http://schemas.microsoft.com/office/drawing/2014/main" id="{A4081921-0E01-5FE7-D962-38E98F27E6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DD3B032-3BEE-87E0-6573-8C81BBB66BA1}"/>
              </a:ext>
            </a:extLst>
          </p:cNvPr>
          <p:cNvGrpSpPr/>
          <p:nvPr/>
        </p:nvGrpSpPr>
        <p:grpSpPr>
          <a:xfrm>
            <a:off x="1829851" y="6117354"/>
            <a:ext cx="331190" cy="98617"/>
            <a:chOff x="1114165" y="6269753"/>
            <a:chExt cx="331190" cy="98617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4B3E38A-DFD6-B7C0-F31B-4A4BF82291B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CE0EE23E-F45B-7E9B-0DB6-9538874186C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729FE5C-29C5-D102-FDA1-A0608E280B55}"/>
              </a:ext>
            </a:extLst>
          </p:cNvPr>
          <p:cNvGrpSpPr/>
          <p:nvPr/>
        </p:nvGrpSpPr>
        <p:grpSpPr>
          <a:xfrm>
            <a:off x="2277686" y="6117354"/>
            <a:ext cx="331190" cy="98617"/>
            <a:chOff x="1114165" y="6269753"/>
            <a:chExt cx="331190" cy="98617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C0EF10E4-21F6-AF24-DEE6-649B26F77B1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73" name="Rounded Rectangle 72">
              <a:extLst>
                <a:ext uri="{FF2B5EF4-FFF2-40B4-BE49-F238E27FC236}">
                  <a16:creationId xmlns:a16="http://schemas.microsoft.com/office/drawing/2014/main" id="{DE93FE0A-13E1-4209-1411-4A41EBD2C8F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A79886F-F6FA-7F5B-8560-B0BE0161E43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600" dirty="0">
                <a:solidFill>
                  <a:schemeClr val="bg1"/>
                </a:solidFill>
              </a:rPr>
              <a:t>PORTFOLIO_PERIOD_MAINTAINABILITY_GROUPED_BY_BUSINESS_CRITICALITY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B8FE69-CB4F-3856-7D00-A94F1E209BB2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nl-NL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10" name="Footer Placeholder 3">
            <a:extLst>
              <a:ext uri="{FF2B5EF4-FFF2-40B4-BE49-F238E27FC236}">
                <a16:creationId xmlns:a16="http://schemas.microsoft.com/office/drawing/2014/main" id="{8DC9DB02-3011-E249-D943-BF8E867E7B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656557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12217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23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5275" y="6407677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A4222FB8-7B13-BCD6-F6A0-91FE5654FB8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771079" cy="228209"/>
          </a:xfrm>
        </p:spPr>
        <p:txBody>
          <a:bodyPr/>
          <a:lstStyle/>
          <a:p>
            <a:r>
              <a:rPr lang="en-GB"/>
              <a:t>Portfolio trends – Maintainability – Change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PORTFOLIO_PERIOD_MAINT_CHANGE_SHORT_SUMMARY</a:t>
            </a:r>
            <a:endParaRPr lang="en-GB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PORTFOLIO_MAINT_INCREASED% of systems has seen an increase in maintainability. PORTFOLIO_MAINT_STABLE% of systems has remained stable. PORTFOLIO_MAINT_DECREASED%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PORTFOLIO_MAINT_BIGGEST_CHANGES</a:t>
            </a:r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37E637B-F307-DB1A-A51A-12A2262AEFC9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PORTFOLIO_PERIOD_MAINTAINABILITY_DELTA_QUALITY_NEW_CODE_GROUPED_BY</a:t>
            </a:r>
            <a:r>
              <a:rPr lang="en-GB" sz="1600">
                <a:solidFill>
                  <a:schemeClr val="bg1"/>
                </a:solidFill>
              </a:rPr>
              <a:t>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newly written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PORTFOLIO_NEW_CODE_BIGGEST_CHANGES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CD3CD12-8F31-5FC5-9D7A-C77F8DB8A480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PORTFOLIO_PERIOD_MAINTAINABILITY_DELTA_QUALITY_CHANGED_CODE_GROUPED_BY_TEAM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361304" cy="228209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Maintainability ratings of changed code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 61">
            <a:extLst>
              <a:ext uri="{FF2B5EF4-FFF2-40B4-BE49-F238E27FC236}">
                <a16:creationId xmlns:a16="http://schemas.microsoft.com/office/drawing/2014/main" id="{72E9D2A6-2917-A151-9F95-9B69A0D029E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PORTFOLIO_PERIOD_VOLUME_CHANGE_GROUPED_BY_TEAM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446C1F-5778-E596-B40D-BC39A302905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843581" cy="228209"/>
          </a:xfrm>
        </p:spPr>
        <p:txBody>
          <a:bodyPr/>
          <a:lstStyle/>
          <a:p>
            <a:r>
              <a:rPr lang="en-GB" dirty="0"/>
              <a:t>Portfolio trends – Volume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B6CC33-85BB-6686-87C3-6E2C1EC480A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8D237797-15BA-3A3C-A5DB-CEBB6BFC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volume (effort) of the portfolio between PORTFOLIO_PERIOD_START_DATE and PORTFOLIO_PERIOD_END_DATE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E591A62A-783F-7AF6-89B3-FD236EF5EA4F}"/>
              </a:ext>
            </a:extLst>
          </p:cNvPr>
          <p:cNvGrpSpPr/>
          <p:nvPr/>
        </p:nvGrpSpPr>
        <p:grpSpPr>
          <a:xfrm>
            <a:off x="626780" y="5849109"/>
            <a:ext cx="2760731" cy="223844"/>
            <a:chOff x="512064" y="6054740"/>
            <a:chExt cx="2760731" cy="22384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EF34C57-170D-5311-7541-AFD3500F5E86}"/>
                </a:ext>
              </a:extLst>
            </p:cNvPr>
            <p:cNvSpPr txBox="1"/>
            <p:nvPr/>
          </p:nvSpPr>
          <p:spPr>
            <a:xfrm>
              <a:off x="1996335" y="6054740"/>
              <a:ext cx="127646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dirty="0">
                  <a:solidFill>
                    <a:schemeClr val="tx2"/>
                  </a:solidFill>
                </a:rPr>
                <a:t>Systems grouped by </a:t>
              </a:r>
              <a:r>
                <a:rPr lang="en-GB" sz="800" b="1" dirty="0">
                  <a:solidFill>
                    <a:schemeClr val="tx2"/>
                  </a:solidFill>
                </a:rPr>
                <a:t>Team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89EF8ADA-DE01-AA30-2028-ED49BE436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79122" y="6118505"/>
              <a:ext cx="91440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E10D5863-7369-49C4-1B54-EEA04955FF1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8992" y="6118505"/>
              <a:ext cx="91440" cy="91440"/>
            </a:xfrm>
            <a:prstGeom prst="roundRect">
              <a:avLst/>
            </a:prstGeom>
            <a:solidFill>
              <a:srgbClr val="EFE6D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D52AC297-2CB7-56A7-5F80-FC2404D96FC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98862" y="6118505"/>
              <a:ext cx="91440" cy="91440"/>
            </a:xfrm>
            <a:prstGeom prst="roundRect">
              <a:avLst/>
            </a:prstGeom>
            <a:solidFill>
              <a:srgbClr val="F7F9F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E88086E6-082A-B2A9-7D0B-B77386A1B5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58732" y="6118505"/>
              <a:ext cx="91440" cy="91440"/>
            </a:xfrm>
            <a:prstGeom prst="roundRect">
              <a:avLst/>
            </a:prstGeom>
            <a:solidFill>
              <a:srgbClr val="D8E9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A065D0B-30E5-B7B4-A9AE-146C6FBBB3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18602" y="6118505"/>
              <a:ext cx="91440" cy="91440"/>
            </a:xfrm>
            <a:prstGeom prst="roundRect">
              <a:avLst/>
            </a:prstGeom>
            <a:solidFill>
              <a:srgbClr val="58B8C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2295768-BD04-4C08-1C9F-E6A857D50707}"/>
                </a:ext>
              </a:extLst>
            </p:cNvPr>
            <p:cNvSpPr txBox="1"/>
            <p:nvPr/>
          </p:nvSpPr>
          <p:spPr>
            <a:xfrm>
              <a:off x="1678471" y="6054740"/>
              <a:ext cx="341910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+PY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C6564EB-114B-305E-F2F4-C36CA3CBD1C9}"/>
                </a:ext>
              </a:extLst>
            </p:cNvPr>
            <p:cNvSpPr txBox="1"/>
            <p:nvPr/>
          </p:nvSpPr>
          <p:spPr>
            <a:xfrm>
              <a:off x="512064" y="6054740"/>
              <a:ext cx="322674" cy="223844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800" b="1" dirty="0">
                  <a:solidFill>
                    <a:schemeClr val="tx2"/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-PY</a:t>
              </a:r>
            </a:p>
          </p:txBody>
        </p:sp>
      </p:grpSp>
      <p:pic>
        <p:nvPicPr>
          <p:cNvPr id="55" name="Graphic 54">
            <a:extLst>
              <a:ext uri="{FF2B5EF4-FFF2-40B4-BE49-F238E27FC236}">
                <a16:creationId xmlns:a16="http://schemas.microsoft.com/office/drawing/2014/main" id="{29A432BB-A903-CCB9-4E0F-E5A85232B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57" name="Content Placeholder 2">
            <a:extLst>
              <a:ext uri="{FF2B5EF4-FFF2-40B4-BE49-F238E27FC236}">
                <a16:creationId xmlns:a16="http://schemas.microsoft.com/office/drawing/2014/main" id="{F494787E-2446-5685-907F-157921FE4F1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noProof="0" dirty="0"/>
              <a:t>The portfolio has seen an overall PORTFOLIO_RELATIVE_VOLUME_CHANGE in volume of PORTFOLIO_VOLUME_CHANGE.</a:t>
            </a:r>
          </a:p>
          <a:p>
            <a:pPr indent="-283845"/>
            <a:r>
              <a:rPr lang="en-GB" dirty="0">
                <a:ea typeface="Calibri"/>
                <a:cs typeface="Calibri"/>
              </a:rPr>
              <a:t>The system PORTFOLIO_SYSTEM_BIGGEST_VOLUME_CHANGE has seen the biggest change with PORTFOLIO_RELATIVE_BIGGEST_VOLUME_CHANGE of PORTFOLIO_SYSTEM_PM_BIGGEST_VOLUME_CHANGE.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AD4A10E2-A9D0-9CB8-4A20-12E583F531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249786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F4FC4-92FA-133B-51E6-15AF607B4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4AAAF0DF-523F-2152-BE91-E690F0C16A36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DA83DCD-7C70-900D-43B4-CE96EF7B7F6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A13365-7513-F41E-A229-F5E5011630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213AD90-B853-FCBB-8AD0-E3ECB7441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2D8A7E-FC89-374D-3928-733975E07F2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F318A3D-4B01-E38F-0096-41FFF1B28944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B1B111F-FBB9-EA13-F251-F40E05265B0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D12FC3-B3EE-A681-5D2C-4218A1C308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FB8AA5-C615-8F28-1025-70C65A980764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7C06F8-9044-79E7-C86A-2D8041876F85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887F516-DD39-62A6-32D1-0B63742650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CD6264C-A1FC-6A59-5FF0-B02177854F9D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7767932-53B3-03DB-2C57-283ECA8F4412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DB5BF329-CA8A-DA0E-3BAF-54E5770234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039F19E-79AC-7455-2D15-72A0F595FFC9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60A24F1-37A5-9F07-855B-7E46A52C102C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15CD8E8A-19FB-CC94-9D8A-28911D7068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23AD9C7-8D68-456A-B040-0C3083E160F6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D2D40F-86C4-A805-5564-B535E1BDEA4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7001D75D-95FB-3C51-F392-A5E177860A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A5EBD51A-EAC9-1AE9-F142-54EBB16F3D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5EE8E18-8776-00A3-9C94-97989DFBACF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PORTFOLIO_TEST_CODE_LOW</a:t>
            </a:r>
            <a:r>
              <a:rPr lang="en-GB" sz="1550" noProof="0" dirty="0"/>
              <a:t>% systems have a test code ratio of &lt; 50%.</a:t>
            </a:r>
          </a:p>
          <a:p>
            <a:pPr indent="-283845"/>
            <a:r>
              <a:rPr lang="en-GB" sz="1550" dirty="0"/>
              <a:t>PORTFOLIO_TEST_CODE_MEDIUM</a:t>
            </a:r>
            <a:r>
              <a:rPr lang="en-GB" sz="1550" dirty="0">
                <a:ea typeface="Calibri"/>
                <a:cs typeface="Calibri"/>
              </a:rPr>
              <a:t>% of systems have a test code ratio between 50% and 100%.</a:t>
            </a:r>
          </a:p>
          <a:p>
            <a:pPr indent="-283845"/>
            <a:r>
              <a:rPr lang="en-GB" sz="1550" dirty="0"/>
              <a:t>PORTFOLIO_TEST_CODE_HIGH</a:t>
            </a:r>
            <a:r>
              <a:rPr lang="en-GB" sz="1550" dirty="0">
                <a:ea typeface="Calibri"/>
                <a:cs typeface="Calibri"/>
              </a:rPr>
              <a:t>% of systems have a test code ratio ≥ 100%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61DD779-D29F-E00A-9C65-A4D9D7C38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97646489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75625-8644-5854-9F83-9F36AE8F2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0D1B57E1-1F1B-29BE-06AF-F1CBB4D6EF18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PORTFOLIO_PERIOD_TEST_CODE_GROUPED_BY_MAIN_TECHNOLOGY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5E6CB4A-7E0E-E565-486A-5DB654A87C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192668" cy="228209"/>
          </a:xfrm>
        </p:spPr>
        <p:txBody>
          <a:bodyPr/>
          <a:lstStyle/>
          <a:p>
            <a:r>
              <a:rPr lang="en-GB" dirty="0"/>
              <a:t>Portfolio trends – Test-to-production code ratio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E8C8F1-CE1A-46D3-0BA6-F889B9D1B87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29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06968ED-9E83-A49E-5E87-63A71987D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Test Code Ratio Grouped by Main Technology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2787F7-4923-A6F4-B8BC-AA0B6841CDE7}"/>
              </a:ext>
            </a:extLst>
          </p:cNvPr>
          <p:cNvSpPr txBox="1"/>
          <p:nvPr/>
        </p:nvSpPr>
        <p:spPr>
          <a:xfrm>
            <a:off x="3082464" y="5845729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2862765-40D5-7D45-7AF4-0F626CE7E743}"/>
              </a:ext>
            </a:extLst>
          </p:cNvPr>
          <p:cNvGrpSpPr/>
          <p:nvPr/>
        </p:nvGrpSpPr>
        <p:grpSpPr>
          <a:xfrm>
            <a:off x="694948" y="5908343"/>
            <a:ext cx="273482" cy="98617"/>
            <a:chOff x="586253" y="6116391"/>
            <a:chExt cx="273482" cy="98617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98EE12-DD3C-4AC5-B45F-1D9DA346C37A}"/>
                </a:ext>
              </a:extLst>
            </p:cNvPr>
            <p:cNvSpPr txBox="1"/>
            <p:nvPr/>
          </p:nvSpPr>
          <p:spPr>
            <a:xfrm>
              <a:off x="710655" y="6116391"/>
              <a:ext cx="14908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≤ 1%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8AD473E-3942-6E49-1FCD-CC05DD97AE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877F80-D83B-8F9D-1D82-98CDA0657127}"/>
              </a:ext>
            </a:extLst>
          </p:cNvPr>
          <p:cNvGrpSpPr/>
          <p:nvPr/>
        </p:nvGrpSpPr>
        <p:grpSpPr>
          <a:xfrm>
            <a:off x="1060651" y="5908343"/>
            <a:ext cx="408134" cy="98617"/>
            <a:chOff x="961765" y="6117353"/>
            <a:chExt cx="408134" cy="9861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0E3BEF7-84EA-7653-3F08-34BC61CCC3C9}"/>
                </a:ext>
              </a:extLst>
            </p:cNvPr>
            <p:cNvSpPr txBox="1"/>
            <p:nvPr/>
          </p:nvSpPr>
          <p:spPr>
            <a:xfrm>
              <a:off x="1086167" y="6117353"/>
              <a:ext cx="283732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1% - 15%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331784C8-27D3-E190-1188-83F8143002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D98766D-7061-26B2-4081-542C5D9CAA47}"/>
              </a:ext>
            </a:extLst>
          </p:cNvPr>
          <p:cNvGrpSpPr/>
          <p:nvPr/>
        </p:nvGrpSpPr>
        <p:grpSpPr>
          <a:xfrm>
            <a:off x="1561006" y="5908343"/>
            <a:ext cx="446606" cy="98617"/>
            <a:chOff x="1114165" y="6269753"/>
            <a:chExt cx="446606" cy="98617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0EACCEE-F6C5-4239-D307-F1346978364D}"/>
                </a:ext>
              </a:extLst>
            </p:cNvPr>
            <p:cNvSpPr txBox="1"/>
            <p:nvPr/>
          </p:nvSpPr>
          <p:spPr>
            <a:xfrm>
              <a:off x="1238567" y="6269753"/>
              <a:ext cx="32220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15% - 50%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F7980C08-449C-8781-AFFE-1B5D0B713E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3DEE7BE-C0DD-5C7B-8A4F-B219560AA303}"/>
              </a:ext>
            </a:extLst>
          </p:cNvPr>
          <p:cNvGrpSpPr/>
          <p:nvPr/>
        </p:nvGrpSpPr>
        <p:grpSpPr>
          <a:xfrm>
            <a:off x="2099833" y="5908343"/>
            <a:ext cx="485078" cy="98617"/>
            <a:chOff x="1114165" y="6269753"/>
            <a:chExt cx="485078" cy="98617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72BE5AE9-EDB3-A5FB-A41D-39D01995E609}"/>
                </a:ext>
              </a:extLst>
            </p:cNvPr>
            <p:cNvSpPr txBox="1"/>
            <p:nvPr/>
          </p:nvSpPr>
          <p:spPr>
            <a:xfrm>
              <a:off x="1238567" y="6269753"/>
              <a:ext cx="360676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50% - 150%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8BE2B2C6-D275-9C9C-6E3C-6DEF49F9F5B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9F00055-C843-86F0-C3D7-38ABE03F5C50}"/>
              </a:ext>
            </a:extLst>
          </p:cNvPr>
          <p:cNvGrpSpPr/>
          <p:nvPr/>
        </p:nvGrpSpPr>
        <p:grpSpPr>
          <a:xfrm>
            <a:off x="2677130" y="5908343"/>
            <a:ext cx="350426" cy="98617"/>
            <a:chOff x="1114165" y="6269753"/>
            <a:chExt cx="350426" cy="98617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C617B4-6B70-3461-DF10-192E09E859F7}"/>
                </a:ext>
              </a:extLst>
            </p:cNvPr>
            <p:cNvSpPr txBox="1"/>
            <p:nvPr/>
          </p:nvSpPr>
          <p:spPr>
            <a:xfrm>
              <a:off x="1238567" y="6269753"/>
              <a:ext cx="226024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&gt; 150%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E8CC5339-E836-0F40-B13E-8AB2238B2A3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B529869A-4031-1A95-3ED8-A3F5C59BCE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BF83632A-5C0F-EE29-CEC5-A1C83E82A100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EB08F95E-E453-1063-D8EF-9330F4D3B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682905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FD6A-9E05-3D46-E60D-058AD3DFF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2F531B6D-B81A-7E98-1D56-EABC271BE385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PORTFOLIO_PERIOD_TEST_CODE_CHANGE_GROUPED_BY_TEAM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5E93391-04C7-7757-5D2A-13EDA0DE25E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4951530" cy="228209"/>
          </a:xfrm>
        </p:spPr>
        <p:txBody>
          <a:bodyPr/>
          <a:lstStyle/>
          <a:p>
            <a:r>
              <a:rPr lang="en-GB" dirty="0"/>
              <a:t>Portfolio trends – Test-to-production code ratio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5CB48E-331C-26C2-9486-41470DE99B0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30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1192D23-A084-1C07-108E-A039F527F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Change in test-to-production code ratios of the portfolio between PORTFOLIO_PERIOD_START_DATE and PORTFOLIO_PERIOD_END_DATE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9C737C-0323-E724-2600-C1FD0C48F918}"/>
              </a:ext>
            </a:extLst>
          </p:cNvPr>
          <p:cNvSpPr txBox="1"/>
          <p:nvPr/>
        </p:nvSpPr>
        <p:spPr>
          <a:xfrm>
            <a:off x="2083423" y="5828312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5CC23-7FB2-3819-DF45-F461573B4C64}"/>
              </a:ext>
            </a:extLst>
          </p:cNvPr>
          <p:cNvSpPr txBox="1"/>
          <p:nvPr/>
        </p:nvSpPr>
        <p:spPr>
          <a:xfrm>
            <a:off x="1765559" y="5828312"/>
            <a:ext cx="309850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AFA911-0B10-AF2D-A9C0-DD22BC1BBD4E}"/>
              </a:ext>
            </a:extLst>
          </p:cNvPr>
          <p:cNvSpPr txBox="1"/>
          <p:nvPr/>
        </p:nvSpPr>
        <p:spPr>
          <a:xfrm>
            <a:off x="599152" y="5828312"/>
            <a:ext cx="290614" cy="22377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-%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25916BB-0B42-8048-110F-7C3BB681E20B}"/>
              </a:ext>
            </a:extLst>
          </p:cNvPr>
          <p:cNvSpPr>
            <a:spLocks noChangeAspect="1"/>
          </p:cNvSpPr>
          <p:nvPr/>
        </p:nvSpPr>
        <p:spPr>
          <a:xfrm>
            <a:off x="966210" y="5892077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17EB203-3DE5-97DD-075C-0B587EC23CA8}"/>
              </a:ext>
            </a:extLst>
          </p:cNvPr>
          <p:cNvSpPr>
            <a:spLocks noChangeAspect="1"/>
          </p:cNvSpPr>
          <p:nvPr/>
        </p:nvSpPr>
        <p:spPr>
          <a:xfrm>
            <a:off x="1126080" y="5892077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DC54916-F833-9417-0E3F-376D5F92F098}"/>
              </a:ext>
            </a:extLst>
          </p:cNvPr>
          <p:cNvSpPr>
            <a:spLocks noChangeAspect="1"/>
          </p:cNvSpPr>
          <p:nvPr/>
        </p:nvSpPr>
        <p:spPr>
          <a:xfrm>
            <a:off x="1285950" y="5892077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B2403CD-7F96-B10B-C967-0067917FCE2C}"/>
              </a:ext>
            </a:extLst>
          </p:cNvPr>
          <p:cNvSpPr>
            <a:spLocks noChangeAspect="1"/>
          </p:cNvSpPr>
          <p:nvPr/>
        </p:nvSpPr>
        <p:spPr>
          <a:xfrm>
            <a:off x="1445820" y="5892077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1AC43A55-E9EE-0CF2-1BEE-A73AE19E5A7B}"/>
              </a:ext>
            </a:extLst>
          </p:cNvPr>
          <p:cNvSpPr>
            <a:spLocks noChangeAspect="1"/>
          </p:cNvSpPr>
          <p:nvPr/>
        </p:nvSpPr>
        <p:spPr>
          <a:xfrm>
            <a:off x="1605690" y="5892077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12D1771-D0CC-C082-F03C-E4AF23AD0F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4E2A0B08-A1F1-2331-6663-DCAE2EB4D3E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Overall, there has been PORTFOLIO_RELATIVE_TEST_CODE_DIFFERENCE in test code ratio for the </a:t>
            </a:r>
            <a:r>
              <a:rPr lang="en-GB" sz="1550" dirty="0"/>
              <a:t>portfolio (PORTFOLIO_TEST_CODE_DIFFERENCE%).</a:t>
            </a:r>
            <a:endParaRPr lang="en-GB" sz="1550" noProof="0" dirty="0"/>
          </a:p>
          <a:p>
            <a:pPr indent="-283845"/>
            <a:r>
              <a:rPr lang="en-GB" sz="1550" dirty="0"/>
              <a:t>PORTFOLIO_TEST_CODE_INCREASE% of systems have seen an increase in test code ratio while PORTFOLIO_TEST_CODE_DECREASE% of systems have seen a decrease. </a:t>
            </a:r>
          </a:p>
          <a:p>
            <a:pPr indent="-283845"/>
            <a:r>
              <a:rPr lang="en-GB" sz="1550" dirty="0"/>
              <a:t>PORTFOLIO_TEST_CODE_BIGGEST_CHANGES</a:t>
            </a:r>
            <a:endParaRPr lang="en-GB" sz="1550" dirty="0">
              <a:ea typeface="Calibri"/>
              <a:cs typeface="Calibri"/>
            </a:endParaRP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5DF429E-1695-7507-23C8-7080223EC2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7851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5F90BB58-CA09-58E2-BE3B-2E065F51CF77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PORTFOLIO_PERIOD_ARCHITECTURE_GROUPED_BY_TEAM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5603A22-6C87-6123-7889-47059E7B515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759263" cy="228209"/>
          </a:xfrm>
        </p:spPr>
        <p:txBody>
          <a:bodyPr/>
          <a:lstStyle/>
          <a:p>
            <a:r>
              <a:rPr lang="en-GB" dirty="0"/>
              <a:t>Portfolio trends – Architecture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1BB1EC-B729-EEEB-51CD-99A133FF21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31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3CDDECE-07F9-831D-887E-96F18B22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Architecture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D60EA92-5FAE-DB20-C878-9397C39C84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F22578C5-779F-2DE7-941C-EA21148CF77F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CA2F3EE-ED58-8890-B4BF-4E9E9399E1CC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7D72A90-1A63-5E0F-8B76-76CF390D2210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617A234-0C3B-1517-E133-7B2E2BCA1F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2C97830-5D0A-7C61-5790-8AE0D6258402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61F050E-BC5D-A674-AE97-CDA4545FA315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84B1977E-A39B-88F7-3A2F-1EB3EBC876F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4A3F2BC-D11A-47C0-2D59-EDE88F571DA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3250C71-B11A-F676-5B3D-04096307F859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9EF1191-C257-976C-29AA-F1DA1D22A9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DA318A0-FABA-EB5B-A4DE-ADB204F5D0F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9D8162-537B-F3FD-4C5A-B95C9B9B31F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6550F1B-DABE-4321-E085-10DEBDFB3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782E435-697F-C57C-1530-5C1E6B98227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1EE8F693-BD9E-2048-F83B-CAC471F85DB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F93E0B17-8795-E431-6602-6FD9737C92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2718E80B-E45D-BD72-6536-AB0C481281BD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en-GB" dirty="0"/>
              <a:t>Architecture Quality</a:t>
            </a:r>
            <a:r>
              <a:rPr lang="en-US" dirty="0"/>
              <a:t> rating for the portfolio is PORTFOLIO_ARCH_AVG_RATING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PORTFOLIO_ARCH_ABOVE_MARKET</a:t>
            </a:r>
            <a:r>
              <a:rPr lang="en-GB" dirty="0"/>
              <a:t>% of systems score above market average for Architecture Quality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PORTFOLIO_ARCH_MARKET_AVERAGE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PORTFOLIO_ARCH_BELOW_MARKET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Architecture Quality</a:t>
            </a:r>
            <a:r>
              <a:rPr lang="en-GB" dirty="0">
                <a:ea typeface="Calibri"/>
                <a:cs typeface="Calibri"/>
              </a:rPr>
              <a:t> 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49F0196F-C2C8-901D-3388-01AE9D1AB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8386968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8B07B4F-D7B8-1CEF-56A5-C9C18FBFD14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265171" cy="228209"/>
          </a:xfrm>
        </p:spPr>
        <p:txBody>
          <a:bodyPr/>
          <a:lstStyle/>
          <a:p>
            <a:r>
              <a:rPr lang="en-GB" dirty="0"/>
              <a:t>Portfolio trends – Open-Source Health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546EA6-114E-BE00-9088-0FF2F348135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32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DDFBC53-E0F3-50EC-6D67-B2815BC99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Open-source health ratings of the portfolio between PORTFOLIO_PERIOD_START_DATE and PORTFOLIO_PERIOD_END_DATE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6E8C506-EBA7-D433-19CB-BD7B4186FE2F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PORTFOLIO_PERIOD_OSH_RATINGS_GROUPED_BY_TEAM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053C8FF-A309-9635-AB10-3E7965715D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15E0572C-1734-61F0-856F-5E79E547DCB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988E0B2-1D87-C999-BC6A-C9E400EA29C4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7A6F15-7EE4-41DA-71F3-F8B932ABCB9E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C5FB1D3-CA1E-3CEF-9DCB-A533BD6751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78352C9-05CD-024F-9FC8-A43B06C5296F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80ACC94-4A3B-E4A2-C515-92A1B0B85607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5BAC351A-6A3D-8EE7-3400-48AC200F046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03C1BE7-DC33-05D7-A88F-E4549430313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15258E72-CF1A-4DFE-52F3-DB2B89080DF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73B613B1-191F-17CB-8B90-A1C172B0B5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6C7A952-D4BD-C5BE-3ECD-80D0236B6DC5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E346C1E-F337-E3F0-51BC-42C15701A9F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0E88F2D9-0594-B652-C0EB-2B82B013E3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FD99AA7-4DE9-A06B-FABC-D5259DB272D8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3791E94-0AAD-9D1A-14E0-882C135761E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3CB886B0-18FD-211D-FAB5-01B5BE75329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E223A60-5DA4-23C2-35E1-41CA53903EBF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Open Source Health </a:t>
            </a:r>
            <a:r>
              <a:rPr lang="en-US" dirty="0"/>
              <a:t>rating for the portfolio is PORTFOLIO_OSH_AVG_RATING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PORTFOLIO_OSH_ABOVE_MARKET% of systems score above market average for Open Source Health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PORTFOLIO_OSH_MARKET_AVERAGE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PORTFOLIO_OSH_BELOW_MARKET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Open Source Health 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A1D2F67-A90D-74AA-22CD-017BC0D93D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74540166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r>
              <a:rPr lang="en-US" dirty="0"/>
              <a:t>PORTFOLIO_OSH_VULN_SUMMARY</a:t>
            </a:r>
          </a:p>
          <a:p>
            <a:r>
              <a:rPr lang="en-US" dirty="0"/>
              <a:t>PORTFOLIO_OSH_LEGAL_SUMMARY</a:t>
            </a:r>
          </a:p>
          <a:p>
            <a:r>
              <a:rPr lang="en-US" dirty="0"/>
              <a:t>PORTFOLIO_OSH_FRESHNESS_SUMMARY</a:t>
            </a:r>
          </a:p>
          <a:p>
            <a:r>
              <a:rPr lang="en-US" dirty="0"/>
              <a:t>PORTFOLIO_OSH_MANAGEMENT_SUMMARY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40738" y="1894014"/>
            <a:ext cx="835106" cy="265112"/>
          </a:xfrm>
        </p:spPr>
        <p:txBody>
          <a:bodyPr>
            <a:noAutofit/>
          </a:bodyPr>
          <a:lstStyle/>
          <a:p>
            <a:r>
              <a:rPr lang="en-US" b="0" dirty="0"/>
              <a:t>PORTFOLIO_OSH_TOTAL_DEPS</a:t>
            </a:r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PORTFOLIO_OSH_HIGH_RISK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PORTFOLIO_OSH_MEDIUM_RISK</a:t>
            </a:r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PORTFOLIO_OSH_LOW_RISK</a:t>
            </a:r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PORTFOLIO_OSH_NO_RISK</a:t>
            </a:r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Autofit/>
          </a:bodyPr>
          <a:lstStyle/>
          <a:p>
            <a:r>
              <a:rPr lang="en-US" b="0" dirty="0"/>
              <a:t>PORTFOLIO_OSH_CRITICAL_RISK</a:t>
            </a:r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Overall Open Source Health Library Risks Overview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nl-NL" smtClean="0"/>
              <a:pPr/>
              <a:t>33</a:t>
            </a:fld>
            <a:endParaRPr lang="nl-NL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GB" dirty="0"/>
              <a:t>Key findings – Open Source and IP</a:t>
            </a:r>
          </a:p>
        </p:txBody>
      </p:sp>
      <p:graphicFrame>
        <p:nvGraphicFramePr>
          <p:cNvPr id="2" name="OSH_PORTFOLIO_OTHER_RISKS_GRAPH">
            <a:extLst>
              <a:ext uri="{FF2B5EF4-FFF2-40B4-BE49-F238E27FC236}">
                <a16:creationId xmlns:a16="http://schemas.microsoft.com/office/drawing/2014/main" id="{4C5859CA-0A2B-2CD5-4201-907438231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8722614"/>
              </p:ext>
            </p:extLst>
          </p:nvPr>
        </p:nvGraphicFramePr>
        <p:xfrm>
          <a:off x="2855399" y="3688194"/>
          <a:ext cx="3240000" cy="252072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OSH_PORTFOLIO_VULN_LEGAL_GRAPH">
            <a:extLst>
              <a:ext uri="{FF2B5EF4-FFF2-40B4-BE49-F238E27FC236}">
                <a16:creationId xmlns:a16="http://schemas.microsoft.com/office/drawing/2014/main" id="{A2E74F15-1B72-6504-9282-2CD2017740C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28423153"/>
              </p:ext>
            </p:extLst>
          </p:nvPr>
        </p:nvGraphicFramePr>
        <p:xfrm>
          <a:off x="2855399" y="2891471"/>
          <a:ext cx="3240000" cy="12984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570B2912-5022-184F-E496-1EDCEC82A1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41B5DD80-60E5-8513-9972-0F7EF4189F04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PORTFOLIO_PERIOD_SECURITY_RATINGS_GROUPED_BY_TEAM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87597F-0CE6-6979-6D59-2CC306D18F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2421992" cy="228209"/>
          </a:xfrm>
        </p:spPr>
        <p:txBody>
          <a:bodyPr/>
          <a:lstStyle/>
          <a:p>
            <a:r>
              <a:rPr lang="en-GB" dirty="0"/>
              <a:t>Portfolio trends – Security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70E726-D390-617B-2837-17EF73C1835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34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D1F92A6-63AF-66FE-4BB0-422116859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GB" dirty="0"/>
              <a:t>Security ratings of the portfolio between PORTFOLIO_PERIOD_START_DATE and PORTFOLIO_PERIOD_END_DATE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BD9D636-CC1F-D5EE-82E8-F5B67A683E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592C00B-839E-1F7C-C976-764E7FA89D08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8D13A58-DDFB-6E93-06B8-8F73093435CB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B09D3E1-5818-A7F6-D907-77EE9F47DC8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35E576A0-5957-C060-F7D5-462BF27703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93ADAAD-3940-3E4F-EE06-CD1CDD98C4D0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0782A8A-DA3D-0449-1C4B-FDA35D728C06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476C0325-7FCB-4C5A-F1B9-2AA83897F9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D5E9104F-A474-DEBF-B0B1-04438939F3F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9EE0DD2-01FA-7CE1-6138-8B452A78A60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50B3354E-3FA0-1D94-0ED5-6B55810CBC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B08FDA72-1D6A-069B-BA6F-C9555EA6EE09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491AD94-EFFF-2C79-D5D8-7DF2D2786144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39" name="Rounded Rectangle 38">
              <a:extLst>
                <a:ext uri="{FF2B5EF4-FFF2-40B4-BE49-F238E27FC236}">
                  <a16:creationId xmlns:a16="http://schemas.microsoft.com/office/drawing/2014/main" id="{97B8822E-BA13-A142-1266-C507780128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BB93157F-D848-9E05-25CB-0110AC5E4F8E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AF3218E-BE5D-1E5F-2E2F-80BD224CB1D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BF1EC965-F313-A395-6AF8-C9756978DDD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F38D86B0-827F-9466-0A66-C9807390BBCB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</a:t>
            </a:r>
            <a:r>
              <a:rPr lang="nl-NL" dirty="0"/>
              <a:t>Security </a:t>
            </a:r>
            <a:r>
              <a:rPr lang="en-US" dirty="0"/>
              <a:t>rating for the portfolio is PORTFOLIO_SEC_AVG_RATING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GB" dirty="0"/>
              <a:t>PORTFOLIO_SEC_ABOVE_MARKET% of systems score above market average for Security (≥3.5</a:t>
            </a:r>
            <a:r>
              <a:rPr lang="en-US" dirty="0"/>
              <a:t>★</a:t>
            </a:r>
            <a:r>
              <a:rPr lang="en-GB" dirty="0"/>
              <a:t>).</a:t>
            </a:r>
          </a:p>
          <a:p>
            <a:pPr indent="-283845"/>
            <a:r>
              <a:rPr lang="en-US" dirty="0"/>
              <a:t>PORTFOLIO_SEC_MARKET_AVERAGE</a:t>
            </a:r>
            <a:r>
              <a:rPr lang="en-GB" dirty="0">
                <a:ea typeface="Calibri"/>
                <a:cs typeface="Calibri"/>
              </a:rPr>
              <a:t>% of systems score market average</a:t>
            </a:r>
            <a:r>
              <a:rPr lang="en-GB" dirty="0"/>
              <a:t> for Security </a:t>
            </a:r>
            <a:r>
              <a:rPr lang="en-GB" dirty="0">
                <a:ea typeface="Calibri"/>
                <a:cs typeface="Calibri"/>
              </a:rPr>
              <a:t>(3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PORTFOLIO_SEC_BELOW_MARKET</a:t>
            </a:r>
            <a:r>
              <a:rPr lang="en-GB" dirty="0">
                <a:ea typeface="Calibri"/>
                <a:cs typeface="Calibri"/>
              </a:rPr>
              <a:t>% of systems score below market average</a:t>
            </a:r>
            <a:r>
              <a:rPr lang="en-GB" dirty="0"/>
              <a:t> for Security</a:t>
            </a:r>
            <a:r>
              <a:rPr lang="en-GB" dirty="0">
                <a:ea typeface="Calibri"/>
                <a:cs typeface="Calibri"/>
              </a:rPr>
              <a:t>(≤2.5</a:t>
            </a:r>
            <a:r>
              <a:rPr lang="en-US" dirty="0"/>
              <a:t>★</a:t>
            </a:r>
            <a:r>
              <a:rPr lang="en-GB" dirty="0">
                <a:ea typeface="Calibri"/>
                <a:cs typeface="Calibri"/>
              </a:rPr>
              <a:t>).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5AE87DF-A1BC-5958-DE2A-A8C3A6CD9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088" y="6392596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40925307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A976C-A43A-62DF-8A14-555177D4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888C01D-33FF-CD9A-A477-2806EB6B1C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D9CBBF-57FB-ABB3-9835-20A2F9691D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BE6FAE6-87BA-B605-5E5B-FC841A95C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Critical findings trends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301C0D-0321-1290-3EFE-1E641277D7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132F2E1-B218-4956-6E9E-F625515C8382}"/>
              </a:ext>
            </a:extLst>
          </p:cNvPr>
          <p:cNvSpPr/>
          <p:nvPr/>
        </p:nvSpPr>
        <p:spPr>
          <a:xfrm flipH="1">
            <a:off x="861633" y="3390745"/>
            <a:ext cx="10468734" cy="2720123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E04CBEEE-0C86-D6F2-5A66-0F130C4B2075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20177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Since </a:t>
            </a:r>
            <a:r>
              <a:rPr lang="en-GB" sz="1550" dirty="0"/>
              <a:t>PORTFOLIO_SEC_PERIOD_START_DATE</a:t>
            </a:r>
            <a:r>
              <a:rPr lang="en-GB" sz="1550" noProof="0" dirty="0"/>
              <a:t>, </a:t>
            </a:r>
            <a:r>
              <a:rPr lang="en-GB" sz="1550" dirty="0"/>
              <a:t>PORTFOLIO_SEC_CRITICAL_RESOLVED</a:t>
            </a:r>
            <a:r>
              <a:rPr lang="en-GB" sz="1550" noProof="0" dirty="0"/>
              <a:t> critical security findings have been resolved </a:t>
            </a:r>
            <a:r>
              <a:rPr lang="en-GB" sz="1550" dirty="0"/>
              <a:t>while PORTFOLIO_SEC_CRITICAL_ADDED new critical findings were discovered. Overall, there has been PORTFOLIO_SEC_RELATIVE_CRITICAL in critical security findings of PORTFOLIO_SEC_CRITICAL_DIFFERENCE.</a:t>
            </a:r>
          </a:p>
          <a:p>
            <a:pPr indent="-283845"/>
            <a:r>
              <a:rPr lang="en-GB" sz="1550" dirty="0"/>
              <a:t>Of the resolved critical findings, most were resolved in PORTFOLIO_SEC_CRITICAL_RESOLUTION_MOST (PORTFOLIO_</a:t>
            </a:r>
            <a:r>
              <a:rPr lang="en-GB" sz="1550"/>
              <a:t>SEC_CRITICAL</a:t>
            </a:r>
            <a:r>
              <a:rPr lang="en-GB" sz="1550" dirty="0"/>
              <a:t>_RESOLUTION_FINDINGS_MOST findings). PORTFOLIO_SEC_CRITICAL_RESOLUTION_NO_RISK findings were resolved within the recommended 7 days while PORTFOLIO_SEC_CRITICAL_RESOLUTION_HIGH_RISK were resolved after 30 days or more. </a:t>
            </a:r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0" name="PORTFOLIO_SECURITY_FINDINGS_CRITICAL">
            <a:extLst>
              <a:ext uri="{FF2B5EF4-FFF2-40B4-BE49-F238E27FC236}">
                <a16:creationId xmlns:a16="http://schemas.microsoft.com/office/drawing/2014/main" id="{910F2E1C-D877-D2BA-B431-F9C4BA5850D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01190819"/>
              </p:ext>
            </p:extLst>
          </p:nvPr>
        </p:nvGraphicFramePr>
        <p:xfrm>
          <a:off x="1124437" y="3851133"/>
          <a:ext cx="5010978" cy="2177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2" name="PORTFOLIO_SECURITY_RESOLUTION_CRITICAL">
            <a:extLst>
              <a:ext uri="{FF2B5EF4-FFF2-40B4-BE49-F238E27FC236}">
                <a16:creationId xmlns:a16="http://schemas.microsoft.com/office/drawing/2014/main" id="{F4BA35FA-BE44-852A-B55F-63FF6EA3EB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04663586"/>
              </p:ext>
            </p:extLst>
          </p:nvPr>
        </p:nvGraphicFramePr>
        <p:xfrm>
          <a:off x="6235286" y="3713005"/>
          <a:ext cx="4832277" cy="23198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89157835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54EF1-FCA0-2EC9-964E-45F3A94A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D8824E7-4E29-8181-B01C-EA895DB82F1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4024032" cy="228145"/>
          </a:xfrm>
        </p:spPr>
        <p:txBody>
          <a:bodyPr/>
          <a:lstStyle/>
          <a:p>
            <a:r>
              <a:rPr lang="en-GB" dirty="0"/>
              <a:t>Portfolio trends – Security – Resolution times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18AAA8-B191-8D33-A251-5BBAA5775EE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A9BDEC54-B88C-60B4-98B9-CFF0E70B4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resolution times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87DF3F-5BD8-9A33-2F26-1FFB63BA6D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E0BDBC96-6A0F-7FB2-73A9-7CD5A1E31F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6DD134A-FB98-733E-70B7-BE217A938451}"/>
              </a:ext>
            </a:extLst>
          </p:cNvPr>
          <p:cNvSpPr/>
          <p:nvPr/>
        </p:nvSpPr>
        <p:spPr>
          <a:xfrm flipH="1">
            <a:off x="5291526" y="1291984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BB23C483-13CD-B3D6-B6B2-3C5716E15A2A}"/>
              </a:ext>
            </a:extLst>
          </p:cNvPr>
          <p:cNvSpPr txBox="1">
            <a:spLocks/>
          </p:cNvSpPr>
          <p:nvPr/>
        </p:nvSpPr>
        <p:spPr>
          <a:xfrm>
            <a:off x="223094" y="1411287"/>
            <a:ext cx="4881341" cy="476271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/>
              <a:t>Since PORTFOLIO_SEC_PERIOD_START_DATE, PORTFOLIO_SEC_HIGH_RESOLVED high security findings have been resolved while PORTFOLIO_SEC_HIGH_ADDED new high findings were discovered. Overall, there has been PORTFOLIO_SEC_RELATIVE_HIGH in high security findings of PORTFOLIO_SEC_HIGH_DIFFERENCE.</a:t>
            </a:r>
          </a:p>
          <a:p>
            <a:pPr indent="-283845"/>
            <a:r>
              <a:rPr lang="en-GB" sz="1550" dirty="0"/>
              <a:t>Of the resolved high findings, most were resolved in PORTFOLIO_SEC_HIGH_RESOLUTION_MOST (PORTFOLIO_SEC_HIGH_RESOLUTION_FINDINGS_MOST findings). PORTFOLIO_SEC_HIGH_RESOLUTION_NO_RISK findings were resolved within the recommended 14 days while PORTFOLIO_SEC_HIGH_RESOLUTION_HIGH_RISK were resolved after 180 days or more. </a:t>
            </a:r>
          </a:p>
          <a:p>
            <a:pPr indent="-283845"/>
            <a:r>
              <a:rPr lang="en-GB" sz="1550" dirty="0"/>
              <a:t>PORTFOLIO_SEC_MEDIUM_RESOLVED medium security findings have been resolved while PORTFOLIO_SEC_MEDIUM_ADDED new medium findings were discovered. Overall, there has been PORTFOLIO_SEC_RELATIVE_MEDIUM in medium security findings of PORTFOLIO_SEC_MEDIUM_DIFFERENCE.</a:t>
            </a:r>
          </a:p>
          <a:p>
            <a:pPr indent="-283845"/>
            <a:r>
              <a:rPr lang="en-GB" sz="1550" dirty="0"/>
              <a:t>Of the resolved medium findings, most were resolved in PORTFOLIO_SEC_MEDIUM_RESOLUTION_MOST (PORTFOLIO_SEC_MEDIUM_RESOLUTION_FINDINGS_MOST findings). PORTFOLIO_SEC_MEDIUM_RESOLUTION_NO_RISK findings were resolved within the recommended 30 days while PORTFOLIO_SEC_MEDIUM_RESOLUTION_HIGH_RISK were resolved after 270 days or more. </a:t>
            </a:r>
          </a:p>
          <a:p>
            <a:pPr indent="-283845"/>
            <a:endParaRPr lang="en-GB" sz="1550" dirty="0"/>
          </a:p>
          <a:p>
            <a:pPr indent="-283845"/>
            <a:endParaRPr lang="en-GB" sz="1550" dirty="0">
              <a:ea typeface="Calibri"/>
              <a:cs typeface="Calibri"/>
            </a:endParaRPr>
          </a:p>
        </p:txBody>
      </p:sp>
      <p:graphicFrame>
        <p:nvGraphicFramePr>
          <p:cNvPr id="18" name="PORTFOLIO_SECURITY_RESOLUTION_HIGH">
            <a:extLst>
              <a:ext uri="{FF2B5EF4-FFF2-40B4-BE49-F238E27FC236}">
                <a16:creationId xmlns:a16="http://schemas.microsoft.com/office/drawing/2014/main" id="{16E3CE9D-20C9-0E77-38B2-53E2D8CA626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08503948"/>
              </p:ext>
            </p:extLst>
          </p:nvPr>
        </p:nvGraphicFramePr>
        <p:xfrm>
          <a:off x="8730926" y="1514933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PORTFOLIO_SECURITY_FINDINGS_HIGH">
            <a:extLst>
              <a:ext uri="{FF2B5EF4-FFF2-40B4-BE49-F238E27FC236}">
                <a16:creationId xmlns:a16="http://schemas.microsoft.com/office/drawing/2014/main" id="{75CB1C00-2C16-0486-C27D-31887DD0692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32665920"/>
              </p:ext>
            </p:extLst>
          </p:nvPr>
        </p:nvGraphicFramePr>
        <p:xfrm>
          <a:off x="5416871" y="1514933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CA02A27D-5A11-E727-9003-68497845F5AF}"/>
              </a:ext>
            </a:extLst>
          </p:cNvPr>
          <p:cNvSpPr/>
          <p:nvPr/>
        </p:nvSpPr>
        <p:spPr>
          <a:xfrm flipH="1">
            <a:off x="5291526" y="3893212"/>
            <a:ext cx="6743271" cy="248048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E98C36"/>
                </a:solidFill>
              </a:rPr>
              <a:t>Medium</a:t>
            </a:r>
          </a:p>
        </p:txBody>
      </p:sp>
      <p:graphicFrame>
        <p:nvGraphicFramePr>
          <p:cNvPr id="22" name="PORTFOLIO_SECURITY_RESOLUTION_MEDIUM">
            <a:extLst>
              <a:ext uri="{FF2B5EF4-FFF2-40B4-BE49-F238E27FC236}">
                <a16:creationId xmlns:a16="http://schemas.microsoft.com/office/drawing/2014/main" id="{70983DB0-0BC7-2620-9F3E-685D6CFA687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2010762"/>
              </p:ext>
            </p:extLst>
          </p:nvPr>
        </p:nvGraphicFramePr>
        <p:xfrm>
          <a:off x="8730926" y="4116161"/>
          <a:ext cx="3178530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PORTFOLIO_SECURITY_FINDINGS_MEDIUM">
            <a:extLst>
              <a:ext uri="{FF2B5EF4-FFF2-40B4-BE49-F238E27FC236}">
                <a16:creationId xmlns:a16="http://schemas.microsoft.com/office/drawing/2014/main" id="{72CCB03F-448F-67B3-48DD-4998FE51B72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204567"/>
              </p:ext>
            </p:extLst>
          </p:nvPr>
        </p:nvGraphicFramePr>
        <p:xfrm>
          <a:off x="5416871" y="4116161"/>
          <a:ext cx="3409356" cy="23055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16247588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1FF513-F7F0-C719-C954-DBA335D2C6B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B43BB2-F642-BE45-7836-AFCD6CBFD85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047D14B-355C-A109-46FB-79FB23C87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9D4E15-C7EC-A545-5EBC-69B4EAE348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783ADB-6F9E-D057-991B-C0B52FAE9247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B9215FE-C7C0-BC81-3B0D-CEF368F87C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136E7B9-811C-003C-7BFC-A5493486F19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0198D90-BE8E-901C-9DF1-3C45821DE1B7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6393784-89ED-CB65-097F-CF64C9DE33A9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7" name="PORTFOLIO_SECURITY_FINDINGS_CRITICAL">
            <a:extLst>
              <a:ext uri="{FF2B5EF4-FFF2-40B4-BE49-F238E27FC236}">
                <a16:creationId xmlns:a16="http://schemas.microsoft.com/office/drawing/2014/main" id="{3605FEE4-47C1-3A75-7A83-281F7BE41F7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83918974"/>
              </p:ext>
            </p:extLst>
          </p:nvPr>
        </p:nvGraphicFramePr>
        <p:xfrm>
          <a:off x="955163" y="1714666"/>
          <a:ext cx="5070948" cy="219580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PORTFOLIO_SECURITY_FINDINGS_HIGH">
            <a:extLst>
              <a:ext uri="{FF2B5EF4-FFF2-40B4-BE49-F238E27FC236}">
                <a16:creationId xmlns:a16="http://schemas.microsoft.com/office/drawing/2014/main" id="{E6284084-0D17-0C79-BA25-E3E29D606E8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3042344"/>
              </p:ext>
            </p:extLst>
          </p:nvPr>
        </p:nvGraphicFramePr>
        <p:xfrm>
          <a:off x="6284745" y="1714666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9" name="PORTFOLIO_SECURITY_FINDINGS_MEDIUM">
            <a:extLst>
              <a:ext uri="{FF2B5EF4-FFF2-40B4-BE49-F238E27FC236}">
                <a16:creationId xmlns:a16="http://schemas.microsoft.com/office/drawing/2014/main" id="{1D0C3BE9-A664-5700-38B0-74CDE05BE0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94025760"/>
              </p:ext>
            </p:extLst>
          </p:nvPr>
        </p:nvGraphicFramePr>
        <p:xfrm>
          <a:off x="3679861" y="4116161"/>
          <a:ext cx="4813628" cy="22186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817168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AC38F-AE8D-FF4B-AE4F-040316CA1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E4E57D2-7FE4-C0AA-BDE9-A362D613ED0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855396" cy="228145"/>
          </a:xfrm>
        </p:spPr>
        <p:txBody>
          <a:bodyPr/>
          <a:lstStyle/>
          <a:p>
            <a:r>
              <a:rPr lang="en-GB" dirty="0"/>
              <a:t>Portfolio trends – Security – Findings trend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1FF027-54A5-051F-5710-B5994A182136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</p:spPr>
        <p:txBody>
          <a:bodyPr/>
          <a:lstStyle/>
          <a:p>
            <a:fld id="{E242BD21-9B61-2246-BCB1-4BE5E1BEBE1C}" type="slidenum">
              <a:rPr lang="en-GB" smtClean="0"/>
              <a:pPr/>
              <a:t>38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CE1A16AE-C003-C50A-E6D6-3D6AA501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 dirty="0"/>
              <a:t>Security findings of the portfolio of the last 12 months (ending at PORTFOLIO_PERIOD_END_DATE)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282B89-53C7-6B9A-712B-0DEEC0C14A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2A71AF-4489-77E3-367D-617DFCB60DE0}"/>
              </a:ext>
            </a:extLst>
          </p:cNvPr>
          <p:cNvSpPr/>
          <p:nvPr/>
        </p:nvSpPr>
        <p:spPr>
          <a:xfrm>
            <a:off x="525101" y="1411200"/>
            <a:ext cx="11141800" cy="4852800"/>
          </a:xfrm>
          <a:prstGeom prst="roundRect">
            <a:avLst>
              <a:gd name="adj" fmla="val 706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0" tIns="73152" rIns="0" bIns="73152" rtlCol="0" anchor="t"/>
          <a:lstStyle/>
          <a:p>
            <a:pPr algn="ctr"/>
            <a:r>
              <a:rPr lang="en-GB" sz="1200" b="1" noProof="0" dirty="0">
                <a:solidFill>
                  <a:schemeClr val="tx1"/>
                </a:solidFill>
              </a:rPr>
              <a:t>Security findings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61AD5F6-18F9-8A40-2477-E9242D99AA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98373" y="5911956"/>
            <a:ext cx="371130" cy="206558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490A03-971E-D057-E453-8848427D9F47}"/>
              </a:ext>
            </a:extLst>
          </p:cNvPr>
          <p:cNvSpPr/>
          <p:nvPr/>
        </p:nvSpPr>
        <p:spPr>
          <a:xfrm flipH="1">
            <a:off x="955163" y="1562933"/>
            <a:ext cx="5073966" cy="2305534"/>
          </a:xfrm>
          <a:prstGeom prst="roundRect">
            <a:avLst>
              <a:gd name="adj" fmla="val 3988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910714"/>
                </a:solidFill>
              </a:rPr>
              <a:t>Critical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9911086-3056-B85A-B493-E969F1E03B2E}"/>
              </a:ext>
            </a:extLst>
          </p:cNvPr>
          <p:cNvSpPr/>
          <p:nvPr/>
        </p:nvSpPr>
        <p:spPr>
          <a:xfrm flipH="1">
            <a:off x="6165410" y="1562933"/>
            <a:ext cx="5070948" cy="2305534"/>
          </a:xfrm>
          <a:prstGeom prst="roundRect">
            <a:avLst>
              <a:gd name="adj" fmla="val 398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DB4A3D"/>
                </a:solidFill>
              </a:rPr>
              <a:t>High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C2F09A1-6725-C876-B697-24D0E14922AC}"/>
              </a:ext>
            </a:extLst>
          </p:cNvPr>
          <p:cNvSpPr/>
          <p:nvPr/>
        </p:nvSpPr>
        <p:spPr>
          <a:xfrm flipH="1">
            <a:off x="3560526" y="3939319"/>
            <a:ext cx="5070948" cy="2305534"/>
          </a:xfrm>
          <a:prstGeom prst="roundRect">
            <a:avLst>
              <a:gd name="adj" fmla="val 3837"/>
            </a:avLst>
          </a:prstGeom>
          <a:gradFill>
            <a:gsLst>
              <a:gs pos="0">
                <a:schemeClr val="bg1"/>
              </a:gs>
              <a:gs pos="100000">
                <a:schemeClr val="bg2"/>
              </a:gs>
            </a:gsLst>
            <a:lin ang="2700000" scaled="0"/>
          </a:gra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" tIns="0" rIns="73152" bIns="0" rtlCol="0" anchor="t"/>
          <a:lstStyle/>
          <a:p>
            <a:pPr algn="ctr"/>
            <a:r>
              <a:rPr lang="en-GB" sz="1200" b="1" noProof="0" dirty="0">
                <a:solidFill>
                  <a:srgbClr val="F09819"/>
                </a:solidFill>
              </a:rPr>
              <a:t>Medium</a:t>
            </a:r>
          </a:p>
        </p:txBody>
      </p:sp>
      <p:graphicFrame>
        <p:nvGraphicFramePr>
          <p:cNvPr id="10" name="PORTFOLIO_SECURITY_RESOLUTION_CRITICAL">
            <a:extLst>
              <a:ext uri="{FF2B5EF4-FFF2-40B4-BE49-F238E27FC236}">
                <a16:creationId xmlns:a16="http://schemas.microsoft.com/office/drawing/2014/main" id="{043ADC1B-1288-61F5-6E17-604566843D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850097"/>
              </p:ext>
            </p:extLst>
          </p:nvPr>
        </p:nvGraphicFramePr>
        <p:xfrm>
          <a:off x="952145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PORTFOLIO_SECURITY_RESOLUTION_HIGH">
            <a:extLst>
              <a:ext uri="{FF2B5EF4-FFF2-40B4-BE49-F238E27FC236}">
                <a16:creationId xmlns:a16="http://schemas.microsoft.com/office/drawing/2014/main" id="{FD9AE359-1D59-B204-F3B2-ED88BE1F3B3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89913887"/>
              </p:ext>
            </p:extLst>
          </p:nvPr>
        </p:nvGraphicFramePr>
        <p:xfrm>
          <a:off x="6340739" y="1714665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5" name="PORTFOLIO_SECURITY_RESOLUTION_MEDIUM">
            <a:extLst>
              <a:ext uri="{FF2B5EF4-FFF2-40B4-BE49-F238E27FC236}">
                <a16:creationId xmlns:a16="http://schemas.microsoft.com/office/drawing/2014/main" id="{6568A628-8BDB-F462-AB74-A5B810893E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3908121"/>
              </p:ext>
            </p:extLst>
          </p:nvPr>
        </p:nvGraphicFramePr>
        <p:xfrm>
          <a:off x="3678661" y="4091051"/>
          <a:ext cx="4832277" cy="215380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76436889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18339</TotalTime>
  <Words>2590</Words>
  <Application>Microsoft Macintosh PowerPoint</Application>
  <PresentationFormat>Widescreen</PresentationFormat>
  <Paragraphs>405</Paragraphs>
  <Slides>38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38</vt:i4>
      </vt:variant>
    </vt:vector>
  </HeadingPairs>
  <TitlesOfParts>
    <vt:vector size="52" baseType="lpstr">
      <vt:lpstr>☞NOIR PRO MEDIUM</vt:lpstr>
      <vt:lpstr>Arial</vt:lpstr>
      <vt:lpstr>Azeret Mono</vt:lpstr>
      <vt:lpstr>Azeret Mono Medium</vt:lpstr>
      <vt:lpstr>Calibri</vt:lpstr>
      <vt:lpstr>Calibri Bold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Light theme (default)</vt:lpstr>
      <vt:lpstr>Dark theme</vt:lpstr>
      <vt:lpstr>PowerPoint Presentation</vt:lpstr>
      <vt:lpstr>Outline of topics</vt:lpstr>
      <vt:lpstr>Progress towards objectives between OBJECTIVES_PERIOD_START and OBJECTIVES_PERIOD_END</vt:lpstr>
      <vt:lpstr>Progress towards objectives over time</vt:lpstr>
      <vt:lpstr>Progress towards objectives per capability between OBJECTIVES_PERIOD_START and OBJECTIVES_PERIOD_END</vt:lpstr>
      <vt:lpstr>Progress towards objectives: Maintainability</vt:lpstr>
      <vt:lpstr>Progress towards objectives: Architecture</vt:lpstr>
      <vt:lpstr>Progress towards objectives: Open Source Health</vt:lpstr>
      <vt:lpstr>Progress towards objectives: Security</vt:lpstr>
      <vt:lpstr>Progress towards objectives between OBJECTIVES_PERIOD_START and OBJECTIVES_PERIOD_END</vt:lpstr>
      <vt:lpstr>Progress towards objectives per team between OBJECTIVES_PERIOD_START and OBJECTIVES_PERIOD_END</vt:lpstr>
      <vt:lpstr>Progress towards objectives per capability between OBJECTIVES_PERIOD_START and OBJECTIVES_PERIOD_END</vt:lpstr>
      <vt:lpstr>Progress towards objectives over time</vt:lpstr>
      <vt:lpstr>Progress towards objectives: Security</vt:lpstr>
      <vt:lpstr>Progress towards objectives: Open Source Health</vt:lpstr>
      <vt:lpstr>Progress towards objectives: Maintainability</vt:lpstr>
      <vt:lpstr>Progress towards objectives: Architecture</vt:lpstr>
      <vt:lpstr>Index</vt:lpstr>
      <vt:lpstr>PORTFOLIO_PERIOD_MAINT_SHORT_SUMMARY</vt:lpstr>
      <vt:lpstr>Maintainability Grouped by Lifecycle</vt:lpstr>
      <vt:lpstr>Maintainability Grouped by Deployment Type</vt:lpstr>
      <vt:lpstr>Maintainability Grouped by Business Criticality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Change in volume (effort) of the portfolio between PORTFOLIO_PERIOD_START_DATE and PORTFOLIO_PERIOD_END_DATE</vt:lpstr>
      <vt:lpstr>Test-to-production code ratios of the portfolio between PORTFOLIO_PERIOD_START_DATE and PORTFOLIO_PERIOD_END_DATE</vt:lpstr>
      <vt:lpstr>Test Code Ratio Grouped by Main Technology</vt:lpstr>
      <vt:lpstr>Change in test-to-production code ratios of the portfolio between PORTFOLIO_PERIOD_START_DATE and PORTFOLIO_PERIOD_END_DATE</vt:lpstr>
      <vt:lpstr>Architecture ratings of the portfolio between PORTFOLIO_PERIOD_START_DATE and PORTFOLIO_PERIOD_END_DATE</vt:lpstr>
      <vt:lpstr>Open-source health ratings of the portfolio between PORTFOLIO_PERIOD_START_DATE and PORTFOLIO_PERIOD_END_DATE</vt:lpstr>
      <vt:lpstr>Overall Open Source Health Library Risks Overview</vt:lpstr>
      <vt:lpstr>Security ratings of the portfolio between PORTFOLIO_PERIOD_START_DATE and PORTFOLIO_PERIOD_END_DATE</vt:lpstr>
      <vt:lpstr>Critical findings trends of the last 12 months (ending at PORTFOLIO_PERIOD_END_DATE)</vt:lpstr>
      <vt:lpstr>Security resolution times of the portfolio of the last 12 months (ending at PORTFOLIO_PERIOD_END_DATE)</vt:lpstr>
      <vt:lpstr>Security findings of the portfolio of the last 12 months (ending at PORTFOLIO_PERIOD_END_DATE)</vt:lpstr>
      <vt:lpstr>Security findings of the portfolio of the last 12 months (ending at PORTFOLIO_PERIOD_END_DATE)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200</cp:revision>
  <cp:lastPrinted>2020-04-20T09:37:43Z</cp:lastPrinted>
  <dcterms:created xsi:type="dcterms:W3CDTF">2025-10-22T11:22:13Z</dcterms:created>
  <dcterms:modified xsi:type="dcterms:W3CDTF">2026-07-13T17:08:44Z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