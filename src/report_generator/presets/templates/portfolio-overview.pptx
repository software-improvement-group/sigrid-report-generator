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2.xml" ContentType="application/vnd.openxmlformats-officedocument.presentationml.notesSl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notesSlides/notesSlide3.xml" ContentType="application/vnd.openxmlformats-officedocument.presentationml.notesSlid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notesSlides/notesSlide4.xml" ContentType="application/vnd.openxmlformats-officedocument.presentationml.notesSlid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notesSlides/notesSlide5.xml" ContentType="application/vnd.openxmlformats-officedocument.presentationml.notesSlid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notesSlides/notesSlide6.xml" ContentType="application/vnd.openxmlformats-officedocument.presentationml.notesSlid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notesSlides/notesSlide7.xml" ContentType="application/vnd.openxmlformats-officedocument.presentationml.notesSlide+xml"/>
  <Override PartName="/ppt/charts/chart7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notesSlides/notesSlide8.xml" ContentType="application/vnd.openxmlformats-officedocument.presentationml.notesSlide+xml"/>
  <Override PartName="/ppt/charts/chart8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26"/>
  </p:notesMasterIdLst>
  <p:handoutMasterIdLst>
    <p:handoutMasterId r:id="rId27"/>
  </p:handoutMasterIdLst>
  <p:sldIdLst>
    <p:sldId id="561" r:id="rId5"/>
    <p:sldId id="10724" r:id="rId6"/>
    <p:sldId id="598" r:id="rId7"/>
    <p:sldId id="605" r:id="rId8"/>
    <p:sldId id="606" r:id="rId9"/>
    <p:sldId id="604" r:id="rId10"/>
    <p:sldId id="599" r:id="rId11"/>
    <p:sldId id="600" r:id="rId12"/>
    <p:sldId id="603" r:id="rId13"/>
    <p:sldId id="602" r:id="rId14"/>
    <p:sldId id="601" r:id="rId15"/>
    <p:sldId id="10725" r:id="rId16"/>
    <p:sldId id="10721" r:id="rId17"/>
    <p:sldId id="10728" r:id="rId18"/>
    <p:sldId id="10729" r:id="rId19"/>
    <p:sldId id="10727" r:id="rId20"/>
    <p:sldId id="10726" r:id="rId21"/>
    <p:sldId id="10731" r:id="rId22"/>
    <p:sldId id="10732" r:id="rId23"/>
    <p:sldId id="10723" r:id="rId24"/>
    <p:sldId id="597" r:id="rId2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18C00"/>
    <a:srgbClr val="D0A700"/>
    <a:srgbClr val="E9C343"/>
    <a:srgbClr val="F1C109"/>
    <a:srgbClr val="2F6BFE"/>
    <a:srgbClr val="B6C4FF"/>
    <a:srgbClr val="2D6BFF"/>
    <a:srgbClr val="D8E9EC"/>
    <a:srgbClr val="58B8CC"/>
    <a:srgbClr val="EFE6D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32094BA-3324-E44C-AFE3-01F0E8F31A48}" v="69" dt="2024-01-12T19:24:27.55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4399"/>
    <p:restoredTop sz="96327"/>
  </p:normalViewPr>
  <p:slideViewPr>
    <p:cSldViewPr snapToGrid="0" snapToObjects="1" showGuides="1">
      <p:cViewPr varScale="1">
        <p:scale>
          <a:sx n="110" d="100"/>
          <a:sy n="110" d="100"/>
        </p:scale>
        <p:origin x="728" y="17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38" d="100"/>
        <a:sy n="38" d="100"/>
      </p:scale>
      <p:origin x="0" y="0"/>
    </p:cViewPr>
  </p:sorterViewPr>
  <p:notesViewPr>
    <p:cSldViewPr snapToGrid="0" snapToObjects="1">
      <p:cViewPr varScale="1">
        <p:scale>
          <a:sx n="163" d="100"/>
          <a:sy n="163" d="100"/>
        </p:scale>
        <p:origin x="6728" y="18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microsoft.com/office/2015/10/relationships/revisionInfo" Target="revisionInfo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handoutMaster" Target="handoutMasters/handoutMaster1.xml"/><Relationship Id="rId30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.xlsx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.xlsx"/><Relationship Id="rId2" Type="http://schemas.microsoft.com/office/2011/relationships/chartColorStyle" Target="colors7.xml"/><Relationship Id="rId1" Type="http://schemas.microsoft.com/office/2011/relationships/chartStyle" Target="style7.xml"/></Relationships>
</file>

<file path=ppt/charts/_rels/chart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.xlsx"/><Relationship Id="rId2" Type="http://schemas.microsoft.com/office/2011/relationships/chartColorStyle" Target="colors8.xml"/><Relationship Id="rId1" Type="http://schemas.microsoft.com/office/2011/relationships/chartStyle" Target="style8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Sheet1!$B$2</c:f>
              <c:numCache>
                <c:formatCode>0.0</c:formatCode>
                <c:ptCount val="1"/>
                <c:pt idx="0">
                  <c:v>0.5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Sheet1!$C$2</c:f>
              <c:numCache>
                <c:formatCode>0.0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Sheet1!$D$2</c:f>
              <c:numCache>
                <c:formatCode>General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Sheet1!$E$2</c:f>
              <c:numCache>
                <c:formatCode>General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Sheet1!$F$2</c:f>
              <c:numCache>
                <c:formatCode>General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Sheet1!$A$2:$A$11</c:f>
              <c:strCache>
                <c:ptCount val="10"/>
                <c:pt idx="0">
                  <c:v>Team 1</c:v>
                </c:pt>
                <c:pt idx="1">
                  <c:v>Team 2</c:v>
                </c:pt>
                <c:pt idx="2">
                  <c:v>Team 3</c:v>
                </c:pt>
                <c:pt idx="3">
                  <c:v>Team 4</c:v>
                </c:pt>
                <c:pt idx="4">
                  <c:v>Team 5</c:v>
                </c:pt>
                <c:pt idx="5">
                  <c:v>Team 6</c:v>
                </c:pt>
                <c:pt idx="6">
                  <c:v>Team 7</c:v>
                </c:pt>
                <c:pt idx="7">
                  <c:v>Team 8</c:v>
                </c:pt>
                <c:pt idx="8">
                  <c:v>Team 9</c:v>
                </c:pt>
                <c:pt idx="9">
                  <c:v>Team 10</c:v>
                </c:pt>
              </c:strCache>
            </c:strRef>
          </c:cat>
          <c:val>
            <c:numRef>
              <c:f>Sheet1!$B$2:$B$11</c:f>
              <c:numCache>
                <c:formatCode>0.0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Team 1</c:v>
                </c:pt>
                <c:pt idx="1">
                  <c:v>Team 2</c:v>
                </c:pt>
                <c:pt idx="2">
                  <c:v>Team 3</c:v>
                </c:pt>
                <c:pt idx="3">
                  <c:v>Team 4</c:v>
                </c:pt>
                <c:pt idx="4">
                  <c:v>Team 5</c:v>
                </c:pt>
                <c:pt idx="5">
                  <c:v>Team 6</c:v>
                </c:pt>
                <c:pt idx="6">
                  <c:v>Team 7</c:v>
                </c:pt>
                <c:pt idx="7">
                  <c:v>Team 8</c:v>
                </c:pt>
                <c:pt idx="8">
                  <c:v>Team 9</c:v>
                </c:pt>
                <c:pt idx="9">
                  <c:v>Team 10</c:v>
                </c:pt>
              </c:strCache>
            </c:strRef>
          </c:cat>
          <c:val>
            <c:numRef>
              <c:f>Sheet1!$C$2:$C$11</c:f>
              <c:numCache>
                <c:formatCode>0.0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Team 1</c:v>
                </c:pt>
                <c:pt idx="1">
                  <c:v>Team 2</c:v>
                </c:pt>
                <c:pt idx="2">
                  <c:v>Team 3</c:v>
                </c:pt>
                <c:pt idx="3">
                  <c:v>Team 4</c:v>
                </c:pt>
                <c:pt idx="4">
                  <c:v>Team 5</c:v>
                </c:pt>
                <c:pt idx="5">
                  <c:v>Team 6</c:v>
                </c:pt>
                <c:pt idx="6">
                  <c:v>Team 7</c:v>
                </c:pt>
                <c:pt idx="7">
                  <c:v>Team 8</c:v>
                </c:pt>
                <c:pt idx="8">
                  <c:v>Team 9</c:v>
                </c:pt>
                <c:pt idx="9">
                  <c:v>Team 10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Team 1</c:v>
                </c:pt>
                <c:pt idx="1">
                  <c:v>Team 2</c:v>
                </c:pt>
                <c:pt idx="2">
                  <c:v>Team 3</c:v>
                </c:pt>
                <c:pt idx="3">
                  <c:v>Team 4</c:v>
                </c:pt>
                <c:pt idx="4">
                  <c:v>Team 5</c:v>
                </c:pt>
                <c:pt idx="5">
                  <c:v>Team 6</c:v>
                </c:pt>
                <c:pt idx="6">
                  <c:v>Team 7</c:v>
                </c:pt>
                <c:pt idx="7">
                  <c:v>Team 8</c:v>
                </c:pt>
                <c:pt idx="8">
                  <c:v>Team 9</c:v>
                </c:pt>
                <c:pt idx="9">
                  <c:v>Team 10</c:v>
                </c:pt>
              </c:strCache>
            </c:strRef>
          </c:cat>
          <c:val>
            <c:numRef>
              <c:f>Sheet1!$E$2:$E$11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Team 1</c:v>
                </c:pt>
                <c:pt idx="1">
                  <c:v>Team 2</c:v>
                </c:pt>
                <c:pt idx="2">
                  <c:v>Team 3</c:v>
                </c:pt>
                <c:pt idx="3">
                  <c:v>Team 4</c:v>
                </c:pt>
                <c:pt idx="4">
                  <c:v>Team 5</c:v>
                </c:pt>
                <c:pt idx="5">
                  <c:v>Team 6</c:v>
                </c:pt>
                <c:pt idx="6">
                  <c:v>Team 7</c:v>
                </c:pt>
                <c:pt idx="7">
                  <c:v>Team 8</c:v>
                </c:pt>
                <c:pt idx="8">
                  <c:v>Team 9</c:v>
                </c:pt>
                <c:pt idx="9">
                  <c:v>Team 10</c:v>
                </c:pt>
              </c:strCache>
            </c:strRef>
          </c:cat>
          <c:val>
            <c:numRef>
              <c:f>Sheet1!$F$2:$F$11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Sheet1!$B$2:$B$11</c:f>
              <c:numCache>
                <c:formatCode>0.0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Sheet1!$C$2:$C$11</c:f>
              <c:numCache>
                <c:formatCode>0.0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Sheet1!$E$2:$E$11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Sheet1!$F$2:$F$11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Sheet1!$C$2:$C$13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Sheet1!$C$2:$C$13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Sheet1!$C$2:$C$13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Sheet1!$C$2:$C$13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Sheet1!$C$2:$C$13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2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3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4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5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6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7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8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AF400D1-FA8E-6548-A590-873477C843F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B4962C3-51DB-5B49-AE33-9436051173E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255C68-584F-174D-BB81-51BF91708794}" type="datetimeFigureOut">
              <a:rPr lang="en-US" smtClean="0"/>
              <a:t>8/26/25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4633DF3-39D0-BC4B-8900-A41729E59CD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D735CF-6CE3-3041-89CE-FA86F745DE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A955B2-A2D5-2846-95B1-99C033D9F4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890166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1EDAAC4-819D-C544-9EA1-C73624CFD70B}" type="datetimeFigureOut">
              <a:rPr lang="en-US" smtClean="0"/>
              <a:t>8/26/25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408DED6-61EF-5240-95D8-926F20A98C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9981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44830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563206-5A0F-6590-5CC2-8128E2972D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3635E41-5775-0107-E6CF-D4AEE682D0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ECD9C8D-B649-9612-CD2B-DCF6CEA0AA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4F1303-806E-A123-9657-CCEC8C32C7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52058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82D2F1-F27E-F008-D28F-A80C65A791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CFE20B-AC68-A715-1904-A8997A7407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0C90C4E-EA51-177C-42BA-46AF20D0BD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9E6F7B-6012-765E-DCF5-2558BB00D94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32382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271DC2-F944-34DD-B764-85BED2F087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23AABBC-4283-B289-4871-B4E7AF2C71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90EA979-5454-3EEC-CBC8-37F698F314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55A1BD-6926-2626-8E5D-55F3DAC16D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25896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46A897-55A7-2447-F783-128B0CFBBD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9104CF-C963-7F07-8CBB-81BC53752A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676AC3-E364-BACE-9255-7FEDBC1065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8BDFFB-1DE8-A17E-1199-64339F16E5D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389461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72BE28-66CD-D44C-0C55-AC9782C012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EA4409-553C-FD5A-DFB7-7323806337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8D879E-AF06-1362-CB5F-F90FA686573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AFB8AC-ED1E-0E2E-5AF2-507128B54A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949250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73862A-F09F-91B5-B819-242958E8BC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0E31BB-F827-E21D-B159-D85EAFD8E9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FD7BD65-F7D4-27E5-1285-CD1B365EC4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35E97A5-3B47-5DA4-12BE-7F0013740B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838968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92525A-77B9-4F45-8B5F-B3F774D899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455FC7-AD94-D9A7-D34B-DADFAE57C9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AE22277-C214-6DF7-231D-6BEE9F1E0B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992DA4-1468-1278-5185-5DACC01D123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087835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16.svg"/><Relationship Id="rId3" Type="http://schemas.openxmlformats.org/officeDocument/2006/relationships/image" Target="../media/image6.svg"/><Relationship Id="rId7" Type="http://schemas.openxmlformats.org/officeDocument/2006/relationships/image" Target="../media/image10.svg"/><Relationship Id="rId12" Type="http://schemas.openxmlformats.org/officeDocument/2006/relationships/image" Target="../media/image15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9.png"/><Relationship Id="rId11" Type="http://schemas.openxmlformats.org/officeDocument/2006/relationships/image" Target="../media/image14.svg"/><Relationship Id="rId5" Type="http://schemas.openxmlformats.org/officeDocument/2006/relationships/image" Target="../media/image8.sv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 cover Telecom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6D4EE728-E82E-704D-ADEB-24FAC51A507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-9833"/>
            <a:ext cx="12192000" cy="6875783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E1BFBDC1-0F88-404F-8878-DA6B9775F7E9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alphaModFix amt="93000"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Text Placeholder 5">
            <a:extLst>
              <a:ext uri="{FF2B5EF4-FFF2-40B4-BE49-F238E27FC236}">
                <a16:creationId xmlns:a16="http://schemas.microsoft.com/office/drawing/2014/main" id="{7AF298E3-4E90-9E47-86B5-57AC2574438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235414" y="2937600"/>
            <a:ext cx="8486893" cy="366712"/>
          </a:xfrm>
          <a:prstGeom prst="rect">
            <a:avLst/>
          </a:prstGeom>
        </p:spPr>
        <p:txBody>
          <a:bodyPr wrap="none" tIns="0" bIns="0" anchor="t">
            <a:noAutofit/>
          </a:bodyPr>
          <a:lstStyle>
            <a:lvl1pPr marL="0" indent="0">
              <a:lnSpc>
                <a:spcPct val="100000"/>
              </a:lnSpc>
              <a:buNone/>
              <a:defRPr sz="28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 marL="457200" indent="0">
              <a:buNone/>
              <a:defRPr>
                <a:solidFill>
                  <a:srgbClr val="DFC123"/>
                </a:solidFill>
              </a:defRPr>
            </a:lvl2pPr>
            <a:lvl3pPr marL="914400" indent="0">
              <a:buNone/>
              <a:defRPr>
                <a:solidFill>
                  <a:srgbClr val="DFC123"/>
                </a:solidFill>
              </a:defRPr>
            </a:lvl3pPr>
            <a:lvl4pPr marL="1371600" indent="0">
              <a:buNone/>
              <a:defRPr>
                <a:solidFill>
                  <a:srgbClr val="DFC123"/>
                </a:solidFill>
              </a:defRPr>
            </a:lvl4pPr>
            <a:lvl5pPr marL="1828800" indent="0">
              <a:buNone/>
              <a:defRPr>
                <a:solidFill>
                  <a:srgbClr val="DFC123"/>
                </a:solidFill>
              </a:defRPr>
            </a:lvl5pPr>
          </a:lstStyle>
          <a:p>
            <a:pPr lvl="0"/>
            <a:r>
              <a:rPr lang="en-US" dirty="0"/>
              <a:t>Client name - System name</a:t>
            </a:r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67C6FE27-98CB-9247-98B6-B1989EF943B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35415" y="3319200"/>
            <a:ext cx="8486892" cy="344488"/>
          </a:xfrm>
          <a:prstGeom prst="rect">
            <a:avLst/>
          </a:prstGeom>
        </p:spPr>
        <p:txBody>
          <a:bodyPr tIns="0" bIns="0" anchor="t">
            <a:noAutofit/>
          </a:bodyPr>
          <a:lstStyle>
            <a:lvl1pPr marL="0" indent="0">
              <a:lnSpc>
                <a:spcPct val="100000"/>
              </a:lnSpc>
              <a:buNone/>
              <a:defRPr sz="2800" b="1" i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 marL="914400" indent="0">
              <a:buNone/>
              <a:defRPr>
                <a:solidFill>
                  <a:schemeClr val="bg1"/>
                </a:solidFill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presentation subject</a:t>
            </a:r>
          </a:p>
        </p:txBody>
      </p:sp>
      <p:sp>
        <p:nvSpPr>
          <p:cNvPr id="18" name="Text Placeholder 11">
            <a:extLst>
              <a:ext uri="{FF2B5EF4-FFF2-40B4-BE49-F238E27FC236}">
                <a16:creationId xmlns:a16="http://schemas.microsoft.com/office/drawing/2014/main" id="{F0D60B5C-8D30-9A43-A2F0-A420A723845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576161" y="6525935"/>
            <a:ext cx="1146147" cy="257763"/>
          </a:xfrm>
          <a:prstGeom prst="rect">
            <a:avLst/>
          </a:prstGeom>
        </p:spPr>
        <p:txBody>
          <a:bodyPr wrap="none" rIns="0">
            <a:spAutoFit/>
          </a:bodyPr>
          <a:lstStyle>
            <a:lvl1pPr marL="0" indent="0" algn="r">
              <a:buNone/>
              <a:defRPr sz="1000" b="1" cap="all" baseline="0">
                <a:solidFill>
                  <a:schemeClr val="bg1"/>
                </a:solidFill>
                <a:effectLst>
                  <a:outerShdw blurRad="571500" dist="38100" dir="2700000" sx="105000" sy="105000" algn="tl" rotWithShape="0">
                    <a:schemeClr val="tx2"/>
                  </a:outerShdw>
                </a:effectLst>
              </a:defRPr>
            </a:lvl1pPr>
            <a:lvl2pPr>
              <a:defRPr sz="1400" b="1">
                <a:solidFill>
                  <a:schemeClr val="bg1"/>
                </a:solidFill>
              </a:defRPr>
            </a:lvl2pPr>
            <a:lvl3pPr>
              <a:defRPr sz="1400" b="1">
                <a:solidFill>
                  <a:schemeClr val="bg1"/>
                </a:solidFill>
              </a:defRPr>
            </a:lvl3pPr>
            <a:lvl4pPr>
              <a:defRPr sz="1400" b="1">
                <a:solidFill>
                  <a:schemeClr val="bg1"/>
                </a:solidFill>
              </a:defRPr>
            </a:lvl4pPr>
            <a:lvl5pPr>
              <a:defRPr sz="14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REPORT DATE</a:t>
            </a:r>
          </a:p>
        </p:txBody>
      </p:sp>
    </p:spTree>
    <p:extLst>
      <p:ext uri="{BB962C8B-B14F-4D97-AF65-F5344CB8AC3E}">
        <p14:creationId xmlns:p14="http://schemas.microsoft.com/office/powerpoint/2010/main" val="41823633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122E66F4-7F53-DD4A-8713-C073FB230CE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80000" y="1366268"/>
            <a:ext cx="10665667" cy="4952085"/>
          </a:xfrm>
          <a:prstGeom prst="rect">
            <a:avLst/>
          </a:prstGeom>
        </p:spPr>
        <p:txBody>
          <a:bodyPr vert="horz" lIns="90000" tIns="45720" rIns="91440" bIns="45720" rtlCol="0">
            <a:noAutofit/>
          </a:bodyPr>
          <a:lstStyle>
            <a:lvl1pPr marL="342900" indent="-34290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B2BECD"/>
              </a:buClr>
              <a:buFont typeface="+mj-lt"/>
              <a:buAutoNum type="arabicPeriod"/>
              <a:defRPr lang="en-US" sz="1600" b="0" dirty="0">
                <a:solidFill>
                  <a:schemeClr val="tx2"/>
                </a:solidFill>
              </a:defRPr>
            </a:lvl1pPr>
            <a:lvl2pPr>
              <a:defRPr sz="16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600">
                <a:solidFill>
                  <a:schemeClr val="tx2"/>
                </a:solidFill>
              </a:defRPr>
            </a:lvl4pPr>
            <a:lvl5pPr>
              <a:defRPr sz="1600">
                <a:solidFill>
                  <a:schemeClr val="tx2"/>
                </a:solidFill>
              </a:defRPr>
            </a:lvl5pPr>
            <a:lvl6pPr>
              <a:defRPr sz="1600">
                <a:solidFill>
                  <a:schemeClr val="tx2"/>
                </a:solidFill>
              </a:defRPr>
            </a:lvl6pPr>
            <a:lvl7pPr>
              <a:defRPr sz="1600">
                <a:solidFill>
                  <a:schemeClr val="tx2"/>
                </a:solidFill>
              </a:defRPr>
            </a:lvl7pPr>
            <a:lvl8pPr>
              <a:defRPr sz="1600">
                <a:solidFill>
                  <a:schemeClr val="tx2"/>
                </a:solidFill>
              </a:defRPr>
            </a:lvl8pPr>
          </a:lstStyle>
          <a:p>
            <a:pPr marL="342900" indent="-342900">
              <a:lnSpc>
                <a:spcPct val="114000"/>
              </a:lnSpc>
              <a:buClr>
                <a:srgbClr val="9FABB6"/>
              </a:buClr>
              <a:buFont typeface="+mj-lt"/>
              <a:buAutoNum type="arabicPeriod"/>
            </a:pPr>
            <a:r>
              <a:rPr lang="en-US" dirty="0"/>
              <a:t>Insert sections (make bold to highlight sections)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B3FAE89E-5649-9B44-9D8C-7D3C163D27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3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010DD217-089D-C949-BCCE-0C2D8196FA3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277522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slide title</a:t>
            </a:r>
          </a:p>
        </p:txBody>
      </p:sp>
      <p:sp>
        <p:nvSpPr>
          <p:cNvPr id="8" name="Footer Placeholder 5">
            <a:extLst>
              <a:ext uri="{FF2B5EF4-FFF2-40B4-BE49-F238E27FC236}">
                <a16:creationId xmlns:a16="http://schemas.microsoft.com/office/drawing/2014/main" id="{B4138DB0-ED82-C84A-8589-E27E32B9B58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69790" y="6549140"/>
            <a:ext cx="804066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>
              <a:defRPr lang="en-US" sz="1000" b="1" spc="10" dirty="0">
                <a:solidFill>
                  <a:srgbClr val="B3BECD"/>
                </a:solidFill>
              </a:defRPr>
            </a:lvl1pPr>
          </a:lstStyle>
          <a:p>
            <a:r>
              <a:rPr lang="en-US"/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25265752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 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D0F7AAF3-E03F-F445-84B7-DEC6FD5CC0B8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48F36FC-ED84-CE49-90C1-FB88EDBAE7F2}"/>
              </a:ext>
            </a:extLst>
          </p:cNvPr>
          <p:cNvSpPr/>
          <p:nvPr userDrawn="1"/>
        </p:nvSpPr>
        <p:spPr>
          <a:xfrm>
            <a:off x="1526401" y="0"/>
            <a:ext cx="10665600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B3FAE89E-5649-9B44-9D8C-7D3C163D27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smtClean="0"/>
              <a:pPr/>
              <a:t>‹#›</a:t>
            </a:fld>
            <a:endParaRPr dirty="0"/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3A2DC225-29A5-1C4E-85B1-B1B58619FC8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277522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slide title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D37A1B97-F536-DA40-9B5F-C768D92CAC7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80000" y="1366268"/>
            <a:ext cx="10665667" cy="4952085"/>
          </a:xfrm>
          <a:prstGeom prst="rect">
            <a:avLst/>
          </a:prstGeom>
        </p:spPr>
        <p:txBody>
          <a:bodyPr vert="horz" lIns="90000" tIns="45720" rIns="91440" bIns="45720" rtlCol="0">
            <a:noAutofit/>
          </a:bodyPr>
          <a:lstStyle>
            <a:lvl1pPr marL="342900" indent="-34290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B2BECD"/>
              </a:buClr>
              <a:buFont typeface="+mj-lt"/>
              <a:buAutoNum type="arabicPeriod"/>
              <a:defRPr lang="en-US" sz="1600" b="0" dirty="0">
                <a:solidFill>
                  <a:schemeClr val="bg1"/>
                </a:solidFill>
              </a:defRPr>
            </a:lvl1pPr>
            <a:lvl2pPr>
              <a:defRPr sz="1600">
                <a:solidFill>
                  <a:schemeClr val="bg1"/>
                </a:solidFill>
              </a:defRPr>
            </a:lvl2pPr>
            <a:lvl3pPr>
              <a:defRPr sz="1600">
                <a:solidFill>
                  <a:schemeClr val="bg1"/>
                </a:solidFill>
              </a:defRPr>
            </a:lvl3pPr>
            <a:lvl4pPr>
              <a:defRPr sz="1600">
                <a:solidFill>
                  <a:schemeClr val="bg1"/>
                </a:solidFill>
              </a:defRPr>
            </a:lvl4pPr>
            <a:lvl5pPr>
              <a:defRPr sz="1600">
                <a:solidFill>
                  <a:schemeClr val="bg1"/>
                </a:solidFill>
              </a:defRPr>
            </a:lvl5pPr>
            <a:lvl6pPr>
              <a:defRPr sz="1600">
                <a:solidFill>
                  <a:schemeClr val="bg1"/>
                </a:solidFill>
              </a:defRPr>
            </a:lvl6pPr>
            <a:lvl7pPr>
              <a:defRPr sz="1600">
                <a:solidFill>
                  <a:schemeClr val="bg1"/>
                </a:solidFill>
              </a:defRPr>
            </a:lvl7pPr>
            <a:lvl8pPr>
              <a:defRPr sz="1600">
                <a:solidFill>
                  <a:schemeClr val="bg1"/>
                </a:solidFill>
              </a:defRPr>
            </a:lvl8pPr>
          </a:lstStyle>
          <a:p>
            <a:pPr marL="342900" indent="-342900">
              <a:lnSpc>
                <a:spcPct val="114000"/>
              </a:lnSpc>
              <a:buClr>
                <a:srgbClr val="9FABB6"/>
              </a:buClr>
              <a:buFont typeface="+mj-lt"/>
              <a:buAutoNum type="arabicPeriod"/>
            </a:pPr>
            <a:r>
              <a:rPr lang="en-US" dirty="0"/>
              <a:t>Insert sections (make bold to highlight sections)</a:t>
            </a:r>
          </a:p>
        </p:txBody>
      </p:sp>
    </p:spTree>
    <p:extLst>
      <p:ext uri="{BB962C8B-B14F-4D97-AF65-F5344CB8AC3E}">
        <p14:creationId xmlns:p14="http://schemas.microsoft.com/office/powerpoint/2010/main" val="35692078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DD864A3-F6DC-434B-B5BE-5F14C8CEA463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7" name="Title 1">
            <a:extLst>
              <a:ext uri="{FF2B5EF4-FFF2-40B4-BE49-F238E27FC236}">
                <a16:creationId xmlns:a16="http://schemas.microsoft.com/office/drawing/2014/main" id="{8A8B0682-F79C-014E-BF74-DADFA39ECD0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5460373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 - 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B3FAE89E-5649-9B44-9D8C-7D3C163D27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3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010DD217-089D-C949-BCCE-0C2D8196FA3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277522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slide title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5606E028-6F75-5A40-AE18-EB44D4BC81AB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24990303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 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AD62445-A202-3741-926B-06A74F654895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A7985789-259F-8A45-8AFC-1116A7FBC4C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0585523F-AA2C-D94A-8558-94C468B99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5B723CB0-4ECE-354C-B92C-5CCAC7B1422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5734875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as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100000">
                <a:srgbClr val="AA98C4"/>
              </a:gs>
              <a:gs pos="0">
                <a:srgbClr val="576BAA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4062C32F-BF79-8E4D-80C7-A236088BE3DC}"/>
              </a:ext>
            </a:extLst>
          </p:cNvPr>
          <p:cNvSpPr/>
          <p:nvPr userDrawn="1"/>
        </p:nvSpPr>
        <p:spPr>
          <a:xfrm>
            <a:off x="-230588" y="385969"/>
            <a:ext cx="12730038" cy="7310231"/>
          </a:xfrm>
          <a:prstGeom prst="ellipse">
            <a:avLst/>
          </a:prstGeom>
          <a:gradFill flip="none" rotWithShape="1">
            <a:gsLst>
              <a:gs pos="100000">
                <a:schemeClr val="bg1">
                  <a:alpha val="0"/>
                </a:schemeClr>
              </a:gs>
              <a:gs pos="45000">
                <a:srgbClr val="FFFFFF">
                  <a:alpha val="15000"/>
                </a:srgbClr>
              </a:gs>
              <a:gs pos="0">
                <a:schemeClr val="bg1">
                  <a:alpha val="57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5B5964A-85C4-E845-8FF0-BCE54011F8F7}"/>
              </a:ext>
            </a:extLst>
          </p:cNvPr>
          <p:cNvSpPr/>
          <p:nvPr userDrawn="1"/>
        </p:nvSpPr>
        <p:spPr>
          <a:xfrm>
            <a:off x="0" y="-4586"/>
            <a:ext cx="12192000" cy="6858000"/>
          </a:xfrm>
          <a:prstGeom prst="rect">
            <a:avLst/>
          </a:prstGeom>
          <a:gradFill>
            <a:gsLst>
              <a:gs pos="100000">
                <a:srgbClr val="576BAA">
                  <a:alpha val="45000"/>
                </a:srgbClr>
              </a:gs>
              <a:gs pos="50000">
                <a:srgbClr val="AA98C4">
                  <a:alpha val="0"/>
                </a:srgbClr>
              </a:gs>
              <a:gs pos="0">
                <a:srgbClr val="576BAA">
                  <a:alpha val="65000"/>
                </a:srgb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AD62445-A202-3741-926B-06A74F654895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A7985789-259F-8A45-8AFC-1116A7FBC4C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0585523F-AA2C-D94A-8558-94C468B99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chemeClr val="bg1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5B723CB0-4ECE-354C-B92C-5CCAC7B1422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5048214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ark with graphic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>
            <a:extLst>
              <a:ext uri="{FF2B5EF4-FFF2-40B4-BE49-F238E27FC236}">
                <a16:creationId xmlns:a16="http://schemas.microsoft.com/office/drawing/2014/main" id="{7F570A5C-1465-F949-AFD7-E381D9043BB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-2749"/>
            <a:ext cx="12192000" cy="686870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24000">
                <a:schemeClr val="tx2">
                  <a:alpha val="80000"/>
                </a:schemeClr>
              </a:gs>
              <a:gs pos="0">
                <a:schemeClr val="tx2">
                  <a:alpha val="74000"/>
                </a:schemeClr>
              </a:gs>
              <a:gs pos="93000">
                <a:schemeClr val="tx2">
                  <a:alpha val="25000"/>
                </a:scheme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44">
              <a:solidFill>
                <a:schemeClr val="accent2"/>
              </a:solidFill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9FB5ABF-597D-DA40-9F8B-5743780B79A1}"/>
              </a:ext>
            </a:extLst>
          </p:cNvPr>
          <p:cNvSpPr/>
          <p:nvPr userDrawn="1"/>
        </p:nvSpPr>
        <p:spPr>
          <a:xfrm>
            <a:off x="0" y="1720892"/>
            <a:ext cx="12192000" cy="5145061"/>
          </a:xfrm>
          <a:prstGeom prst="rect">
            <a:avLst/>
          </a:prstGeom>
          <a:gradFill>
            <a:gsLst>
              <a:gs pos="46000">
                <a:schemeClr val="accent2">
                  <a:alpha val="0"/>
                </a:schemeClr>
              </a:gs>
              <a:gs pos="100000">
                <a:srgbClr val="DFC101">
                  <a:alpha val="32000"/>
                </a:srgbClr>
              </a:gs>
              <a:gs pos="82000">
                <a:schemeClr val="accent2">
                  <a:alpha val="15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5912" tIns="57275" rIns="85912" bIns="57275" rtlCol="0" anchor="t"/>
          <a:lstStyle/>
          <a:p>
            <a:pPr algn="l"/>
            <a:endParaRPr lang="en-US" sz="1273" dirty="0" err="1">
              <a:solidFill>
                <a:schemeClr val="bg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0B229FA-CC1D-8949-846A-2C092B3B817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Slide Number Placeholder 5">
            <a:extLst>
              <a:ext uri="{FF2B5EF4-FFF2-40B4-BE49-F238E27FC236}">
                <a16:creationId xmlns:a16="http://schemas.microsoft.com/office/drawing/2014/main" id="{F1029506-2B22-D540-9093-4B18C0BD137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4543FC0-FA8A-4842-8FC2-F203AF9029D4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5" name="Text Placeholder 4">
            <a:extLst>
              <a:ext uri="{FF2B5EF4-FFF2-40B4-BE49-F238E27FC236}">
                <a16:creationId xmlns:a16="http://schemas.microsoft.com/office/drawing/2014/main" id="{B0B6AD95-6CA1-134E-A06C-BEECADF70E0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6" name="Title 1">
            <a:extLst>
              <a:ext uri="{FF2B5EF4-FFF2-40B4-BE49-F238E27FC236}">
                <a16:creationId xmlns:a16="http://schemas.microsoft.com/office/drawing/2014/main" id="{EC2317AA-E47D-1A45-A701-485ECFFE29F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33" name="Content Placeholder 2">
            <a:extLst>
              <a:ext uri="{FF2B5EF4-FFF2-40B4-BE49-F238E27FC236}">
                <a16:creationId xmlns:a16="http://schemas.microsoft.com/office/drawing/2014/main" id="{B399D4FA-CC06-BB46-A0F0-A490F2F22187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8475046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 reversed colo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401" y="0"/>
            <a:ext cx="10665600" cy="8568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DD864A3-F6DC-434B-B5BE-5F14C8CEA463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7" name="Title 1">
            <a:extLst>
              <a:ext uri="{FF2B5EF4-FFF2-40B4-BE49-F238E27FC236}">
                <a16:creationId xmlns:a16="http://schemas.microsoft.com/office/drawing/2014/main" id="{8A8B0682-F79C-014E-BF74-DADFA39ECD0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880141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C0CA7ACA-36F1-CC4B-B88F-E30BC3BB7F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E70E661-2568-014D-9679-50866771DD38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5E177DEE-B705-3E43-89AC-7B3420354C3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17FC6343-20BF-144E-82D5-AAFFD46B946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21934A-DE0A-C841-9479-688B6BBD6022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425450" y="1366838"/>
            <a:ext cx="5421313" cy="4950149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0DA720B1-8ADB-B746-A933-6029EBDCC50B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6345667" y="1366837"/>
            <a:ext cx="5421313" cy="4950150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9905615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 contra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602F3CE-3A89-6048-9903-A3ECEDE9519E}"/>
              </a:ext>
            </a:extLst>
          </p:cNvPr>
          <p:cNvSpPr/>
          <p:nvPr userDrawn="1"/>
        </p:nvSpPr>
        <p:spPr>
          <a:xfrm>
            <a:off x="6092456" y="857977"/>
            <a:ext cx="6099544" cy="600954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A4A2A52-2842-B847-AEC4-CBD2BA3484C4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3" name="Text Placeholder 4">
            <a:extLst>
              <a:ext uri="{FF2B5EF4-FFF2-40B4-BE49-F238E27FC236}">
                <a16:creationId xmlns:a16="http://schemas.microsoft.com/office/drawing/2014/main" id="{49C73C1F-AEDD-7D45-8181-915FDFA1014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E9CA1143-6585-1C41-BCC0-F6D86454877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3655483-73D5-1842-B980-1CB68BC0E61E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425450" y="1366838"/>
            <a:ext cx="5421313" cy="4950149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DC502811-F846-1F49-AD36-092A6CA4C35B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6345667" y="1366837"/>
            <a:ext cx="5421313" cy="4950150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33317707-F6BD-BC43-AFE4-EF3A58BA0D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65944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EAB487C9-ECA1-B54D-8C96-3D8551EC5901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AFA66B3B-E195-4A46-97EC-4F5B8E0BC80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2" name="Title 1">
            <a:extLst>
              <a:ext uri="{FF2B5EF4-FFF2-40B4-BE49-F238E27FC236}">
                <a16:creationId xmlns:a16="http://schemas.microsoft.com/office/drawing/2014/main" id="{3163FBFA-31D9-6B47-A169-FE02B11448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7C84D26-9EDC-F949-AC1A-A72B1BBE389A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425304" y="1366988"/>
            <a:ext cx="3548218" cy="4950000"/>
          </a:xfrm>
        </p:spPr>
        <p:txBody>
          <a:bodyPr lIns="90000" tIns="468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8" name="Content Placeholder 4">
            <a:extLst>
              <a:ext uri="{FF2B5EF4-FFF2-40B4-BE49-F238E27FC236}">
                <a16:creationId xmlns:a16="http://schemas.microsoft.com/office/drawing/2014/main" id="{3817169C-C0BF-0A40-9984-FECFBA08563F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4332642" y="1366988"/>
            <a:ext cx="3548218" cy="4950000"/>
          </a:xfrm>
        </p:spPr>
        <p:txBody>
          <a:bodyPr lIns="90000" tIns="468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9" name="Content Placeholder 4">
            <a:extLst>
              <a:ext uri="{FF2B5EF4-FFF2-40B4-BE49-F238E27FC236}">
                <a16:creationId xmlns:a16="http://schemas.microsoft.com/office/drawing/2014/main" id="{6FEB4DC9-D693-9443-81DF-3152226B1930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8197449" y="1366988"/>
            <a:ext cx="3548218" cy="4950000"/>
          </a:xfrm>
        </p:spPr>
        <p:txBody>
          <a:bodyPr lIns="90000" tIns="468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45A2829-FFCA-D14F-91DA-F2D5FAE26F0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126539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 +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EAB487C9-ECA1-B54D-8C96-3D8551EC5901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AFA66B3B-E195-4A46-97EC-4F5B8E0BC80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2" name="Title 1">
            <a:extLst>
              <a:ext uri="{FF2B5EF4-FFF2-40B4-BE49-F238E27FC236}">
                <a16:creationId xmlns:a16="http://schemas.microsoft.com/office/drawing/2014/main" id="{3163FBFA-31D9-6B47-A169-FE02B11448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3A7E353-A588-4F4A-90F0-66ACD5821690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8218715" y="1366988"/>
            <a:ext cx="3526952" cy="4950000"/>
          </a:xfrm>
          <a:prstGeom prst="rect">
            <a:avLst/>
          </a:prstGeom>
        </p:spPr>
        <p:txBody>
          <a:bodyPr wrap="square" lIns="0" rIns="0" bIns="46800" anchor="ctr"/>
          <a:lstStyle>
            <a:lvl1pPr marL="0" indent="0" algn="ctr">
              <a:buNone/>
              <a:defRPr lang="en-US" sz="1400" b="0">
                <a:solidFill>
                  <a:schemeClr val="tx2"/>
                </a:solidFill>
              </a:defRPr>
            </a:lvl1pPr>
          </a:lstStyle>
          <a:p>
            <a:pPr marL="228600" lvl="0" indent="-228600">
              <a:lnSpc>
                <a:spcPct val="114000"/>
              </a:lnSpc>
            </a:pPr>
            <a:r>
              <a:rPr lang="en-US" dirty="0"/>
              <a:t>Insert a picture here. </a:t>
            </a:r>
            <a:br>
              <a:rPr lang="en-US" dirty="0"/>
            </a:br>
            <a:r>
              <a:rPr lang="en-US" dirty="0"/>
              <a:t>The picture will be cropped to placeholder.</a:t>
            </a:r>
            <a:br>
              <a:rPr lang="en-US" dirty="0"/>
            </a:br>
            <a:r>
              <a:rPr lang="en-US" dirty="0"/>
              <a:t>The position can be set via picture settings.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endParaRPr lang="en-US" dirty="0"/>
          </a:p>
        </p:txBody>
      </p:sp>
      <p:sp>
        <p:nvSpPr>
          <p:cNvPr id="12" name="Content Placeholder 4">
            <a:extLst>
              <a:ext uri="{FF2B5EF4-FFF2-40B4-BE49-F238E27FC236}">
                <a16:creationId xmlns:a16="http://schemas.microsoft.com/office/drawing/2014/main" id="{0930E766-BD21-724F-ADBE-C3AA43F4CD87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425304" y="1366988"/>
            <a:ext cx="3548218" cy="4950000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3" name="Content Placeholder 4">
            <a:extLst>
              <a:ext uri="{FF2B5EF4-FFF2-40B4-BE49-F238E27FC236}">
                <a16:creationId xmlns:a16="http://schemas.microsoft.com/office/drawing/2014/main" id="{F11B0C39-D009-B544-B7E4-F06D9BA4A5A7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4332642" y="1366988"/>
            <a:ext cx="3548218" cy="4950000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9D44F31D-ED30-0B48-8DF3-597B351FA8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531192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5A208878-2260-3E4C-BBF0-1ABC5DE85308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8218713" y="1366988"/>
            <a:ext cx="3526953" cy="4951412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100000"/>
              </a:lnSpc>
              <a:buNone/>
              <a:defRPr sz="1400" b="0" i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Insert a picture here. </a:t>
            </a:r>
            <a:br>
              <a:rPr lang="en-US" dirty="0"/>
            </a:br>
            <a:r>
              <a:rPr lang="en-US" dirty="0"/>
              <a:t>The picture will be cropped to placeholder size.</a:t>
            </a:r>
            <a:br>
              <a:rPr lang="en-US" dirty="0"/>
            </a:br>
            <a:r>
              <a:rPr lang="en-US" dirty="0"/>
              <a:t>The position can be set via picture settings.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E2F1FF5-0CB8-5244-87C9-8C167EB6734D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8289E72B-8537-DA46-B51A-1764BAD1100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19" name="Title 1">
            <a:extLst>
              <a:ext uri="{FF2B5EF4-FFF2-40B4-BE49-F238E27FC236}">
                <a16:creationId xmlns:a16="http://schemas.microsoft.com/office/drawing/2014/main" id="{DCAD90D6-8AB2-DE4E-A1B2-D53B38CD257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61AE6A-17BD-3C43-B24D-A3D22CFBB4AC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14372" y="1366988"/>
            <a:ext cx="7345113" cy="4951412"/>
          </a:xfrm>
        </p:spPr>
        <p:txBody>
          <a:bodyPr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A1EFC51B-F0FA-CF4B-AC2A-30474AC390B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178396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tric overvie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EE4B9930-CD1C-CA44-8C43-D95C6097D120}"/>
              </a:ext>
            </a:extLst>
          </p:cNvPr>
          <p:cNvSpPr/>
          <p:nvPr userDrawn="1"/>
        </p:nvSpPr>
        <p:spPr>
          <a:xfrm>
            <a:off x="4989841" y="5698067"/>
            <a:ext cx="7202159" cy="115993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2A564C0-5D9C-5145-B29A-05DCBD35ED69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5F98EE3B-D03A-DD43-A8E2-3C5AB37DAAE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7A393E49-A939-1E42-9494-C19B9F240D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C01FCD5-EE6E-3543-8FD5-9B4F7C1A74C1}"/>
              </a:ext>
            </a:extLst>
          </p:cNvPr>
          <p:cNvSpPr/>
          <p:nvPr userDrawn="1"/>
        </p:nvSpPr>
        <p:spPr>
          <a:xfrm>
            <a:off x="0" y="5505561"/>
            <a:ext cx="4253241" cy="78671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41" name="Text Placeholder 11">
            <a:extLst>
              <a:ext uri="{FF2B5EF4-FFF2-40B4-BE49-F238E27FC236}">
                <a16:creationId xmlns:a16="http://schemas.microsoft.com/office/drawing/2014/main" id="{ECB82676-C1C3-D348-AF83-1EF35EDE361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983832" y="5908297"/>
            <a:ext cx="984550" cy="199737"/>
          </a:xfrm>
          <a:prstGeom prst="rect">
            <a:avLst/>
          </a:prstGeom>
          <a:noFill/>
        </p:spPr>
        <p:txBody>
          <a:bodyPr lIns="0" tIns="0" rIns="0" bIns="0" anchor="ctr"/>
          <a:lstStyle>
            <a:lvl1pPr marL="0" indent="0" algn="ctr">
              <a:lnSpc>
                <a:spcPct val="70000"/>
              </a:lnSpc>
              <a:spcBef>
                <a:spcPts val="0"/>
              </a:spcBef>
              <a:buNone/>
              <a:defRPr sz="1800" b="0" i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/>
            <a:r>
              <a:rPr lang="en-US" dirty="0"/>
              <a:t>IIIII</a:t>
            </a:r>
          </a:p>
        </p:txBody>
      </p:sp>
      <p:sp>
        <p:nvSpPr>
          <p:cNvPr id="46" name="Text Placeholder 11">
            <a:extLst>
              <a:ext uri="{FF2B5EF4-FFF2-40B4-BE49-F238E27FC236}">
                <a16:creationId xmlns:a16="http://schemas.microsoft.com/office/drawing/2014/main" id="{835C75AB-59F9-834C-8767-A3EB61616D94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234754" y="5695488"/>
            <a:ext cx="482705" cy="198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buNone/>
              <a:defRPr sz="1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#.#</a:t>
            </a:r>
          </a:p>
        </p:txBody>
      </p:sp>
      <p:sp>
        <p:nvSpPr>
          <p:cNvPr id="44" name="Text Placeholder 11">
            <a:extLst>
              <a:ext uri="{FF2B5EF4-FFF2-40B4-BE49-F238E27FC236}">
                <a16:creationId xmlns:a16="http://schemas.microsoft.com/office/drawing/2014/main" id="{430E3A36-E8DA-6C49-9EB1-E22666F652A8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14373" y="5798438"/>
            <a:ext cx="2397600" cy="223200"/>
          </a:xfrm>
          <a:prstGeom prst="rect">
            <a:avLst/>
          </a:prstGeom>
          <a:noFill/>
        </p:spPr>
        <p:txBody>
          <a:bodyPr wrap="square" lIns="0" tIns="0" rIns="90000" bIns="0" anchor="ctr">
            <a:spAutoFit/>
          </a:bodyPr>
          <a:lstStyle>
            <a:lvl1pPr marL="0" indent="0" algn="l">
              <a:lnSpc>
                <a:spcPct val="90000"/>
              </a:lnSpc>
              <a:buNone/>
              <a:defRPr sz="16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metric name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5AD301B-75B6-8D48-80C0-A4199B9A02BF}"/>
              </a:ext>
            </a:extLst>
          </p:cNvPr>
          <p:cNvSpPr/>
          <p:nvPr userDrawn="1"/>
        </p:nvSpPr>
        <p:spPr>
          <a:xfrm>
            <a:off x="2517735" y="859129"/>
            <a:ext cx="1721491" cy="4674369"/>
          </a:xfrm>
          <a:prstGeom prst="rect">
            <a:avLst/>
          </a:prstGeom>
          <a:gradFill>
            <a:gsLst>
              <a:gs pos="10000">
                <a:srgbClr val="AFB9C2">
                  <a:alpha val="1000"/>
                </a:srgbClr>
              </a:gs>
              <a:gs pos="90000">
                <a:srgbClr val="AFB9C2">
                  <a:alpha val="0"/>
                </a:srgbClr>
              </a:gs>
              <a:gs pos="50000">
                <a:srgbClr val="AFB9C2">
                  <a:alpha val="25000"/>
                </a:srgb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23E1BDCF-5BFE-FE49-A911-63130C874BA0}"/>
              </a:ext>
            </a:extLst>
          </p:cNvPr>
          <p:cNvSpPr/>
          <p:nvPr userDrawn="1"/>
        </p:nvSpPr>
        <p:spPr>
          <a:xfrm>
            <a:off x="2515428" y="860920"/>
            <a:ext cx="1715709" cy="4644640"/>
          </a:xfrm>
          <a:prstGeom prst="rect">
            <a:avLst/>
          </a:prstGeom>
          <a:gradFill>
            <a:gsLst>
              <a:gs pos="0">
                <a:schemeClr val="bg2"/>
              </a:gs>
              <a:gs pos="100000">
                <a:schemeClr val="bg2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A7677BE5-1E8F-1041-94D8-7FE480E767C2}"/>
              </a:ext>
            </a:extLst>
          </p:cNvPr>
          <p:cNvCxnSpPr>
            <a:cxnSpLocks/>
          </p:cNvCxnSpPr>
          <p:nvPr userDrawn="1"/>
        </p:nvCxnSpPr>
        <p:spPr>
          <a:xfrm>
            <a:off x="4246367" y="1366988"/>
            <a:ext cx="0" cy="4025055"/>
          </a:xfrm>
          <a:prstGeom prst="line">
            <a:avLst/>
          </a:prstGeom>
          <a:ln w="19050">
            <a:solidFill>
              <a:srgbClr val="AFB9C2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 Placeholder 11">
            <a:extLst>
              <a:ext uri="{FF2B5EF4-FFF2-40B4-BE49-F238E27FC236}">
                <a16:creationId xmlns:a16="http://schemas.microsoft.com/office/drawing/2014/main" id="{FAF313A3-FEEC-CE41-9CC2-83C432778B2B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727221" y="5734485"/>
            <a:ext cx="466644" cy="1593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l">
              <a:buNone/>
              <a:defRPr sz="1200" b="0">
                <a:solidFill>
                  <a:srgbClr val="B2BECD"/>
                </a:solidFill>
              </a:defRPr>
            </a:lvl1pPr>
          </a:lstStyle>
          <a:p>
            <a:pPr lvl="0"/>
            <a:r>
              <a:rPr lang="en-US" dirty="0"/>
              <a:t>+-#.##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FD34E09-B672-CF47-8451-5270CB616A87}"/>
              </a:ext>
            </a:extLst>
          </p:cNvPr>
          <p:cNvSpPr/>
          <p:nvPr userDrawn="1"/>
        </p:nvSpPr>
        <p:spPr>
          <a:xfrm>
            <a:off x="4255741" y="5505560"/>
            <a:ext cx="7936259" cy="503364"/>
          </a:xfrm>
          <a:prstGeom prst="rect">
            <a:avLst/>
          </a:prstGeom>
          <a:gradFill>
            <a:gsLst>
              <a:gs pos="100000">
                <a:schemeClr val="bg1">
                  <a:alpha val="0"/>
                </a:schemeClr>
              </a:gs>
              <a:gs pos="0">
                <a:schemeClr val="bg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89B80F2-D674-0E4C-842B-7A30702B1C06}"/>
              </a:ext>
            </a:extLst>
          </p:cNvPr>
          <p:cNvSpPr/>
          <p:nvPr userDrawn="1"/>
        </p:nvSpPr>
        <p:spPr>
          <a:xfrm>
            <a:off x="9343381" y="5238893"/>
            <a:ext cx="2848620" cy="1306286"/>
          </a:xfrm>
          <a:prstGeom prst="rect">
            <a:avLst/>
          </a:prstGeom>
          <a:gradFill>
            <a:gsLst>
              <a:gs pos="100000">
                <a:schemeClr val="bg2"/>
              </a:gs>
              <a:gs pos="0">
                <a:schemeClr val="bg2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D3F50C4B-7039-1045-AB59-6FDD08E2573A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14372" y="1366988"/>
            <a:ext cx="3354895" cy="3954086"/>
          </a:xfrm>
        </p:spPr>
        <p:txBody>
          <a:bodyPr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25" name="Slide Number Placeholder 5">
            <a:extLst>
              <a:ext uri="{FF2B5EF4-FFF2-40B4-BE49-F238E27FC236}">
                <a16:creationId xmlns:a16="http://schemas.microsoft.com/office/drawing/2014/main" id="{C4B0E93E-75EE-6A4B-8272-3D8D30E3A8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386434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tric overview - Qualita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EE4B9930-CD1C-CA44-8C43-D95C6097D120}"/>
              </a:ext>
            </a:extLst>
          </p:cNvPr>
          <p:cNvSpPr/>
          <p:nvPr userDrawn="1"/>
        </p:nvSpPr>
        <p:spPr>
          <a:xfrm>
            <a:off x="4989841" y="5698067"/>
            <a:ext cx="7202159" cy="115993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2A564C0-5D9C-5145-B29A-05DCBD35ED69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5F98EE3B-D03A-DD43-A8E2-3C5AB37DAAE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7A393E49-A939-1E42-9494-C19B9F240D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C01FCD5-EE6E-3543-8FD5-9B4F7C1A74C1}"/>
              </a:ext>
            </a:extLst>
          </p:cNvPr>
          <p:cNvSpPr/>
          <p:nvPr userDrawn="1"/>
        </p:nvSpPr>
        <p:spPr>
          <a:xfrm>
            <a:off x="0" y="5505561"/>
            <a:ext cx="4253241" cy="78671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41" name="Text Placeholder 11">
            <a:extLst>
              <a:ext uri="{FF2B5EF4-FFF2-40B4-BE49-F238E27FC236}">
                <a16:creationId xmlns:a16="http://schemas.microsoft.com/office/drawing/2014/main" id="{ECB82676-C1C3-D348-AF83-1EF35EDE361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983832" y="5908297"/>
            <a:ext cx="984550" cy="199737"/>
          </a:xfrm>
          <a:prstGeom prst="rect">
            <a:avLst/>
          </a:prstGeom>
          <a:noFill/>
        </p:spPr>
        <p:txBody>
          <a:bodyPr lIns="0" tIns="0" rIns="0" bIns="0" anchor="ctr"/>
          <a:lstStyle>
            <a:lvl1pPr marL="0" indent="0" algn="ctr">
              <a:lnSpc>
                <a:spcPct val="70000"/>
              </a:lnSpc>
              <a:spcBef>
                <a:spcPts val="0"/>
              </a:spcBef>
              <a:buNone/>
              <a:defRPr sz="1800" b="0" i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/>
            <a:r>
              <a:rPr lang="en-US" dirty="0"/>
              <a:t>IIIII</a:t>
            </a:r>
          </a:p>
        </p:txBody>
      </p:sp>
      <p:sp>
        <p:nvSpPr>
          <p:cNvPr id="46" name="Text Placeholder 11">
            <a:extLst>
              <a:ext uri="{FF2B5EF4-FFF2-40B4-BE49-F238E27FC236}">
                <a16:creationId xmlns:a16="http://schemas.microsoft.com/office/drawing/2014/main" id="{835C75AB-59F9-834C-8767-A3EB61616D94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234754" y="5695488"/>
            <a:ext cx="482705" cy="198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buNone/>
              <a:defRPr sz="1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#.#</a:t>
            </a:r>
          </a:p>
        </p:txBody>
      </p:sp>
      <p:sp>
        <p:nvSpPr>
          <p:cNvPr id="44" name="Text Placeholder 11">
            <a:extLst>
              <a:ext uri="{FF2B5EF4-FFF2-40B4-BE49-F238E27FC236}">
                <a16:creationId xmlns:a16="http://schemas.microsoft.com/office/drawing/2014/main" id="{430E3A36-E8DA-6C49-9EB1-E22666F652A8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14373" y="5799858"/>
            <a:ext cx="2397600" cy="223200"/>
          </a:xfrm>
          <a:prstGeom prst="rect">
            <a:avLst/>
          </a:prstGeom>
          <a:noFill/>
        </p:spPr>
        <p:txBody>
          <a:bodyPr vert="horz" wrap="square" lIns="0" tIns="0" rIns="90000" bIns="0" rtlCol="0" anchor="ctr">
            <a:spAutoFit/>
          </a:bodyPr>
          <a:lstStyle>
            <a:lvl1pPr marL="0" indent="0">
              <a:lnSpc>
                <a:spcPct val="90000"/>
              </a:lnSpc>
              <a:buNone/>
              <a:defRPr lang="en-US" b="1" dirty="0">
                <a:solidFill>
                  <a:schemeClr val="bg1"/>
                </a:solidFill>
              </a:defRPr>
            </a:lvl1pPr>
          </a:lstStyle>
          <a:p>
            <a:pPr marL="285750" lvl="0" indent="-285750"/>
            <a:r>
              <a:rPr lang="en-US" dirty="0"/>
              <a:t>metric name</a:t>
            </a: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A7677BE5-1E8F-1041-94D8-7FE480E767C2}"/>
              </a:ext>
            </a:extLst>
          </p:cNvPr>
          <p:cNvCxnSpPr>
            <a:cxnSpLocks/>
          </p:cNvCxnSpPr>
          <p:nvPr userDrawn="1"/>
        </p:nvCxnSpPr>
        <p:spPr>
          <a:xfrm>
            <a:off x="522333" y="1488831"/>
            <a:ext cx="0" cy="3903212"/>
          </a:xfrm>
          <a:prstGeom prst="line">
            <a:avLst/>
          </a:prstGeom>
          <a:ln w="19050">
            <a:solidFill>
              <a:srgbClr val="AFB9C2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 Placeholder 11">
            <a:extLst>
              <a:ext uri="{FF2B5EF4-FFF2-40B4-BE49-F238E27FC236}">
                <a16:creationId xmlns:a16="http://schemas.microsoft.com/office/drawing/2014/main" id="{FAF313A3-FEEC-CE41-9CC2-83C432778B2B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727221" y="5734485"/>
            <a:ext cx="466644" cy="1593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l">
              <a:buNone/>
              <a:defRPr sz="1200" b="0">
                <a:solidFill>
                  <a:srgbClr val="B2BECD"/>
                </a:solidFill>
              </a:defRPr>
            </a:lvl1pPr>
          </a:lstStyle>
          <a:p>
            <a:pPr lvl="0"/>
            <a:r>
              <a:rPr lang="en-US" dirty="0"/>
              <a:t>+-#.##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FD34E09-B672-CF47-8451-5270CB616A87}"/>
              </a:ext>
            </a:extLst>
          </p:cNvPr>
          <p:cNvSpPr/>
          <p:nvPr userDrawn="1"/>
        </p:nvSpPr>
        <p:spPr>
          <a:xfrm>
            <a:off x="4255741" y="5505560"/>
            <a:ext cx="7936259" cy="503364"/>
          </a:xfrm>
          <a:prstGeom prst="rect">
            <a:avLst/>
          </a:prstGeom>
          <a:gradFill>
            <a:gsLst>
              <a:gs pos="100000">
                <a:schemeClr val="bg1">
                  <a:alpha val="0"/>
                </a:schemeClr>
              </a:gs>
              <a:gs pos="0">
                <a:schemeClr val="bg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89B80F2-D674-0E4C-842B-7A30702B1C06}"/>
              </a:ext>
            </a:extLst>
          </p:cNvPr>
          <p:cNvSpPr/>
          <p:nvPr userDrawn="1"/>
        </p:nvSpPr>
        <p:spPr>
          <a:xfrm>
            <a:off x="9343381" y="5238893"/>
            <a:ext cx="2848620" cy="1306286"/>
          </a:xfrm>
          <a:prstGeom prst="rect">
            <a:avLst/>
          </a:prstGeom>
          <a:gradFill>
            <a:gsLst>
              <a:gs pos="100000">
                <a:schemeClr val="bg2"/>
              </a:gs>
              <a:gs pos="0">
                <a:schemeClr val="bg2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D3F50C4B-7039-1045-AB59-6FDD08E2573A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14372" y="1366988"/>
            <a:ext cx="11231295" cy="3954086"/>
          </a:xfrm>
        </p:spPr>
        <p:txBody>
          <a:bodyPr lIns="18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25" name="Slide Number Placeholder 5">
            <a:extLst>
              <a:ext uri="{FF2B5EF4-FFF2-40B4-BE49-F238E27FC236}">
                <a16:creationId xmlns:a16="http://schemas.microsoft.com/office/drawing/2014/main" id="{7F9FF7DA-17F8-2241-8F5E-D615FB44FF6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752863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act page genera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>
            <a:extLst>
              <a:ext uri="{FF2B5EF4-FFF2-40B4-BE49-F238E27FC236}">
                <a16:creationId xmlns:a16="http://schemas.microsoft.com/office/drawing/2014/main" id="{7F570A5C-1465-F949-AFD7-E381D9043BB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-2749"/>
            <a:ext cx="12192000" cy="68687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90565017-894C-E344-A8B5-B1F451E1E1C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0585523F-AA2C-D94A-8558-94C468B99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277200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slide title</a:t>
            </a:r>
          </a:p>
        </p:txBody>
      </p:sp>
      <p:sp>
        <p:nvSpPr>
          <p:cNvPr id="35" name="Text Placeholder 2">
            <a:extLst>
              <a:ext uri="{FF2B5EF4-FFF2-40B4-BE49-F238E27FC236}">
                <a16:creationId xmlns:a16="http://schemas.microsoft.com/office/drawing/2014/main" id="{EA732E99-E093-BA43-9D65-ED4C138D063D}"/>
              </a:ext>
            </a:extLst>
          </p:cNvPr>
          <p:cNvSpPr txBox="1">
            <a:spLocks/>
          </p:cNvSpPr>
          <p:nvPr userDrawn="1"/>
        </p:nvSpPr>
        <p:spPr>
          <a:xfrm>
            <a:off x="1869429" y="1504098"/>
            <a:ext cx="2881289" cy="216792"/>
          </a:xfrm>
          <a:prstGeom prst="rect">
            <a:avLst/>
          </a:prstGeom>
        </p:spPr>
        <p:txBody>
          <a:bodyPr wrap="square" tIns="0" bIns="0" anchor="t">
            <a:noAutofit/>
          </a:bodyPr>
          <a:lstStyle>
            <a:defPPr>
              <a:defRPr lang="en-US"/>
            </a:defPPr>
            <a:lvl1pPr marL="228600" lvl="0" indent="-228600">
              <a:lnSpc>
                <a:spcPct val="80000"/>
              </a:lnSpc>
              <a:spcBef>
                <a:spcPts val="1000"/>
              </a:spcBef>
              <a:buFont typeface="Arial"/>
              <a:buNone/>
              <a:defRPr sz="2000" b="0">
                <a:solidFill>
                  <a:srgbClr val="AFB9C2"/>
                </a:solidFill>
                <a:ea typeface="TheSans B6 SemiBold" charset="0"/>
                <a:cs typeface="TheSans B6 SemiBold" charset="0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9pPr>
          </a:lstStyle>
          <a:p>
            <a:pPr lvl="0" algn="l"/>
            <a:r>
              <a:rPr lang="en-US" sz="2400" b="1" i="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Presented </a:t>
            </a:r>
            <a:r>
              <a:rPr lang="en-US" sz="2400" b="0" i="0" dirty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by</a:t>
            </a:r>
            <a:endParaRPr lang="en-US" sz="2400" b="1" i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A240597-FB20-6A42-8EA6-4B770828805B}"/>
              </a:ext>
            </a:extLst>
          </p:cNvPr>
          <p:cNvSpPr/>
          <p:nvPr userDrawn="1"/>
        </p:nvSpPr>
        <p:spPr>
          <a:xfrm>
            <a:off x="6096000" y="853201"/>
            <a:ext cx="6095999" cy="6012750"/>
          </a:xfrm>
          <a:prstGeom prst="rect">
            <a:avLst/>
          </a:prstGeom>
          <a:gradFill>
            <a:gsLst>
              <a:gs pos="0">
                <a:srgbClr val="DFC101"/>
              </a:gs>
              <a:gs pos="30000">
                <a:schemeClr val="accent2">
                  <a:alpha val="85000"/>
                </a:schemeClr>
              </a:gs>
              <a:gs pos="100000">
                <a:schemeClr val="accent2">
                  <a:alpha val="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F12D71D-5C15-3F47-9ACB-1C4A8CF8A4B8}"/>
              </a:ext>
            </a:extLst>
          </p:cNvPr>
          <p:cNvCxnSpPr/>
          <p:nvPr userDrawn="1"/>
        </p:nvCxnSpPr>
        <p:spPr>
          <a:xfrm>
            <a:off x="6096000" y="853201"/>
            <a:ext cx="0" cy="4067142"/>
          </a:xfrm>
          <a:prstGeom prst="line">
            <a:avLst/>
          </a:prstGeom>
          <a:ln w="15875">
            <a:gradFill>
              <a:gsLst>
                <a:gs pos="19000">
                  <a:schemeClr val="accent2"/>
                </a:gs>
                <a:gs pos="100000">
                  <a:schemeClr val="accent2">
                    <a:alpha val="0"/>
                  </a:schemeClr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2780D622-8466-B04C-8DFD-B730E797EA3F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1935666" y="2195270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45" name="Text Placeholder 7">
            <a:extLst>
              <a:ext uri="{FF2B5EF4-FFF2-40B4-BE49-F238E27FC236}">
                <a16:creationId xmlns:a16="http://schemas.microsoft.com/office/drawing/2014/main" id="{56FEDB43-2B74-1B40-B33C-A25AAD8DD999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1935666" y="3808800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47" name="Text Placeholder 10">
            <a:extLst>
              <a:ext uri="{FF2B5EF4-FFF2-40B4-BE49-F238E27FC236}">
                <a16:creationId xmlns:a16="http://schemas.microsoft.com/office/drawing/2014/main" id="{18E3A589-B95B-D14B-8B35-827248735BAF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1935666" y="40788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48" name="Text Placeholder 10">
            <a:extLst>
              <a:ext uri="{FF2B5EF4-FFF2-40B4-BE49-F238E27FC236}">
                <a16:creationId xmlns:a16="http://schemas.microsoft.com/office/drawing/2014/main" id="{8FBC5404-48F5-3F4D-9830-C71054E22120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1935666" y="2663507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49" name="Text Placeholder 7">
            <a:extLst>
              <a:ext uri="{FF2B5EF4-FFF2-40B4-BE49-F238E27FC236}">
                <a16:creationId xmlns:a16="http://schemas.microsoft.com/office/drawing/2014/main" id="{2B2F3057-76A4-6B43-818A-38CCFBF40B3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935666" y="3000701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50" name="Text Placeholder 10">
            <a:extLst>
              <a:ext uri="{FF2B5EF4-FFF2-40B4-BE49-F238E27FC236}">
                <a16:creationId xmlns:a16="http://schemas.microsoft.com/office/drawing/2014/main" id="{6F444726-1D68-A94E-B387-A55930D429BD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935666" y="3468938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53" name="Text Placeholder 7">
            <a:extLst>
              <a:ext uri="{FF2B5EF4-FFF2-40B4-BE49-F238E27FC236}">
                <a16:creationId xmlns:a16="http://schemas.microsoft.com/office/drawing/2014/main" id="{013CFE9D-2F23-0946-B34E-FF8D67DEBB02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935666" y="4615200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56" name="Text Placeholder 10">
            <a:extLst>
              <a:ext uri="{FF2B5EF4-FFF2-40B4-BE49-F238E27FC236}">
                <a16:creationId xmlns:a16="http://schemas.microsoft.com/office/drawing/2014/main" id="{CAEE56BA-F636-814A-A890-4BBAAE750F46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935666" y="48852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57" name="Text Placeholder 7">
            <a:extLst>
              <a:ext uri="{FF2B5EF4-FFF2-40B4-BE49-F238E27FC236}">
                <a16:creationId xmlns:a16="http://schemas.microsoft.com/office/drawing/2014/main" id="{9813E48C-419C-714D-8526-2AA43F81E71B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935666" y="5421600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58" name="Text Placeholder 10">
            <a:extLst>
              <a:ext uri="{FF2B5EF4-FFF2-40B4-BE49-F238E27FC236}">
                <a16:creationId xmlns:a16="http://schemas.microsoft.com/office/drawing/2014/main" id="{4D4FD237-047E-9B4E-8E24-7614DA39C6D7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935666" y="56916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5D1CEA7-9339-3848-B2B0-9A6116B9924B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1935665" y="2464345"/>
            <a:ext cx="3691928" cy="201426"/>
          </a:xfrm>
        </p:spPr>
        <p:txBody>
          <a:bodyPr vert="horz" wrap="none" lIns="0" tIns="0" rIns="0" bIns="0" rtlCol="0">
            <a:noAutofit/>
          </a:bodyPr>
          <a:lstStyle>
            <a:lvl1pPr marL="0" indent="0">
              <a:buNone/>
              <a:defRPr lang="en-US" sz="1400" dirty="0">
                <a:solidFill>
                  <a:srgbClr val="B3BECD"/>
                </a:solidFill>
              </a:defRPr>
            </a:lvl1pPr>
          </a:lstStyle>
          <a:p>
            <a:pPr marL="285750" lvl="0" indent="-285750"/>
            <a:r>
              <a:rPr lang="en-US" dirty="0"/>
              <a:t>Title</a:t>
            </a:r>
          </a:p>
        </p:txBody>
      </p:sp>
      <p:sp>
        <p:nvSpPr>
          <p:cNvPr id="39" name="Text Placeholder 5">
            <a:extLst>
              <a:ext uri="{FF2B5EF4-FFF2-40B4-BE49-F238E27FC236}">
                <a16:creationId xmlns:a16="http://schemas.microsoft.com/office/drawing/2014/main" id="{6C3551FB-2F8C-B345-A30C-01137E5F3115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1935665" y="3265605"/>
            <a:ext cx="3691928" cy="201426"/>
          </a:xfrm>
        </p:spPr>
        <p:txBody>
          <a:bodyPr vert="horz" wrap="none" lIns="0" tIns="0" rIns="0" bIns="0" rtlCol="0">
            <a:noAutofit/>
          </a:bodyPr>
          <a:lstStyle>
            <a:lvl1pPr marL="0" indent="0">
              <a:buNone/>
              <a:defRPr lang="en-US" sz="1400" dirty="0">
                <a:solidFill>
                  <a:srgbClr val="B3BECD"/>
                </a:solidFill>
              </a:defRPr>
            </a:lvl1pPr>
          </a:lstStyle>
          <a:p>
            <a:pPr marL="285750" lvl="0" indent="-285750"/>
            <a:r>
              <a:rPr lang="en-US" dirty="0"/>
              <a:t>Title</a:t>
            </a:r>
          </a:p>
        </p:txBody>
      </p:sp>
      <p:sp>
        <p:nvSpPr>
          <p:cNvPr id="40" name="Text Placeholder 10">
            <a:extLst>
              <a:ext uri="{FF2B5EF4-FFF2-40B4-BE49-F238E27FC236}">
                <a16:creationId xmlns:a16="http://schemas.microsoft.com/office/drawing/2014/main" id="{AAEDB36D-8075-864A-96B7-0874A127938B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1935666" y="42768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41" name="Text Placeholder 10">
            <a:extLst>
              <a:ext uri="{FF2B5EF4-FFF2-40B4-BE49-F238E27FC236}">
                <a16:creationId xmlns:a16="http://schemas.microsoft.com/office/drawing/2014/main" id="{EB7E0FE4-1626-7944-B91A-5691F585869E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1935666" y="50832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42" name="Text Placeholder 10">
            <a:extLst>
              <a:ext uri="{FF2B5EF4-FFF2-40B4-BE49-F238E27FC236}">
                <a16:creationId xmlns:a16="http://schemas.microsoft.com/office/drawing/2014/main" id="{14A15AB8-FF15-5A48-948F-7B9B55B0F0DE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1935666" y="58896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43" name="Slide Number Placeholder 5">
            <a:extLst>
              <a:ext uri="{FF2B5EF4-FFF2-40B4-BE49-F238E27FC236}">
                <a16:creationId xmlns:a16="http://schemas.microsoft.com/office/drawing/2014/main" id="{B688E3D0-C02A-B94C-A130-548294B8EE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chemeClr val="bg1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148066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ck cover Defaul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9B226EB-715A-5F46-819A-D97E866136E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1" y="0"/>
            <a:ext cx="12192001" cy="686890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F796445-AFA9-D44D-80A5-7B00312D6B1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62392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OSH system resul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AD62445-A202-3741-926B-06A74F654895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A7985789-259F-8A45-8AFC-1116A7FBC4C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0585523F-AA2C-D94A-8558-94C468B99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5E3D95FD-87E1-8242-936D-A016724AAC60}"/>
              </a:ext>
            </a:extLst>
          </p:cNvPr>
          <p:cNvGrpSpPr/>
          <p:nvPr userDrawn="1"/>
        </p:nvGrpSpPr>
        <p:grpSpPr>
          <a:xfrm>
            <a:off x="340066" y="1737023"/>
            <a:ext cx="5561970" cy="1324829"/>
            <a:chOff x="340066" y="1721909"/>
            <a:chExt cx="5561970" cy="1324829"/>
          </a:xfrm>
        </p:grpSpPr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5D59DCD9-95CA-2849-8561-B2216ED23288}"/>
                </a:ext>
              </a:extLst>
            </p:cNvPr>
            <p:cNvSpPr/>
            <p:nvPr/>
          </p:nvSpPr>
          <p:spPr>
            <a:xfrm>
              <a:off x="340066" y="2357792"/>
              <a:ext cx="5405506" cy="688946"/>
            </a:xfrm>
            <a:prstGeom prst="ellipse">
              <a:avLst/>
            </a:prstGeom>
            <a:solidFill>
              <a:srgbClr val="000000">
                <a:alpha val="25000"/>
              </a:srgbClr>
            </a:solidFill>
            <a:ln>
              <a:noFill/>
            </a:ln>
            <a:effectLst>
              <a:softEdge rad="2667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26731D74-9128-1544-855C-A1FEBA1CA2CF}"/>
                </a:ext>
              </a:extLst>
            </p:cNvPr>
            <p:cNvSpPr/>
            <p:nvPr/>
          </p:nvSpPr>
          <p:spPr>
            <a:xfrm>
              <a:off x="429915" y="1721909"/>
              <a:ext cx="5472121" cy="972886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F21ED1E9-7DDE-7349-A824-0A8F7F613A5A}"/>
              </a:ext>
            </a:extLst>
          </p:cNvPr>
          <p:cNvSpPr txBox="1"/>
          <p:nvPr userDrawn="1"/>
        </p:nvSpPr>
        <p:spPr>
          <a:xfrm>
            <a:off x="429915" y="1364824"/>
            <a:ext cx="4469780" cy="357085"/>
          </a:xfrm>
          <a:prstGeom prst="rect">
            <a:avLst/>
          </a:prstGeom>
          <a:solidFill>
            <a:schemeClr val="accent1"/>
          </a:solidFill>
        </p:spPr>
        <p:txBody>
          <a:bodyPr wrap="square" lIns="90000" rtlCol="0" anchor="t">
            <a:spAutoFit/>
          </a:bodyPr>
          <a:lstStyle/>
          <a:p>
            <a:pPr>
              <a:lnSpc>
                <a:spcPct val="114000"/>
              </a:lnSpc>
            </a:pPr>
            <a:r>
              <a:rPr lang="en-US" sz="1600" b="1" dirty="0">
                <a:solidFill>
                  <a:schemeClr val="bg1"/>
                </a:solidFill>
              </a:rPr>
              <a:t>Risks in external dependencies</a:t>
            </a:r>
            <a:r>
              <a:rPr lang="en-US" sz="1600" b="0" dirty="0">
                <a:solidFill>
                  <a:schemeClr val="bg1"/>
                </a:solidFill>
              </a:rPr>
              <a:t> – System overview</a:t>
            </a:r>
          </a:p>
        </p:txBody>
      </p:sp>
      <p:sp>
        <p:nvSpPr>
          <p:cNvPr id="31" name="Content Placeholder 2">
            <a:extLst>
              <a:ext uri="{FF2B5EF4-FFF2-40B4-BE49-F238E27FC236}">
                <a16:creationId xmlns:a16="http://schemas.microsoft.com/office/drawing/2014/main" id="{B90D4AFC-98E5-0C4A-9707-F2559B9A97DC}"/>
              </a:ext>
            </a:extLst>
          </p:cNvPr>
          <p:cNvSpPr txBox="1">
            <a:spLocks/>
          </p:cNvSpPr>
          <p:nvPr userDrawn="1"/>
        </p:nvSpPr>
        <p:spPr>
          <a:xfrm>
            <a:off x="1204383" y="1831229"/>
            <a:ext cx="3695312" cy="26210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270000" indent="-270000" algn="l" defTabSz="274638" rtl="0" eaLnBrk="1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>
                <a:schemeClr val="accent2"/>
              </a:buClr>
              <a:buFont typeface="TheSans B4 SemiLight"/>
              <a:buChar char="&gt;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540000" indent="-270000" algn="l" defTabSz="457200" rtl="0" eaLnBrk="1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>
                <a:schemeClr val="accent2"/>
              </a:buClr>
              <a:buFont typeface="Arial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10000" marR="0" indent="-270000" algn="l" defTabSz="457200" rtl="0" eaLnBrk="1" fontAlgn="auto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Tx/>
              <a:buSzTx/>
              <a:buFont typeface="Lucida Grande"/>
              <a:buChar char="-"/>
              <a:tabLst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41400" indent="0" algn="l" defTabSz="457200" rtl="0" eaLnBrk="1" latinLnBrk="0" hangingPunct="1">
              <a:lnSpc>
                <a:spcPts val="2400"/>
              </a:lnSpc>
              <a:spcBef>
                <a:spcPts val="0"/>
              </a:spcBef>
              <a:buClr>
                <a:schemeClr val="accent2"/>
              </a:buClr>
              <a:buFont typeface="Lucida Grande"/>
              <a:buNone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70000" indent="-228600" algn="l" defTabSz="457200" rtl="0" eaLnBrk="1" latinLnBrk="0" hangingPunct="1">
              <a:lnSpc>
                <a:spcPts val="2400"/>
              </a:lnSpc>
              <a:spcBef>
                <a:spcPts val="0"/>
              </a:spcBef>
              <a:buClr>
                <a:schemeClr val="accent2"/>
              </a:buClr>
              <a:buFont typeface="Lucida Grande"/>
              <a:buChar char="&gt;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en-GB" sz="1400" b="1" dirty="0">
                <a:solidFill>
                  <a:schemeClr val="accent1"/>
                </a:solidFill>
                <a:latin typeface="Calibri Regular"/>
              </a:rPr>
              <a:t>Risk categories</a:t>
            </a: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C56613CA-FC98-E948-8B09-66C076B53E70}"/>
              </a:ext>
            </a:extLst>
          </p:cNvPr>
          <p:cNvCxnSpPr>
            <a:cxnSpLocks/>
          </p:cNvCxnSpPr>
          <p:nvPr/>
        </p:nvCxnSpPr>
        <p:spPr>
          <a:xfrm>
            <a:off x="2533868" y="2164896"/>
            <a:ext cx="720000" cy="0"/>
          </a:xfrm>
          <a:prstGeom prst="line">
            <a:avLst/>
          </a:prstGeom>
          <a:ln w="57150" cap="rnd">
            <a:solidFill>
              <a:srgbClr val="DB493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utoShape 5">
            <a:extLst>
              <a:ext uri="{FF2B5EF4-FFF2-40B4-BE49-F238E27FC236}">
                <a16:creationId xmlns:a16="http://schemas.microsoft.com/office/drawing/2014/main" id="{9C79926D-A7E4-AB44-88CA-35B39C0B0F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61038" y="2243219"/>
            <a:ext cx="649538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DB493D"/>
                </a:solidFill>
                <a:cs typeface="TheSansMono M5"/>
              </a:rPr>
              <a:t>high risk</a:t>
            </a:r>
          </a:p>
        </p:txBody>
      </p:sp>
      <p:sp>
        <p:nvSpPr>
          <p:cNvPr id="37" name="AutoShape 5">
            <a:extLst>
              <a:ext uri="{FF2B5EF4-FFF2-40B4-BE49-F238E27FC236}">
                <a16:creationId xmlns:a16="http://schemas.microsoft.com/office/drawing/2014/main" id="{A0F466DD-E497-0B47-9C89-D4A346F119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90395" y="2241262"/>
            <a:ext cx="888385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EF981A"/>
                </a:solidFill>
                <a:cs typeface="TheSansMono M5"/>
              </a:rPr>
              <a:t>medium risk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D061AE6C-EBE9-4F46-A618-ED7896ACA29D}"/>
              </a:ext>
            </a:extLst>
          </p:cNvPr>
          <p:cNvCxnSpPr>
            <a:cxnSpLocks/>
          </p:cNvCxnSpPr>
          <p:nvPr/>
        </p:nvCxnSpPr>
        <p:spPr>
          <a:xfrm>
            <a:off x="3373046" y="2164896"/>
            <a:ext cx="720000" cy="0"/>
          </a:xfrm>
          <a:prstGeom prst="line">
            <a:avLst/>
          </a:prstGeom>
          <a:ln w="57150" cap="rnd">
            <a:solidFill>
              <a:srgbClr val="EF981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AutoShape 5">
            <a:extLst>
              <a:ext uri="{FF2B5EF4-FFF2-40B4-BE49-F238E27FC236}">
                <a16:creationId xmlns:a16="http://schemas.microsoft.com/office/drawing/2014/main" id="{EA2FDCAB-455C-4E49-AF74-1E4FA9011B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50436" y="2236451"/>
            <a:ext cx="615297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F8C740"/>
                </a:solidFill>
                <a:cs typeface="TheSansMono M5"/>
              </a:rPr>
              <a:t>low risk</a:t>
            </a: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8D80D8D2-64AB-5B45-9E98-3024038CA8F5}"/>
              </a:ext>
            </a:extLst>
          </p:cNvPr>
          <p:cNvCxnSpPr>
            <a:cxnSpLocks/>
          </p:cNvCxnSpPr>
          <p:nvPr/>
        </p:nvCxnSpPr>
        <p:spPr>
          <a:xfrm>
            <a:off x="4206995" y="2164896"/>
            <a:ext cx="720000" cy="0"/>
          </a:xfrm>
          <a:prstGeom prst="line">
            <a:avLst/>
          </a:prstGeom>
          <a:ln w="57150" cap="rnd">
            <a:solidFill>
              <a:srgbClr val="F8C74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AutoShape 5">
            <a:extLst>
              <a:ext uri="{FF2B5EF4-FFF2-40B4-BE49-F238E27FC236}">
                <a16:creationId xmlns:a16="http://schemas.microsoft.com/office/drawing/2014/main" id="{83EAF45F-0735-074F-B8DE-661963E387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35071" y="2240877"/>
            <a:ext cx="697627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>
              <a:defRPr/>
            </a:pPr>
            <a:r>
              <a:rPr lang="en-US" sz="1100" b="1" dirty="0">
                <a:solidFill>
                  <a:srgbClr val="57C96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✓</a:t>
            </a:r>
            <a:r>
              <a:rPr lang="en-US" sz="1200" dirty="0">
                <a:solidFill>
                  <a:srgbClr val="57C968"/>
                </a:solidFill>
              </a:rPr>
              <a:t> </a:t>
            </a:r>
            <a:r>
              <a:rPr lang="en-US" sz="1200" spc="-50" noProof="1">
                <a:solidFill>
                  <a:srgbClr val="57C968"/>
                </a:solidFill>
                <a:cs typeface="TheSansMono M5"/>
              </a:rPr>
              <a:t>no risk</a:t>
            </a:r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99335F77-CBBF-B24B-8F0A-85FCA257B10A}"/>
              </a:ext>
            </a:extLst>
          </p:cNvPr>
          <p:cNvCxnSpPr>
            <a:cxnSpLocks/>
          </p:cNvCxnSpPr>
          <p:nvPr/>
        </p:nvCxnSpPr>
        <p:spPr>
          <a:xfrm>
            <a:off x="5040951" y="2164896"/>
            <a:ext cx="720000" cy="0"/>
          </a:xfrm>
          <a:prstGeom prst="line">
            <a:avLst/>
          </a:prstGeom>
          <a:ln w="57150" cap="rnd">
            <a:solidFill>
              <a:srgbClr val="57C96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Freeform 47">
            <a:extLst>
              <a:ext uri="{FF2B5EF4-FFF2-40B4-BE49-F238E27FC236}">
                <a16:creationId xmlns:a16="http://schemas.microsoft.com/office/drawing/2014/main" id="{91356441-694B-B541-8959-E690A83565FC}"/>
              </a:ext>
            </a:extLst>
          </p:cNvPr>
          <p:cNvSpPr/>
          <p:nvPr userDrawn="1"/>
        </p:nvSpPr>
        <p:spPr>
          <a:xfrm>
            <a:off x="529948" y="1793444"/>
            <a:ext cx="1078883" cy="721276"/>
          </a:xfrm>
          <a:custGeom>
            <a:avLst/>
            <a:gdLst>
              <a:gd name="connsiteX0" fmla="*/ 28050 w 1078883"/>
              <a:gd name="connsiteY0" fmla="*/ 0 h 721276"/>
              <a:gd name="connsiteX1" fmla="*/ 915239 w 1078883"/>
              <a:gd name="connsiteY1" fmla="*/ 0 h 721276"/>
              <a:gd name="connsiteX2" fmla="*/ 1078883 w 1078883"/>
              <a:gd name="connsiteY2" fmla="*/ 364710 h 721276"/>
              <a:gd name="connsiteX3" fmla="*/ 918893 w 1078883"/>
              <a:gd name="connsiteY3" fmla="*/ 721276 h 721276"/>
              <a:gd name="connsiteX4" fmla="*/ 28050 w 1078883"/>
              <a:gd name="connsiteY4" fmla="*/ 721276 h 721276"/>
              <a:gd name="connsiteX5" fmla="*/ 0 w 1078883"/>
              <a:gd name="connsiteY5" fmla="*/ 693226 h 721276"/>
              <a:gd name="connsiteX6" fmla="*/ 0 w 1078883"/>
              <a:gd name="connsiteY6" fmla="*/ 28050 h 721276"/>
              <a:gd name="connsiteX7" fmla="*/ 28050 w 1078883"/>
              <a:gd name="connsiteY7" fmla="*/ 0 h 7212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78883" h="721276">
                <a:moveTo>
                  <a:pt x="28050" y="0"/>
                </a:moveTo>
                <a:lnTo>
                  <a:pt x="915239" y="0"/>
                </a:lnTo>
                <a:lnTo>
                  <a:pt x="1078883" y="364710"/>
                </a:lnTo>
                <a:lnTo>
                  <a:pt x="918893" y="721276"/>
                </a:lnTo>
                <a:lnTo>
                  <a:pt x="28050" y="721276"/>
                </a:lnTo>
                <a:cubicBezTo>
                  <a:pt x="12558" y="721276"/>
                  <a:pt x="0" y="708718"/>
                  <a:pt x="0" y="693226"/>
                </a:cubicBezTo>
                <a:lnTo>
                  <a:pt x="0" y="28050"/>
                </a:lnTo>
                <a:cubicBezTo>
                  <a:pt x="0" y="12558"/>
                  <a:pt x="12558" y="0"/>
                  <a:pt x="28050" y="0"/>
                </a:cubicBezTo>
                <a:close/>
              </a:path>
            </a:pathLst>
          </a:custGeom>
          <a:gradFill>
            <a:gsLst>
              <a:gs pos="0">
                <a:schemeClr val="bg2">
                  <a:alpha val="25000"/>
                </a:schemeClr>
              </a:gs>
              <a:gs pos="100000">
                <a:schemeClr val="bg2">
                  <a:alpha val="0"/>
                </a:schemeClr>
              </a:gs>
            </a:gsLst>
            <a:lin ang="2700000" scaled="0"/>
          </a:gradFill>
          <a:ln w="9525">
            <a:solidFill>
              <a:schemeClr val="bg2">
                <a:alpha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50" name="AutoShape 5">
            <a:extLst>
              <a:ext uri="{FF2B5EF4-FFF2-40B4-BE49-F238E27FC236}">
                <a16:creationId xmlns:a16="http://schemas.microsoft.com/office/drawing/2014/main" id="{A85B6768-8DD0-3840-98FF-EA35442768A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29948" y="2082563"/>
            <a:ext cx="946336" cy="338554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square" lIns="36000" tIns="0" rIns="36000" bIns="0">
            <a:spAutoFit/>
          </a:bodyPr>
          <a:lstStyle/>
          <a:p>
            <a:pPr algn="ctr">
              <a:defRPr/>
            </a:pPr>
            <a:r>
              <a:rPr lang="en-US" sz="1100" dirty="0">
                <a:solidFill>
                  <a:schemeClr val="bg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external</a:t>
            </a:r>
            <a:br>
              <a:rPr lang="en-US" sz="1100" dirty="0">
                <a:solidFill>
                  <a:schemeClr val="bg2"/>
                </a:solidFill>
                <a:latin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1100" dirty="0">
                <a:solidFill>
                  <a:schemeClr val="bg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dependencies</a:t>
            </a:r>
            <a:endParaRPr lang="en-US" sz="1200" spc="-50" noProof="1">
              <a:solidFill>
                <a:schemeClr val="bg2"/>
              </a:solidFill>
              <a:cs typeface="TheSansMono M5"/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97CD0235-CB15-C949-BCBD-9E062FB24F3A}"/>
              </a:ext>
            </a:extLst>
          </p:cNvPr>
          <p:cNvSpPr/>
          <p:nvPr userDrawn="1"/>
        </p:nvSpPr>
        <p:spPr>
          <a:xfrm>
            <a:off x="6116295" y="730293"/>
            <a:ext cx="6075705" cy="612770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accent1"/>
              </a:solidFill>
            </a:endParaRPr>
          </a:p>
        </p:txBody>
      </p:sp>
      <p:sp>
        <p:nvSpPr>
          <p:cNvPr id="55" name="Content Placeholder 2">
            <a:extLst>
              <a:ext uri="{FF2B5EF4-FFF2-40B4-BE49-F238E27FC236}">
                <a16:creationId xmlns:a16="http://schemas.microsoft.com/office/drawing/2014/main" id="{C8989BBF-287E-B847-9CAC-6DA102EFBD4A}"/>
              </a:ext>
            </a:extLst>
          </p:cNvPr>
          <p:cNvSpPr>
            <a:spLocks noGrp="1"/>
          </p:cNvSpPr>
          <p:nvPr userDrawn="1">
            <p:ph sz="quarter" idx="13" hasCustomPrompt="1"/>
          </p:nvPr>
        </p:nvSpPr>
        <p:spPr>
          <a:xfrm>
            <a:off x="6420006" y="1368000"/>
            <a:ext cx="5326793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56" name="Text Placeholder 2">
            <a:extLst>
              <a:ext uri="{FF2B5EF4-FFF2-40B4-BE49-F238E27FC236}">
                <a16:creationId xmlns:a16="http://schemas.microsoft.com/office/drawing/2014/main" id="{8FE26B8D-BD73-4444-8D0F-1248DE1DD5B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97149" y="1816783"/>
            <a:ext cx="835106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58" name="Text Placeholder 2">
            <a:extLst>
              <a:ext uri="{FF2B5EF4-FFF2-40B4-BE49-F238E27FC236}">
                <a16:creationId xmlns:a16="http://schemas.microsoft.com/office/drawing/2014/main" id="{EDC22544-D9BC-B244-939B-9E83862D4EF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522570" y="1816783"/>
            <a:ext cx="734436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0" name="Text Placeholder 2">
            <a:extLst>
              <a:ext uri="{FF2B5EF4-FFF2-40B4-BE49-F238E27FC236}">
                <a16:creationId xmlns:a16="http://schemas.microsoft.com/office/drawing/2014/main" id="{BB9C82F9-0A2D-9945-BB70-9C792404433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345172" y="1816783"/>
            <a:ext cx="760514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1" name="Text Placeholder 2">
            <a:extLst>
              <a:ext uri="{FF2B5EF4-FFF2-40B4-BE49-F238E27FC236}">
                <a16:creationId xmlns:a16="http://schemas.microsoft.com/office/drawing/2014/main" id="{4F6EE5E4-7412-804B-AB0B-2612A9AEF19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180072" y="1816783"/>
            <a:ext cx="760514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2" name="Text Placeholder 2">
            <a:extLst>
              <a:ext uri="{FF2B5EF4-FFF2-40B4-BE49-F238E27FC236}">
                <a16:creationId xmlns:a16="http://schemas.microsoft.com/office/drawing/2014/main" id="{20222DCE-C402-BC42-9510-1717F16DF89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998590" y="1816783"/>
            <a:ext cx="776867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57C968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3B0C8CF-791F-18E5-4333-1B6A84495D38}"/>
              </a:ext>
            </a:extLst>
          </p:cNvPr>
          <p:cNvCxnSpPr>
            <a:cxnSpLocks/>
          </p:cNvCxnSpPr>
          <p:nvPr userDrawn="1"/>
        </p:nvCxnSpPr>
        <p:spPr>
          <a:xfrm>
            <a:off x="1696774" y="2159781"/>
            <a:ext cx="720000" cy="0"/>
          </a:xfrm>
          <a:prstGeom prst="line">
            <a:avLst/>
          </a:prstGeom>
          <a:ln w="57150" cap="rnd">
            <a:solidFill>
              <a:srgbClr val="91071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AutoShape 5">
            <a:extLst>
              <a:ext uri="{FF2B5EF4-FFF2-40B4-BE49-F238E27FC236}">
                <a16:creationId xmlns:a16="http://schemas.microsoft.com/office/drawing/2014/main" id="{D8BC2DDE-6625-F621-EC94-783A87A7B4F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663674" y="2238104"/>
            <a:ext cx="770084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910714"/>
                </a:solidFill>
                <a:cs typeface="TheSansMono M5"/>
              </a:rPr>
              <a:t>critical risk</a:t>
            </a:r>
          </a:p>
        </p:txBody>
      </p:sp>
      <p:sp>
        <p:nvSpPr>
          <p:cNvPr id="43" name="Text Placeholder 2">
            <a:extLst>
              <a:ext uri="{FF2B5EF4-FFF2-40B4-BE49-F238E27FC236}">
                <a16:creationId xmlns:a16="http://schemas.microsoft.com/office/drawing/2014/main" id="{CAAE3B6A-A32C-2E31-61A0-D3B86C8941C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685476" y="1811668"/>
            <a:ext cx="734436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546E4A2-084F-9B55-1A76-59A9E48860A4}"/>
              </a:ext>
            </a:extLst>
          </p:cNvPr>
          <p:cNvSpPr txBox="1"/>
          <p:nvPr userDrawn="1"/>
        </p:nvSpPr>
        <p:spPr>
          <a:xfrm>
            <a:off x="-143206" y="5881381"/>
            <a:ext cx="2549071" cy="289438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200" dirty="0">
                <a:solidFill>
                  <a:schemeClr val="tx1">
                    <a:lumMod val="60000"/>
                    <a:lumOff val="40000"/>
                    <a:alpha val="50000"/>
                  </a:schemeClr>
                </a:solidFill>
              </a:rPr>
              <a:t>Number of dependencies: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14748B4A-7DD2-00DB-AD86-FD93B244FC19}"/>
              </a:ext>
            </a:extLst>
          </p:cNvPr>
          <p:cNvGrpSpPr/>
          <p:nvPr userDrawn="1"/>
        </p:nvGrpSpPr>
        <p:grpSpPr>
          <a:xfrm>
            <a:off x="184167" y="2938848"/>
            <a:ext cx="2176758" cy="478914"/>
            <a:chOff x="184167" y="2938848"/>
            <a:chExt cx="2176758" cy="478914"/>
          </a:xfrm>
        </p:grpSpPr>
        <p:pic>
          <p:nvPicPr>
            <p:cNvPr id="5" name="Graphic 4">
              <a:extLst>
                <a:ext uri="{FF2B5EF4-FFF2-40B4-BE49-F238E27FC236}">
                  <a16:creationId xmlns:a16="http://schemas.microsoft.com/office/drawing/2014/main" id="{FD8BF416-6FD7-D2A6-2D79-58E7A1832B08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132325" y="3145777"/>
              <a:ext cx="228600" cy="228600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88FA3170-93BB-C32C-D469-8D7B377640BD}"/>
                </a:ext>
              </a:extLst>
            </p:cNvPr>
            <p:cNvSpPr txBox="1"/>
            <p:nvPr userDrawn="1"/>
          </p:nvSpPr>
          <p:spPr>
            <a:xfrm>
              <a:off x="184167" y="2938848"/>
              <a:ext cx="1930982" cy="47891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80000"/>
                </a:lnSpc>
              </a:pPr>
              <a:r>
                <a:rPr lang="en-US" sz="1600" b="1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vulnerability </a:t>
              </a:r>
              <a:r>
                <a:rPr lang="en-US" sz="160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risk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55DD96C8-3ACF-1DFF-CF73-0AF5F066614E}"/>
              </a:ext>
            </a:extLst>
          </p:cNvPr>
          <p:cNvGrpSpPr/>
          <p:nvPr userDrawn="1"/>
        </p:nvGrpSpPr>
        <p:grpSpPr>
          <a:xfrm>
            <a:off x="1016807" y="3564280"/>
            <a:ext cx="1344118" cy="423514"/>
            <a:chOff x="1016807" y="3564280"/>
            <a:chExt cx="1344118" cy="423514"/>
          </a:xfrm>
        </p:grpSpPr>
        <p:pic>
          <p:nvPicPr>
            <p:cNvPr id="13" name="Graphic 12">
              <a:extLst>
                <a:ext uri="{FF2B5EF4-FFF2-40B4-BE49-F238E27FC236}">
                  <a16:creationId xmlns:a16="http://schemas.microsoft.com/office/drawing/2014/main" id="{5D59CE77-F471-DC75-C135-1DA00EA336BA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132325" y="3703034"/>
              <a:ext cx="228600" cy="228600"/>
            </a:xfrm>
            <a:prstGeom prst="rect">
              <a:avLst/>
            </a:prstGeom>
          </p:spPr>
        </p:pic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4AB1C286-E53F-9CE4-4C64-B0026A68614C}"/>
                </a:ext>
              </a:extLst>
            </p:cNvPr>
            <p:cNvSpPr txBox="1"/>
            <p:nvPr userDrawn="1"/>
          </p:nvSpPr>
          <p:spPr>
            <a:xfrm>
              <a:off x="1016807" y="3564280"/>
              <a:ext cx="1098342" cy="42351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50000"/>
                </a:lnSpc>
              </a:pPr>
              <a:r>
                <a:rPr lang="en-US" sz="1600" b="1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legal </a:t>
              </a:r>
              <a:r>
                <a:rPr lang="en-US" sz="160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risk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F3B04AA6-0170-8ABA-260D-D0032728A162}"/>
              </a:ext>
            </a:extLst>
          </p:cNvPr>
          <p:cNvGrpSpPr/>
          <p:nvPr userDrawn="1"/>
        </p:nvGrpSpPr>
        <p:grpSpPr>
          <a:xfrm>
            <a:off x="283779" y="4213198"/>
            <a:ext cx="2077146" cy="276999"/>
            <a:chOff x="283779" y="4213198"/>
            <a:chExt cx="2077146" cy="276999"/>
          </a:xfrm>
        </p:grpSpPr>
        <p:pic>
          <p:nvPicPr>
            <p:cNvPr id="35" name="Graphic 34">
              <a:extLst>
                <a:ext uri="{FF2B5EF4-FFF2-40B4-BE49-F238E27FC236}">
                  <a16:creationId xmlns:a16="http://schemas.microsoft.com/office/drawing/2014/main" id="{54275B3F-AB3B-D0D7-E66A-918FA53CB79D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6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132325" y="4260843"/>
              <a:ext cx="228600" cy="228600"/>
            </a:xfrm>
            <a:prstGeom prst="rect">
              <a:avLst/>
            </a:prstGeom>
          </p:spPr>
        </p:pic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CAED634E-2496-806E-376D-3C44D5DAEAD1}"/>
                </a:ext>
              </a:extLst>
            </p:cNvPr>
            <p:cNvSpPr txBox="1"/>
            <p:nvPr userDrawn="1"/>
          </p:nvSpPr>
          <p:spPr>
            <a:xfrm>
              <a:off x="283779" y="4213198"/>
              <a:ext cx="1831370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00000"/>
                </a:lnSpc>
              </a:pP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freshness risk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693FE0FE-23FE-D4C7-7966-960B2D6BD3D4}"/>
              </a:ext>
            </a:extLst>
          </p:cNvPr>
          <p:cNvGrpSpPr/>
          <p:nvPr userDrawn="1"/>
        </p:nvGrpSpPr>
        <p:grpSpPr>
          <a:xfrm>
            <a:off x="763256" y="4628191"/>
            <a:ext cx="1597669" cy="307777"/>
            <a:chOff x="763256" y="4610126"/>
            <a:chExt cx="1597669" cy="307777"/>
          </a:xfrm>
        </p:grpSpPr>
        <p:pic>
          <p:nvPicPr>
            <p:cNvPr id="40" name="Graphic 39">
              <a:extLst>
                <a:ext uri="{FF2B5EF4-FFF2-40B4-BE49-F238E27FC236}">
                  <a16:creationId xmlns:a16="http://schemas.microsoft.com/office/drawing/2014/main" id="{A884E1D2-68C4-CC99-6761-4E51BA139A5F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8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2132325" y="4671752"/>
              <a:ext cx="228600" cy="228600"/>
            </a:xfrm>
            <a:prstGeom prst="rect">
              <a:avLst/>
            </a:prstGeom>
          </p:spPr>
        </p:pic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1B637B0B-B9F7-C45A-A2CD-E4236903CA44}"/>
                </a:ext>
              </a:extLst>
            </p:cNvPr>
            <p:cNvSpPr txBox="1"/>
            <p:nvPr userDrawn="1"/>
          </p:nvSpPr>
          <p:spPr>
            <a:xfrm>
              <a:off x="763256" y="4610126"/>
              <a:ext cx="135189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00000"/>
                </a:lnSpc>
              </a:pP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stability</a:t>
              </a:r>
              <a:r>
                <a:rPr lang="en-US" sz="14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 </a:t>
              </a: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risk</a:t>
              </a: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ADDEE55D-85C5-F1E0-82C9-656E14C98A45}"/>
              </a:ext>
            </a:extLst>
          </p:cNvPr>
          <p:cNvGrpSpPr/>
          <p:nvPr userDrawn="1"/>
        </p:nvGrpSpPr>
        <p:grpSpPr>
          <a:xfrm>
            <a:off x="632049" y="5073962"/>
            <a:ext cx="1728876" cy="276999"/>
            <a:chOff x="632049" y="5033912"/>
            <a:chExt cx="1728876" cy="276999"/>
          </a:xfrm>
        </p:grpSpPr>
        <p:pic>
          <p:nvPicPr>
            <p:cNvPr id="49" name="Graphic 48">
              <a:extLst>
                <a:ext uri="{FF2B5EF4-FFF2-40B4-BE49-F238E27FC236}">
                  <a16:creationId xmlns:a16="http://schemas.microsoft.com/office/drawing/2014/main" id="{638CBB33-3CAC-D4D4-95F0-E601E9651F1C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0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2132325" y="5075030"/>
              <a:ext cx="228600" cy="228600"/>
            </a:xfrm>
            <a:prstGeom prst="rect">
              <a:avLst/>
            </a:prstGeom>
          </p:spPr>
        </p:pic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DEBE0748-E831-C177-8482-1AD9D7C8020A}"/>
                </a:ext>
              </a:extLst>
            </p:cNvPr>
            <p:cNvSpPr txBox="1"/>
            <p:nvPr userDrawn="1"/>
          </p:nvSpPr>
          <p:spPr>
            <a:xfrm>
              <a:off x="632049" y="5033912"/>
              <a:ext cx="1483100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00000"/>
                </a:lnSpc>
              </a:pP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management risk</a:t>
              </a:r>
            </a:p>
          </p:txBody>
        </p: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82F96D4F-7882-8E1E-059F-CF281133C60A}"/>
              </a:ext>
            </a:extLst>
          </p:cNvPr>
          <p:cNvGrpSpPr/>
          <p:nvPr userDrawn="1"/>
        </p:nvGrpSpPr>
        <p:grpSpPr>
          <a:xfrm>
            <a:off x="708077" y="5488955"/>
            <a:ext cx="1652848" cy="276999"/>
            <a:chOff x="708077" y="5488955"/>
            <a:chExt cx="1652848" cy="276999"/>
          </a:xfrm>
        </p:grpSpPr>
        <p:pic>
          <p:nvPicPr>
            <p:cNvPr id="59" name="Graphic 58">
              <a:extLst>
                <a:ext uri="{FF2B5EF4-FFF2-40B4-BE49-F238E27FC236}">
                  <a16:creationId xmlns:a16="http://schemas.microsoft.com/office/drawing/2014/main" id="{1A99E526-2AFE-852A-F382-C92035CEFB78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2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2132325" y="5517723"/>
              <a:ext cx="228600" cy="228600"/>
            </a:xfrm>
            <a:prstGeom prst="rect">
              <a:avLst/>
            </a:prstGeom>
          </p:spPr>
        </p:pic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64638D2F-CAB2-BA06-872A-ED7C6CD060EB}"/>
                </a:ext>
              </a:extLst>
            </p:cNvPr>
            <p:cNvSpPr txBox="1"/>
            <p:nvPr userDrawn="1"/>
          </p:nvSpPr>
          <p:spPr>
            <a:xfrm>
              <a:off x="708077" y="5488955"/>
              <a:ext cx="1407072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00000"/>
                </a:lnSpc>
              </a:pP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activity risk</a:t>
              </a:r>
            </a:p>
          </p:txBody>
        </p:sp>
      </p:grpSp>
      <p:sp>
        <p:nvSpPr>
          <p:cNvPr id="64" name="TextBox 63">
            <a:extLst>
              <a:ext uri="{FF2B5EF4-FFF2-40B4-BE49-F238E27FC236}">
                <a16:creationId xmlns:a16="http://schemas.microsoft.com/office/drawing/2014/main" id="{DA66A356-888B-5B88-7541-A81781B37E16}"/>
              </a:ext>
            </a:extLst>
          </p:cNvPr>
          <p:cNvSpPr txBox="1"/>
          <p:nvPr userDrawn="1"/>
        </p:nvSpPr>
        <p:spPr>
          <a:xfrm>
            <a:off x="1972649" y="2655839"/>
            <a:ext cx="1152452" cy="28943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NL" sz="1200" b="1" i="0" dirty="0">
                <a:solidFill>
                  <a:srgbClr val="C1C7CF"/>
                </a:solidFill>
              </a:rPr>
              <a:t>Risk categories</a:t>
            </a:r>
          </a:p>
        </p:txBody>
      </p:sp>
    </p:spTree>
    <p:extLst>
      <p:ext uri="{BB962C8B-B14F-4D97-AF65-F5344CB8AC3E}">
        <p14:creationId xmlns:p14="http://schemas.microsoft.com/office/powerpoint/2010/main" val="7848510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hyperlink" Target="https://wiki.sig.eu/confluence/x/JoDbC" TargetMode="Externa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CDFA920-C997-D084-6D6F-203835674864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177137826"/>
              </p:ext>
            </p:extLst>
          </p:nvPr>
        </p:nvGraphicFramePr>
        <p:xfrm>
          <a:off x="12294145" y="1986729"/>
          <a:ext cx="1440000" cy="230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000">
                  <a:extLst>
                    <a:ext uri="{9D8B030D-6E8A-4147-A177-3AD203B41FA5}">
                      <a16:colId xmlns:a16="http://schemas.microsoft.com/office/drawing/2014/main" val="3557183788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871316488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2550956232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1391318227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2662168378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609036797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687972093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474073916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1186812505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855898394"/>
                    </a:ext>
                  </a:extLst>
                </a:gridCol>
              </a:tblGrid>
              <a:tr h="288000"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364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97C8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3BEC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E1E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6FA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07771366"/>
                  </a:ext>
                </a:extLst>
              </a:tr>
              <a:tr h="72000"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06575328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364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ADC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36AA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12159491"/>
                  </a:ext>
                </a:extLst>
              </a:tr>
              <a:tr h="72000"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2470536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ADC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36AA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1587105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0C22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EC5D4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591B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5CD59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552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32382331"/>
                  </a:ext>
                </a:extLst>
              </a:tr>
              <a:tr h="72000"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8818685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F7E16D"/>
                        </a:gs>
                        <a:gs pos="100000">
                          <a:srgbClr val="E0C223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100000">
                          <a:srgbClr val="6AD6E5"/>
                        </a:gs>
                        <a:gs pos="0">
                          <a:srgbClr val="04ABC8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AA98C3"/>
                        </a:gs>
                        <a:gs pos="100000">
                          <a:srgbClr val="6076BA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C5CD59"/>
                        </a:gs>
                        <a:gs pos="100000">
                          <a:srgbClr val="9DA43C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EB935C"/>
                        </a:gs>
                        <a:gs pos="35000">
                          <a:srgbClr val="D65200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95602441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E16D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0C223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AD6E5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4ABC8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A98C3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076BA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5CD5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DA43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B935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652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6871530"/>
                  </a:ext>
                </a:extLst>
              </a:tr>
              <a:tr h="72000"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0424333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B4A3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F981A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8C64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7C96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C963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89488421"/>
                  </a:ext>
                </a:extLst>
              </a:tr>
            </a:tbl>
          </a:graphicData>
        </a:graphic>
      </p:graphicFrame>
      <p:sp>
        <p:nvSpPr>
          <p:cNvPr id="5" name="TextBox 4">
            <a:hlinkClick r:id="rId21"/>
            <a:extLst>
              <a:ext uri="{FF2B5EF4-FFF2-40B4-BE49-F238E27FC236}">
                <a16:creationId xmlns:a16="http://schemas.microsoft.com/office/drawing/2014/main" id="{97451D23-9484-A5AC-6DE0-B05B1E0505F7}"/>
              </a:ext>
            </a:extLst>
          </p:cNvPr>
          <p:cNvSpPr txBox="1"/>
          <p:nvPr userDrawn="1"/>
        </p:nvSpPr>
        <p:spPr>
          <a:xfrm>
            <a:off x="12260945" y="4406201"/>
            <a:ext cx="1574597" cy="433196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rgbClr val="9B9A87"/>
              </a:buClr>
              <a:buSzPct val="100000"/>
              <a:buFont typeface="+mj-lt"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 Bold"/>
                <a:ea typeface="+mn-ea"/>
                <a:cs typeface="+mn-cs"/>
              </a:rPr>
              <a:t>Master template version: </a:t>
            </a:r>
          </a:p>
          <a:p>
            <a:pPr marL="0" marR="0" lvl="0" indent="0" algn="l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rgbClr val="9B9A87"/>
              </a:buClr>
              <a:buSzPct val="100000"/>
              <a:buFont typeface="+mj-lt"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 Regular"/>
                <a:ea typeface="+mn-ea"/>
                <a:cs typeface="+mn-cs"/>
              </a:rPr>
              <a:t>v20220729</a:t>
            </a:r>
            <a:endParaRPr lang="en-US" sz="1000" b="0" i="0" dirty="0">
              <a:solidFill>
                <a:schemeClr val="tx1">
                  <a:lumMod val="60000"/>
                  <a:lumOff val="40000"/>
                </a:schemeClr>
              </a:solidFill>
              <a:latin typeface="Calibri Regular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99FC6F2-3923-4241-B710-1B30D0874A09}"/>
              </a:ext>
            </a:extLst>
          </p:cNvPr>
          <p:cNvSpPr/>
          <p:nvPr userDrawn="1"/>
        </p:nvSpPr>
        <p:spPr>
          <a:xfrm>
            <a:off x="0" y="-1"/>
            <a:ext cx="12192000" cy="6865951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2F04000-FB3A-6842-9B07-0251B414D6E4}"/>
              </a:ext>
            </a:extLst>
          </p:cNvPr>
          <p:cNvSpPr/>
          <p:nvPr userDrawn="1"/>
        </p:nvSpPr>
        <p:spPr>
          <a:xfrm>
            <a:off x="1526401" y="0"/>
            <a:ext cx="10665600" cy="8568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B13F74-C0BA-034D-B21E-2C17337F1F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3798" y="1360359"/>
            <a:ext cx="11231962" cy="4971737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Placeholder 3">
            <a:extLst>
              <a:ext uri="{FF2B5EF4-FFF2-40B4-BE49-F238E27FC236}">
                <a16:creationId xmlns:a16="http://schemas.microsoft.com/office/drawing/2014/main" id="{DEB3B1D5-38F6-744A-845D-D4D4BFD82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36800" y="277200"/>
            <a:ext cx="9810000" cy="2844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4" name="Slide Number Placeholder 5">
            <a:extLst>
              <a:ext uri="{FF2B5EF4-FFF2-40B4-BE49-F238E27FC236}">
                <a16:creationId xmlns:a16="http://schemas.microsoft.com/office/drawing/2014/main" id="{61D04E9C-E586-B24A-97EA-062E3E2A73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>
            <a:spAutoFit/>
          </a:bodyPr>
          <a:lstStyle>
            <a:lvl1pPr algn="r">
              <a:defRPr lang="en-US" sz="1000" b="1" spc="10" smtClean="0">
                <a:solidFill>
                  <a:srgbClr val="B3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2068D9D8-6BDF-E84E-92C4-860CA2E281CA}"/>
              </a:ext>
            </a:extLst>
          </p:cNvPr>
          <p:cNvSpPr txBox="1"/>
          <p:nvPr userDrawn="1"/>
        </p:nvSpPr>
        <p:spPr>
          <a:xfrm>
            <a:off x="-1228363" y="-303006"/>
            <a:ext cx="1228362" cy="1658286"/>
          </a:xfrm>
          <a:prstGeom prst="rect">
            <a:avLst/>
          </a:prstGeom>
          <a:gradFill>
            <a:gsLst>
              <a:gs pos="53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2400000" scaled="0"/>
          </a:gradFill>
        </p:spPr>
        <p:txBody>
          <a:bodyPr wrap="square" rtlCol="0" anchor="b">
            <a:no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 HERE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66DECB5-D39A-5146-B4F8-F6AE03D6367F}"/>
              </a:ext>
            </a:extLst>
          </p:cNvPr>
          <p:cNvSpPr txBox="1"/>
          <p:nvPr userDrawn="1"/>
        </p:nvSpPr>
        <p:spPr>
          <a:xfrm>
            <a:off x="-301318" y="-372507"/>
            <a:ext cx="826141" cy="369332"/>
          </a:xfrm>
          <a:prstGeom prst="rect">
            <a:avLst/>
          </a:prstGeom>
          <a:gradFill>
            <a:gsLst>
              <a:gs pos="60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3000000" scaled="0"/>
          </a:gradFill>
        </p:spPr>
        <p:txBody>
          <a:bodyPr wrap="square" rtlCol="0" anchor="b">
            <a:sp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</a:t>
            </a:r>
            <a:b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</a:br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     HERE</a:t>
            </a:r>
          </a:p>
        </p:txBody>
      </p:sp>
      <p:sp>
        <p:nvSpPr>
          <p:cNvPr id="80" name="Triangle 79">
            <a:extLst>
              <a:ext uri="{FF2B5EF4-FFF2-40B4-BE49-F238E27FC236}">
                <a16:creationId xmlns:a16="http://schemas.microsoft.com/office/drawing/2014/main" id="{F11C372E-FF74-1C46-AC9A-9C6FAC6B5901}"/>
              </a:ext>
            </a:extLst>
          </p:cNvPr>
          <p:cNvSpPr/>
          <p:nvPr userDrawn="1"/>
        </p:nvSpPr>
        <p:spPr>
          <a:xfrm rot="16200000">
            <a:off x="313381" y="-158834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Freeform 80">
            <a:extLst>
              <a:ext uri="{FF2B5EF4-FFF2-40B4-BE49-F238E27FC236}">
                <a16:creationId xmlns:a16="http://schemas.microsoft.com/office/drawing/2014/main" id="{C37BE910-150E-F547-AA99-B012E5B28DE1}"/>
              </a:ext>
            </a:extLst>
          </p:cNvPr>
          <p:cNvSpPr/>
          <p:nvPr userDrawn="1"/>
        </p:nvSpPr>
        <p:spPr>
          <a:xfrm>
            <a:off x="12191262" y="1535801"/>
            <a:ext cx="1644280" cy="360000"/>
          </a:xfrm>
          <a:custGeom>
            <a:avLst/>
            <a:gdLst>
              <a:gd name="connsiteX0" fmla="*/ 0 w 1644280"/>
              <a:gd name="connsiteY0" fmla="*/ 0 h 360000"/>
              <a:gd name="connsiteX1" fmla="*/ 1584279 w 1644280"/>
              <a:gd name="connsiteY1" fmla="*/ 0 h 360000"/>
              <a:gd name="connsiteX2" fmla="*/ 1644280 w 1644280"/>
              <a:gd name="connsiteY2" fmla="*/ 60001 h 360000"/>
              <a:gd name="connsiteX3" fmla="*/ 1644280 w 1644280"/>
              <a:gd name="connsiteY3" fmla="*/ 299999 h 360000"/>
              <a:gd name="connsiteX4" fmla="*/ 1584279 w 1644280"/>
              <a:gd name="connsiteY4" fmla="*/ 360000 h 360000"/>
              <a:gd name="connsiteX5" fmla="*/ 0 w 1644280"/>
              <a:gd name="connsiteY5" fmla="*/ 360000 h 36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644280" h="360000">
                <a:moveTo>
                  <a:pt x="0" y="0"/>
                </a:moveTo>
                <a:lnTo>
                  <a:pt x="1584279" y="0"/>
                </a:lnTo>
                <a:cubicBezTo>
                  <a:pt x="1617417" y="0"/>
                  <a:pt x="1644280" y="26863"/>
                  <a:pt x="1644280" y="60001"/>
                </a:cubicBezTo>
                <a:lnTo>
                  <a:pt x="1644280" y="299999"/>
                </a:lnTo>
                <a:cubicBezTo>
                  <a:pt x="1644280" y="333137"/>
                  <a:pt x="1617417" y="360000"/>
                  <a:pt x="1584279" y="360000"/>
                </a:cubicBezTo>
                <a:lnTo>
                  <a:pt x="0" y="360000"/>
                </a:lnTo>
                <a:close/>
              </a:path>
            </a:pathLst>
          </a:custGeom>
          <a:gradFill>
            <a:gsLst>
              <a:gs pos="100000">
                <a:schemeClr val="accent1">
                  <a:alpha val="85000"/>
                </a:schemeClr>
              </a:gs>
              <a:gs pos="4000">
                <a:schemeClr val="accent1">
                  <a:alpha val="70000"/>
                </a:schemeClr>
              </a:gs>
              <a:gs pos="0">
                <a:srgbClr val="17323F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16000" rtlCol="0" anchor="ctr">
            <a:noAutofit/>
          </a:bodyPr>
          <a:lstStyle/>
          <a:p>
            <a:pPr lvl="0"/>
            <a:r>
              <a:rPr lang="en-US" sz="1000" b="1" i="0" dirty="0">
                <a:solidFill>
                  <a:schemeClr val="bg1"/>
                </a:solidFill>
                <a:latin typeface="Calibri Bold"/>
              </a:rPr>
              <a:t>SIG COLOR </a:t>
            </a:r>
            <a:r>
              <a:rPr lang="en-US" sz="1000" b="0" i="0" dirty="0">
                <a:solidFill>
                  <a:schemeClr val="bg1"/>
                </a:solidFill>
                <a:latin typeface="Calibri Bold"/>
              </a:rPr>
              <a:t>PALETTE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20CBF917-BBFA-154F-AE49-00C72A97DC4D}"/>
              </a:ext>
            </a:extLst>
          </p:cNvPr>
          <p:cNvSpPr txBox="1"/>
          <p:nvPr userDrawn="1"/>
        </p:nvSpPr>
        <p:spPr>
          <a:xfrm>
            <a:off x="12261348" y="3358336"/>
            <a:ext cx="1432427" cy="268253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Gradients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D3190199-C1C2-0549-B59C-931BCAB1B18A}"/>
              </a:ext>
            </a:extLst>
          </p:cNvPr>
          <p:cNvSpPr txBox="1"/>
          <p:nvPr userDrawn="1"/>
        </p:nvSpPr>
        <p:spPr>
          <a:xfrm>
            <a:off x="12261350" y="1990137"/>
            <a:ext cx="777584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Grey tones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0A2C8420-18BB-7B4C-A8CE-24531816B381}"/>
              </a:ext>
            </a:extLst>
          </p:cNvPr>
          <p:cNvSpPr txBox="1"/>
          <p:nvPr userDrawn="1"/>
        </p:nvSpPr>
        <p:spPr>
          <a:xfrm>
            <a:off x="12255293" y="2341826"/>
            <a:ext cx="1914733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Text colors light bg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C0C230F0-D526-6C4F-9E43-2F708FEF06D1}"/>
              </a:ext>
            </a:extLst>
          </p:cNvPr>
          <p:cNvSpPr txBox="1"/>
          <p:nvPr userDrawn="1"/>
        </p:nvSpPr>
        <p:spPr>
          <a:xfrm>
            <a:off x="12255293" y="2703535"/>
            <a:ext cx="1478852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Adjusted PPT colors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266F376A-0B7A-B448-B37D-0C09B74FA9CF}"/>
              </a:ext>
            </a:extLst>
          </p:cNvPr>
          <p:cNvSpPr txBox="1"/>
          <p:nvPr userDrawn="1"/>
        </p:nvSpPr>
        <p:spPr>
          <a:xfrm>
            <a:off x="12299254" y="2974539"/>
            <a:ext cx="1316722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Default SIG colors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F446E0B7-64D4-2F4F-AD07-A36525F701FD}"/>
              </a:ext>
            </a:extLst>
          </p:cNvPr>
          <p:cNvSpPr txBox="1"/>
          <p:nvPr userDrawn="1"/>
        </p:nvSpPr>
        <p:spPr>
          <a:xfrm>
            <a:off x="12255294" y="4008901"/>
            <a:ext cx="1003261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 dirty="0">
                <a:solidFill>
                  <a:schemeClr val="bg1"/>
                </a:solidFill>
                <a:latin typeface="Calibri Bold"/>
              </a:rPr>
              <a:t>Signal colors</a:t>
            </a:r>
          </a:p>
        </p:txBody>
      </p:sp>
      <p:sp>
        <p:nvSpPr>
          <p:cNvPr id="94" name="Triangle 93">
            <a:extLst>
              <a:ext uri="{FF2B5EF4-FFF2-40B4-BE49-F238E27FC236}">
                <a16:creationId xmlns:a16="http://schemas.microsoft.com/office/drawing/2014/main" id="{95EA91EB-DF88-DC4C-8867-A6E89E2C68C6}"/>
              </a:ext>
            </a:extLst>
          </p:cNvPr>
          <p:cNvSpPr/>
          <p:nvPr userDrawn="1"/>
        </p:nvSpPr>
        <p:spPr>
          <a:xfrm>
            <a:off x="-178692" y="1203286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23730BB1-9B79-EB43-8C9B-DD4E1F8DAD52}"/>
              </a:ext>
            </a:extLst>
          </p:cNvPr>
          <p:cNvCxnSpPr>
            <a:cxnSpLocks/>
          </p:cNvCxnSpPr>
          <p:nvPr userDrawn="1"/>
        </p:nvCxnSpPr>
        <p:spPr>
          <a:xfrm>
            <a:off x="517893" y="-299831"/>
            <a:ext cx="0" cy="29741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6F3CBACC-10D2-674D-8DF2-97BE380A1038}"/>
              </a:ext>
            </a:extLst>
          </p:cNvPr>
          <p:cNvCxnSpPr>
            <a:cxnSpLocks/>
          </p:cNvCxnSpPr>
          <p:nvPr userDrawn="1"/>
        </p:nvCxnSpPr>
        <p:spPr>
          <a:xfrm flipH="1">
            <a:off x="-1179871" y="1352986"/>
            <a:ext cx="1169712" cy="0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TextBox 96">
            <a:extLst>
              <a:ext uri="{FF2B5EF4-FFF2-40B4-BE49-F238E27FC236}">
                <a16:creationId xmlns:a16="http://schemas.microsoft.com/office/drawing/2014/main" id="{58AB2E3C-062E-554B-991E-0F04B3480EAB}"/>
              </a:ext>
            </a:extLst>
          </p:cNvPr>
          <p:cNvSpPr txBox="1"/>
          <p:nvPr userDrawn="1"/>
        </p:nvSpPr>
        <p:spPr>
          <a:xfrm>
            <a:off x="-1228363" y="6332096"/>
            <a:ext cx="1228362" cy="533854"/>
          </a:xfrm>
          <a:prstGeom prst="rect">
            <a:avLst/>
          </a:prstGeom>
          <a:gradFill>
            <a:gsLst>
              <a:gs pos="56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18000000" scaled="0"/>
          </a:gradFill>
        </p:spPr>
        <p:txBody>
          <a:bodyPr wrap="square" rtlCol="0" anchor="t">
            <a:no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 HERE</a:t>
            </a:r>
          </a:p>
        </p:txBody>
      </p:sp>
      <p:sp>
        <p:nvSpPr>
          <p:cNvPr id="98" name="Triangle 97">
            <a:extLst>
              <a:ext uri="{FF2B5EF4-FFF2-40B4-BE49-F238E27FC236}">
                <a16:creationId xmlns:a16="http://schemas.microsoft.com/office/drawing/2014/main" id="{11579231-7E59-274F-85B7-5EF4619636F1}"/>
              </a:ext>
            </a:extLst>
          </p:cNvPr>
          <p:cNvSpPr/>
          <p:nvPr userDrawn="1"/>
        </p:nvSpPr>
        <p:spPr>
          <a:xfrm flipV="1">
            <a:off x="-178692" y="6408014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45E706FE-9CC7-DB4A-94D2-5B4F0983B282}"/>
              </a:ext>
            </a:extLst>
          </p:cNvPr>
          <p:cNvCxnSpPr>
            <a:cxnSpLocks/>
          </p:cNvCxnSpPr>
          <p:nvPr userDrawn="1"/>
        </p:nvCxnSpPr>
        <p:spPr>
          <a:xfrm flipH="1">
            <a:off x="-1179871" y="6336930"/>
            <a:ext cx="1169712" cy="0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TextBox 99">
            <a:extLst>
              <a:ext uri="{FF2B5EF4-FFF2-40B4-BE49-F238E27FC236}">
                <a16:creationId xmlns:a16="http://schemas.microsoft.com/office/drawing/2014/main" id="{A2D8030A-24DD-F24C-B561-91D005086F32}"/>
              </a:ext>
            </a:extLst>
          </p:cNvPr>
          <p:cNvSpPr txBox="1"/>
          <p:nvPr userDrawn="1"/>
        </p:nvSpPr>
        <p:spPr>
          <a:xfrm>
            <a:off x="-301318" y="6865950"/>
            <a:ext cx="826141" cy="369332"/>
          </a:xfrm>
          <a:prstGeom prst="rect">
            <a:avLst/>
          </a:prstGeom>
          <a:gradFill>
            <a:gsLst>
              <a:gs pos="72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18900000" scaled="0"/>
          </a:gradFill>
        </p:spPr>
        <p:txBody>
          <a:bodyPr wrap="square" rtlCol="0" anchor="b">
            <a:sp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</a:t>
            </a:r>
            <a:b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</a:br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     HERE</a:t>
            </a:r>
          </a:p>
        </p:txBody>
      </p:sp>
      <p:sp>
        <p:nvSpPr>
          <p:cNvPr id="101" name="Triangle 100">
            <a:extLst>
              <a:ext uri="{FF2B5EF4-FFF2-40B4-BE49-F238E27FC236}">
                <a16:creationId xmlns:a16="http://schemas.microsoft.com/office/drawing/2014/main" id="{FAF50A31-8A21-194A-AACD-F93E3F7DDBA2}"/>
              </a:ext>
            </a:extLst>
          </p:cNvPr>
          <p:cNvSpPr/>
          <p:nvPr userDrawn="1"/>
        </p:nvSpPr>
        <p:spPr>
          <a:xfrm rot="16200000">
            <a:off x="313381" y="7083822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EA568D93-8F76-1F47-8432-E5BA84BD883F}"/>
              </a:ext>
            </a:extLst>
          </p:cNvPr>
          <p:cNvCxnSpPr>
            <a:cxnSpLocks/>
          </p:cNvCxnSpPr>
          <p:nvPr userDrawn="1"/>
        </p:nvCxnSpPr>
        <p:spPr>
          <a:xfrm>
            <a:off x="517893" y="6887674"/>
            <a:ext cx="0" cy="29741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TextBox 102">
            <a:extLst>
              <a:ext uri="{FF2B5EF4-FFF2-40B4-BE49-F238E27FC236}">
                <a16:creationId xmlns:a16="http://schemas.microsoft.com/office/drawing/2014/main" id="{CA5E9F19-F0DD-8D49-906A-3B4B9F498BE0}"/>
              </a:ext>
            </a:extLst>
          </p:cNvPr>
          <p:cNvSpPr txBox="1"/>
          <p:nvPr userDrawn="1"/>
        </p:nvSpPr>
        <p:spPr>
          <a:xfrm>
            <a:off x="12197109" y="-7624"/>
            <a:ext cx="1256301" cy="1362904"/>
          </a:xfrm>
          <a:prstGeom prst="rect">
            <a:avLst/>
          </a:prstGeom>
          <a:gradFill>
            <a:gsLst>
              <a:gs pos="53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8400000" scaled="0"/>
          </a:gradFill>
        </p:spPr>
        <p:txBody>
          <a:bodyPr wrap="square" rtlCol="0" anchor="b">
            <a:no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 NO CONTENT HERE</a:t>
            </a:r>
          </a:p>
        </p:txBody>
      </p:sp>
      <p:sp>
        <p:nvSpPr>
          <p:cNvPr id="104" name="Triangle 103">
            <a:extLst>
              <a:ext uri="{FF2B5EF4-FFF2-40B4-BE49-F238E27FC236}">
                <a16:creationId xmlns:a16="http://schemas.microsoft.com/office/drawing/2014/main" id="{26D0B294-32A3-6E48-A0F8-F348E1C5475D}"/>
              </a:ext>
            </a:extLst>
          </p:cNvPr>
          <p:cNvSpPr/>
          <p:nvPr userDrawn="1"/>
        </p:nvSpPr>
        <p:spPr>
          <a:xfrm>
            <a:off x="12278571" y="1203286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25C59B47-1A1E-E048-B3C7-1674CBF00BA4}"/>
              </a:ext>
            </a:extLst>
          </p:cNvPr>
          <p:cNvCxnSpPr>
            <a:cxnSpLocks/>
          </p:cNvCxnSpPr>
          <p:nvPr userDrawn="1"/>
        </p:nvCxnSpPr>
        <p:spPr>
          <a:xfrm flipH="1">
            <a:off x="12206176" y="1352986"/>
            <a:ext cx="1141114" cy="1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31C1F5FB-91A2-734D-A19C-C1FBD5BA6428}"/>
              </a:ext>
            </a:extLst>
          </p:cNvPr>
          <p:cNvSpPr txBox="1"/>
          <p:nvPr userDrawn="1"/>
        </p:nvSpPr>
        <p:spPr>
          <a:xfrm>
            <a:off x="12197109" y="6332096"/>
            <a:ext cx="1256301" cy="533854"/>
          </a:xfrm>
          <a:prstGeom prst="rect">
            <a:avLst/>
          </a:prstGeom>
          <a:gradFill>
            <a:gsLst>
              <a:gs pos="56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14400000" scaled="0"/>
          </a:gradFill>
        </p:spPr>
        <p:txBody>
          <a:bodyPr wrap="square" rtlCol="0" anchor="t">
            <a:no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 NO CONTENT HERE</a:t>
            </a:r>
          </a:p>
        </p:txBody>
      </p:sp>
      <p:sp>
        <p:nvSpPr>
          <p:cNvPr id="107" name="Triangle 106">
            <a:extLst>
              <a:ext uri="{FF2B5EF4-FFF2-40B4-BE49-F238E27FC236}">
                <a16:creationId xmlns:a16="http://schemas.microsoft.com/office/drawing/2014/main" id="{DE0C5951-F714-9C44-8682-C724B5FE1100}"/>
              </a:ext>
            </a:extLst>
          </p:cNvPr>
          <p:cNvSpPr/>
          <p:nvPr userDrawn="1"/>
        </p:nvSpPr>
        <p:spPr>
          <a:xfrm flipV="1">
            <a:off x="12278571" y="6408014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1B6EB480-EA98-0A40-89A3-61F487FE4C85}"/>
              </a:ext>
            </a:extLst>
          </p:cNvPr>
          <p:cNvCxnSpPr>
            <a:cxnSpLocks/>
          </p:cNvCxnSpPr>
          <p:nvPr userDrawn="1"/>
        </p:nvCxnSpPr>
        <p:spPr>
          <a:xfrm flipH="1">
            <a:off x="12206176" y="6329115"/>
            <a:ext cx="1133740" cy="0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6D8FDB07-3CA8-1B45-A406-77809CF8B74B}"/>
              </a:ext>
            </a:extLst>
          </p:cNvPr>
          <p:cNvSpPr txBox="1"/>
          <p:nvPr userDrawn="1"/>
        </p:nvSpPr>
        <p:spPr>
          <a:xfrm>
            <a:off x="11753369" y="-369332"/>
            <a:ext cx="826141" cy="369332"/>
          </a:xfrm>
          <a:prstGeom prst="rect">
            <a:avLst/>
          </a:prstGeom>
          <a:gradFill>
            <a:gsLst>
              <a:gs pos="72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8400000" scaled="0"/>
          </a:gradFill>
        </p:spPr>
        <p:txBody>
          <a:bodyPr wrap="square" rtlCol="0" anchor="b">
            <a:sp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</a:t>
            </a:r>
            <a:b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</a:br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HERE</a:t>
            </a:r>
          </a:p>
        </p:txBody>
      </p:sp>
      <p:sp>
        <p:nvSpPr>
          <p:cNvPr id="110" name="Triangle 109">
            <a:extLst>
              <a:ext uri="{FF2B5EF4-FFF2-40B4-BE49-F238E27FC236}">
                <a16:creationId xmlns:a16="http://schemas.microsoft.com/office/drawing/2014/main" id="{3B56AC1A-0522-8447-B54E-A3B921BE61CA}"/>
              </a:ext>
            </a:extLst>
          </p:cNvPr>
          <p:cNvSpPr/>
          <p:nvPr userDrawn="1"/>
        </p:nvSpPr>
        <p:spPr>
          <a:xfrm rot="5400000" flipH="1">
            <a:off x="11831127" y="-158835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297B4272-1DA3-CD44-8357-76391CEA3A5F}"/>
              </a:ext>
            </a:extLst>
          </p:cNvPr>
          <p:cNvCxnSpPr>
            <a:cxnSpLocks/>
          </p:cNvCxnSpPr>
          <p:nvPr userDrawn="1"/>
        </p:nvCxnSpPr>
        <p:spPr>
          <a:xfrm>
            <a:off x="11748091" y="-303006"/>
            <a:ext cx="0" cy="29741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TextBox 111">
            <a:extLst>
              <a:ext uri="{FF2B5EF4-FFF2-40B4-BE49-F238E27FC236}">
                <a16:creationId xmlns:a16="http://schemas.microsoft.com/office/drawing/2014/main" id="{38127C6C-4883-104A-B1C6-B43ADDFA08D8}"/>
              </a:ext>
            </a:extLst>
          </p:cNvPr>
          <p:cNvSpPr txBox="1"/>
          <p:nvPr userDrawn="1"/>
        </p:nvSpPr>
        <p:spPr>
          <a:xfrm>
            <a:off x="11753369" y="6873324"/>
            <a:ext cx="826141" cy="369332"/>
          </a:xfrm>
          <a:prstGeom prst="rect">
            <a:avLst/>
          </a:prstGeom>
          <a:gradFill>
            <a:gsLst>
              <a:gs pos="72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13200000" scaled="0"/>
          </a:gradFill>
        </p:spPr>
        <p:txBody>
          <a:bodyPr wrap="square" rtlCol="0" anchor="b">
            <a:sp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</a:t>
            </a:r>
            <a:b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</a:br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HERE</a:t>
            </a:r>
          </a:p>
        </p:txBody>
      </p:sp>
      <p:sp>
        <p:nvSpPr>
          <p:cNvPr id="113" name="Triangle 112">
            <a:extLst>
              <a:ext uri="{FF2B5EF4-FFF2-40B4-BE49-F238E27FC236}">
                <a16:creationId xmlns:a16="http://schemas.microsoft.com/office/drawing/2014/main" id="{5E23F091-2253-9A46-A773-B6E33A4E19DA}"/>
              </a:ext>
            </a:extLst>
          </p:cNvPr>
          <p:cNvSpPr/>
          <p:nvPr userDrawn="1"/>
        </p:nvSpPr>
        <p:spPr>
          <a:xfrm rot="5400000" flipH="1">
            <a:off x="11831127" y="7083821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ED939B88-4AB8-874C-A524-9CF7AB4C7AE2}"/>
              </a:ext>
            </a:extLst>
          </p:cNvPr>
          <p:cNvCxnSpPr>
            <a:cxnSpLocks/>
          </p:cNvCxnSpPr>
          <p:nvPr userDrawn="1"/>
        </p:nvCxnSpPr>
        <p:spPr>
          <a:xfrm>
            <a:off x="11748091" y="6874974"/>
            <a:ext cx="0" cy="29741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74678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3" r:id="rId1"/>
    <p:sldLayoutId id="2147483662" r:id="rId2"/>
    <p:sldLayoutId id="2147483673" r:id="rId3"/>
    <p:sldLayoutId id="2147483713" r:id="rId4"/>
    <p:sldLayoutId id="2147483714" r:id="rId5"/>
    <p:sldLayoutId id="2147483668" r:id="rId6"/>
    <p:sldLayoutId id="2147483720" r:id="rId7"/>
    <p:sldLayoutId id="2147483719" r:id="rId8"/>
    <p:sldLayoutId id="2147483661" r:id="rId9"/>
    <p:sldLayoutId id="2147483664" r:id="rId10"/>
    <p:sldLayoutId id="2147483692" r:id="rId11"/>
    <p:sldLayoutId id="2147483693" r:id="rId12"/>
    <p:sldLayoutId id="2147483690" r:id="rId13"/>
    <p:sldLayoutId id="2147483691" r:id="rId14"/>
    <p:sldLayoutId id="2147483697" r:id="rId15"/>
    <p:sldLayoutId id="2147483715" r:id="rId16"/>
    <p:sldLayoutId id="2147483717" r:id="rId17"/>
    <p:sldLayoutId id="2147483704" r:id="rId18"/>
    <p:sldLayoutId id="2147483727" r:id="rId19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US" sz="2000" b="1" kern="1200" spc="-10" smtClean="0">
          <a:solidFill>
            <a:schemeClr val="tx2"/>
          </a:solidFill>
          <a:latin typeface="+mn-lt"/>
          <a:ea typeface="+mn-ea"/>
          <a:cs typeface="+mn-cs"/>
        </a:defRPr>
      </a:lvl1pPr>
    </p:titleStyle>
    <p:bodyStyle>
      <a:lvl1pPr marL="0" indent="-2646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defRPr lang="en-US" sz="1600" kern="1200" smtClean="0">
          <a:solidFill>
            <a:schemeClr val="tx2"/>
          </a:solidFill>
          <a:latin typeface="+mn-lt"/>
          <a:ea typeface="+mn-ea"/>
          <a:cs typeface="+mn-cs"/>
        </a:defRPr>
      </a:lvl1pPr>
      <a:lvl2pPr marL="540000" indent="-2700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tabLst/>
        <a:defRPr lang="en-US" sz="1600" kern="1200" smtClean="0">
          <a:solidFill>
            <a:srgbClr val="163241"/>
          </a:solidFill>
          <a:latin typeface="+mn-lt"/>
          <a:ea typeface="+mn-ea"/>
          <a:cs typeface="+mn-cs"/>
        </a:defRPr>
      </a:lvl2pPr>
      <a:lvl3pPr marL="792000" indent="-2700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tabLst/>
        <a:defRPr lang="en-US" sz="1600" kern="1200" smtClean="0">
          <a:solidFill>
            <a:srgbClr val="163241"/>
          </a:solidFill>
          <a:latin typeface="+mn-lt"/>
          <a:ea typeface="+mn-ea"/>
          <a:cs typeface="+mn-cs"/>
        </a:defRPr>
      </a:lvl3pPr>
      <a:lvl4pPr marL="1044000" indent="-2700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tabLst/>
        <a:defRPr lang="en-US" sz="1600" kern="1200" smtClean="0">
          <a:solidFill>
            <a:srgbClr val="163241"/>
          </a:solidFill>
          <a:latin typeface="+mn-lt"/>
          <a:ea typeface="+mn-ea"/>
          <a:cs typeface="+mn-cs"/>
        </a:defRPr>
      </a:lvl4pPr>
      <a:lvl5pPr marL="1296000" indent="-2700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tabLst/>
        <a:defRPr lang="en-US" sz="1600" kern="1200" smtClean="0">
          <a:solidFill>
            <a:srgbClr val="16324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851" userDrawn="1">
          <p15:clr>
            <a:srgbClr val="F26B43"/>
          </p15:clr>
        </p15:guide>
        <p15:guide id="2" pos="326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6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7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8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emf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9.sv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emf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9.sv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emf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9.sv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emf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9.sv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emf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9.sv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emf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9.sv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emf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9.sv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emf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9.sv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D6C553A6-C217-8C4D-9A6D-8D0D48D4D70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Portfolio Overview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1FE993F-25A4-CA1C-44DD-67230D2F26A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9FC6248-201F-1144-8C5C-E4B4C27EF42F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3636000" y="4119279"/>
            <a:ext cx="1450572" cy="215444"/>
          </a:xfrm>
        </p:spPr>
        <p:txBody>
          <a:bodyPr>
            <a:normAutofit fontScale="40000" lnSpcReduction="20000"/>
          </a:bodyPr>
          <a:lstStyle/>
          <a:p>
            <a:r>
              <a:rPr lang="en-US" dirty="0"/>
              <a:t>Software Improvement Group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7EB27F3-0AC4-E148-A0B1-7E0851BF0D30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 err="1"/>
              <a:t>REPORT_DATE</a:t>
            </a: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ED10CA19-199D-DB48-2F97-A61E7A0CD1A8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4629355" y="6536558"/>
            <a:ext cx="2391680" cy="247948"/>
          </a:xfrm>
        </p:spPr>
        <p:txBody>
          <a:bodyPr>
            <a:normAutofit fontScale="62500" lnSpcReduction="20000"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09166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CA42B1-79CC-1E21-4639-E7E6701665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FFC30FB-D319-2C0A-9F37-22FDBE06E5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2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2208AD9-F8A2-F7B2-D9F1-70BCDD12FBB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717DAB3-373D-DCEC-7681-4A145CDFE5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DA4B2A8-B773-91AF-217C-D5EE6ACFCD36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 algn="ctr">
              <a:buNone/>
            </a:pPr>
            <a:endParaRPr lang="en-US" sz="3200" b="1" dirty="0"/>
          </a:p>
          <a:p>
            <a:pPr marL="0" indent="0" algn="ctr">
              <a:buNone/>
            </a:pPr>
            <a:endParaRPr lang="en-US" sz="3200" b="1" dirty="0"/>
          </a:p>
          <a:p>
            <a:pPr marL="0" indent="0" algn="ctr">
              <a:buNone/>
            </a:pPr>
            <a:endParaRPr lang="en-US" sz="3200" b="1" dirty="0"/>
          </a:p>
          <a:p>
            <a:pPr marL="0" indent="0" algn="ctr">
              <a:buNone/>
            </a:pPr>
            <a:r>
              <a:rPr lang="en-US" sz="3200" b="1" dirty="0"/>
              <a:t>OBJECTIVES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01EFB6F-BDEE-5ED9-3CD5-ECFE541AE10E}"/>
              </a:ext>
            </a:extLst>
          </p:cNvPr>
          <p:cNvSpPr/>
          <p:nvPr/>
        </p:nvSpPr>
        <p:spPr>
          <a:xfrm>
            <a:off x="1371600" y="0"/>
            <a:ext cx="10820400" cy="118624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210778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7469EBE-D781-BBE7-29B3-57566E620DF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3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7ECEA32-D081-8FDD-76C5-C241F438746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/>
              <a:t>SIGRID OBJECTIVES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65B9EEB-750A-B63C-431E-C83D0FD7E7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Progress towards objectives between </a:t>
            </a:r>
            <a:r>
              <a:rPr lang="en-US" dirty="0"/>
              <a:t>OBJECTIVES_PERIOD_START and OBJECTIVES_PERIOD_END</a:t>
            </a:r>
            <a:endParaRPr lang="en-US"/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9A17AFA3-FC96-B65B-0A6A-D4A1754157FE}"/>
              </a:ext>
            </a:extLst>
          </p:cNvPr>
          <p:cNvGraphicFramePr/>
          <p:nvPr/>
        </p:nvGraphicFramePr>
        <p:xfrm>
          <a:off x="478224" y="2116469"/>
          <a:ext cx="11267443" cy="145781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1352F2E2-69B9-D866-7D75-24F10BB85A60}"/>
              </a:ext>
            </a:extLst>
          </p:cNvPr>
          <p:cNvSpPr txBox="1"/>
          <p:nvPr/>
        </p:nvSpPr>
        <p:spPr>
          <a:xfrm>
            <a:off x="8958648" y="-525758"/>
            <a:ext cx="2884016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/>
              <a:t>OBJECTIVES_STATUS_CHART</a:t>
            </a:r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CD0E6B1-41C3-CBAF-81A1-5291864E7E21}"/>
              </a:ext>
            </a:extLst>
          </p:cNvPr>
          <p:cNvSpPr txBox="1"/>
          <p:nvPr/>
        </p:nvSpPr>
        <p:spPr>
          <a:xfrm>
            <a:off x="2791143" y="394977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9A08C5B-250B-FC47-1AD3-3C078984145A}"/>
              </a:ext>
            </a:extLst>
          </p:cNvPr>
          <p:cNvSpPr txBox="1"/>
          <p:nvPr/>
        </p:nvSpPr>
        <p:spPr>
          <a:xfrm>
            <a:off x="681046" y="1888751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5104348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B257F2-BA89-4390-88ED-8FB60EF167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278348F-B34F-B964-E35D-39DECE3BFDF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4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9184645-C932-640A-5E4B-F4B967838F2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/>
              <a:t>SIGRID OBJECTIVES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F47F5DA-4282-38F9-1499-DF60181689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Progress towards objectives per team between </a:t>
            </a:r>
            <a:r>
              <a:rPr lang="en-US" dirty="0"/>
              <a:t>OBJECTIVES_PERIOD_START and OBJECTIVES_PERIOD_END</a:t>
            </a:r>
            <a:endParaRPr lang="en-US"/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C8EC5A35-9538-D995-065E-528B18F85DED}"/>
              </a:ext>
            </a:extLst>
          </p:cNvPr>
          <p:cNvGraphicFramePr/>
          <p:nvPr/>
        </p:nvGraphicFramePr>
        <p:xfrm>
          <a:off x="478224" y="1507525"/>
          <a:ext cx="11267443" cy="43372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680F10C8-8291-84BB-615B-4FE46E9122C0}"/>
              </a:ext>
            </a:extLst>
          </p:cNvPr>
          <p:cNvSpPr txBox="1"/>
          <p:nvPr/>
        </p:nvSpPr>
        <p:spPr>
          <a:xfrm>
            <a:off x="8958648" y="-525758"/>
            <a:ext cx="2751287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/>
              <a:t>OBJECTIVES_TEAM_CHART</a:t>
            </a:r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329A40A-AF83-BB5A-88A1-56A221C73FA2}"/>
              </a:ext>
            </a:extLst>
          </p:cNvPr>
          <p:cNvSpPr txBox="1"/>
          <p:nvPr/>
        </p:nvSpPr>
        <p:spPr>
          <a:xfrm>
            <a:off x="2791143" y="5988637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2AF4431-111B-9E39-96DA-E7355B3BFC0A}"/>
              </a:ext>
            </a:extLst>
          </p:cNvPr>
          <p:cNvSpPr txBox="1"/>
          <p:nvPr/>
        </p:nvSpPr>
        <p:spPr>
          <a:xfrm>
            <a:off x="9508826" y="1325702"/>
            <a:ext cx="2023844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team’s systems</a:t>
            </a:r>
          </a:p>
        </p:txBody>
      </p:sp>
    </p:spTree>
    <p:extLst>
      <p:ext uri="{BB962C8B-B14F-4D97-AF65-F5344CB8AC3E}">
        <p14:creationId xmlns:p14="http://schemas.microsoft.com/office/powerpoint/2010/main" val="28077049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B95A28-0797-82EC-8AAB-40E0AD48F1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49429BB-1FAC-98FE-7D71-42B7D87DA3A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5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581411-6610-CAFD-EA1C-81FD4B02380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/>
              <a:t>SIGRID OBJECTIVES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8F4B936-22AE-53AE-D47F-598EDA2115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Progress towards objectives per capability between </a:t>
            </a:r>
            <a:r>
              <a:rPr lang="en-US" dirty="0"/>
              <a:t>OBJECTIVES_PERIOD_START and OBJECTIVES_PERIOD_END</a:t>
            </a:r>
            <a:endParaRPr lang="en-US"/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2774041C-71AE-0495-78BB-3253007E9E90}"/>
              </a:ext>
            </a:extLst>
          </p:cNvPr>
          <p:cNvGraphicFramePr/>
          <p:nvPr/>
        </p:nvGraphicFramePr>
        <p:xfrm>
          <a:off x="478224" y="1507525"/>
          <a:ext cx="11267443" cy="43372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E75AA9D8-EEB6-8709-C209-D32FF5C291E0}"/>
              </a:ext>
            </a:extLst>
          </p:cNvPr>
          <p:cNvSpPr txBox="1"/>
          <p:nvPr/>
        </p:nvSpPr>
        <p:spPr>
          <a:xfrm>
            <a:off x="8958648" y="-525758"/>
            <a:ext cx="3278675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/>
              <a:t>OBJECTIVES_CAPABILITY_CHART</a:t>
            </a:r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64208DC-0422-1C0A-F36A-3E68057F3E5B}"/>
              </a:ext>
            </a:extLst>
          </p:cNvPr>
          <p:cNvSpPr txBox="1"/>
          <p:nvPr/>
        </p:nvSpPr>
        <p:spPr>
          <a:xfrm>
            <a:off x="2791143" y="5988637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377E27A-346A-7209-76CD-BF5DB2681082}"/>
              </a:ext>
            </a:extLst>
          </p:cNvPr>
          <p:cNvSpPr txBox="1"/>
          <p:nvPr/>
        </p:nvSpPr>
        <p:spPr>
          <a:xfrm>
            <a:off x="9905465" y="1325702"/>
            <a:ext cx="1622453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36004005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6F600E-1C52-CB46-5D36-227AF7C7B6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A3EDD46-211F-38F5-AB6D-EB17449227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6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077B15-64A3-766F-A6A8-B3999BFA416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/>
              <a:t>SIGRID OBJECTIVES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39A4AB2-1C46-4914-7434-6FBDA68DDA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Progress towards objectives over time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CED42228-B917-5A3E-BB6B-9871F4C489AA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025FA84B-5F3F-E103-125D-195720E3F1F8}"/>
              </a:ext>
            </a:extLst>
          </p:cNvPr>
          <p:cNvSpPr txBox="1"/>
          <p:nvPr/>
        </p:nvSpPr>
        <p:spPr>
          <a:xfrm>
            <a:off x="8958648" y="-525758"/>
            <a:ext cx="3051498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/>
              <a:t>OBJECTIVES_OVERALL_CHART</a:t>
            </a:r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32C182B-21A7-0B3F-FD20-1EAE8DC0298E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418F0D0-4FE8-9F07-C0C1-9B71E7D05D3A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13975172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663A228-91DD-866A-C3BE-29D9BA0B02B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7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7ED074-760A-27AF-25CE-E2511AFEA51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D810002-51D8-CFBC-BD3F-963973A8ED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D534E21-7EB0-8655-1FAF-0FBBAA97919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 algn="ctr">
              <a:buNone/>
            </a:pPr>
            <a:endParaRPr lang="en-US" sz="3200" b="1"/>
          </a:p>
          <a:p>
            <a:pPr marL="0" indent="0" algn="ctr">
              <a:buNone/>
            </a:pPr>
            <a:endParaRPr lang="en-US" sz="3200" b="1"/>
          </a:p>
          <a:p>
            <a:pPr marL="0" indent="0" algn="ctr">
              <a:buNone/>
            </a:pPr>
            <a:endParaRPr lang="en-US" sz="3200" b="1"/>
          </a:p>
          <a:p>
            <a:pPr marL="0" indent="0" algn="ctr">
              <a:buNone/>
            </a:pPr>
            <a:r>
              <a:rPr lang="en-US" sz="3200" b="1"/>
              <a:t>OBJECTIVES: TREND PER CAPABILITY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074427A-C727-A25F-00F6-6BA35F10855E}"/>
              </a:ext>
            </a:extLst>
          </p:cNvPr>
          <p:cNvSpPr/>
          <p:nvPr/>
        </p:nvSpPr>
        <p:spPr>
          <a:xfrm>
            <a:off x="1371600" y="0"/>
            <a:ext cx="10820400" cy="118624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556547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F07E0E-1EF7-93CB-AE93-58F5DBBBDC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E1CC23F-34A9-CAB4-F1AC-61CD4A137DA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8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C971F33-EC6D-15CB-7964-1A1BA3BB36F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/>
              <a:t>SIGRID OBJECTIVES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CF13107-CDB7-AC85-5C5F-E7555AB75D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Progress towards objectives: Security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EA804B61-8F8C-C6D5-94BB-B5CA583E7BE3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659FCAA8-D0E0-3539-B820-DF6D6318129E}"/>
              </a:ext>
            </a:extLst>
          </p:cNvPr>
          <p:cNvSpPr txBox="1"/>
          <p:nvPr/>
        </p:nvSpPr>
        <p:spPr>
          <a:xfrm>
            <a:off x="8958648" y="-525758"/>
            <a:ext cx="3101768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/>
              <a:t>OBJECTIVES_SECURITY_CHART</a:t>
            </a:r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63D52BC-C3E2-2451-161B-F52A7FA9705A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BDB332-5B7A-58F8-1634-D547EFC67F5B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4166511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BEF245-3442-A171-4B71-8976E674B4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A27DFA2-EE79-84D9-93B7-40E7783C22E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9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48E3577-CF80-4497-779B-F8F9B649832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/>
              <a:t>SIGRID OBJECTIVES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23ACF5B-388E-198E-FD05-ADCFD0748A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Progress towards objectives: Open Source Health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1551057A-38E3-B1CD-A98D-FA6566BDC6A6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AAE381E8-8BDC-C11E-0B4E-573D2927E3C8}"/>
              </a:ext>
            </a:extLst>
          </p:cNvPr>
          <p:cNvSpPr txBox="1"/>
          <p:nvPr/>
        </p:nvSpPr>
        <p:spPr>
          <a:xfrm>
            <a:off x="8958648" y="-525758"/>
            <a:ext cx="2597014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/>
              <a:t>OBJECTIVES_OSH_CHART</a:t>
            </a:r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5C2DE49-7433-6CBC-CA29-7C7939288C8E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131CF1D-7DAE-FF14-4371-2186B59208F0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77415652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4EC71-BF20-1EC9-6B8D-E66363F242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39F4491-51CB-EEE5-D092-EF2325FC49E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10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65BB6BA-D3E5-6DBC-BA5D-B53502B31A3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/>
              <a:t>SIGRID OBJECTIVES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8BDABA6-F829-DABD-783E-014F923836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Progress towards objectives: Maintainability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D309D7A3-6D2B-5238-FDCA-89277EA3E24A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FBB95D9E-971C-257B-3338-71CD7C91C015}"/>
              </a:ext>
            </a:extLst>
          </p:cNvPr>
          <p:cNvSpPr txBox="1"/>
          <p:nvPr/>
        </p:nvSpPr>
        <p:spPr>
          <a:xfrm>
            <a:off x="8958648" y="-525758"/>
            <a:ext cx="3912566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/>
              <a:t>OBJECTIVES_MAINTAINABILITY_CHART</a:t>
            </a:r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644A357-894B-360C-F02D-0E805F440A54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08BF43F-4B27-019F-F6AA-84146EA48A8B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160094900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2EA77C-7A9E-2604-6B02-6FB6C57A31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5830A8F-64E7-1C1D-24C6-C12102806E6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11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6F722AC-8C8A-2B3B-1671-FE6B7573FD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/>
              <a:t>SIGRID OBJECTIVES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EFC0CB5-4975-B41B-F265-6AE5A3F2AD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Progress towards objectives: Architecture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FBB521E4-96ED-814A-B322-AFBA0633E84C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41183F90-63B2-0646-9068-7E4E2BCF14D9}"/>
              </a:ext>
            </a:extLst>
          </p:cNvPr>
          <p:cNvSpPr txBox="1"/>
          <p:nvPr/>
        </p:nvSpPr>
        <p:spPr>
          <a:xfrm>
            <a:off x="8958648" y="-525758"/>
            <a:ext cx="3635054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/>
              <a:t>OBJECTIVES_ARCHITECTURE_CHART</a:t>
            </a:r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9FE74E7-A4E7-D99A-A30E-92E30405FE49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55E5897-263B-F75F-BB48-770410B9BCFB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26135408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553638-E7EA-6540-EB95-71AC99BB18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006550A-82BC-27A9-5BA9-11E0BD7D281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12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805C72F-BC02-E5AC-7875-697FD443A9D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9E30962-2823-732A-4055-DA798F204A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7E713ED-C675-C9A6-C511-46A1453EFEE1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 algn="ctr">
              <a:buNone/>
            </a:pPr>
            <a:endParaRPr lang="en-US" sz="3200" b="1" dirty="0"/>
          </a:p>
          <a:p>
            <a:pPr marL="0" indent="0" algn="ctr">
              <a:buNone/>
            </a:pPr>
            <a:endParaRPr lang="en-US" sz="3200" b="1" dirty="0"/>
          </a:p>
          <a:p>
            <a:pPr marL="0" indent="0" algn="ctr">
              <a:buNone/>
            </a:pPr>
            <a:endParaRPr lang="en-US" sz="3200" b="1" dirty="0"/>
          </a:p>
          <a:p>
            <a:pPr marL="0" indent="0" algn="ctr">
              <a:buNone/>
            </a:pPr>
            <a:r>
              <a:rPr lang="en-US" sz="3200" b="1" dirty="0"/>
              <a:t>PORTFOLIO TRENDS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CAD5F29-E096-9FA6-116C-606DEF54A9DD}"/>
              </a:ext>
            </a:extLst>
          </p:cNvPr>
          <p:cNvSpPr/>
          <p:nvPr/>
        </p:nvSpPr>
        <p:spPr>
          <a:xfrm>
            <a:off x="1371600" y="0"/>
            <a:ext cx="10820400" cy="118624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2172593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3651B2-5EA3-6357-504E-42CA686F10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54214F55-87AB-4503-AC82-2BC95B208C8E}"/>
              </a:ext>
            </a:extLst>
          </p:cNvPr>
          <p:cNvSpPr/>
          <p:nvPr/>
        </p:nvSpPr>
        <p:spPr>
          <a:xfrm flipH="1">
            <a:off x="0" y="1368000"/>
            <a:ext cx="12192000" cy="1658842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672C7AE-2076-5997-4EAB-D22E042653D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13</a:t>
            </a:fld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8BE65D2-3460-4C7C-16F9-3BE88017BB6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Findings – </a:t>
            </a:r>
            <a:r>
              <a:rPr lang="en-US" dirty="0">
                <a:solidFill>
                  <a:schemeClr val="accent3"/>
                </a:solidFill>
              </a:rPr>
              <a:t>Maintainability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3003F1AD-18C8-77BE-1E79-3C2B6F2374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 err="1"/>
              <a:t>PORTFOLIO_PERIOD_MAINT_SHORT_SUMMARY</a:t>
            </a:r>
            <a:endParaRPr lang="en-US" noProof="0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69D6EAF-E8FD-D3A3-7829-CED7DB0F871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4800" y="1368000"/>
            <a:ext cx="11232000" cy="1658842"/>
          </a:xfrm>
        </p:spPr>
        <p:txBody>
          <a:bodyPr anchor="ctr"/>
          <a:lstStyle/>
          <a:p>
            <a:pPr marL="0" indent="0">
              <a:buNone/>
            </a:pPr>
            <a:r>
              <a:rPr lang="en-US" sz="1400" noProof="0" dirty="0" err="1"/>
              <a:t>PORTFOLIO_PERIOD_MAINT</a:t>
            </a:r>
            <a:r>
              <a:rPr lang="en-US" sz="1400" noProof="0" err="1"/>
              <a:t>_</a:t>
            </a:r>
            <a:r>
              <a:rPr lang="en-US" sz="1400" noProof="0"/>
              <a:t>SUMMARY</a:t>
            </a:r>
            <a:endParaRPr lang="en-US" sz="1400" noProof="0" dirty="0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CEBC282C-8055-7AD8-3590-C3FE9E42BC3E}"/>
              </a:ext>
            </a:extLst>
          </p:cNvPr>
          <p:cNvSpPr/>
          <p:nvPr/>
        </p:nvSpPr>
        <p:spPr>
          <a:xfrm>
            <a:off x="-270313" y="3154680"/>
            <a:ext cx="9725209" cy="3163320"/>
          </a:xfrm>
          <a:prstGeom prst="roundRect">
            <a:avLst>
              <a:gd name="adj" fmla="val 3161"/>
            </a:avLst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E27AED06-01F1-DBA0-E565-9BE6814AD2AD}"/>
              </a:ext>
            </a:extLst>
          </p:cNvPr>
          <p:cNvSpPr/>
          <p:nvPr/>
        </p:nvSpPr>
        <p:spPr>
          <a:xfrm flipH="1">
            <a:off x="9619488" y="3154680"/>
            <a:ext cx="2724912" cy="3163320"/>
          </a:xfrm>
          <a:prstGeom prst="roundRect">
            <a:avLst>
              <a:gd name="adj" fmla="val 4851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957E767-91E7-AE70-64BF-A19D315FFCBE}"/>
              </a:ext>
            </a:extLst>
          </p:cNvPr>
          <p:cNvSpPr txBox="1"/>
          <p:nvPr/>
        </p:nvSpPr>
        <p:spPr>
          <a:xfrm>
            <a:off x="-1221448" y="4419492"/>
            <a:ext cx="628847" cy="63344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3.12”</a:t>
            </a:r>
          </a:p>
          <a:p>
            <a:pPr algn="l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9.57"</a:t>
            </a:r>
          </a:p>
        </p:txBody>
      </p:sp>
      <p:sp>
        <p:nvSpPr>
          <p:cNvPr id="35" name="Rounded Rectangle 34">
            <a:extLst>
              <a:ext uri="{FF2B5EF4-FFF2-40B4-BE49-F238E27FC236}">
                <a16:creationId xmlns:a16="http://schemas.microsoft.com/office/drawing/2014/main" id="{9DD72B3E-4CC8-AB73-8F64-62397F5281E4}"/>
              </a:ext>
            </a:extLst>
          </p:cNvPr>
          <p:cNvSpPr/>
          <p:nvPr/>
        </p:nvSpPr>
        <p:spPr>
          <a:xfrm>
            <a:off x="9777184" y="4883651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39C6A333-EB76-E157-FD1F-1871A4A662AA}"/>
              </a:ext>
            </a:extLst>
          </p:cNvPr>
          <p:cNvSpPr/>
          <p:nvPr/>
        </p:nvSpPr>
        <p:spPr>
          <a:xfrm>
            <a:off x="9777184" y="4464888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939D2136-9129-DFF7-4566-2C400BB96138}"/>
              </a:ext>
            </a:extLst>
          </p:cNvPr>
          <p:cNvSpPr/>
          <p:nvPr/>
        </p:nvSpPr>
        <p:spPr>
          <a:xfrm>
            <a:off x="9777184" y="4046125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F9C640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EC40C890-EBDC-F8D6-6D8E-09D4D0DE0E18}"/>
              </a:ext>
            </a:extLst>
          </p:cNvPr>
          <p:cNvSpPr/>
          <p:nvPr/>
        </p:nvSpPr>
        <p:spPr>
          <a:xfrm>
            <a:off x="9777184" y="3627362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F9C640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7" name="Rounded Rectangle 36">
            <a:extLst>
              <a:ext uri="{FF2B5EF4-FFF2-40B4-BE49-F238E27FC236}">
                <a16:creationId xmlns:a16="http://schemas.microsoft.com/office/drawing/2014/main" id="{A0DD1692-51CA-E1A6-81C3-BF0C2701CD71}"/>
              </a:ext>
            </a:extLst>
          </p:cNvPr>
          <p:cNvSpPr/>
          <p:nvPr/>
        </p:nvSpPr>
        <p:spPr>
          <a:xfrm>
            <a:off x="9777184" y="5721177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6" name="Rounded Rectangle 35">
            <a:extLst>
              <a:ext uri="{FF2B5EF4-FFF2-40B4-BE49-F238E27FC236}">
                <a16:creationId xmlns:a16="http://schemas.microsoft.com/office/drawing/2014/main" id="{88246287-07F3-D9C9-8557-70B0343C337B}"/>
              </a:ext>
            </a:extLst>
          </p:cNvPr>
          <p:cNvSpPr/>
          <p:nvPr/>
        </p:nvSpPr>
        <p:spPr>
          <a:xfrm>
            <a:off x="9777184" y="5302414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9F29A67-9741-A809-2E85-0BC201DB14BE}"/>
              </a:ext>
            </a:extLst>
          </p:cNvPr>
          <p:cNvSpPr txBox="1"/>
          <p:nvPr/>
        </p:nvSpPr>
        <p:spPr>
          <a:xfrm>
            <a:off x="11186130" y="4921755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657D40A-DB4A-2C4A-053E-F08C7747990E}"/>
              </a:ext>
            </a:extLst>
          </p:cNvPr>
          <p:cNvSpPr txBox="1"/>
          <p:nvPr/>
        </p:nvSpPr>
        <p:spPr>
          <a:xfrm>
            <a:off x="11186130" y="4502992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49E0176-0A8A-63EA-FD74-DF199DA37561}"/>
              </a:ext>
            </a:extLst>
          </p:cNvPr>
          <p:cNvSpPr txBox="1"/>
          <p:nvPr/>
        </p:nvSpPr>
        <p:spPr>
          <a:xfrm>
            <a:off x="11186130" y="5759281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5E5ABA4-107A-63FA-B053-46543AAFABAA}"/>
              </a:ext>
            </a:extLst>
          </p:cNvPr>
          <p:cNvSpPr txBox="1"/>
          <p:nvPr/>
        </p:nvSpPr>
        <p:spPr>
          <a:xfrm>
            <a:off x="11186130" y="5340518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6A66209-FDAA-1800-F29B-C995792130D1}"/>
              </a:ext>
            </a:extLst>
          </p:cNvPr>
          <p:cNvSpPr txBox="1"/>
          <p:nvPr/>
        </p:nvSpPr>
        <p:spPr>
          <a:xfrm>
            <a:off x="11186130" y="4084229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D9C6992-A11F-E48D-7BC9-0F3A8B4F2206}"/>
              </a:ext>
            </a:extLst>
          </p:cNvPr>
          <p:cNvSpPr txBox="1"/>
          <p:nvPr/>
        </p:nvSpPr>
        <p:spPr>
          <a:xfrm>
            <a:off x="11186130" y="3665466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60" name="Triangle 59">
            <a:extLst>
              <a:ext uri="{FF2B5EF4-FFF2-40B4-BE49-F238E27FC236}">
                <a16:creationId xmlns:a16="http://schemas.microsoft.com/office/drawing/2014/main" id="{D5257F9D-A1EF-3657-2F03-349BDB3AB728}"/>
              </a:ext>
            </a:extLst>
          </p:cNvPr>
          <p:cNvSpPr/>
          <p:nvPr/>
        </p:nvSpPr>
        <p:spPr>
          <a:xfrm rot="5400000">
            <a:off x="11223517" y="97630"/>
            <a:ext cx="113704" cy="91353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>
              <a:solidFill>
                <a:schemeClr val="bg1"/>
              </a:solidFill>
            </a:endParaRPr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EEE0FC60-4BEC-117D-43BD-FAF4580865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67839" y="52613"/>
            <a:ext cx="203103" cy="172639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CD0596EA-3804-1B0D-B056-FFB0EFE2179D}"/>
              </a:ext>
            </a:extLst>
          </p:cNvPr>
          <p:cNvSpPr txBox="1"/>
          <p:nvPr/>
        </p:nvSpPr>
        <p:spPr>
          <a:xfrm>
            <a:off x="9145068" y="10898"/>
            <a:ext cx="2110021" cy="264816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nl-NL" sz="1050" b="1" dirty="0" err="1">
                <a:solidFill>
                  <a:schemeClr val="bg1">
                    <a:lumMod val="75000"/>
                  </a:schemeClr>
                </a:solidFill>
              </a:rPr>
              <a:t>PORTFOLIO_PERIOD_START_DATE</a:t>
            </a:r>
            <a:endParaRPr lang="nl-NL" sz="1050" b="1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5C0DAE1E-9C80-B69F-C5B2-2FF402E7ECD3}"/>
              </a:ext>
            </a:extLst>
          </p:cNvPr>
          <p:cNvSpPr txBox="1"/>
          <p:nvPr/>
        </p:nvSpPr>
        <p:spPr>
          <a:xfrm>
            <a:off x="11305651" y="10898"/>
            <a:ext cx="1993003" cy="264816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nl-NL" sz="1050" b="1" dirty="0" err="1">
                <a:solidFill>
                  <a:schemeClr val="tx2"/>
                </a:solidFill>
              </a:rPr>
              <a:t>PORTFOLIO_PERIOD_END_DATE</a:t>
            </a:r>
            <a:endParaRPr lang="nl-NL" sz="1050" b="1" noProof="0" dirty="0">
              <a:solidFill>
                <a:schemeClr val="tx2"/>
              </a:solidFill>
            </a:endParaRP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42B2F9C2-9C05-8500-6B07-CE52749A027C}"/>
              </a:ext>
            </a:extLst>
          </p:cNvPr>
          <p:cNvGrpSpPr>
            <a:grpSpLocks noChangeAspect="1"/>
          </p:cNvGrpSpPr>
          <p:nvPr/>
        </p:nvGrpSpPr>
        <p:grpSpPr>
          <a:xfrm>
            <a:off x="-392105" y="2517185"/>
            <a:ext cx="98115" cy="92576"/>
            <a:chOff x="-331054" y="2564812"/>
            <a:chExt cx="141517" cy="133528"/>
          </a:xfrm>
          <a:solidFill>
            <a:srgbClr val="57C968"/>
          </a:solidFill>
        </p:grpSpPr>
        <p:sp>
          <p:nvSpPr>
            <p:cNvPr id="65" name="Freeform 64">
              <a:extLst>
                <a:ext uri="{FF2B5EF4-FFF2-40B4-BE49-F238E27FC236}">
                  <a16:creationId xmlns:a16="http://schemas.microsoft.com/office/drawing/2014/main" id="{B0060EC7-3956-2900-208B-A6D695F1CCCB}"/>
                </a:ext>
              </a:extLst>
            </p:cNvPr>
            <p:cNvSpPr/>
            <p:nvPr/>
          </p:nvSpPr>
          <p:spPr>
            <a:xfrm>
              <a:off x="-331054" y="2564812"/>
              <a:ext cx="141517" cy="82436"/>
            </a:xfrm>
            <a:custGeom>
              <a:avLst/>
              <a:gdLst>
                <a:gd name="connsiteX0" fmla="*/ 70759 w 141517"/>
                <a:gd name="connsiteY0" fmla="*/ 0 h 82436"/>
                <a:gd name="connsiteX1" fmla="*/ 141517 w 141517"/>
                <a:gd name="connsiteY1" fmla="*/ 82436 h 82436"/>
                <a:gd name="connsiteX2" fmla="*/ 111805 w 141517"/>
                <a:gd name="connsiteY2" fmla="*/ 82436 h 82436"/>
                <a:gd name="connsiteX3" fmla="*/ 70759 w 141517"/>
                <a:gd name="connsiteY3" fmla="*/ 34616 h 82436"/>
                <a:gd name="connsiteX4" fmla="*/ 29713 w 141517"/>
                <a:gd name="connsiteY4" fmla="*/ 82436 h 82436"/>
                <a:gd name="connsiteX5" fmla="*/ 0 w 141517"/>
                <a:gd name="connsiteY5" fmla="*/ 82436 h 824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1517" h="82436">
                  <a:moveTo>
                    <a:pt x="70759" y="0"/>
                  </a:moveTo>
                  <a:lnTo>
                    <a:pt x="141517" y="82436"/>
                  </a:lnTo>
                  <a:lnTo>
                    <a:pt x="111805" y="82436"/>
                  </a:lnTo>
                  <a:lnTo>
                    <a:pt x="70759" y="34616"/>
                  </a:lnTo>
                  <a:lnTo>
                    <a:pt x="29713" y="82436"/>
                  </a:lnTo>
                  <a:lnTo>
                    <a:pt x="0" y="82436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  <p:sp>
          <p:nvSpPr>
            <p:cNvPr id="66" name="Triangle 65">
              <a:extLst>
                <a:ext uri="{FF2B5EF4-FFF2-40B4-BE49-F238E27FC236}">
                  <a16:creationId xmlns:a16="http://schemas.microsoft.com/office/drawing/2014/main" id="{8FFC8C0A-4B8E-5310-C9AC-4C7DC0939C23}"/>
                </a:ext>
              </a:extLst>
            </p:cNvPr>
            <p:cNvSpPr/>
            <p:nvPr/>
          </p:nvSpPr>
          <p:spPr>
            <a:xfrm>
              <a:off x="-331054" y="2615904"/>
              <a:ext cx="141517" cy="82436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B4EB9298-CC53-FB86-C9E1-155A21BE3F38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-392106" y="2948284"/>
            <a:ext cx="98115" cy="92576"/>
            <a:chOff x="-331054" y="2564812"/>
            <a:chExt cx="141517" cy="133528"/>
          </a:xfrm>
          <a:solidFill>
            <a:srgbClr val="FFC000"/>
          </a:solidFill>
        </p:grpSpPr>
        <p:sp>
          <p:nvSpPr>
            <p:cNvPr id="68" name="Freeform 67">
              <a:extLst>
                <a:ext uri="{FF2B5EF4-FFF2-40B4-BE49-F238E27FC236}">
                  <a16:creationId xmlns:a16="http://schemas.microsoft.com/office/drawing/2014/main" id="{E26DF9C6-5F0F-E895-D5C1-F25034229E15}"/>
                </a:ext>
              </a:extLst>
            </p:cNvPr>
            <p:cNvSpPr/>
            <p:nvPr/>
          </p:nvSpPr>
          <p:spPr>
            <a:xfrm>
              <a:off x="-331054" y="2564812"/>
              <a:ext cx="141517" cy="82436"/>
            </a:xfrm>
            <a:custGeom>
              <a:avLst/>
              <a:gdLst>
                <a:gd name="connsiteX0" fmla="*/ 70759 w 141517"/>
                <a:gd name="connsiteY0" fmla="*/ 0 h 82436"/>
                <a:gd name="connsiteX1" fmla="*/ 141517 w 141517"/>
                <a:gd name="connsiteY1" fmla="*/ 82436 h 82436"/>
                <a:gd name="connsiteX2" fmla="*/ 111805 w 141517"/>
                <a:gd name="connsiteY2" fmla="*/ 82436 h 82436"/>
                <a:gd name="connsiteX3" fmla="*/ 70759 w 141517"/>
                <a:gd name="connsiteY3" fmla="*/ 34616 h 82436"/>
                <a:gd name="connsiteX4" fmla="*/ 29713 w 141517"/>
                <a:gd name="connsiteY4" fmla="*/ 82436 h 82436"/>
                <a:gd name="connsiteX5" fmla="*/ 0 w 141517"/>
                <a:gd name="connsiteY5" fmla="*/ 82436 h 824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1517" h="82436">
                  <a:moveTo>
                    <a:pt x="70759" y="0"/>
                  </a:moveTo>
                  <a:lnTo>
                    <a:pt x="141517" y="82436"/>
                  </a:lnTo>
                  <a:lnTo>
                    <a:pt x="111805" y="82436"/>
                  </a:lnTo>
                  <a:lnTo>
                    <a:pt x="70759" y="34616"/>
                  </a:lnTo>
                  <a:lnTo>
                    <a:pt x="29713" y="82436"/>
                  </a:lnTo>
                  <a:lnTo>
                    <a:pt x="0" y="82436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  <p:sp>
          <p:nvSpPr>
            <p:cNvPr id="69" name="Triangle 68">
              <a:extLst>
                <a:ext uri="{FF2B5EF4-FFF2-40B4-BE49-F238E27FC236}">
                  <a16:creationId xmlns:a16="http://schemas.microsoft.com/office/drawing/2014/main" id="{948E409E-8257-1F8A-3328-2A7CD42B8688}"/>
                </a:ext>
              </a:extLst>
            </p:cNvPr>
            <p:cNvSpPr/>
            <p:nvPr/>
          </p:nvSpPr>
          <p:spPr>
            <a:xfrm>
              <a:off x="-331054" y="2615904"/>
              <a:ext cx="141517" cy="82436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</p:grpSp>
      <p:sp>
        <p:nvSpPr>
          <p:cNvPr id="72" name="TextBox 71">
            <a:extLst>
              <a:ext uri="{FF2B5EF4-FFF2-40B4-BE49-F238E27FC236}">
                <a16:creationId xmlns:a16="http://schemas.microsoft.com/office/drawing/2014/main" id="{944010CC-0A05-59F4-732A-CD9ABEB6D481}"/>
              </a:ext>
            </a:extLst>
          </p:cNvPr>
          <p:cNvSpPr txBox="1"/>
          <p:nvPr/>
        </p:nvSpPr>
        <p:spPr>
          <a:xfrm>
            <a:off x="9777184" y="3305030"/>
            <a:ext cx="579667" cy="322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400" b="1" dirty="0">
                <a:solidFill>
                  <a:schemeClr val="tx2"/>
                </a:solidFill>
              </a:rPr>
              <a:t>Team</a:t>
            </a:r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CC2B36CB-D689-645C-D228-AD02B6458FA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838256" y="6071736"/>
            <a:ext cx="371130" cy="206558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D35C89F2-B477-3176-2469-71E3807A1A6B}"/>
              </a:ext>
            </a:extLst>
          </p:cNvPr>
          <p:cNvSpPr/>
          <p:nvPr/>
        </p:nvSpPr>
        <p:spPr>
          <a:xfrm>
            <a:off x="512064" y="3200400"/>
            <a:ext cx="8750808" cy="2843784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PORTFOLIO_PERIOD_MAINTAINABILITY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C0A53FF-D71D-3D67-50B4-FAA3AE4114DC}"/>
              </a:ext>
            </a:extLst>
          </p:cNvPr>
          <p:cNvSpPr txBox="1"/>
          <p:nvPr/>
        </p:nvSpPr>
        <p:spPr>
          <a:xfrm>
            <a:off x="2643466" y="60547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accent3"/>
                </a:solidFill>
              </a:rPr>
              <a:t>Systems grouped by </a:t>
            </a:r>
            <a:r>
              <a:rPr lang="en-US" sz="800" b="1" dirty="0">
                <a:solidFill>
                  <a:schemeClr val="accent3"/>
                </a:solidFill>
              </a:rPr>
              <a:t>Team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14670BD4-8D94-ED0B-FFED-B8139631ED27}"/>
              </a:ext>
            </a:extLst>
          </p:cNvPr>
          <p:cNvGrpSpPr/>
          <p:nvPr/>
        </p:nvGrpSpPr>
        <p:grpSpPr>
          <a:xfrm>
            <a:off x="516802" y="6117354"/>
            <a:ext cx="300732" cy="98617"/>
            <a:chOff x="586253" y="6116391"/>
            <a:chExt cx="300732" cy="98617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C086AE49-2782-41F7-D7F9-7750BD9CBBC8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46" name="Rounded Rectangle 45">
              <a:extLst>
                <a:ext uri="{FF2B5EF4-FFF2-40B4-BE49-F238E27FC236}">
                  <a16:creationId xmlns:a16="http://schemas.microsoft.com/office/drawing/2014/main" id="{15D418FF-2745-DC77-45E2-412627D2335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C0403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62000A49-DE6B-BF60-E1B8-122031AB6998}"/>
              </a:ext>
            </a:extLst>
          </p:cNvPr>
          <p:cNvGrpSpPr/>
          <p:nvPr/>
        </p:nvGrpSpPr>
        <p:grpSpPr>
          <a:xfrm>
            <a:off x="934179" y="6117354"/>
            <a:ext cx="331190" cy="98617"/>
            <a:chOff x="961765" y="6117353"/>
            <a:chExt cx="331190" cy="98617"/>
          </a:xfrm>
        </p:grpSpPr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BC902B2E-66DA-BBCB-A017-354DB7B57212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49" name="Rounded Rectangle 48">
              <a:extLst>
                <a:ext uri="{FF2B5EF4-FFF2-40B4-BE49-F238E27FC236}">
                  <a16:creationId xmlns:a16="http://schemas.microsoft.com/office/drawing/2014/main" id="{BF0F54E8-CD51-CB07-352E-5F1DBF64711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EF981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C790328B-BB2E-30DC-0542-914BB46E325B}"/>
              </a:ext>
            </a:extLst>
          </p:cNvPr>
          <p:cNvGrpSpPr/>
          <p:nvPr/>
        </p:nvGrpSpPr>
        <p:grpSpPr>
          <a:xfrm>
            <a:off x="1382015" y="6117354"/>
            <a:ext cx="331190" cy="98617"/>
            <a:chOff x="1114165" y="6269753"/>
            <a:chExt cx="331190" cy="98617"/>
          </a:xfrm>
        </p:grpSpPr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80A97732-F50A-35C4-8B9D-AEABCAACDFB0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52" name="Rounded Rectangle 51">
              <a:extLst>
                <a:ext uri="{FF2B5EF4-FFF2-40B4-BE49-F238E27FC236}">
                  <a16:creationId xmlns:a16="http://schemas.microsoft.com/office/drawing/2014/main" id="{6BD07014-1C94-5A5C-19F6-7FE5F04B96C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9C64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3ED18638-10AA-4FB8-6C3A-51EB2F97F772}"/>
              </a:ext>
            </a:extLst>
          </p:cNvPr>
          <p:cNvGrpSpPr/>
          <p:nvPr/>
        </p:nvGrpSpPr>
        <p:grpSpPr>
          <a:xfrm>
            <a:off x="1829851" y="6117354"/>
            <a:ext cx="331190" cy="98617"/>
            <a:chOff x="1114165" y="6269753"/>
            <a:chExt cx="331190" cy="98617"/>
          </a:xfrm>
        </p:grpSpPr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8066157F-CAC0-89E5-CE60-632450B3C5E5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55" name="Rounded Rectangle 54">
              <a:extLst>
                <a:ext uri="{FF2B5EF4-FFF2-40B4-BE49-F238E27FC236}">
                  <a16:creationId xmlns:a16="http://schemas.microsoft.com/office/drawing/2014/main" id="{B07C9750-174E-6C20-52D1-8FC59DE8118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57C96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3D5EAC22-A0CB-275B-C62C-60A3D44054AF}"/>
              </a:ext>
            </a:extLst>
          </p:cNvPr>
          <p:cNvGrpSpPr/>
          <p:nvPr/>
        </p:nvGrpSpPr>
        <p:grpSpPr>
          <a:xfrm>
            <a:off x="2277686" y="6117354"/>
            <a:ext cx="331190" cy="98617"/>
            <a:chOff x="1114165" y="6269753"/>
            <a:chExt cx="331190" cy="98617"/>
          </a:xfrm>
        </p:grpSpPr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FD1121EA-A56F-C53F-C342-F187FA80A5BE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58" name="Rounded Rectangle 57">
              <a:extLst>
                <a:ext uri="{FF2B5EF4-FFF2-40B4-BE49-F238E27FC236}">
                  <a16:creationId xmlns:a16="http://schemas.microsoft.com/office/drawing/2014/main" id="{6B67F0A4-241C-B69C-5C66-73CC0E2A69B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2C963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75581664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879EA7-9E0F-A30A-7773-2366D1DF53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2F15B9C0-1729-89A5-BDBB-D4D9D64F613B}"/>
              </a:ext>
            </a:extLst>
          </p:cNvPr>
          <p:cNvSpPr/>
          <p:nvPr/>
        </p:nvSpPr>
        <p:spPr>
          <a:xfrm flipH="1">
            <a:off x="0" y="1368000"/>
            <a:ext cx="12192000" cy="1658842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5F35920-DAEA-3B96-C1C4-B1210C242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14</a:t>
            </a:fld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79840A33-EC3D-5A3B-3E0B-F3C497E5A04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Findings – </a:t>
            </a:r>
            <a:r>
              <a:rPr lang="en-US" dirty="0">
                <a:solidFill>
                  <a:schemeClr val="accent3"/>
                </a:solidFill>
              </a:rPr>
              <a:t>Maintainability CHANGE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9B74B313-6830-DEF8-1148-1BDA2D0AB6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@@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43685E7-A45E-DF9B-90AE-FE2ACA8DFEC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4800" y="1368000"/>
            <a:ext cx="11232000" cy="1658842"/>
          </a:xfrm>
        </p:spPr>
        <p:txBody>
          <a:bodyPr anchor="ctr"/>
          <a:lstStyle/>
          <a:p>
            <a:pPr marL="0" indent="0">
              <a:buNone/>
            </a:pPr>
            <a:r>
              <a:rPr lang="en-US" sz="1400" noProof="0" dirty="0"/>
              <a:t>@@</a:t>
            </a:r>
            <a:endParaRPr lang="en-US" sz="1200" noProof="0" dirty="0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BA1498DF-7C02-B183-B78D-C458BCD32FDC}"/>
              </a:ext>
            </a:extLst>
          </p:cNvPr>
          <p:cNvSpPr/>
          <p:nvPr/>
        </p:nvSpPr>
        <p:spPr>
          <a:xfrm>
            <a:off x="-270313" y="3154680"/>
            <a:ext cx="9725209" cy="3163320"/>
          </a:xfrm>
          <a:prstGeom prst="roundRect">
            <a:avLst>
              <a:gd name="adj" fmla="val 3161"/>
            </a:avLst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EC9632B6-F9D1-F384-41B4-528EA345C515}"/>
              </a:ext>
            </a:extLst>
          </p:cNvPr>
          <p:cNvSpPr/>
          <p:nvPr/>
        </p:nvSpPr>
        <p:spPr>
          <a:xfrm flipH="1">
            <a:off x="9619488" y="3154680"/>
            <a:ext cx="2724912" cy="3163320"/>
          </a:xfrm>
          <a:prstGeom prst="roundRect">
            <a:avLst>
              <a:gd name="adj" fmla="val 4851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A2C6122-4344-B10E-8530-9A29D6086A1E}"/>
              </a:ext>
            </a:extLst>
          </p:cNvPr>
          <p:cNvSpPr txBox="1"/>
          <p:nvPr/>
        </p:nvSpPr>
        <p:spPr>
          <a:xfrm>
            <a:off x="-1221448" y="4419492"/>
            <a:ext cx="628847" cy="63344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3.12”</a:t>
            </a:r>
          </a:p>
          <a:p>
            <a:pPr algn="l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9.57"</a:t>
            </a:r>
          </a:p>
        </p:txBody>
      </p:sp>
      <p:sp>
        <p:nvSpPr>
          <p:cNvPr id="35" name="Rounded Rectangle 34">
            <a:extLst>
              <a:ext uri="{FF2B5EF4-FFF2-40B4-BE49-F238E27FC236}">
                <a16:creationId xmlns:a16="http://schemas.microsoft.com/office/drawing/2014/main" id="{83843F98-5552-F249-15FC-915A5DD2B3A2}"/>
              </a:ext>
            </a:extLst>
          </p:cNvPr>
          <p:cNvSpPr/>
          <p:nvPr/>
        </p:nvSpPr>
        <p:spPr>
          <a:xfrm>
            <a:off x="9777184" y="4883651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0FAFCFC8-6780-C3CF-0AFE-C28A9D1462E6}"/>
              </a:ext>
            </a:extLst>
          </p:cNvPr>
          <p:cNvSpPr/>
          <p:nvPr/>
        </p:nvSpPr>
        <p:spPr>
          <a:xfrm>
            <a:off x="9777184" y="4464888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2FCE2CC5-2CF9-9538-8D61-0BD4B74475D0}"/>
              </a:ext>
            </a:extLst>
          </p:cNvPr>
          <p:cNvSpPr/>
          <p:nvPr/>
        </p:nvSpPr>
        <p:spPr>
          <a:xfrm>
            <a:off x="9777184" y="4046125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F9C640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163C28A4-A24D-2082-0456-41BCE8D4070C}"/>
              </a:ext>
            </a:extLst>
          </p:cNvPr>
          <p:cNvSpPr/>
          <p:nvPr/>
        </p:nvSpPr>
        <p:spPr>
          <a:xfrm>
            <a:off x="9777184" y="3627362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F9C640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7" name="Rounded Rectangle 36">
            <a:extLst>
              <a:ext uri="{FF2B5EF4-FFF2-40B4-BE49-F238E27FC236}">
                <a16:creationId xmlns:a16="http://schemas.microsoft.com/office/drawing/2014/main" id="{29D25F0C-935C-F459-01EB-727B921D4669}"/>
              </a:ext>
            </a:extLst>
          </p:cNvPr>
          <p:cNvSpPr/>
          <p:nvPr/>
        </p:nvSpPr>
        <p:spPr>
          <a:xfrm>
            <a:off x="9777184" y="5721177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6" name="Rounded Rectangle 35">
            <a:extLst>
              <a:ext uri="{FF2B5EF4-FFF2-40B4-BE49-F238E27FC236}">
                <a16:creationId xmlns:a16="http://schemas.microsoft.com/office/drawing/2014/main" id="{0D485807-6F5D-5A24-D787-AA03F0A92284}"/>
              </a:ext>
            </a:extLst>
          </p:cNvPr>
          <p:cNvSpPr/>
          <p:nvPr/>
        </p:nvSpPr>
        <p:spPr>
          <a:xfrm>
            <a:off x="9777184" y="5302414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9CEFABB-E1D5-DFD1-40E4-722DA0AFDD35}"/>
              </a:ext>
            </a:extLst>
          </p:cNvPr>
          <p:cNvSpPr txBox="1"/>
          <p:nvPr/>
        </p:nvSpPr>
        <p:spPr>
          <a:xfrm>
            <a:off x="11186130" y="4921755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2EED059-C35B-30FB-216D-512052D0D647}"/>
              </a:ext>
            </a:extLst>
          </p:cNvPr>
          <p:cNvSpPr txBox="1"/>
          <p:nvPr/>
        </p:nvSpPr>
        <p:spPr>
          <a:xfrm>
            <a:off x="11186130" y="4502992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D4D9CB3-5679-F28D-FDD2-2E348A50D937}"/>
              </a:ext>
            </a:extLst>
          </p:cNvPr>
          <p:cNvSpPr txBox="1"/>
          <p:nvPr/>
        </p:nvSpPr>
        <p:spPr>
          <a:xfrm>
            <a:off x="11186130" y="5759281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FFE8365-B5FB-7907-3DD9-E01FD55B4B4E}"/>
              </a:ext>
            </a:extLst>
          </p:cNvPr>
          <p:cNvSpPr txBox="1"/>
          <p:nvPr/>
        </p:nvSpPr>
        <p:spPr>
          <a:xfrm>
            <a:off x="11186130" y="5340518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6CB82B0-D9B4-F3A1-C8D5-3B5C3ED98FE8}"/>
              </a:ext>
            </a:extLst>
          </p:cNvPr>
          <p:cNvSpPr txBox="1"/>
          <p:nvPr/>
        </p:nvSpPr>
        <p:spPr>
          <a:xfrm>
            <a:off x="11186130" y="4084229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5DF5BA5-0058-7FE9-D0AB-60E0DA268B78}"/>
              </a:ext>
            </a:extLst>
          </p:cNvPr>
          <p:cNvSpPr txBox="1"/>
          <p:nvPr/>
        </p:nvSpPr>
        <p:spPr>
          <a:xfrm>
            <a:off x="11186130" y="3665466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60" name="Triangle 59">
            <a:extLst>
              <a:ext uri="{FF2B5EF4-FFF2-40B4-BE49-F238E27FC236}">
                <a16:creationId xmlns:a16="http://schemas.microsoft.com/office/drawing/2014/main" id="{ED6557AD-B7B1-2792-5C6A-4B879C331B8C}"/>
              </a:ext>
            </a:extLst>
          </p:cNvPr>
          <p:cNvSpPr/>
          <p:nvPr/>
        </p:nvSpPr>
        <p:spPr>
          <a:xfrm rot="5400000">
            <a:off x="11223517" y="97630"/>
            <a:ext cx="113704" cy="91353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>
              <a:solidFill>
                <a:schemeClr val="bg1"/>
              </a:solidFill>
            </a:endParaRPr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9F41F059-05DD-C108-C2D0-6033A3E601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67839" y="52613"/>
            <a:ext cx="203103" cy="172639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140A62AD-F7F5-B173-0898-322136FAD750}"/>
              </a:ext>
            </a:extLst>
          </p:cNvPr>
          <p:cNvSpPr txBox="1"/>
          <p:nvPr/>
        </p:nvSpPr>
        <p:spPr>
          <a:xfrm>
            <a:off x="9145068" y="10898"/>
            <a:ext cx="2110021" cy="264816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nl-NL" sz="1050" b="1" dirty="0" err="1">
                <a:solidFill>
                  <a:schemeClr val="bg1">
                    <a:lumMod val="75000"/>
                  </a:schemeClr>
                </a:solidFill>
              </a:rPr>
              <a:t>PORTFOLIO_PERIOD_START_DATE</a:t>
            </a:r>
            <a:endParaRPr lang="nl-NL" sz="1050" b="1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3201E155-D9D4-EC1C-28EA-14A8EA734445}"/>
              </a:ext>
            </a:extLst>
          </p:cNvPr>
          <p:cNvSpPr txBox="1"/>
          <p:nvPr/>
        </p:nvSpPr>
        <p:spPr>
          <a:xfrm>
            <a:off x="11305651" y="10898"/>
            <a:ext cx="1993003" cy="264816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nl-NL" sz="1050" b="1" dirty="0" err="1">
                <a:solidFill>
                  <a:schemeClr val="tx2"/>
                </a:solidFill>
              </a:rPr>
              <a:t>PORTFOLIO_PERIOD_END_DATE</a:t>
            </a:r>
            <a:endParaRPr lang="nl-NL" sz="1050" b="1" noProof="0" dirty="0">
              <a:solidFill>
                <a:schemeClr val="tx2"/>
              </a:solidFill>
            </a:endParaRP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5A4A8152-ED19-BB7D-D225-ADBF32692579}"/>
              </a:ext>
            </a:extLst>
          </p:cNvPr>
          <p:cNvGrpSpPr>
            <a:grpSpLocks noChangeAspect="1"/>
          </p:cNvGrpSpPr>
          <p:nvPr/>
        </p:nvGrpSpPr>
        <p:grpSpPr>
          <a:xfrm>
            <a:off x="-392105" y="2517185"/>
            <a:ext cx="98115" cy="92576"/>
            <a:chOff x="-331054" y="2564812"/>
            <a:chExt cx="141517" cy="133528"/>
          </a:xfrm>
          <a:solidFill>
            <a:srgbClr val="57C968"/>
          </a:solidFill>
        </p:grpSpPr>
        <p:sp>
          <p:nvSpPr>
            <p:cNvPr id="65" name="Freeform 64">
              <a:extLst>
                <a:ext uri="{FF2B5EF4-FFF2-40B4-BE49-F238E27FC236}">
                  <a16:creationId xmlns:a16="http://schemas.microsoft.com/office/drawing/2014/main" id="{DBA9B3E6-245A-C0A0-185B-A829C03F5887}"/>
                </a:ext>
              </a:extLst>
            </p:cNvPr>
            <p:cNvSpPr/>
            <p:nvPr/>
          </p:nvSpPr>
          <p:spPr>
            <a:xfrm>
              <a:off x="-331054" y="2564812"/>
              <a:ext cx="141517" cy="82436"/>
            </a:xfrm>
            <a:custGeom>
              <a:avLst/>
              <a:gdLst>
                <a:gd name="connsiteX0" fmla="*/ 70759 w 141517"/>
                <a:gd name="connsiteY0" fmla="*/ 0 h 82436"/>
                <a:gd name="connsiteX1" fmla="*/ 141517 w 141517"/>
                <a:gd name="connsiteY1" fmla="*/ 82436 h 82436"/>
                <a:gd name="connsiteX2" fmla="*/ 111805 w 141517"/>
                <a:gd name="connsiteY2" fmla="*/ 82436 h 82436"/>
                <a:gd name="connsiteX3" fmla="*/ 70759 w 141517"/>
                <a:gd name="connsiteY3" fmla="*/ 34616 h 82436"/>
                <a:gd name="connsiteX4" fmla="*/ 29713 w 141517"/>
                <a:gd name="connsiteY4" fmla="*/ 82436 h 82436"/>
                <a:gd name="connsiteX5" fmla="*/ 0 w 141517"/>
                <a:gd name="connsiteY5" fmla="*/ 82436 h 824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1517" h="82436">
                  <a:moveTo>
                    <a:pt x="70759" y="0"/>
                  </a:moveTo>
                  <a:lnTo>
                    <a:pt x="141517" y="82436"/>
                  </a:lnTo>
                  <a:lnTo>
                    <a:pt x="111805" y="82436"/>
                  </a:lnTo>
                  <a:lnTo>
                    <a:pt x="70759" y="34616"/>
                  </a:lnTo>
                  <a:lnTo>
                    <a:pt x="29713" y="82436"/>
                  </a:lnTo>
                  <a:lnTo>
                    <a:pt x="0" y="82436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  <p:sp>
          <p:nvSpPr>
            <p:cNvPr id="66" name="Triangle 65">
              <a:extLst>
                <a:ext uri="{FF2B5EF4-FFF2-40B4-BE49-F238E27FC236}">
                  <a16:creationId xmlns:a16="http://schemas.microsoft.com/office/drawing/2014/main" id="{218F299A-6098-C319-B388-95D3DE10D105}"/>
                </a:ext>
              </a:extLst>
            </p:cNvPr>
            <p:cNvSpPr/>
            <p:nvPr/>
          </p:nvSpPr>
          <p:spPr>
            <a:xfrm>
              <a:off x="-331054" y="2615904"/>
              <a:ext cx="141517" cy="82436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41E626CF-A101-28D5-EDEF-71AC26E45F17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-392106" y="2948284"/>
            <a:ext cx="98115" cy="92576"/>
            <a:chOff x="-331054" y="2564812"/>
            <a:chExt cx="141517" cy="133528"/>
          </a:xfrm>
          <a:solidFill>
            <a:srgbClr val="FFC000"/>
          </a:solidFill>
        </p:grpSpPr>
        <p:sp>
          <p:nvSpPr>
            <p:cNvPr id="68" name="Freeform 67">
              <a:extLst>
                <a:ext uri="{FF2B5EF4-FFF2-40B4-BE49-F238E27FC236}">
                  <a16:creationId xmlns:a16="http://schemas.microsoft.com/office/drawing/2014/main" id="{5013B576-3DBA-0ADE-F60C-A6C7DEDFCA1A}"/>
                </a:ext>
              </a:extLst>
            </p:cNvPr>
            <p:cNvSpPr/>
            <p:nvPr/>
          </p:nvSpPr>
          <p:spPr>
            <a:xfrm>
              <a:off x="-331054" y="2564812"/>
              <a:ext cx="141517" cy="82436"/>
            </a:xfrm>
            <a:custGeom>
              <a:avLst/>
              <a:gdLst>
                <a:gd name="connsiteX0" fmla="*/ 70759 w 141517"/>
                <a:gd name="connsiteY0" fmla="*/ 0 h 82436"/>
                <a:gd name="connsiteX1" fmla="*/ 141517 w 141517"/>
                <a:gd name="connsiteY1" fmla="*/ 82436 h 82436"/>
                <a:gd name="connsiteX2" fmla="*/ 111805 w 141517"/>
                <a:gd name="connsiteY2" fmla="*/ 82436 h 82436"/>
                <a:gd name="connsiteX3" fmla="*/ 70759 w 141517"/>
                <a:gd name="connsiteY3" fmla="*/ 34616 h 82436"/>
                <a:gd name="connsiteX4" fmla="*/ 29713 w 141517"/>
                <a:gd name="connsiteY4" fmla="*/ 82436 h 82436"/>
                <a:gd name="connsiteX5" fmla="*/ 0 w 141517"/>
                <a:gd name="connsiteY5" fmla="*/ 82436 h 824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1517" h="82436">
                  <a:moveTo>
                    <a:pt x="70759" y="0"/>
                  </a:moveTo>
                  <a:lnTo>
                    <a:pt x="141517" y="82436"/>
                  </a:lnTo>
                  <a:lnTo>
                    <a:pt x="111805" y="82436"/>
                  </a:lnTo>
                  <a:lnTo>
                    <a:pt x="70759" y="34616"/>
                  </a:lnTo>
                  <a:lnTo>
                    <a:pt x="29713" y="82436"/>
                  </a:lnTo>
                  <a:lnTo>
                    <a:pt x="0" y="82436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  <p:sp>
          <p:nvSpPr>
            <p:cNvPr id="69" name="Triangle 68">
              <a:extLst>
                <a:ext uri="{FF2B5EF4-FFF2-40B4-BE49-F238E27FC236}">
                  <a16:creationId xmlns:a16="http://schemas.microsoft.com/office/drawing/2014/main" id="{C7C013D7-E009-E851-F4CA-41A5CDADF008}"/>
                </a:ext>
              </a:extLst>
            </p:cNvPr>
            <p:cNvSpPr/>
            <p:nvPr/>
          </p:nvSpPr>
          <p:spPr>
            <a:xfrm>
              <a:off x="-331054" y="2615904"/>
              <a:ext cx="141517" cy="82436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</p:grpSp>
      <p:sp>
        <p:nvSpPr>
          <p:cNvPr id="72" name="TextBox 71">
            <a:extLst>
              <a:ext uri="{FF2B5EF4-FFF2-40B4-BE49-F238E27FC236}">
                <a16:creationId xmlns:a16="http://schemas.microsoft.com/office/drawing/2014/main" id="{44A5C37A-0A7F-F523-7D1F-D3CDCCE0AF1E}"/>
              </a:ext>
            </a:extLst>
          </p:cNvPr>
          <p:cNvSpPr txBox="1"/>
          <p:nvPr/>
        </p:nvSpPr>
        <p:spPr>
          <a:xfrm>
            <a:off x="9777184" y="3305030"/>
            <a:ext cx="579667" cy="322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400" b="1" dirty="0">
                <a:solidFill>
                  <a:schemeClr val="tx2"/>
                </a:solidFill>
              </a:rPr>
              <a:t>Team</a:t>
            </a:r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22681A2A-D48A-7D45-09C1-DF712BC51B3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838256" y="6071736"/>
            <a:ext cx="371130" cy="206558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7E08760A-8484-48C1-CB6E-D8435415390D}"/>
              </a:ext>
            </a:extLst>
          </p:cNvPr>
          <p:cNvSpPr/>
          <p:nvPr/>
        </p:nvSpPr>
        <p:spPr>
          <a:xfrm>
            <a:off x="512064" y="3200400"/>
            <a:ext cx="8750808" cy="2843784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PORTFOLIO_PERIOD_MAINTAINABILITY_CHANGE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91DA0CB-C306-A533-81C2-F58E7AAD1A8B}"/>
              </a:ext>
            </a:extLst>
          </p:cNvPr>
          <p:cNvSpPr txBox="1"/>
          <p:nvPr/>
        </p:nvSpPr>
        <p:spPr>
          <a:xfrm>
            <a:off x="1996335" y="60547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accent3"/>
                </a:solidFill>
              </a:rPr>
              <a:t>Systems grouped by </a:t>
            </a:r>
            <a:r>
              <a:rPr lang="en-US" sz="800" b="1" dirty="0">
                <a:solidFill>
                  <a:schemeClr val="accent3"/>
                </a:solidFill>
              </a:rPr>
              <a:t>Team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E9E5116-69E0-E51E-082B-B9554195A4E4}"/>
              </a:ext>
            </a:extLst>
          </p:cNvPr>
          <p:cNvSpPr/>
          <p:nvPr/>
        </p:nvSpPr>
        <p:spPr>
          <a:xfrm>
            <a:off x="1250238" y="7283752"/>
            <a:ext cx="353366" cy="333633"/>
          </a:xfrm>
          <a:prstGeom prst="rect">
            <a:avLst/>
          </a:prstGeom>
          <a:solidFill>
            <a:srgbClr val="DC4A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A4EDA70-A68C-FFDC-E765-FC7BCDCDD238}"/>
              </a:ext>
            </a:extLst>
          </p:cNvPr>
          <p:cNvSpPr/>
          <p:nvPr/>
        </p:nvSpPr>
        <p:spPr>
          <a:xfrm>
            <a:off x="2184054" y="7283752"/>
            <a:ext cx="353366" cy="33363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9E1B95C-2C18-0461-C0FB-F6256E72F9BC}"/>
              </a:ext>
            </a:extLst>
          </p:cNvPr>
          <p:cNvSpPr/>
          <p:nvPr/>
        </p:nvSpPr>
        <p:spPr>
          <a:xfrm>
            <a:off x="3117870" y="7283752"/>
            <a:ext cx="353366" cy="333633"/>
          </a:xfrm>
          <a:prstGeom prst="rect">
            <a:avLst/>
          </a:prstGeom>
          <a:solidFill>
            <a:srgbClr val="E7908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E27BA21-359B-E70F-FE48-61E12EB5EE48}"/>
              </a:ext>
            </a:extLst>
          </p:cNvPr>
          <p:cNvSpPr/>
          <p:nvPr/>
        </p:nvSpPr>
        <p:spPr>
          <a:xfrm>
            <a:off x="4051686" y="7283752"/>
            <a:ext cx="353366" cy="33363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E0B16F0-DDF6-9CF3-B104-F6485E507845}"/>
              </a:ext>
            </a:extLst>
          </p:cNvPr>
          <p:cNvSpPr/>
          <p:nvPr/>
        </p:nvSpPr>
        <p:spPr>
          <a:xfrm>
            <a:off x="4985502" y="7283752"/>
            <a:ext cx="353366" cy="333633"/>
          </a:xfrm>
          <a:prstGeom prst="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7A92AEB-B1D9-C562-7E2B-868C9357F799}"/>
              </a:ext>
            </a:extLst>
          </p:cNvPr>
          <p:cNvSpPr/>
          <p:nvPr/>
        </p:nvSpPr>
        <p:spPr>
          <a:xfrm>
            <a:off x="5919318" y="7283752"/>
            <a:ext cx="353366" cy="333633"/>
          </a:xfrm>
          <a:prstGeom prst="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2E4372C-BEAF-561A-5355-3F3AB75E9B1C}"/>
              </a:ext>
            </a:extLst>
          </p:cNvPr>
          <p:cNvSpPr/>
          <p:nvPr/>
        </p:nvSpPr>
        <p:spPr>
          <a:xfrm>
            <a:off x="6853134" y="7283752"/>
            <a:ext cx="353366" cy="333633"/>
          </a:xfrm>
          <a:prstGeom prst="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11F6519-88B1-FB73-3CE5-95965CDCC252}"/>
              </a:ext>
            </a:extLst>
          </p:cNvPr>
          <p:cNvSpPr/>
          <p:nvPr/>
        </p:nvSpPr>
        <p:spPr>
          <a:xfrm>
            <a:off x="7786950" y="7283752"/>
            <a:ext cx="353366" cy="33363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36211FC-EC5F-9920-1172-0756514BD9EB}"/>
              </a:ext>
            </a:extLst>
          </p:cNvPr>
          <p:cNvSpPr/>
          <p:nvPr/>
        </p:nvSpPr>
        <p:spPr>
          <a:xfrm>
            <a:off x="8720766" y="7283752"/>
            <a:ext cx="353366" cy="333633"/>
          </a:xfrm>
          <a:prstGeom prst="rect">
            <a:avLst/>
          </a:prstGeom>
          <a:solidFill>
            <a:srgbClr val="97DCA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4B9E5EA-5C74-4035-BEEC-01DA2347190F}"/>
              </a:ext>
            </a:extLst>
          </p:cNvPr>
          <p:cNvSpPr/>
          <p:nvPr/>
        </p:nvSpPr>
        <p:spPr>
          <a:xfrm>
            <a:off x="9654582" y="7283752"/>
            <a:ext cx="353366" cy="33363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117ACFD-4BD7-3D9D-182F-57F1D2EF2F0C}"/>
              </a:ext>
            </a:extLst>
          </p:cNvPr>
          <p:cNvSpPr/>
          <p:nvPr/>
        </p:nvSpPr>
        <p:spPr>
          <a:xfrm>
            <a:off x="10588396" y="7283752"/>
            <a:ext cx="353366" cy="333633"/>
          </a:xfrm>
          <a:prstGeom prst="rect">
            <a:avLst/>
          </a:prstGeom>
          <a:solidFill>
            <a:srgbClr val="57C96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3DC7E09-5E67-7748-DDEF-A7F159DAEFB3}"/>
              </a:ext>
            </a:extLst>
          </p:cNvPr>
          <p:cNvSpPr txBox="1"/>
          <p:nvPr/>
        </p:nvSpPr>
        <p:spPr>
          <a:xfrm>
            <a:off x="1016317" y="7795967"/>
            <a:ext cx="821207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CB5545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92F5665-6AEB-88BE-2B39-86AAC71DA14A}"/>
              </a:ext>
            </a:extLst>
          </p:cNvPr>
          <p:cNvSpPr txBox="1"/>
          <p:nvPr/>
        </p:nvSpPr>
        <p:spPr>
          <a:xfrm>
            <a:off x="2191705" y="7795967"/>
            <a:ext cx="548697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@@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39FE757-FDA2-AC9B-9BDA-14184BF2D044}"/>
              </a:ext>
            </a:extLst>
          </p:cNvPr>
          <p:cNvSpPr txBox="1"/>
          <p:nvPr/>
        </p:nvSpPr>
        <p:spPr>
          <a:xfrm>
            <a:off x="10358483" y="7795967"/>
            <a:ext cx="813193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57C969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DEEA041-B74B-F8F2-FF45-92D3B209B179}"/>
              </a:ext>
            </a:extLst>
          </p:cNvPr>
          <p:cNvSpPr txBox="1"/>
          <p:nvPr/>
        </p:nvSpPr>
        <p:spPr>
          <a:xfrm>
            <a:off x="3997461" y="7795967"/>
            <a:ext cx="548697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@@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F1C52C6-6B46-D72B-A870-A45F24A09431}"/>
              </a:ext>
            </a:extLst>
          </p:cNvPr>
          <p:cNvSpPr txBox="1"/>
          <p:nvPr/>
        </p:nvSpPr>
        <p:spPr>
          <a:xfrm>
            <a:off x="2943805" y="7795967"/>
            <a:ext cx="850254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DA948B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F6B9CFE-C200-5C19-2D52-F6BB4843D621}"/>
              </a:ext>
            </a:extLst>
          </p:cNvPr>
          <p:cNvSpPr txBox="1"/>
          <p:nvPr/>
        </p:nvSpPr>
        <p:spPr>
          <a:xfrm>
            <a:off x="4741642" y="7795967"/>
            <a:ext cx="866092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F3DDD7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2447BD0-2A55-1CE8-3031-BB5817119F5F}"/>
              </a:ext>
            </a:extLst>
          </p:cNvPr>
          <p:cNvSpPr txBox="1"/>
          <p:nvPr/>
        </p:nvSpPr>
        <p:spPr>
          <a:xfrm>
            <a:off x="6545795" y="7795967"/>
            <a:ext cx="869297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D9EEDD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A7D6663-5C77-8AD2-80EB-DD8618147848}"/>
              </a:ext>
            </a:extLst>
          </p:cNvPr>
          <p:cNvSpPr txBox="1"/>
          <p:nvPr/>
        </p:nvSpPr>
        <p:spPr>
          <a:xfrm>
            <a:off x="5687801" y="7795967"/>
            <a:ext cx="779529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F8F8F8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418E9BC-414C-B123-49CB-D287FD364617}"/>
              </a:ext>
            </a:extLst>
          </p:cNvPr>
          <p:cNvSpPr txBox="1"/>
          <p:nvPr/>
        </p:nvSpPr>
        <p:spPr>
          <a:xfrm>
            <a:off x="8350654" y="7795967"/>
            <a:ext cx="871092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A6DAA7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1B09F2E4-0AA8-54C3-F328-3A363A4D114F}"/>
              </a:ext>
            </a:extLst>
          </p:cNvPr>
          <p:cNvSpPr txBox="1"/>
          <p:nvPr/>
        </p:nvSpPr>
        <p:spPr>
          <a:xfrm>
            <a:off x="7608973" y="7795967"/>
            <a:ext cx="548697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@@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F998ECA3-6137-80F2-D84D-98F0946FDB04}"/>
              </a:ext>
            </a:extLst>
          </p:cNvPr>
          <p:cNvSpPr txBox="1"/>
          <p:nvPr/>
        </p:nvSpPr>
        <p:spPr>
          <a:xfrm>
            <a:off x="9414729" y="7795967"/>
            <a:ext cx="548697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@@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E0016F68-3929-B0A6-9A70-964CCDA5D054}"/>
              </a:ext>
            </a:extLst>
          </p:cNvPr>
          <p:cNvSpPr/>
          <p:nvPr/>
        </p:nvSpPr>
        <p:spPr>
          <a:xfrm>
            <a:off x="5137902" y="8172752"/>
            <a:ext cx="353366" cy="33363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73" name="Rounded Rectangle 72">
            <a:extLst>
              <a:ext uri="{FF2B5EF4-FFF2-40B4-BE49-F238E27FC236}">
                <a16:creationId xmlns:a16="http://schemas.microsoft.com/office/drawing/2014/main" id="{C66490FF-9283-17EE-60CD-B822CD68EF25}"/>
              </a:ext>
            </a:extLst>
          </p:cNvPr>
          <p:cNvSpPr>
            <a:spLocks noChangeAspect="1"/>
          </p:cNvSpPr>
          <p:nvPr/>
        </p:nvSpPr>
        <p:spPr>
          <a:xfrm>
            <a:off x="879122" y="6118505"/>
            <a:ext cx="91440" cy="91440"/>
          </a:xfrm>
          <a:prstGeom prst="roundRect">
            <a:avLst/>
          </a:prstGeom>
          <a:solidFill>
            <a:srgbClr val="DC4A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75" name="Rounded Rectangle 74">
            <a:extLst>
              <a:ext uri="{FF2B5EF4-FFF2-40B4-BE49-F238E27FC236}">
                <a16:creationId xmlns:a16="http://schemas.microsoft.com/office/drawing/2014/main" id="{2ED98E80-10A2-5364-4091-6705DB3C9F96}"/>
              </a:ext>
            </a:extLst>
          </p:cNvPr>
          <p:cNvSpPr>
            <a:spLocks noChangeAspect="1"/>
          </p:cNvSpPr>
          <p:nvPr/>
        </p:nvSpPr>
        <p:spPr>
          <a:xfrm>
            <a:off x="1038992" y="6118505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76" name="Rounded Rectangle 75">
            <a:extLst>
              <a:ext uri="{FF2B5EF4-FFF2-40B4-BE49-F238E27FC236}">
                <a16:creationId xmlns:a16="http://schemas.microsoft.com/office/drawing/2014/main" id="{CA16043E-840A-BD02-94E8-539D0B0A6B66}"/>
              </a:ext>
            </a:extLst>
          </p:cNvPr>
          <p:cNvSpPr>
            <a:spLocks noChangeAspect="1"/>
          </p:cNvSpPr>
          <p:nvPr/>
        </p:nvSpPr>
        <p:spPr>
          <a:xfrm>
            <a:off x="1198862" y="6118505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77" name="Rounded Rectangle 76">
            <a:extLst>
              <a:ext uri="{FF2B5EF4-FFF2-40B4-BE49-F238E27FC236}">
                <a16:creationId xmlns:a16="http://schemas.microsoft.com/office/drawing/2014/main" id="{86149571-E7A7-CDC6-69D9-F2740A1FA902}"/>
              </a:ext>
            </a:extLst>
          </p:cNvPr>
          <p:cNvSpPr>
            <a:spLocks noChangeAspect="1"/>
          </p:cNvSpPr>
          <p:nvPr/>
        </p:nvSpPr>
        <p:spPr>
          <a:xfrm>
            <a:off x="1358732" y="6118505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78" name="Rounded Rectangle 77">
            <a:extLst>
              <a:ext uri="{FF2B5EF4-FFF2-40B4-BE49-F238E27FC236}">
                <a16:creationId xmlns:a16="http://schemas.microsoft.com/office/drawing/2014/main" id="{4C82B2C7-705C-E893-F5EF-72FB1B097820}"/>
              </a:ext>
            </a:extLst>
          </p:cNvPr>
          <p:cNvSpPr>
            <a:spLocks noChangeAspect="1"/>
          </p:cNvSpPr>
          <p:nvPr/>
        </p:nvSpPr>
        <p:spPr>
          <a:xfrm>
            <a:off x="1518602" y="6118505"/>
            <a:ext cx="91440" cy="91440"/>
          </a:xfrm>
          <a:prstGeom prst="roundRect">
            <a:avLst/>
          </a:prstGeom>
          <a:solidFill>
            <a:srgbClr val="57C96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43A108D7-3656-C512-F32E-C7EC45AE7A92}"/>
              </a:ext>
            </a:extLst>
          </p:cNvPr>
          <p:cNvSpPr txBox="1"/>
          <p:nvPr/>
        </p:nvSpPr>
        <p:spPr>
          <a:xfrm>
            <a:off x="1678471" y="6054740"/>
            <a:ext cx="317864" cy="218971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b="1" dirty="0">
                <a:solidFill>
                  <a:schemeClr val="tx2"/>
                </a:solidFill>
              </a:rPr>
              <a:t>+</a:t>
            </a:r>
            <a:r>
              <a:rPr lang="en-US" sz="800" b="1" dirty="0">
                <a:solidFill>
                  <a:schemeClr val="tx2"/>
                </a:solidFill>
                <a:latin typeface="Sigsterren" pitchFamily="2" charset="0"/>
              </a:rPr>
              <a:t>H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12A9E222-BFFE-1E4D-AA0F-AED7EC6E745C}"/>
              </a:ext>
            </a:extLst>
          </p:cNvPr>
          <p:cNvSpPr txBox="1"/>
          <p:nvPr/>
        </p:nvSpPr>
        <p:spPr>
          <a:xfrm>
            <a:off x="512064" y="6054740"/>
            <a:ext cx="298628" cy="218971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b="1" dirty="0">
                <a:solidFill>
                  <a:schemeClr val="tx2"/>
                </a:solidFill>
              </a:rPr>
              <a:t>-</a:t>
            </a:r>
            <a:r>
              <a:rPr lang="en-US" sz="800" b="1" dirty="0">
                <a:solidFill>
                  <a:schemeClr val="tx2"/>
                </a:solidFill>
                <a:latin typeface="Sigsterren" pitchFamily="2" charset="0"/>
              </a:rPr>
              <a:t>H</a:t>
            </a:r>
          </a:p>
        </p:txBody>
      </p:sp>
    </p:spTree>
    <p:extLst>
      <p:ext uri="{BB962C8B-B14F-4D97-AF65-F5344CB8AC3E}">
        <p14:creationId xmlns:p14="http://schemas.microsoft.com/office/powerpoint/2010/main" val="307452640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11F161-B90E-8C56-2252-1512C9DAB1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8DAC7CEC-8E23-EB2B-27B5-4ABF62FAB03B}"/>
              </a:ext>
            </a:extLst>
          </p:cNvPr>
          <p:cNvSpPr/>
          <p:nvPr/>
        </p:nvSpPr>
        <p:spPr>
          <a:xfrm flipH="1">
            <a:off x="0" y="1368000"/>
            <a:ext cx="12192000" cy="1658842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D65D14D-1CD8-2CDD-B941-6801777F2D6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15</a:t>
            </a:fld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DBED9104-3218-FCCD-05C4-31521108505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Findings – </a:t>
            </a:r>
            <a:r>
              <a:rPr lang="en-US" dirty="0">
                <a:solidFill>
                  <a:schemeClr val="accent3"/>
                </a:solidFill>
              </a:rPr>
              <a:t>VOLUME CHANGE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4B8640D2-8DF8-0DC3-3C63-A111BDB9D9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@@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D138AA3-B9FD-5715-B8FB-547CB65CF61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4800" y="1368000"/>
            <a:ext cx="11232000" cy="1658842"/>
          </a:xfrm>
        </p:spPr>
        <p:txBody>
          <a:bodyPr anchor="ctr"/>
          <a:lstStyle/>
          <a:p>
            <a:pPr marL="0" indent="0">
              <a:buNone/>
            </a:pPr>
            <a:r>
              <a:rPr lang="en-US" sz="1400" noProof="0" dirty="0"/>
              <a:t>@@</a:t>
            </a:r>
            <a:endParaRPr lang="en-US" sz="1200" noProof="0" dirty="0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138A97F2-F17B-5AC4-1347-AFEFA455EF46}"/>
              </a:ext>
            </a:extLst>
          </p:cNvPr>
          <p:cNvSpPr/>
          <p:nvPr/>
        </p:nvSpPr>
        <p:spPr>
          <a:xfrm>
            <a:off x="-270313" y="3154680"/>
            <a:ext cx="9725209" cy="3163320"/>
          </a:xfrm>
          <a:prstGeom prst="roundRect">
            <a:avLst>
              <a:gd name="adj" fmla="val 3161"/>
            </a:avLst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1B2AF24D-3D52-BB15-9293-14CFD1E555D0}"/>
              </a:ext>
            </a:extLst>
          </p:cNvPr>
          <p:cNvSpPr/>
          <p:nvPr/>
        </p:nvSpPr>
        <p:spPr>
          <a:xfrm flipH="1">
            <a:off x="9619488" y="3154680"/>
            <a:ext cx="2724912" cy="3163320"/>
          </a:xfrm>
          <a:prstGeom prst="roundRect">
            <a:avLst>
              <a:gd name="adj" fmla="val 4851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AFB96E3-1052-4FF4-A79A-1B97C36C908D}"/>
              </a:ext>
            </a:extLst>
          </p:cNvPr>
          <p:cNvSpPr txBox="1"/>
          <p:nvPr/>
        </p:nvSpPr>
        <p:spPr>
          <a:xfrm>
            <a:off x="-1221448" y="4419492"/>
            <a:ext cx="628847" cy="63344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3.12”</a:t>
            </a:r>
          </a:p>
          <a:p>
            <a:pPr algn="l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9.57"</a:t>
            </a:r>
          </a:p>
        </p:txBody>
      </p:sp>
      <p:sp>
        <p:nvSpPr>
          <p:cNvPr id="35" name="Rounded Rectangle 34">
            <a:extLst>
              <a:ext uri="{FF2B5EF4-FFF2-40B4-BE49-F238E27FC236}">
                <a16:creationId xmlns:a16="http://schemas.microsoft.com/office/drawing/2014/main" id="{F06D672E-20F8-989B-D512-BEC16897C474}"/>
              </a:ext>
            </a:extLst>
          </p:cNvPr>
          <p:cNvSpPr/>
          <p:nvPr/>
        </p:nvSpPr>
        <p:spPr>
          <a:xfrm>
            <a:off x="9777184" y="4883651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1320BB66-962E-E2CC-4146-E089D51FC7A4}"/>
              </a:ext>
            </a:extLst>
          </p:cNvPr>
          <p:cNvSpPr/>
          <p:nvPr/>
        </p:nvSpPr>
        <p:spPr>
          <a:xfrm>
            <a:off x="9777184" y="4464888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027E2554-5327-BA26-0784-AF99E93823B7}"/>
              </a:ext>
            </a:extLst>
          </p:cNvPr>
          <p:cNvSpPr/>
          <p:nvPr/>
        </p:nvSpPr>
        <p:spPr>
          <a:xfrm>
            <a:off x="9777184" y="4046125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F9C640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021D9100-D950-8106-46A1-6161331A7BDE}"/>
              </a:ext>
            </a:extLst>
          </p:cNvPr>
          <p:cNvSpPr/>
          <p:nvPr/>
        </p:nvSpPr>
        <p:spPr>
          <a:xfrm>
            <a:off x="9777184" y="3627362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F9C640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7" name="Rounded Rectangle 36">
            <a:extLst>
              <a:ext uri="{FF2B5EF4-FFF2-40B4-BE49-F238E27FC236}">
                <a16:creationId xmlns:a16="http://schemas.microsoft.com/office/drawing/2014/main" id="{34973D1E-1D2C-D10C-30A4-1ACDA4370960}"/>
              </a:ext>
            </a:extLst>
          </p:cNvPr>
          <p:cNvSpPr/>
          <p:nvPr/>
        </p:nvSpPr>
        <p:spPr>
          <a:xfrm>
            <a:off x="9777184" y="5721177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6" name="Rounded Rectangle 35">
            <a:extLst>
              <a:ext uri="{FF2B5EF4-FFF2-40B4-BE49-F238E27FC236}">
                <a16:creationId xmlns:a16="http://schemas.microsoft.com/office/drawing/2014/main" id="{64F1F953-480A-B7FA-15F6-5A9957C998CA}"/>
              </a:ext>
            </a:extLst>
          </p:cNvPr>
          <p:cNvSpPr/>
          <p:nvPr/>
        </p:nvSpPr>
        <p:spPr>
          <a:xfrm>
            <a:off x="9777184" y="5302414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80EABAA-5E31-99C1-2148-99E3700D9B4E}"/>
              </a:ext>
            </a:extLst>
          </p:cNvPr>
          <p:cNvSpPr txBox="1"/>
          <p:nvPr/>
        </p:nvSpPr>
        <p:spPr>
          <a:xfrm>
            <a:off x="11186130" y="4921755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385F7DE-2691-8B2B-E114-2A862286A68A}"/>
              </a:ext>
            </a:extLst>
          </p:cNvPr>
          <p:cNvSpPr txBox="1"/>
          <p:nvPr/>
        </p:nvSpPr>
        <p:spPr>
          <a:xfrm>
            <a:off x="11186130" y="4502992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7E7B9D5-733B-A6F5-4849-51C64E0BD4A9}"/>
              </a:ext>
            </a:extLst>
          </p:cNvPr>
          <p:cNvSpPr txBox="1"/>
          <p:nvPr/>
        </p:nvSpPr>
        <p:spPr>
          <a:xfrm>
            <a:off x="11186130" y="5759281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CE65E07-BEC6-D825-21DE-A526C8645BDD}"/>
              </a:ext>
            </a:extLst>
          </p:cNvPr>
          <p:cNvSpPr txBox="1"/>
          <p:nvPr/>
        </p:nvSpPr>
        <p:spPr>
          <a:xfrm>
            <a:off x="11186130" y="5340518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436BA12-022D-C6EB-815A-CD6115CB88FA}"/>
              </a:ext>
            </a:extLst>
          </p:cNvPr>
          <p:cNvSpPr txBox="1"/>
          <p:nvPr/>
        </p:nvSpPr>
        <p:spPr>
          <a:xfrm>
            <a:off x="11186130" y="4084229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D4EAEA8-1C55-F0B5-5438-0CE0DEA35D9A}"/>
              </a:ext>
            </a:extLst>
          </p:cNvPr>
          <p:cNvSpPr txBox="1"/>
          <p:nvPr/>
        </p:nvSpPr>
        <p:spPr>
          <a:xfrm>
            <a:off x="11186130" y="3665466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60" name="Triangle 59">
            <a:extLst>
              <a:ext uri="{FF2B5EF4-FFF2-40B4-BE49-F238E27FC236}">
                <a16:creationId xmlns:a16="http://schemas.microsoft.com/office/drawing/2014/main" id="{14742EA5-7D83-21AA-EAEA-54537DBC17D6}"/>
              </a:ext>
            </a:extLst>
          </p:cNvPr>
          <p:cNvSpPr/>
          <p:nvPr/>
        </p:nvSpPr>
        <p:spPr>
          <a:xfrm rot="5400000">
            <a:off x="11223517" y="97630"/>
            <a:ext cx="113704" cy="91353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>
              <a:solidFill>
                <a:schemeClr val="bg1"/>
              </a:solidFill>
            </a:endParaRPr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67300D5D-E362-AAE7-A4AD-8CBAC4B394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67839" y="52613"/>
            <a:ext cx="203103" cy="172639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5BA421D5-AA0C-CD2A-F80C-8A0A5D072D82}"/>
              </a:ext>
            </a:extLst>
          </p:cNvPr>
          <p:cNvSpPr txBox="1"/>
          <p:nvPr/>
        </p:nvSpPr>
        <p:spPr>
          <a:xfrm>
            <a:off x="9145068" y="10898"/>
            <a:ext cx="2110021" cy="264816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nl-NL" sz="1050" b="1" dirty="0" err="1">
                <a:solidFill>
                  <a:schemeClr val="bg1">
                    <a:lumMod val="75000"/>
                  </a:schemeClr>
                </a:solidFill>
              </a:rPr>
              <a:t>PORTFOLIO_PERIOD_START_DATE</a:t>
            </a:r>
            <a:endParaRPr lang="nl-NL" sz="1050" b="1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B322DB4E-35D4-2AB3-FDAB-2D94579C7E8C}"/>
              </a:ext>
            </a:extLst>
          </p:cNvPr>
          <p:cNvSpPr txBox="1"/>
          <p:nvPr/>
        </p:nvSpPr>
        <p:spPr>
          <a:xfrm>
            <a:off x="11305651" y="10898"/>
            <a:ext cx="1993003" cy="264816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nl-NL" sz="1050" b="1" dirty="0" err="1">
                <a:solidFill>
                  <a:schemeClr val="tx2"/>
                </a:solidFill>
              </a:rPr>
              <a:t>PORTFOLIO_PERIOD_END_DATE</a:t>
            </a:r>
            <a:endParaRPr lang="nl-NL" sz="1050" b="1" noProof="0" dirty="0">
              <a:solidFill>
                <a:schemeClr val="tx2"/>
              </a:solidFill>
            </a:endParaRP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453FAD79-26B3-4982-978D-C590116D68D9}"/>
              </a:ext>
            </a:extLst>
          </p:cNvPr>
          <p:cNvGrpSpPr>
            <a:grpSpLocks noChangeAspect="1"/>
          </p:cNvGrpSpPr>
          <p:nvPr/>
        </p:nvGrpSpPr>
        <p:grpSpPr>
          <a:xfrm>
            <a:off x="-392105" y="2517185"/>
            <a:ext cx="98115" cy="92576"/>
            <a:chOff x="-331054" y="2564812"/>
            <a:chExt cx="141517" cy="133528"/>
          </a:xfrm>
          <a:solidFill>
            <a:srgbClr val="57C968"/>
          </a:solidFill>
        </p:grpSpPr>
        <p:sp>
          <p:nvSpPr>
            <p:cNvPr id="65" name="Freeform 64">
              <a:extLst>
                <a:ext uri="{FF2B5EF4-FFF2-40B4-BE49-F238E27FC236}">
                  <a16:creationId xmlns:a16="http://schemas.microsoft.com/office/drawing/2014/main" id="{08804C87-01D4-54E8-9068-56FE7267CE65}"/>
                </a:ext>
              </a:extLst>
            </p:cNvPr>
            <p:cNvSpPr/>
            <p:nvPr/>
          </p:nvSpPr>
          <p:spPr>
            <a:xfrm>
              <a:off x="-331054" y="2564812"/>
              <a:ext cx="141517" cy="82436"/>
            </a:xfrm>
            <a:custGeom>
              <a:avLst/>
              <a:gdLst>
                <a:gd name="connsiteX0" fmla="*/ 70759 w 141517"/>
                <a:gd name="connsiteY0" fmla="*/ 0 h 82436"/>
                <a:gd name="connsiteX1" fmla="*/ 141517 w 141517"/>
                <a:gd name="connsiteY1" fmla="*/ 82436 h 82436"/>
                <a:gd name="connsiteX2" fmla="*/ 111805 w 141517"/>
                <a:gd name="connsiteY2" fmla="*/ 82436 h 82436"/>
                <a:gd name="connsiteX3" fmla="*/ 70759 w 141517"/>
                <a:gd name="connsiteY3" fmla="*/ 34616 h 82436"/>
                <a:gd name="connsiteX4" fmla="*/ 29713 w 141517"/>
                <a:gd name="connsiteY4" fmla="*/ 82436 h 82436"/>
                <a:gd name="connsiteX5" fmla="*/ 0 w 141517"/>
                <a:gd name="connsiteY5" fmla="*/ 82436 h 824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1517" h="82436">
                  <a:moveTo>
                    <a:pt x="70759" y="0"/>
                  </a:moveTo>
                  <a:lnTo>
                    <a:pt x="141517" y="82436"/>
                  </a:lnTo>
                  <a:lnTo>
                    <a:pt x="111805" y="82436"/>
                  </a:lnTo>
                  <a:lnTo>
                    <a:pt x="70759" y="34616"/>
                  </a:lnTo>
                  <a:lnTo>
                    <a:pt x="29713" y="82436"/>
                  </a:lnTo>
                  <a:lnTo>
                    <a:pt x="0" y="82436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  <p:sp>
          <p:nvSpPr>
            <p:cNvPr id="66" name="Triangle 65">
              <a:extLst>
                <a:ext uri="{FF2B5EF4-FFF2-40B4-BE49-F238E27FC236}">
                  <a16:creationId xmlns:a16="http://schemas.microsoft.com/office/drawing/2014/main" id="{7D4C245C-9737-17AF-E358-435BD21CEEF2}"/>
                </a:ext>
              </a:extLst>
            </p:cNvPr>
            <p:cNvSpPr/>
            <p:nvPr/>
          </p:nvSpPr>
          <p:spPr>
            <a:xfrm>
              <a:off x="-331054" y="2615904"/>
              <a:ext cx="141517" cy="82436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6BD7D30C-C1C2-93CB-3EBF-617F8C2C9532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-392106" y="2948284"/>
            <a:ext cx="98115" cy="92576"/>
            <a:chOff x="-331054" y="2564812"/>
            <a:chExt cx="141517" cy="133528"/>
          </a:xfrm>
          <a:solidFill>
            <a:srgbClr val="FFC000"/>
          </a:solidFill>
        </p:grpSpPr>
        <p:sp>
          <p:nvSpPr>
            <p:cNvPr id="68" name="Freeform 67">
              <a:extLst>
                <a:ext uri="{FF2B5EF4-FFF2-40B4-BE49-F238E27FC236}">
                  <a16:creationId xmlns:a16="http://schemas.microsoft.com/office/drawing/2014/main" id="{AF6FD9F3-8DA1-F1FE-9594-2A18CB71DB12}"/>
                </a:ext>
              </a:extLst>
            </p:cNvPr>
            <p:cNvSpPr/>
            <p:nvPr/>
          </p:nvSpPr>
          <p:spPr>
            <a:xfrm>
              <a:off x="-331054" y="2564812"/>
              <a:ext cx="141517" cy="82436"/>
            </a:xfrm>
            <a:custGeom>
              <a:avLst/>
              <a:gdLst>
                <a:gd name="connsiteX0" fmla="*/ 70759 w 141517"/>
                <a:gd name="connsiteY0" fmla="*/ 0 h 82436"/>
                <a:gd name="connsiteX1" fmla="*/ 141517 w 141517"/>
                <a:gd name="connsiteY1" fmla="*/ 82436 h 82436"/>
                <a:gd name="connsiteX2" fmla="*/ 111805 w 141517"/>
                <a:gd name="connsiteY2" fmla="*/ 82436 h 82436"/>
                <a:gd name="connsiteX3" fmla="*/ 70759 w 141517"/>
                <a:gd name="connsiteY3" fmla="*/ 34616 h 82436"/>
                <a:gd name="connsiteX4" fmla="*/ 29713 w 141517"/>
                <a:gd name="connsiteY4" fmla="*/ 82436 h 82436"/>
                <a:gd name="connsiteX5" fmla="*/ 0 w 141517"/>
                <a:gd name="connsiteY5" fmla="*/ 82436 h 824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1517" h="82436">
                  <a:moveTo>
                    <a:pt x="70759" y="0"/>
                  </a:moveTo>
                  <a:lnTo>
                    <a:pt x="141517" y="82436"/>
                  </a:lnTo>
                  <a:lnTo>
                    <a:pt x="111805" y="82436"/>
                  </a:lnTo>
                  <a:lnTo>
                    <a:pt x="70759" y="34616"/>
                  </a:lnTo>
                  <a:lnTo>
                    <a:pt x="29713" y="82436"/>
                  </a:lnTo>
                  <a:lnTo>
                    <a:pt x="0" y="82436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  <p:sp>
          <p:nvSpPr>
            <p:cNvPr id="69" name="Triangle 68">
              <a:extLst>
                <a:ext uri="{FF2B5EF4-FFF2-40B4-BE49-F238E27FC236}">
                  <a16:creationId xmlns:a16="http://schemas.microsoft.com/office/drawing/2014/main" id="{9262797A-1920-B04D-0831-ECA6811546BB}"/>
                </a:ext>
              </a:extLst>
            </p:cNvPr>
            <p:cNvSpPr/>
            <p:nvPr/>
          </p:nvSpPr>
          <p:spPr>
            <a:xfrm>
              <a:off x="-331054" y="2615904"/>
              <a:ext cx="141517" cy="82436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</p:grpSp>
      <p:sp>
        <p:nvSpPr>
          <p:cNvPr id="72" name="TextBox 71">
            <a:extLst>
              <a:ext uri="{FF2B5EF4-FFF2-40B4-BE49-F238E27FC236}">
                <a16:creationId xmlns:a16="http://schemas.microsoft.com/office/drawing/2014/main" id="{CC751F7C-4517-B5C9-D24B-490BDC364E63}"/>
              </a:ext>
            </a:extLst>
          </p:cNvPr>
          <p:cNvSpPr txBox="1"/>
          <p:nvPr/>
        </p:nvSpPr>
        <p:spPr>
          <a:xfrm>
            <a:off x="9777184" y="3305030"/>
            <a:ext cx="579667" cy="322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400" b="1" dirty="0">
                <a:solidFill>
                  <a:schemeClr val="tx2"/>
                </a:solidFill>
              </a:rPr>
              <a:t>Team</a:t>
            </a:r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F9415B8D-D15B-CD76-E298-4ECC8261967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838256" y="6071736"/>
            <a:ext cx="371130" cy="206558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1AE5624D-19A2-5427-E6A7-6529A2C96C48}"/>
              </a:ext>
            </a:extLst>
          </p:cNvPr>
          <p:cNvSpPr/>
          <p:nvPr/>
        </p:nvSpPr>
        <p:spPr>
          <a:xfrm>
            <a:off x="512064" y="3200400"/>
            <a:ext cx="8750808" cy="2843784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PORTFOLIO_PERIOD_VOLUME_CHANGE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2FDACCF-411C-27FA-BBD4-078D2DB0BFE0}"/>
              </a:ext>
            </a:extLst>
          </p:cNvPr>
          <p:cNvSpPr/>
          <p:nvPr/>
        </p:nvSpPr>
        <p:spPr>
          <a:xfrm>
            <a:off x="1250238" y="7283752"/>
            <a:ext cx="353366" cy="333633"/>
          </a:xfrm>
          <a:prstGeom prst="rect">
            <a:avLst/>
          </a:prstGeom>
          <a:solidFill>
            <a:srgbClr val="F694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88F8F6B-037D-C8CB-4482-D3A48B51A6D1}"/>
              </a:ext>
            </a:extLst>
          </p:cNvPr>
          <p:cNvSpPr/>
          <p:nvPr/>
        </p:nvSpPr>
        <p:spPr>
          <a:xfrm>
            <a:off x="2184054" y="7283752"/>
            <a:ext cx="353366" cy="33363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90C8805-C845-FCCC-468D-3A73CE61C6F6}"/>
              </a:ext>
            </a:extLst>
          </p:cNvPr>
          <p:cNvSpPr/>
          <p:nvPr/>
        </p:nvSpPr>
        <p:spPr>
          <a:xfrm>
            <a:off x="3117870" y="7283752"/>
            <a:ext cx="353366" cy="33363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71D1437-7B12-0193-A1DF-96A590196EFF}"/>
              </a:ext>
            </a:extLst>
          </p:cNvPr>
          <p:cNvSpPr/>
          <p:nvPr/>
        </p:nvSpPr>
        <p:spPr>
          <a:xfrm>
            <a:off x="4051686" y="7283752"/>
            <a:ext cx="353366" cy="33363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4A400C9-59D6-7394-BC5C-3D9A63D9F567}"/>
              </a:ext>
            </a:extLst>
          </p:cNvPr>
          <p:cNvSpPr/>
          <p:nvPr/>
        </p:nvSpPr>
        <p:spPr>
          <a:xfrm>
            <a:off x="4985502" y="7283752"/>
            <a:ext cx="353366" cy="333633"/>
          </a:xfrm>
          <a:prstGeom prst="rect">
            <a:avLst/>
          </a:prstGeom>
          <a:solidFill>
            <a:srgbClr val="EFE6D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8503177-3304-EE28-18F3-C435DBDA2DE5}"/>
              </a:ext>
            </a:extLst>
          </p:cNvPr>
          <p:cNvSpPr/>
          <p:nvPr/>
        </p:nvSpPr>
        <p:spPr>
          <a:xfrm>
            <a:off x="5919318" y="7283752"/>
            <a:ext cx="353366" cy="333633"/>
          </a:xfrm>
          <a:prstGeom prst="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550B0B0-1146-C1D1-B295-E39F9836096C}"/>
              </a:ext>
            </a:extLst>
          </p:cNvPr>
          <p:cNvSpPr/>
          <p:nvPr/>
        </p:nvSpPr>
        <p:spPr>
          <a:xfrm>
            <a:off x="6853134" y="7283752"/>
            <a:ext cx="353366" cy="333633"/>
          </a:xfrm>
          <a:prstGeom prst="rect">
            <a:avLst/>
          </a:prstGeom>
          <a:solidFill>
            <a:srgbClr val="D8E9E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840F528-4469-DBF0-BD9A-B7523BE92996}"/>
              </a:ext>
            </a:extLst>
          </p:cNvPr>
          <p:cNvSpPr/>
          <p:nvPr/>
        </p:nvSpPr>
        <p:spPr>
          <a:xfrm>
            <a:off x="7786950" y="7283752"/>
            <a:ext cx="353366" cy="33363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C8D7B00-5EE0-60D9-7256-2671E337C793}"/>
              </a:ext>
            </a:extLst>
          </p:cNvPr>
          <p:cNvSpPr/>
          <p:nvPr/>
        </p:nvSpPr>
        <p:spPr>
          <a:xfrm>
            <a:off x="8720766" y="7283752"/>
            <a:ext cx="353366" cy="33363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CC90C5E-E776-BCBA-83EC-58AD68239D51}"/>
              </a:ext>
            </a:extLst>
          </p:cNvPr>
          <p:cNvSpPr/>
          <p:nvPr/>
        </p:nvSpPr>
        <p:spPr>
          <a:xfrm>
            <a:off x="9654582" y="7283752"/>
            <a:ext cx="353366" cy="33363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8036F1E-4ACB-B76C-8626-F436F31EE77B}"/>
              </a:ext>
            </a:extLst>
          </p:cNvPr>
          <p:cNvSpPr/>
          <p:nvPr/>
        </p:nvSpPr>
        <p:spPr>
          <a:xfrm>
            <a:off x="10588396" y="7283752"/>
            <a:ext cx="353366" cy="333633"/>
          </a:xfrm>
          <a:prstGeom prst="rect">
            <a:avLst/>
          </a:prstGeom>
          <a:solidFill>
            <a:srgbClr val="58B8C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CE0B2B8-5161-B8B3-C2F7-8B3609ABB1FC}"/>
              </a:ext>
            </a:extLst>
          </p:cNvPr>
          <p:cNvSpPr txBox="1"/>
          <p:nvPr/>
        </p:nvSpPr>
        <p:spPr>
          <a:xfrm>
            <a:off x="1016317" y="7795967"/>
            <a:ext cx="821207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E89936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D6E5742-5196-1802-81AE-D4F0F712009E}"/>
              </a:ext>
            </a:extLst>
          </p:cNvPr>
          <p:cNvSpPr txBox="1"/>
          <p:nvPr/>
        </p:nvSpPr>
        <p:spPr>
          <a:xfrm>
            <a:off x="2191705" y="7795967"/>
            <a:ext cx="548697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@@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DB28342-516A-64C9-2577-7ACBB2DD74D0}"/>
              </a:ext>
            </a:extLst>
          </p:cNvPr>
          <p:cNvSpPr txBox="1"/>
          <p:nvPr/>
        </p:nvSpPr>
        <p:spPr>
          <a:xfrm>
            <a:off x="10354476" y="7795967"/>
            <a:ext cx="821207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71B6C9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2F01AB8-21D9-ACA7-C061-24D7AE18314B}"/>
              </a:ext>
            </a:extLst>
          </p:cNvPr>
          <p:cNvSpPr txBox="1"/>
          <p:nvPr/>
        </p:nvSpPr>
        <p:spPr>
          <a:xfrm>
            <a:off x="3997461" y="7795967"/>
            <a:ext cx="548697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@@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9B3A48E-4D8B-D6D9-7A0E-97078C12B47E}"/>
              </a:ext>
            </a:extLst>
          </p:cNvPr>
          <p:cNvSpPr txBox="1"/>
          <p:nvPr/>
        </p:nvSpPr>
        <p:spPr>
          <a:xfrm>
            <a:off x="3094584" y="7795967"/>
            <a:ext cx="548697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@@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89CCD63-0F65-592D-CE91-8C09FE5930F3}"/>
              </a:ext>
            </a:extLst>
          </p:cNvPr>
          <p:cNvSpPr txBox="1"/>
          <p:nvPr/>
        </p:nvSpPr>
        <p:spPr>
          <a:xfrm>
            <a:off x="4747253" y="7795967"/>
            <a:ext cx="854871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EDE6DB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CFA9813-9287-05F5-D861-7701EF1F0628}"/>
              </a:ext>
            </a:extLst>
          </p:cNvPr>
          <p:cNvSpPr txBox="1"/>
          <p:nvPr/>
        </p:nvSpPr>
        <p:spPr>
          <a:xfrm>
            <a:off x="6560222" y="7795967"/>
            <a:ext cx="840444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>
                <a:solidFill>
                  <a:schemeClr val="tx2"/>
                </a:solidFill>
              </a:rPr>
              <a:t>DBE8EB</a:t>
            </a:r>
            <a:endParaRPr lang="en-US" sz="1600" dirty="0">
              <a:solidFill>
                <a:schemeClr val="tx2"/>
              </a:solidFill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7EAE6E1-E5B9-A437-9A45-839DFD4245EE}"/>
              </a:ext>
            </a:extLst>
          </p:cNvPr>
          <p:cNvSpPr txBox="1"/>
          <p:nvPr/>
        </p:nvSpPr>
        <p:spPr>
          <a:xfrm>
            <a:off x="5687801" y="7795967"/>
            <a:ext cx="779529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F8F8F8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FBDD5D6-BDE5-11E3-4A2F-8C61BCDF5872}"/>
              </a:ext>
            </a:extLst>
          </p:cNvPr>
          <p:cNvSpPr txBox="1"/>
          <p:nvPr/>
        </p:nvSpPr>
        <p:spPr>
          <a:xfrm>
            <a:off x="8350654" y="7795967"/>
            <a:ext cx="871092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A6DAA7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8BE26167-74AB-CC0A-DA60-831BB1B791FF}"/>
              </a:ext>
            </a:extLst>
          </p:cNvPr>
          <p:cNvSpPr txBox="1"/>
          <p:nvPr/>
        </p:nvSpPr>
        <p:spPr>
          <a:xfrm>
            <a:off x="7608973" y="7795967"/>
            <a:ext cx="548697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@@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ACB144E7-F79E-1B66-500E-AA10E537F6C7}"/>
              </a:ext>
            </a:extLst>
          </p:cNvPr>
          <p:cNvSpPr txBox="1"/>
          <p:nvPr/>
        </p:nvSpPr>
        <p:spPr>
          <a:xfrm>
            <a:off x="9414729" y="7795967"/>
            <a:ext cx="548697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@@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150380C7-E952-85A6-1AE2-B3B2DD1481A4}"/>
              </a:ext>
            </a:extLst>
          </p:cNvPr>
          <p:cNvSpPr txBox="1"/>
          <p:nvPr/>
        </p:nvSpPr>
        <p:spPr>
          <a:xfrm>
            <a:off x="1996335" y="60547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accent3"/>
                </a:solidFill>
              </a:rPr>
              <a:t>Systems grouped by </a:t>
            </a:r>
            <a:r>
              <a:rPr lang="en-US" sz="800" b="1" dirty="0">
                <a:solidFill>
                  <a:schemeClr val="accent3"/>
                </a:solidFill>
              </a:rPr>
              <a:t>Team</a:t>
            </a:r>
          </a:p>
        </p:txBody>
      </p:sp>
      <p:sp>
        <p:nvSpPr>
          <p:cNvPr id="74" name="Rounded Rectangle 73">
            <a:extLst>
              <a:ext uri="{FF2B5EF4-FFF2-40B4-BE49-F238E27FC236}">
                <a16:creationId xmlns:a16="http://schemas.microsoft.com/office/drawing/2014/main" id="{59104847-769B-8437-1755-175EFDCB9FDF}"/>
              </a:ext>
            </a:extLst>
          </p:cNvPr>
          <p:cNvSpPr>
            <a:spLocks noChangeAspect="1"/>
          </p:cNvSpPr>
          <p:nvPr/>
        </p:nvSpPr>
        <p:spPr>
          <a:xfrm>
            <a:off x="879122" y="6118505"/>
            <a:ext cx="91440" cy="91440"/>
          </a:xfrm>
          <a:prstGeom prst="roundRect">
            <a:avLst/>
          </a:prstGeom>
          <a:solidFill>
            <a:srgbClr val="F694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75" name="Rounded Rectangle 74">
            <a:extLst>
              <a:ext uri="{FF2B5EF4-FFF2-40B4-BE49-F238E27FC236}">
                <a16:creationId xmlns:a16="http://schemas.microsoft.com/office/drawing/2014/main" id="{094EB900-65EE-BC99-0D51-4E0EC2BBCAC1}"/>
              </a:ext>
            </a:extLst>
          </p:cNvPr>
          <p:cNvSpPr>
            <a:spLocks noChangeAspect="1"/>
          </p:cNvSpPr>
          <p:nvPr/>
        </p:nvSpPr>
        <p:spPr>
          <a:xfrm>
            <a:off x="1038992" y="6118505"/>
            <a:ext cx="91440" cy="91440"/>
          </a:xfrm>
          <a:prstGeom prst="roundRect">
            <a:avLst/>
          </a:prstGeom>
          <a:solidFill>
            <a:srgbClr val="EFE6D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76" name="Rounded Rectangle 75">
            <a:extLst>
              <a:ext uri="{FF2B5EF4-FFF2-40B4-BE49-F238E27FC236}">
                <a16:creationId xmlns:a16="http://schemas.microsoft.com/office/drawing/2014/main" id="{389CFB48-4110-5C21-AAC2-B369130A2214}"/>
              </a:ext>
            </a:extLst>
          </p:cNvPr>
          <p:cNvSpPr>
            <a:spLocks noChangeAspect="1"/>
          </p:cNvSpPr>
          <p:nvPr/>
        </p:nvSpPr>
        <p:spPr>
          <a:xfrm>
            <a:off x="1198862" y="6118505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77" name="Rounded Rectangle 76">
            <a:extLst>
              <a:ext uri="{FF2B5EF4-FFF2-40B4-BE49-F238E27FC236}">
                <a16:creationId xmlns:a16="http://schemas.microsoft.com/office/drawing/2014/main" id="{7A857DDB-57EA-245B-6D2D-490CBAEF0CD0}"/>
              </a:ext>
            </a:extLst>
          </p:cNvPr>
          <p:cNvSpPr>
            <a:spLocks noChangeAspect="1"/>
          </p:cNvSpPr>
          <p:nvPr/>
        </p:nvSpPr>
        <p:spPr>
          <a:xfrm>
            <a:off x="1358732" y="6118505"/>
            <a:ext cx="91440" cy="91440"/>
          </a:xfrm>
          <a:prstGeom prst="roundRect">
            <a:avLst/>
          </a:prstGeom>
          <a:solidFill>
            <a:srgbClr val="D8E9E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78" name="Rounded Rectangle 77">
            <a:extLst>
              <a:ext uri="{FF2B5EF4-FFF2-40B4-BE49-F238E27FC236}">
                <a16:creationId xmlns:a16="http://schemas.microsoft.com/office/drawing/2014/main" id="{48865371-B36B-5B6E-7714-7ACC2FA510F7}"/>
              </a:ext>
            </a:extLst>
          </p:cNvPr>
          <p:cNvSpPr>
            <a:spLocks noChangeAspect="1"/>
          </p:cNvSpPr>
          <p:nvPr/>
        </p:nvSpPr>
        <p:spPr>
          <a:xfrm>
            <a:off x="1518602" y="6118505"/>
            <a:ext cx="91440" cy="91440"/>
          </a:xfrm>
          <a:prstGeom prst="roundRect">
            <a:avLst/>
          </a:prstGeom>
          <a:solidFill>
            <a:srgbClr val="58B8C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FEDB3023-F101-0DF5-9A9E-B5CA1AEF0182}"/>
              </a:ext>
            </a:extLst>
          </p:cNvPr>
          <p:cNvSpPr txBox="1"/>
          <p:nvPr/>
        </p:nvSpPr>
        <p:spPr>
          <a:xfrm>
            <a:off x="1678471" y="6054740"/>
            <a:ext cx="34191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+PY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E369CF98-A48E-2A4E-09CB-F43B24C77E01}"/>
              </a:ext>
            </a:extLst>
          </p:cNvPr>
          <p:cNvSpPr txBox="1"/>
          <p:nvPr/>
        </p:nvSpPr>
        <p:spPr>
          <a:xfrm>
            <a:off x="512064" y="6054740"/>
            <a:ext cx="322674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-PY</a:t>
            </a:r>
          </a:p>
        </p:txBody>
      </p:sp>
    </p:spTree>
    <p:extLst>
      <p:ext uri="{BB962C8B-B14F-4D97-AF65-F5344CB8AC3E}">
        <p14:creationId xmlns:p14="http://schemas.microsoft.com/office/powerpoint/2010/main" val="404045497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76FA4F-56E0-38D4-2ADF-7F5EB3DFFC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1FAB8F07-6D4B-916A-C1E3-E7E3096D579E}"/>
              </a:ext>
            </a:extLst>
          </p:cNvPr>
          <p:cNvSpPr/>
          <p:nvPr/>
        </p:nvSpPr>
        <p:spPr>
          <a:xfrm flipH="1">
            <a:off x="0" y="1368000"/>
            <a:ext cx="12192000" cy="1658842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6E08F0F-52CE-A816-71D0-86B4FA3FF4C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16</a:t>
            </a:fld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6B193F2-CE7B-FC39-0466-64F32A0539F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Findings – </a:t>
            </a:r>
            <a:r>
              <a:rPr lang="en-US" dirty="0">
                <a:solidFill>
                  <a:schemeClr val="accent3"/>
                </a:solidFill>
              </a:rPr>
              <a:t>Architecture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3813AE8D-2181-6973-DFF7-DE2DCBC4BB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@@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DBED7E5-EA80-DACD-B5DD-5B2AFC67C3A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4800" y="1368000"/>
            <a:ext cx="11232000" cy="1658842"/>
          </a:xfrm>
        </p:spPr>
        <p:txBody>
          <a:bodyPr anchor="ctr"/>
          <a:lstStyle/>
          <a:p>
            <a:pPr marL="0" indent="0">
              <a:buNone/>
            </a:pPr>
            <a:r>
              <a:rPr lang="en-US" sz="1400" noProof="0" dirty="0"/>
              <a:t>@@</a:t>
            </a:r>
            <a:endParaRPr lang="en-US" sz="1200" noProof="0" dirty="0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BF0C5160-5E71-1D75-1843-505E782ADE9E}"/>
              </a:ext>
            </a:extLst>
          </p:cNvPr>
          <p:cNvSpPr/>
          <p:nvPr/>
        </p:nvSpPr>
        <p:spPr>
          <a:xfrm>
            <a:off x="-270313" y="3154680"/>
            <a:ext cx="9725209" cy="3163320"/>
          </a:xfrm>
          <a:prstGeom prst="roundRect">
            <a:avLst>
              <a:gd name="adj" fmla="val 3161"/>
            </a:avLst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5FD1D7D0-E508-4E54-4F9E-1F87491FCD21}"/>
              </a:ext>
            </a:extLst>
          </p:cNvPr>
          <p:cNvSpPr/>
          <p:nvPr/>
        </p:nvSpPr>
        <p:spPr>
          <a:xfrm flipH="1">
            <a:off x="9619488" y="3154680"/>
            <a:ext cx="2724912" cy="3163320"/>
          </a:xfrm>
          <a:prstGeom prst="roundRect">
            <a:avLst>
              <a:gd name="adj" fmla="val 4851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8787B23-C3C2-4DC1-FC2E-4E3FDEB0E3DB}"/>
              </a:ext>
            </a:extLst>
          </p:cNvPr>
          <p:cNvSpPr txBox="1"/>
          <p:nvPr/>
        </p:nvSpPr>
        <p:spPr>
          <a:xfrm>
            <a:off x="-1221448" y="4419492"/>
            <a:ext cx="628847" cy="63344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3.12”</a:t>
            </a:r>
          </a:p>
          <a:p>
            <a:pPr algn="l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9.57"</a:t>
            </a:r>
          </a:p>
        </p:txBody>
      </p:sp>
      <p:sp>
        <p:nvSpPr>
          <p:cNvPr id="35" name="Rounded Rectangle 34">
            <a:extLst>
              <a:ext uri="{FF2B5EF4-FFF2-40B4-BE49-F238E27FC236}">
                <a16:creationId xmlns:a16="http://schemas.microsoft.com/office/drawing/2014/main" id="{5D6C4DB3-A694-6654-C46A-6A30201BAC24}"/>
              </a:ext>
            </a:extLst>
          </p:cNvPr>
          <p:cNvSpPr/>
          <p:nvPr/>
        </p:nvSpPr>
        <p:spPr>
          <a:xfrm>
            <a:off x="9777184" y="4883651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6DC8341F-BE21-35A0-B63A-B7CAA7D8AA78}"/>
              </a:ext>
            </a:extLst>
          </p:cNvPr>
          <p:cNvSpPr/>
          <p:nvPr/>
        </p:nvSpPr>
        <p:spPr>
          <a:xfrm>
            <a:off x="9777184" y="4464888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C7FAE859-4F19-CCAA-8231-8F233ACDBF22}"/>
              </a:ext>
            </a:extLst>
          </p:cNvPr>
          <p:cNvSpPr/>
          <p:nvPr/>
        </p:nvSpPr>
        <p:spPr>
          <a:xfrm>
            <a:off x="9777184" y="4046125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F9C640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1070C8A8-5F70-7685-B7B9-DECC513B03C7}"/>
              </a:ext>
            </a:extLst>
          </p:cNvPr>
          <p:cNvSpPr/>
          <p:nvPr/>
        </p:nvSpPr>
        <p:spPr>
          <a:xfrm>
            <a:off x="9777184" y="3627362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F9C640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7" name="Rounded Rectangle 36">
            <a:extLst>
              <a:ext uri="{FF2B5EF4-FFF2-40B4-BE49-F238E27FC236}">
                <a16:creationId xmlns:a16="http://schemas.microsoft.com/office/drawing/2014/main" id="{AAC7EC1D-51A2-8BD1-7F7E-89632221EAF7}"/>
              </a:ext>
            </a:extLst>
          </p:cNvPr>
          <p:cNvSpPr/>
          <p:nvPr/>
        </p:nvSpPr>
        <p:spPr>
          <a:xfrm>
            <a:off x="9777184" y="5721177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6" name="Rounded Rectangle 35">
            <a:extLst>
              <a:ext uri="{FF2B5EF4-FFF2-40B4-BE49-F238E27FC236}">
                <a16:creationId xmlns:a16="http://schemas.microsoft.com/office/drawing/2014/main" id="{43849591-B68A-EEAB-67F2-23F5BAB43709}"/>
              </a:ext>
            </a:extLst>
          </p:cNvPr>
          <p:cNvSpPr/>
          <p:nvPr/>
        </p:nvSpPr>
        <p:spPr>
          <a:xfrm>
            <a:off x="9777184" y="5302414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330E64A-029D-BE57-A4F4-11697BEC61F3}"/>
              </a:ext>
            </a:extLst>
          </p:cNvPr>
          <p:cNvSpPr txBox="1"/>
          <p:nvPr/>
        </p:nvSpPr>
        <p:spPr>
          <a:xfrm>
            <a:off x="11186130" y="4921755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117BF85-BAAA-2D29-537D-299AAEC0D2A5}"/>
              </a:ext>
            </a:extLst>
          </p:cNvPr>
          <p:cNvSpPr txBox="1"/>
          <p:nvPr/>
        </p:nvSpPr>
        <p:spPr>
          <a:xfrm>
            <a:off x="11186130" y="4502992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84E70D7-B616-9354-E43A-19C4E8220C5C}"/>
              </a:ext>
            </a:extLst>
          </p:cNvPr>
          <p:cNvSpPr txBox="1"/>
          <p:nvPr/>
        </p:nvSpPr>
        <p:spPr>
          <a:xfrm>
            <a:off x="11186130" y="5759281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2FCDF86-1BFE-F1DD-09A6-0DDEAED0EA7A}"/>
              </a:ext>
            </a:extLst>
          </p:cNvPr>
          <p:cNvSpPr txBox="1"/>
          <p:nvPr/>
        </p:nvSpPr>
        <p:spPr>
          <a:xfrm>
            <a:off x="11186130" y="5340518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B4A05E3-5F07-17A7-A878-E3A1F3F83F36}"/>
              </a:ext>
            </a:extLst>
          </p:cNvPr>
          <p:cNvSpPr txBox="1"/>
          <p:nvPr/>
        </p:nvSpPr>
        <p:spPr>
          <a:xfrm>
            <a:off x="11186130" y="4084229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3967FA3-FEEE-A226-4B36-FB0C331951E6}"/>
              </a:ext>
            </a:extLst>
          </p:cNvPr>
          <p:cNvSpPr txBox="1"/>
          <p:nvPr/>
        </p:nvSpPr>
        <p:spPr>
          <a:xfrm>
            <a:off x="11186130" y="3665466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60" name="Triangle 59">
            <a:extLst>
              <a:ext uri="{FF2B5EF4-FFF2-40B4-BE49-F238E27FC236}">
                <a16:creationId xmlns:a16="http://schemas.microsoft.com/office/drawing/2014/main" id="{C1693B4E-8875-225E-C3BC-7D59AEE0ACF0}"/>
              </a:ext>
            </a:extLst>
          </p:cNvPr>
          <p:cNvSpPr/>
          <p:nvPr/>
        </p:nvSpPr>
        <p:spPr>
          <a:xfrm rot="5400000">
            <a:off x="11223517" y="97630"/>
            <a:ext cx="113704" cy="91353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>
              <a:solidFill>
                <a:schemeClr val="bg1"/>
              </a:solidFill>
            </a:endParaRPr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06B4C579-A729-7BC8-C3C2-C436749794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67839" y="52613"/>
            <a:ext cx="203103" cy="172639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18269E38-D98E-A1A9-849D-FA7CE973A729}"/>
              </a:ext>
            </a:extLst>
          </p:cNvPr>
          <p:cNvSpPr txBox="1"/>
          <p:nvPr/>
        </p:nvSpPr>
        <p:spPr>
          <a:xfrm>
            <a:off x="9145068" y="10898"/>
            <a:ext cx="2110021" cy="264816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nl-NL" sz="1050" b="1" dirty="0" err="1">
                <a:solidFill>
                  <a:schemeClr val="bg1">
                    <a:lumMod val="75000"/>
                  </a:schemeClr>
                </a:solidFill>
              </a:rPr>
              <a:t>PORTFOLIO_PERIOD_START_DATE</a:t>
            </a:r>
            <a:endParaRPr lang="nl-NL" sz="1050" b="1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42D4281-B725-AADD-7434-A67A1A6008DB}"/>
              </a:ext>
            </a:extLst>
          </p:cNvPr>
          <p:cNvSpPr txBox="1"/>
          <p:nvPr/>
        </p:nvSpPr>
        <p:spPr>
          <a:xfrm>
            <a:off x="11305651" y="10898"/>
            <a:ext cx="1993003" cy="264816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nl-NL" sz="1050" b="1" dirty="0" err="1">
                <a:solidFill>
                  <a:schemeClr val="tx2"/>
                </a:solidFill>
              </a:rPr>
              <a:t>PORTFOLIO_PERIOD_END_DATE</a:t>
            </a:r>
            <a:endParaRPr lang="nl-NL" sz="1050" b="1" dirty="0">
              <a:solidFill>
                <a:schemeClr val="tx2"/>
              </a:solidFill>
            </a:endParaRP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7A0448F1-9072-6C0C-66A5-40DE5ABB8FD4}"/>
              </a:ext>
            </a:extLst>
          </p:cNvPr>
          <p:cNvGrpSpPr>
            <a:grpSpLocks noChangeAspect="1"/>
          </p:cNvGrpSpPr>
          <p:nvPr/>
        </p:nvGrpSpPr>
        <p:grpSpPr>
          <a:xfrm>
            <a:off x="-392105" y="2517185"/>
            <a:ext cx="98115" cy="92576"/>
            <a:chOff x="-331054" y="2564812"/>
            <a:chExt cx="141517" cy="133528"/>
          </a:xfrm>
          <a:solidFill>
            <a:srgbClr val="57C968"/>
          </a:solidFill>
        </p:grpSpPr>
        <p:sp>
          <p:nvSpPr>
            <p:cNvPr id="65" name="Freeform 64">
              <a:extLst>
                <a:ext uri="{FF2B5EF4-FFF2-40B4-BE49-F238E27FC236}">
                  <a16:creationId xmlns:a16="http://schemas.microsoft.com/office/drawing/2014/main" id="{A7BE0DB5-2B07-7D12-87EB-1EA854951E21}"/>
                </a:ext>
              </a:extLst>
            </p:cNvPr>
            <p:cNvSpPr/>
            <p:nvPr/>
          </p:nvSpPr>
          <p:spPr>
            <a:xfrm>
              <a:off x="-331054" y="2564812"/>
              <a:ext cx="141517" cy="82436"/>
            </a:xfrm>
            <a:custGeom>
              <a:avLst/>
              <a:gdLst>
                <a:gd name="connsiteX0" fmla="*/ 70759 w 141517"/>
                <a:gd name="connsiteY0" fmla="*/ 0 h 82436"/>
                <a:gd name="connsiteX1" fmla="*/ 141517 w 141517"/>
                <a:gd name="connsiteY1" fmla="*/ 82436 h 82436"/>
                <a:gd name="connsiteX2" fmla="*/ 111805 w 141517"/>
                <a:gd name="connsiteY2" fmla="*/ 82436 h 82436"/>
                <a:gd name="connsiteX3" fmla="*/ 70759 w 141517"/>
                <a:gd name="connsiteY3" fmla="*/ 34616 h 82436"/>
                <a:gd name="connsiteX4" fmla="*/ 29713 w 141517"/>
                <a:gd name="connsiteY4" fmla="*/ 82436 h 82436"/>
                <a:gd name="connsiteX5" fmla="*/ 0 w 141517"/>
                <a:gd name="connsiteY5" fmla="*/ 82436 h 824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1517" h="82436">
                  <a:moveTo>
                    <a:pt x="70759" y="0"/>
                  </a:moveTo>
                  <a:lnTo>
                    <a:pt x="141517" y="82436"/>
                  </a:lnTo>
                  <a:lnTo>
                    <a:pt x="111805" y="82436"/>
                  </a:lnTo>
                  <a:lnTo>
                    <a:pt x="70759" y="34616"/>
                  </a:lnTo>
                  <a:lnTo>
                    <a:pt x="29713" y="82436"/>
                  </a:lnTo>
                  <a:lnTo>
                    <a:pt x="0" y="82436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  <p:sp>
          <p:nvSpPr>
            <p:cNvPr id="66" name="Triangle 65">
              <a:extLst>
                <a:ext uri="{FF2B5EF4-FFF2-40B4-BE49-F238E27FC236}">
                  <a16:creationId xmlns:a16="http://schemas.microsoft.com/office/drawing/2014/main" id="{528E10CF-5539-9E74-A175-FF3487DF89A0}"/>
                </a:ext>
              </a:extLst>
            </p:cNvPr>
            <p:cNvSpPr/>
            <p:nvPr/>
          </p:nvSpPr>
          <p:spPr>
            <a:xfrm>
              <a:off x="-331054" y="2615904"/>
              <a:ext cx="141517" cy="82436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377AEB37-B31B-0863-1FA0-10CE92E74F36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-392106" y="2948284"/>
            <a:ext cx="98115" cy="92576"/>
            <a:chOff x="-331054" y="2564812"/>
            <a:chExt cx="141517" cy="133528"/>
          </a:xfrm>
          <a:solidFill>
            <a:srgbClr val="FFC000"/>
          </a:solidFill>
        </p:grpSpPr>
        <p:sp>
          <p:nvSpPr>
            <p:cNvPr id="68" name="Freeform 67">
              <a:extLst>
                <a:ext uri="{FF2B5EF4-FFF2-40B4-BE49-F238E27FC236}">
                  <a16:creationId xmlns:a16="http://schemas.microsoft.com/office/drawing/2014/main" id="{54C842EB-ACD9-13E8-3D00-A46BBE4F8CF0}"/>
                </a:ext>
              </a:extLst>
            </p:cNvPr>
            <p:cNvSpPr/>
            <p:nvPr/>
          </p:nvSpPr>
          <p:spPr>
            <a:xfrm>
              <a:off x="-331054" y="2564812"/>
              <a:ext cx="141517" cy="82436"/>
            </a:xfrm>
            <a:custGeom>
              <a:avLst/>
              <a:gdLst>
                <a:gd name="connsiteX0" fmla="*/ 70759 w 141517"/>
                <a:gd name="connsiteY0" fmla="*/ 0 h 82436"/>
                <a:gd name="connsiteX1" fmla="*/ 141517 w 141517"/>
                <a:gd name="connsiteY1" fmla="*/ 82436 h 82436"/>
                <a:gd name="connsiteX2" fmla="*/ 111805 w 141517"/>
                <a:gd name="connsiteY2" fmla="*/ 82436 h 82436"/>
                <a:gd name="connsiteX3" fmla="*/ 70759 w 141517"/>
                <a:gd name="connsiteY3" fmla="*/ 34616 h 82436"/>
                <a:gd name="connsiteX4" fmla="*/ 29713 w 141517"/>
                <a:gd name="connsiteY4" fmla="*/ 82436 h 82436"/>
                <a:gd name="connsiteX5" fmla="*/ 0 w 141517"/>
                <a:gd name="connsiteY5" fmla="*/ 82436 h 824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1517" h="82436">
                  <a:moveTo>
                    <a:pt x="70759" y="0"/>
                  </a:moveTo>
                  <a:lnTo>
                    <a:pt x="141517" y="82436"/>
                  </a:lnTo>
                  <a:lnTo>
                    <a:pt x="111805" y="82436"/>
                  </a:lnTo>
                  <a:lnTo>
                    <a:pt x="70759" y="34616"/>
                  </a:lnTo>
                  <a:lnTo>
                    <a:pt x="29713" y="82436"/>
                  </a:lnTo>
                  <a:lnTo>
                    <a:pt x="0" y="82436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  <p:sp>
          <p:nvSpPr>
            <p:cNvPr id="69" name="Triangle 68">
              <a:extLst>
                <a:ext uri="{FF2B5EF4-FFF2-40B4-BE49-F238E27FC236}">
                  <a16:creationId xmlns:a16="http://schemas.microsoft.com/office/drawing/2014/main" id="{15AD5229-C433-7CFC-899F-E2A9748EC122}"/>
                </a:ext>
              </a:extLst>
            </p:cNvPr>
            <p:cNvSpPr/>
            <p:nvPr/>
          </p:nvSpPr>
          <p:spPr>
            <a:xfrm>
              <a:off x="-331054" y="2615904"/>
              <a:ext cx="141517" cy="82436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</p:grpSp>
      <p:sp>
        <p:nvSpPr>
          <p:cNvPr id="72" name="TextBox 71">
            <a:extLst>
              <a:ext uri="{FF2B5EF4-FFF2-40B4-BE49-F238E27FC236}">
                <a16:creationId xmlns:a16="http://schemas.microsoft.com/office/drawing/2014/main" id="{4BEB0E91-753E-DE0D-1DF6-13AAA357C45E}"/>
              </a:ext>
            </a:extLst>
          </p:cNvPr>
          <p:cNvSpPr txBox="1"/>
          <p:nvPr/>
        </p:nvSpPr>
        <p:spPr>
          <a:xfrm>
            <a:off x="9777184" y="3305030"/>
            <a:ext cx="579667" cy="322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400" b="1" dirty="0">
                <a:solidFill>
                  <a:schemeClr val="tx2"/>
                </a:solidFill>
              </a:rPr>
              <a:t>Team</a:t>
            </a:r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50529EB5-7D61-96B4-768B-08F6BF3B9D5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838256" y="6071736"/>
            <a:ext cx="371130" cy="206558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7FA8CC6E-79D0-779A-4057-FF94D4182B43}"/>
              </a:ext>
            </a:extLst>
          </p:cNvPr>
          <p:cNvSpPr/>
          <p:nvPr/>
        </p:nvSpPr>
        <p:spPr>
          <a:xfrm>
            <a:off x="512064" y="3200400"/>
            <a:ext cx="8750808" cy="2843784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PORTFOLIO_PERIOD_ARCHITECTURE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E4B93BD-B59A-71C8-4848-15AFF292DD1C}"/>
              </a:ext>
            </a:extLst>
          </p:cNvPr>
          <p:cNvSpPr txBox="1"/>
          <p:nvPr/>
        </p:nvSpPr>
        <p:spPr>
          <a:xfrm>
            <a:off x="2643466" y="60547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accent3"/>
                </a:solidFill>
              </a:rPr>
              <a:t>Systems grouped by </a:t>
            </a:r>
            <a:r>
              <a:rPr lang="en-US" sz="800" b="1" dirty="0">
                <a:solidFill>
                  <a:schemeClr val="accent3"/>
                </a:solidFill>
              </a:rPr>
              <a:t>Team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94BE5A8-50A2-3CB5-EB9F-ECAAAD999D4C}"/>
              </a:ext>
            </a:extLst>
          </p:cNvPr>
          <p:cNvGrpSpPr/>
          <p:nvPr/>
        </p:nvGrpSpPr>
        <p:grpSpPr>
          <a:xfrm>
            <a:off x="516802" y="6117354"/>
            <a:ext cx="300732" cy="98617"/>
            <a:chOff x="586253" y="6116391"/>
            <a:chExt cx="300732" cy="98617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1D242320-FF53-799F-AD12-F1A53454CADD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13" name="Rounded Rectangle 12">
              <a:extLst>
                <a:ext uri="{FF2B5EF4-FFF2-40B4-BE49-F238E27FC236}">
                  <a16:creationId xmlns:a16="http://schemas.microsoft.com/office/drawing/2014/main" id="{B0FE9ED6-B82B-2268-BCC0-A3C543ECC37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C0403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6093FE6B-1978-BDB2-A7E1-C77BFDC63CE6}"/>
              </a:ext>
            </a:extLst>
          </p:cNvPr>
          <p:cNvGrpSpPr/>
          <p:nvPr/>
        </p:nvGrpSpPr>
        <p:grpSpPr>
          <a:xfrm>
            <a:off x="934179" y="6117354"/>
            <a:ext cx="331190" cy="98617"/>
            <a:chOff x="961765" y="6117353"/>
            <a:chExt cx="331190" cy="98617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B889ECD7-4049-C2BC-62DC-5EFCEFFE4820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18" name="Rounded Rectangle 17">
              <a:extLst>
                <a:ext uri="{FF2B5EF4-FFF2-40B4-BE49-F238E27FC236}">
                  <a16:creationId xmlns:a16="http://schemas.microsoft.com/office/drawing/2014/main" id="{3C71F5E1-5F10-DEAB-C5E9-9D1A4015EFB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EF981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3669BCA8-26A4-2D2B-F1E1-0F65BD120BCB}"/>
              </a:ext>
            </a:extLst>
          </p:cNvPr>
          <p:cNvGrpSpPr/>
          <p:nvPr/>
        </p:nvGrpSpPr>
        <p:grpSpPr>
          <a:xfrm>
            <a:off x="1382015" y="6117354"/>
            <a:ext cx="331190" cy="98617"/>
            <a:chOff x="1114165" y="6269753"/>
            <a:chExt cx="331190" cy="98617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2AA2CAC9-D0AF-5C25-7509-7F76A37502B2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21" name="Rounded Rectangle 20">
              <a:extLst>
                <a:ext uri="{FF2B5EF4-FFF2-40B4-BE49-F238E27FC236}">
                  <a16:creationId xmlns:a16="http://schemas.microsoft.com/office/drawing/2014/main" id="{B57FDB8E-6FC9-A84D-B32A-91746C436FB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9C64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762C6950-8001-E340-ADED-D28E5F7F961E}"/>
              </a:ext>
            </a:extLst>
          </p:cNvPr>
          <p:cNvGrpSpPr/>
          <p:nvPr/>
        </p:nvGrpSpPr>
        <p:grpSpPr>
          <a:xfrm>
            <a:off x="1829851" y="6117354"/>
            <a:ext cx="331190" cy="98617"/>
            <a:chOff x="1114165" y="6269753"/>
            <a:chExt cx="331190" cy="98617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418DA12C-ECBE-3A73-0A59-64820DFAA06E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24" name="Rounded Rectangle 23">
              <a:extLst>
                <a:ext uri="{FF2B5EF4-FFF2-40B4-BE49-F238E27FC236}">
                  <a16:creationId xmlns:a16="http://schemas.microsoft.com/office/drawing/2014/main" id="{D65AD3B7-FEC0-B0E6-33A0-5C13D4D6EB7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57C96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5ED4B644-4825-FB9E-D737-7F6747FF7D17}"/>
              </a:ext>
            </a:extLst>
          </p:cNvPr>
          <p:cNvGrpSpPr/>
          <p:nvPr/>
        </p:nvGrpSpPr>
        <p:grpSpPr>
          <a:xfrm>
            <a:off x="2277686" y="6117354"/>
            <a:ext cx="331190" cy="98617"/>
            <a:chOff x="1114165" y="6269753"/>
            <a:chExt cx="331190" cy="98617"/>
          </a:xfrm>
        </p:grpSpPr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D3C279F1-186D-292C-F3C7-24C382DE4CE3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27" name="Rounded Rectangle 26">
              <a:extLst>
                <a:ext uri="{FF2B5EF4-FFF2-40B4-BE49-F238E27FC236}">
                  <a16:creationId xmlns:a16="http://schemas.microsoft.com/office/drawing/2014/main" id="{DCF5C1D5-2A14-42E2-BD7E-C1FDDC8AE37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2C963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8085585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8C0A81-88C5-4527-C0A0-244B124815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8DEA43F6-2071-E4E3-9658-2E834D622D8B}"/>
              </a:ext>
            </a:extLst>
          </p:cNvPr>
          <p:cNvSpPr/>
          <p:nvPr/>
        </p:nvSpPr>
        <p:spPr>
          <a:xfrm flipH="1">
            <a:off x="0" y="1368000"/>
            <a:ext cx="12192000" cy="1658842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5A6D8F8-87A5-C17B-4FAE-C3BBF43501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17</a:t>
            </a:fld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74A1267-C3B2-3A92-DF89-401DA4929D0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Findings – </a:t>
            </a:r>
            <a:r>
              <a:rPr lang="en-US" dirty="0">
                <a:solidFill>
                  <a:schemeClr val="accent3"/>
                </a:solidFill>
              </a:rPr>
              <a:t>SECURITY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45CC2A46-8D1D-B9E0-899A-180D236E24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@@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B6088FB0-75A6-06A4-8AF0-E15C620BBB8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4800" y="1368000"/>
            <a:ext cx="11232000" cy="1658842"/>
          </a:xfrm>
        </p:spPr>
        <p:txBody>
          <a:bodyPr anchor="ctr"/>
          <a:lstStyle/>
          <a:p>
            <a:pPr marL="0" indent="0">
              <a:buNone/>
            </a:pPr>
            <a:r>
              <a:rPr lang="en-US" sz="1400" noProof="0" dirty="0"/>
              <a:t>@@</a:t>
            </a:r>
            <a:endParaRPr lang="en-US" sz="1200" noProof="0" dirty="0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A95C2AEC-BEC9-1EBD-9A04-49E608990E6F}"/>
              </a:ext>
            </a:extLst>
          </p:cNvPr>
          <p:cNvSpPr/>
          <p:nvPr/>
        </p:nvSpPr>
        <p:spPr>
          <a:xfrm>
            <a:off x="-270313" y="3154680"/>
            <a:ext cx="9725209" cy="3163320"/>
          </a:xfrm>
          <a:prstGeom prst="roundRect">
            <a:avLst>
              <a:gd name="adj" fmla="val 3161"/>
            </a:avLst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76B3CD47-6CC5-ABA0-E88E-229A68F556D4}"/>
              </a:ext>
            </a:extLst>
          </p:cNvPr>
          <p:cNvSpPr/>
          <p:nvPr/>
        </p:nvSpPr>
        <p:spPr>
          <a:xfrm flipH="1">
            <a:off x="9619488" y="3154680"/>
            <a:ext cx="2724912" cy="3163320"/>
          </a:xfrm>
          <a:prstGeom prst="roundRect">
            <a:avLst>
              <a:gd name="adj" fmla="val 4851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5CA677C-111E-875F-FC17-73BFE1BDFD44}"/>
              </a:ext>
            </a:extLst>
          </p:cNvPr>
          <p:cNvSpPr txBox="1"/>
          <p:nvPr/>
        </p:nvSpPr>
        <p:spPr>
          <a:xfrm>
            <a:off x="-1221448" y="4419492"/>
            <a:ext cx="628847" cy="63344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3.12”</a:t>
            </a:r>
          </a:p>
          <a:p>
            <a:pPr algn="l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9.57"</a:t>
            </a:r>
          </a:p>
        </p:txBody>
      </p:sp>
      <p:sp>
        <p:nvSpPr>
          <p:cNvPr id="35" name="Rounded Rectangle 34">
            <a:extLst>
              <a:ext uri="{FF2B5EF4-FFF2-40B4-BE49-F238E27FC236}">
                <a16:creationId xmlns:a16="http://schemas.microsoft.com/office/drawing/2014/main" id="{EC9BD897-5CC5-0BB3-6FD3-BAF7BD8C8172}"/>
              </a:ext>
            </a:extLst>
          </p:cNvPr>
          <p:cNvSpPr/>
          <p:nvPr/>
        </p:nvSpPr>
        <p:spPr>
          <a:xfrm>
            <a:off x="9777184" y="4883651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E08E60C9-861D-AA85-6F53-430DA8D35704}"/>
              </a:ext>
            </a:extLst>
          </p:cNvPr>
          <p:cNvSpPr/>
          <p:nvPr/>
        </p:nvSpPr>
        <p:spPr>
          <a:xfrm>
            <a:off x="9777184" y="4464888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1169B188-BB78-5F4B-7AE9-E217C61AB23F}"/>
              </a:ext>
            </a:extLst>
          </p:cNvPr>
          <p:cNvSpPr/>
          <p:nvPr/>
        </p:nvSpPr>
        <p:spPr>
          <a:xfrm>
            <a:off x="9777184" y="4046125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F9C640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1370D179-969D-85A0-A06E-413B540E185C}"/>
              </a:ext>
            </a:extLst>
          </p:cNvPr>
          <p:cNvSpPr/>
          <p:nvPr/>
        </p:nvSpPr>
        <p:spPr>
          <a:xfrm>
            <a:off x="9777184" y="3627362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F9C640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7" name="Rounded Rectangle 36">
            <a:extLst>
              <a:ext uri="{FF2B5EF4-FFF2-40B4-BE49-F238E27FC236}">
                <a16:creationId xmlns:a16="http://schemas.microsoft.com/office/drawing/2014/main" id="{7C588636-91AF-B6DF-687D-D36D36ADB260}"/>
              </a:ext>
            </a:extLst>
          </p:cNvPr>
          <p:cNvSpPr/>
          <p:nvPr/>
        </p:nvSpPr>
        <p:spPr>
          <a:xfrm>
            <a:off x="9777184" y="5721177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6" name="Rounded Rectangle 35">
            <a:extLst>
              <a:ext uri="{FF2B5EF4-FFF2-40B4-BE49-F238E27FC236}">
                <a16:creationId xmlns:a16="http://schemas.microsoft.com/office/drawing/2014/main" id="{796BBBD4-2A5F-42AA-0DA7-ACCD2FB4884C}"/>
              </a:ext>
            </a:extLst>
          </p:cNvPr>
          <p:cNvSpPr/>
          <p:nvPr/>
        </p:nvSpPr>
        <p:spPr>
          <a:xfrm>
            <a:off x="9777184" y="5302414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971F45B-97E8-07E8-1BC4-CA3A6C6B05B0}"/>
              </a:ext>
            </a:extLst>
          </p:cNvPr>
          <p:cNvSpPr txBox="1"/>
          <p:nvPr/>
        </p:nvSpPr>
        <p:spPr>
          <a:xfrm>
            <a:off x="11186130" y="4921755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D7BAFC4-5D20-5CA6-5D69-18B2193E27D3}"/>
              </a:ext>
            </a:extLst>
          </p:cNvPr>
          <p:cNvSpPr txBox="1"/>
          <p:nvPr/>
        </p:nvSpPr>
        <p:spPr>
          <a:xfrm>
            <a:off x="11186130" y="4502992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1EC0203-C84B-A017-E50B-D8C562ED72FC}"/>
              </a:ext>
            </a:extLst>
          </p:cNvPr>
          <p:cNvSpPr txBox="1"/>
          <p:nvPr/>
        </p:nvSpPr>
        <p:spPr>
          <a:xfrm>
            <a:off x="11186130" y="5759281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CBF21EE-B664-875B-657B-6A7DE48C1917}"/>
              </a:ext>
            </a:extLst>
          </p:cNvPr>
          <p:cNvSpPr txBox="1"/>
          <p:nvPr/>
        </p:nvSpPr>
        <p:spPr>
          <a:xfrm>
            <a:off x="11186130" y="5340518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11C4FBD-3D07-9CDE-F484-43A77C6E2906}"/>
              </a:ext>
            </a:extLst>
          </p:cNvPr>
          <p:cNvSpPr txBox="1"/>
          <p:nvPr/>
        </p:nvSpPr>
        <p:spPr>
          <a:xfrm>
            <a:off x="11186130" y="4084229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077CE2E-24F6-C868-1DBD-D6231ECF96B9}"/>
              </a:ext>
            </a:extLst>
          </p:cNvPr>
          <p:cNvSpPr txBox="1"/>
          <p:nvPr/>
        </p:nvSpPr>
        <p:spPr>
          <a:xfrm>
            <a:off x="11186130" y="3665466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60" name="Triangle 59">
            <a:extLst>
              <a:ext uri="{FF2B5EF4-FFF2-40B4-BE49-F238E27FC236}">
                <a16:creationId xmlns:a16="http://schemas.microsoft.com/office/drawing/2014/main" id="{895F4F1C-E438-A90D-66C3-33883C267910}"/>
              </a:ext>
            </a:extLst>
          </p:cNvPr>
          <p:cNvSpPr/>
          <p:nvPr/>
        </p:nvSpPr>
        <p:spPr>
          <a:xfrm rot="5400000">
            <a:off x="11223517" y="97630"/>
            <a:ext cx="113704" cy="91353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>
              <a:solidFill>
                <a:schemeClr val="bg1"/>
              </a:solidFill>
            </a:endParaRPr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F53E5021-8F11-D9FB-3522-0AFE679D7E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67839" y="52613"/>
            <a:ext cx="203103" cy="172639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B984F6CC-F2D6-1582-A8C6-28D90AF33E0F}"/>
              </a:ext>
            </a:extLst>
          </p:cNvPr>
          <p:cNvSpPr txBox="1"/>
          <p:nvPr/>
        </p:nvSpPr>
        <p:spPr>
          <a:xfrm>
            <a:off x="9145068" y="10898"/>
            <a:ext cx="2110021" cy="264816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nl-NL" sz="1050" b="1" dirty="0" err="1">
                <a:solidFill>
                  <a:schemeClr val="bg1">
                    <a:lumMod val="75000"/>
                  </a:schemeClr>
                </a:solidFill>
              </a:rPr>
              <a:t>PORTFOLIO_PERIOD_START_DATE</a:t>
            </a:r>
            <a:endParaRPr lang="nl-NL" sz="1050" b="1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D795A87B-AA9C-9615-3498-614A8AEA5CA6}"/>
              </a:ext>
            </a:extLst>
          </p:cNvPr>
          <p:cNvSpPr txBox="1"/>
          <p:nvPr/>
        </p:nvSpPr>
        <p:spPr>
          <a:xfrm>
            <a:off x="11305651" y="10898"/>
            <a:ext cx="1993003" cy="264816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nl-NL" sz="1050" b="1" dirty="0" err="1">
                <a:solidFill>
                  <a:schemeClr val="tx2"/>
                </a:solidFill>
              </a:rPr>
              <a:t>PORTFOLIO_PERIOD_END_DATE</a:t>
            </a:r>
            <a:endParaRPr lang="nl-NL" sz="1050" b="1" dirty="0">
              <a:solidFill>
                <a:schemeClr val="tx2"/>
              </a:solidFill>
            </a:endParaRP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B3E92728-75A1-5016-FA53-C251593711D8}"/>
              </a:ext>
            </a:extLst>
          </p:cNvPr>
          <p:cNvGrpSpPr>
            <a:grpSpLocks noChangeAspect="1"/>
          </p:cNvGrpSpPr>
          <p:nvPr/>
        </p:nvGrpSpPr>
        <p:grpSpPr>
          <a:xfrm>
            <a:off x="-392105" y="2517185"/>
            <a:ext cx="98115" cy="92576"/>
            <a:chOff x="-331054" y="2564812"/>
            <a:chExt cx="141517" cy="133528"/>
          </a:xfrm>
          <a:solidFill>
            <a:srgbClr val="57C968"/>
          </a:solidFill>
        </p:grpSpPr>
        <p:sp>
          <p:nvSpPr>
            <p:cNvPr id="65" name="Freeform 64">
              <a:extLst>
                <a:ext uri="{FF2B5EF4-FFF2-40B4-BE49-F238E27FC236}">
                  <a16:creationId xmlns:a16="http://schemas.microsoft.com/office/drawing/2014/main" id="{12414985-6172-43CD-D1A0-11BAA4B5E493}"/>
                </a:ext>
              </a:extLst>
            </p:cNvPr>
            <p:cNvSpPr/>
            <p:nvPr/>
          </p:nvSpPr>
          <p:spPr>
            <a:xfrm>
              <a:off x="-331054" y="2564812"/>
              <a:ext cx="141517" cy="82436"/>
            </a:xfrm>
            <a:custGeom>
              <a:avLst/>
              <a:gdLst>
                <a:gd name="connsiteX0" fmla="*/ 70759 w 141517"/>
                <a:gd name="connsiteY0" fmla="*/ 0 h 82436"/>
                <a:gd name="connsiteX1" fmla="*/ 141517 w 141517"/>
                <a:gd name="connsiteY1" fmla="*/ 82436 h 82436"/>
                <a:gd name="connsiteX2" fmla="*/ 111805 w 141517"/>
                <a:gd name="connsiteY2" fmla="*/ 82436 h 82436"/>
                <a:gd name="connsiteX3" fmla="*/ 70759 w 141517"/>
                <a:gd name="connsiteY3" fmla="*/ 34616 h 82436"/>
                <a:gd name="connsiteX4" fmla="*/ 29713 w 141517"/>
                <a:gd name="connsiteY4" fmla="*/ 82436 h 82436"/>
                <a:gd name="connsiteX5" fmla="*/ 0 w 141517"/>
                <a:gd name="connsiteY5" fmla="*/ 82436 h 824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1517" h="82436">
                  <a:moveTo>
                    <a:pt x="70759" y="0"/>
                  </a:moveTo>
                  <a:lnTo>
                    <a:pt x="141517" y="82436"/>
                  </a:lnTo>
                  <a:lnTo>
                    <a:pt x="111805" y="82436"/>
                  </a:lnTo>
                  <a:lnTo>
                    <a:pt x="70759" y="34616"/>
                  </a:lnTo>
                  <a:lnTo>
                    <a:pt x="29713" y="82436"/>
                  </a:lnTo>
                  <a:lnTo>
                    <a:pt x="0" y="82436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  <p:sp>
          <p:nvSpPr>
            <p:cNvPr id="66" name="Triangle 65">
              <a:extLst>
                <a:ext uri="{FF2B5EF4-FFF2-40B4-BE49-F238E27FC236}">
                  <a16:creationId xmlns:a16="http://schemas.microsoft.com/office/drawing/2014/main" id="{8E5B1B82-ADD4-55C5-DC2F-D122CCB2B170}"/>
                </a:ext>
              </a:extLst>
            </p:cNvPr>
            <p:cNvSpPr/>
            <p:nvPr/>
          </p:nvSpPr>
          <p:spPr>
            <a:xfrm>
              <a:off x="-331054" y="2615904"/>
              <a:ext cx="141517" cy="82436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2986F345-FAD8-1285-16C6-76CBE1A846C4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-392106" y="2948284"/>
            <a:ext cx="98115" cy="92576"/>
            <a:chOff x="-331054" y="2564812"/>
            <a:chExt cx="141517" cy="133528"/>
          </a:xfrm>
          <a:solidFill>
            <a:srgbClr val="FFC000"/>
          </a:solidFill>
        </p:grpSpPr>
        <p:sp>
          <p:nvSpPr>
            <p:cNvPr id="68" name="Freeform 67">
              <a:extLst>
                <a:ext uri="{FF2B5EF4-FFF2-40B4-BE49-F238E27FC236}">
                  <a16:creationId xmlns:a16="http://schemas.microsoft.com/office/drawing/2014/main" id="{DBA12BEC-C460-C9C3-B5F4-BE5100CE3C96}"/>
                </a:ext>
              </a:extLst>
            </p:cNvPr>
            <p:cNvSpPr/>
            <p:nvPr/>
          </p:nvSpPr>
          <p:spPr>
            <a:xfrm>
              <a:off x="-331054" y="2564812"/>
              <a:ext cx="141517" cy="82436"/>
            </a:xfrm>
            <a:custGeom>
              <a:avLst/>
              <a:gdLst>
                <a:gd name="connsiteX0" fmla="*/ 70759 w 141517"/>
                <a:gd name="connsiteY0" fmla="*/ 0 h 82436"/>
                <a:gd name="connsiteX1" fmla="*/ 141517 w 141517"/>
                <a:gd name="connsiteY1" fmla="*/ 82436 h 82436"/>
                <a:gd name="connsiteX2" fmla="*/ 111805 w 141517"/>
                <a:gd name="connsiteY2" fmla="*/ 82436 h 82436"/>
                <a:gd name="connsiteX3" fmla="*/ 70759 w 141517"/>
                <a:gd name="connsiteY3" fmla="*/ 34616 h 82436"/>
                <a:gd name="connsiteX4" fmla="*/ 29713 w 141517"/>
                <a:gd name="connsiteY4" fmla="*/ 82436 h 82436"/>
                <a:gd name="connsiteX5" fmla="*/ 0 w 141517"/>
                <a:gd name="connsiteY5" fmla="*/ 82436 h 824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1517" h="82436">
                  <a:moveTo>
                    <a:pt x="70759" y="0"/>
                  </a:moveTo>
                  <a:lnTo>
                    <a:pt x="141517" y="82436"/>
                  </a:lnTo>
                  <a:lnTo>
                    <a:pt x="111805" y="82436"/>
                  </a:lnTo>
                  <a:lnTo>
                    <a:pt x="70759" y="34616"/>
                  </a:lnTo>
                  <a:lnTo>
                    <a:pt x="29713" y="82436"/>
                  </a:lnTo>
                  <a:lnTo>
                    <a:pt x="0" y="82436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  <p:sp>
          <p:nvSpPr>
            <p:cNvPr id="69" name="Triangle 68">
              <a:extLst>
                <a:ext uri="{FF2B5EF4-FFF2-40B4-BE49-F238E27FC236}">
                  <a16:creationId xmlns:a16="http://schemas.microsoft.com/office/drawing/2014/main" id="{6E5E6DD1-4145-AB4F-5DAB-D1471F1DD092}"/>
                </a:ext>
              </a:extLst>
            </p:cNvPr>
            <p:cNvSpPr/>
            <p:nvPr/>
          </p:nvSpPr>
          <p:spPr>
            <a:xfrm>
              <a:off x="-331054" y="2615904"/>
              <a:ext cx="141517" cy="82436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</p:grpSp>
      <p:sp>
        <p:nvSpPr>
          <p:cNvPr id="72" name="TextBox 71">
            <a:extLst>
              <a:ext uri="{FF2B5EF4-FFF2-40B4-BE49-F238E27FC236}">
                <a16:creationId xmlns:a16="http://schemas.microsoft.com/office/drawing/2014/main" id="{EE3A61A7-D12A-DBFF-E070-23A8246878F4}"/>
              </a:ext>
            </a:extLst>
          </p:cNvPr>
          <p:cNvSpPr txBox="1"/>
          <p:nvPr/>
        </p:nvSpPr>
        <p:spPr>
          <a:xfrm>
            <a:off x="9777184" y="3305030"/>
            <a:ext cx="579667" cy="322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400" b="1" dirty="0">
                <a:solidFill>
                  <a:schemeClr val="tx2"/>
                </a:solidFill>
              </a:rPr>
              <a:t>Team</a:t>
            </a:r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7A00A032-720A-A938-CD54-07D654F3C45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838256" y="6071736"/>
            <a:ext cx="371130" cy="206558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5B8CD629-B159-F115-70E3-983CFD3F3A2E}"/>
              </a:ext>
            </a:extLst>
          </p:cNvPr>
          <p:cNvSpPr/>
          <p:nvPr/>
        </p:nvSpPr>
        <p:spPr>
          <a:xfrm>
            <a:off x="512064" y="3200400"/>
            <a:ext cx="8750808" cy="2843784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PORTFOLIO_PERIOD_SECURITY_RATINGS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301991B-B862-0EFA-EF73-1CABCA0EFFB5}"/>
              </a:ext>
            </a:extLst>
          </p:cNvPr>
          <p:cNvSpPr txBox="1"/>
          <p:nvPr/>
        </p:nvSpPr>
        <p:spPr>
          <a:xfrm>
            <a:off x="2643466" y="60547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accent3"/>
                </a:solidFill>
              </a:rPr>
              <a:t>Systems grouped by </a:t>
            </a:r>
            <a:r>
              <a:rPr lang="en-US" sz="800" b="1" dirty="0">
                <a:solidFill>
                  <a:schemeClr val="accent3"/>
                </a:solidFill>
              </a:rPr>
              <a:t>Team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97BD9E38-8E8F-2F47-EBCC-E2056CCB0884}"/>
              </a:ext>
            </a:extLst>
          </p:cNvPr>
          <p:cNvGrpSpPr/>
          <p:nvPr/>
        </p:nvGrpSpPr>
        <p:grpSpPr>
          <a:xfrm>
            <a:off x="516802" y="6117354"/>
            <a:ext cx="300732" cy="98617"/>
            <a:chOff x="586253" y="6116391"/>
            <a:chExt cx="300732" cy="98617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81F9E506-1D4B-0427-C538-A70A96AAC852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13" name="Rounded Rectangle 12">
              <a:extLst>
                <a:ext uri="{FF2B5EF4-FFF2-40B4-BE49-F238E27FC236}">
                  <a16:creationId xmlns:a16="http://schemas.microsoft.com/office/drawing/2014/main" id="{333AC463-8BC4-E8E3-4A67-A90F4834994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C0403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4C0DA11D-4AAC-9261-CF98-0410B69CB9C5}"/>
              </a:ext>
            </a:extLst>
          </p:cNvPr>
          <p:cNvGrpSpPr/>
          <p:nvPr/>
        </p:nvGrpSpPr>
        <p:grpSpPr>
          <a:xfrm>
            <a:off x="934179" y="6117354"/>
            <a:ext cx="331190" cy="98617"/>
            <a:chOff x="961765" y="6117353"/>
            <a:chExt cx="331190" cy="98617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B354C010-2C13-6AB9-0A36-3C62C558A6CE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18" name="Rounded Rectangle 17">
              <a:extLst>
                <a:ext uri="{FF2B5EF4-FFF2-40B4-BE49-F238E27FC236}">
                  <a16:creationId xmlns:a16="http://schemas.microsoft.com/office/drawing/2014/main" id="{27E03CA4-6785-33F3-CB9B-FD964C866D2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EF981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96A60979-6D38-E7FF-0653-CE22466F3298}"/>
              </a:ext>
            </a:extLst>
          </p:cNvPr>
          <p:cNvGrpSpPr/>
          <p:nvPr/>
        </p:nvGrpSpPr>
        <p:grpSpPr>
          <a:xfrm>
            <a:off x="1382015" y="6117354"/>
            <a:ext cx="331190" cy="98617"/>
            <a:chOff x="1114165" y="6269753"/>
            <a:chExt cx="331190" cy="98617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48491FD7-42D1-6A8E-CC31-85935C3C1E65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21" name="Rounded Rectangle 20">
              <a:extLst>
                <a:ext uri="{FF2B5EF4-FFF2-40B4-BE49-F238E27FC236}">
                  <a16:creationId xmlns:a16="http://schemas.microsoft.com/office/drawing/2014/main" id="{50A1DE28-F3BA-475E-4572-074BADB413B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9C64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E35995C8-4370-67FD-9DC9-539FCC2F1685}"/>
              </a:ext>
            </a:extLst>
          </p:cNvPr>
          <p:cNvGrpSpPr/>
          <p:nvPr/>
        </p:nvGrpSpPr>
        <p:grpSpPr>
          <a:xfrm>
            <a:off x="1829851" y="6117354"/>
            <a:ext cx="331190" cy="98617"/>
            <a:chOff x="1114165" y="6269753"/>
            <a:chExt cx="331190" cy="98617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0AB831AC-1159-76A9-D244-2BAE164D824C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24" name="Rounded Rectangle 23">
              <a:extLst>
                <a:ext uri="{FF2B5EF4-FFF2-40B4-BE49-F238E27FC236}">
                  <a16:creationId xmlns:a16="http://schemas.microsoft.com/office/drawing/2014/main" id="{E7762DA0-4411-F242-1F8A-37857244C6A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57C96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26ABF5B0-1B48-D2F0-A03B-627A5BD3C359}"/>
              </a:ext>
            </a:extLst>
          </p:cNvPr>
          <p:cNvGrpSpPr/>
          <p:nvPr/>
        </p:nvGrpSpPr>
        <p:grpSpPr>
          <a:xfrm>
            <a:off x="2277686" y="6117354"/>
            <a:ext cx="331190" cy="98617"/>
            <a:chOff x="1114165" y="6269753"/>
            <a:chExt cx="331190" cy="98617"/>
          </a:xfrm>
        </p:grpSpPr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03D2ECB5-3381-6192-75B4-847C1A38CB73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27" name="Rounded Rectangle 26">
              <a:extLst>
                <a:ext uri="{FF2B5EF4-FFF2-40B4-BE49-F238E27FC236}">
                  <a16:creationId xmlns:a16="http://schemas.microsoft.com/office/drawing/2014/main" id="{84B338EE-D205-848D-1E5A-77EB022FCEC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2C963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3897530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008932-67FE-3479-AEE1-B79D9C3C59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ABDCAA79-36DA-0C0E-7EC3-23BEA35C7716}"/>
              </a:ext>
            </a:extLst>
          </p:cNvPr>
          <p:cNvSpPr/>
          <p:nvPr/>
        </p:nvSpPr>
        <p:spPr>
          <a:xfrm flipH="1">
            <a:off x="0" y="1368000"/>
            <a:ext cx="12192000" cy="1658842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9741DF7-A2F7-DE2C-4980-7DA07FA9D51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18</a:t>
            </a:fld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F4D386A-EB7E-8B9F-F213-5AAB72238BE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Findings – </a:t>
            </a:r>
            <a:r>
              <a:rPr lang="en-US" dirty="0">
                <a:solidFill>
                  <a:schemeClr val="accent3"/>
                </a:solidFill>
              </a:rPr>
              <a:t>SECURITY </a:t>
            </a:r>
            <a:r>
              <a:rPr lang="en-US" dirty="0"/>
              <a:t>– </a:t>
            </a:r>
            <a:r>
              <a:rPr lang="en-US" dirty="0">
                <a:solidFill>
                  <a:schemeClr val="accent3"/>
                </a:solidFill>
              </a:rPr>
              <a:t>FINDINGS TREND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0CB3DF4B-7F1B-6565-0112-AF77D9AE5E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@@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AA92ECD-1BDA-FBEF-7C64-ECD0BA7B4BA3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4800" y="1368000"/>
            <a:ext cx="11232000" cy="1658842"/>
          </a:xfrm>
        </p:spPr>
        <p:txBody>
          <a:bodyPr anchor="ctr"/>
          <a:lstStyle/>
          <a:p>
            <a:pPr marL="0" indent="0">
              <a:buNone/>
            </a:pPr>
            <a:r>
              <a:rPr lang="en-US" sz="1400" noProof="0" dirty="0"/>
              <a:t>@@</a:t>
            </a:r>
            <a:endParaRPr lang="en-US" sz="1200" noProof="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F7F77EA-7E26-BE49-1757-A4CD9A5566EB}"/>
              </a:ext>
            </a:extLst>
          </p:cNvPr>
          <p:cNvSpPr txBox="1"/>
          <p:nvPr/>
        </p:nvSpPr>
        <p:spPr>
          <a:xfrm>
            <a:off x="-1221448" y="4419492"/>
            <a:ext cx="628847" cy="63344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3.12”</a:t>
            </a:r>
          </a:p>
          <a:p>
            <a:pPr algn="l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9.57"</a:t>
            </a:r>
          </a:p>
        </p:txBody>
      </p:sp>
      <p:sp>
        <p:nvSpPr>
          <p:cNvPr id="60" name="Triangle 59">
            <a:extLst>
              <a:ext uri="{FF2B5EF4-FFF2-40B4-BE49-F238E27FC236}">
                <a16:creationId xmlns:a16="http://schemas.microsoft.com/office/drawing/2014/main" id="{0E164206-2345-E6D1-3746-641DBCAA683B}"/>
              </a:ext>
            </a:extLst>
          </p:cNvPr>
          <p:cNvSpPr/>
          <p:nvPr/>
        </p:nvSpPr>
        <p:spPr>
          <a:xfrm rot="5400000">
            <a:off x="11223517" y="97630"/>
            <a:ext cx="113704" cy="91353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>
              <a:solidFill>
                <a:schemeClr val="bg1"/>
              </a:solidFill>
            </a:endParaRPr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6786EE57-08F8-578E-A94E-4382E2E675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67839" y="52613"/>
            <a:ext cx="203103" cy="172639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9DD3010D-284B-FFE8-00DA-5B6B519F38C7}"/>
              </a:ext>
            </a:extLst>
          </p:cNvPr>
          <p:cNvSpPr txBox="1"/>
          <p:nvPr/>
        </p:nvSpPr>
        <p:spPr>
          <a:xfrm>
            <a:off x="9145068" y="10898"/>
            <a:ext cx="2110021" cy="264816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nl-NL" sz="1050" b="1" dirty="0" err="1">
                <a:solidFill>
                  <a:schemeClr val="bg1">
                    <a:lumMod val="75000"/>
                  </a:schemeClr>
                </a:solidFill>
              </a:rPr>
              <a:t>PORTFOLIO_PERIOD_START_DATE</a:t>
            </a:r>
            <a:endParaRPr lang="nl-NL" sz="1050" b="1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AAF65DDF-8D18-FC3B-861E-407B8366FA77}"/>
              </a:ext>
            </a:extLst>
          </p:cNvPr>
          <p:cNvSpPr txBox="1"/>
          <p:nvPr/>
        </p:nvSpPr>
        <p:spPr>
          <a:xfrm>
            <a:off x="11305651" y="10898"/>
            <a:ext cx="1993003" cy="264816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nl-NL" sz="1050" b="1" dirty="0" err="1">
                <a:solidFill>
                  <a:schemeClr val="tx2"/>
                </a:solidFill>
              </a:rPr>
              <a:t>PORTFOLIO_PERIOD_END_DATE</a:t>
            </a:r>
            <a:endParaRPr lang="nl-NL" sz="1050" b="1" dirty="0">
              <a:solidFill>
                <a:schemeClr val="tx2"/>
              </a:solidFill>
            </a:endParaRP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C15C3881-1CF2-F1D2-4215-9BE451E8DB22}"/>
              </a:ext>
            </a:extLst>
          </p:cNvPr>
          <p:cNvGrpSpPr>
            <a:grpSpLocks noChangeAspect="1"/>
          </p:cNvGrpSpPr>
          <p:nvPr/>
        </p:nvGrpSpPr>
        <p:grpSpPr>
          <a:xfrm>
            <a:off x="-392105" y="2517185"/>
            <a:ext cx="98115" cy="92576"/>
            <a:chOff x="-331054" y="2564812"/>
            <a:chExt cx="141517" cy="133528"/>
          </a:xfrm>
          <a:solidFill>
            <a:srgbClr val="57C968"/>
          </a:solidFill>
        </p:grpSpPr>
        <p:sp>
          <p:nvSpPr>
            <p:cNvPr id="65" name="Freeform 64">
              <a:extLst>
                <a:ext uri="{FF2B5EF4-FFF2-40B4-BE49-F238E27FC236}">
                  <a16:creationId xmlns:a16="http://schemas.microsoft.com/office/drawing/2014/main" id="{0301DAEA-569B-4BFD-ADCC-7840C9E2C91C}"/>
                </a:ext>
              </a:extLst>
            </p:cNvPr>
            <p:cNvSpPr/>
            <p:nvPr/>
          </p:nvSpPr>
          <p:spPr>
            <a:xfrm>
              <a:off x="-331054" y="2564812"/>
              <a:ext cx="141517" cy="82436"/>
            </a:xfrm>
            <a:custGeom>
              <a:avLst/>
              <a:gdLst>
                <a:gd name="connsiteX0" fmla="*/ 70759 w 141517"/>
                <a:gd name="connsiteY0" fmla="*/ 0 h 82436"/>
                <a:gd name="connsiteX1" fmla="*/ 141517 w 141517"/>
                <a:gd name="connsiteY1" fmla="*/ 82436 h 82436"/>
                <a:gd name="connsiteX2" fmla="*/ 111805 w 141517"/>
                <a:gd name="connsiteY2" fmla="*/ 82436 h 82436"/>
                <a:gd name="connsiteX3" fmla="*/ 70759 w 141517"/>
                <a:gd name="connsiteY3" fmla="*/ 34616 h 82436"/>
                <a:gd name="connsiteX4" fmla="*/ 29713 w 141517"/>
                <a:gd name="connsiteY4" fmla="*/ 82436 h 82436"/>
                <a:gd name="connsiteX5" fmla="*/ 0 w 141517"/>
                <a:gd name="connsiteY5" fmla="*/ 82436 h 824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1517" h="82436">
                  <a:moveTo>
                    <a:pt x="70759" y="0"/>
                  </a:moveTo>
                  <a:lnTo>
                    <a:pt x="141517" y="82436"/>
                  </a:lnTo>
                  <a:lnTo>
                    <a:pt x="111805" y="82436"/>
                  </a:lnTo>
                  <a:lnTo>
                    <a:pt x="70759" y="34616"/>
                  </a:lnTo>
                  <a:lnTo>
                    <a:pt x="29713" y="82436"/>
                  </a:lnTo>
                  <a:lnTo>
                    <a:pt x="0" y="82436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  <p:sp>
          <p:nvSpPr>
            <p:cNvPr id="66" name="Triangle 65">
              <a:extLst>
                <a:ext uri="{FF2B5EF4-FFF2-40B4-BE49-F238E27FC236}">
                  <a16:creationId xmlns:a16="http://schemas.microsoft.com/office/drawing/2014/main" id="{BF2D4EA4-AC1B-DA7D-2EDB-28604D9FA58C}"/>
                </a:ext>
              </a:extLst>
            </p:cNvPr>
            <p:cNvSpPr/>
            <p:nvPr/>
          </p:nvSpPr>
          <p:spPr>
            <a:xfrm>
              <a:off x="-331054" y="2615904"/>
              <a:ext cx="141517" cy="82436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A5B5F588-AE14-1A44-72CB-7290D2B83CA1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-392106" y="2948284"/>
            <a:ext cx="98115" cy="92576"/>
            <a:chOff x="-331054" y="2564812"/>
            <a:chExt cx="141517" cy="133528"/>
          </a:xfrm>
          <a:solidFill>
            <a:srgbClr val="FFC000"/>
          </a:solidFill>
        </p:grpSpPr>
        <p:sp>
          <p:nvSpPr>
            <p:cNvPr id="68" name="Freeform 67">
              <a:extLst>
                <a:ext uri="{FF2B5EF4-FFF2-40B4-BE49-F238E27FC236}">
                  <a16:creationId xmlns:a16="http://schemas.microsoft.com/office/drawing/2014/main" id="{64C617FB-D78D-A196-6ADD-360D8179B451}"/>
                </a:ext>
              </a:extLst>
            </p:cNvPr>
            <p:cNvSpPr/>
            <p:nvPr/>
          </p:nvSpPr>
          <p:spPr>
            <a:xfrm>
              <a:off x="-331054" y="2564812"/>
              <a:ext cx="141517" cy="82436"/>
            </a:xfrm>
            <a:custGeom>
              <a:avLst/>
              <a:gdLst>
                <a:gd name="connsiteX0" fmla="*/ 70759 w 141517"/>
                <a:gd name="connsiteY0" fmla="*/ 0 h 82436"/>
                <a:gd name="connsiteX1" fmla="*/ 141517 w 141517"/>
                <a:gd name="connsiteY1" fmla="*/ 82436 h 82436"/>
                <a:gd name="connsiteX2" fmla="*/ 111805 w 141517"/>
                <a:gd name="connsiteY2" fmla="*/ 82436 h 82436"/>
                <a:gd name="connsiteX3" fmla="*/ 70759 w 141517"/>
                <a:gd name="connsiteY3" fmla="*/ 34616 h 82436"/>
                <a:gd name="connsiteX4" fmla="*/ 29713 w 141517"/>
                <a:gd name="connsiteY4" fmla="*/ 82436 h 82436"/>
                <a:gd name="connsiteX5" fmla="*/ 0 w 141517"/>
                <a:gd name="connsiteY5" fmla="*/ 82436 h 824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1517" h="82436">
                  <a:moveTo>
                    <a:pt x="70759" y="0"/>
                  </a:moveTo>
                  <a:lnTo>
                    <a:pt x="141517" y="82436"/>
                  </a:lnTo>
                  <a:lnTo>
                    <a:pt x="111805" y="82436"/>
                  </a:lnTo>
                  <a:lnTo>
                    <a:pt x="70759" y="34616"/>
                  </a:lnTo>
                  <a:lnTo>
                    <a:pt x="29713" y="82436"/>
                  </a:lnTo>
                  <a:lnTo>
                    <a:pt x="0" y="82436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  <p:sp>
          <p:nvSpPr>
            <p:cNvPr id="69" name="Triangle 68">
              <a:extLst>
                <a:ext uri="{FF2B5EF4-FFF2-40B4-BE49-F238E27FC236}">
                  <a16:creationId xmlns:a16="http://schemas.microsoft.com/office/drawing/2014/main" id="{3663B325-18F9-3426-D584-BA9F7DB8CABE}"/>
                </a:ext>
              </a:extLst>
            </p:cNvPr>
            <p:cNvSpPr/>
            <p:nvPr/>
          </p:nvSpPr>
          <p:spPr>
            <a:xfrm>
              <a:off x="-331054" y="2615904"/>
              <a:ext cx="141517" cy="82436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</p:grpSp>
      <p:sp>
        <p:nvSpPr>
          <p:cNvPr id="32" name="Rectangle 31">
            <a:extLst>
              <a:ext uri="{FF2B5EF4-FFF2-40B4-BE49-F238E27FC236}">
                <a16:creationId xmlns:a16="http://schemas.microsoft.com/office/drawing/2014/main" id="{B04A86CB-042C-A526-AA66-032348B7C9D9}"/>
              </a:ext>
            </a:extLst>
          </p:cNvPr>
          <p:cNvSpPr/>
          <p:nvPr/>
        </p:nvSpPr>
        <p:spPr>
          <a:xfrm>
            <a:off x="1" y="3154680"/>
            <a:ext cx="12191999" cy="3163320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49" name="Rounded Rectangle 48">
            <a:extLst>
              <a:ext uri="{FF2B5EF4-FFF2-40B4-BE49-F238E27FC236}">
                <a16:creationId xmlns:a16="http://schemas.microsoft.com/office/drawing/2014/main" id="{CD49DD0C-66C3-9266-E636-A03AE7C9DFA7}"/>
              </a:ext>
            </a:extLst>
          </p:cNvPr>
          <p:cNvSpPr/>
          <p:nvPr/>
        </p:nvSpPr>
        <p:spPr>
          <a:xfrm>
            <a:off x="207002" y="3495726"/>
            <a:ext cx="11984997" cy="2575216"/>
          </a:xfrm>
          <a:prstGeom prst="roundRect">
            <a:avLst>
              <a:gd name="adj" fmla="val 7068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lIns="0" tIns="73152" rIns="0" bIns="73152" rtlCol="0" anchor="t"/>
          <a:lstStyle/>
          <a:p>
            <a:pPr algn="ctr"/>
            <a:r>
              <a:rPr lang="en-US" sz="1200" b="1" noProof="0" dirty="0">
                <a:solidFill>
                  <a:schemeClr val="accent1"/>
                </a:solidFill>
              </a:rPr>
              <a:t>Open and resolved findings</a:t>
            </a:r>
          </a:p>
        </p:txBody>
      </p:sp>
      <p:pic>
        <p:nvPicPr>
          <p:cNvPr id="34" name="Graphic 33">
            <a:extLst>
              <a:ext uri="{FF2B5EF4-FFF2-40B4-BE49-F238E27FC236}">
                <a16:creationId xmlns:a16="http://schemas.microsoft.com/office/drawing/2014/main" id="{B102D423-A941-90C8-5743-AA30ED2966A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773775" y="5803314"/>
            <a:ext cx="371130" cy="206558"/>
          </a:xfrm>
          <a:prstGeom prst="rect">
            <a:avLst/>
          </a:prstGeom>
        </p:spPr>
      </p:pic>
      <p:sp>
        <p:nvSpPr>
          <p:cNvPr id="46" name="Rounded Rectangle 45">
            <a:extLst>
              <a:ext uri="{FF2B5EF4-FFF2-40B4-BE49-F238E27FC236}">
                <a16:creationId xmlns:a16="http://schemas.microsoft.com/office/drawing/2014/main" id="{67C0D00E-17C9-7B3E-1EE5-6A1653E68281}"/>
              </a:ext>
            </a:extLst>
          </p:cNvPr>
          <p:cNvSpPr/>
          <p:nvPr/>
        </p:nvSpPr>
        <p:spPr>
          <a:xfrm flipH="1">
            <a:off x="609944" y="3237334"/>
            <a:ext cx="3612958" cy="2953323"/>
          </a:xfrm>
          <a:prstGeom prst="roundRect">
            <a:avLst>
              <a:gd name="adj" fmla="val 3988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nl-NL" sz="1200" b="1" noProof="0" dirty="0">
                <a:solidFill>
                  <a:srgbClr val="910714"/>
                </a:solidFill>
              </a:rPr>
              <a:t>Critical</a:t>
            </a:r>
          </a:p>
        </p:txBody>
      </p:sp>
      <p:sp>
        <p:nvSpPr>
          <p:cNvPr id="47" name="Rounded Rectangle 46">
            <a:extLst>
              <a:ext uri="{FF2B5EF4-FFF2-40B4-BE49-F238E27FC236}">
                <a16:creationId xmlns:a16="http://schemas.microsoft.com/office/drawing/2014/main" id="{687937C5-61E6-B270-981B-2D0C53A4713E}"/>
              </a:ext>
            </a:extLst>
          </p:cNvPr>
          <p:cNvSpPr/>
          <p:nvPr/>
        </p:nvSpPr>
        <p:spPr>
          <a:xfrm flipH="1">
            <a:off x="4373475" y="3237334"/>
            <a:ext cx="3610810" cy="2953323"/>
          </a:xfrm>
          <a:prstGeom prst="roundRect">
            <a:avLst>
              <a:gd name="adj" fmla="val 3987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nl-NL" sz="1200" b="1" noProof="0" dirty="0">
                <a:solidFill>
                  <a:srgbClr val="DB4A3D"/>
                </a:solidFill>
              </a:rPr>
              <a:t>High</a:t>
            </a:r>
          </a:p>
        </p:txBody>
      </p:sp>
      <p:sp>
        <p:nvSpPr>
          <p:cNvPr id="48" name="Rounded Rectangle 47">
            <a:extLst>
              <a:ext uri="{FF2B5EF4-FFF2-40B4-BE49-F238E27FC236}">
                <a16:creationId xmlns:a16="http://schemas.microsoft.com/office/drawing/2014/main" id="{425C641F-B66E-DC80-C38D-822A10B95814}"/>
              </a:ext>
            </a:extLst>
          </p:cNvPr>
          <p:cNvSpPr/>
          <p:nvPr/>
        </p:nvSpPr>
        <p:spPr>
          <a:xfrm flipH="1">
            <a:off x="8134857" y="3237334"/>
            <a:ext cx="3610810" cy="2953323"/>
          </a:xfrm>
          <a:prstGeom prst="roundRect">
            <a:avLst>
              <a:gd name="adj" fmla="val 3837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nl-NL" sz="1200" b="1" noProof="0" dirty="0">
                <a:solidFill>
                  <a:srgbClr val="F09819"/>
                </a:solidFill>
              </a:rPr>
              <a:t>Medium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D5B4458-7A18-6975-596A-37B01EA5C4A6}"/>
              </a:ext>
            </a:extLst>
          </p:cNvPr>
          <p:cNvSpPr/>
          <p:nvPr/>
        </p:nvSpPr>
        <p:spPr>
          <a:xfrm>
            <a:off x="766866" y="3612456"/>
            <a:ext cx="3299114" cy="2341757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PORTFOLIO_PERIOD_SECURITY_DASHBOARD_CRITICAL_FINDINGS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1F42F13-AC84-E68B-5231-2D1D16BF93F2}"/>
              </a:ext>
            </a:extLst>
          </p:cNvPr>
          <p:cNvSpPr/>
          <p:nvPr/>
        </p:nvSpPr>
        <p:spPr>
          <a:xfrm>
            <a:off x="4529323" y="3612456"/>
            <a:ext cx="3299114" cy="2341757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PORTFOLIO_PERIOD_SECURITY_DASHBOARD_HIGH_FINDINGS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0258737-222F-2C4D-7BF4-52200E9C6818}"/>
              </a:ext>
            </a:extLst>
          </p:cNvPr>
          <p:cNvSpPr/>
          <p:nvPr/>
        </p:nvSpPr>
        <p:spPr>
          <a:xfrm>
            <a:off x="8290705" y="3612456"/>
            <a:ext cx="3299114" cy="2341757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PORTFOLIO_PERIOD_SECURITY_DASHBOARD_MEDIUM_FINDINGS</a:t>
            </a:r>
            <a:endParaRPr lang="en-US" sz="16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9796464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008932-67FE-3479-AEE1-B79D9C3C59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ABDCAA79-36DA-0C0E-7EC3-23BEA35C7716}"/>
              </a:ext>
            </a:extLst>
          </p:cNvPr>
          <p:cNvSpPr/>
          <p:nvPr/>
        </p:nvSpPr>
        <p:spPr>
          <a:xfrm flipH="1">
            <a:off x="0" y="1368000"/>
            <a:ext cx="12192000" cy="1658842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9741DF7-A2F7-DE2C-4980-7DA07FA9D51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19</a:t>
            </a:fld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F4D386A-EB7E-8B9F-F213-5AAB72238BE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Findings – </a:t>
            </a:r>
            <a:r>
              <a:rPr lang="en-US" dirty="0">
                <a:solidFill>
                  <a:schemeClr val="accent3"/>
                </a:solidFill>
              </a:rPr>
              <a:t>SECURITY </a:t>
            </a:r>
            <a:r>
              <a:rPr lang="en-US" dirty="0"/>
              <a:t>– </a:t>
            </a:r>
            <a:r>
              <a:rPr lang="en-US" dirty="0">
                <a:solidFill>
                  <a:schemeClr val="accent3"/>
                </a:solidFill>
              </a:rPr>
              <a:t>RESOLUTION TIMES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0CB3DF4B-7F1B-6565-0112-AF77D9AE5E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@@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AA92ECD-1BDA-FBEF-7C64-ECD0BA7B4BA3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4800" y="1368000"/>
            <a:ext cx="11232000" cy="1658842"/>
          </a:xfrm>
        </p:spPr>
        <p:txBody>
          <a:bodyPr anchor="ctr"/>
          <a:lstStyle/>
          <a:p>
            <a:pPr marL="0" indent="0">
              <a:buNone/>
            </a:pPr>
            <a:r>
              <a:rPr lang="en-US" sz="1400" noProof="0" dirty="0"/>
              <a:t>@@</a:t>
            </a:r>
            <a:endParaRPr lang="en-US" sz="1200" noProof="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F7F77EA-7E26-BE49-1757-A4CD9A5566EB}"/>
              </a:ext>
            </a:extLst>
          </p:cNvPr>
          <p:cNvSpPr txBox="1"/>
          <p:nvPr/>
        </p:nvSpPr>
        <p:spPr>
          <a:xfrm>
            <a:off x="-1221448" y="4419492"/>
            <a:ext cx="628847" cy="63344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3.12”</a:t>
            </a:r>
          </a:p>
          <a:p>
            <a:pPr algn="l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9.57"</a:t>
            </a:r>
          </a:p>
        </p:txBody>
      </p:sp>
      <p:sp>
        <p:nvSpPr>
          <p:cNvPr id="60" name="Triangle 59">
            <a:extLst>
              <a:ext uri="{FF2B5EF4-FFF2-40B4-BE49-F238E27FC236}">
                <a16:creationId xmlns:a16="http://schemas.microsoft.com/office/drawing/2014/main" id="{0E164206-2345-E6D1-3746-641DBCAA683B}"/>
              </a:ext>
            </a:extLst>
          </p:cNvPr>
          <p:cNvSpPr/>
          <p:nvPr/>
        </p:nvSpPr>
        <p:spPr>
          <a:xfrm rot="5400000">
            <a:off x="11223517" y="97630"/>
            <a:ext cx="113704" cy="91353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>
              <a:solidFill>
                <a:schemeClr val="bg1"/>
              </a:solidFill>
            </a:endParaRPr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6786EE57-08F8-578E-A94E-4382E2E675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67839" y="52613"/>
            <a:ext cx="203103" cy="172639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9DD3010D-284B-FFE8-00DA-5B6B519F38C7}"/>
              </a:ext>
            </a:extLst>
          </p:cNvPr>
          <p:cNvSpPr txBox="1"/>
          <p:nvPr/>
        </p:nvSpPr>
        <p:spPr>
          <a:xfrm>
            <a:off x="9145068" y="10898"/>
            <a:ext cx="2110021" cy="264816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nl-NL" sz="1050" b="1" dirty="0" err="1">
                <a:solidFill>
                  <a:schemeClr val="bg1">
                    <a:lumMod val="75000"/>
                  </a:schemeClr>
                </a:solidFill>
              </a:rPr>
              <a:t>PORTFOLIO_PERIOD_START_DATE</a:t>
            </a:r>
            <a:endParaRPr lang="nl-NL" sz="1050" b="1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AAF65DDF-8D18-FC3B-861E-407B8366FA77}"/>
              </a:ext>
            </a:extLst>
          </p:cNvPr>
          <p:cNvSpPr txBox="1"/>
          <p:nvPr/>
        </p:nvSpPr>
        <p:spPr>
          <a:xfrm>
            <a:off x="11305651" y="10898"/>
            <a:ext cx="1993003" cy="264816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nl-NL" sz="1050" b="1" dirty="0" err="1">
                <a:solidFill>
                  <a:schemeClr val="tx2"/>
                </a:solidFill>
              </a:rPr>
              <a:t>PORTFOLIO_PERIOD_END_DATE</a:t>
            </a:r>
            <a:endParaRPr lang="nl-NL" sz="1050" b="1" dirty="0">
              <a:solidFill>
                <a:schemeClr val="tx2"/>
              </a:solidFill>
            </a:endParaRP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C15C3881-1CF2-F1D2-4215-9BE451E8DB22}"/>
              </a:ext>
            </a:extLst>
          </p:cNvPr>
          <p:cNvGrpSpPr>
            <a:grpSpLocks noChangeAspect="1"/>
          </p:cNvGrpSpPr>
          <p:nvPr/>
        </p:nvGrpSpPr>
        <p:grpSpPr>
          <a:xfrm>
            <a:off x="-392105" y="2517185"/>
            <a:ext cx="98115" cy="92576"/>
            <a:chOff x="-331054" y="2564812"/>
            <a:chExt cx="141517" cy="133528"/>
          </a:xfrm>
          <a:solidFill>
            <a:srgbClr val="57C968"/>
          </a:solidFill>
        </p:grpSpPr>
        <p:sp>
          <p:nvSpPr>
            <p:cNvPr id="65" name="Freeform 64">
              <a:extLst>
                <a:ext uri="{FF2B5EF4-FFF2-40B4-BE49-F238E27FC236}">
                  <a16:creationId xmlns:a16="http://schemas.microsoft.com/office/drawing/2014/main" id="{0301DAEA-569B-4BFD-ADCC-7840C9E2C91C}"/>
                </a:ext>
              </a:extLst>
            </p:cNvPr>
            <p:cNvSpPr/>
            <p:nvPr/>
          </p:nvSpPr>
          <p:spPr>
            <a:xfrm>
              <a:off x="-331054" y="2564812"/>
              <a:ext cx="141517" cy="82436"/>
            </a:xfrm>
            <a:custGeom>
              <a:avLst/>
              <a:gdLst>
                <a:gd name="connsiteX0" fmla="*/ 70759 w 141517"/>
                <a:gd name="connsiteY0" fmla="*/ 0 h 82436"/>
                <a:gd name="connsiteX1" fmla="*/ 141517 w 141517"/>
                <a:gd name="connsiteY1" fmla="*/ 82436 h 82436"/>
                <a:gd name="connsiteX2" fmla="*/ 111805 w 141517"/>
                <a:gd name="connsiteY2" fmla="*/ 82436 h 82436"/>
                <a:gd name="connsiteX3" fmla="*/ 70759 w 141517"/>
                <a:gd name="connsiteY3" fmla="*/ 34616 h 82436"/>
                <a:gd name="connsiteX4" fmla="*/ 29713 w 141517"/>
                <a:gd name="connsiteY4" fmla="*/ 82436 h 82436"/>
                <a:gd name="connsiteX5" fmla="*/ 0 w 141517"/>
                <a:gd name="connsiteY5" fmla="*/ 82436 h 824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1517" h="82436">
                  <a:moveTo>
                    <a:pt x="70759" y="0"/>
                  </a:moveTo>
                  <a:lnTo>
                    <a:pt x="141517" y="82436"/>
                  </a:lnTo>
                  <a:lnTo>
                    <a:pt x="111805" y="82436"/>
                  </a:lnTo>
                  <a:lnTo>
                    <a:pt x="70759" y="34616"/>
                  </a:lnTo>
                  <a:lnTo>
                    <a:pt x="29713" y="82436"/>
                  </a:lnTo>
                  <a:lnTo>
                    <a:pt x="0" y="82436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  <p:sp>
          <p:nvSpPr>
            <p:cNvPr id="66" name="Triangle 65">
              <a:extLst>
                <a:ext uri="{FF2B5EF4-FFF2-40B4-BE49-F238E27FC236}">
                  <a16:creationId xmlns:a16="http://schemas.microsoft.com/office/drawing/2014/main" id="{BF2D4EA4-AC1B-DA7D-2EDB-28604D9FA58C}"/>
                </a:ext>
              </a:extLst>
            </p:cNvPr>
            <p:cNvSpPr/>
            <p:nvPr/>
          </p:nvSpPr>
          <p:spPr>
            <a:xfrm>
              <a:off x="-331054" y="2615904"/>
              <a:ext cx="141517" cy="82436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A5B5F588-AE14-1A44-72CB-7290D2B83CA1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-392106" y="2948284"/>
            <a:ext cx="98115" cy="92576"/>
            <a:chOff x="-331054" y="2564812"/>
            <a:chExt cx="141517" cy="133528"/>
          </a:xfrm>
          <a:solidFill>
            <a:srgbClr val="FFC000"/>
          </a:solidFill>
        </p:grpSpPr>
        <p:sp>
          <p:nvSpPr>
            <p:cNvPr id="68" name="Freeform 67">
              <a:extLst>
                <a:ext uri="{FF2B5EF4-FFF2-40B4-BE49-F238E27FC236}">
                  <a16:creationId xmlns:a16="http://schemas.microsoft.com/office/drawing/2014/main" id="{64C617FB-D78D-A196-6ADD-360D8179B451}"/>
                </a:ext>
              </a:extLst>
            </p:cNvPr>
            <p:cNvSpPr/>
            <p:nvPr/>
          </p:nvSpPr>
          <p:spPr>
            <a:xfrm>
              <a:off x="-331054" y="2564812"/>
              <a:ext cx="141517" cy="82436"/>
            </a:xfrm>
            <a:custGeom>
              <a:avLst/>
              <a:gdLst>
                <a:gd name="connsiteX0" fmla="*/ 70759 w 141517"/>
                <a:gd name="connsiteY0" fmla="*/ 0 h 82436"/>
                <a:gd name="connsiteX1" fmla="*/ 141517 w 141517"/>
                <a:gd name="connsiteY1" fmla="*/ 82436 h 82436"/>
                <a:gd name="connsiteX2" fmla="*/ 111805 w 141517"/>
                <a:gd name="connsiteY2" fmla="*/ 82436 h 82436"/>
                <a:gd name="connsiteX3" fmla="*/ 70759 w 141517"/>
                <a:gd name="connsiteY3" fmla="*/ 34616 h 82436"/>
                <a:gd name="connsiteX4" fmla="*/ 29713 w 141517"/>
                <a:gd name="connsiteY4" fmla="*/ 82436 h 82436"/>
                <a:gd name="connsiteX5" fmla="*/ 0 w 141517"/>
                <a:gd name="connsiteY5" fmla="*/ 82436 h 824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1517" h="82436">
                  <a:moveTo>
                    <a:pt x="70759" y="0"/>
                  </a:moveTo>
                  <a:lnTo>
                    <a:pt x="141517" y="82436"/>
                  </a:lnTo>
                  <a:lnTo>
                    <a:pt x="111805" y="82436"/>
                  </a:lnTo>
                  <a:lnTo>
                    <a:pt x="70759" y="34616"/>
                  </a:lnTo>
                  <a:lnTo>
                    <a:pt x="29713" y="82436"/>
                  </a:lnTo>
                  <a:lnTo>
                    <a:pt x="0" y="82436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  <p:sp>
          <p:nvSpPr>
            <p:cNvPr id="69" name="Triangle 68">
              <a:extLst>
                <a:ext uri="{FF2B5EF4-FFF2-40B4-BE49-F238E27FC236}">
                  <a16:creationId xmlns:a16="http://schemas.microsoft.com/office/drawing/2014/main" id="{3663B325-18F9-3426-D584-BA9F7DB8CABE}"/>
                </a:ext>
              </a:extLst>
            </p:cNvPr>
            <p:cNvSpPr/>
            <p:nvPr/>
          </p:nvSpPr>
          <p:spPr>
            <a:xfrm>
              <a:off x="-331054" y="2615904"/>
              <a:ext cx="141517" cy="82436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</p:grpSp>
      <p:sp>
        <p:nvSpPr>
          <p:cNvPr id="32" name="Rectangle 31">
            <a:extLst>
              <a:ext uri="{FF2B5EF4-FFF2-40B4-BE49-F238E27FC236}">
                <a16:creationId xmlns:a16="http://schemas.microsoft.com/office/drawing/2014/main" id="{B04A86CB-042C-A526-AA66-032348B7C9D9}"/>
              </a:ext>
            </a:extLst>
          </p:cNvPr>
          <p:cNvSpPr/>
          <p:nvPr/>
        </p:nvSpPr>
        <p:spPr>
          <a:xfrm>
            <a:off x="1" y="3154680"/>
            <a:ext cx="12191999" cy="3163320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49" name="Rounded Rectangle 48">
            <a:extLst>
              <a:ext uri="{FF2B5EF4-FFF2-40B4-BE49-F238E27FC236}">
                <a16:creationId xmlns:a16="http://schemas.microsoft.com/office/drawing/2014/main" id="{CD49DD0C-66C3-9266-E636-A03AE7C9DFA7}"/>
              </a:ext>
            </a:extLst>
          </p:cNvPr>
          <p:cNvSpPr/>
          <p:nvPr/>
        </p:nvSpPr>
        <p:spPr>
          <a:xfrm>
            <a:off x="207002" y="3495726"/>
            <a:ext cx="11984997" cy="2575216"/>
          </a:xfrm>
          <a:prstGeom prst="roundRect">
            <a:avLst>
              <a:gd name="adj" fmla="val 7068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lIns="0" tIns="73152" rIns="0" bIns="73152" rtlCol="0" anchor="t"/>
          <a:lstStyle/>
          <a:p>
            <a:pPr algn="ctr"/>
            <a:r>
              <a:rPr lang="en-US" sz="1200" b="1" noProof="0" dirty="0">
                <a:solidFill>
                  <a:schemeClr val="accent1"/>
                </a:solidFill>
              </a:rPr>
              <a:t>Open and resolved findings</a:t>
            </a:r>
          </a:p>
        </p:txBody>
      </p:sp>
      <p:pic>
        <p:nvPicPr>
          <p:cNvPr id="34" name="Graphic 33">
            <a:extLst>
              <a:ext uri="{FF2B5EF4-FFF2-40B4-BE49-F238E27FC236}">
                <a16:creationId xmlns:a16="http://schemas.microsoft.com/office/drawing/2014/main" id="{B102D423-A941-90C8-5743-AA30ED2966A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773775" y="5803314"/>
            <a:ext cx="371130" cy="206558"/>
          </a:xfrm>
          <a:prstGeom prst="rect">
            <a:avLst/>
          </a:prstGeom>
        </p:spPr>
      </p:pic>
      <p:sp>
        <p:nvSpPr>
          <p:cNvPr id="46" name="Rounded Rectangle 45">
            <a:extLst>
              <a:ext uri="{FF2B5EF4-FFF2-40B4-BE49-F238E27FC236}">
                <a16:creationId xmlns:a16="http://schemas.microsoft.com/office/drawing/2014/main" id="{67C0D00E-17C9-7B3E-1EE5-6A1653E68281}"/>
              </a:ext>
            </a:extLst>
          </p:cNvPr>
          <p:cNvSpPr/>
          <p:nvPr/>
        </p:nvSpPr>
        <p:spPr>
          <a:xfrm flipH="1">
            <a:off x="609944" y="3237334"/>
            <a:ext cx="3612958" cy="2953323"/>
          </a:xfrm>
          <a:prstGeom prst="roundRect">
            <a:avLst>
              <a:gd name="adj" fmla="val 3988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nl-NL" sz="1200" b="1" noProof="0" dirty="0">
                <a:solidFill>
                  <a:srgbClr val="910714"/>
                </a:solidFill>
              </a:rPr>
              <a:t>Critical</a:t>
            </a:r>
          </a:p>
        </p:txBody>
      </p:sp>
      <p:sp>
        <p:nvSpPr>
          <p:cNvPr id="47" name="Rounded Rectangle 46">
            <a:extLst>
              <a:ext uri="{FF2B5EF4-FFF2-40B4-BE49-F238E27FC236}">
                <a16:creationId xmlns:a16="http://schemas.microsoft.com/office/drawing/2014/main" id="{687937C5-61E6-B270-981B-2D0C53A4713E}"/>
              </a:ext>
            </a:extLst>
          </p:cNvPr>
          <p:cNvSpPr/>
          <p:nvPr/>
        </p:nvSpPr>
        <p:spPr>
          <a:xfrm flipH="1">
            <a:off x="4373475" y="3237334"/>
            <a:ext cx="3610810" cy="2953323"/>
          </a:xfrm>
          <a:prstGeom prst="roundRect">
            <a:avLst>
              <a:gd name="adj" fmla="val 3987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nl-NL" sz="1200" b="1" noProof="0" dirty="0">
                <a:solidFill>
                  <a:srgbClr val="DB4A3D"/>
                </a:solidFill>
              </a:rPr>
              <a:t>High</a:t>
            </a:r>
          </a:p>
        </p:txBody>
      </p:sp>
      <p:sp>
        <p:nvSpPr>
          <p:cNvPr id="48" name="Rounded Rectangle 47">
            <a:extLst>
              <a:ext uri="{FF2B5EF4-FFF2-40B4-BE49-F238E27FC236}">
                <a16:creationId xmlns:a16="http://schemas.microsoft.com/office/drawing/2014/main" id="{425C641F-B66E-DC80-C38D-822A10B95814}"/>
              </a:ext>
            </a:extLst>
          </p:cNvPr>
          <p:cNvSpPr/>
          <p:nvPr/>
        </p:nvSpPr>
        <p:spPr>
          <a:xfrm flipH="1">
            <a:off x="8134857" y="3237334"/>
            <a:ext cx="3610810" cy="2953323"/>
          </a:xfrm>
          <a:prstGeom prst="roundRect">
            <a:avLst>
              <a:gd name="adj" fmla="val 3837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nl-NL" sz="1200" b="1" noProof="0" dirty="0">
                <a:solidFill>
                  <a:srgbClr val="F09819"/>
                </a:solidFill>
              </a:rPr>
              <a:t>Medium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D5B4458-7A18-6975-596A-37B01EA5C4A6}"/>
              </a:ext>
            </a:extLst>
          </p:cNvPr>
          <p:cNvSpPr/>
          <p:nvPr/>
        </p:nvSpPr>
        <p:spPr>
          <a:xfrm>
            <a:off x="766866" y="3612456"/>
            <a:ext cx="3299114" cy="2341757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PORTFOLIO_PERIOD_SECURITY_DASHBOARD_CRITICAL_RESOLUTION_TIMES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1F42F13-AC84-E68B-5231-2D1D16BF93F2}"/>
              </a:ext>
            </a:extLst>
          </p:cNvPr>
          <p:cNvSpPr/>
          <p:nvPr/>
        </p:nvSpPr>
        <p:spPr>
          <a:xfrm>
            <a:off x="4529323" y="3612456"/>
            <a:ext cx="3299114" cy="2341757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PORTFOLIO_PERIOD_SECURITY_DASHBOARD_HIGH_RESOLUTION_TIMES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0258737-222F-2C4D-7BF4-52200E9C6818}"/>
              </a:ext>
            </a:extLst>
          </p:cNvPr>
          <p:cNvSpPr/>
          <p:nvPr/>
        </p:nvSpPr>
        <p:spPr>
          <a:xfrm>
            <a:off x="8290705" y="3612456"/>
            <a:ext cx="3299114" cy="2341757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>
                <a:solidFill>
                  <a:schemeClr val="bg1"/>
                </a:solidFill>
              </a:rPr>
              <a:t>PORTFOLIO_PERIOD_SECURITY_DASHBOARD_MEDIUM_RESOLUTION_TIMES</a:t>
            </a:r>
            <a:endParaRPr lang="en-US" sz="16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7990789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447711-2F95-8D02-EF61-9DFDAFBAAE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ED508E6A-8D1D-AB1F-259E-339FCAE0BA97}"/>
              </a:ext>
            </a:extLst>
          </p:cNvPr>
          <p:cNvSpPr/>
          <p:nvPr/>
        </p:nvSpPr>
        <p:spPr>
          <a:xfrm flipH="1">
            <a:off x="0" y="1368000"/>
            <a:ext cx="12192000" cy="1658842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67F47A6-2E30-A3A2-1FA6-ADC44FB6A7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20</a:t>
            </a:fld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A66B300-1C90-2F6C-DB67-3C596EBEC46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Findings – </a:t>
            </a:r>
            <a:r>
              <a:rPr lang="en-US" dirty="0">
                <a:solidFill>
                  <a:schemeClr val="accent3"/>
                </a:solidFill>
              </a:rPr>
              <a:t>TEST-TO-PRODUCTION CODE RATIO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5D9C93C0-DAC7-2BC6-6231-8EDFB3938E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@@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45ACD4F1-D304-8D5E-8BF8-58711FD1521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4800" y="1368000"/>
            <a:ext cx="11232000" cy="1658842"/>
          </a:xfrm>
        </p:spPr>
        <p:txBody>
          <a:bodyPr anchor="ctr"/>
          <a:lstStyle/>
          <a:p>
            <a:pPr marL="0" indent="0">
              <a:buNone/>
            </a:pPr>
            <a:r>
              <a:rPr lang="en-US" sz="1400" noProof="0" dirty="0"/>
              <a:t>@@</a:t>
            </a:r>
            <a:endParaRPr lang="en-US" sz="1200" noProof="0" dirty="0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57D26347-FC43-BACE-9980-199D72DFEA57}"/>
              </a:ext>
            </a:extLst>
          </p:cNvPr>
          <p:cNvSpPr/>
          <p:nvPr/>
        </p:nvSpPr>
        <p:spPr>
          <a:xfrm>
            <a:off x="-270313" y="3154680"/>
            <a:ext cx="9725209" cy="3163320"/>
          </a:xfrm>
          <a:prstGeom prst="roundRect">
            <a:avLst>
              <a:gd name="adj" fmla="val 3161"/>
            </a:avLst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71C10223-DCE0-5F70-C5C9-161E26AB1F6F}"/>
              </a:ext>
            </a:extLst>
          </p:cNvPr>
          <p:cNvSpPr/>
          <p:nvPr/>
        </p:nvSpPr>
        <p:spPr>
          <a:xfrm flipH="1">
            <a:off x="9619488" y="3154680"/>
            <a:ext cx="2724912" cy="3163320"/>
          </a:xfrm>
          <a:prstGeom prst="roundRect">
            <a:avLst>
              <a:gd name="adj" fmla="val 4851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EA940A4-7B9F-E6FA-1DA1-61E3E0AC074A}"/>
              </a:ext>
            </a:extLst>
          </p:cNvPr>
          <p:cNvSpPr txBox="1"/>
          <p:nvPr/>
        </p:nvSpPr>
        <p:spPr>
          <a:xfrm>
            <a:off x="-1221448" y="4419492"/>
            <a:ext cx="628847" cy="63344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3.12”</a:t>
            </a:r>
          </a:p>
          <a:p>
            <a:pPr algn="l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9.57"</a:t>
            </a:r>
          </a:p>
        </p:txBody>
      </p:sp>
      <p:sp>
        <p:nvSpPr>
          <p:cNvPr id="35" name="Rounded Rectangle 34">
            <a:extLst>
              <a:ext uri="{FF2B5EF4-FFF2-40B4-BE49-F238E27FC236}">
                <a16:creationId xmlns:a16="http://schemas.microsoft.com/office/drawing/2014/main" id="{21CDA381-07E7-2A5F-39FC-6CD823027E12}"/>
              </a:ext>
            </a:extLst>
          </p:cNvPr>
          <p:cNvSpPr/>
          <p:nvPr/>
        </p:nvSpPr>
        <p:spPr>
          <a:xfrm>
            <a:off x="9777184" y="4883651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B7CA0860-0E4F-BE2B-DC36-21DCF1901124}"/>
              </a:ext>
            </a:extLst>
          </p:cNvPr>
          <p:cNvSpPr/>
          <p:nvPr/>
        </p:nvSpPr>
        <p:spPr>
          <a:xfrm>
            <a:off x="9777184" y="4464888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E30F198E-D53A-B895-7449-D48895DE465C}"/>
              </a:ext>
            </a:extLst>
          </p:cNvPr>
          <p:cNvSpPr/>
          <p:nvPr/>
        </p:nvSpPr>
        <p:spPr>
          <a:xfrm>
            <a:off x="9777184" y="4046125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F9C640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63BEA591-92CD-6410-9177-AAADAD5BA152}"/>
              </a:ext>
            </a:extLst>
          </p:cNvPr>
          <p:cNvSpPr/>
          <p:nvPr/>
        </p:nvSpPr>
        <p:spPr>
          <a:xfrm>
            <a:off x="9777184" y="3627362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F9C640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7" name="Rounded Rectangle 36">
            <a:extLst>
              <a:ext uri="{FF2B5EF4-FFF2-40B4-BE49-F238E27FC236}">
                <a16:creationId xmlns:a16="http://schemas.microsoft.com/office/drawing/2014/main" id="{313EB585-C202-E84B-DCD7-0785E2BBEE5E}"/>
              </a:ext>
            </a:extLst>
          </p:cNvPr>
          <p:cNvSpPr/>
          <p:nvPr/>
        </p:nvSpPr>
        <p:spPr>
          <a:xfrm>
            <a:off x="9777184" y="5721177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6" name="Rounded Rectangle 35">
            <a:extLst>
              <a:ext uri="{FF2B5EF4-FFF2-40B4-BE49-F238E27FC236}">
                <a16:creationId xmlns:a16="http://schemas.microsoft.com/office/drawing/2014/main" id="{0A71916B-2C50-AAF9-E985-6B565A1F2570}"/>
              </a:ext>
            </a:extLst>
          </p:cNvPr>
          <p:cNvSpPr/>
          <p:nvPr/>
        </p:nvSpPr>
        <p:spPr>
          <a:xfrm>
            <a:off x="9777184" y="5302414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3C97D32-DEA1-D7BC-FF30-0CA6E31ABA5F}"/>
              </a:ext>
            </a:extLst>
          </p:cNvPr>
          <p:cNvSpPr txBox="1"/>
          <p:nvPr/>
        </p:nvSpPr>
        <p:spPr>
          <a:xfrm>
            <a:off x="11186130" y="4921755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48554DF-F124-812D-CFB2-CCBCCC5C754B}"/>
              </a:ext>
            </a:extLst>
          </p:cNvPr>
          <p:cNvSpPr txBox="1"/>
          <p:nvPr/>
        </p:nvSpPr>
        <p:spPr>
          <a:xfrm>
            <a:off x="11186130" y="4502992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F7C85D2-5CA0-7C6B-C837-52C97A3F1FE5}"/>
              </a:ext>
            </a:extLst>
          </p:cNvPr>
          <p:cNvSpPr txBox="1"/>
          <p:nvPr/>
        </p:nvSpPr>
        <p:spPr>
          <a:xfrm>
            <a:off x="11186130" y="5759281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249F0FC-8FFE-6494-C53B-F171CD58F625}"/>
              </a:ext>
            </a:extLst>
          </p:cNvPr>
          <p:cNvSpPr txBox="1"/>
          <p:nvPr/>
        </p:nvSpPr>
        <p:spPr>
          <a:xfrm>
            <a:off x="11186130" y="5340518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1C30671-CB14-EFAE-2144-B7D5D92464F4}"/>
              </a:ext>
            </a:extLst>
          </p:cNvPr>
          <p:cNvSpPr txBox="1"/>
          <p:nvPr/>
        </p:nvSpPr>
        <p:spPr>
          <a:xfrm>
            <a:off x="11186130" y="4084229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9D451C5-E76B-3719-C382-7D6FEBB6F620}"/>
              </a:ext>
            </a:extLst>
          </p:cNvPr>
          <p:cNvSpPr txBox="1"/>
          <p:nvPr/>
        </p:nvSpPr>
        <p:spPr>
          <a:xfrm>
            <a:off x="11186130" y="3665466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60" name="Triangle 59">
            <a:extLst>
              <a:ext uri="{FF2B5EF4-FFF2-40B4-BE49-F238E27FC236}">
                <a16:creationId xmlns:a16="http://schemas.microsoft.com/office/drawing/2014/main" id="{FA533D47-095D-5ADF-4AAD-018B57D09AE7}"/>
              </a:ext>
            </a:extLst>
          </p:cNvPr>
          <p:cNvSpPr/>
          <p:nvPr/>
        </p:nvSpPr>
        <p:spPr>
          <a:xfrm rot="5400000">
            <a:off x="11223517" y="97630"/>
            <a:ext cx="113704" cy="91353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>
              <a:solidFill>
                <a:schemeClr val="bg1"/>
              </a:solidFill>
            </a:endParaRPr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E3B8BDA8-5F9C-3D34-74B6-695698823F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67839" y="52613"/>
            <a:ext cx="203103" cy="172639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3264ABFF-287B-3DE5-2110-A761434FAA9E}"/>
              </a:ext>
            </a:extLst>
          </p:cNvPr>
          <p:cNvSpPr txBox="1"/>
          <p:nvPr/>
        </p:nvSpPr>
        <p:spPr>
          <a:xfrm>
            <a:off x="9145068" y="10898"/>
            <a:ext cx="2110021" cy="264816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nl-NL" sz="1050" b="1" dirty="0" err="1">
                <a:solidFill>
                  <a:schemeClr val="bg1">
                    <a:lumMod val="75000"/>
                  </a:schemeClr>
                </a:solidFill>
              </a:rPr>
              <a:t>PORTFOLIO_PERIOD_START_DATE</a:t>
            </a:r>
            <a:endParaRPr lang="nl-NL" sz="1050" b="1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EC8EDE4F-62F9-B2A2-E4E1-BA4AAA907AA8}"/>
              </a:ext>
            </a:extLst>
          </p:cNvPr>
          <p:cNvSpPr txBox="1"/>
          <p:nvPr/>
        </p:nvSpPr>
        <p:spPr>
          <a:xfrm>
            <a:off x="11305651" y="10898"/>
            <a:ext cx="1993003" cy="264816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nl-NL" sz="1050" b="1" dirty="0" err="1">
                <a:solidFill>
                  <a:schemeClr val="tx2"/>
                </a:solidFill>
              </a:rPr>
              <a:t>PORTFOLIO_PERIOD_END_DATE</a:t>
            </a:r>
            <a:endParaRPr lang="nl-NL" sz="1050" b="1" dirty="0">
              <a:solidFill>
                <a:schemeClr val="tx2"/>
              </a:solidFill>
            </a:endParaRP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6F2CA785-4B4F-E913-38BB-70B02DFBF3BC}"/>
              </a:ext>
            </a:extLst>
          </p:cNvPr>
          <p:cNvGrpSpPr>
            <a:grpSpLocks noChangeAspect="1"/>
          </p:cNvGrpSpPr>
          <p:nvPr/>
        </p:nvGrpSpPr>
        <p:grpSpPr>
          <a:xfrm>
            <a:off x="-392105" y="2517185"/>
            <a:ext cx="98115" cy="92576"/>
            <a:chOff x="-331054" y="2564812"/>
            <a:chExt cx="141517" cy="133528"/>
          </a:xfrm>
          <a:solidFill>
            <a:srgbClr val="57C968"/>
          </a:solidFill>
        </p:grpSpPr>
        <p:sp>
          <p:nvSpPr>
            <p:cNvPr id="65" name="Freeform 64">
              <a:extLst>
                <a:ext uri="{FF2B5EF4-FFF2-40B4-BE49-F238E27FC236}">
                  <a16:creationId xmlns:a16="http://schemas.microsoft.com/office/drawing/2014/main" id="{8D4579EA-D1D8-B5DC-36DE-B9D4F20F83F1}"/>
                </a:ext>
              </a:extLst>
            </p:cNvPr>
            <p:cNvSpPr/>
            <p:nvPr/>
          </p:nvSpPr>
          <p:spPr>
            <a:xfrm>
              <a:off x="-331054" y="2564812"/>
              <a:ext cx="141517" cy="82436"/>
            </a:xfrm>
            <a:custGeom>
              <a:avLst/>
              <a:gdLst>
                <a:gd name="connsiteX0" fmla="*/ 70759 w 141517"/>
                <a:gd name="connsiteY0" fmla="*/ 0 h 82436"/>
                <a:gd name="connsiteX1" fmla="*/ 141517 w 141517"/>
                <a:gd name="connsiteY1" fmla="*/ 82436 h 82436"/>
                <a:gd name="connsiteX2" fmla="*/ 111805 w 141517"/>
                <a:gd name="connsiteY2" fmla="*/ 82436 h 82436"/>
                <a:gd name="connsiteX3" fmla="*/ 70759 w 141517"/>
                <a:gd name="connsiteY3" fmla="*/ 34616 h 82436"/>
                <a:gd name="connsiteX4" fmla="*/ 29713 w 141517"/>
                <a:gd name="connsiteY4" fmla="*/ 82436 h 82436"/>
                <a:gd name="connsiteX5" fmla="*/ 0 w 141517"/>
                <a:gd name="connsiteY5" fmla="*/ 82436 h 824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1517" h="82436">
                  <a:moveTo>
                    <a:pt x="70759" y="0"/>
                  </a:moveTo>
                  <a:lnTo>
                    <a:pt x="141517" y="82436"/>
                  </a:lnTo>
                  <a:lnTo>
                    <a:pt x="111805" y="82436"/>
                  </a:lnTo>
                  <a:lnTo>
                    <a:pt x="70759" y="34616"/>
                  </a:lnTo>
                  <a:lnTo>
                    <a:pt x="29713" y="82436"/>
                  </a:lnTo>
                  <a:lnTo>
                    <a:pt x="0" y="82436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  <p:sp>
          <p:nvSpPr>
            <p:cNvPr id="66" name="Triangle 65">
              <a:extLst>
                <a:ext uri="{FF2B5EF4-FFF2-40B4-BE49-F238E27FC236}">
                  <a16:creationId xmlns:a16="http://schemas.microsoft.com/office/drawing/2014/main" id="{53E641D5-003A-3B1A-6159-9CF8191D0903}"/>
                </a:ext>
              </a:extLst>
            </p:cNvPr>
            <p:cNvSpPr/>
            <p:nvPr/>
          </p:nvSpPr>
          <p:spPr>
            <a:xfrm>
              <a:off x="-331054" y="2615904"/>
              <a:ext cx="141517" cy="82436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3A5DD955-EE69-A07B-0FAE-D1F1D06E2FF5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-392106" y="2948284"/>
            <a:ext cx="98115" cy="92576"/>
            <a:chOff x="-331054" y="2564812"/>
            <a:chExt cx="141517" cy="133528"/>
          </a:xfrm>
          <a:solidFill>
            <a:srgbClr val="FFC000"/>
          </a:solidFill>
        </p:grpSpPr>
        <p:sp>
          <p:nvSpPr>
            <p:cNvPr id="68" name="Freeform 67">
              <a:extLst>
                <a:ext uri="{FF2B5EF4-FFF2-40B4-BE49-F238E27FC236}">
                  <a16:creationId xmlns:a16="http://schemas.microsoft.com/office/drawing/2014/main" id="{BBB7BB32-7795-2534-56C3-721ECD146A83}"/>
                </a:ext>
              </a:extLst>
            </p:cNvPr>
            <p:cNvSpPr/>
            <p:nvPr/>
          </p:nvSpPr>
          <p:spPr>
            <a:xfrm>
              <a:off x="-331054" y="2564812"/>
              <a:ext cx="141517" cy="82436"/>
            </a:xfrm>
            <a:custGeom>
              <a:avLst/>
              <a:gdLst>
                <a:gd name="connsiteX0" fmla="*/ 70759 w 141517"/>
                <a:gd name="connsiteY0" fmla="*/ 0 h 82436"/>
                <a:gd name="connsiteX1" fmla="*/ 141517 w 141517"/>
                <a:gd name="connsiteY1" fmla="*/ 82436 h 82436"/>
                <a:gd name="connsiteX2" fmla="*/ 111805 w 141517"/>
                <a:gd name="connsiteY2" fmla="*/ 82436 h 82436"/>
                <a:gd name="connsiteX3" fmla="*/ 70759 w 141517"/>
                <a:gd name="connsiteY3" fmla="*/ 34616 h 82436"/>
                <a:gd name="connsiteX4" fmla="*/ 29713 w 141517"/>
                <a:gd name="connsiteY4" fmla="*/ 82436 h 82436"/>
                <a:gd name="connsiteX5" fmla="*/ 0 w 141517"/>
                <a:gd name="connsiteY5" fmla="*/ 82436 h 824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1517" h="82436">
                  <a:moveTo>
                    <a:pt x="70759" y="0"/>
                  </a:moveTo>
                  <a:lnTo>
                    <a:pt x="141517" y="82436"/>
                  </a:lnTo>
                  <a:lnTo>
                    <a:pt x="111805" y="82436"/>
                  </a:lnTo>
                  <a:lnTo>
                    <a:pt x="70759" y="34616"/>
                  </a:lnTo>
                  <a:lnTo>
                    <a:pt x="29713" y="82436"/>
                  </a:lnTo>
                  <a:lnTo>
                    <a:pt x="0" y="82436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  <p:sp>
          <p:nvSpPr>
            <p:cNvPr id="69" name="Triangle 68">
              <a:extLst>
                <a:ext uri="{FF2B5EF4-FFF2-40B4-BE49-F238E27FC236}">
                  <a16:creationId xmlns:a16="http://schemas.microsoft.com/office/drawing/2014/main" id="{1F5C76BE-C791-3518-F04A-4DC87236073E}"/>
                </a:ext>
              </a:extLst>
            </p:cNvPr>
            <p:cNvSpPr/>
            <p:nvPr/>
          </p:nvSpPr>
          <p:spPr>
            <a:xfrm>
              <a:off x="-331054" y="2615904"/>
              <a:ext cx="141517" cy="82436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</p:grpSp>
      <p:sp>
        <p:nvSpPr>
          <p:cNvPr id="72" name="TextBox 71">
            <a:extLst>
              <a:ext uri="{FF2B5EF4-FFF2-40B4-BE49-F238E27FC236}">
                <a16:creationId xmlns:a16="http://schemas.microsoft.com/office/drawing/2014/main" id="{159F00D2-0FAA-97EB-7004-A0C689B5EF82}"/>
              </a:ext>
            </a:extLst>
          </p:cNvPr>
          <p:cNvSpPr txBox="1"/>
          <p:nvPr/>
        </p:nvSpPr>
        <p:spPr>
          <a:xfrm>
            <a:off x="9777184" y="3305030"/>
            <a:ext cx="579667" cy="322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400" b="1" dirty="0">
                <a:solidFill>
                  <a:schemeClr val="tx2"/>
                </a:solidFill>
              </a:rPr>
              <a:t>Team</a:t>
            </a:r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A3F9EAC3-8018-153F-61E8-066A2632067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838256" y="6071736"/>
            <a:ext cx="371130" cy="206558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7C77118A-7FE6-2744-6CB5-CE5588900C71}"/>
              </a:ext>
            </a:extLst>
          </p:cNvPr>
          <p:cNvSpPr/>
          <p:nvPr/>
        </p:nvSpPr>
        <p:spPr>
          <a:xfrm>
            <a:off x="512064" y="3200400"/>
            <a:ext cx="8750808" cy="2843784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PORTFOLIO_PERIOD_TEST_CODE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E86087A-1562-6F9F-A7EE-D50063A83A35}"/>
              </a:ext>
            </a:extLst>
          </p:cNvPr>
          <p:cNvSpPr txBox="1"/>
          <p:nvPr/>
        </p:nvSpPr>
        <p:spPr>
          <a:xfrm>
            <a:off x="2899580" y="60547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accent3"/>
                </a:solidFill>
              </a:rPr>
              <a:t>Systems grouped by </a:t>
            </a:r>
            <a:r>
              <a:rPr lang="en-US" sz="800" b="1" dirty="0">
                <a:solidFill>
                  <a:schemeClr val="accent3"/>
                </a:solidFill>
              </a:rPr>
              <a:t>Team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A58F6506-BA78-16D7-8F52-64E2D7234BF0}"/>
              </a:ext>
            </a:extLst>
          </p:cNvPr>
          <p:cNvGrpSpPr/>
          <p:nvPr/>
        </p:nvGrpSpPr>
        <p:grpSpPr>
          <a:xfrm>
            <a:off x="512064" y="6117354"/>
            <a:ext cx="273482" cy="98617"/>
            <a:chOff x="586253" y="6116391"/>
            <a:chExt cx="273482" cy="98617"/>
          </a:xfrm>
        </p:grpSpPr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B5EBDDDB-95D4-0512-C3B5-DDDDBB6AC14E}"/>
                </a:ext>
              </a:extLst>
            </p:cNvPr>
            <p:cNvSpPr txBox="1"/>
            <p:nvPr/>
          </p:nvSpPr>
          <p:spPr>
            <a:xfrm>
              <a:off x="710655" y="6116391"/>
              <a:ext cx="14908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≤ 1%</a:t>
              </a:r>
            </a:p>
          </p:txBody>
        </p:sp>
        <p:sp>
          <p:nvSpPr>
            <p:cNvPr id="71" name="Rounded Rectangle 70">
              <a:extLst>
                <a:ext uri="{FF2B5EF4-FFF2-40B4-BE49-F238E27FC236}">
                  <a16:creationId xmlns:a16="http://schemas.microsoft.com/office/drawing/2014/main" id="{8C6A02D5-900B-5DC5-1C44-06658418797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C0403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73" name="Group 72">
            <a:extLst>
              <a:ext uri="{FF2B5EF4-FFF2-40B4-BE49-F238E27FC236}">
                <a16:creationId xmlns:a16="http://schemas.microsoft.com/office/drawing/2014/main" id="{EAC1574B-EFC8-DEBE-3AEA-1AE5FE83F3D7}"/>
              </a:ext>
            </a:extLst>
          </p:cNvPr>
          <p:cNvGrpSpPr/>
          <p:nvPr/>
        </p:nvGrpSpPr>
        <p:grpSpPr>
          <a:xfrm>
            <a:off x="877767" y="6117354"/>
            <a:ext cx="408134" cy="98617"/>
            <a:chOff x="961765" y="6117353"/>
            <a:chExt cx="408134" cy="98617"/>
          </a:xfrm>
        </p:grpSpPr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0311C860-DB1A-1DCA-B9DC-AAFBDE61E8DA}"/>
                </a:ext>
              </a:extLst>
            </p:cNvPr>
            <p:cNvSpPr txBox="1"/>
            <p:nvPr/>
          </p:nvSpPr>
          <p:spPr>
            <a:xfrm>
              <a:off x="1086167" y="6117353"/>
              <a:ext cx="283732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1% - 15%</a:t>
              </a:r>
            </a:p>
          </p:txBody>
        </p:sp>
        <p:sp>
          <p:nvSpPr>
            <p:cNvPr id="75" name="Rounded Rectangle 74">
              <a:extLst>
                <a:ext uri="{FF2B5EF4-FFF2-40B4-BE49-F238E27FC236}">
                  <a16:creationId xmlns:a16="http://schemas.microsoft.com/office/drawing/2014/main" id="{2E885490-8379-983E-86C3-56DB50E0302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EF981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9CD63C20-9B7B-97B8-B602-F58429F14ADD}"/>
              </a:ext>
            </a:extLst>
          </p:cNvPr>
          <p:cNvGrpSpPr/>
          <p:nvPr/>
        </p:nvGrpSpPr>
        <p:grpSpPr>
          <a:xfrm>
            <a:off x="1378122" y="6117354"/>
            <a:ext cx="446606" cy="98617"/>
            <a:chOff x="1114165" y="6269753"/>
            <a:chExt cx="446606" cy="98617"/>
          </a:xfrm>
        </p:grpSpPr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CB502513-4155-2B38-101F-C327B56033BD}"/>
                </a:ext>
              </a:extLst>
            </p:cNvPr>
            <p:cNvSpPr txBox="1"/>
            <p:nvPr/>
          </p:nvSpPr>
          <p:spPr>
            <a:xfrm>
              <a:off x="1238567" y="6269753"/>
              <a:ext cx="322204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15% - 50%</a:t>
              </a:r>
            </a:p>
          </p:txBody>
        </p:sp>
        <p:sp>
          <p:nvSpPr>
            <p:cNvPr id="78" name="Rounded Rectangle 77">
              <a:extLst>
                <a:ext uri="{FF2B5EF4-FFF2-40B4-BE49-F238E27FC236}">
                  <a16:creationId xmlns:a16="http://schemas.microsoft.com/office/drawing/2014/main" id="{34A284FE-34F5-0EE7-2680-9DDF4CBB535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9C64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79" name="Group 78">
            <a:extLst>
              <a:ext uri="{FF2B5EF4-FFF2-40B4-BE49-F238E27FC236}">
                <a16:creationId xmlns:a16="http://schemas.microsoft.com/office/drawing/2014/main" id="{12A682FE-D437-6828-1087-A1DF2E9370CC}"/>
              </a:ext>
            </a:extLst>
          </p:cNvPr>
          <p:cNvGrpSpPr/>
          <p:nvPr/>
        </p:nvGrpSpPr>
        <p:grpSpPr>
          <a:xfrm>
            <a:off x="1916949" y="6117354"/>
            <a:ext cx="485078" cy="98617"/>
            <a:chOff x="1114165" y="6269753"/>
            <a:chExt cx="485078" cy="98617"/>
          </a:xfrm>
        </p:grpSpPr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AC967DAC-7419-D227-9FB5-136030FD729C}"/>
                </a:ext>
              </a:extLst>
            </p:cNvPr>
            <p:cNvSpPr txBox="1"/>
            <p:nvPr/>
          </p:nvSpPr>
          <p:spPr>
            <a:xfrm>
              <a:off x="1238567" y="6269753"/>
              <a:ext cx="360676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50% - 150%</a:t>
              </a:r>
            </a:p>
          </p:txBody>
        </p:sp>
        <p:sp>
          <p:nvSpPr>
            <p:cNvPr id="81" name="Rounded Rectangle 80">
              <a:extLst>
                <a:ext uri="{FF2B5EF4-FFF2-40B4-BE49-F238E27FC236}">
                  <a16:creationId xmlns:a16="http://schemas.microsoft.com/office/drawing/2014/main" id="{24F9B8A7-407D-1AAF-6F4E-114693419D2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57C96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11AB6347-CC9A-9BE4-4BAE-0AA60C2CF95C}"/>
              </a:ext>
            </a:extLst>
          </p:cNvPr>
          <p:cNvGrpSpPr/>
          <p:nvPr/>
        </p:nvGrpSpPr>
        <p:grpSpPr>
          <a:xfrm>
            <a:off x="2494246" y="6117354"/>
            <a:ext cx="350426" cy="98617"/>
            <a:chOff x="1114165" y="6269753"/>
            <a:chExt cx="350426" cy="98617"/>
          </a:xfrm>
        </p:grpSpPr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8C432BC6-5457-8E38-BD36-E3E40333CF85}"/>
                </a:ext>
              </a:extLst>
            </p:cNvPr>
            <p:cNvSpPr txBox="1"/>
            <p:nvPr/>
          </p:nvSpPr>
          <p:spPr>
            <a:xfrm>
              <a:off x="1238567" y="6269753"/>
              <a:ext cx="226024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&gt; 150%</a:t>
              </a:r>
            </a:p>
          </p:txBody>
        </p:sp>
        <p:sp>
          <p:nvSpPr>
            <p:cNvPr id="84" name="Rounded Rectangle 83">
              <a:extLst>
                <a:ext uri="{FF2B5EF4-FFF2-40B4-BE49-F238E27FC236}">
                  <a16:creationId xmlns:a16="http://schemas.microsoft.com/office/drawing/2014/main" id="{EA10911F-0395-F155-209F-57254B95F6B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2C963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4901906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923090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SIG 2020">
      <a:dk1>
        <a:srgbClr val="657484"/>
      </a:dk1>
      <a:lt1>
        <a:srgbClr val="FFFFFF"/>
      </a:lt1>
      <a:dk2>
        <a:srgbClr val="1F354B"/>
      </a:dk2>
      <a:lt2>
        <a:srgbClr val="EFF3F8"/>
      </a:lt2>
      <a:accent1>
        <a:srgbClr val="1F354B"/>
      </a:accent1>
      <a:accent2>
        <a:srgbClr val="DFC101"/>
      </a:accent2>
      <a:accent3>
        <a:srgbClr val="04ABC8"/>
      </a:accent3>
      <a:accent4>
        <a:srgbClr val="8269A4"/>
      </a:accent4>
      <a:accent5>
        <a:srgbClr val="C5CD58"/>
      </a:accent5>
      <a:accent6>
        <a:srgbClr val="D45200"/>
      </a:accent6>
      <a:hlink>
        <a:srgbClr val="08ACC8"/>
      </a:hlink>
      <a:folHlink>
        <a:srgbClr val="00ADC8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/>
        </a:solidFill>
        <a:ln>
          <a:noFill/>
        </a:ln>
      </a:spPr>
      <a:bodyPr lIns="108000" tIns="72000" rIns="108000" bIns="72000" rtlCol="0" anchor="ctr"/>
      <a:lstStyle>
        <a:defPPr algn="ctr">
          <a:defRPr sz="1600"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9050">
          <a:solidFill>
            <a:srgbClr val="B3BECD"/>
          </a:solidFill>
          <a:prstDash val="sysDot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90000" rtlCol="0" anchor="t">
        <a:spAutoFit/>
      </a:bodyPr>
      <a:lstStyle>
        <a:defPPr algn="l">
          <a:lnSpc>
            <a:spcPct val="113000"/>
          </a:lnSpc>
          <a:defRPr sz="1600" dirty="0" err="1" smtClean="0">
            <a:solidFill>
              <a:schemeClr val="tx2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6" id="{87A88162-E9FA-E744-BFFA-BC08FDA9AD0B}" vid="{A5F00ED1-E9E7-C44B-A961-D0FA0EAA5A7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fa937df2-abe2-4d38-b5f4-c228acba3827">
      <Terms xmlns="http://schemas.microsoft.com/office/infopath/2007/PartnerControls"/>
    </lcf76f155ced4ddcb4097134ff3c332f>
    <TaxCatchAll xmlns="bc8ba18a-4a58-4ad2-bfc0-6516af8e7dc2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98B4EB28540854BB4092730D7F67224" ma:contentTypeVersion="13" ma:contentTypeDescription="Create a new document." ma:contentTypeScope="" ma:versionID="07d6997c7358ecc3b6f0d78039f1ac55">
  <xsd:schema xmlns:xsd="http://www.w3.org/2001/XMLSchema" xmlns:xs="http://www.w3.org/2001/XMLSchema" xmlns:p="http://schemas.microsoft.com/office/2006/metadata/properties" xmlns:ns2="fa937df2-abe2-4d38-b5f4-c228acba3827" xmlns:ns3="bc8ba18a-4a58-4ad2-bfc0-6516af8e7dc2" targetNamespace="http://schemas.microsoft.com/office/2006/metadata/properties" ma:root="true" ma:fieldsID="a7d20d2c9a349b6838acf4b79389f2fd" ns2:_="" ns3:_="">
    <xsd:import namespace="fa937df2-abe2-4d38-b5f4-c228acba3827"/>
    <xsd:import namespace="bc8ba18a-4a58-4ad2-bfc0-6516af8e7dc2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3:SharedWithUsers" minOccurs="0"/>
                <xsd:element ref="ns3:SharedWithDetail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a937df2-abe2-4d38-b5f4-c228acba382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GenerationTime" ma:index="1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3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14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6" nillable="true" ma:taxonomy="true" ma:internalName="lcf76f155ced4ddcb4097134ff3c332f" ma:taxonomyFieldName="MediaServiceImageTags" ma:displayName="Image Tags" ma:readOnly="false" ma:fieldId="{5cf76f15-5ced-4ddc-b409-7134ff3c332f}" ma:taxonomyMulti="true" ma:sspId="40897a51-27a2-4a5e-b602-66a4649d25eb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c8ba18a-4a58-4ad2-bfc0-6516af8e7dc2" elementFormDefault="qualified">
    <xsd:import namespace="http://schemas.microsoft.com/office/2006/documentManagement/types"/>
    <xsd:import namespace="http://schemas.microsoft.com/office/infopath/2007/PartnerControls"/>
    <xsd:element name="TaxCatchAll" ma:index="17" nillable="true" ma:displayName="Taxonomy Catch All Column" ma:hidden="true" ma:list="{2119a7a8-86cc-43f5-a248-74259e6177ea}" ma:internalName="TaxCatchAll" ma:showField="CatchAllData" ma:web="bc8ba18a-4a58-4ad2-bfc0-6516af8e7dc2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9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0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70928F0-D7CA-4732-B7F3-1F945720D0AA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4B629362-CF15-4610-8FAC-A8E699942233}">
  <ds:schemaRefs>
    <ds:schemaRef ds:uri="http://schemas.microsoft.com/office/2006/documentManagement/types"/>
    <ds:schemaRef ds:uri="http://purl.org/dc/elements/1.1/"/>
    <ds:schemaRef ds:uri="bc8ba18a-4a58-4ad2-bfc0-6516af8e7dc2"/>
    <ds:schemaRef ds:uri="http://purl.org/dc/terms/"/>
    <ds:schemaRef ds:uri="http://www.w3.org/XML/1998/namespace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fa937df2-abe2-4d38-b5f4-c228acba3827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06E6923A-C221-4753-B75B-BA213EEB7564}">
  <ds:schemaRefs>
    <ds:schemaRef ds:uri="bc8ba18a-4a58-4ad2-bfc0-6516af8e7dc2"/>
    <ds:schemaRef ds:uri="fa937df2-abe2-4d38-b5f4-c228acba3827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23579</TotalTime>
  <Words>983</Words>
  <Application>Microsoft Macintosh PowerPoint</Application>
  <PresentationFormat>Widescreen</PresentationFormat>
  <Paragraphs>288</Paragraphs>
  <Slides>21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30" baseType="lpstr">
      <vt:lpstr>Arial</vt:lpstr>
      <vt:lpstr>Calibri</vt:lpstr>
      <vt:lpstr>Calibri Bold</vt:lpstr>
      <vt:lpstr>Calibri Light</vt:lpstr>
      <vt:lpstr>Calibri Regular</vt:lpstr>
      <vt:lpstr>Sigsterren</vt:lpstr>
      <vt:lpstr>TheSansMono M5</vt:lpstr>
      <vt:lpstr>Wingdings</vt:lpstr>
      <vt:lpstr>Office Theme</vt:lpstr>
      <vt:lpstr>PowerPoint Presentation</vt:lpstr>
      <vt:lpstr>PowerPoint Presentation</vt:lpstr>
      <vt:lpstr>Progress towards objectives between OBJECTIVES_PERIOD_START and OBJECTIVES_PERIOD_END</vt:lpstr>
      <vt:lpstr>Progress towards objectives per team between OBJECTIVES_PERIOD_START and OBJECTIVES_PERIOD_END</vt:lpstr>
      <vt:lpstr>Progress towards objectives per capability between OBJECTIVES_PERIOD_START and OBJECTIVES_PERIOD_END</vt:lpstr>
      <vt:lpstr>Progress towards objectives over time</vt:lpstr>
      <vt:lpstr>PowerPoint Presentation</vt:lpstr>
      <vt:lpstr>Progress towards objectives: Security</vt:lpstr>
      <vt:lpstr>Progress towards objectives: Open Source Health</vt:lpstr>
      <vt:lpstr>Progress towards objectives: Maintainability</vt:lpstr>
      <vt:lpstr>Progress towards objectives: Architecture</vt:lpstr>
      <vt:lpstr>PowerPoint Presentation</vt:lpstr>
      <vt:lpstr>PORTFOLIO_PERIOD_MAINT_SHORT_SUMMARY</vt:lpstr>
      <vt:lpstr>@@</vt:lpstr>
      <vt:lpstr>@@</vt:lpstr>
      <vt:lpstr>@@</vt:lpstr>
      <vt:lpstr>@@</vt:lpstr>
      <vt:lpstr>@@</vt:lpstr>
      <vt:lpstr>@@</vt:lpstr>
      <vt:lpstr>@@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Daniel O'Brien</dc:creator>
  <cp:lastModifiedBy>Thomas Kovac</cp:lastModifiedBy>
  <cp:revision>156</cp:revision>
  <cp:lastPrinted>2020-07-02T15:41:27Z</cp:lastPrinted>
  <dcterms:created xsi:type="dcterms:W3CDTF">2024-01-03T15:04:34Z</dcterms:created>
  <dcterms:modified xsi:type="dcterms:W3CDTF">2025-08-26T09:06:58Z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0x010100398B4EB28540854BB4092730D7F67224</vt:lpwstr>
  </property>
  <property fmtid="{D5CDD505-2E9C-101B-9397-08002B2CF9AE}" pid="3" name="MediaServiceImageTags">
    <vt:lpwstr/>
  </property>
</Properties>
</file>