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2"/>
  </p:notesMasterIdLst>
  <p:handoutMasterIdLst>
    <p:handoutMasterId r:id="rId43"/>
  </p:handoutMasterIdLst>
  <p:sldIdLst>
    <p:sldId id="1973" r:id="rId5"/>
    <p:sldId id="11390" r:id="rId6"/>
    <p:sldId id="10749" r:id="rId7"/>
    <p:sldId id="10751" r:id="rId8"/>
    <p:sldId id="10753" r:id="rId9"/>
    <p:sldId id="10750" r:id="rId10"/>
    <p:sldId id="10754" r:id="rId11"/>
    <p:sldId id="10755" r:id="rId12"/>
    <p:sldId id="10756" r:id="rId13"/>
    <p:sldId id="11363" r:id="rId14"/>
    <p:sldId id="11364" r:id="rId15"/>
    <p:sldId id="11365" r:id="rId16"/>
    <p:sldId id="11366" r:id="rId17"/>
    <p:sldId id="11367" r:id="rId18"/>
    <p:sldId id="11368" r:id="rId19"/>
    <p:sldId id="11369" r:id="rId20"/>
    <p:sldId id="11370" r:id="rId21"/>
    <p:sldId id="11389" r:id="rId22"/>
    <p:sldId id="11371" r:id="rId23"/>
    <p:sldId id="10757" r:id="rId24"/>
    <p:sldId id="11409" r:id="rId25"/>
    <p:sldId id="11410" r:id="rId26"/>
    <p:sldId id="11403" r:id="rId27"/>
    <p:sldId id="11404" r:id="rId28"/>
    <p:sldId id="11387" r:id="rId29"/>
    <p:sldId id="11384" r:id="rId30"/>
    <p:sldId id="11374" r:id="rId31"/>
    <p:sldId id="11405" r:id="rId32"/>
    <p:sldId id="11406" r:id="rId33"/>
    <p:sldId id="11402" r:id="rId34"/>
    <p:sldId id="11376" r:id="rId35"/>
    <p:sldId id="11284" r:id="rId36"/>
    <p:sldId id="11377" r:id="rId37"/>
    <p:sldId id="11415" r:id="rId38"/>
    <p:sldId id="11416" r:id="rId39"/>
    <p:sldId id="11378" r:id="rId40"/>
    <p:sldId id="11379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1348"/>
    <p:restoredTop sz="96763"/>
  </p:normalViewPr>
  <p:slideViewPr>
    <p:cSldViewPr snapToGrid="0" snapToObjects="1" showGuides="1">
      <p:cViewPr varScale="1">
        <p:scale>
          <a:sx n="33" d="100"/>
          <a:sy n="33" d="100"/>
        </p:scale>
        <p:origin x="208" y="26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handoutMaster" Target="handoutMasters/handoutMaster1.xml"/><Relationship Id="rId48" Type="http://schemas.microsoft.com/office/2018/10/relationships/authors" Target="author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1186</c:v>
                </c:pt>
                <c:pt idx="1">
                  <c:v>0</c:v>
                </c:pt>
                <c:pt idx="2">
                  <c:v>0</c:v>
                </c:pt>
                <c:pt idx="3">
                  <c:v>515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455</c:v>
                </c:pt>
                <c:pt idx="1">
                  <c:v>0</c:v>
                </c:pt>
                <c:pt idx="2">
                  <c:v>0</c:v>
                </c:pt>
                <c:pt idx="3">
                  <c:v>197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695</c:v>
                </c:pt>
                <c:pt idx="1">
                  <c:v>406</c:v>
                </c:pt>
                <c:pt idx="2">
                  <c:v>723</c:v>
                </c:pt>
                <c:pt idx="3">
                  <c:v>499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564</c:v>
                </c:pt>
                <c:pt idx="1">
                  <c:v>0</c:v>
                </c:pt>
                <c:pt idx="2">
                  <c:v>0</c:v>
                </c:pt>
                <c:pt idx="3">
                  <c:v>561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107</c:v>
                </c:pt>
                <c:pt idx="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142</c:v>
                </c:pt>
                <c:pt idx="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179</c:v>
                </c:pt>
                <c:pt idx="1">
                  <c:v>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11</c:v>
                </c:pt>
                <c:pt idx="1">
                  <c:v>170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5</c:v>
                </c:pt>
                <c:pt idx="3">
                  <c:v>5</c:v>
                </c:pt>
                <c:pt idx="6">
                  <c:v>5</c:v>
                </c:pt>
                <c:pt idx="9">
                  <c:v>5</c:v>
                </c:pt>
                <c:pt idx="12">
                  <c:v>5</c:v>
                </c:pt>
                <c:pt idx="15">
                  <c:v>5</c:v>
                </c:pt>
                <c:pt idx="18">
                  <c:v>5</c:v>
                </c:pt>
                <c:pt idx="21">
                  <c:v>5</c:v>
                </c:pt>
                <c:pt idx="24">
                  <c:v>5</c:v>
                </c:pt>
                <c:pt idx="27">
                  <c:v>5</c:v>
                </c:pt>
                <c:pt idx="30">
                  <c:v>5</c:v>
                </c:pt>
                <c:pt idx="3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1D-B549-A7DE-EF4D33711D1D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55</c:v>
                </c:pt>
                <c:pt idx="3">
                  <c:v>55</c:v>
                </c:pt>
                <c:pt idx="6">
                  <c:v>55</c:v>
                </c:pt>
                <c:pt idx="9">
                  <c:v>55</c:v>
                </c:pt>
                <c:pt idx="12">
                  <c:v>55</c:v>
                </c:pt>
                <c:pt idx="15">
                  <c:v>55</c:v>
                </c:pt>
                <c:pt idx="18">
                  <c:v>55</c:v>
                </c:pt>
                <c:pt idx="21">
                  <c:v>55</c:v>
                </c:pt>
                <c:pt idx="24">
                  <c:v>55</c:v>
                </c:pt>
                <c:pt idx="27">
                  <c:v>55</c:v>
                </c:pt>
                <c:pt idx="30">
                  <c:v>55</c:v>
                </c:pt>
                <c:pt idx="33">
                  <c:v>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1D-B549-A7DE-EF4D33711D1D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1">
                  <c:v>10</c:v>
                </c:pt>
                <c:pt idx="4">
                  <c:v>10</c:v>
                </c:pt>
                <c:pt idx="7">
                  <c:v>10</c:v>
                </c:pt>
                <c:pt idx="10">
                  <c:v>10</c:v>
                </c:pt>
                <c:pt idx="13">
                  <c:v>10</c:v>
                </c:pt>
                <c:pt idx="16">
                  <c:v>10</c:v>
                </c:pt>
                <c:pt idx="19">
                  <c:v>10</c:v>
                </c:pt>
                <c:pt idx="22">
                  <c:v>10</c:v>
                </c:pt>
                <c:pt idx="25">
                  <c:v>10</c:v>
                </c:pt>
                <c:pt idx="28">
                  <c:v>10</c:v>
                </c:pt>
                <c:pt idx="31">
                  <c:v>10</c:v>
                </c:pt>
                <c:pt idx="3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1D-B549-A7DE-EF4D33711D1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71D-B549-A7DE-EF4D33711D1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71D-B549-A7DE-EF4D33711D1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71D-B549-A7DE-EF4D33711D1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71D-B549-A7DE-EF4D33711D1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71D-B549-A7DE-EF4D33711D1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71D-B549-A7DE-EF4D33711D1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71D-B549-A7DE-EF4D33711D1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71D-B549-A7DE-EF4D33711D1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171D-B549-A7DE-EF4D33711D1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71D-B549-A7DE-EF4D33711D1D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171D-B549-A7DE-EF4D33711D1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60</c:v>
                </c:pt>
                <c:pt idx="1">
                  <c:v>10</c:v>
                </c:pt>
                <c:pt idx="2">
                  <c:v>0</c:v>
                </c:pt>
                <c:pt idx="3">
                  <c:v>60</c:v>
                </c:pt>
                <c:pt idx="4">
                  <c:v>10</c:v>
                </c:pt>
                <c:pt idx="5">
                  <c:v>0</c:v>
                </c:pt>
                <c:pt idx="6">
                  <c:v>60</c:v>
                </c:pt>
                <c:pt idx="7">
                  <c:v>10</c:v>
                </c:pt>
                <c:pt idx="8">
                  <c:v>0</c:v>
                </c:pt>
                <c:pt idx="9">
                  <c:v>60</c:v>
                </c:pt>
                <c:pt idx="10">
                  <c:v>10</c:v>
                </c:pt>
                <c:pt idx="11">
                  <c:v>0</c:v>
                </c:pt>
                <c:pt idx="12">
                  <c:v>60</c:v>
                </c:pt>
                <c:pt idx="13">
                  <c:v>10</c:v>
                </c:pt>
                <c:pt idx="14">
                  <c:v>0</c:v>
                </c:pt>
                <c:pt idx="15">
                  <c:v>60</c:v>
                </c:pt>
                <c:pt idx="16">
                  <c:v>10</c:v>
                </c:pt>
                <c:pt idx="17">
                  <c:v>0</c:v>
                </c:pt>
                <c:pt idx="18">
                  <c:v>60</c:v>
                </c:pt>
                <c:pt idx="19">
                  <c:v>10</c:v>
                </c:pt>
                <c:pt idx="20">
                  <c:v>0</c:v>
                </c:pt>
                <c:pt idx="21">
                  <c:v>60</c:v>
                </c:pt>
                <c:pt idx="22">
                  <c:v>10</c:v>
                </c:pt>
                <c:pt idx="23">
                  <c:v>0</c:v>
                </c:pt>
                <c:pt idx="24">
                  <c:v>60</c:v>
                </c:pt>
                <c:pt idx="25">
                  <c:v>10</c:v>
                </c:pt>
                <c:pt idx="26">
                  <c:v>0</c:v>
                </c:pt>
                <c:pt idx="27">
                  <c:v>60</c:v>
                </c:pt>
                <c:pt idx="28">
                  <c:v>10</c:v>
                </c:pt>
                <c:pt idx="29">
                  <c:v>0</c:v>
                </c:pt>
                <c:pt idx="30">
                  <c:v>60</c:v>
                </c:pt>
                <c:pt idx="31">
                  <c:v>10</c:v>
                </c:pt>
                <c:pt idx="32">
                  <c:v>0</c:v>
                </c:pt>
                <c:pt idx="33">
                  <c:v>60</c:v>
                </c:pt>
                <c:pt idx="34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10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0E-0B4B-A8CF-968C5F8B2D40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11</c:v>
                </c:pt>
                <c:pt idx="1">
                  <c:v>9</c:v>
                </c:pt>
                <c:pt idx="2">
                  <c:v>9</c:v>
                </c:pt>
                <c:pt idx="3">
                  <c:v>7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1</c:v>
                </c:pt>
                <c:pt idx="9">
                  <c:v>1</c:v>
                </c:pt>
                <c:pt idx="11">
                  <c:v>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0E-0B4B-A8CF-968C5F8B2D40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6</c:v>
                </c:pt>
                <c:pt idx="5">
                  <c:v>8</c:v>
                </c:pt>
                <c:pt idx="6">
                  <c:v>6</c:v>
                </c:pt>
                <c:pt idx="7">
                  <c:v>6</c:v>
                </c:pt>
                <c:pt idx="9">
                  <c:v>1</c:v>
                </c:pt>
                <c:pt idx="11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0E-0B4B-A8CF-968C5F8B2D40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0</c:v>
                </c:pt>
                <c:pt idx="5">
                  <c:v>0</c:v>
                </c:pt>
                <c:pt idx="6">
                  <c:v>1</c:v>
                </c:pt>
                <c:pt idx="7">
                  <c:v>0</c:v>
                </c:pt>
                <c:pt idx="9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16</c:v>
                </c:pt>
                <c:pt idx="1">
                  <c:v>14</c:v>
                </c:pt>
                <c:pt idx="2">
                  <c:v>14</c:v>
                </c:pt>
                <c:pt idx="3">
                  <c:v>14</c:v>
                </c:pt>
                <c:pt idx="4">
                  <c:v>13</c:v>
                </c:pt>
                <c:pt idx="5">
                  <c:v>15</c:v>
                </c:pt>
                <c:pt idx="6">
                  <c:v>14</c:v>
                </c:pt>
                <c:pt idx="7">
                  <c:v>13</c:v>
                </c:pt>
                <c:pt idx="8">
                  <c:v>1</c:v>
                </c:pt>
                <c:pt idx="9">
                  <c:v>3</c:v>
                </c:pt>
                <c:pt idx="10">
                  <c:v>12</c:v>
                </c:pt>
                <c:pt idx="11">
                  <c:v>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451672367442856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10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E27-A747-9927-F7F0E1E987C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11</c:v>
                </c:pt>
                <c:pt idx="1">
                  <c:v>9</c:v>
                </c:pt>
                <c:pt idx="2">
                  <c:v>9</c:v>
                </c:pt>
                <c:pt idx="3">
                  <c:v>7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1</c:v>
                </c:pt>
                <c:pt idx="9">
                  <c:v>1</c:v>
                </c:pt>
                <c:pt idx="11">
                  <c:v>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E27-A747-9927-F7F0E1E987C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6</c:v>
                </c:pt>
                <c:pt idx="5">
                  <c:v>8</c:v>
                </c:pt>
                <c:pt idx="6">
                  <c:v>6</c:v>
                </c:pt>
                <c:pt idx="7">
                  <c:v>6</c:v>
                </c:pt>
                <c:pt idx="9">
                  <c:v>1</c:v>
                </c:pt>
                <c:pt idx="11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E27-A747-9927-F7F0E1E987CA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0</c:v>
                </c:pt>
                <c:pt idx="5">
                  <c:v>0</c:v>
                </c:pt>
                <c:pt idx="6">
                  <c:v>1</c:v>
                </c:pt>
                <c:pt idx="7">
                  <c:v>0</c:v>
                </c:pt>
                <c:pt idx="9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16</c:v>
                </c:pt>
                <c:pt idx="1">
                  <c:v>14</c:v>
                </c:pt>
                <c:pt idx="2">
                  <c:v>14</c:v>
                </c:pt>
                <c:pt idx="3">
                  <c:v>14</c:v>
                </c:pt>
                <c:pt idx="4">
                  <c:v>13</c:v>
                </c:pt>
                <c:pt idx="5">
                  <c:v>15</c:v>
                </c:pt>
                <c:pt idx="6">
                  <c:v>14</c:v>
                </c:pt>
                <c:pt idx="7">
                  <c:v>13</c:v>
                </c:pt>
                <c:pt idx="8">
                  <c:v>1</c:v>
                </c:pt>
                <c:pt idx="9">
                  <c:v>3</c:v>
                </c:pt>
                <c:pt idx="10">
                  <c:v>12</c:v>
                </c:pt>
                <c:pt idx="11">
                  <c:v>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2878023052360095"/>
          <c:w val="0.99589338467782274"/>
          <c:h val="0.1381688580606488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5</c:v>
                </c:pt>
                <c:pt idx="3">
                  <c:v>5</c:v>
                </c:pt>
                <c:pt idx="6">
                  <c:v>5</c:v>
                </c:pt>
                <c:pt idx="9">
                  <c:v>5</c:v>
                </c:pt>
                <c:pt idx="12">
                  <c:v>5</c:v>
                </c:pt>
                <c:pt idx="15">
                  <c:v>5</c:v>
                </c:pt>
                <c:pt idx="18">
                  <c:v>5</c:v>
                </c:pt>
                <c:pt idx="21">
                  <c:v>5</c:v>
                </c:pt>
                <c:pt idx="24">
                  <c:v>5</c:v>
                </c:pt>
                <c:pt idx="27">
                  <c:v>5</c:v>
                </c:pt>
                <c:pt idx="30">
                  <c:v>5</c:v>
                </c:pt>
                <c:pt idx="3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6F4-9648-A147-F9769DAF760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55</c:v>
                </c:pt>
                <c:pt idx="3">
                  <c:v>55</c:v>
                </c:pt>
                <c:pt idx="6">
                  <c:v>55</c:v>
                </c:pt>
                <c:pt idx="9">
                  <c:v>55</c:v>
                </c:pt>
                <c:pt idx="12">
                  <c:v>55</c:v>
                </c:pt>
                <c:pt idx="15">
                  <c:v>55</c:v>
                </c:pt>
                <c:pt idx="18">
                  <c:v>55</c:v>
                </c:pt>
                <c:pt idx="21">
                  <c:v>55</c:v>
                </c:pt>
                <c:pt idx="24">
                  <c:v>55</c:v>
                </c:pt>
                <c:pt idx="27">
                  <c:v>55</c:v>
                </c:pt>
                <c:pt idx="30">
                  <c:v>55</c:v>
                </c:pt>
                <c:pt idx="33">
                  <c:v>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6F4-9648-A147-F9769DAF760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1">
                  <c:v>10</c:v>
                </c:pt>
                <c:pt idx="4">
                  <c:v>10</c:v>
                </c:pt>
                <c:pt idx="7">
                  <c:v>10</c:v>
                </c:pt>
                <c:pt idx="10">
                  <c:v>10</c:v>
                </c:pt>
                <c:pt idx="13">
                  <c:v>10</c:v>
                </c:pt>
                <c:pt idx="16">
                  <c:v>10</c:v>
                </c:pt>
                <c:pt idx="19">
                  <c:v>10</c:v>
                </c:pt>
                <c:pt idx="22">
                  <c:v>10</c:v>
                </c:pt>
                <c:pt idx="25">
                  <c:v>10</c:v>
                </c:pt>
                <c:pt idx="28">
                  <c:v>10</c:v>
                </c:pt>
                <c:pt idx="31">
                  <c:v>10</c:v>
                </c:pt>
                <c:pt idx="3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6F4-9648-A147-F9769DAF760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6F4-9648-A147-F9769DAF760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6F4-9648-A147-F9769DAF760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6F4-9648-A147-F9769DAF760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6F4-9648-A147-F9769DAF760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6F4-9648-A147-F9769DAF760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6F4-9648-A147-F9769DAF760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6F4-9648-A147-F9769DAF760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6F4-9648-A147-F9769DAF760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6F4-9648-A147-F9769DAF760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6F4-9648-A147-F9769DAF760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6F4-9648-A147-F9769DAF760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60</c:v>
                </c:pt>
                <c:pt idx="1">
                  <c:v>10</c:v>
                </c:pt>
                <c:pt idx="2">
                  <c:v>0</c:v>
                </c:pt>
                <c:pt idx="3">
                  <c:v>60</c:v>
                </c:pt>
                <c:pt idx="4">
                  <c:v>10</c:v>
                </c:pt>
                <c:pt idx="5">
                  <c:v>0</c:v>
                </c:pt>
                <c:pt idx="6">
                  <c:v>60</c:v>
                </c:pt>
                <c:pt idx="7">
                  <c:v>10</c:v>
                </c:pt>
                <c:pt idx="8">
                  <c:v>0</c:v>
                </c:pt>
                <c:pt idx="9">
                  <c:v>60</c:v>
                </c:pt>
                <c:pt idx="10">
                  <c:v>10</c:v>
                </c:pt>
                <c:pt idx="11">
                  <c:v>0</c:v>
                </c:pt>
                <c:pt idx="12">
                  <c:v>60</c:v>
                </c:pt>
                <c:pt idx="13">
                  <c:v>10</c:v>
                </c:pt>
                <c:pt idx="14">
                  <c:v>0</c:v>
                </c:pt>
                <c:pt idx="15">
                  <c:v>60</c:v>
                </c:pt>
                <c:pt idx="16">
                  <c:v>10</c:v>
                </c:pt>
                <c:pt idx="17">
                  <c:v>0</c:v>
                </c:pt>
                <c:pt idx="18">
                  <c:v>60</c:v>
                </c:pt>
                <c:pt idx="19">
                  <c:v>10</c:v>
                </c:pt>
                <c:pt idx="20">
                  <c:v>0</c:v>
                </c:pt>
                <c:pt idx="21">
                  <c:v>60</c:v>
                </c:pt>
                <c:pt idx="22">
                  <c:v>10</c:v>
                </c:pt>
                <c:pt idx="23">
                  <c:v>0</c:v>
                </c:pt>
                <c:pt idx="24">
                  <c:v>60</c:v>
                </c:pt>
                <c:pt idx="25">
                  <c:v>10</c:v>
                </c:pt>
                <c:pt idx="26">
                  <c:v>0</c:v>
                </c:pt>
                <c:pt idx="27">
                  <c:v>60</c:v>
                </c:pt>
                <c:pt idx="28">
                  <c:v>10</c:v>
                </c:pt>
                <c:pt idx="29">
                  <c:v>0</c:v>
                </c:pt>
                <c:pt idx="30">
                  <c:v>60</c:v>
                </c:pt>
                <c:pt idx="31">
                  <c:v>10</c:v>
                </c:pt>
                <c:pt idx="32">
                  <c:v>0</c:v>
                </c:pt>
                <c:pt idx="33">
                  <c:v>60</c:v>
                </c:pt>
                <c:pt idx="34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56184207216202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10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71-2347-B18D-6B630A30733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11</c:v>
                </c:pt>
                <c:pt idx="1">
                  <c:v>9</c:v>
                </c:pt>
                <c:pt idx="2">
                  <c:v>9</c:v>
                </c:pt>
                <c:pt idx="3">
                  <c:v>7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1</c:v>
                </c:pt>
                <c:pt idx="9">
                  <c:v>1</c:v>
                </c:pt>
                <c:pt idx="11">
                  <c:v>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F71-2347-B18D-6B630A30733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6</c:v>
                </c:pt>
                <c:pt idx="5">
                  <c:v>8</c:v>
                </c:pt>
                <c:pt idx="6">
                  <c:v>6</c:v>
                </c:pt>
                <c:pt idx="7">
                  <c:v>6</c:v>
                </c:pt>
                <c:pt idx="9">
                  <c:v>1</c:v>
                </c:pt>
                <c:pt idx="11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F71-2347-B18D-6B630A307332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0</c:v>
                </c:pt>
                <c:pt idx="5">
                  <c:v>0</c:v>
                </c:pt>
                <c:pt idx="6">
                  <c:v>1</c:v>
                </c:pt>
                <c:pt idx="7">
                  <c:v>0</c:v>
                </c:pt>
                <c:pt idx="9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16</c:v>
                </c:pt>
                <c:pt idx="1">
                  <c:v>14</c:v>
                </c:pt>
                <c:pt idx="2">
                  <c:v>14</c:v>
                </c:pt>
                <c:pt idx="3">
                  <c:v>14</c:v>
                </c:pt>
                <c:pt idx="4">
                  <c:v>13</c:v>
                </c:pt>
                <c:pt idx="5">
                  <c:v>15</c:v>
                </c:pt>
                <c:pt idx="6">
                  <c:v>14</c:v>
                </c:pt>
                <c:pt idx="7">
                  <c:v>13</c:v>
                </c:pt>
                <c:pt idx="8">
                  <c:v>1</c:v>
                </c:pt>
                <c:pt idx="9">
                  <c:v>3</c:v>
                </c:pt>
                <c:pt idx="10">
                  <c:v>12</c:v>
                </c:pt>
                <c:pt idx="11">
                  <c:v>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3428871575955932"/>
          <c:w val="0.99589338467782274"/>
          <c:h val="0.132660372824690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5</c:v>
                </c:pt>
                <c:pt idx="3">
                  <c:v>5</c:v>
                </c:pt>
                <c:pt idx="6">
                  <c:v>5</c:v>
                </c:pt>
                <c:pt idx="9">
                  <c:v>5</c:v>
                </c:pt>
                <c:pt idx="12">
                  <c:v>5</c:v>
                </c:pt>
                <c:pt idx="15">
                  <c:v>5</c:v>
                </c:pt>
                <c:pt idx="18">
                  <c:v>5</c:v>
                </c:pt>
                <c:pt idx="21">
                  <c:v>5</c:v>
                </c:pt>
                <c:pt idx="24">
                  <c:v>5</c:v>
                </c:pt>
                <c:pt idx="27">
                  <c:v>5</c:v>
                </c:pt>
                <c:pt idx="30">
                  <c:v>5</c:v>
                </c:pt>
                <c:pt idx="3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E51-4E42-8C00-A948DC2E75DF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55</c:v>
                </c:pt>
                <c:pt idx="3">
                  <c:v>55</c:v>
                </c:pt>
                <c:pt idx="6">
                  <c:v>55</c:v>
                </c:pt>
                <c:pt idx="9">
                  <c:v>55</c:v>
                </c:pt>
                <c:pt idx="12">
                  <c:v>55</c:v>
                </c:pt>
                <c:pt idx="15">
                  <c:v>55</c:v>
                </c:pt>
                <c:pt idx="18">
                  <c:v>55</c:v>
                </c:pt>
                <c:pt idx="21">
                  <c:v>55</c:v>
                </c:pt>
                <c:pt idx="24">
                  <c:v>55</c:v>
                </c:pt>
                <c:pt idx="27">
                  <c:v>55</c:v>
                </c:pt>
                <c:pt idx="30">
                  <c:v>55</c:v>
                </c:pt>
                <c:pt idx="33">
                  <c:v>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E51-4E42-8C00-A948DC2E75DF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1">
                  <c:v>10</c:v>
                </c:pt>
                <c:pt idx="4">
                  <c:v>10</c:v>
                </c:pt>
                <c:pt idx="7">
                  <c:v>10</c:v>
                </c:pt>
                <c:pt idx="10">
                  <c:v>10</c:v>
                </c:pt>
                <c:pt idx="13">
                  <c:v>10</c:v>
                </c:pt>
                <c:pt idx="16">
                  <c:v>10</c:v>
                </c:pt>
                <c:pt idx="19">
                  <c:v>10</c:v>
                </c:pt>
                <c:pt idx="22">
                  <c:v>10</c:v>
                </c:pt>
                <c:pt idx="25">
                  <c:v>10</c:v>
                </c:pt>
                <c:pt idx="28">
                  <c:v>10</c:v>
                </c:pt>
                <c:pt idx="31">
                  <c:v>10</c:v>
                </c:pt>
                <c:pt idx="3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E51-4E42-8C00-A948DC2E75D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E51-4E42-8C00-A948DC2E75D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E51-4E42-8C00-A948DC2E75D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E51-4E42-8C00-A948DC2E75D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E51-4E42-8C00-A948DC2E75D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E51-4E42-8C00-A948DC2E75D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E51-4E42-8C00-A948DC2E75D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E51-4E42-8C00-A948DC2E75D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E51-4E42-8C00-A948DC2E75D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E51-4E42-8C00-A948DC2E75D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E51-4E42-8C00-A948DC2E75DF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E51-4E42-8C00-A948DC2E75D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60</c:v>
                </c:pt>
                <c:pt idx="1">
                  <c:v>10</c:v>
                </c:pt>
                <c:pt idx="2">
                  <c:v>0</c:v>
                </c:pt>
                <c:pt idx="3">
                  <c:v>60</c:v>
                </c:pt>
                <c:pt idx="4">
                  <c:v>10</c:v>
                </c:pt>
                <c:pt idx="5">
                  <c:v>0</c:v>
                </c:pt>
                <c:pt idx="6">
                  <c:v>60</c:v>
                </c:pt>
                <c:pt idx="7">
                  <c:v>10</c:v>
                </c:pt>
                <c:pt idx="8">
                  <c:v>0</c:v>
                </c:pt>
                <c:pt idx="9">
                  <c:v>60</c:v>
                </c:pt>
                <c:pt idx="10">
                  <c:v>10</c:v>
                </c:pt>
                <c:pt idx="11">
                  <c:v>0</c:v>
                </c:pt>
                <c:pt idx="12">
                  <c:v>60</c:v>
                </c:pt>
                <c:pt idx="13">
                  <c:v>10</c:v>
                </c:pt>
                <c:pt idx="14">
                  <c:v>0</c:v>
                </c:pt>
                <c:pt idx="15">
                  <c:v>60</c:v>
                </c:pt>
                <c:pt idx="16">
                  <c:v>10</c:v>
                </c:pt>
                <c:pt idx="17">
                  <c:v>0</c:v>
                </c:pt>
                <c:pt idx="18">
                  <c:v>60</c:v>
                </c:pt>
                <c:pt idx="19">
                  <c:v>10</c:v>
                </c:pt>
                <c:pt idx="20">
                  <c:v>0</c:v>
                </c:pt>
                <c:pt idx="21">
                  <c:v>60</c:v>
                </c:pt>
                <c:pt idx="22">
                  <c:v>10</c:v>
                </c:pt>
                <c:pt idx="23">
                  <c:v>0</c:v>
                </c:pt>
                <c:pt idx="24">
                  <c:v>60</c:v>
                </c:pt>
                <c:pt idx="25">
                  <c:v>10</c:v>
                </c:pt>
                <c:pt idx="26">
                  <c:v>0</c:v>
                </c:pt>
                <c:pt idx="27">
                  <c:v>60</c:v>
                </c:pt>
                <c:pt idx="28">
                  <c:v>10</c:v>
                </c:pt>
                <c:pt idx="29">
                  <c:v>0</c:v>
                </c:pt>
                <c:pt idx="30">
                  <c:v>60</c:v>
                </c:pt>
                <c:pt idx="31">
                  <c:v>10</c:v>
                </c:pt>
                <c:pt idx="32">
                  <c:v>0</c:v>
                </c:pt>
                <c:pt idx="33">
                  <c:v>60</c:v>
                </c:pt>
                <c:pt idx="34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83-C9EC-1D45-88B8-5E84B5854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B5CBF-3012-045D-BF54-6FE84596A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3B5E4-7175-81ED-5825-D28FF4AD0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745D3-74FD-0ADA-5B6C-DC6DBDDF1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31868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A74F8-E8A1-04EC-B454-288A2CC8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F02B9-A2E5-ED61-3237-42E0AC4BB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8B389-453E-3433-6FA3-9E9724AF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64E3-FBDC-C133-4E72-F1AAC7330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5603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40C3-8B77-A987-276E-F1D31C85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65009-84BF-8836-E818-4EE4D95DB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697E46-BEF0-F40D-55DD-BD10F7747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66F44B-8DFA-7FEC-E0BE-04E5455D62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23927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94A2A75-3145-2B40-BD84-D3A76CD6FFAD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523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chart" Target="../charts/chart16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9.xml"/><Relationship Id="rId2" Type="http://schemas.openxmlformats.org/officeDocument/2006/relationships/chart" Target="../charts/chart18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chart" Target="../charts/chart23.xm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22.xml"/><Relationship Id="rId5" Type="http://schemas.openxmlformats.org/officeDocument/2006/relationships/chart" Target="../charts/chart21.xml"/><Relationship Id="rId4" Type="http://schemas.openxmlformats.org/officeDocument/2006/relationships/chart" Target="../charts/chart20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319172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PROGRESS_STATUS_CHART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8D2C92C-F3B6-0645-618B-6712BD3DC864}"/>
              </a:ext>
            </a:extLst>
          </p:cNvPr>
          <p:cNvSpPr txBox="1"/>
          <p:nvPr/>
        </p:nvSpPr>
        <p:spPr>
          <a:xfrm>
            <a:off x="8958648" y="-525758"/>
            <a:ext cx="29117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PROGRESS_TIME_CHART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627681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PROGRESS_CAPABILITY_CHART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34A4DD1-8E2E-2463-DEA2-A080991AFFDD}"/>
              </a:ext>
            </a:extLst>
          </p:cNvPr>
          <p:cNvSpPr txBox="1"/>
          <p:nvPr/>
        </p:nvSpPr>
        <p:spPr>
          <a:xfrm>
            <a:off x="8958648" y="-525758"/>
            <a:ext cx="4856222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PROGRESS_MAINTAINABILITY_TIME_CHART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F3F2DA5-DB91-036B-8084-E06A04533789}"/>
              </a:ext>
            </a:extLst>
          </p:cNvPr>
          <p:cNvSpPr txBox="1"/>
          <p:nvPr/>
        </p:nvSpPr>
        <p:spPr>
          <a:xfrm>
            <a:off x="8958648" y="-525758"/>
            <a:ext cx="4664952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PROGRESS_ARCHITECTURE_TIME_CHART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 dirty="0"/>
              <a:t>Objectives – Open Source Health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BC168E2-17AD-9DBA-6B84-1C144E1C9C60}"/>
              </a:ext>
            </a:extLst>
          </p:cNvPr>
          <p:cNvSpPr txBox="1"/>
          <p:nvPr/>
        </p:nvSpPr>
        <p:spPr>
          <a:xfrm>
            <a:off x="8958648" y="-525758"/>
            <a:ext cx="349360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PROGRESS_OSH_TIME_CHART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BFA34CA-8C78-239B-7E53-B3D03983749C}"/>
              </a:ext>
            </a:extLst>
          </p:cNvPr>
          <p:cNvSpPr txBox="1"/>
          <p:nvPr/>
        </p:nvSpPr>
        <p:spPr>
          <a:xfrm>
            <a:off x="8958648" y="-525758"/>
            <a:ext cx="407485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PROGRESS_SECURITY_TIME_CHART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839E27-D90F-E20C-49BD-FB57BABEFAC9}"/>
              </a:ext>
            </a:extLst>
          </p:cNvPr>
          <p:cNvSpPr txBox="1"/>
          <p:nvPr/>
        </p:nvSpPr>
        <p:spPr>
          <a:xfrm>
            <a:off x="8958648" y="-525758"/>
            <a:ext cx="28840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OBJECTIVES_STATUS_CHART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per team between OBJECTIVES_PERIOD_START and OBJECTIVES_PERIOD_END</a:t>
            </a:r>
          </a:p>
        </p:txBody>
      </p:sp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58BFEBBE-782F-5949-61DC-BFDB2677CFC4}"/>
              </a:ext>
            </a:extLst>
          </p:cNvPr>
          <p:cNvSpPr txBox="1"/>
          <p:nvPr/>
        </p:nvSpPr>
        <p:spPr>
          <a:xfrm>
            <a:off x="8958648" y="-525758"/>
            <a:ext cx="2751287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OBJECTIVES_TEAM_CHART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C118AE4-B9DA-B3FE-EEDD-1BDB04D2F462}"/>
              </a:ext>
            </a:extLst>
          </p:cNvPr>
          <p:cNvSpPr txBox="1"/>
          <p:nvPr/>
        </p:nvSpPr>
        <p:spPr>
          <a:xfrm>
            <a:off x="8958648" y="-525758"/>
            <a:ext cx="327867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OBJECTIVES_CAPABILITY_CHART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D29FE66-4BB3-5D2F-A3C4-C8B49FF32A98}"/>
              </a:ext>
            </a:extLst>
          </p:cNvPr>
          <p:cNvSpPr txBox="1"/>
          <p:nvPr/>
        </p:nvSpPr>
        <p:spPr>
          <a:xfrm>
            <a:off x="8958648" y="-525758"/>
            <a:ext cx="305149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OBJECTIVES_OVERALL_CHART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7BA44144-1546-C60D-08A3-3BA8963BD131}"/>
              </a:ext>
            </a:extLst>
          </p:cNvPr>
          <p:cNvSpPr txBox="1"/>
          <p:nvPr/>
        </p:nvSpPr>
        <p:spPr>
          <a:xfrm>
            <a:off x="8958648" y="-525758"/>
            <a:ext cx="310176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OBJECTIVES_SECURITY_CHART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843581" cy="228145"/>
          </a:xfrm>
        </p:spPr>
        <p:txBody>
          <a:bodyPr/>
          <a:lstStyle/>
          <a:p>
            <a:r>
              <a:rPr lang="en-GB" dirty="0"/>
              <a:t>Objectives – Open-Source Health\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A9FCBC9-E8E9-8172-ED03-E01AFEA3D080}"/>
              </a:ext>
            </a:extLst>
          </p:cNvPr>
          <p:cNvSpPr txBox="1"/>
          <p:nvPr/>
        </p:nvSpPr>
        <p:spPr>
          <a:xfrm>
            <a:off x="8958648" y="-525758"/>
            <a:ext cx="259701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OBJECTIVES_OSH_CHART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90627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AF101A0-D2C5-ABB6-3561-D791839A8F45}"/>
              </a:ext>
            </a:extLst>
          </p:cNvPr>
          <p:cNvSpPr txBox="1"/>
          <p:nvPr/>
        </p:nvSpPr>
        <p:spPr>
          <a:xfrm>
            <a:off x="8958648" y="-525758"/>
            <a:ext cx="391256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OBJECTIVES_MAINTAINABILITY_CHART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B94DF9-0680-0BC8-EEFA-8DEBE0564A3D}"/>
              </a:ext>
            </a:extLst>
          </p:cNvPr>
          <p:cNvSpPr txBox="1"/>
          <p:nvPr/>
        </p:nvSpPr>
        <p:spPr>
          <a:xfrm>
            <a:off x="8958648" y="-525758"/>
            <a:ext cx="363505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OBJECTIVES_ARCHITECTURE_CHART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</p:spPr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8671C5-F042-037A-74D6-4C34BE22CC2D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</a:t>
            </a:r>
            <a:r>
              <a:rPr lang="en-US" sz="1600" dirty="0">
                <a:solidFill>
                  <a:schemeClr val="bg1"/>
                </a:solidFill>
              </a:rPr>
              <a:t>_GROUPED_BY_TEAM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PORTFOLIO_PERIOD_MAINT_SHORT_SUMMARY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PORTFOLIO_MAINT_AVG_RATING</a:t>
            </a:r>
            <a:r>
              <a:rPr lang="en-US" sz="100" dirty="0"/>
              <a:t> </a:t>
            </a:r>
            <a:r>
              <a:rPr lang="en-US" dirty="0">
                <a:latin typeface="Sigsterren" pitchFamily="2" charset="0"/>
              </a:rPr>
              <a:t>H.</a:t>
            </a:r>
          </a:p>
          <a:p>
            <a:pPr indent="-283845"/>
            <a:r>
              <a:rPr lang="en-US" dirty="0"/>
              <a:t>PORTFOLIO_MAINT_ABOVE_MARKET</a:t>
            </a:r>
            <a:r>
              <a:rPr lang="en-GB" sz="1550" noProof="0" dirty="0"/>
              <a:t>% of systems score above market average (≥3.5</a:t>
            </a:r>
            <a:r>
              <a:rPr lang="en-GB" sz="1550" dirty="0">
                <a:latin typeface="Sigsterren" pitchFamily="2" charset="0"/>
                <a:cs typeface="Calibri"/>
              </a:rPr>
              <a:t>H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GB" sz="1550" dirty="0">
                <a:latin typeface="Sigsterren" pitchFamily="2" charset="0"/>
                <a:cs typeface="Calibri"/>
              </a:rPr>
              <a:t>H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GB" sz="1550" dirty="0">
                <a:latin typeface="Sigsterren" pitchFamily="2" charset="0"/>
                <a:ea typeface="Calibri"/>
                <a:cs typeface="Calibri"/>
              </a:rPr>
              <a:t>H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00F3-3D18-CF63-16D4-96CA7839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14AA8-0AD7-EDFF-9986-B230DB557A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F1BFF63-C4B5-7AB9-E5D9-E74391AFD9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9EB6A-8DF6-69EE-B118-CBF9A8558A5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AFF12C5-E73A-8501-2BCE-9BD95E2E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Lifecycle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B9C8604-49B1-C79B-52E3-E11913D097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044EBA72-3AF3-C450-92C3-70B42255A7A7}"/>
              </a:ext>
            </a:extLst>
          </p:cNvPr>
          <p:cNvSpPr txBox="1"/>
          <p:nvPr/>
        </p:nvSpPr>
        <p:spPr>
          <a:xfrm>
            <a:off x="2643466" y="6054740"/>
            <a:ext cx="1520116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Lifecycle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49045C-A3DB-D503-5F61-D4753A6B2ED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624AC01-AE32-E25C-2E9D-D62F1A546D5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E528D542-C236-FC7F-A86B-58E301E03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C8A81E2-505A-2686-805D-D50F2ED4D58F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DC148D-262C-83BE-A7DB-4CEECDA9841D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3216D68-D9B6-5F6A-FBB5-3659B7899E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C52AC4-11B0-1D06-863D-8E95DF4FAEE5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FCAE05B-9910-83DD-05A3-9ED3538CAB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B02E6CFD-57D4-174C-07D0-383B813F68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6E1917-406F-73B3-C93D-1D8325F31D6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7C8CEE-6BFB-AD76-8318-6426CA6A5C1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290A5E7-04EA-1335-3D95-D2A8C4CF3F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1BB1CA-50D6-5754-E886-56DDDB6B630E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AAE7018-A3D7-FF0D-2550-A7320B145E2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DBAC6E5-512A-CB63-DCC5-44139D7EA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BD4EC-E668-DDBB-C898-CDC11794C48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32345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9E1A0-F677-7ABE-9F7B-0B74434D5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E9586-B72E-67FD-21F0-E86559BC65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8337E4-C7B3-967F-A5FA-450CDEAD96F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5351A-A8A1-C0E9-116D-C791E57414D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DB2541-F26E-1A45-8C1C-10C58277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Deployment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DBC813-1EFC-AA71-9CF7-12E30412E01E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2C797B5-3356-1576-4F18-BFFC41D8A5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358172D-32D9-F7C1-D993-4B31C910BDC4}"/>
              </a:ext>
            </a:extLst>
          </p:cNvPr>
          <p:cNvSpPr txBox="1"/>
          <p:nvPr/>
        </p:nvSpPr>
        <p:spPr>
          <a:xfrm>
            <a:off x="2643466" y="6054740"/>
            <a:ext cx="179423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Deployment Type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94076F7-E0CB-4844-36A0-D8ADEDF46A51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6BDAFEE-BD87-364A-427B-1ADAFE9D2FD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A5818A4-3349-D5D3-42AF-155A2D3964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CC7B01C-4916-26E1-BEC3-B97CA46AC67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715FDF0-0DD1-688E-2C19-BE57D0DA2F9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AF55BD8D-BD79-0350-2FF6-1D572839C3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2A0D7B8-8D00-392D-59FD-31D01E88F3E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2AE4D71-1C4A-A29C-0135-FB7FC88EE56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E8395B98-85FF-EEBA-96FB-A7FD10538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E17E4DA-2C3C-2AE2-3363-D2D775759D3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1EF211C-C030-38AE-15E4-BA37EEBA212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4618CD8B-F77F-7B94-7099-D2A6E0871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87D693-398F-725A-9E0E-7CE3C9CEBF7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A213B5F-642D-ACFE-8DAA-017FB6B32DF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5212BCE3-BB24-D5A2-9072-32AB9DC116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D4CC371E-7328-F7F7-E9E1-4858B90AD402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56A5C-934D-E3B5-596C-448BF20A39E1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90901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90F2-097E-682B-E154-B7F5F68A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A01EA-8BF6-6C6E-C2EA-026E3BA52E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1A6A741-490B-4D85-EDEC-A2D787FD2B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532D-92C0-31A1-1473-96C62B00C1E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82FDEF-4FFE-5D1A-E5F7-E673D396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Business Criticality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8214E2-3C43-8276-BC3B-196FE252F2B4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6D6577-B13F-B6A8-C50E-B924340478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ACC91BC5-C6A3-5E77-246D-36FE2F685E7F}"/>
              </a:ext>
            </a:extLst>
          </p:cNvPr>
          <p:cNvSpPr txBox="1"/>
          <p:nvPr/>
        </p:nvSpPr>
        <p:spPr>
          <a:xfrm>
            <a:off x="2643466" y="6054740"/>
            <a:ext cx="1864762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Business Criticality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C38E846-65C7-5F8A-02D3-5E9652F1F70D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446B051-EB92-D2E7-6D04-74636614C2A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99D95B88-8CC0-573A-6535-1AF23E138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CBF650-7B39-402A-827B-0981957A785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00EB7BA-5DEA-3F0D-197E-72B2F548A84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99B21F0D-B748-B211-AE94-D684974C74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F94FE93-43F4-84F8-E7F2-D0A5E5B08F99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36C1F78-BC5D-CEC8-ED18-7E9E38E2B3F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A4081921-0E01-5FE7-D962-38E98F27E6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DD3B032-3BEE-87E0-6573-8C81BBB66BA1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4B3E38A-DFD6-B7C0-F31B-4A4BF82291B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CE0EE23E-F45B-7E9B-0DB6-9538874186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729FE5C-29C5-D102-FDA1-A0608E280B5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0EF10E4-21F6-AF24-DEE6-649B26F77B1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DE93FE0A-13E1-4209-1411-4A41EBD2C8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A79886F-F6FA-7F5B-8560-B0BE0161E43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PORTFOLIO_PERIOD_MAINTAINABILITY_GROUPED_BY_BUSINESS_CRITICALITY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8FE69-CB4F-3856-7D00-A94F1E209BB2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56557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4222FB8-7B13-BCD6-F6A0-91FE5654FB8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771079" cy="228209"/>
          </a:xfrm>
        </p:spPr>
        <p:txBody>
          <a:bodyPr/>
          <a:lstStyle/>
          <a:p>
            <a:r>
              <a:rPr lang="en-GB" dirty="0"/>
              <a:t>Portfolio trends – Maintainability –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9DC56-8462-CF33-E81E-8455477D979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PORTFOLIO_PERIOD_MAINT_CHANGE_SHORT_SUMMARY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7864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GB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29862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GB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PORTFOLIO_MAINT_INCREASED% of systems has seen an increase in maintainability. PORTFOLIO_MAINT_STABLE% of systems has remained stable. PORTFOLIO_MAINT_DECREASED%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D37E637B-F307-DB1A-A51A-12A2262AEFC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PORTFOLIO_PERIOD_MAINTAINABILITY_DELTA_QUALITY_NEW_CODE_GROUPED_BY</a:t>
            </a:r>
            <a:r>
              <a:rPr lang="en-GB" sz="1600">
                <a:solidFill>
                  <a:schemeClr val="bg1"/>
                </a:solidFill>
              </a:rPr>
              <a:t>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B11F98-52B8-0076-76CB-238BEE6E686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newly written code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PORTFOLIO_NEW_CODE_BIGGEST_CHANGES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D3CD12-8F31-5FC5-9D7A-C77F8DB8A480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PORTFOLIO_PERIOD_MAINTAINABILITY_DELTA_QUALITY_CHANGED_CODE_GROUPED_BY_TEAM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174C2F-D188-5116-64A1-84C15F30C53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changed code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446F1-4C2E-3E8E-B8CF-472DCCEA8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F309309-A96C-94CD-FD90-AEC66468BD3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F77DDD-2A9C-A11A-BCC8-78FB2B6B006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AC8139-63F5-DD9B-84D1-A0E0FE1373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DACB4F8-DCF6-6037-2620-E3F7A90BD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delta quality ratings of the portfolio between PORTFOLIO_PERIOD_START_DATE and PORTFOLIO_PERIOD_END_DATE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59FE4D2-6709-94D1-92D9-433748541C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E673761-5FC2-9029-6267-B19DD2C2F08B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242F203-49FD-78B9-B03E-4B9D44080378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F7BC1B3-A2C3-BB29-2484-DB2065CFD8C1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FA531F56-1E0E-6966-F40D-82C11CD93C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695109-2321-E534-0496-0ADC19043553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4620934-284F-2137-983F-DA633CD4E2E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2435BBC8-9793-F0F4-6F77-AC9C450E215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319A2AF-EE85-F130-2282-3114CACC0253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5B8074A-2CFD-EC0C-FB62-DDD31D98A528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39DA4B9E-871A-CA27-7E89-0340C130DDA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1B07BA2-B357-2D15-D5DF-CA3BD8F33EB2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3C6C928-3648-4252-D644-F64A97E52B4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CD3E39B9-2702-25B6-A505-D5656EBFEB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ADE2C6F-AEEE-26B4-005C-17E9581A5312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01A3FAA-9759-8285-2BDD-A70A6DD18FC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FA12D9BB-7561-E3D0-BCAD-DE466F39D20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C767695A-0F52-1B53-B0CD-9FE176D84948}"/>
              </a:ext>
            </a:extLst>
          </p:cNvPr>
          <p:cNvSpPr/>
          <p:nvPr/>
        </p:nvSpPr>
        <p:spPr>
          <a:xfrm>
            <a:off x="156000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PORTFOLIO_PERIOD_MAINTAINABILITY_DELTA_QUALITY_NEW_CODE_GROUPED_BY_TEAM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515FDBA-44E5-4000-CE8B-09E1F218B77D}"/>
              </a:ext>
            </a:extLst>
          </p:cNvPr>
          <p:cNvSpPr/>
          <p:nvPr/>
        </p:nvSpPr>
        <p:spPr>
          <a:xfrm>
            <a:off x="4172249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PORTFOLIO_PERIOD_MAINTAINABILITY_DELTA_QUALITY_CHANGED_CODE_GROUPED_BY_TEAM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4CCA3F0-A440-956F-9DFA-0417F9AF51B1}"/>
              </a:ext>
            </a:extLst>
          </p:cNvPr>
          <p:cNvSpPr/>
          <p:nvPr/>
        </p:nvSpPr>
        <p:spPr>
          <a:xfrm>
            <a:off x="8188499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PORTFOLIO_PERIOD_MAINTAINABILITY_DELTA_QUALITY_NEW_AND_CHANGED_CODE_GROUPED_BY_TEAM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CC2EDDF-C97F-C25E-F440-BBC1D7D1DC85}"/>
              </a:ext>
            </a:extLst>
          </p:cNvPr>
          <p:cNvSpPr txBox="1"/>
          <p:nvPr/>
        </p:nvSpPr>
        <p:spPr>
          <a:xfrm>
            <a:off x="1565977" y="1478241"/>
            <a:ext cx="1027546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>
                <a:solidFill>
                  <a:schemeClr val="tx1"/>
                </a:solidFill>
              </a:rPr>
              <a:t>New code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73620C-AE1D-DD22-A4B2-1F42A19EE0DC}"/>
              </a:ext>
            </a:extLst>
          </p:cNvPr>
          <p:cNvSpPr txBox="1"/>
          <p:nvPr/>
        </p:nvSpPr>
        <p:spPr>
          <a:xfrm>
            <a:off x="5406473" y="1478241"/>
            <a:ext cx="137905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/>
              <a:t>Changed</a:t>
            </a:r>
            <a:r>
              <a:rPr lang="en-GB" sz="1600" b="1" dirty="0">
                <a:solidFill>
                  <a:schemeClr val="tx1"/>
                </a:solidFill>
              </a:rPr>
              <a:t> code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9C04E7-0175-768A-89BA-8351440D4908}"/>
              </a:ext>
            </a:extLst>
          </p:cNvPr>
          <p:cNvSpPr txBox="1"/>
          <p:nvPr/>
        </p:nvSpPr>
        <p:spPr>
          <a:xfrm>
            <a:off x="9032106" y="1478241"/>
            <a:ext cx="21602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>
                <a:solidFill>
                  <a:schemeClr val="tx1"/>
                </a:solidFill>
              </a:rPr>
              <a:t>New and changed code</a:t>
            </a:r>
          </a:p>
        </p:txBody>
      </p:sp>
    </p:spTree>
    <p:extLst>
      <p:ext uri="{BB962C8B-B14F-4D97-AF65-F5344CB8AC3E}">
        <p14:creationId xmlns:p14="http://schemas.microsoft.com/office/powerpoint/2010/main" val="25348020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61">
            <a:extLst>
              <a:ext uri="{FF2B5EF4-FFF2-40B4-BE49-F238E27FC236}">
                <a16:creationId xmlns:a16="http://schemas.microsoft.com/office/drawing/2014/main" id="{72E9D2A6-2917-A151-9F95-9B69A0D029E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PORTFOLIO_PERIOD_VOLUME_CHANGE_GROUPED_BY_TEAM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843581" cy="228209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F366C7-3114-4B4C-4D7B-B7C04086F13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volume (effort) of the portfolio between PORTFOLIO_PERIOD_START_DATE and PORTFOLIO_PERIOD_END_DATE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Team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PORTFOLIO_RELATIVE_VOLUME_CHANGE in volume of PORTFOLIO_VOLUME_CHANGE.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PORTFOLIO_SYSTEM_BIGGEST_VOLUME_CHANGE has seen the biggest change with PORTFOLIO_RELATIVE_BIGGEST_VOLUME_CHANGE of PORTFOLIO_SYSTEM_PM_BIGGEST_VOLUME_CHANGE.</a:t>
            </a:r>
          </a:p>
        </p:txBody>
      </p:sp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4AAAF0DF-523F-2152-BE91-E690F0C16A3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2F0B54-B832-6085-49CA-E85C45796DA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Test-to-production code ratios of the portfolio between PORTFOLIO_PERIOD_START_DATE and PORTFOLIO_PERIOD_END_DATE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PORTFOLIO_TEST_CODE_LOW</a:t>
            </a:r>
            <a:r>
              <a:rPr lang="en-GB" sz="1550" noProof="0" dirty="0"/>
              <a:t>% systems have a test code ratio of &lt; 50%.</a:t>
            </a:r>
          </a:p>
          <a:p>
            <a:pPr indent="-283845"/>
            <a:r>
              <a:rPr lang="en-GB" sz="1550" dirty="0"/>
              <a:t>PORTFOLIO_TEST_CODE_MEDIUM</a:t>
            </a:r>
            <a:r>
              <a:rPr lang="en-GB" sz="1550" dirty="0">
                <a:ea typeface="Calibri"/>
                <a:cs typeface="Calibri"/>
              </a:rPr>
              <a:t>% of systems have a test code ratio between 50% and 100%.</a:t>
            </a:r>
          </a:p>
          <a:p>
            <a:pPr indent="-283845"/>
            <a:r>
              <a:rPr lang="en-GB" sz="1550" dirty="0"/>
              <a:t>PORTFOLIO_TEST_CODE_HIGH</a:t>
            </a:r>
            <a:r>
              <a:rPr lang="en-GB" sz="1550" dirty="0">
                <a:ea typeface="Calibri"/>
                <a:cs typeface="Calibri"/>
              </a:rPr>
              <a:t>% of systems have a test code ratio ≥ 100%</a:t>
            </a:r>
          </a:p>
        </p:txBody>
      </p:sp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2F531B6D-B81A-7E98-1D56-EABC271BE38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951530" cy="228209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1581-856E-3020-C018-13E27E63586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test-to-production code ratios of the portfolio between PORTFOLIO_PERIOD_START_DATE and PORTFOLIO_PERIOD_END_DATE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PORTFOLIO_RELATIVE_TEST_CODE_DIFFERENCE in test code ratio for the </a:t>
            </a:r>
            <a:r>
              <a:rPr lang="en-GB" sz="1550" dirty="0"/>
              <a:t>portfolio (PORTFOLIO_TEST_CODE_DIFFERENCE%).</a:t>
            </a:r>
            <a:endParaRPr lang="en-GB" sz="1550" noProof="0" dirty="0"/>
          </a:p>
          <a:p>
            <a:pPr indent="-283845"/>
            <a:r>
              <a:rPr lang="en-GB" sz="1550" dirty="0"/>
              <a:t>PORTFOLIO_TEST_CODE_INCREASE% of systems have seen an increase in test code ratio while PORTFOLIO_TEST_CODE_DECREASE% of systems have seen a decrease. </a:t>
            </a:r>
          </a:p>
          <a:p>
            <a:pPr indent="-283845"/>
            <a:r>
              <a:rPr lang="en-GB" sz="1550" dirty="0"/>
              <a:t>PORTFOLIO_TEST_CODE_BIGGEST_CHANGES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F90BB58-CA09-58E2-BE3B-2E065F51CF77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PORTFOLIO_PERIOD_ARCHITECTURE_GROUPED_BY_TEAM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759263" cy="228209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EA4971-6A99-29AF-1BC3-87E1EAC3B19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Architecture ratings of the portfolio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en-GB" dirty="0"/>
              <a:t>Architecture Quality</a:t>
            </a:r>
            <a:r>
              <a:rPr lang="en-US" dirty="0"/>
              <a:t> rating for the portfolio is PORTFOLIO_ARCH_AVG_RATING</a:t>
            </a:r>
            <a:r>
              <a:rPr lang="en-US" sz="100" dirty="0"/>
              <a:t> </a:t>
            </a:r>
            <a:r>
              <a:rPr lang="en-US" dirty="0">
                <a:latin typeface="Sigsterren" pitchFamily="2" charset="0"/>
              </a:rPr>
              <a:t>H.</a:t>
            </a:r>
            <a:endParaRPr lang="en-US" dirty="0"/>
          </a:p>
          <a:p>
            <a:pPr indent="-283845"/>
            <a:r>
              <a:rPr lang="en-US" dirty="0"/>
              <a:t>PORTFOLIO_ARCH_ABOVE_MARKET</a:t>
            </a:r>
            <a:r>
              <a:rPr lang="en-GB" dirty="0"/>
              <a:t>% of systems score above market average for Architecture Quality (≥3.5</a:t>
            </a:r>
            <a:r>
              <a:rPr lang="en-GB" dirty="0">
                <a:latin typeface="Sigsterren" pitchFamily="2" charset="0"/>
                <a:cs typeface="Calibri"/>
              </a:rPr>
              <a:t>H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PORTFOLIO_ARCH_MARKET_AVERAGE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(3</a:t>
            </a:r>
            <a:r>
              <a:rPr lang="en-GB" dirty="0">
                <a:latin typeface="Sigsterren" pitchFamily="2" charset="0"/>
                <a:cs typeface="Calibri"/>
              </a:rPr>
              <a:t>H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(≤2.5</a:t>
            </a:r>
            <a:r>
              <a:rPr lang="en-GB" dirty="0">
                <a:latin typeface="Sigsterren" pitchFamily="2" charset="0"/>
                <a:ea typeface="Calibri"/>
                <a:cs typeface="Calibri"/>
              </a:rPr>
              <a:t>H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265171" cy="228209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7F3D46-14AA-5186-5BE6-A857453EEA4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Open-source health ratings of the portfolio between PORTFOLIO_PERIOD_START_DATE and PORTFOLIO_PERIOD_END_DATE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E8C506-EBA7-D433-19CB-BD7B4186FE2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PORTFOLIO_PERIOD_OSH_RATINGS_GROUPED_BY_TEAM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Open Source Health </a:t>
            </a:r>
            <a:r>
              <a:rPr lang="en-US" dirty="0"/>
              <a:t>rating for the portfolio is PORTFOLIO_OSH_AVG_RATING</a:t>
            </a:r>
            <a:r>
              <a:rPr lang="en-US" sz="100" dirty="0"/>
              <a:t> </a:t>
            </a:r>
            <a:r>
              <a:rPr lang="en-US" dirty="0">
                <a:latin typeface="Sigsterren" pitchFamily="2" charset="0"/>
              </a:rPr>
              <a:t>H.</a:t>
            </a:r>
            <a:endParaRPr lang="en-US" dirty="0"/>
          </a:p>
          <a:p>
            <a:pPr indent="-283845"/>
            <a:r>
              <a:rPr lang="en-GB" dirty="0"/>
              <a:t>PORTFOLIO_OSH_ABOVE_MARKET% of systems score above market average for Open Source Health (≥3.5</a:t>
            </a:r>
            <a:r>
              <a:rPr lang="en-GB" dirty="0">
                <a:latin typeface="Sigsterren" pitchFamily="2" charset="0"/>
                <a:cs typeface="Calibri"/>
              </a:rPr>
              <a:t>H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PORTFOLIO_OSH_MARKET_AVERAGE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GB" dirty="0">
                <a:latin typeface="Sigsterren" pitchFamily="2" charset="0"/>
                <a:cs typeface="Calibri"/>
              </a:rPr>
              <a:t>H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GB" dirty="0">
                <a:latin typeface="Sigsterren" pitchFamily="2" charset="0"/>
                <a:ea typeface="Calibri"/>
                <a:cs typeface="Calibri"/>
              </a:rPr>
              <a:t>H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PORTFOLIO_OSH_VULN_SUMMARY</a:t>
            </a:r>
          </a:p>
          <a:p>
            <a:r>
              <a:rPr lang="en-US" dirty="0"/>
              <a:t>PORTFOLIO_OSH_LEGAL_SUMMARY</a:t>
            </a:r>
          </a:p>
          <a:p>
            <a:r>
              <a:rPr lang="en-US" dirty="0"/>
              <a:t>PORTFOLIO_OSH_FRESHNESS_SUMMARY</a:t>
            </a:r>
          </a:p>
          <a:p>
            <a:r>
              <a:rPr lang="en-US" dirty="0"/>
              <a:t>PORTFOLIO_OSH_MANAGEMENT_SUMMARY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PORTFOLIO_OSH_TOTAL_DEPS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PORTFOLIO_OSH_HIGH_RISK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PORTFOLIO_OSH_MEDIUM_RISK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PORTFOLIO_OSH_LOW_RISK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PORTFOLIO_OSH_NO_RISK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PORTFOLIO_OSH_CRITICAL_RISK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85CC0D40-EB66-D793-CEA6-7AF5F045B2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849600" y="6462000"/>
            <a:ext cx="1085851" cy="231923"/>
          </a:xfrm>
        </p:spPr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32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6B50AD-427C-5D86-3D4E-3F19EA3CD336}"/>
              </a:ext>
            </a:extLst>
          </p:cNvPr>
          <p:cNvSpPr txBox="1"/>
          <p:nvPr/>
        </p:nvSpPr>
        <p:spPr>
          <a:xfrm>
            <a:off x="10029657" y="-386323"/>
            <a:ext cx="2162343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OSH_PORTFOLIO_SLIDE</a:t>
            </a:r>
          </a:p>
        </p:txBody>
      </p:sp>
      <p:graphicFrame>
        <p:nvGraphicFramePr>
          <p:cNvPr id="2" name="CHART_2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/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CHART_1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/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41B5DD80-60E5-8513-9972-0F7EF4189F04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PORTFOLIO_PERIOD_SECURITY_RATINGS_GROUPED_BY_TEAM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14A6CB-9C92-0C40-9DFC-ECCD40B4D27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Security ratings of the portfolio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Security </a:t>
            </a:r>
            <a:r>
              <a:rPr lang="en-US" dirty="0"/>
              <a:t>rating for the portfolio is PORTFOLIO_SEC_AVG_RATING</a:t>
            </a:r>
            <a:r>
              <a:rPr lang="en-US" sz="100" dirty="0"/>
              <a:t> </a:t>
            </a:r>
            <a:r>
              <a:rPr lang="en-US" dirty="0">
                <a:latin typeface="Sigsterren" pitchFamily="2" charset="0"/>
              </a:rPr>
              <a:t>H.</a:t>
            </a:r>
            <a:endParaRPr lang="en-US" dirty="0"/>
          </a:p>
          <a:p>
            <a:pPr indent="-283845"/>
            <a:r>
              <a:rPr lang="en-GB" dirty="0"/>
              <a:t>PORTFOLIO_SEC_ABOVE_MARKET% of systems score above market average for Security (≥3.5</a:t>
            </a:r>
            <a:r>
              <a:rPr lang="en-GB" dirty="0">
                <a:latin typeface="Sigsterren" pitchFamily="2" charset="0"/>
                <a:cs typeface="Calibri"/>
              </a:rPr>
              <a:t>H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PORTFOLIO_SEC_MARKET_AVERAGE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Security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GB" dirty="0">
                <a:latin typeface="Sigsterren" pitchFamily="2" charset="0"/>
                <a:cs typeface="Calibri"/>
              </a:rPr>
              <a:t>H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PORTFOLIO_SEC_BELOW_MARKET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Security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GB" dirty="0">
                <a:latin typeface="Sigsterren" pitchFamily="2" charset="0"/>
                <a:ea typeface="Calibri"/>
                <a:cs typeface="Calibri"/>
              </a:rPr>
              <a:t>H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A976C-A43A-62DF-8A14-555177D4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88C01D-33FF-CD9A-A477-2806EB6B1C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301C0D-0321-1290-3EFE-1E641277D76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9CBBF-57FB-ABB3-9835-20A2F9691D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BE6FAE6-87BA-B605-5E5B-FC841A95C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Critical findings trends of the last 12 months (ending at 2025-12-31)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132F2E1-B218-4956-6E9E-F625515C8382}"/>
              </a:ext>
            </a:extLst>
          </p:cNvPr>
          <p:cNvSpPr/>
          <p:nvPr/>
        </p:nvSpPr>
        <p:spPr>
          <a:xfrm flipH="1">
            <a:off x="861633" y="3390745"/>
            <a:ext cx="10468734" cy="27201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04CBEEE-0C86-D6F2-5A66-0F130C4B2075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20177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Since 2025-01-01, 675 critical security findings have been resolved while 731 new critical findings were discovered. Overall, there has been an increase in critical security findings of 56.</a:t>
            </a:r>
          </a:p>
          <a:p>
            <a:pPr indent="-283845"/>
            <a:r>
              <a:rPr lang="en-GB" sz="1550" dirty="0"/>
              <a:t>Of the resolved critical findings, most were resolved in at least 30 days (518 findings). 37 findings were resolved within the recommended 7 days while 518 were resolved after 30 days or more. </a:t>
            </a:r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BBA603-4FBD-82C4-AF78-275C415604E9}"/>
              </a:ext>
            </a:extLst>
          </p:cNvPr>
          <p:cNvSpPr txBox="1"/>
          <p:nvPr/>
        </p:nvSpPr>
        <p:spPr>
          <a:xfrm>
            <a:off x="8376169" y="-369332"/>
            <a:ext cx="4236629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dirty="0"/>
              <a:t>PORTFOLIO_SECURITY_FINDINGS_CRITICAL</a:t>
            </a:r>
          </a:p>
        </p:txBody>
      </p:sp>
      <p:graphicFrame>
        <p:nvGraphicFramePr>
          <p:cNvPr id="10" name="PORTFOLIO_SECURITY_FINDINGS_CRITICAL">
            <a:extLst>
              <a:ext uri="{FF2B5EF4-FFF2-40B4-BE49-F238E27FC236}">
                <a16:creationId xmlns:a16="http://schemas.microsoft.com/office/drawing/2014/main" id="{910F2E1C-D877-D2BA-B431-F9C4BA5850D7}"/>
              </a:ext>
            </a:extLst>
          </p:cNvPr>
          <p:cNvGraphicFramePr>
            <a:graphicFrameLocks/>
          </p:cNvGraphicFramePr>
          <p:nvPr/>
        </p:nvGraphicFramePr>
        <p:xfrm>
          <a:off x="1124437" y="3851133"/>
          <a:ext cx="5010978" cy="21773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PORTFOLIO_SECURITY_RESOLUTION_CRITICAL">
            <a:extLst>
              <a:ext uri="{FF2B5EF4-FFF2-40B4-BE49-F238E27FC236}">
                <a16:creationId xmlns:a16="http://schemas.microsoft.com/office/drawing/2014/main" id="{F4BA35FA-BE44-852A-B55F-63FF6EA3EB0D}"/>
              </a:ext>
            </a:extLst>
          </p:cNvPr>
          <p:cNvGraphicFramePr>
            <a:graphicFrameLocks/>
          </p:cNvGraphicFramePr>
          <p:nvPr/>
        </p:nvGraphicFramePr>
        <p:xfrm>
          <a:off x="6235286" y="3713005"/>
          <a:ext cx="4832277" cy="2319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8915783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4EF1-FCA0-2EC9-964E-45F3A94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D8824E7-4E29-8181-B01C-EA895DB82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024032" cy="228145"/>
          </a:xfrm>
        </p:spPr>
        <p:txBody>
          <a:bodyPr/>
          <a:lstStyle/>
          <a:p>
            <a:r>
              <a:rPr lang="en-GB" dirty="0"/>
              <a:t>Portfolio trends – Security – Resolution times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87DF3F-5BD8-9A33-2F26-1FFB63BA6D4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8AAA8-B191-8D33-A251-5BBAA5775E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9BDEC54-B88C-60B4-98B9-CFF0E70B4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Security resolution times of the portfolio of the last 12 months (ending at PORTFOLIO_PERIOD_END_DATE)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0BDBC96-6A0F-7FB2-73A9-7CD5A1E31F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6DD134A-FB98-733E-70B7-BE217A938451}"/>
              </a:ext>
            </a:extLst>
          </p:cNvPr>
          <p:cNvSpPr/>
          <p:nvPr/>
        </p:nvSpPr>
        <p:spPr>
          <a:xfrm flipH="1">
            <a:off x="5291526" y="1291984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B23C483-13CD-B3D6-B6B2-3C5716E15A2A}"/>
              </a:ext>
            </a:extLst>
          </p:cNvPr>
          <p:cNvSpPr txBox="1">
            <a:spLocks/>
          </p:cNvSpPr>
          <p:nvPr/>
        </p:nvSpPr>
        <p:spPr>
          <a:xfrm>
            <a:off x="223094" y="1411287"/>
            <a:ext cx="4881341" cy="476271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Since PORTFOLIO_SEC_PERIOD_START_DATE, PORTFOLIO_SEC_HIGH_RESOLVED high security findings have been resolved while PORTFOLIO_SEC_HIGH_ADDED new high findings were discovered. Overall, there has been PORTFOLIO_SEC_RELATIVE_HIGH in high security findings of PORTFOLIO_SEC_HIGH_DIFFERENCE.</a:t>
            </a:r>
          </a:p>
          <a:p>
            <a:pPr indent="-283845"/>
            <a:r>
              <a:rPr lang="en-GB" sz="1550" dirty="0"/>
              <a:t>Of the resolved high findings, most were resolved in PORTFOLIO_SEC_HIGH_RESOLUTION_MOST (PORTFOLIO_SEC_HIGH_RESOLUTION_FINDINGS_MOST findings). PORTFOLIO_SEC_HIGH_RESOLUTION_NO_RISK findings were resolved within the recommended 14 days while PORTFOLIO_SEC_HIGH_RESOLUTION_HIGH_RISK were resolved after 180 days or more. </a:t>
            </a:r>
          </a:p>
          <a:p>
            <a:pPr indent="-283845"/>
            <a:r>
              <a:rPr lang="en-GB" sz="1550" dirty="0"/>
              <a:t>PORTFOLIO_SEC_MEDIUM_RESOLVED medium security findings have been resolved while PORTFOLIO_SEC_MEDIUM_ADDED new medium findings were discovered. Overall, there has been PORTFOLIO_SEC_RELATIVE_MEDIUM in medium security findings of PORTFOLIO_SEC_MEDIUM_DIFFERENCE.</a:t>
            </a:r>
          </a:p>
          <a:p>
            <a:pPr indent="-283845"/>
            <a:r>
              <a:rPr lang="en-GB" sz="1550" dirty="0"/>
              <a:t>Of the resolved medium findings, most were resolved in PORTFOLIO_SEC_MEDIUM_RESOLUTION_MOST (PORTFOLIO_SEC_MEDIUM_RESOLUTION_FINDINGS_MOST findings). PORTFOLIO_SEC_MEDIUM_RESOLUTION_NO_RISK findings were resolved within the recommended 30 days while PORTFOLIO_SEC_MEDIUM_RESOLUTION_HIGH_RISK were resolved after 270 days or more. </a:t>
            </a:r>
          </a:p>
          <a:p>
            <a:pPr indent="-283845"/>
            <a:endParaRPr lang="en-GB" sz="1550" dirty="0"/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8" name="PORTFOLIO_SECURITY_RESOLUTION_HIGH">
            <a:extLst>
              <a:ext uri="{FF2B5EF4-FFF2-40B4-BE49-F238E27FC236}">
                <a16:creationId xmlns:a16="http://schemas.microsoft.com/office/drawing/2014/main" id="{16E3CE9D-20C9-0E77-38B2-53E2D8CA626A}"/>
              </a:ext>
            </a:extLst>
          </p:cNvPr>
          <p:cNvGraphicFramePr>
            <a:graphicFrameLocks/>
          </p:cNvGraphicFramePr>
          <p:nvPr/>
        </p:nvGraphicFramePr>
        <p:xfrm>
          <a:off x="8730926" y="1514933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0" name="PORTFOLIO_SECURITY_FINDINGS_HIGH">
            <a:extLst>
              <a:ext uri="{FF2B5EF4-FFF2-40B4-BE49-F238E27FC236}">
                <a16:creationId xmlns:a16="http://schemas.microsoft.com/office/drawing/2014/main" id="{75CB1C00-2C16-0486-C27D-31887DD0692A}"/>
              </a:ext>
            </a:extLst>
          </p:cNvPr>
          <p:cNvGraphicFramePr>
            <a:graphicFrameLocks/>
          </p:cNvGraphicFramePr>
          <p:nvPr/>
        </p:nvGraphicFramePr>
        <p:xfrm>
          <a:off x="5416871" y="1514933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A02A27D-5A11-E727-9003-68497845F5AF}"/>
              </a:ext>
            </a:extLst>
          </p:cNvPr>
          <p:cNvSpPr/>
          <p:nvPr/>
        </p:nvSpPr>
        <p:spPr>
          <a:xfrm flipH="1">
            <a:off x="5291526" y="3893212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E98C36"/>
                </a:solidFill>
              </a:rPr>
              <a:t>Medium</a:t>
            </a:r>
          </a:p>
        </p:txBody>
      </p:sp>
      <p:graphicFrame>
        <p:nvGraphicFramePr>
          <p:cNvPr id="22" name="PORTFOLIO_SECURITY_RESOLUTION_MEDIUM">
            <a:extLst>
              <a:ext uri="{FF2B5EF4-FFF2-40B4-BE49-F238E27FC236}">
                <a16:creationId xmlns:a16="http://schemas.microsoft.com/office/drawing/2014/main" id="{70983DB0-0BC7-2620-9F3E-685D6CFA6871}"/>
              </a:ext>
            </a:extLst>
          </p:cNvPr>
          <p:cNvGraphicFramePr>
            <a:graphicFrameLocks/>
          </p:cNvGraphicFramePr>
          <p:nvPr/>
        </p:nvGraphicFramePr>
        <p:xfrm>
          <a:off x="8730926" y="4116161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3" name="PORTFOLIO_SECURITY_FINDINGS_MEDIUM">
            <a:extLst>
              <a:ext uri="{FF2B5EF4-FFF2-40B4-BE49-F238E27FC236}">
                <a16:creationId xmlns:a16="http://schemas.microsoft.com/office/drawing/2014/main" id="{72CCB03F-448F-67B3-48DD-4998FE51B724}"/>
              </a:ext>
            </a:extLst>
          </p:cNvPr>
          <p:cNvGraphicFramePr>
            <a:graphicFrameLocks/>
          </p:cNvGraphicFramePr>
          <p:nvPr/>
        </p:nvGraphicFramePr>
        <p:xfrm>
          <a:off x="5416871" y="4116161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F2DF3773-3A5B-588B-8446-1DD6A3E84C57}"/>
              </a:ext>
            </a:extLst>
          </p:cNvPr>
          <p:cNvSpPr txBox="1"/>
          <p:nvPr/>
        </p:nvSpPr>
        <p:spPr>
          <a:xfrm>
            <a:off x="8376169" y="-369332"/>
            <a:ext cx="4350443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dirty="0"/>
              <a:t>PORTFOLIO_SECURITY_FINDINGS_HIGHMED</a:t>
            </a:r>
          </a:p>
        </p:txBody>
      </p:sp>
    </p:spTree>
    <p:extLst>
      <p:ext uri="{BB962C8B-B14F-4D97-AF65-F5344CB8AC3E}">
        <p14:creationId xmlns:p14="http://schemas.microsoft.com/office/powerpoint/2010/main" val="16247588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1FF513-F7F0-C719-C954-DBA335D2C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D4E15-C7EC-A545-5EBC-69B4EAE348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B43BB2-F642-BE45-7836-AFCD6CBFD8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47D14B-355C-A109-46FB-79FB23C87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783ADB-6F9E-D057-991B-C0B52FAE9247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9215FE-C7C0-BC81-3B0D-CEF368F87C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136E7B9-811C-003C-7BFC-A5493486F19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7D697A-5898-BC8D-7FDD-2963082C235A}"/>
              </a:ext>
            </a:extLst>
          </p:cNvPr>
          <p:cNvSpPr/>
          <p:nvPr/>
        </p:nvSpPr>
        <p:spPr>
          <a:xfrm>
            <a:off x="1076007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PORTFOLIO_PERIOD_SECURITY_DASHBOARD_CRITICAL_FINDINGS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198D90-BE8E-901C-9DF1-3C45821DE1B7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323D03-0FA5-05B7-856B-6719A4976026}"/>
              </a:ext>
            </a:extLst>
          </p:cNvPr>
          <p:cNvSpPr/>
          <p:nvPr/>
        </p:nvSpPr>
        <p:spPr>
          <a:xfrm>
            <a:off x="6284745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PORTFOLIO_PERIOD_SECURITY_DASHBOARD_HIGH_FINDINGS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6393784-89ED-CB65-097F-CF64C9DE33A9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5E181C4-932C-9DD5-007C-ED06D54DF6D0}"/>
              </a:ext>
            </a:extLst>
          </p:cNvPr>
          <p:cNvSpPr/>
          <p:nvPr/>
        </p:nvSpPr>
        <p:spPr>
          <a:xfrm>
            <a:off x="3679861" y="4174712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PORTFOLIO_PERIOD_SECURITY_DASHBOARD_MEDIUM_FINDINGS</a:t>
            </a:r>
          </a:p>
        </p:txBody>
      </p:sp>
    </p:spTree>
    <p:extLst>
      <p:ext uri="{BB962C8B-B14F-4D97-AF65-F5344CB8AC3E}">
        <p14:creationId xmlns:p14="http://schemas.microsoft.com/office/powerpoint/2010/main" val="26497130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977EB17-68A8-9989-4B73-B6834C966EA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024032" cy="228145"/>
          </a:xfrm>
        </p:spPr>
        <p:txBody>
          <a:bodyPr/>
          <a:lstStyle/>
          <a:p>
            <a:r>
              <a:rPr lang="en-GB" dirty="0"/>
              <a:t>Portfolio trends – Security – Resolution times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7B73DC-D004-3742-2EF5-83AA3EA2EDE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7C1107-9C4E-BEF1-D482-6D93F9645C6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E68DA0A-1BAA-11A7-87B2-E8E6AA2B4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Security resolution times of the portfolio of the last 12 months (ending at PORTFOLIO_PERIOD_END_DATE)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8D02EBD-4368-7DEA-F1C3-D3D6F40E1E9E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resolution times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36FAC28B-BB7E-56DE-44DD-293BD630C4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5805A47-8C3C-44DB-8E49-05F344CCCB4B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0F7DC0-731B-C78A-4583-9BDB4FBCEAFE}"/>
              </a:ext>
            </a:extLst>
          </p:cNvPr>
          <p:cNvSpPr/>
          <p:nvPr/>
        </p:nvSpPr>
        <p:spPr>
          <a:xfrm>
            <a:off x="1076007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PORTFOLIO_PERIOD_SECURITY_DASHBOARD_CRITICAL_RESOLUTION_TIMES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13528A8-3EC7-4BE2-02A8-A1B2EF4535A1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61130B5-25A7-0143-5ADD-E148A342921F}"/>
              </a:ext>
            </a:extLst>
          </p:cNvPr>
          <p:cNvSpPr/>
          <p:nvPr/>
        </p:nvSpPr>
        <p:spPr>
          <a:xfrm>
            <a:off x="6284745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PORTFOLIO_PERIOD_SECURITY_DASHBOARD_MEDIUM_RESOLUTION_TIMES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7E833D5-D3A5-4A84-33C4-A0BF25127520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C431D9F-12AD-2EFE-B770-D0321F188501}"/>
              </a:ext>
            </a:extLst>
          </p:cNvPr>
          <p:cNvSpPr/>
          <p:nvPr/>
        </p:nvSpPr>
        <p:spPr>
          <a:xfrm>
            <a:off x="3679861" y="4174712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PORTFOLIO_PERIOD_SECURITY_DASHBOARD_MEDIUM_RESOLUTION_TIMES</a:t>
            </a:r>
          </a:p>
        </p:txBody>
      </p:sp>
    </p:spTree>
    <p:extLst>
      <p:ext uri="{BB962C8B-B14F-4D97-AF65-F5344CB8AC3E}">
        <p14:creationId xmlns:p14="http://schemas.microsoft.com/office/powerpoint/2010/main" val="1052302085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11103</TotalTime>
  <Words>2463</Words>
  <Application>Microsoft Macintosh PowerPoint</Application>
  <PresentationFormat>Widescreen</PresentationFormat>
  <Paragraphs>370</Paragraphs>
  <Slides>37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9" baseType="lpstr">
      <vt:lpstr>☞NOIR PRO MEDIUM</vt:lpstr>
      <vt:lpstr>Arial</vt:lpstr>
      <vt:lpstr>Azeret Mono</vt:lpstr>
      <vt:lpstr>Azeret Mono Medium</vt:lpstr>
      <vt:lpstr>Calibri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PowerPoint Presentation</vt:lpstr>
      <vt:lpstr>Outline of topics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PORTFOLIO_PERIOD_MAINT_SHORT_SUMMARY</vt:lpstr>
      <vt:lpstr>Maintainability Grouped by Lifecycle</vt:lpstr>
      <vt:lpstr>Maintainability Grouped by Deployment Type</vt:lpstr>
      <vt:lpstr>Maintainability Grouped by Business Criticality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Maintainability delta quality ratings of the portfolio between PORTFOLIO_PERIOD_START_DATE and PORTFOLIO_PERIOD_END_DATE</vt:lpstr>
      <vt:lpstr>Change in volume (effort) of the portfolio between PORTFOLIO_PERIOD_START_DATE and PORTFOLIO_PERIOD_END_DATE</vt:lpstr>
      <vt:lpstr>Test-to-production code ratios of the portfolio between PORTFOLIO_PERIOD_START_DATE and PORTFOLIO_PERIOD_END_DATE</vt:lpstr>
      <vt:lpstr>Change in test-to-production code ratios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Overall Open Source Health Library Risks Overview</vt:lpstr>
      <vt:lpstr>Security ratings of the portfolio between PORTFOLIO_PERIOD_START_DATE and PORTFOLIO_PERIOD_END_DATE</vt:lpstr>
      <vt:lpstr>Critical findings trends of the last 12 months (ending at 2025-12-31)</vt:lpstr>
      <vt:lpstr>Security resolution times of the portfolio of the last 12 months (ending at PORTFOLIO_PERIOD_END_DATE)</vt:lpstr>
      <vt:lpstr>Security findings of the portfolio of the last 12 months (ending at PORTFOLIO_PERIOD_END_DATE)</vt:lpstr>
      <vt:lpstr>Security resolution times of the portfolio of the last 12 months (ending at PORTFOLIO_PERIOD_END_DATE)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140</cp:revision>
  <cp:lastPrinted>2020-04-20T09:37:43Z</cp:lastPrinted>
  <dcterms:created xsi:type="dcterms:W3CDTF">2025-10-22T11:22:13Z</dcterms:created>
  <dcterms:modified xsi:type="dcterms:W3CDTF">2026-01-20T10:38:37Z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