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13.xml" ContentType="application/vnd.openxmlformats-officedocument.presentationml.notesSl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6"/>
  </p:notesMasterIdLst>
  <p:handoutMasterIdLst>
    <p:handoutMasterId r:id="rId47"/>
  </p:handoutMasterIdLst>
  <p:sldIdLst>
    <p:sldId id="1973" r:id="rId6"/>
    <p:sldId id="11390" r:id="rId7"/>
    <p:sldId id="10749" r:id="rId8"/>
    <p:sldId id="10751" r:id="rId9"/>
    <p:sldId id="10753" r:id="rId10"/>
    <p:sldId id="10750" r:id="rId11"/>
    <p:sldId id="10754" r:id="rId12"/>
    <p:sldId id="10755" r:id="rId13"/>
    <p:sldId id="10756" r:id="rId14"/>
    <p:sldId id="11363" r:id="rId15"/>
    <p:sldId id="11364" r:id="rId16"/>
    <p:sldId id="11365" r:id="rId17"/>
    <p:sldId id="11366" r:id="rId18"/>
    <p:sldId id="11367" r:id="rId19"/>
    <p:sldId id="11368" r:id="rId20"/>
    <p:sldId id="11369" r:id="rId21"/>
    <p:sldId id="11370" r:id="rId22"/>
    <p:sldId id="11389" r:id="rId23"/>
    <p:sldId id="11371" r:id="rId24"/>
    <p:sldId id="10757" r:id="rId25"/>
    <p:sldId id="11409" r:id="rId26"/>
    <p:sldId id="11410" r:id="rId27"/>
    <p:sldId id="1824" r:id="rId28"/>
    <p:sldId id="11403" r:id="rId29"/>
    <p:sldId id="11404" r:id="rId30"/>
    <p:sldId id="11387" r:id="rId31"/>
    <p:sldId id="11374" r:id="rId32"/>
    <p:sldId id="11405" r:id="rId33"/>
    <p:sldId id="11419" r:id="rId34"/>
    <p:sldId id="11406" r:id="rId35"/>
    <p:sldId id="11402" r:id="rId36"/>
    <p:sldId id="11422" r:id="rId37"/>
    <p:sldId id="11376" r:id="rId38"/>
    <p:sldId id="11284" r:id="rId39"/>
    <p:sldId id="11377" r:id="rId40"/>
    <p:sldId id="11421" r:id="rId41"/>
    <p:sldId id="11415" r:id="rId42"/>
    <p:sldId id="11416" r:id="rId43"/>
    <p:sldId id="11417" r:id="rId44"/>
    <p:sldId id="11418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37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3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presProps" Target="presProps.xml"/><Relationship Id="rId8" Type="http://schemas.openxmlformats.org/officeDocument/2006/relationships/slide" Target="slides/slide3.xml"/><Relationship Id="rId51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E0607016-B6E8-F645-9C70-B975DDE25D70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83BD0725-B024-5D4D-89BB-EF610F5F4356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96744784-8E67-8D42-984E-51AA49FFB6EF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if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emf"/><Relationship Id="rId4" Type="http://schemas.openxmlformats.org/officeDocument/2006/relationships/chart" Target="../charts/chart1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4.xml"/><Relationship Id="rId5" Type="http://schemas.openxmlformats.org/officeDocument/2006/relationships/chart" Target="../charts/chart23.xml"/><Relationship Id="rId4" Type="http://schemas.openxmlformats.org/officeDocument/2006/relationships/chart" Target="../charts/chart2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27.xml"/><Relationship Id="rId4" Type="http://schemas.openxmlformats.org/officeDocument/2006/relationships/chart" Target="../charts/chart2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  <a:p>
            <a:endParaRPr lang="en-GB" dirty="0"/>
          </a:p>
        </p:txBody>
      </p:sp>
      <p:sp>
        <p:nvSpPr>
          <p:cNvPr id="4" name="Tijdelijke aanduiding voor tekst 1">
            <a:extLst>
              <a:ext uri="{FF2B5EF4-FFF2-40B4-BE49-F238E27FC236}">
                <a16:creationId xmlns:a16="http://schemas.microsoft.com/office/drawing/2014/main" id="{9AD8A29F-88B6-1458-3D23-92698A071436}"/>
              </a:ext>
            </a:extLst>
          </p:cNvPr>
          <p:cNvSpPr txBox="1">
            <a:spLocks/>
          </p:cNvSpPr>
          <p:nvPr/>
        </p:nvSpPr>
        <p:spPr>
          <a:xfrm>
            <a:off x="395999" y="2959200"/>
            <a:ext cx="11174400" cy="450000"/>
          </a:xfrm>
          <a:prstGeom prst="rect">
            <a:avLst/>
          </a:prstGeom>
        </p:spPr>
        <p:txBody>
          <a:bodyPr vert="horz" wrap="none" lIns="216000" tIns="46800" rIns="234000" bIns="4680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64FF"/>
              </a:buClr>
              <a:buFont typeface="Arial" panose="020B0604020202020204" pitchFamily="34" charset="0"/>
              <a:buNone/>
              <a:defRPr lang="en-US" sz="2800" b="0" i="0" kern="120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FILTER_INFO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B63DDC-05A6-1327-D587-7F5756A58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1C39327-FCCB-9925-2C56-F0F2027873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85CE50-769E-57F0-D096-7931858DD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B48095F-3B8A-4132-2F2E-BF6B266DA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0BEA1B1-2A0E-D397-E556-362D0DB59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/>
              <a:t>Objectives – Open Source Health</a:t>
            </a:r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Progress towards objectives: Open Source Health</a:t>
            </a:r>
            <a:endParaRPr lang="en-GB" dirty="0"/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5692CD9-4AE3-CDD3-1F88-18341671C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BFDEE-B39F-2F33-8BE8-21E452A51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team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759263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C707EC47-51B6-60D2-5D25-8146CD4204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4CC371E-7328-F7F7-E9E1-4858B90AD402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0FD24B40-8A09-8BE1-DFEB-86A20ADCB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A79886F-F6FA-7F5B-8560-B0BE0161E43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PORTFOLIO_PERIOD_MAINTAINABILITY_GROUPED_BY_BUSINESS_CRITICALITY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8DC9DB02-3011-E249-D943-BF8E867E7B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75" y="6407677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/>
              <a:t>Portfolio trends – Maintainability – Change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PORTFOLIO_PERIOD_MAINT_CHANGE_SHORT_SUMMARY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</a:t>
            </a:r>
            <a:r>
              <a:rPr lang="en-GB" sz="1600">
                <a:solidFill>
                  <a:schemeClr val="bg1"/>
                </a:solidFill>
              </a:rPr>
              <a:t>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extLst>
              <a:ext uri="{FF2B5EF4-FFF2-40B4-BE49-F238E27FC236}">
                <a16:creationId xmlns:a16="http://schemas.microsoft.com/office/drawing/2014/main" id="{72E9D2A6-2917-A151-9F95-9B69A0D029E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PORTFOLIO_PERIOD_VOLUME_CHANGE_GROUPED_BY_TEAM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PORTFOLIO_PERIOD_START_DATE and PORTFOLIO_PERIOD_END_DATE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PORTFOLIO_RELATIVE_VOLUME_CHANGE in volume of PORTFOLIO_VOLUME_CHANGE.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PORTFOLIO_SYSTEM_BIGGEST_VOLUME_CHANGE has seen the biggest change with PORTFOLIO_RELATIVE_BIGGEST_VOLUME_CHANGE of PORTFOLIO_SYSTEM_PM_BIGGEST_VOLUME_CHANGE.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D4A10E2-A9D0-9CB8-4A20-12E583F531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4AAAF0DF-523F-2152-BE91-E690F0C16A3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PORTFOLIO_TEST_CODE_LOW</a:t>
            </a:r>
            <a:r>
              <a:rPr lang="en-GB" sz="1550" noProof="0" dirty="0"/>
              <a:t>% systems have a test code ratio of &lt; 50%.</a:t>
            </a:r>
          </a:p>
          <a:p>
            <a:pPr indent="-283845"/>
            <a:r>
              <a:rPr lang="en-GB" sz="1550" dirty="0"/>
              <a:t>PORTFOLIO_TEST_CODE_MEDIUM</a:t>
            </a:r>
            <a:r>
              <a:rPr lang="en-GB" sz="1550" dirty="0">
                <a:ea typeface="Calibri"/>
                <a:cs typeface="Calibri"/>
              </a:rPr>
              <a:t>% of systems have a test code ratio between 50% and 100%.</a:t>
            </a:r>
          </a:p>
          <a:p>
            <a:pPr indent="-283845"/>
            <a:r>
              <a:rPr lang="en-GB" sz="1550" dirty="0"/>
              <a:t>PORTFOLIO_TEST_CODE_HIGH</a:t>
            </a:r>
            <a:r>
              <a:rPr lang="en-GB" sz="1550" dirty="0">
                <a:ea typeface="Calibri"/>
                <a:cs typeface="Calibri"/>
              </a:rPr>
              <a:t>% of systems have a test code ratio ≥ 100%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61DD779-D29F-E00A-9C65-A4D9D7C38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5625-8644-5854-9F83-9F36AE8F2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0D1B57E1-1F1B-29BE-06AF-F1CBB4D6EF18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PORTFOLIO_PERIOD_TEST_CODE_GROUPED_BY_MAIN_TECHNOLOGY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5E6CB4A-7E0E-E565-486A-5DB654A87C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E8C8F1-CE1A-46D3-0BA6-F889B9D1B8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06968ED-9E83-A49E-5E87-63A71987D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Test Code Ratio Grouped by Main Technology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2787F7-4923-A6F4-B8BC-AA0B6841CDE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862765-40D5-7D45-7AF4-0F626CE7E743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98EE12-DD3C-4AC5-B45F-1D9DA346C37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18AD473E-3942-6E49-1FCD-CC05DD97AE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877F80-D83B-8F9D-1D82-98CDA0657127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E3BEF7-84EA-7653-3F08-34BC61CCC3C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331784C8-27D3-E190-1188-83F8143002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98766D-7061-26B2-4081-542C5D9CAA47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EACCEE-F6C5-4239-D307-F1346978364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F7980C08-449C-8781-AFFE-1B5D0B713E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DEE7BE-C0DD-5C7B-8A4F-B219560AA303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2BE5AE9-EDB3-A5FB-A41D-39D01995E609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8BE2B2C6-D275-9C9C-6E3C-6DEF49F9F5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9F00055-C843-86F0-C3D7-38ABE03F5C50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C617B4-6B70-3461-DF10-192E09E859F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E8CC5339-E836-0F40-B13E-8AB2238B2A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B529869A-4031-1A95-3ED8-A3F5C59BCE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BF83632A-5C0F-EE29-CEC5-A1C83E82A100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EB08F95E-E453-1063-D8EF-9330F4D3B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682905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F531B6D-B81A-7E98-1D56-EABC271BE38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PORTFOLIO_RELATIVE_TEST_CODE_DIFFERENCE in test code ratio for the </a:t>
            </a:r>
            <a:r>
              <a:rPr lang="en-GB" sz="1550" dirty="0"/>
              <a:t>portfolio (PORTFOLIO_TEST_CODE_DIFFERENCE%).</a:t>
            </a:r>
            <a:endParaRPr lang="en-GB" sz="1550" noProof="0" dirty="0"/>
          </a:p>
          <a:p>
            <a:pPr indent="-283845"/>
            <a:r>
              <a:rPr lang="en-GB" sz="1550" dirty="0"/>
              <a:t>PORTFOLIO_TEST_CODE_INCREASE% of systems have seen an increase in test code ratio while PORTFOLIO_TEST_CODE_DECREASE% of systems have seen a decrease. </a:t>
            </a:r>
          </a:p>
          <a:p>
            <a:pPr indent="-283845"/>
            <a:r>
              <a:rPr lang="en-GB" sz="1550" dirty="0"/>
              <a:t>PORTFOLIO_TEST_CODE_BIGGEST_CHANGES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DF429E-1695-7507-23C8-7080223EC2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F90BB58-CA09-58E2-BE3B-2E065F51CF77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en-GB" dirty="0"/>
              <a:t>Architecture Quality</a:t>
            </a:r>
            <a:r>
              <a:rPr lang="en-US" dirty="0"/>
              <a:t> rating for the portfolio is PORTFOLIO_ARCH_AVG_RATING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</a:t>
            </a:r>
            <a:r>
              <a:rPr lang="en-GB" dirty="0"/>
              <a:t>% of systems score above market average for Architecture Quality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PORTFOLIO_ARCH_MARKET_AVERAGE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9F0196F-C2C8-901D-3388-01AE9D1AB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E150D-A65E-A40C-6B49-AF7DCB612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2E24BFC5-CB7A-9CFC-7130-4B0DC5D6EC3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PORTFOLIO_PERIOD_ARCHITECTURE_RATINGS_CHANGE_GROUPED_BY_TEAM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7203A-CD59-ACA2-0387-C994E78EE7B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7A47C1-2743-4E7A-7D4A-562B99B1F71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8FBDDCA-D2CF-ED08-F7B9-0B588E371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PORTFOLIO_PERIOD_ARCH_CHANGE_SHORT_SUMMARY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33B504D-7A8E-EB12-5480-7248C811BB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D0FA74F-562E-7349-3D5D-B56CB42C5B2E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E6C2FD6-492D-0E1B-9C15-958B643F8A11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92A8F39-4C39-E112-DC09-FD6F52ECB23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13264880-98AC-7E55-C880-7A8CCE8F38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8F3E857-EDC2-8EE7-81A9-A3311098CF1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ADA0A2C-AC23-3CD0-1444-BB92C14DA52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FD18D1A5-F134-68C3-A18E-2F87ECDA52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B321E3-3252-2B17-6200-C9A506567FED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AF25BB4-A62C-193F-2D50-7FDF3DC238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EC02D13-D964-CD6E-20EB-22E6E4B11E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A8ED2EC-6DC3-DAE7-2167-B926AD704CE7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85317C-57AA-4CC6-A677-703E2942F5A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10652A05-2024-A59C-5C1F-DCE0E899418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3379D43-A7B7-7D8F-A477-C3774652D50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64F48BB-4FF1-E4B5-C688-5154F7D19A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80A2CF2E-3196-627B-C3D8-DE40647EAD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CBB1A7A-1F34-F22F-B876-535EEF53610A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dirty="0">
                <a:ea typeface="Calibri"/>
                <a:cs typeface="Calibri"/>
              </a:rPr>
              <a:t>PORTFOLIO_ARCH_INCREASED% of systems has seen an increase in security ratings. PORTFOLIO_ARCH_STABLE% of systems has remained stable. PORTFOLIO_ARCH_DECREASED% of systems has seen a decrease in security ratings.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PORTFOLIO_ARCH_BIGGEST_CHANGES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1AF939B1-43D2-7D15-6932-30FE4B4C76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5329305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PORTFOLIO_PERIOD_START_DATE and PORTFOLIO_PERIOD_END_DATE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8C506-EBA7-D433-19CB-BD7B4186FE2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PORTFOLIO_PERIOD_OSH_RATINGS_GROUPED_BY_TEAM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Open Source Health </a:t>
            </a:r>
            <a:r>
              <a:rPr lang="en-US" dirty="0"/>
              <a:t>rating for the portfolio is PORTFOLIO_OSH_AVG_RATING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PORTFOLIO_OSH_ABOVE_MARKET% of systems score above market average for Open Source Health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PORTFOLIO_OSH_MARKET_AVERAGE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2A1D2F67-A90D-74AA-22CD-017BC0D93D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PORTFOLIO_OSH_VULN_SUMMARY</a:t>
            </a:r>
          </a:p>
          <a:p>
            <a:r>
              <a:rPr lang="en-US" dirty="0"/>
              <a:t>PORTFOLIO_OSH_LEGAL_SUMMARY</a:t>
            </a:r>
          </a:p>
          <a:p>
            <a:r>
              <a:rPr lang="en-US" dirty="0"/>
              <a:t>PORTFOLIO_OSH_FRESHNESS_SUMMARY</a:t>
            </a:r>
          </a:p>
          <a:p>
            <a:r>
              <a:rPr lang="en-US" dirty="0"/>
              <a:t>PORTFOLIO_OSH_MANAGEMENT_SUMMARY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PORTFOLIO_OSH_TOTAL_DEPS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34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0B2912-5022-184F-E496-1EDCEC82A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1B5DD80-60E5-8513-9972-0F7EF4189F0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Security </a:t>
            </a:r>
            <a:r>
              <a:rPr lang="en-US" dirty="0"/>
              <a:t>rating for the portfolio is PORTFOLIO_SEC_AVG_RATING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PORTFOLIO_SEC_ABOVE_MARKET% of systems score above market average for Security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PORTFOLIO_SEC_MARKET_AVERAGE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Security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PORTFOLIO_SEC_BELOW_MARKET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Security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5AE87DF-A1BC-5958-DE2A-A8C3A6CD9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F75C0-C207-4E2C-BD14-5A81D230D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6C82DEF-36D5-FB7E-AFAC-21F430C3BB5A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871CDFD-E671-9983-BCFA-61E6FDA0C8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53550-5F0E-C6E4-29B9-7E84B37C218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6C1924E-BF8A-82D4-91C3-65F9207E4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PORTFOLIO_PERIOD_SEC_CHANGE_SHORT_SUMMARY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C6C283A-7F67-5B7A-1592-8EF4CE26A3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2C8211A-4BD1-17C2-157E-E7A75825DE5A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A8E10F2-10CD-AA74-5A2C-170808E6F640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F34314D-E3B4-A17A-A9F3-35718FEFCD7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7668F8B1-8163-0280-E7AD-6FC40A4B3F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A9E2695-4C11-2982-75D5-4E0C6BE811D7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6DC72B0-8D25-2365-9A54-C46D71FCEAA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1D2D5440-4938-251B-AD71-3D41CEF842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7376B1B-254E-3717-798E-FD0631037E7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80C7ED-B514-CF66-35D7-4A66EC00BCA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D8B81D40-7E02-2FB1-644E-20F77CD0B0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3F90A97-85BE-3BEB-5DD6-BDE4DB13BE1F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038FF40-E3F2-25D4-9EA0-FC948E18EE7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A1CAA676-894E-9A77-8893-A491CE6C61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FE4119A-FB59-D48B-0115-817DF87E7E5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ECD1D60-85B7-3420-38E5-9562602AA3F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445541FA-1456-41B3-1BCE-43D44804C6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00845E37-BF7A-036F-1036-4DCCAD4A0C5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dirty="0">
                <a:ea typeface="Calibri"/>
                <a:cs typeface="Calibri"/>
              </a:rPr>
              <a:t>PORTFOLIO_SEC_INCREASED% of systems has seen an increase in security ratings. PORTFOLIO_SEC_STABLE% of systems has remained stable. PORTFOLIO_SEC_DECREASED% of systems has seen a decrease in security ratings.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PORTFOLIO_SEC_BIGGEST_CHANGES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53814472-2F91-8C00-BB5E-647E58883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6443395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Critical findings trends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</a:t>
            </a:r>
            <a:r>
              <a:rPr lang="en-GB" sz="1550" dirty="0"/>
              <a:t>PORTFOLIO_SEC_PERIOD_START_DATE</a:t>
            </a:r>
            <a:r>
              <a:rPr lang="en-GB" sz="1550" noProof="0" dirty="0"/>
              <a:t>, </a:t>
            </a:r>
            <a:r>
              <a:rPr lang="en-GB" sz="1550" dirty="0"/>
              <a:t>PORTFOLIO_SEC_CRITICAL_RESOLVED</a:t>
            </a:r>
            <a:r>
              <a:rPr lang="en-GB" sz="1550" noProof="0" dirty="0"/>
              <a:t> critical security findings have been resolved </a:t>
            </a:r>
            <a:r>
              <a:rPr lang="en-GB" sz="1550" dirty="0"/>
              <a:t>while PORTFOLIO_SEC_CRITICAL_ADDED new critical findings were discovered. Overall, there has been PORTFOLIO_SEC_RELATIVE_CRITICAL in critical security findings of PORTFOLIO_SEC_CRITICAL_DIFFERENCE.</a:t>
            </a:r>
          </a:p>
          <a:p>
            <a:pPr indent="-283845"/>
            <a:r>
              <a:rPr lang="en-GB" sz="1550" dirty="0"/>
              <a:t>Of the resolved critical findings, most were resolved in PORTFOLIO_SEC_CRITICAL_RESOLUTION_MOST (PORTFOLIO_</a:t>
            </a:r>
            <a:r>
              <a:rPr lang="en-GB" sz="1550"/>
              <a:t>SEC_CRITICAL</a:t>
            </a:r>
            <a:r>
              <a:rPr lang="en-GB" sz="1550" dirty="0"/>
              <a:t>_RESOLUTION_FINDINGS_MOST findings). PORTFOLIO_SEC_CRITICAL_RESOLUTION_NO_RISK findings were resolved within the recommended 7 days while PORTFOLIO_SEC_CRITICAL_RESOLUTION_HIGH_RISK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1190819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4663586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resolution times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PORTFOLIO_SEC_PERIOD_START_DATE, PORTFOLIO_SEC_HIGH_RESOLVED high security findings have been resolved while PORTFOLIO_SEC_HIGH_ADDED new high findings were discovered. Overall, there has been PORTFOLIO_SEC_RELATIVE_HIGH in high security findings of PORTFOLIO_SEC_HIGH_DIFFERENCE.</a:t>
            </a:r>
          </a:p>
          <a:p>
            <a:pPr indent="-283845"/>
            <a:r>
              <a:rPr lang="en-GB" sz="1550" dirty="0"/>
              <a:t>Of the resolved high findings, most were resolved in PORTFOLIO_SEC_HIGH_RESOLUTION_MOST (PORTFOLIO_SEC_HIGH_RESOLUTION_FINDINGS_MOST findings). PORTFOLIO_SEC_HIGH_RESOLUTION_NO_RISK findings were resolved within the recommended 14 days while PORTFOLIO_SEC_HIGH_RESOLUTION_HIGH_RISK were resolved after 180 days or more. </a:t>
            </a:r>
          </a:p>
          <a:p>
            <a:pPr indent="-283845"/>
            <a:r>
              <a:rPr lang="en-GB" sz="1550" dirty="0"/>
              <a:t>PORTFOLIO_SEC_MEDIUM_RESOLVED medium security findings have been resolved while PORTFOLIO_SEC_MEDIUM_ADDED new medium findings were discovered. Overall, there has been PORTFOLIO_SEC_RELATIVE_MEDIUM in medium security findings of PORTFOLIO_SEC_MEDIUM_DIFFERENCE.</a:t>
            </a:r>
          </a:p>
          <a:p>
            <a:pPr indent="-283845"/>
            <a:r>
              <a:rPr lang="en-GB" sz="1550" dirty="0"/>
              <a:t>Of the resolved medium findings, most were resolved in PORTFOLIO_SEC_MEDIUM_RESOLUTION_MOST (PORTFOLIO_SEC_MEDIUM_RESOLUTION_FINDINGS_MOST findings). PORTFOLIO_SEC_MEDIUM_RESOLUTION_NO_RISK findings were resolved within the recommended 30 days while PORTFOLIO_SEC_MEDIUM_RESOLUTION_HIGH_RISK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40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18381</TotalTime>
  <Words>2799</Words>
  <Application>Microsoft Macintosh PowerPoint</Application>
  <PresentationFormat>Widescreen</PresentationFormat>
  <Paragraphs>434</Paragraphs>
  <Slides>40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40</vt:i4>
      </vt:variant>
    </vt:vector>
  </HeadingPairs>
  <TitlesOfParts>
    <vt:vector size="54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Test Code Ratio Grouped by Main Technology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PORTFOLIO_PERIOD_ARCH_CHANGE_SHORT_SUMMARY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PORTFOLIO_PERIOD_SEC_CHANGE_SHORT_SUMMARY</vt:lpstr>
      <vt:lpstr>Critical findings trends of the last 12 months (ending at PORTFOLIO_PERIOD_END_DATE)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207</cp:revision>
  <cp:lastPrinted>2020-04-20T09:37:43Z</cp:lastPrinted>
  <dcterms:created xsi:type="dcterms:W3CDTF">2025-10-22T11:22:13Z</dcterms:created>
  <dcterms:modified xsi:type="dcterms:W3CDTF">2026-07-21T14:47:28Z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