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9.xml" ContentType="application/vnd.openxmlformats-officedocument.presentationml.notesSl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10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11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12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3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notesSlides/notesSlide14.xml" ContentType="application/vnd.openxmlformats-officedocument.presentationml.notesSlid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Slides/notesSlide15.xml" ContentType="application/vnd.openxmlformats-officedocument.presentationml.notesSlid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notesSlides/notesSlide16.xml" ContentType="application/vnd.openxmlformats-officedocument.presentationml.notesSlid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10724" r:id="rId3"/>
    <p:sldId id="10749" r:id="rId4"/>
    <p:sldId id="10751" r:id="rId5"/>
    <p:sldId id="10753" r:id="rId6"/>
    <p:sldId id="10750" r:id="rId7"/>
    <p:sldId id="10754" r:id="rId8"/>
    <p:sldId id="10755" r:id="rId9"/>
    <p:sldId id="10756" r:id="rId10"/>
    <p:sldId id="10748" r:id="rId11"/>
    <p:sldId id="598" r:id="rId12"/>
    <p:sldId id="605" r:id="rId13"/>
    <p:sldId id="606" r:id="rId14"/>
    <p:sldId id="604" r:id="rId15"/>
    <p:sldId id="599" r:id="rId16"/>
    <p:sldId id="600" r:id="rId17"/>
    <p:sldId id="603" r:id="rId18"/>
    <p:sldId id="602" r:id="rId19"/>
    <p:sldId id="601" r:id="rId20"/>
    <p:sldId id="10725" r:id="rId21"/>
    <p:sldId id="10736" r:id="rId22"/>
    <p:sldId id="10728" r:id="rId23"/>
    <p:sldId id="10746" r:id="rId24"/>
    <p:sldId id="10737" r:id="rId25"/>
    <p:sldId id="10738" r:id="rId26"/>
    <p:sldId id="10747" r:id="rId27"/>
    <p:sldId id="10739" r:id="rId28"/>
    <p:sldId id="10742" r:id="rId29"/>
    <p:sldId id="10745" r:id="rId30"/>
    <p:sldId id="10740" r:id="rId31"/>
    <p:sldId id="1074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028"/>
    <p:restoredTop sz="94702"/>
  </p:normalViewPr>
  <p:slideViewPr>
    <p:cSldViewPr snapToGrid="0">
      <p:cViewPr varScale="1">
        <p:scale>
          <a:sx n="113" d="100"/>
          <a:sy n="113" d="100"/>
        </p:scale>
        <p:origin x="1128" y="5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2B8B4-E227-994A-A2C0-477E986EF4F1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65466-C581-7E43-9AE7-259D040BA75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2717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4685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63206-5A0F-6590-5CC2-8128E297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635E41-5775-0107-E6CF-D4AEE682D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D9C8D-B649-9612-CD2B-DCF6CEA0A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F1303-806E-A123-9657-CCEC8C32C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520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71DC2-F944-34DD-B764-85BED2F08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AABBC-4283-B289-4871-B4E7AF2C71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EA979-5454-3EEC-CBC8-37F698F31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55A1BD-6926-2626-8E5D-55F3DAC16D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589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A897-55A7-2447-F783-128B0CFBB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104CF-C963-7F07-8CBB-81BC53752A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676AC3-E364-BACE-9255-7FEDBC1065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BDFFB-1DE8-A17E-1199-64339F16E5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946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2BE28-66CD-D44C-0C55-AC9782C01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4409-553C-FD5A-DFB7-7323806337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D879E-AF06-1362-CB5F-F90FA68657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AFB8AC-ED1E-0E2E-5AF2-507128B54A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4925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3862A-F09F-91B5-B819-242958E8B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0E31BB-F827-E21D-B159-D85EAFD8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7BD65-F7D4-27E5-1285-CD1B365EC4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5E97A5-3B47-5DA4-12BE-7F0013740B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896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525A-77B9-4F45-8B5F-B3F774D89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455FC7-AD94-D9A7-D34B-DADFAE57C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22277-C214-6DF7-231D-6BEE9F1E0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992DA4-1468-1278-5185-5DACC01D12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783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093361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38385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11725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5510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649516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744482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889232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04012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3950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96144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22990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8DFC1-A092-39A6-01F6-D2F6F7EE4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B55B31-A62C-50B3-929D-AFCAB21DFA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83540-5D23-2147-246A-6861D7E4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F0B823-EE09-CCCD-AD82-235F37131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23649-355D-2EC3-C538-28DCFDDA8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4384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06EC1-BAD4-048B-DE60-365F66086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434C8-5B1B-AAFE-5A88-035583DC4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0A86-A068-5667-0F21-95CD344C3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AE3D6-BA23-05FB-E4A5-C476A855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D2667-534A-8E1F-E7F9-874D705C6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8494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F72FA-6831-D446-DAA6-ECB4EBAB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B2809-64C1-C78F-DED0-555454D70F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57AD6-1027-472D-EFFA-642150187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383D0-6645-F7DD-58D1-CEE36A3F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9594D-0DCF-D1F7-02FA-ADEB7E55F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94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F8BC2-E729-5CA7-A85D-B87D3C899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69312-1F3B-CD00-4FE6-1BEC46249A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208A2-3CD8-922C-368B-AC22417857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DE7EED-8EC8-DC93-6375-211201D1C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63E202-3E62-F1F5-AA8A-4DF23B5D0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0533DD-54BD-DF1A-BF91-014256CD4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7567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D267F-3834-145B-D726-8B1A36D7F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BA246-FDD1-ABC3-1967-33046C19B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1C608E-9237-0ED4-43E0-3D0B788B9E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66FA3F-6CE9-C148-0C59-6F91CA0D4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E70E57-ADFF-6A13-CE59-49AE43F8A2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10CBC1-D140-DD3B-63FB-E123E4DFC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844A1E-E8D3-5E40-DD0F-5313D9CBB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54E296-AFD6-9148-7462-58922113E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9092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48992D-D52C-8E25-3702-5E88F20F9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5CD539-F339-2698-C282-23D615C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9A67B4-CC38-B6E6-30FD-E5D968C5B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45C68D-CD45-B0DD-55C5-A6F04B80C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71422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484CB2-1819-B929-7CB4-4F5ADE4C6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2B4E0D-5006-921D-1B83-674EE31FA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063261-F0AD-00BB-494F-065135760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234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A695C-D390-7203-1264-8CA4F326C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D80FB8-A98C-9D9B-96EF-0FC08B5D3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5051B-26E6-991C-2BF1-36EEEB3439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C7D98-224A-925C-298C-B15F57AB1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994ECD-A2D4-87F4-1621-19B228758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4779C-C8FC-1B0E-7453-C4FE268B7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1521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DB926-55E1-35BE-B7AD-45510E699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CB0A1E-50F0-97C4-1E15-1515BC99EC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BA65E-56F7-639F-B3C5-6585D8CAD3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BE9665-F72E-69FA-3CD5-EFC7AABFB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7FCA99-D2CA-1518-5B72-A3127DC6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245A7-B6E7-5C5B-2A98-0A1062D7A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2947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A00C0-A8A9-4299-F6BC-A9A4D1D2E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C950B-78FF-DBD3-956A-704427372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A5E70-0961-1783-39D0-F92069719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B0C4B-49E6-4E83-B38E-C5702A589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E0A6B-73CE-C5B8-57ED-10FCF34B2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40102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163D09-2DBE-222D-C11B-C988284F0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8A635D-3DF0-D555-E18D-E803069A8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40FEB-D828-70C1-4E34-8AC461631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EF7E4-703C-826B-BD71-BDA84A0B4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093A-4C95-CCB9-4F38-023203BC2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0385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4800" y="85637"/>
            <a:ext cx="11880000" cy="1325563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383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611563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892F76-C81B-4467-B617-ACE65479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6725CF-7581-4A48-ACBD-3890345A2D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6AE24-DF80-5A91-126D-F71EE9650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F8156-3D1B-1047-9A3D-372BE84AD46C}" type="datetimeFigureOut">
              <a:rPr lang="nl-NL" smtClean="0"/>
              <a:t>11-12-2025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8A3FF1-3ADA-45D9-8076-20F3EC61B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44382-98DF-26B3-68BE-FEAF5F1205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7312B8-D0C7-BD47-A4E3-E71183EE46D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92348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E1C48-4250-F014-A3F8-34661B4FC5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Portfolio overview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A8A455-F547-606F-671C-0AC8D9917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CUSTOMER_NAME</a:t>
            </a:r>
            <a:endParaRPr lang="en-US" dirty="0"/>
          </a:p>
          <a:p>
            <a:r>
              <a:rPr lang="en-US" i="1" dirty="0" err="1"/>
              <a:t>REPORT_DATE</a:t>
            </a:r>
            <a:endParaRPr lang="nl-NL" i="1" dirty="0"/>
          </a:p>
        </p:txBody>
      </p:sp>
    </p:spTree>
    <p:extLst>
      <p:ext uri="{BB962C8B-B14F-4D97-AF65-F5344CB8AC3E}">
        <p14:creationId xmlns:p14="http://schemas.microsoft.com/office/powerpoint/2010/main" val="1336024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CA42B1-79CC-1E21-4639-E7E670166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FC30FB-D319-2C0A-9F37-22FDBE06E5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08AD9-F8A2-F7B2-D9F1-70BCDD12FBB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17DAB3-373D-DCEC-7681-4A145CDFE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DA4B2A8-B773-91AF-217C-D5EE6ACFCD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PROGRESS IN SIGRID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EFB6F-BDEE-5ED9-3CD5-ECFE541AE10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77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319172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PROGRESS_STATUS_CHART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Complete    </a:t>
            </a:r>
            <a:r>
              <a:rPr lang="en-US" sz="1600" dirty="0">
                <a:solidFill>
                  <a:srgbClr val="67E77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Increased    </a:t>
            </a:r>
            <a:r>
              <a:rPr lang="en-US" sz="1600" dirty="0">
                <a:solidFill>
                  <a:srgbClr val="F06241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Decreased    </a:t>
            </a:r>
            <a:r>
              <a:rPr lang="en-US" sz="1600" dirty="0">
                <a:solidFill>
                  <a:srgbClr val="BFC4C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</a:t>
            </a:r>
            <a:r>
              <a:rPr lang="en-US" dirty="0"/>
              <a:t> over time</a:t>
            </a:r>
            <a:endParaRPr lang="en-US" sz="2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8D2C92C-F3B6-0645-618B-6712BD3DC864}"/>
              </a:ext>
            </a:extLst>
          </p:cNvPr>
          <p:cNvSpPr txBox="1"/>
          <p:nvPr/>
        </p:nvSpPr>
        <p:spPr>
          <a:xfrm>
            <a:off x="8958648" y="-525758"/>
            <a:ext cx="29117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627681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PROGRESS_CAPABILITY_CHART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Complete    </a:t>
            </a:r>
            <a:r>
              <a:rPr lang="en-US" sz="1600" dirty="0">
                <a:solidFill>
                  <a:srgbClr val="67E77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Increased    </a:t>
            </a:r>
            <a:r>
              <a:rPr lang="en-US" sz="1600" dirty="0">
                <a:solidFill>
                  <a:srgbClr val="F06241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Decreased    </a:t>
            </a:r>
            <a:r>
              <a:rPr lang="en-US" sz="1600" dirty="0">
                <a:solidFill>
                  <a:srgbClr val="BFC4C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34A4DD1-8E2E-2463-DEA2-A080991AFFDD}"/>
              </a:ext>
            </a:extLst>
          </p:cNvPr>
          <p:cNvSpPr txBox="1"/>
          <p:nvPr/>
        </p:nvSpPr>
        <p:spPr>
          <a:xfrm>
            <a:off x="8958648" y="-525758"/>
            <a:ext cx="485622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PROGRESS_MAINTAINABILITY_TIME_CHART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</a:t>
            </a:r>
            <a:r>
              <a:rPr lang="en-US" dirty="0"/>
              <a:t>Architecture</a:t>
            </a:r>
            <a:endParaRPr lang="en-US" sz="2400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F3F2DA5-DB91-036B-8084-E06A04533789}"/>
              </a:ext>
            </a:extLst>
          </p:cNvPr>
          <p:cNvSpPr txBox="1"/>
          <p:nvPr/>
        </p:nvSpPr>
        <p:spPr>
          <a:xfrm>
            <a:off x="8958648" y="-525758"/>
            <a:ext cx="4664952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PROGRESS_ARCHITECTURE_TIME_CHART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BC168E2-17AD-9DBA-6B84-1C144E1C9C60}"/>
              </a:ext>
            </a:extLst>
          </p:cNvPr>
          <p:cNvSpPr txBox="1"/>
          <p:nvPr/>
        </p:nvSpPr>
        <p:spPr>
          <a:xfrm>
            <a:off x="8958648" y="-525758"/>
            <a:ext cx="349360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PROGRESS_OSH_TIME_CHART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BFA34CA-8C78-239B-7E53-B3D03983749C}"/>
              </a:ext>
            </a:extLst>
          </p:cNvPr>
          <p:cNvSpPr txBox="1"/>
          <p:nvPr/>
        </p:nvSpPr>
        <p:spPr>
          <a:xfrm>
            <a:off x="8958648" y="-525758"/>
            <a:ext cx="407485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 dirty="0"/>
              <a:t>PROGRESS_SECURITY_TIME_CHART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>
                <a:solidFill>
                  <a:srgbClr val="0066FF"/>
                </a:solidFill>
              </a:rPr>
              <a:t>⬤</a:t>
            </a:r>
            <a:r>
              <a:rPr lang="en-US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02A85-FC26-18FA-7ADB-A67B02B98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882F8B-0345-DF4E-AB35-30DCEA6A37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90A491-72E0-CA9E-AA13-B89E22F1EE5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2A9E6D-9724-CAEE-4936-1E6525429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764C09-61F7-F3A2-4D49-AC3C2D9F389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OBJECTIVES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731B17-6E2D-3DE5-AB1B-4F8B82B6CD4B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5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352F2E2-69B9-D866-7D75-24F10BB85A60}"/>
              </a:ext>
            </a:extLst>
          </p:cNvPr>
          <p:cNvSpPr txBox="1"/>
          <p:nvPr/>
        </p:nvSpPr>
        <p:spPr>
          <a:xfrm>
            <a:off x="8958648" y="-525758"/>
            <a:ext cx="288401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OBJECTIVES_STATUS_CHART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0434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257F2-BA89-4390-88ED-8FB60EF16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47F5DA-4282-38F9-1499-DF601816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team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8EC5A35-9538-D995-065E-528B18F85DE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0F10C8-8291-84BB-615B-4FE46E9122C0}"/>
              </a:ext>
            </a:extLst>
          </p:cNvPr>
          <p:cNvSpPr txBox="1"/>
          <p:nvPr/>
        </p:nvSpPr>
        <p:spPr>
          <a:xfrm>
            <a:off x="8958648" y="-525758"/>
            <a:ext cx="2751287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OBJECTIVES_TEAM_CHART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29A40A-AF83-BB5A-88A1-56A221C73FA2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AF4431-111B-9E39-96DA-E7355B3BFC0A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team’s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1AD40B4-54CF-E962-E2CD-DBA01BAF128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077049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75AA9D8-EEB6-8709-C209-D32FF5C291E0}"/>
              </a:ext>
            </a:extLst>
          </p:cNvPr>
          <p:cNvSpPr txBox="1"/>
          <p:nvPr/>
        </p:nvSpPr>
        <p:spPr>
          <a:xfrm>
            <a:off x="8958648" y="-525758"/>
            <a:ext cx="3278675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OBJECTIVES_CAPABILITY_CHART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004005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F600E-1C52-CB46-5D36-227AF7C7B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9A4AB2-1C46-4914-7434-6FBDA68DD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 over time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ED42228-B917-5A3E-BB6B-9871F4C489A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25FA84B-5F3F-E103-125D-195720E3F1F8}"/>
              </a:ext>
            </a:extLst>
          </p:cNvPr>
          <p:cNvSpPr txBox="1"/>
          <p:nvPr/>
        </p:nvSpPr>
        <p:spPr>
          <a:xfrm>
            <a:off x="8958648" y="-525758"/>
            <a:ext cx="305149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OBJECTIVES_OVERALL_CHART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2C182B-21A7-0B3F-FD20-1EAE8DC029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18F0D0-4FE8-9F07-C0C1-9B71E7D05D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284A89CA-B332-7EC3-67B2-258E207222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975172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663A228-91DD-866A-C3BE-29D9BA0B02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ED074-760A-27AF-25CE-E2511AFEA51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810002-51D8-CFBC-BD3F-963973A8E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D534E21-7EB0-8655-1FAF-0FBBAA9791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endParaRPr lang="en-US" sz="3200" b="1"/>
          </a:p>
          <a:p>
            <a:pPr marL="0" indent="0" algn="ctr">
              <a:buNone/>
            </a:pPr>
            <a:r>
              <a:rPr lang="en-US" sz="3200" b="1"/>
              <a:t>OBJECTIVES: TREND PER CAPABILITY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74427A-C727-A25F-00F6-6BA35F10855E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5654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7E0E-1EF7-93CB-AE93-58F5DBBB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F13107-CDB7-AC85-5C5F-E7555A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Security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A804B61-8F8C-C6D5-94BB-B5CA583E7BE3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59FCAA8-D0E0-3539-B820-DF6D6318129E}"/>
              </a:ext>
            </a:extLst>
          </p:cNvPr>
          <p:cNvSpPr txBox="1"/>
          <p:nvPr/>
        </p:nvSpPr>
        <p:spPr>
          <a:xfrm>
            <a:off x="8958648" y="-525758"/>
            <a:ext cx="3101768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OBJECTIVES_SECURITY_CHART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3D52BC-C3E2-2451-161B-F52A7FA9705A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DB332-5B7A-58F8-1634-D547EFC67F5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0C18547-BE89-EC61-7BC4-8E69B57A25F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66511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EF245-3442-A171-4B71-8976E674B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3ACF5B-388E-198E-FD05-ADCFD0748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Open Source Health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1551057A-38E3-B1CD-A98D-FA6566BDC6A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AE381E8-8BDC-C11E-0B4E-573D2927E3C8}"/>
              </a:ext>
            </a:extLst>
          </p:cNvPr>
          <p:cNvSpPr txBox="1"/>
          <p:nvPr/>
        </p:nvSpPr>
        <p:spPr>
          <a:xfrm>
            <a:off x="8958648" y="-525758"/>
            <a:ext cx="259701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OBJECTIVES_OSH_CHART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C2DE49-7433-6CBC-CA29-7C7939288C8E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31CF1D-7DAE-FF14-4371-2186B59208F0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494BABF-3857-C7F4-BDBD-8716AD63B7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74156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EC71-BF20-1EC9-6B8D-E66363F2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BDABA6-F829-DABD-783E-014F92383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Maintainability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D309D7A3-6D2B-5238-FDCA-89277EA3E24A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BB95D9E-971C-257B-3338-71CD7C91C015}"/>
              </a:ext>
            </a:extLst>
          </p:cNvPr>
          <p:cNvSpPr txBox="1"/>
          <p:nvPr/>
        </p:nvSpPr>
        <p:spPr>
          <a:xfrm>
            <a:off x="8958648" y="-525758"/>
            <a:ext cx="3912566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OBJECTIVES_MAINTAINABILITY_CHART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4A357-894B-360C-F02D-0E805F440A5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BF43F-4B27-019F-F6AA-84146EA48A8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8FDDB53-DF23-E4D7-3B57-48245519662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600949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EA77C-7A9E-2604-6B02-6FB6C57A3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C0CB5-4975-B41B-F265-6AE5A3F2A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Progress towards objectives: Architecture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FBB521E4-96ED-814A-B322-AFBA0633E84C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1183F90-63B2-0646-9068-7E4E2BCF14D9}"/>
              </a:ext>
            </a:extLst>
          </p:cNvPr>
          <p:cNvSpPr txBox="1"/>
          <p:nvPr/>
        </p:nvSpPr>
        <p:spPr>
          <a:xfrm>
            <a:off x="8958648" y="-525758"/>
            <a:ext cx="3635054" cy="369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r>
              <a:rPr lang="en-US" b="1"/>
              <a:t>OBJECTIVES_ARCHITECTURE_CHART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FE74E7-A4E7-D99A-A30E-92E30405FE49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600" dirty="0" err="1">
                <a:solidFill>
                  <a:srgbClr val="0066F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Objective met    </a:t>
            </a:r>
            <a:r>
              <a:rPr lang="en-US" sz="1600" dirty="0" err="1">
                <a:solidFill>
                  <a:srgbClr val="67E77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Improved    </a:t>
            </a:r>
            <a:r>
              <a:rPr lang="en-US" sz="1600" dirty="0" err="1">
                <a:solidFill>
                  <a:srgbClr val="BFC4CF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Unchanged    </a:t>
            </a:r>
            <a:r>
              <a:rPr lang="en-US" sz="1600" dirty="0" err="1">
                <a:solidFill>
                  <a:srgbClr val="F0624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Worsened    </a:t>
            </a:r>
            <a:r>
              <a:rPr lang="en-US" sz="1600" dirty="0" err="1">
                <a:solidFill>
                  <a:schemeClr val="bg1"/>
                </a:solidFill>
              </a:rPr>
              <a:t>⬤</a:t>
            </a:r>
            <a:r>
              <a:rPr lang="en-US" sz="1600" dirty="0" err="1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5E5897-263B-F75F-BB48-770410B9BCFB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200" dirty="0" err="1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03F6258-6556-30B1-2DD0-5E65108A589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19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13540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53638-E7EA-6540-EB95-71AC99BB1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5C72F-BC02-E5AC-7875-697FD443A9D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E30962-2823-732A-4055-DA798F204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713ED-C675-C9A6-C511-46A1453EFEE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endParaRPr lang="en-US" sz="3200" b="1" dirty="0"/>
          </a:p>
          <a:p>
            <a:pPr marL="0" indent="0" algn="ctr">
              <a:buNone/>
            </a:pPr>
            <a:r>
              <a:rPr lang="en-US" sz="3200" b="1" dirty="0"/>
              <a:t>PORTFOLIO TRENDS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AD5F29-E096-9FA6-116C-606DEF54A9DD}"/>
              </a:ext>
            </a:extLst>
          </p:cNvPr>
          <p:cNvSpPr/>
          <p:nvPr/>
        </p:nvSpPr>
        <p:spPr>
          <a:xfrm>
            <a:off x="1371600" y="0"/>
            <a:ext cx="10820400" cy="118624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1725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6517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A092B-3A98-114F-C2A0-DD62E3F4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057243-FAB8-E039-D9A3-D54EC6EA8F7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684D56A-257C-C7BE-6375-A44CB8A5A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Autofit/>
          </a:bodyPr>
          <a:lstStyle/>
          <a:p>
            <a:r>
              <a:rPr lang="en-US" sz="2400" dirty="0" err="1"/>
              <a:t>PORTFOLIO_PERIOD_MAINT_CHANGE_SHORT_SUMMARY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ECF270-F885-64B6-46BF-241F241374B9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DAD7929-7B61-72A6-AA9F-B6798F438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78E4D6A-55EC-93BF-6A33-FA9208ECBED5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C6AA5-168E-F727-F6B3-8078A8F19EFB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8D49E38-6B3A-90E7-57E3-B03E0C49D5E3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5261DDD-E528-238B-3F1F-FDA7B2453D0A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B9A086-BD80-D521-433C-9FBA23A0C6D5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C1AEF0F-6590-B59B-788E-2855B27060D4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75AAB98-B44C-90C2-26A8-D1BFC5D4393E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9444EC0-D1F0-547F-4728-0516F25DCF5B}"/>
              </a:ext>
            </a:extLst>
          </p:cNvPr>
          <p:cNvSpPr txBox="1"/>
          <p:nvPr/>
        </p:nvSpPr>
        <p:spPr>
          <a:xfrm>
            <a:off x="1678471" y="6054740"/>
            <a:ext cx="317864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6B688A-DD6B-5AFB-AC4D-56D97DE08695}"/>
              </a:ext>
            </a:extLst>
          </p:cNvPr>
          <p:cNvSpPr txBox="1"/>
          <p:nvPr/>
        </p:nvSpPr>
        <p:spPr>
          <a:xfrm>
            <a:off x="512064" y="6054740"/>
            <a:ext cx="29862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</a:t>
            </a:r>
            <a:r>
              <a:rPr lang="en-US" sz="800" b="1" dirty="0">
                <a:solidFill>
                  <a:schemeClr val="tx2"/>
                </a:solidFill>
                <a:latin typeface="Sigsterren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3508933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Maintainability delta quality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156000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PORTFOLIO_PERIOD_MAINTAINABILITY_DELTA_QUALITY_NEW_CODE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9E4E84-561D-8538-3451-6D2D3B498565}"/>
              </a:ext>
            </a:extLst>
          </p:cNvPr>
          <p:cNvSpPr/>
          <p:nvPr/>
        </p:nvSpPr>
        <p:spPr>
          <a:xfrm>
            <a:off x="417224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PORTFOLIO_PERIOD_MAINTAINABILITY_DELTA_QUALITY_CHANGED_CODE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E7F17DD-BCF9-3BEC-FE79-C8FFD0A55138}"/>
              </a:ext>
            </a:extLst>
          </p:cNvPr>
          <p:cNvSpPr/>
          <p:nvPr/>
        </p:nvSpPr>
        <p:spPr>
          <a:xfrm>
            <a:off x="8188499" y="1838036"/>
            <a:ext cx="3847501" cy="4145376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PORTFOLIO_PERIOD_MAINTAINABILITY_DELTA_QUALITY_NEW_AND_CHANGED_CODE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D16385-746F-021C-58FE-67A1E779E0FF}"/>
              </a:ext>
            </a:extLst>
          </p:cNvPr>
          <p:cNvSpPr txBox="1"/>
          <p:nvPr/>
        </p:nvSpPr>
        <p:spPr>
          <a:xfrm>
            <a:off x="1565977" y="1478241"/>
            <a:ext cx="1027546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905ABF-A6D7-FAC1-5B91-5CADF7955C81}"/>
              </a:ext>
            </a:extLst>
          </p:cNvPr>
          <p:cNvSpPr txBox="1"/>
          <p:nvPr/>
        </p:nvSpPr>
        <p:spPr>
          <a:xfrm>
            <a:off x="5406473" y="1478241"/>
            <a:ext cx="137905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/>
              <a:t>Changed</a:t>
            </a:r>
            <a:r>
              <a:rPr lang="en-US" sz="1600" b="1" dirty="0">
                <a:solidFill>
                  <a:schemeClr val="tx1"/>
                </a:solidFill>
              </a:rPr>
              <a:t> code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18689B-E326-5F21-B8B6-92726D3378BB}"/>
              </a:ext>
            </a:extLst>
          </p:cNvPr>
          <p:cNvSpPr txBox="1"/>
          <p:nvPr/>
        </p:nvSpPr>
        <p:spPr>
          <a:xfrm>
            <a:off x="9032106" y="1478241"/>
            <a:ext cx="2160293" cy="35516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b="1" dirty="0">
                <a:solidFill>
                  <a:schemeClr val="tx1"/>
                </a:solidFill>
              </a:rPr>
              <a:t>New and changed code</a:t>
            </a:r>
          </a:p>
        </p:txBody>
      </p:sp>
    </p:spTree>
    <p:extLst>
      <p:ext uri="{BB962C8B-B14F-4D97-AF65-F5344CB8AC3E}">
        <p14:creationId xmlns:p14="http://schemas.microsoft.com/office/powerpoint/2010/main" val="36706309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C13B-F586-F5BD-7A43-AC9714B78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C659FF-CBDC-CC70-F631-D315ACF476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24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4AEBA7B-EC1B-0579-C38D-F8A91A0EE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volume (effort)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1B5BA4-D487-BD86-4517-7C629B3F6BB1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4D27AA7-4FE9-C5A8-680C-7651241AD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81F50C4-34B3-1CC9-202C-0F250C8A2B69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PORTFOLIO_PERIOD_VOLUME_CHANGE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6AC4F8-A612-A2C5-60EE-46C8EEB067C0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BA22223E-D563-C733-7EB6-E554F9A409DC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6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5FD4E83-3A51-8CEB-F1E7-B9AE6CF35E46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EFE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7B5994A-70B5-BDCF-5682-883A04BCCE42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0BDB81E5-9879-BE81-8051-08CA6EF45B3E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8E9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0D82FEF4-F9F5-6891-BDCC-7C48A7133F7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58B8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6D5220-3415-91B8-276B-76F572C63818}"/>
              </a:ext>
            </a:extLst>
          </p:cNvPr>
          <p:cNvSpPr txBox="1"/>
          <p:nvPr/>
        </p:nvSpPr>
        <p:spPr>
          <a:xfrm>
            <a:off x="1678471" y="6054740"/>
            <a:ext cx="34191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+PY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57733-65A2-2CA1-C3A1-6033C85CAB1E}"/>
              </a:ext>
            </a:extLst>
          </p:cNvPr>
          <p:cNvSpPr txBox="1"/>
          <p:nvPr/>
        </p:nvSpPr>
        <p:spPr>
          <a:xfrm>
            <a:off x="512064" y="6054740"/>
            <a:ext cx="322674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-PY</a:t>
            </a:r>
          </a:p>
        </p:txBody>
      </p:sp>
    </p:spTree>
    <p:extLst>
      <p:ext uri="{BB962C8B-B14F-4D97-AF65-F5344CB8AC3E}">
        <p14:creationId xmlns:p14="http://schemas.microsoft.com/office/powerpoint/2010/main" val="39983486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98B94-159B-948F-0AFF-57D21882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85621-2D28-9AB1-179A-D9D8366A58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25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74F167-668D-210C-5C93-4EB801EF7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Architecture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3017EF-A386-CAA2-6A07-96E4B2D997B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58A3327-6118-370B-8363-D7ADF8B574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E210451-B7EA-B10B-FF58-699350452E4D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E37FC2-777A-0F60-ABC7-4621AE884476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0A16E73-A1E0-4BC8-B4E4-7864C43FD26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708D778-329C-D174-F5F1-CB9998DB4354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23B0641-C51A-1164-1488-2D8351F2FD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C6732EA-3CF8-4098-6A71-A4BE2C78F410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789F270-100E-1C90-D75E-ED070FC0D24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4B199232-2C7B-CE6C-8619-A4F13C6504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F7B50A9-89F5-38A6-090B-1A0D014ACC31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BA535C-1218-320D-9DCA-E6AF1E19849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A1EE2939-67E0-7787-8275-C65C782E87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6BC872-D9CD-D7FC-CCB7-ACF73B3F05D4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DB8CD9F-B8FA-0FB6-53F6-2D39B0364E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186358DD-6C1D-C01B-4945-B1559CD65B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1D44E56-CC8C-DF72-8571-551DB39EFAD1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E7CB3B9-DDE3-51DD-022A-D5103A71AD1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30004702-6D14-9BA1-7C29-10C5B9CA63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92359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D57D-D9E0-0D54-99BF-370236A4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30CDF8-AD1F-BEA5-A3FB-DC88D9F9F97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3DBB2B9-0296-180F-567D-D9ECC883C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Open-source health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AC353E-E13C-926F-C3E1-D8C14E15D9C3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6FB33CD-972D-82BA-611A-BDA571B47A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DDB1696-B9F0-0B8F-6A22-15EB38EA2FA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>
                <a:solidFill>
                  <a:schemeClr val="bg1"/>
                </a:solidFill>
              </a:rPr>
              <a:t>PORTFOLIO_PERIOD_OSH_RATINGS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E4CE2D8-AF36-1619-C271-9C435288998E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18111897-7224-E345-11E7-8002B34665CA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67F5082-8E3E-9CEB-C965-361879865B4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652D42D-90F6-85F9-FCD4-2DD65F491A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27C6D0F-6AF5-D3CE-BBC9-7F26FA8F062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18D4CD3-AF18-2126-5C33-FCED9824413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D59D4FF-397B-D59F-BB96-933FBC0EC31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581278C-6E6C-659E-220E-2B07B65B204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582B4-FE1C-8CB4-8D4D-8F52881C5DC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C8C408CA-DC9F-CBF6-3A69-A361C644E3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1C9D8453-6A78-2467-4740-DA4482730943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95BF954-10CE-7360-6EAA-4F815EA5189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31383F2C-7A4B-9383-1735-CDB5649DB3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D87164E-9BC4-E615-13C4-744FA6CD5AFA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FD47B3-E88D-A7C7-BC1A-4E7179A989D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6D2AA28-6B9E-E433-FED0-0152B03BB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2244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54897-76F9-AAFA-689E-859A05016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3DA84B-A8FF-561D-5BE5-472D23F8352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27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FB5966A-E6AD-D0AA-719E-91AAA596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ratings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23437B-9103-F910-DA88-E786F4F1AC56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E2BFF46-8C29-AB4B-F2B1-08C35741FF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8DD8AE50-C257-163F-FEA3-9EDD7F987503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PORTFOLIO_PERIOD_SECURITY_RATINGS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8A50D-967C-17A9-8826-8E857C0D09F7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FCE37CD-D789-C9CC-B3F1-D822D13D9CB3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0AC2ED9-ED5D-C0F0-7FAC-89E92FE7A73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3CC167F9-6790-48E2-A6D5-ACA7AD8416F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FC8B29D-F4DD-50C9-9017-75E022A12052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C21E54D5-F91E-6B58-1C95-5A67CE07D6B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A56CDE96-1671-BB45-8B37-A88B31C70E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359F7FC-54D0-2949-EE42-C602D24930BA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E0DAA19-B5AD-7680-2494-B8BD9F03DED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33E84355-AB6A-ED2E-EEDE-3A1F583F77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659599C-679E-FE7D-111C-F951BA2325C9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7359069-73BD-1F86-2C2F-B6B4992F1C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B9775F2-5461-C552-F938-B09422878B8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FC952A4-81F7-5DB7-BC4A-7E7855D878E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7A5F101-5D92-FA2B-F494-AFF1D0EB332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7EE8E326-D841-00CB-CDD0-5005C2C4CB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9662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43F93-7952-EE6F-AB83-36D7C31DF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7F46F4-FE2B-5585-3E4E-45ED2341A4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28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33EE222-E5BC-4470-AF2E-B90F56B77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findings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159BC40-5B4C-795C-6FCB-FCA563A5AE0F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84C6DD6-8200-16D2-9609-569E042945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5FC185B0-6CA0-A445-999A-8C89A24E366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41D01DB-A890-7402-1ACF-609E980DE1A7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C37EC38-873F-C0A8-F818-24FB209E2B8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E87E057-DD66-1619-C712-B52301C92830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PORTFOLIO_PERIOD_SECURITY_DASHBOARD_HIGH_FINDINGS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E329652B-628D-7B3F-5C6F-43469FA826A5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DF8B184-8E8F-4F34-A553-3AE963C2CB0F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PORTFOLIO_PERIOD_SECURITY_DASHBOARD_MEDIUM_FINDINGS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406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FC9EA-B8A7-1749-9437-CD803D33C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D615-A071-5226-44B4-91F63CC8270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29</a:t>
            </a:fld>
            <a:endParaRPr lang="nl-NL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27BE383-7689-A77A-D28C-E114CEA9F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Security resolution times of the portfolio of the last 12 months (ending at </a:t>
            </a:r>
            <a:r>
              <a:rPr lang="en-US" sz="2400" dirty="0" err="1"/>
              <a:t>PORTFOLIO_PERIOD_END_DATE</a:t>
            </a:r>
            <a:r>
              <a:rPr lang="en-US" sz="2400" dirty="0"/>
              <a:t>) 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F5326C2D-C268-C6FA-1AC2-B751F98C3035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US" sz="1200" b="1" noProof="0" dirty="0">
                <a:solidFill>
                  <a:schemeClr val="tx1"/>
                </a:solidFill>
              </a:rPr>
              <a:t>Security resolution times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23359F52-1E48-C168-CBD3-43791F34D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80C53A6-E87C-E89A-78B8-8F9537AA5D75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7B792B-0FEE-748C-3523-B0A3EF1213DD}"/>
              </a:ext>
            </a:extLst>
          </p:cNvPr>
          <p:cNvSpPr/>
          <p:nvPr/>
        </p:nvSpPr>
        <p:spPr>
          <a:xfrm>
            <a:off x="1076007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PORTFOLIO_PERIOD_SECURITY_DASHBOARD_CRITICAL_RESOLUTION_TIMES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F046E34-2126-0CA7-96AA-936FDE050854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C81AC3D-2C22-AD77-0DEF-DD67B1166FDD}"/>
              </a:ext>
            </a:extLst>
          </p:cNvPr>
          <p:cNvSpPr/>
          <p:nvPr/>
        </p:nvSpPr>
        <p:spPr>
          <a:xfrm>
            <a:off x="6284745" y="1798326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374C7591-8B12-75FA-079B-AC6778FE65D8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nl-NL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65FFAB9-2ABB-D037-43F4-74D73F180A55}"/>
              </a:ext>
            </a:extLst>
          </p:cNvPr>
          <p:cNvSpPr/>
          <p:nvPr/>
        </p:nvSpPr>
        <p:spPr>
          <a:xfrm>
            <a:off x="3679861" y="4174712"/>
            <a:ext cx="4832278" cy="203462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PORTFOLIO_PERIOD_SECURITY_DASHBOARD_MEDIUM_RESOLUTION_TIMES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31097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0F067-408F-718E-A79E-387537F67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D659551-4F5A-10B8-7A41-CD926AF6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BAA02-82E9-62FD-74CB-ED28CAAD4867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5A3EC73-629A-7947-7394-8587B21625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C32FF67-1E75-AAEA-1B80-9207B20289E2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C1A2112-78E6-8DCF-8E0E-78EEEF639D5D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49C15F92-A072-4C90-549B-96EFABFB6B39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3ED3970-91BA-7822-A0F7-EAB5D6D13CB6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08113C03-CCC7-B779-788F-F5D6D85EFC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6CC743E-8F63-AC63-3A18-265A1EB5F6BF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68D27BD3-6C63-DE79-BD7D-8FE61B9CB43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0E3F1D99-704B-7152-AB1F-CE5AC667B4C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420E8A5-1463-6855-50FB-B5D9D8F4F76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245A470-51DB-3A5C-8E03-2E85B80C9DCE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59331E72-3E06-2B97-C3E1-E67B3DAE6BA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72D6356-4497-C5BE-E201-E65B37114D79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EC41104-3E63-7945-22F3-89A98EE94100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E6E16E22-F267-DC04-3A35-55E6FA5769B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93B5D263-83A1-D811-9B9F-30FF462DE916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21FB978-C82B-26CB-4C25-A74F8B4D4EA8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A1A004E2-7DE9-C71A-5B23-87B428D595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56B02A-D12E-FE41-BE32-DF93AD7E95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71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1A8B-9CE3-C528-149D-E8A7ADE12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832091-13CF-5084-EBA4-864AADBF7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>
            <a:noAutofit/>
          </a:bodyPr>
          <a:lstStyle/>
          <a:p>
            <a:r>
              <a:rPr lang="en-US" sz="2400" dirty="0"/>
              <a:t>Change in test-to-production code ratios of the portfolio between </a:t>
            </a:r>
            <a:r>
              <a:rPr lang="en-US" sz="2400" dirty="0" err="1"/>
              <a:t>PORTFOLIO_PERIOD_START_DATE</a:t>
            </a:r>
            <a:r>
              <a:rPr lang="en-US" sz="2400" dirty="0"/>
              <a:t> and </a:t>
            </a:r>
            <a:r>
              <a:rPr lang="en-US" sz="2400" dirty="0" err="1"/>
              <a:t>PORTFOLIO_PERIOD_END_DATE</a:t>
            </a:r>
            <a:endParaRPr lang="en-US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F64E4A-782F-9ABB-D130-CD4267F278DD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349151-E545-23EA-2E4E-CC16B29D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E6E38EA-5B17-C666-9ECF-540201246D30}"/>
              </a:ext>
            </a:extLst>
          </p:cNvPr>
          <p:cNvSpPr/>
          <p:nvPr/>
        </p:nvSpPr>
        <p:spPr>
          <a:xfrm>
            <a:off x="512063" y="1472195"/>
            <a:ext cx="11233603" cy="4571989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PORTFOLIO_PERIOD_TEST_CODE_CHANGE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2695A3-7892-CBCD-CCC1-ED9F42D91537}"/>
              </a:ext>
            </a:extLst>
          </p:cNvPr>
          <p:cNvSpPr txBox="1"/>
          <p:nvPr/>
        </p:nvSpPr>
        <p:spPr>
          <a:xfrm>
            <a:off x="1996335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DAF1842-9F61-0CAE-02D3-77634C06083C}"/>
              </a:ext>
            </a:extLst>
          </p:cNvPr>
          <p:cNvSpPr txBox="1"/>
          <p:nvPr/>
        </p:nvSpPr>
        <p:spPr>
          <a:xfrm>
            <a:off x="1678471" y="6054740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AE08C-5EA5-5C8C-2F1A-CBF2E0771A04}"/>
              </a:ext>
            </a:extLst>
          </p:cNvPr>
          <p:cNvSpPr txBox="1"/>
          <p:nvPr/>
        </p:nvSpPr>
        <p:spPr>
          <a:xfrm>
            <a:off x="512064" y="6054740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4FECE0-E33A-23A4-4934-65269E0185D8}"/>
              </a:ext>
            </a:extLst>
          </p:cNvPr>
          <p:cNvSpPr>
            <a:spLocks noChangeAspect="1"/>
          </p:cNvSpPr>
          <p:nvPr/>
        </p:nvSpPr>
        <p:spPr>
          <a:xfrm>
            <a:off x="879122" y="61185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D641D25-FDBA-3ED6-8617-19EB8666B393}"/>
              </a:ext>
            </a:extLst>
          </p:cNvPr>
          <p:cNvSpPr>
            <a:spLocks noChangeAspect="1"/>
          </p:cNvSpPr>
          <p:nvPr/>
        </p:nvSpPr>
        <p:spPr>
          <a:xfrm>
            <a:off x="1038992" y="61185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A41F6AF-8B56-B10D-E81C-5CCEDFB25F3F}"/>
              </a:ext>
            </a:extLst>
          </p:cNvPr>
          <p:cNvSpPr>
            <a:spLocks noChangeAspect="1"/>
          </p:cNvSpPr>
          <p:nvPr/>
        </p:nvSpPr>
        <p:spPr>
          <a:xfrm>
            <a:off x="1198862" y="61185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773BFA5-4876-A7AF-1F5D-E3F4609F4980}"/>
              </a:ext>
            </a:extLst>
          </p:cNvPr>
          <p:cNvSpPr>
            <a:spLocks noChangeAspect="1"/>
          </p:cNvSpPr>
          <p:nvPr/>
        </p:nvSpPr>
        <p:spPr>
          <a:xfrm>
            <a:off x="1358732" y="61185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31B2BBA-FA9A-5ACB-B596-BD2F8F7F13F2}"/>
              </a:ext>
            </a:extLst>
          </p:cNvPr>
          <p:cNvSpPr>
            <a:spLocks noChangeAspect="1"/>
          </p:cNvSpPr>
          <p:nvPr/>
        </p:nvSpPr>
        <p:spPr>
          <a:xfrm>
            <a:off x="1518602" y="61185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CAE36B7C-186E-9F19-6296-DBA2C5A15E7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727340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992</Words>
  <Application>Microsoft Macintosh PowerPoint</Application>
  <PresentationFormat>Widescreen</PresentationFormat>
  <Paragraphs>222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Calibri</vt:lpstr>
      <vt:lpstr>Sigsterren</vt:lpstr>
      <vt:lpstr>Wingdings</vt:lpstr>
      <vt:lpstr>Office Theme</vt:lpstr>
      <vt:lpstr>Portfolio overview</vt:lpstr>
      <vt:lpstr>PowerPoint Presentation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PowerPoint Presentation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PowerPoint Presentation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PowerPoint Presentation</vt:lpstr>
      <vt:lpstr>PORTFOLIO_PERIOD_MAINT_SHORT_SUMMARY</vt:lpstr>
      <vt:lpstr>PORTFOLIO_PERIOD_MAINT_CHANGE_SHORT_SUMMARY</vt:lpstr>
      <vt:lpstr>Maintainability delta quality ratings of the portfolio between PORTFOLIO_PERIOD_START_DATE and PORTFOLIO_PERIOD_END_DATE</vt:lpstr>
      <vt:lpstr>Change in volume (effort)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Security ratings of the portfolio between PORTFOLIO_PERIOD_START_DATE and PORTFOLIO_PERIOD_END_DATE</vt:lpstr>
      <vt:lpstr>Security findings of the portfolio of the last 12 months (ending at PORTFOLIO_PERIOD_END_DATE) </vt:lpstr>
      <vt:lpstr>Security resolution times of the portfolio of the last 12 months (ending at PORTFOLIO_PERIOD_END_DATE) </vt:lpstr>
      <vt:lpstr>Test-to-production code ratios of the portfolio between PORTFOLIO_PERIOD_START_DATE and PORTFOLIO_PERIOD_END_DATE</vt:lpstr>
      <vt:lpstr>Change in test-to-production code ratios of the portfolio between PORTFOLIO_PERIOD_START_DATE and PORTFOLIO_PERIOD_END_DATE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Floris van Leeuwen</dc:creator>
  <cp:lastModifiedBy>Andrei Tociu</cp:lastModifiedBy>
  <cp:revision>4</cp:revision>
  <dcterms:created xsi:type="dcterms:W3CDTF">2025-10-21T17:29:07Z</dcterms:created>
  <dcterms:modified xsi:type="dcterms:W3CDTF">2025-12-11T12:23:38Z</dcterms:modified>
</cp:coreProperties>
</file>