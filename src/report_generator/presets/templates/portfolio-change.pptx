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10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4" r:id="rId5"/>
  </p:sldMasterIdLst>
  <p:notesMasterIdLst>
    <p:notesMasterId r:id="rId43"/>
  </p:notesMasterIdLst>
  <p:handoutMasterIdLst>
    <p:handoutMasterId r:id="rId44"/>
  </p:handoutMasterIdLst>
  <p:sldIdLst>
    <p:sldId id="1973" r:id="rId6"/>
    <p:sldId id="11390" r:id="rId7"/>
    <p:sldId id="11443" r:id="rId8"/>
    <p:sldId id="11446" r:id="rId9"/>
    <p:sldId id="11441" r:id="rId10"/>
    <p:sldId id="11447" r:id="rId11"/>
    <p:sldId id="11448" r:id="rId12"/>
    <p:sldId id="11449" r:id="rId13"/>
    <p:sldId id="11450" r:id="rId14"/>
    <p:sldId id="11444" r:id="rId15"/>
    <p:sldId id="11445" r:id="rId16"/>
    <p:sldId id="11442" r:id="rId17"/>
    <p:sldId id="11451" r:id="rId18"/>
    <p:sldId id="11452" r:id="rId19"/>
    <p:sldId id="11453" r:id="rId20"/>
    <p:sldId id="11454" r:id="rId21"/>
    <p:sldId id="11455" r:id="rId22"/>
    <p:sldId id="11389" r:id="rId23"/>
    <p:sldId id="11371" r:id="rId24"/>
    <p:sldId id="1824" r:id="rId25"/>
    <p:sldId id="11403" r:id="rId26"/>
    <p:sldId id="11404" r:id="rId27"/>
    <p:sldId id="11387" r:id="rId28"/>
    <p:sldId id="11374" r:id="rId29"/>
    <p:sldId id="11405" r:id="rId30"/>
    <p:sldId id="11419" r:id="rId31"/>
    <p:sldId id="11406" r:id="rId32"/>
    <p:sldId id="11402" r:id="rId33"/>
    <p:sldId id="11422" r:id="rId34"/>
    <p:sldId id="11376" r:id="rId35"/>
    <p:sldId id="11284" r:id="rId36"/>
    <p:sldId id="11377" r:id="rId37"/>
    <p:sldId id="11421" r:id="rId38"/>
    <p:sldId id="11415" r:id="rId39"/>
    <p:sldId id="11416" r:id="rId40"/>
    <p:sldId id="11417" r:id="rId41"/>
    <p:sldId id="11418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37"/>
    <p:restoredTop sz="96763"/>
  </p:normalViewPr>
  <p:slideViewPr>
    <p:cSldViewPr snapToGrid="0" snapToObjects="1" showGuides="1">
      <p:cViewPr varScale="1">
        <p:scale>
          <a:sx n="127" d="100"/>
          <a:sy n="127" d="100"/>
        </p:scale>
        <p:origin x="103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1A5FE6A-D37A-834F-B8C5-870900F9D163}" type="VALUE">
                      <a:rPr lang="en-US" sz="1400" b="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147-E74A-AA7B-5531F0E4EE0C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0.0</c:formatCode>
                <c:ptCount val="1"/>
                <c:pt idx="0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1A15AB0D-C73F-2F4E-B068-1138B91CEB95}" type="VALUE">
                      <a:rPr lang="en-US" sz="140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B95-5448-A5A8-44A174A721F0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Sheet1!$C$2</c:f>
              <c:numCache>
                <c:formatCode>0.0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34D244C-CE32-A046-8143-A59D5CA86E7E}" type="VALUE">
                      <a:rPr lang="en-US" sz="140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B95-5448-A5A8-44A174A721F0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D0"/>
            </a:solidFill>
            <a:ln w="19050"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D0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75D5-D342-BCFC-56747FBB812F}"/>
              </c:ext>
            </c:extLst>
          </c:dPt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0.0</c:formatCode>
                <c:ptCount val="1"/>
                <c:pt idx="0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75D5-D342-BCFC-56747FBB81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Sheet1!$C$2</c:f>
              <c:numCache>
                <c:formatCode>0.0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5D5-D342-BCFC-56747FBB81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D5-D342-BCFC-56747FBB812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5D5-D342-BCFC-56747FBB812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5D5-D342-BCFC-56747FBB8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189D-224A-BCD3-20CC2B33F5C5}"/>
              </c:ext>
            </c:extLst>
          </c:dPt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189D-224A-BCD3-20CC2B33F5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9D-224A-BCD3-20CC2B33F5C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9D-224A-BCD3-20CC2B33F5C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89D-224A-BCD3-20CC2B33F5C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9D-224A-BCD3-20CC2B33F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E98D-4640-8B14-A67FDFDE3FF3}"/>
              </c:ext>
            </c:extLst>
          </c:dPt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E98D-4640-8B14-A67FDFDE3F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98D-4640-8B14-A67FDFDE3F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98D-4640-8B14-A67FDFDE3FF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98D-4640-8B14-A67FDFDE3FF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8D-4640-8B14-A67FDFDE3F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5343-2840-AF35-77DE56009DF9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5343-2840-AF35-77DE56009D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43-2840-AF35-77DE56009D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43-2840-AF35-77DE56009DF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43-2840-AF35-77DE56009DF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343-2840-AF35-77DE56009D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5A7D-2A41-8E40-3CF6BA9EF6C8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5A7D-2A41-8E40-3CF6BA9EF6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A7D-2A41-8E40-3CF6BA9EF6C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7D-2A41-8E40-3CF6BA9EF6C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A7D-2A41-8E40-3CF6BA9EF6C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A7D-2A41-8E40-3CF6BA9EF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2F9E-3B4D-B259-782ED914E23F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2F9E-3B4D-B259-782ED914E2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F9E-3B4D-B259-782ED914E2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9E-3B4D-B259-782ED914E23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F9E-3B4D-B259-782ED914E23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F9E-3B4D-B259-782ED914E2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BA9D-A148-A366-632DBB31698B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BA9D-A148-A366-632DBB3169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A9D-A148-A366-632DBB31698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9D-A148-A366-632DBB31698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A9D-A148-A366-632DBB31698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A9D-A148-A366-632DBB3169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9CDF-4B43-A58B-3C03F478D7BE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9CDF-4B43-A58B-3C03F478D7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DF-4B43-A58B-3C03F478D7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DF-4B43-A58B-3C03F478D7B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CDF-4B43-A58B-3C03F478D7B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CDF-4B43-A58B-3C03F478D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Maintainability rating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CD6D1F24-419D-3847-BD4C-2C91B6252D1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82F730A-50CB-0746-9336-4F23852C530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E2E4-0547-BD87-A6B50BFB06E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BE48BE0-FE68-3343-965D-19364C42CC2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E2E4-0547-BD87-A6B50BFB06ED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E2E4-0547-BD87-A6B50BFB06E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E2E4-0547-BD87-A6B50BFB06E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E2E4-0547-BD87-A6B50BFB06E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E2E4-0547-BD87-A6B50BFB06ED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E2E4-0547-BD87-A6B50BFB06ED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E2E4-0547-BD87-A6B50BFB06ED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35</c:v>
                </c:pt>
                <c:pt idx="1">
                  <c:v>12</c:v>
                </c:pt>
                <c:pt idx="2">
                  <c:v>15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2.5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  <c:pt idx="0">
                    <c:v>System 1</c:v>
                  </c:pt>
                  <c:pt idx="1">
                    <c:v>System 2</c:v>
                  </c:pt>
                  <c:pt idx="2">
                    <c:v>System 3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 name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35</c:v>
                </c:pt>
                <c:pt idx="1">
                  <c:v>12</c:v>
                </c:pt>
                <c:pt idx="2">
                  <c:v>15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66666798903964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983E-B549-A770-4B561453C6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983E-B549-A770-4B561453C6BF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83E-B549-A770-4B561453C6BF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83E-B549-A770-4B561453C6BF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983E-B549-A770-4B561453C6BF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9-983E-B549-A770-4B561453C6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83E-B549-A770-4B561453C6BF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83E-B549-A770-4B561453C6BF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E-983E-B549-A770-4B561453C6B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F-983E-B549-A770-4B561453C6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3190.0000000000005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9604363196085568"/>
          <c:w val="1"/>
          <c:h val="6.8688680738566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66666798903964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0-6308-9C42-B1E9-65C8973ABF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308-9C42-B1E9-65C8973ABF79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308-9C42-B1E9-65C8973ABF79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6308-9C42-B1E9-65C8973ABF79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6308-9C42-B1E9-65C8973ABF79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9-6308-9C42-B1E9-65C8973ABF7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308-9C42-B1E9-65C8973ABF79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6308-9C42-B1E9-65C8973ABF79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E-6308-9C42-B1E9-65C8973ABF7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F-6308-9C42-B1E9-65C8973ABF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3190.0000000000005"/>
          <c:min val="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171D-B549-A7DE-EF4D33711D1D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171D-B549-A7DE-EF4D33711D1D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171D-B549-A7DE-EF4D33711D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71D-B549-A7DE-EF4D33711D1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71D-B549-A7DE-EF4D33711D1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71D-B549-A7DE-EF4D33711D1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71D-B549-A7DE-EF4D33711D1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71D-B549-A7DE-EF4D33711D1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71D-B549-A7DE-EF4D33711D1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71D-B549-A7DE-EF4D33711D1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71D-B549-A7DE-EF4D33711D1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71D-B549-A7DE-EF4D33711D1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71D-B549-A7DE-EF4D33711D1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71D-B549-A7DE-EF4D33711D1D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71D-B549-A7DE-EF4D33711D1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171D-B549-A7DE-EF4D33711D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980E-0B4B-A8CF-968C5F8B2D40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980E-0B4B-A8CF-968C5F8B2D40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980E-0B4B-A8CF-968C5F8B2D40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980E-0B4B-A8CF-968C5F8B2D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80E-0B4B-A8CF-968C5F8B2D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951134644002104E-2"/>
          <c:y val="6.0593337595541856E-2"/>
          <c:w val="0.91209773071199585"/>
          <c:h val="0.6451672367442856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0E27-A747-9927-F7F0E1E987CA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0E27-A747-9927-F7F0E1E987CA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0E27-A747-9927-F7F0E1E987CA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0E27-A747-9927-F7F0E1E98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E27-A747-9927-F7F0E1E98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2878023052360095"/>
          <c:w val="0.99589338467782274"/>
          <c:h val="0.1381688580606488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96F4-9648-A147-F9769DAF7605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96F4-9648-A147-F9769DAF7605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96F4-9648-A147-F9769DAF7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F4-9648-A147-F9769DAF760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6F4-9648-A147-F9769DAF760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F4-9648-A147-F9769DAF760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6F4-9648-A147-F9769DAF760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6F4-9648-A147-F9769DAF760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6F4-9648-A147-F9769DAF760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6F4-9648-A147-F9769DAF7605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6F4-9648-A147-F9769DAF7605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6F4-9648-A147-F9769DAF7605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6F4-9648-A147-F9769DAF7605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6F4-9648-A147-F9769DAF7605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6F4-9648-A147-F9769DAF76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96F4-9648-A147-F9769DAF7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951134644002104E-2"/>
          <c:y val="6.0593337595541856E-2"/>
          <c:w val="0.91209773071199585"/>
          <c:h val="0.656184207216202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1F71-2347-B18D-6B630A307332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1F71-2347-B18D-6B630A307332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1F71-2347-B18D-6B630A307332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1F71-2347-B18D-6B630A307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F71-2347-B18D-6B630A307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3428871575955932"/>
          <c:w val="0.99589338467782274"/>
          <c:h val="0.132660372824690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3E51-4E42-8C00-A948DC2E75DF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3E51-4E42-8C00-A948DC2E75DF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3E51-4E42-8C00-A948DC2E7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E51-4E42-8C00-A948DC2E75D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E51-4E42-8C00-A948DC2E75D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E51-4E42-8C00-A948DC2E75D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E51-4E42-8C00-A948DC2E75D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E51-4E42-8C00-A948DC2E75D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E51-4E42-8C00-A948DC2E75DF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E51-4E42-8C00-A948DC2E75D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E51-4E42-8C00-A948DC2E75DF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E51-4E42-8C00-A948DC2E75D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E51-4E42-8C00-A948DC2E75DF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E51-4E42-8C00-A948DC2E75DF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E51-4E42-8C00-A948DC2E75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3E51-4E42-8C00-A948DC2E7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B586-A04E-8798-76AFBDCDFE8A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B586-A04E-8798-76AFBDCDFE8A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B586-A04E-8798-76AFBDCDF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586-A04E-8798-76AFBDCDFE8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586-A04E-8798-76AFBDCDFE8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586-A04E-8798-76AFBDCDFE8A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586-A04E-8798-76AFBDCDFE8A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586-A04E-8798-76AFBDCDFE8A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586-A04E-8798-76AFBDCDFE8A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586-A04E-8798-76AFBDCDFE8A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586-A04E-8798-76AFBDCDFE8A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586-A04E-8798-76AFBDCDFE8A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586-A04E-8798-76AFBDCDFE8A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586-A04E-8798-76AFBDCDFE8A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B586-A04E-8798-76AFBDCDFE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B586-A04E-8798-76AFBDCDF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9C7F-D847-A4AD-44605D3AD5C5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9C7F-D847-A4AD-44605D3AD5C5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9C7F-D847-A4AD-44605D3AD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C7F-D847-A4AD-44605D3AD5C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C7F-D847-A4AD-44605D3AD5C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C7F-D847-A4AD-44605D3AD5C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C7F-D847-A4AD-44605D3AD5C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C7F-D847-A4AD-44605D3AD5C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C7F-D847-A4AD-44605D3AD5C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C7F-D847-A4AD-44605D3AD5C5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C7F-D847-A4AD-44605D3AD5C5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C7F-D847-A4AD-44605D3AD5C5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C7F-D847-A4AD-44605D3AD5C5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C7F-D847-A4AD-44605D3AD5C5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C7F-D847-A4AD-44605D3AD5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9C7F-D847-A4AD-44605D3AD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8F19-F14D-B63F-8C5F7A032322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8F19-F14D-B63F-8C5F7A032322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8F19-F14D-B63F-8C5F7A032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19-F14D-B63F-8C5F7A03232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F19-F14D-B63F-8C5F7A032322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19-F14D-B63F-8C5F7A032322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F19-F14D-B63F-8C5F7A03232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19-F14D-B63F-8C5F7A03232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F19-F14D-B63F-8C5F7A032322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F19-F14D-B63F-8C5F7A03232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F19-F14D-B63F-8C5F7A032322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F19-F14D-B63F-8C5F7A032322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F19-F14D-B63F-8C5F7A032322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F19-F14D-B63F-8C5F7A032322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F19-F14D-B63F-8C5F7A03232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8F19-F14D-B63F-8C5F7A032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613A-144D-9198-B504C851AC66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613A-144D-9198-B504C851AC66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613A-144D-9198-B504C851AC66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613A-144D-9198-B504C851AC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13A-144D-9198-B504C851AC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BFBC-094D-8877-0309CBC0B0DB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BFBC-094D-8877-0309CBC0B0DB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BFBC-094D-8877-0309CBC0B0DB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BFBC-094D-8877-0309CBC0B0DB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BFBC-094D-8877-0309CBC0B0DB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BFBC-094D-8877-0309CBC0B0DB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9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0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8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E62B7-BF97-0973-EDF4-48908FBE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3CEDA-8AB3-6AF0-70C6-E15C6FC8C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69262-B5A4-2FCE-7E08-7EAAD1DB3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9485A-62C7-3089-C70F-6405456B2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54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D2F1-F27E-F008-D28F-A80C65A7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FE20B-AC68-A715-1904-A8997A740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90C4E-EA51-177C-42BA-46AF20D0B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E6F7B-6012-765E-DCF5-2558BB00D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3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77F13-6185-DA3A-E4BF-93AB08710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AA878-4BCC-C37E-C60B-5C73D7AB7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1676A-8DB0-EB68-AFE3-4B5980881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1DA36-1389-3F55-2F71-57DFDF61F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38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C86E9-8DBC-7315-34FD-58C7242D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AD624-4D2F-82F2-F904-1C760725E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4E577-5C9F-05A6-2A63-85479AB3C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DF337-03B5-BF71-3308-EB7914FE2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30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2D0F5-8BBF-7EE5-13F5-9F0CF5DC7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9B9BD-FD8B-6877-05B7-E76761534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D1F4E-1948-87BC-0DC9-1B2643E76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1974D-1303-6585-E51A-9BB4C0933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33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2AC41-72C5-457E-68E0-ABA79431E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75686-AB67-CADF-5E29-F5A5E8D97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87485-085D-0D90-7A80-DA34DCDD1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B4E9A-7183-4A81-0FF4-A45C76293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71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22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37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962B193-53CA-0D19-0118-C61D7DEBCF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20FC2D-DB38-A66D-B4BE-8E608C2A5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1D583B0-04E8-97BC-998D-5328C105E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8077D-F430-EB3F-E631-8256B604A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08" y="640791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411849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555" y="6388767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93" r:id="rId4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08" y="640791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373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emf"/><Relationship Id="rId4" Type="http://schemas.openxmlformats.org/officeDocument/2006/relationships/chart" Target="../charts/char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24.xml"/><Relationship Id="rId5" Type="http://schemas.openxmlformats.org/officeDocument/2006/relationships/chart" Target="../charts/chart23.xml"/><Relationship Id="rId4" Type="http://schemas.openxmlformats.org/officeDocument/2006/relationships/chart" Target="../charts/chart2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27.xml"/><Relationship Id="rId4" Type="http://schemas.openxmlformats.org/officeDocument/2006/relationships/chart" Target="../charts/chart2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30.xml"/><Relationship Id="rId4" Type="http://schemas.openxmlformats.org/officeDocument/2006/relationships/chart" Target="../charts/char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CUSTOMER_NAME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Portfolio Change Report</a:t>
            </a:r>
            <a:endParaRPr lang="en-GB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  <a:p>
            <a:endParaRPr lang="en-GB" dirty="0"/>
          </a:p>
        </p:txBody>
      </p:sp>
      <p:sp>
        <p:nvSpPr>
          <p:cNvPr id="4" name="Tijdelijke aanduiding voor tekst 1">
            <a:extLst>
              <a:ext uri="{FF2B5EF4-FFF2-40B4-BE49-F238E27FC236}">
                <a16:creationId xmlns:a16="http://schemas.microsoft.com/office/drawing/2014/main" id="{9AD8A29F-88B6-1458-3D23-92698A071436}"/>
              </a:ext>
            </a:extLst>
          </p:cNvPr>
          <p:cNvSpPr txBox="1">
            <a:spLocks/>
          </p:cNvSpPr>
          <p:nvPr/>
        </p:nvSpPr>
        <p:spPr>
          <a:xfrm>
            <a:off x="395999" y="2959200"/>
            <a:ext cx="11174400" cy="450000"/>
          </a:xfrm>
          <a:prstGeom prst="rect">
            <a:avLst/>
          </a:prstGeom>
        </p:spPr>
        <p:txBody>
          <a:bodyPr vert="horz" wrap="none" lIns="216000" tIns="46800" rIns="234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64FF"/>
              </a:buClr>
              <a:buFont typeface="Arial" panose="020B0604020202020204" pitchFamily="34" charset="0"/>
              <a:buNone/>
              <a:defRPr lang="en-US" sz="2800" b="0" i="0" kern="120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ea typeface="+mn-ea"/>
                <a:cs typeface="Calibri Light" panose="020F0302020204030204" pitchFamily="34" charset="0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FILTER_INFO</a:t>
            </a:r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28E9F-84B3-1417-B1C1-8497B044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fgeronde rechthoek 33">
            <a:extLst>
              <a:ext uri="{FF2B5EF4-FFF2-40B4-BE49-F238E27FC236}">
                <a16:creationId xmlns:a16="http://schemas.microsoft.com/office/drawing/2014/main" id="{996AB135-5D98-6CB2-2236-27FA6BFF1DF8}"/>
              </a:ext>
            </a:extLst>
          </p:cNvPr>
          <p:cNvSpPr/>
          <p:nvPr/>
        </p:nvSpPr>
        <p:spPr>
          <a:xfrm>
            <a:off x="4454347" y="754749"/>
            <a:ext cx="7567201" cy="1406530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6C2F1336-0E3A-77B1-7FED-5097E0B73E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392751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6585796-F7AC-E22A-DAA4-BFADBBE1AED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1C30576-65F7-766C-094F-C9239AE17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8B9E1154-CDD8-EB91-949B-479B334BF67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2073007"/>
          </a:xfrm>
        </p:spPr>
        <p:txBody>
          <a:bodyPr/>
          <a:lstStyle/>
          <a:p>
            <a:r>
              <a:rPr lang="en-GB" dirty="0"/>
              <a:t>Objectives</a:t>
            </a:r>
          </a:p>
          <a:p>
            <a:endParaRPr lang="en-GB" dirty="0"/>
          </a:p>
          <a:p>
            <a:r>
              <a:rPr lang="en-GB" dirty="0"/>
              <a:t>Portfolio trends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221DC0E-2ACB-F130-731C-38C80934C0BA}"/>
              </a:ext>
            </a:extLst>
          </p:cNvPr>
          <p:cNvSpPr/>
          <p:nvPr/>
        </p:nvSpPr>
        <p:spPr>
          <a:xfrm>
            <a:off x="4467601" y="2720084"/>
            <a:ext cx="7567200" cy="17392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78A9620-EABF-7EE8-9AD9-DC016D1A3074}"/>
              </a:ext>
            </a:extLst>
          </p:cNvPr>
          <p:cNvGrpSpPr/>
          <p:nvPr/>
        </p:nvGrpSpPr>
        <p:grpSpPr>
          <a:xfrm>
            <a:off x="5682921" y="1563345"/>
            <a:ext cx="5119353" cy="332898"/>
            <a:chOff x="5682921" y="2898499"/>
            <a:chExt cx="5119353" cy="332898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96D49B4-3075-D523-A87B-34907DB1D635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12943039-BE55-8114-7DAD-5D4EF8731FF6}"/>
                </a:ext>
              </a:extLst>
            </p:cNvPr>
            <p:cNvSpPr/>
            <p:nvPr/>
          </p:nvSpPr>
          <p:spPr>
            <a:xfrm>
              <a:off x="7940516" y="2898499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B5A5871D-7343-4BC4-31A9-01F0CD087096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Objectives</a:t>
              </a: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2F51B979-8832-1084-DED6-F0BE94169ECE}"/>
                </a:ext>
              </a:extLst>
            </p:cNvPr>
            <p:cNvSpPr txBox="1"/>
            <p:nvPr/>
          </p:nvSpPr>
          <p:spPr>
            <a:xfrm>
              <a:off x="8364857" y="2909129"/>
              <a:ext cx="243741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Objective trends per capability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9905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59DA3E-BC4D-56BF-3D02-3ACC9ACAB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–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5DB27D0-EDA4-3C43-0A09-967F11094A3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5B9EEB-750A-B63C-431E-C83D0FD7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Portfolio progress towards objectives, between OBJECTIVES_PERIOD_START and OBJECTIVES_PERIOD_END</a:t>
            </a:r>
          </a:p>
        </p:txBody>
      </p:sp>
      <p:graphicFrame>
        <p:nvGraphicFramePr>
          <p:cNvPr id="6" name="PROGRESS_STATUS_CHART">
            <a:extLst>
              <a:ext uri="{FF2B5EF4-FFF2-40B4-BE49-F238E27FC236}">
                <a16:creationId xmlns:a16="http://schemas.microsoft.com/office/drawing/2014/main" id="{9A17AFA3-FC96-B65B-0A6A-D4A1754157FE}"/>
              </a:ext>
            </a:extLst>
          </p:cNvPr>
          <p:cNvGraphicFramePr/>
          <p:nvPr/>
        </p:nvGraphicFramePr>
        <p:xfrm>
          <a:off x="478224" y="2116469"/>
          <a:ext cx="11267443" cy="1457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CD0E6B1-41C3-CBAF-81A1-5291864E7E21}"/>
              </a:ext>
            </a:extLst>
          </p:cNvPr>
          <p:cNvSpPr txBox="1"/>
          <p:nvPr/>
        </p:nvSpPr>
        <p:spPr>
          <a:xfrm>
            <a:off x="2413000" y="3924001"/>
            <a:ext cx="7366000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Improved, not yet met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Incomplete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08C5B-250B-FC47-1AD3-3C078984145A}"/>
              </a:ext>
            </a:extLst>
          </p:cNvPr>
          <p:cNvSpPr txBox="1"/>
          <p:nvPr/>
        </p:nvSpPr>
        <p:spPr>
          <a:xfrm>
            <a:off x="681046" y="1888751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% of systems</a:t>
            </a:r>
          </a:p>
        </p:txBody>
      </p:sp>
      <p:sp>
        <p:nvSpPr>
          <p:cNvPr id="20" name="Subtitle"/>
          <p:cNvSpPr txBox="1"/>
          <p:nvPr/>
        </p:nvSpPr>
        <p:spPr>
          <a:xfrm>
            <a:off x="152400" y="1320800"/>
            <a:ext cx="8890000" cy="304800"/>
          </a:xfrm>
          <a:prstGeom prst="rect">
            <a:avLst/>
          </a:prstGeom>
          <a:noFill/>
        </p:spPr>
        <p:txBody>
          <a:bodyPr wrap="square" lIns="228600" tIns="0" bIns="0" rtlCol="0" anchor="t">
            <a:no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Improved: moved towards objectives, not met yet. Worsened: moved away from objectives.</a:t>
            </a:r>
          </a:p>
        </p:txBody>
      </p:sp>
    </p:spTree>
    <p:extLst>
      <p:ext uri="{BB962C8B-B14F-4D97-AF65-F5344CB8AC3E}">
        <p14:creationId xmlns:p14="http://schemas.microsoft.com/office/powerpoint/2010/main" val="726965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FA7D2-16D5-A283-E5D3-02028E6C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002B0A-CA08-2984-487D-E204E84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–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036A146-29BF-7CA2-2908-F2C86F33F1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EFB01E-7199-3087-1F83-52C1190C7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Portfolio progress towards objectives over time</a:t>
            </a:r>
          </a:p>
        </p:txBody>
      </p:sp>
      <p:graphicFrame>
        <p:nvGraphicFramePr>
          <p:cNvPr id="6" name="PROGRESS_TIME_CHART">
            <a:extLst>
              <a:ext uri="{FF2B5EF4-FFF2-40B4-BE49-F238E27FC236}">
                <a16:creationId xmlns:a16="http://schemas.microsoft.com/office/drawing/2014/main" id="{52C16B72-396C-FACA-8BB0-F4504E8F3C3F}"/>
              </a:ext>
            </a:extLst>
          </p:cNvPr>
          <p:cNvGraphicFramePr/>
          <p:nvPr/>
        </p:nvGraphicFramePr>
        <p:xfrm>
          <a:off x="478224" y="1905000"/>
          <a:ext cx="11267443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FA1C5AF-9085-C111-CACA-05BD3DAB557A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7F3C6A-7DFB-53D1-2356-25E4D5CBC43A}"/>
              </a:ext>
            </a:extLst>
          </p:cNvPr>
          <p:cNvSpPr txBox="1"/>
          <p:nvPr/>
        </p:nvSpPr>
        <p:spPr>
          <a:xfrm>
            <a:off x="470981" y="1600200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% of systems</a:t>
            </a:r>
          </a:p>
        </p:txBody>
      </p:sp>
      <p:sp>
        <p:nvSpPr>
          <p:cNvPr id="20" name="Subtitle"/>
          <p:cNvSpPr txBox="1"/>
          <p:nvPr/>
        </p:nvSpPr>
        <p:spPr>
          <a:xfrm>
            <a:off x="152400" y="1320800"/>
            <a:ext cx="11176000" cy="304800"/>
          </a:xfrm>
          <a:prstGeom prst="rect">
            <a:avLst/>
          </a:prstGeom>
          <a:noFill/>
        </p:spPr>
        <p:txBody>
          <a:bodyPr wrap="square" lIns="228600" tIns="0" bIns="0" rtlCol="0" anchor="t">
            <a:no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Share of the portfolio that met its objectives, per period.</a:t>
            </a:r>
          </a:p>
        </p:txBody>
      </p:sp>
    </p:spTree>
    <p:extLst>
      <p:ext uri="{BB962C8B-B14F-4D97-AF65-F5344CB8AC3E}">
        <p14:creationId xmlns:p14="http://schemas.microsoft.com/office/powerpoint/2010/main" val="4227648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95A28-0797-82EC-8AAB-40E0AD48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67376D-DF88-6D74-9C9C-4F16D33E79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–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4458A9EA-AB86-5971-70BD-18746FED9BD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F4B936-22AE-53AE-D47F-598EDA21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Portfolio progress towards objectives per capability, between OBJECTIVES_PERIOD_START and OBJECTIVES_PERIOD_END</a:t>
            </a:r>
          </a:p>
        </p:txBody>
      </p:sp>
      <p:graphicFrame>
        <p:nvGraphicFramePr>
          <p:cNvPr id="6" name="PROGRESS_CAPABILITY_CHART">
            <a:extLst>
              <a:ext uri="{FF2B5EF4-FFF2-40B4-BE49-F238E27FC236}">
                <a16:creationId xmlns:a16="http://schemas.microsoft.com/office/drawing/2014/main" id="{2774041C-71AE-0495-78BB-3253007E9E90}"/>
              </a:ext>
            </a:extLst>
          </p:cNvPr>
          <p:cNvGraphicFramePr/>
          <p:nvPr/>
        </p:nvGraphicFramePr>
        <p:xfrm>
          <a:off x="478224" y="1854200"/>
          <a:ext cx="11267443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4208DC-0422-1C0A-F36A-3E68057F3E5B}"/>
              </a:ext>
            </a:extLst>
          </p:cNvPr>
          <p:cNvSpPr txBox="1"/>
          <p:nvPr/>
        </p:nvSpPr>
        <p:spPr>
          <a:xfrm>
            <a:off x="2413000" y="5969000"/>
            <a:ext cx="7366000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Improved, not yet met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Incomplete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77E27A-346A-7209-76CD-BF5DB2681082}"/>
              </a:ext>
            </a:extLst>
          </p:cNvPr>
          <p:cNvSpPr txBox="1"/>
          <p:nvPr/>
        </p:nvSpPr>
        <p:spPr>
          <a:xfrm>
            <a:off x="9715500" y="1574800"/>
            <a:ext cx="2032000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% of systems per capability</a:t>
            </a:r>
          </a:p>
        </p:txBody>
      </p:sp>
      <p:sp>
        <p:nvSpPr>
          <p:cNvPr id="20" name="Subtitle"/>
          <p:cNvSpPr txBox="1"/>
          <p:nvPr/>
        </p:nvSpPr>
        <p:spPr>
          <a:xfrm>
            <a:off x="152400" y="1320800"/>
            <a:ext cx="8890000" cy="304800"/>
          </a:xfrm>
          <a:prstGeom prst="rect">
            <a:avLst/>
          </a:prstGeom>
          <a:noFill/>
        </p:spPr>
        <p:txBody>
          <a:bodyPr wrap="square" lIns="228600" tIns="0" bIns="0" rtlCol="0" anchor="t">
            <a:no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Improved: moved towards objectives, not met yet. Worsened: moved away from objectives.</a:t>
            </a:r>
          </a:p>
        </p:txBody>
      </p:sp>
    </p:spTree>
    <p:extLst>
      <p:ext uri="{BB962C8B-B14F-4D97-AF65-F5344CB8AC3E}">
        <p14:creationId xmlns:p14="http://schemas.microsoft.com/office/powerpoint/2010/main" val="862381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99A0F-B83A-EBEB-A808-30AD19FF0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6DF103-9A84-4CFA-15FA-0BD904F9B3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506309" cy="228145"/>
          </a:xfrm>
        </p:spPr>
        <p:txBody>
          <a:bodyPr/>
          <a:lstStyle/>
          <a:p>
            <a:r>
              <a:rPr lang="en-GB" dirty="0"/>
              <a:t>Objectives – Maintainability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47307F2D-FDB8-AC4C-ACFA-CDBAE3CD8F8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346EF3-CD28-FFA0-169F-DB5D8A0CD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Portfolio progress towards objectives over time: Maintainability</a:t>
            </a:r>
          </a:p>
        </p:txBody>
      </p:sp>
      <p:graphicFrame>
        <p:nvGraphicFramePr>
          <p:cNvPr id="6" name="PROGRESS_MAINTAINABILITY_TIME_CHART">
            <a:extLst>
              <a:ext uri="{FF2B5EF4-FFF2-40B4-BE49-F238E27FC236}">
                <a16:creationId xmlns:a16="http://schemas.microsoft.com/office/drawing/2014/main" id="{6A5764CB-E5B1-083A-A3BC-4B4C31D364C6}"/>
              </a:ext>
            </a:extLst>
          </p:cNvPr>
          <p:cNvGraphicFramePr/>
          <p:nvPr/>
        </p:nvGraphicFramePr>
        <p:xfrm>
          <a:off x="478224" y="1905000"/>
          <a:ext cx="11267443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3CC9FF0-AB79-ABC8-F329-16AC81263C86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2580F-B6CD-77C6-14B9-30EB83366C2E}"/>
              </a:ext>
            </a:extLst>
          </p:cNvPr>
          <p:cNvSpPr txBox="1"/>
          <p:nvPr/>
        </p:nvSpPr>
        <p:spPr>
          <a:xfrm>
            <a:off x="470981" y="1600200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% of systems</a:t>
            </a:r>
          </a:p>
        </p:txBody>
      </p:sp>
      <p:sp>
        <p:nvSpPr>
          <p:cNvPr id="20" name="Subtitle"/>
          <p:cNvSpPr txBox="1"/>
          <p:nvPr/>
        </p:nvSpPr>
        <p:spPr>
          <a:xfrm>
            <a:off x="152400" y="1320800"/>
            <a:ext cx="11176000" cy="304800"/>
          </a:xfrm>
          <a:prstGeom prst="rect">
            <a:avLst/>
          </a:prstGeom>
          <a:noFill/>
        </p:spPr>
        <p:txBody>
          <a:bodyPr wrap="square" lIns="228600" tIns="0" bIns="0" rtlCol="0" anchor="t">
            <a:no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Share of the portfolio objectives set for Maintainability met, per period.</a:t>
            </a:r>
          </a:p>
        </p:txBody>
      </p:sp>
    </p:spTree>
    <p:extLst>
      <p:ext uri="{BB962C8B-B14F-4D97-AF65-F5344CB8AC3E}">
        <p14:creationId xmlns:p14="http://schemas.microsoft.com/office/powerpoint/2010/main" val="2120384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3548-AF8A-DB5D-1B63-77CE6768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42CA01-A950-E39F-CC0E-94DE74A9CA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GB" dirty="0"/>
              <a:t>Objectives – Architecture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77A2343E-4E3B-DE64-59CA-4672A9243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F2716D-9FE8-0CD3-81E1-C55968C5B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Portfolio progress towards objectives over time: Architecture</a:t>
            </a:r>
          </a:p>
        </p:txBody>
      </p:sp>
      <p:graphicFrame>
        <p:nvGraphicFramePr>
          <p:cNvPr id="6" name="PROGRESS_ARCHITECTURE_TIME_CHART">
            <a:extLst>
              <a:ext uri="{FF2B5EF4-FFF2-40B4-BE49-F238E27FC236}">
                <a16:creationId xmlns:a16="http://schemas.microsoft.com/office/drawing/2014/main" id="{7507C9AC-02D8-080E-E0DF-076B8886E4D4}"/>
              </a:ext>
            </a:extLst>
          </p:cNvPr>
          <p:cNvGraphicFramePr/>
          <p:nvPr/>
        </p:nvGraphicFramePr>
        <p:xfrm>
          <a:off x="478224" y="1905000"/>
          <a:ext cx="11267443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271B99D-BF0F-6325-0317-FAF16C1BFC8E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C1496-868F-E561-71C3-7A9DC6833873}"/>
              </a:ext>
            </a:extLst>
          </p:cNvPr>
          <p:cNvSpPr txBox="1"/>
          <p:nvPr/>
        </p:nvSpPr>
        <p:spPr>
          <a:xfrm>
            <a:off x="470981" y="1600200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% of systems</a:t>
            </a:r>
          </a:p>
        </p:txBody>
      </p:sp>
      <p:sp>
        <p:nvSpPr>
          <p:cNvPr id="20" name="Subtitle"/>
          <p:cNvSpPr txBox="1"/>
          <p:nvPr/>
        </p:nvSpPr>
        <p:spPr>
          <a:xfrm>
            <a:off x="152400" y="1320800"/>
            <a:ext cx="11176000" cy="304800"/>
          </a:xfrm>
          <a:prstGeom prst="rect">
            <a:avLst/>
          </a:prstGeom>
          <a:noFill/>
        </p:spPr>
        <p:txBody>
          <a:bodyPr wrap="square" lIns="228600" tIns="0" bIns="0" rtlCol="0" anchor="t">
            <a:no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Share of the portfolio objectives set for Architecture met, per period.</a:t>
            </a:r>
          </a:p>
        </p:txBody>
      </p:sp>
    </p:spTree>
    <p:extLst>
      <p:ext uri="{BB962C8B-B14F-4D97-AF65-F5344CB8AC3E}">
        <p14:creationId xmlns:p14="http://schemas.microsoft.com/office/powerpoint/2010/main" val="3043650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DB560-0589-B274-3129-E2437CFA1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9B3573-6428-0E36-04D1-823E45CA08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759263" cy="228145"/>
          </a:xfrm>
        </p:spPr>
        <p:txBody>
          <a:bodyPr/>
          <a:lstStyle/>
          <a:p>
            <a:r>
              <a:rPr lang="en-GB" dirty="0"/>
              <a:t>Objectives – Open Source Health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07EFD069-A5E8-28E5-C656-D9092244E0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E90226-C387-AD0E-CB48-3AC0D6BA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Portfolio progress towards objectives over time: Open Source Health</a:t>
            </a:r>
          </a:p>
        </p:txBody>
      </p:sp>
      <p:graphicFrame>
        <p:nvGraphicFramePr>
          <p:cNvPr id="6" name="PROGRESS_OSH_TIME_CHART">
            <a:extLst>
              <a:ext uri="{FF2B5EF4-FFF2-40B4-BE49-F238E27FC236}">
                <a16:creationId xmlns:a16="http://schemas.microsoft.com/office/drawing/2014/main" id="{CEFBE414-6C0F-D888-D92A-8F4B1578B1E8}"/>
              </a:ext>
            </a:extLst>
          </p:cNvPr>
          <p:cNvGraphicFramePr/>
          <p:nvPr/>
        </p:nvGraphicFramePr>
        <p:xfrm>
          <a:off x="478224" y="1905000"/>
          <a:ext cx="11267443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5F32ED1-229A-B9CF-7034-34B50F9DA34E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B8231-088E-AD7D-64C5-DE763E94554E}"/>
              </a:ext>
            </a:extLst>
          </p:cNvPr>
          <p:cNvSpPr txBox="1"/>
          <p:nvPr/>
        </p:nvSpPr>
        <p:spPr>
          <a:xfrm>
            <a:off x="470981" y="1600200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% of systems</a:t>
            </a:r>
          </a:p>
        </p:txBody>
      </p:sp>
      <p:sp>
        <p:nvSpPr>
          <p:cNvPr id="20" name="Subtitle"/>
          <p:cNvSpPr txBox="1"/>
          <p:nvPr/>
        </p:nvSpPr>
        <p:spPr>
          <a:xfrm>
            <a:off x="152400" y="1320800"/>
            <a:ext cx="11176000" cy="304800"/>
          </a:xfrm>
          <a:prstGeom prst="rect">
            <a:avLst/>
          </a:prstGeom>
          <a:noFill/>
        </p:spPr>
        <p:txBody>
          <a:bodyPr wrap="square" lIns="228600" tIns="0" bIns="0" rtlCol="0" anchor="t">
            <a:no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Share of the portfolio objectives set for Open Source Health met, per period.</a:t>
            </a:r>
          </a:p>
        </p:txBody>
      </p:sp>
    </p:spTree>
    <p:extLst>
      <p:ext uri="{BB962C8B-B14F-4D97-AF65-F5344CB8AC3E}">
        <p14:creationId xmlns:p14="http://schemas.microsoft.com/office/powerpoint/2010/main" val="3718298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53B19-00F5-BFA0-C36C-ACEB0F916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33F2A3-DC2A-0CBF-4932-AEA088FF9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– Security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7D7CB3C8-5FC1-63F4-9226-2151F82802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05556D-9CC2-9B0A-DDA8-9AF0AA5A6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Portfolio progress towards objectives over time: Security</a:t>
            </a:r>
          </a:p>
        </p:txBody>
      </p:sp>
      <p:graphicFrame>
        <p:nvGraphicFramePr>
          <p:cNvPr id="6" name="PROGRESS_SECURITY_TIME_CHART">
            <a:extLst>
              <a:ext uri="{FF2B5EF4-FFF2-40B4-BE49-F238E27FC236}">
                <a16:creationId xmlns:a16="http://schemas.microsoft.com/office/drawing/2014/main" id="{C6FA88CE-DDBE-C10D-7439-48AFDF8BC931}"/>
              </a:ext>
            </a:extLst>
          </p:cNvPr>
          <p:cNvGraphicFramePr/>
          <p:nvPr/>
        </p:nvGraphicFramePr>
        <p:xfrm>
          <a:off x="478224" y="1905000"/>
          <a:ext cx="11267443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6152522-5061-5A0D-7288-66E187FB7C31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C72B87-2D1E-D2F1-65AB-69BA6680A392}"/>
              </a:ext>
            </a:extLst>
          </p:cNvPr>
          <p:cNvSpPr txBox="1"/>
          <p:nvPr/>
        </p:nvSpPr>
        <p:spPr>
          <a:xfrm>
            <a:off x="470981" y="1600200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% of systems</a:t>
            </a:r>
          </a:p>
        </p:txBody>
      </p:sp>
      <p:sp>
        <p:nvSpPr>
          <p:cNvPr id="20" name="Subtitle"/>
          <p:cNvSpPr txBox="1"/>
          <p:nvPr/>
        </p:nvSpPr>
        <p:spPr>
          <a:xfrm>
            <a:off x="152400" y="1320800"/>
            <a:ext cx="11176000" cy="304800"/>
          </a:xfrm>
          <a:prstGeom prst="rect">
            <a:avLst/>
          </a:prstGeom>
          <a:noFill/>
        </p:spPr>
        <p:txBody>
          <a:bodyPr wrap="square" lIns="228600" tIns="0" bIns="0" rtlCol="0" anchor="t">
            <a:no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Share of the portfolio objectives set for Security met, per period.</a:t>
            </a:r>
          </a:p>
        </p:txBody>
      </p:sp>
    </p:spTree>
    <p:extLst>
      <p:ext uri="{BB962C8B-B14F-4D97-AF65-F5344CB8AC3E}">
        <p14:creationId xmlns:p14="http://schemas.microsoft.com/office/powerpoint/2010/main" val="3755489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888B32-26A7-257B-DDDE-599EEC4CEC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747448" cy="228145"/>
          </a:xfrm>
        </p:spPr>
        <p:txBody>
          <a:bodyPr/>
          <a:lstStyle/>
          <a:p>
            <a:r>
              <a:rPr lang="en-GB" dirty="0"/>
              <a:t>Objectives – Status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CD154-723A-2909-18F9-136A88A427F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90000" tIns="46800" rIns="90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900" b="0" kern="1200" cap="none" spc="0" baseline="0" dirty="0">
                <a:solidFill>
                  <a:srgbClr val="0B54E6"/>
                </a:solidFill>
                <a:latin typeface="Azeret Mono" pitchFamily="2" charset="77"/>
                <a:ea typeface="+mn-ea"/>
                <a:cs typeface="Azeret Mono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773B6-825A-4167-35E1-B39EF2B9436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216A0FA-E540-B347-F0E6-078404ED9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Systems that met their objectives, between OBJECTIVES_PERIOD_START and OBJECTIVES_PERIOD_END</a:t>
            </a:r>
          </a:p>
        </p:txBody>
      </p:sp>
      <p:graphicFrame>
        <p:nvGraphicFramePr>
          <p:cNvPr id="7" name="OBJECTIVES_STATUS_CHART">
            <a:extLst>
              <a:ext uri="{FF2B5EF4-FFF2-40B4-BE49-F238E27FC236}">
                <a16:creationId xmlns:a16="http://schemas.microsoft.com/office/drawing/2014/main" id="{2EDB28D6-D893-2834-1452-760EA34FA080}"/>
              </a:ext>
            </a:extLst>
          </p:cNvPr>
          <p:cNvGraphicFramePr/>
          <p:nvPr/>
        </p:nvGraphicFramePr>
        <p:xfrm>
          <a:off x="478224" y="2116469"/>
          <a:ext cx="11267443" cy="1457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7CF6F7A-28F4-82F4-BD9F-05E947064F24}"/>
              </a:ext>
            </a:extLst>
          </p:cNvPr>
          <p:cNvSpPr txBox="1"/>
          <p:nvPr/>
        </p:nvSpPr>
        <p:spPr>
          <a:xfrm>
            <a:off x="2791143" y="394977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ln w="9525">
                  <a:solidFill>
                    <a:srgbClr val="BFC4CF"/>
                  </a:solidFill>
                </a:ln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A64C5C-AD9F-1F4B-55E5-F3377812A35C}"/>
              </a:ext>
            </a:extLst>
          </p:cNvPr>
          <p:cNvSpPr txBox="1"/>
          <p:nvPr/>
        </p:nvSpPr>
        <p:spPr>
          <a:xfrm>
            <a:off x="681046" y="1888751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% of systems</a:t>
            </a:r>
          </a:p>
        </p:txBody>
      </p:sp>
      <p:sp>
        <p:nvSpPr>
          <p:cNvPr id="20" name="Subtitle"/>
          <p:cNvSpPr txBox="1"/>
          <p:nvPr/>
        </p:nvSpPr>
        <p:spPr>
          <a:xfrm>
            <a:off x="152400" y="1320800"/>
            <a:ext cx="11176000" cy="304800"/>
          </a:xfrm>
          <a:prstGeom prst="rect">
            <a:avLst/>
          </a:prstGeom>
          <a:noFill/>
        </p:spPr>
        <p:txBody>
          <a:bodyPr wrap="square" lIns="228600" tIns="0" bIns="0" rtlCol="0" anchor="t">
            <a:no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Share of systems that met their objectives in the period, and the status of the others.</a:t>
            </a:r>
          </a:p>
        </p:txBody>
      </p:sp>
    </p:spTree>
    <p:extLst>
      <p:ext uri="{BB962C8B-B14F-4D97-AF65-F5344CB8AC3E}">
        <p14:creationId xmlns:p14="http://schemas.microsoft.com/office/powerpoint/2010/main" val="227872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576D7E-6A52-4C14-1626-F436107D18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578812" cy="228145"/>
          </a:xfrm>
        </p:spPr>
        <p:txBody>
          <a:bodyPr/>
          <a:lstStyle/>
          <a:p>
            <a:r>
              <a:rPr lang="en-GB" dirty="0"/>
              <a:t>Objectives – Team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C7CD8-F0E2-3AA8-5650-3D8DA4191EF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90000" tIns="46800" rIns="90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900" b="0" kern="1200" cap="none" spc="0" baseline="0" dirty="0">
                <a:solidFill>
                  <a:srgbClr val="0B54E6"/>
                </a:solidFill>
                <a:latin typeface="Azeret Mono" pitchFamily="2" charset="77"/>
                <a:ea typeface="+mn-ea"/>
                <a:cs typeface="Azeret Mono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CDA563-94D2-2769-14DD-8932B8AF8D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1CF856C-82D4-2AD8-52DB-B4AC6587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Systems that met their objectives per team, between OBJECTIVES_PERIOD_START and OBJECTIVES_PERIOD_END</a:t>
            </a:r>
          </a:p>
        </p:txBody>
      </p:sp>
      <p:graphicFrame>
        <p:nvGraphicFramePr>
          <p:cNvPr id="11" name="OBJECTIVES_TEAM_CHART">
            <a:extLst>
              <a:ext uri="{FF2B5EF4-FFF2-40B4-BE49-F238E27FC236}">
                <a16:creationId xmlns:a16="http://schemas.microsoft.com/office/drawing/2014/main" id="{90D37655-7D68-97A1-42BD-3EA9E53215FD}"/>
              </a:ext>
            </a:extLst>
          </p:cNvPr>
          <p:cNvGraphicFramePr/>
          <p:nvPr/>
        </p:nvGraphicFramePr>
        <p:xfrm>
          <a:off x="478224" y="1854200"/>
          <a:ext cx="11267443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D842B39-F206-50DB-DCE4-FBFE6B59063D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ln w="9525">
                  <a:solidFill>
                    <a:srgbClr val="BFC4CF"/>
                  </a:solidFill>
                </a:ln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CFE085-67E8-695F-F564-B8C48BE4ECD4}"/>
              </a:ext>
            </a:extLst>
          </p:cNvPr>
          <p:cNvSpPr txBox="1"/>
          <p:nvPr/>
        </p:nvSpPr>
        <p:spPr>
          <a:xfrm>
            <a:off x="9715500" y="1574800"/>
            <a:ext cx="2032000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% of team’s systems</a:t>
            </a:r>
          </a:p>
        </p:txBody>
      </p:sp>
      <p:sp>
        <p:nvSpPr>
          <p:cNvPr id="20" name="Subtitle"/>
          <p:cNvSpPr txBox="1"/>
          <p:nvPr/>
        </p:nvSpPr>
        <p:spPr>
          <a:xfrm>
            <a:off x="152400" y="1320800"/>
            <a:ext cx="11176000" cy="304800"/>
          </a:xfrm>
          <a:prstGeom prst="rect">
            <a:avLst/>
          </a:prstGeom>
          <a:noFill/>
        </p:spPr>
        <p:txBody>
          <a:bodyPr wrap="square" lIns="228600" tIns="0" bIns="0" rtlCol="0" anchor="t">
            <a:no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Share of each team’s systems that met their objectives in the period, and the status of the others.</a:t>
            </a:r>
          </a:p>
        </p:txBody>
      </p:sp>
    </p:spTree>
    <p:extLst>
      <p:ext uri="{BB962C8B-B14F-4D97-AF65-F5344CB8AC3E}">
        <p14:creationId xmlns:p14="http://schemas.microsoft.com/office/powerpoint/2010/main" val="2826737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E287AD-36A0-DD07-3A6C-318F5D2B12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084720" cy="228145"/>
          </a:xfrm>
        </p:spPr>
        <p:txBody>
          <a:bodyPr/>
          <a:lstStyle/>
          <a:p>
            <a:r>
              <a:rPr lang="en-GB" dirty="0"/>
              <a:t>Objectives – Capability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819CDB-F8BA-4683-92D5-E4255AE0D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90000" tIns="46800" rIns="90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900" b="0" kern="1200" cap="none" spc="0" baseline="0" dirty="0">
                <a:solidFill>
                  <a:srgbClr val="0B54E6"/>
                </a:solidFill>
                <a:latin typeface="Azeret Mono" pitchFamily="2" charset="77"/>
                <a:ea typeface="+mn-ea"/>
                <a:cs typeface="Azeret Mono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B7156-CCFF-605D-4D31-9506947FE0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7C09E9-29E6-1EC3-4D1D-7D72EF930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Systems that met their objectives per capability, between OBJECTIVES_PERIOD_START and OBJECTIVES_PERIOD_END</a:t>
            </a:r>
          </a:p>
        </p:txBody>
      </p:sp>
      <p:graphicFrame>
        <p:nvGraphicFramePr>
          <p:cNvPr id="7" name="OBJECTIVES_CAPABILITY_CHART">
            <a:extLst>
              <a:ext uri="{FF2B5EF4-FFF2-40B4-BE49-F238E27FC236}">
                <a16:creationId xmlns:a16="http://schemas.microsoft.com/office/drawing/2014/main" id="{F7EC7942-12DF-47CD-7568-513CF44E5D19}"/>
              </a:ext>
            </a:extLst>
          </p:cNvPr>
          <p:cNvGraphicFramePr/>
          <p:nvPr/>
        </p:nvGraphicFramePr>
        <p:xfrm>
          <a:off x="478224" y="1854200"/>
          <a:ext cx="11267443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90E694A-649F-7E3D-3A63-6F6D6F81E40E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ln w="9525">
                  <a:solidFill>
                    <a:srgbClr val="BFC4CF"/>
                  </a:solidFill>
                </a:ln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E8EC1-BCA9-D803-2F62-A8F5EF7DDCDA}"/>
              </a:ext>
            </a:extLst>
          </p:cNvPr>
          <p:cNvSpPr txBox="1"/>
          <p:nvPr/>
        </p:nvSpPr>
        <p:spPr>
          <a:xfrm>
            <a:off x="9715500" y="1574800"/>
            <a:ext cx="2032000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% of systems per capability</a:t>
            </a:r>
          </a:p>
        </p:txBody>
      </p:sp>
      <p:sp>
        <p:nvSpPr>
          <p:cNvPr id="20" name="Subtitle"/>
          <p:cNvSpPr txBox="1"/>
          <p:nvPr/>
        </p:nvSpPr>
        <p:spPr>
          <a:xfrm>
            <a:off x="152400" y="1320800"/>
            <a:ext cx="8890000" cy="304800"/>
          </a:xfrm>
          <a:prstGeom prst="rect">
            <a:avLst/>
          </a:prstGeom>
          <a:noFill/>
        </p:spPr>
        <p:txBody>
          <a:bodyPr wrap="square" lIns="228600" tIns="0" bIns="0" rtlCol="0" anchor="t">
            <a:no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Share of systems that met their objectives in the period, and the status of the others.</a:t>
            </a:r>
          </a:p>
        </p:txBody>
      </p:sp>
    </p:spTree>
    <p:extLst>
      <p:ext uri="{BB962C8B-B14F-4D97-AF65-F5344CB8AC3E}">
        <p14:creationId xmlns:p14="http://schemas.microsoft.com/office/powerpoint/2010/main" val="3869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481FAE-4A75-47A8-A91D-55F888E119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831765" cy="228145"/>
          </a:xfrm>
        </p:spPr>
        <p:txBody>
          <a:bodyPr/>
          <a:lstStyle/>
          <a:p>
            <a:r>
              <a:rPr lang="en-GB" dirty="0"/>
              <a:t>Objectives – Overall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B6BB-5502-6059-F44F-990FF73C43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90000" tIns="46800" rIns="90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900" b="0" kern="1200" cap="none" spc="0" baseline="0" dirty="0">
                <a:solidFill>
                  <a:srgbClr val="0B54E6"/>
                </a:solidFill>
                <a:latin typeface="Azeret Mono" pitchFamily="2" charset="77"/>
                <a:ea typeface="+mn-ea"/>
                <a:cs typeface="Azeret Mono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F516E-D9DE-46A4-39EC-49C4A7E4D71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68BC10-5510-3D83-FFE3-706AA2FBC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Systems that met their objectives over time</a:t>
            </a:r>
          </a:p>
        </p:txBody>
      </p:sp>
      <p:graphicFrame>
        <p:nvGraphicFramePr>
          <p:cNvPr id="7" name="OBJECTIVES_OVERALL_CHART">
            <a:extLst>
              <a:ext uri="{FF2B5EF4-FFF2-40B4-BE49-F238E27FC236}">
                <a16:creationId xmlns:a16="http://schemas.microsoft.com/office/drawing/2014/main" id="{717088A6-F703-E509-DF51-C3923B3A0757}"/>
              </a:ext>
            </a:extLst>
          </p:cNvPr>
          <p:cNvGraphicFramePr/>
          <p:nvPr/>
        </p:nvGraphicFramePr>
        <p:xfrm>
          <a:off x="478224" y="1905000"/>
          <a:ext cx="11267443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330F4B4-9201-428C-E53A-F1AEFD8E5616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ln w="9525">
                  <a:solidFill>
                    <a:srgbClr val="BFC4CF"/>
                  </a:solidFill>
                </a:ln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D3893-DC86-A976-1AB5-AE31EF208FC8}"/>
              </a:ext>
            </a:extLst>
          </p:cNvPr>
          <p:cNvSpPr txBox="1"/>
          <p:nvPr/>
        </p:nvSpPr>
        <p:spPr>
          <a:xfrm>
            <a:off x="470981" y="1600200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% of systems</a:t>
            </a:r>
          </a:p>
        </p:txBody>
      </p:sp>
      <p:sp>
        <p:nvSpPr>
          <p:cNvPr id="20" name="Subtitle"/>
          <p:cNvSpPr txBox="1"/>
          <p:nvPr/>
        </p:nvSpPr>
        <p:spPr>
          <a:xfrm>
            <a:off x="152400" y="1320800"/>
            <a:ext cx="11176000" cy="304800"/>
          </a:xfrm>
          <a:prstGeom prst="rect">
            <a:avLst/>
          </a:prstGeom>
          <a:noFill/>
        </p:spPr>
        <p:txBody>
          <a:bodyPr wrap="square" lIns="228600" tIns="0" bIns="0" rtlCol="0" anchor="t">
            <a:no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Share of systems per period that met their objectives, and the status of the others.</a:t>
            </a:r>
          </a:p>
        </p:txBody>
      </p:sp>
    </p:spTree>
    <p:extLst>
      <p:ext uri="{BB962C8B-B14F-4D97-AF65-F5344CB8AC3E}">
        <p14:creationId xmlns:p14="http://schemas.microsoft.com/office/powerpoint/2010/main" val="4248480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51F31D-6F2E-DFE6-587E-A78BD8E881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– Security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895C3-ED96-7EAA-081E-E246ABA2BFE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90000" tIns="46800" rIns="90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900" b="0" kern="1200" cap="none" spc="0" baseline="0" dirty="0">
                <a:solidFill>
                  <a:srgbClr val="0B54E6"/>
                </a:solidFill>
                <a:latin typeface="Azeret Mono" pitchFamily="2" charset="77"/>
                <a:ea typeface="+mn-ea"/>
                <a:cs typeface="Azeret Mono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E7E0D-EF19-08C9-4FF3-D419036690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977723-C726-4DFE-2330-B77DBE26A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Systems that met their objectives over time: Security</a:t>
            </a:r>
          </a:p>
        </p:txBody>
      </p:sp>
      <p:graphicFrame>
        <p:nvGraphicFramePr>
          <p:cNvPr id="7" name="OBJECTIVES_SECURITY_CHART">
            <a:extLst>
              <a:ext uri="{FF2B5EF4-FFF2-40B4-BE49-F238E27FC236}">
                <a16:creationId xmlns:a16="http://schemas.microsoft.com/office/drawing/2014/main" id="{FE1E4419-38A2-FC5F-E723-8277D7239FCE}"/>
              </a:ext>
            </a:extLst>
          </p:cNvPr>
          <p:cNvGraphicFramePr/>
          <p:nvPr/>
        </p:nvGraphicFramePr>
        <p:xfrm>
          <a:off x="478224" y="1905000"/>
          <a:ext cx="11267443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E2DC61A-F9F3-987F-31AE-C332F7F54B24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ln w="9525">
                  <a:solidFill>
                    <a:srgbClr val="BFC4CF"/>
                  </a:solidFill>
                </a:ln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C7B2F6-4CBE-9108-1F8E-D799C529DCCF}"/>
              </a:ext>
            </a:extLst>
          </p:cNvPr>
          <p:cNvSpPr txBox="1"/>
          <p:nvPr/>
        </p:nvSpPr>
        <p:spPr>
          <a:xfrm>
            <a:off x="470981" y="1600200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% of systems</a:t>
            </a:r>
          </a:p>
        </p:txBody>
      </p:sp>
      <p:sp>
        <p:nvSpPr>
          <p:cNvPr id="20" name="Subtitle"/>
          <p:cNvSpPr txBox="1"/>
          <p:nvPr/>
        </p:nvSpPr>
        <p:spPr>
          <a:xfrm>
            <a:off x="152400" y="1320800"/>
            <a:ext cx="11176000" cy="304800"/>
          </a:xfrm>
          <a:prstGeom prst="rect">
            <a:avLst/>
          </a:prstGeom>
          <a:noFill/>
        </p:spPr>
        <p:txBody>
          <a:bodyPr wrap="square" lIns="228600" tIns="0" bIns="0" rtlCol="0" anchor="t">
            <a:no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Share of systems per period that met their objectives, and the status of the others.</a:t>
            </a:r>
          </a:p>
        </p:txBody>
      </p:sp>
    </p:spTree>
    <p:extLst>
      <p:ext uri="{BB962C8B-B14F-4D97-AF65-F5344CB8AC3E}">
        <p14:creationId xmlns:p14="http://schemas.microsoft.com/office/powerpoint/2010/main" val="2227029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A2875A-8544-1533-7916-43BBF6E82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843581" cy="228145"/>
          </a:xfrm>
        </p:spPr>
        <p:txBody>
          <a:bodyPr/>
          <a:lstStyle/>
          <a:p>
            <a:r>
              <a:rPr lang="en-GB" dirty="0"/>
              <a:t>Objectives – Open Source Health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FEB5E-6597-18A4-BEEB-888581F9565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90000" tIns="46800" rIns="90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900" b="0" kern="1200" cap="none" spc="0" baseline="0" dirty="0">
                <a:solidFill>
                  <a:srgbClr val="0B54E6"/>
                </a:solidFill>
                <a:latin typeface="Azeret Mono" pitchFamily="2" charset="77"/>
                <a:ea typeface="+mn-ea"/>
                <a:cs typeface="Azeret Mono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9A5E5-D48A-3B03-A54D-B02E30DC03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0495C68-B12D-B774-99A2-0D8AD051F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Systems that met their objectives over time: Open Source Health</a:t>
            </a:r>
          </a:p>
        </p:txBody>
      </p:sp>
      <p:graphicFrame>
        <p:nvGraphicFramePr>
          <p:cNvPr id="7" name="OBJECTIVES_OSH_CHART">
            <a:extLst>
              <a:ext uri="{FF2B5EF4-FFF2-40B4-BE49-F238E27FC236}">
                <a16:creationId xmlns:a16="http://schemas.microsoft.com/office/drawing/2014/main" id="{0EBCAFE5-E641-00DD-A9BA-54DDF716F8A7}"/>
              </a:ext>
            </a:extLst>
          </p:cNvPr>
          <p:cNvGraphicFramePr/>
          <p:nvPr/>
        </p:nvGraphicFramePr>
        <p:xfrm>
          <a:off x="478224" y="1905000"/>
          <a:ext cx="11267443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D2A8387-99CF-53E7-C02C-0F47937D0583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ln w="9525">
                  <a:solidFill>
                    <a:srgbClr val="BFC4CF"/>
                  </a:solidFill>
                </a:ln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9B4172-3DFC-6A98-8387-0A5860FF68EC}"/>
              </a:ext>
            </a:extLst>
          </p:cNvPr>
          <p:cNvSpPr txBox="1"/>
          <p:nvPr/>
        </p:nvSpPr>
        <p:spPr>
          <a:xfrm>
            <a:off x="470981" y="1600200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% of systems</a:t>
            </a:r>
          </a:p>
        </p:txBody>
      </p:sp>
      <p:sp>
        <p:nvSpPr>
          <p:cNvPr id="20" name="Subtitle"/>
          <p:cNvSpPr txBox="1"/>
          <p:nvPr/>
        </p:nvSpPr>
        <p:spPr>
          <a:xfrm>
            <a:off x="152400" y="1320800"/>
            <a:ext cx="11176000" cy="304800"/>
          </a:xfrm>
          <a:prstGeom prst="rect">
            <a:avLst/>
          </a:prstGeom>
          <a:noFill/>
        </p:spPr>
        <p:txBody>
          <a:bodyPr wrap="square" lIns="228600" tIns="0" bIns="0" rtlCol="0" anchor="t">
            <a:no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Share of systems per period that met their objectives, and the status of the others.</a:t>
            </a:r>
          </a:p>
        </p:txBody>
      </p:sp>
    </p:spTree>
    <p:extLst>
      <p:ext uri="{BB962C8B-B14F-4D97-AF65-F5344CB8AC3E}">
        <p14:creationId xmlns:p14="http://schemas.microsoft.com/office/powerpoint/2010/main" val="60414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BCFC-165E-6074-D295-7213C886B0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590627" cy="228145"/>
          </a:xfrm>
        </p:spPr>
        <p:txBody>
          <a:bodyPr/>
          <a:lstStyle/>
          <a:p>
            <a:r>
              <a:rPr lang="en-GB" dirty="0"/>
              <a:t>Objectives – Maintainability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B2143-4E69-C9AB-EF61-72293A1BC14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90000" tIns="46800" rIns="90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900" b="0" kern="1200" cap="none" spc="0" baseline="0" dirty="0">
                <a:solidFill>
                  <a:srgbClr val="0B54E6"/>
                </a:solidFill>
                <a:latin typeface="Azeret Mono" pitchFamily="2" charset="77"/>
                <a:ea typeface="+mn-ea"/>
                <a:cs typeface="Azeret Mono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2AA93-DDC2-222A-347A-F3D1A30F09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1FF725-8BE2-FFE6-09CA-89427E9C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Systems that met their objectives over time: Maintainability</a:t>
            </a:r>
          </a:p>
        </p:txBody>
      </p:sp>
      <p:graphicFrame>
        <p:nvGraphicFramePr>
          <p:cNvPr id="7" name="OBJECTIVES_MAINTAINABILITY_CHART">
            <a:extLst>
              <a:ext uri="{FF2B5EF4-FFF2-40B4-BE49-F238E27FC236}">
                <a16:creationId xmlns:a16="http://schemas.microsoft.com/office/drawing/2014/main" id="{B1D17370-4289-2EDA-3CF4-CDE176E45E7F}"/>
              </a:ext>
            </a:extLst>
          </p:cNvPr>
          <p:cNvGraphicFramePr/>
          <p:nvPr/>
        </p:nvGraphicFramePr>
        <p:xfrm>
          <a:off x="478224" y="1905000"/>
          <a:ext cx="11267443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5D94812-AFF9-6320-FC55-9DFAD9E49F53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ln w="9525">
                  <a:solidFill>
                    <a:srgbClr val="BFC4CF"/>
                  </a:solidFill>
                </a:ln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5A181-CE4E-BF8F-1749-76DA5E7EB5F5}"/>
              </a:ext>
            </a:extLst>
          </p:cNvPr>
          <p:cNvSpPr txBox="1"/>
          <p:nvPr/>
        </p:nvSpPr>
        <p:spPr>
          <a:xfrm>
            <a:off x="470981" y="1600200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% of systems</a:t>
            </a:r>
          </a:p>
        </p:txBody>
      </p:sp>
      <p:sp>
        <p:nvSpPr>
          <p:cNvPr id="20" name="Subtitle"/>
          <p:cNvSpPr txBox="1"/>
          <p:nvPr/>
        </p:nvSpPr>
        <p:spPr>
          <a:xfrm>
            <a:off x="152400" y="1320800"/>
            <a:ext cx="11176000" cy="304800"/>
          </a:xfrm>
          <a:prstGeom prst="rect">
            <a:avLst/>
          </a:prstGeom>
          <a:noFill/>
        </p:spPr>
        <p:txBody>
          <a:bodyPr wrap="square" lIns="228600" tIns="0" bIns="0" rtlCol="0" anchor="t">
            <a:no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Share of systems per period that met their objectives, and the status of the others.</a:t>
            </a:r>
          </a:p>
        </p:txBody>
      </p:sp>
    </p:spTree>
    <p:extLst>
      <p:ext uri="{BB962C8B-B14F-4D97-AF65-F5344CB8AC3E}">
        <p14:creationId xmlns:p14="http://schemas.microsoft.com/office/powerpoint/2010/main" val="1132271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7335B8-EE82-608B-22C4-A627436D36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GB" dirty="0"/>
              <a:t>Objectives –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9E40D1-0E68-7E25-1B05-ACD30948CCE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90000" tIns="46800" rIns="90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900" b="0" kern="1200" cap="none" spc="0" baseline="0" dirty="0">
                <a:solidFill>
                  <a:srgbClr val="0B54E6"/>
                </a:solidFill>
                <a:latin typeface="Azeret Mono" pitchFamily="2" charset="77"/>
                <a:ea typeface="+mn-ea"/>
                <a:cs typeface="Azeret Mono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A783F-27CE-A200-297F-D46B148F653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6D9A223-DF60-A573-9531-80EE0F5E6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Systems that met their objectives over time: Architecture</a:t>
            </a:r>
          </a:p>
        </p:txBody>
      </p:sp>
      <p:graphicFrame>
        <p:nvGraphicFramePr>
          <p:cNvPr id="7" name="OBJECTIVES_ARCHITECTURE_CHART">
            <a:extLst>
              <a:ext uri="{FF2B5EF4-FFF2-40B4-BE49-F238E27FC236}">
                <a16:creationId xmlns:a16="http://schemas.microsoft.com/office/drawing/2014/main" id="{160E225E-2E69-5802-F5E6-34A8D5119A38}"/>
              </a:ext>
            </a:extLst>
          </p:cNvPr>
          <p:cNvGraphicFramePr/>
          <p:nvPr/>
        </p:nvGraphicFramePr>
        <p:xfrm>
          <a:off x="478224" y="1905000"/>
          <a:ext cx="11267443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CE47C19-C293-E59B-609F-8B720AE9857C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ln w="9525">
                  <a:solidFill>
                    <a:srgbClr val="BFC4CF"/>
                  </a:solidFill>
                </a:ln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F4C6F2-6589-ECFC-76DC-423AFBC2B33A}"/>
              </a:ext>
            </a:extLst>
          </p:cNvPr>
          <p:cNvSpPr txBox="1"/>
          <p:nvPr/>
        </p:nvSpPr>
        <p:spPr>
          <a:xfrm>
            <a:off x="470981" y="1600200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% of systems</a:t>
            </a:r>
          </a:p>
        </p:txBody>
      </p:sp>
      <p:sp>
        <p:nvSpPr>
          <p:cNvPr id="20" name="Subtitle"/>
          <p:cNvSpPr txBox="1"/>
          <p:nvPr/>
        </p:nvSpPr>
        <p:spPr>
          <a:xfrm>
            <a:off x="152400" y="1320800"/>
            <a:ext cx="11176000" cy="304800"/>
          </a:xfrm>
          <a:prstGeom prst="rect">
            <a:avLst/>
          </a:prstGeom>
          <a:noFill/>
        </p:spPr>
        <p:txBody>
          <a:bodyPr wrap="square" lIns="228600" tIns="0" bIns="0" rtlCol="0" anchor="t">
            <a:no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Share of systems per period that met their objectives, and the status of the others.</a:t>
            </a:r>
          </a:p>
        </p:txBody>
      </p:sp>
    </p:spTree>
    <p:extLst>
      <p:ext uri="{BB962C8B-B14F-4D97-AF65-F5344CB8AC3E}">
        <p14:creationId xmlns:p14="http://schemas.microsoft.com/office/powerpoint/2010/main" val="3936189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fgeronde rechthoek 33">
            <a:extLst>
              <a:ext uri="{FF2B5EF4-FFF2-40B4-BE49-F238E27FC236}">
                <a16:creationId xmlns:a16="http://schemas.microsoft.com/office/drawing/2014/main" id="{5C67D71A-21D5-7B62-C401-C5338679DFE0}"/>
              </a:ext>
            </a:extLst>
          </p:cNvPr>
          <p:cNvSpPr/>
          <p:nvPr/>
        </p:nvSpPr>
        <p:spPr>
          <a:xfrm>
            <a:off x="4454347" y="1406584"/>
            <a:ext cx="7567201" cy="2033330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B159244B-2E65-D403-B5EA-9ABB5CA8CB9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392751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27C3B66-2BB8-6651-49B3-C22404EF56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7D0FD1C-DD8F-FA69-E8D5-51EBF8A0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B8640D79-73F3-DDBF-46E3-A770D0CE4F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7999"/>
            <a:ext cx="7092000" cy="2734727"/>
          </a:xfrm>
        </p:spPr>
        <p:txBody>
          <a:bodyPr/>
          <a:lstStyle/>
          <a:p>
            <a:r>
              <a:rPr lang="en-GB" dirty="0"/>
              <a:t>Objectives</a:t>
            </a:r>
          </a:p>
          <a:p>
            <a:r>
              <a:rPr lang="en-GB" dirty="0"/>
              <a:t>Portfolio trends</a:t>
            </a:r>
          </a:p>
          <a:p>
            <a:endParaRPr lang="en-GB" dirty="0"/>
          </a:p>
          <a:p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64DC9F-CC1F-F90B-BAEE-7FE68259B0A0}"/>
              </a:ext>
            </a:extLst>
          </p:cNvPr>
          <p:cNvGrpSpPr/>
          <p:nvPr/>
        </p:nvGrpSpPr>
        <p:grpSpPr>
          <a:xfrm>
            <a:off x="5678270" y="2777977"/>
            <a:ext cx="2396827" cy="332897"/>
            <a:chOff x="5682921" y="2898500"/>
            <a:chExt cx="2396827" cy="332897"/>
          </a:xfrm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164776AD-70C4-808F-74DD-3C14795FF549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26E313BE-4539-951D-39B6-8270E8E286F4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Security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3AEFF71-AFAA-2A9B-1B52-69C00DF203AA}"/>
              </a:ext>
            </a:extLst>
          </p:cNvPr>
          <p:cNvGrpSpPr/>
          <p:nvPr/>
        </p:nvGrpSpPr>
        <p:grpSpPr>
          <a:xfrm>
            <a:off x="5682921" y="2128093"/>
            <a:ext cx="5119353" cy="332898"/>
            <a:chOff x="5682921" y="2898499"/>
            <a:chExt cx="5119353" cy="332898"/>
          </a:xfrm>
        </p:grpSpPr>
        <p:sp>
          <p:nvSpPr>
            <p:cNvPr id="33" name="Rectangle 5">
              <a:extLst>
                <a:ext uri="{FF2B5EF4-FFF2-40B4-BE49-F238E27FC236}">
                  <a16:creationId xmlns:a16="http://schemas.microsoft.com/office/drawing/2014/main" id="{CF5648A5-989D-607F-8E33-BE663B334A22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4" name="Rectangle 12">
              <a:extLst>
                <a:ext uri="{FF2B5EF4-FFF2-40B4-BE49-F238E27FC236}">
                  <a16:creationId xmlns:a16="http://schemas.microsoft.com/office/drawing/2014/main" id="{6199A04C-EC60-FB43-DB8D-97CCBCA311F4}"/>
                </a:ext>
              </a:extLst>
            </p:cNvPr>
            <p:cNvSpPr/>
            <p:nvPr/>
          </p:nvSpPr>
          <p:spPr>
            <a:xfrm>
              <a:off x="7940516" y="2898499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5" name="TextBox 6">
              <a:extLst>
                <a:ext uri="{FF2B5EF4-FFF2-40B4-BE49-F238E27FC236}">
                  <a16:creationId xmlns:a16="http://schemas.microsoft.com/office/drawing/2014/main" id="{277D7F99-1C55-864A-511F-89B598866BE7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36" name="TextBox 18">
              <a:extLst>
                <a:ext uri="{FF2B5EF4-FFF2-40B4-BE49-F238E27FC236}">
                  <a16:creationId xmlns:a16="http://schemas.microsoft.com/office/drawing/2014/main" id="{E7FB80B6-7D6D-E1C4-A31F-209945D62AC9}"/>
                </a:ext>
              </a:extLst>
            </p:cNvPr>
            <p:cNvSpPr txBox="1"/>
            <p:nvPr/>
          </p:nvSpPr>
          <p:spPr>
            <a:xfrm>
              <a:off x="8364857" y="2909129"/>
              <a:ext cx="243741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3604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8671C5-F042-037A-74D6-4C34BE22CC2D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A601DF-C4A8-2D87-FD83-478449C523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973F4-BD90-5319-109B-46FFDE9337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0EF4FCE-16C7-AAE8-D773-A8EA6186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PORTFOLIO_PERIOD_MAINT_SHORT_SUMMARY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C63DE-00A7-4FC0-4AEC-0B46C34CB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1B8A7248-F03C-088E-C008-987A5B232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CDA2AA-8345-4B77-9D19-3B6B6B682D67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0D9E6FA-490C-7A76-F042-C6CBE8EC8CC9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FCC85E8-4CEE-1443-5223-4D50EF704863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9B90DD7-4FB9-2883-E7AE-08032D550C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CB124ED-E704-12AA-C864-811D9D5670BD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C0E027F-C043-85D4-8A7D-8FB2639DA35A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21A6AD1-50D4-60BA-DA82-432C012CDE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D7359A-F9B0-6788-C6F6-1FD4C4F5901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A42E839-1AC6-A973-B2D6-FE03C7A2EAA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574C697C-D5E2-1EC6-E364-0363EB8D95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46AB6F5-8F91-2462-9FB2-89399076ED14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1B966A2-CD6E-43B3-1B35-574D340193A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EBB239A8-7183-B922-0F96-5ECD20AD38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8E13405-55E4-337C-0075-F5940C9366AF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B9F2CE7-8B0B-523F-B2D6-B2F5B8E1AF5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B9C71E9A-6525-560E-1410-76D0C3A629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8E06C3-DD1E-DA61-E312-484DB2CB23C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maintainability rating for the portfolio is PORTFOLIO_MAINT_AVG_RATING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53497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012217" cy="228145"/>
          </a:xfrm>
        </p:spPr>
        <p:txBody>
          <a:bodyPr/>
          <a:lstStyle/>
          <a:p>
            <a:r>
              <a:rPr lang="en-US"/>
              <a:t>Portfolio trends – Maintainability</a:t>
            </a:r>
            <a:endParaRPr lang="en-US" dirty="0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8399" y="6469694"/>
            <a:ext cx="626400" cy="231923"/>
          </a:xfrm>
        </p:spPr>
        <p:txBody>
          <a:bodyPr/>
          <a:lstStyle/>
          <a:p>
            <a:fld id="{E242BD21-9B61-2246-BCB1-4BE5E1BEBE1C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/>
              <a:t>PORTFOLIO_PERIOD_MAINT_SHORT_SUMMARY</a:t>
            </a:r>
            <a:endParaRPr lang="en-US" noProof="0" dirty="0"/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E61F4EF7-95D6-9141-8632-993E0F351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75" y="6407677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CUSTOMER_NAME</a:t>
            </a:r>
            <a:endParaRPr lang="nl-N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PORTFOLIO_GALAXY_CHART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/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4222FB8-7B13-BCD6-F6A0-91FE5654FB8F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PORTFOLIO_PERIOD_MAINTAINABILITY_CHANGE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67B8CA-FA62-44B4-D64F-7AE66F54E4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771079" cy="228145"/>
          </a:xfrm>
        </p:spPr>
        <p:txBody>
          <a:bodyPr/>
          <a:lstStyle/>
          <a:p>
            <a:r>
              <a:rPr lang="en-GB" dirty="0"/>
              <a:t>Portfolio trends – Maintainability – Change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869EA-9362-72EE-ED3C-8D75DBC0EA5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42A00E-00AC-EFDD-9879-48F07659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PORTFOLIO_PERIOD_MAINT_CHANGE_SHORT_SUMMARY</a:t>
            </a:r>
          </a:p>
        </p:txBody>
      </p:sp>
      <p:sp>
        <p:nvSpPr>
          <p:cNvPr id="25" name="Footer Placeholder 3">
            <a:extLst>
              <a:ext uri="{FF2B5EF4-FFF2-40B4-BE49-F238E27FC236}">
                <a16:creationId xmlns:a16="http://schemas.microsoft.com/office/drawing/2014/main" id="{62677B25-859C-76E2-7724-E46BE3056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CUSTOMER_NAME</a:t>
            </a:r>
            <a:endParaRPr lang="nl-NL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5957715-193B-2979-0E14-2837D7FD4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9255" y="5889905"/>
            <a:ext cx="371130" cy="2065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A1486B-1FC8-8061-2EAD-D6029AC875CA}"/>
              </a:ext>
            </a:extLst>
          </p:cNvPr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54B19E9-6032-3569-1EA3-AD547B485538}"/>
              </a:ext>
            </a:extLst>
          </p:cNvPr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C89DDEB-866F-F9CB-F41F-492551803AA3}"/>
              </a:ext>
            </a:extLst>
          </p:cNvPr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7413425-5C90-1783-D3A3-3D305C306676}"/>
              </a:ext>
            </a:extLst>
          </p:cNvPr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7CD411-A534-DB90-F70A-80399BB52D7B}"/>
              </a:ext>
            </a:extLst>
          </p:cNvPr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AA03C95-0F32-285C-472B-DA0501614D58}"/>
              </a:ext>
            </a:extLst>
          </p:cNvPr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0A4FE0-6970-0254-9F24-4B7D592FD93A}"/>
              </a:ext>
            </a:extLst>
          </p:cNvPr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  <a:endParaRPr lang="en-GB" sz="800" b="1" dirty="0">
              <a:solidFill>
                <a:schemeClr val="tx2"/>
              </a:solidFill>
              <a:latin typeface="Sigsterren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04045B-77E5-3803-3EEF-A0F4A38EE046}"/>
              </a:ext>
            </a:extLst>
          </p:cNvPr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  <a:endParaRPr lang="en-GB" sz="800" b="1" dirty="0">
              <a:solidFill>
                <a:schemeClr val="tx2"/>
              </a:solidFill>
              <a:latin typeface="Sigsterren" pitchFamily="2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792AFD3-A811-53EC-B9FF-ACF5582A6ED6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PORTFOLIO_MAINT_INCREASED% of systems has seen an increase in maintainability. PORTFOLIO_MAINT_STABLE% of systems has remained stable. PORTFOLIO_MAINT_DECREASED%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</a:t>
            </a:r>
          </a:p>
        </p:txBody>
      </p:sp>
    </p:spTree>
    <p:extLst>
      <p:ext uri="{BB962C8B-B14F-4D97-AF65-F5344CB8AC3E}">
        <p14:creationId xmlns:p14="http://schemas.microsoft.com/office/powerpoint/2010/main" val="500511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D37E637B-F307-DB1A-A51A-12A2262AEFC9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PORTFOLIO_PERIOD_MAINTAINABILITY_DELTA_QUALITY_NEW_CODE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F5E6F9-F646-2621-3ECC-B2A693B532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4361304" cy="228145"/>
          </a:xfrm>
        </p:spPr>
        <p:txBody>
          <a:bodyPr/>
          <a:lstStyle/>
          <a:p>
            <a:r>
              <a:rPr lang="en-GB" dirty="0"/>
              <a:t>Portfolio trends – Maintainability – Delta Quality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4F2BF-4CA6-50AA-B99F-E948E9B811C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2D033D-4CA9-CECD-FC25-4F30961BD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Maintainability ratings of newly written code between PORTFOLIO_PERIOD_START_DATE and PORTFOLIO_PERIOD_END_DATE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E4CE6E4-E826-8855-8337-8A8040831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E135570-D80B-D1B1-054A-C690D81954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A80C054-C74A-85C9-4528-6DC22A256A65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3570F5E-51BF-3962-84E2-45A92F1C8BFA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136F1B5-B6B1-B883-8B3C-00693DA070F6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1CD5492-40E3-E786-F583-1EE2149D22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9778BD3-6B52-E7DA-5105-B5B0FFC5CA61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04AA2C9-D341-5635-F3CA-78A97D525D4B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F602512-EB0F-1D20-C16F-9F6E8C2D80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3AADD56-4D4C-8447-3FD7-F1E94288BBE8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0AFED2B-5565-64C7-6B99-35E8CCBE475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37D1A56F-2AFD-E4E9-0F6B-599384DFF8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D6DDFCC-FDD6-8B50-CC33-F43116CE5873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716EAB9-CCB1-9D30-142C-E67002C7E9AF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063CD8A-141A-63AF-6CBE-D3879FAC87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5343AE2-DC60-4FB8-90CB-328B3B292E39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1256AFF-19A8-F941-A8C9-00EB6EF20D5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2F57D1EE-A07F-BAE6-42C8-B3AC608958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F5EA2AF5-0C7B-6DB1-46A7-9076322F3A73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PORTFOLIO_NEW_CODE_BIGGEST_CHANGES</a:t>
            </a:r>
          </a:p>
        </p:txBody>
      </p:sp>
    </p:spTree>
    <p:extLst>
      <p:ext uri="{BB962C8B-B14F-4D97-AF65-F5344CB8AC3E}">
        <p14:creationId xmlns:p14="http://schemas.microsoft.com/office/powerpoint/2010/main" val="2743704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B5EC3-2A89-EF88-5A56-3D554D8CC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CD3CD12-8F31-5FC5-9D7A-C77F8DB8A480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PORTFOLIO_PERIOD_MAINTAINABILITY_DELTA_QUALITY_CHANGED_CODE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6B5548-3455-9844-5004-E49CD11C6D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4361304" cy="228145"/>
          </a:xfrm>
        </p:spPr>
        <p:txBody>
          <a:bodyPr/>
          <a:lstStyle/>
          <a:p>
            <a:r>
              <a:rPr lang="en-GB" dirty="0"/>
              <a:t>Portfolio trends – Maintainability – Delta Quality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A32CF-7CBE-2C0C-5381-28EFF19753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7371D7-A678-7A32-E175-0E7DF8D9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Maintainability ratings of changed code between PORTFOLIO_PERIOD_START_DATE and PORTFOLIO_PERIOD_END_DATE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5E2B7E1-5A1B-B2EC-5518-63FC0E359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263B0AA-5D87-F385-AF46-88B1DD533A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C61E12F-4F73-0E02-AFAE-4D08CA48A0C3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DFC7257-2BE2-5CE3-C10B-BE3AC2B18C72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D1508AC-9EBA-994D-5A5A-FA52E9A69E9C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71DCEDD-7FD1-7BDF-F5C1-F91EA2E8DD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DD34B76-0227-F645-0A0C-1697CB7E19CB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C2DA85-206F-DB2E-5C73-7B08646DBA88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E7C13A2-9231-F9A5-DAE6-B9C2B934C9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57F437-2819-329B-EDCB-5E85A7422083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017E262-89FB-1571-225F-028F46BE08C6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9C4B866F-F8B8-9878-A0F7-B0591D011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0982081-C926-E0A8-28C5-FE9E62F4125A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04B11B7-6316-2B2B-1EB6-00E55E6915B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EA03BAA-5800-AFD6-84A6-38D9A87D6E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77DC13E-BA93-909A-5BA6-1FFE85D9E34C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901BBD6-0742-680E-25F0-D19CEBB0E33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CEA51C4B-192C-AF95-F9B9-3B24E46BF6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D880514-4785-0D93-6BDA-1F2E0E83B5B9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endParaRPr lang="en-GB" sz="155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5466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72E9D2A6-2917-A151-9F95-9B69A0D029E5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PORTFOLIO_PERIOD_VOLUME_CHANGE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46C1F-5778-E596-B40D-BC39A30290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843581" cy="228145"/>
          </a:xfrm>
        </p:spPr>
        <p:txBody>
          <a:bodyPr/>
          <a:lstStyle/>
          <a:p>
            <a:r>
              <a:rPr lang="en-GB" dirty="0"/>
              <a:t>Portfolio trends – Volume Change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6CC33-85BB-6686-87C3-6E2C1EC480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237797-15BA-3A3C-A5DB-CEBB6BFCA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Change in volume (effort) of the portfolio between PORTFOLIO_PERIOD_START_DATE and PORTFOLIO_PERIOD_END_DATE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D4A10E2-A9D0-9CB8-4A20-12E583F53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591A62A-783F-7AF6-89B3-FD236EF5EA4F}"/>
              </a:ext>
            </a:extLst>
          </p:cNvPr>
          <p:cNvGrpSpPr/>
          <p:nvPr/>
        </p:nvGrpSpPr>
        <p:grpSpPr>
          <a:xfrm>
            <a:off x="626780" y="5849109"/>
            <a:ext cx="2760731" cy="223844"/>
            <a:chOff x="512064" y="6054740"/>
            <a:chExt cx="2760731" cy="2238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F34C57-170D-5311-7541-AFD3500F5E86}"/>
                </a:ext>
              </a:extLst>
            </p:cNvPr>
            <p:cNvSpPr txBox="1"/>
            <p:nvPr/>
          </p:nvSpPr>
          <p:spPr>
            <a:xfrm>
              <a:off x="1996335" y="6054740"/>
              <a:ext cx="1276460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Systems grouped by </a:t>
              </a:r>
              <a:r>
                <a:rPr lang="en-GB" sz="800" b="1" dirty="0">
                  <a:solidFill>
                    <a:schemeClr val="tx2"/>
                  </a:solidFill>
                </a:rPr>
                <a:t>GROUPED_BY_LABEL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9EF8ADA-DE01-AA30-2028-ED49BE436A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9122" y="6118505"/>
              <a:ext cx="91440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D5863-7369-49C4-1B54-EEA04955FF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8992" y="6118505"/>
              <a:ext cx="91440" cy="91440"/>
            </a:xfrm>
            <a:prstGeom prst="roundRect">
              <a:avLst/>
            </a:prstGeom>
            <a:solidFill>
              <a:srgbClr val="EFE6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D52AC297-2CB7-56A7-5F80-FC2404D96F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8862" y="6118505"/>
              <a:ext cx="91440" cy="91440"/>
            </a:xfrm>
            <a:prstGeom prst="roundRect">
              <a:avLst/>
            </a:prstGeom>
            <a:solidFill>
              <a:srgbClr val="F7F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E88086E6-082A-B2A9-7D0B-B77386A1B5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8732" y="6118505"/>
              <a:ext cx="91440" cy="91440"/>
            </a:xfrm>
            <a:prstGeom prst="roundRect">
              <a:avLst/>
            </a:prstGeom>
            <a:solidFill>
              <a:srgbClr val="D8E9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6A065D0B-30E5-B7B4-A9AE-146C6FBBB3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18602" y="6118505"/>
              <a:ext cx="91440" cy="91440"/>
            </a:xfrm>
            <a:prstGeom prst="roundRect">
              <a:avLst/>
            </a:prstGeom>
            <a:solidFill>
              <a:srgbClr val="58B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2295768-BD04-4C08-1C9F-E6A857D50707}"/>
                </a:ext>
              </a:extLst>
            </p:cNvPr>
            <p:cNvSpPr txBox="1"/>
            <p:nvPr/>
          </p:nvSpPr>
          <p:spPr>
            <a:xfrm>
              <a:off x="1678471" y="6054740"/>
              <a:ext cx="378778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b="1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+PM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6564EB-114B-305E-F2F4-C36CA3CBD1C9}"/>
                </a:ext>
              </a:extLst>
            </p:cNvPr>
            <p:cNvSpPr txBox="1"/>
            <p:nvPr/>
          </p:nvSpPr>
          <p:spPr>
            <a:xfrm>
              <a:off x="512064" y="6054740"/>
              <a:ext cx="359542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b="1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-PM</a:t>
              </a:r>
            </a:p>
          </p:txBody>
        </p:sp>
      </p:grpSp>
      <p:pic>
        <p:nvPicPr>
          <p:cNvPr id="55" name="Graphic 54">
            <a:extLst>
              <a:ext uri="{FF2B5EF4-FFF2-40B4-BE49-F238E27FC236}">
                <a16:creationId xmlns:a16="http://schemas.microsoft.com/office/drawing/2014/main" id="{29A432BB-A903-CCB9-4E0F-E5A85232BA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F494787E-2446-5685-907F-157921FE4F19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noProof="0" dirty="0"/>
              <a:t>The portfolio has seen an overall PORTFOLIO_RELATIVE_VOLUME_CHANGE in volume of PORTFOLIO_VOLUME_CHANGE.</a:t>
            </a:r>
          </a:p>
          <a:p>
            <a:pPr indent="-283845"/>
            <a:r>
              <a:rPr lang="en-GB" dirty="0">
                <a:ea typeface="Calibri"/>
                <a:cs typeface="Calibri"/>
              </a:rPr>
              <a:t>The system PORTFOLIO_SYSTEM_BIGGEST_VOLUME_CHANGE has seen the biggest change with PORTFOLIO_RELATIVE_BIGGEST_VOLUME_CHANGE of PORTFOLIO_SYSTEM_PM_BIGGEST_VOLUME_CHANGE.</a:t>
            </a:r>
          </a:p>
        </p:txBody>
      </p:sp>
    </p:spTree>
    <p:extLst>
      <p:ext uri="{BB962C8B-B14F-4D97-AF65-F5344CB8AC3E}">
        <p14:creationId xmlns:p14="http://schemas.microsoft.com/office/powerpoint/2010/main" val="22497864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F4FC4-92FA-133B-51E6-15AF607B4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4AAAF0DF-523F-2152-BE91-E690F0C16A3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PORTFOLIO_PERIOD_TEST_CODE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A83DCD-7C70-900D-43B4-CE96EF7B7F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4192668" cy="228145"/>
          </a:xfrm>
        </p:spPr>
        <p:txBody>
          <a:bodyPr/>
          <a:lstStyle/>
          <a:p>
            <a:r>
              <a:rPr lang="en-GB" dirty="0"/>
              <a:t>Portfolio trends – Test-to-production code ratio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13365-7513-F41E-A229-F5E5011630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213AD90-B853-FCBB-8AD0-E3ECB7441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Test-to-production code ratios of the portfolio between PORTFOLIO_PERIOD_START_DATE and PORTFOLIO_PERIOD_END_DATE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61DD779-D29F-E00A-9C65-A4D9D7C38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2D8A7E-FC89-374D-3928-733975E07F27}"/>
              </a:ext>
            </a:extLst>
          </p:cNvPr>
          <p:cNvSpPr txBox="1"/>
          <p:nvPr/>
        </p:nvSpPr>
        <p:spPr>
          <a:xfrm>
            <a:off x="3082464" y="5845729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F318A3D-4B01-E38F-0096-41FFF1B28944}"/>
              </a:ext>
            </a:extLst>
          </p:cNvPr>
          <p:cNvGrpSpPr/>
          <p:nvPr/>
        </p:nvGrpSpPr>
        <p:grpSpPr>
          <a:xfrm>
            <a:off x="694948" y="5908343"/>
            <a:ext cx="273482" cy="98617"/>
            <a:chOff x="586253" y="6116391"/>
            <a:chExt cx="273482" cy="9861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1B111F-FBB9-EA13-F251-F40E05265B0A}"/>
                </a:ext>
              </a:extLst>
            </p:cNvPr>
            <p:cNvSpPr txBox="1"/>
            <p:nvPr/>
          </p:nvSpPr>
          <p:spPr>
            <a:xfrm>
              <a:off x="710655" y="6116391"/>
              <a:ext cx="14908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≤ 1%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7D12FC3-B3EE-A681-5D2C-4218A1C308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FB8AA5-C615-8F28-1025-70C65A980764}"/>
              </a:ext>
            </a:extLst>
          </p:cNvPr>
          <p:cNvGrpSpPr/>
          <p:nvPr/>
        </p:nvGrpSpPr>
        <p:grpSpPr>
          <a:xfrm>
            <a:off x="1060651" y="5908343"/>
            <a:ext cx="408134" cy="98617"/>
            <a:chOff x="961765" y="6117353"/>
            <a:chExt cx="408134" cy="9861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87C06F8-9044-79E7-C86A-2D8041876F85}"/>
                </a:ext>
              </a:extLst>
            </p:cNvPr>
            <p:cNvSpPr txBox="1"/>
            <p:nvPr/>
          </p:nvSpPr>
          <p:spPr>
            <a:xfrm>
              <a:off x="1086167" y="6117353"/>
              <a:ext cx="283732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1% - 15%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2887F516-DD39-62A6-32D1-0B63742650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D6264C-A1FC-6A59-5FF0-B02177854F9D}"/>
              </a:ext>
            </a:extLst>
          </p:cNvPr>
          <p:cNvGrpSpPr/>
          <p:nvPr/>
        </p:nvGrpSpPr>
        <p:grpSpPr>
          <a:xfrm>
            <a:off x="1561006" y="5908343"/>
            <a:ext cx="446606" cy="98617"/>
            <a:chOff x="1114165" y="6269753"/>
            <a:chExt cx="446606" cy="986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7767932-53B3-03DB-2C57-283ECA8F4412}"/>
                </a:ext>
              </a:extLst>
            </p:cNvPr>
            <p:cNvSpPr txBox="1"/>
            <p:nvPr/>
          </p:nvSpPr>
          <p:spPr>
            <a:xfrm>
              <a:off x="1238567" y="6269753"/>
              <a:ext cx="32220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15% - 50%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DB5BF329-CA8A-DA0E-3BAF-54E5770234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39F19E-79AC-7455-2D15-72A0F595FFC9}"/>
              </a:ext>
            </a:extLst>
          </p:cNvPr>
          <p:cNvGrpSpPr/>
          <p:nvPr/>
        </p:nvGrpSpPr>
        <p:grpSpPr>
          <a:xfrm>
            <a:off x="2099833" y="5908343"/>
            <a:ext cx="485078" cy="98617"/>
            <a:chOff x="1114165" y="6269753"/>
            <a:chExt cx="485078" cy="9861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60A24F1-37A5-9F07-855B-7E46A52C102C}"/>
                </a:ext>
              </a:extLst>
            </p:cNvPr>
            <p:cNvSpPr txBox="1"/>
            <p:nvPr/>
          </p:nvSpPr>
          <p:spPr>
            <a:xfrm>
              <a:off x="1238567" y="6269753"/>
              <a:ext cx="360676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50% - 150%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15CD8E8A-19FB-CC94-9D8A-28911D7068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23AD9C7-8D68-456A-B040-0C3083E160F6}"/>
              </a:ext>
            </a:extLst>
          </p:cNvPr>
          <p:cNvGrpSpPr/>
          <p:nvPr/>
        </p:nvGrpSpPr>
        <p:grpSpPr>
          <a:xfrm>
            <a:off x="2677130" y="5908343"/>
            <a:ext cx="350426" cy="98617"/>
            <a:chOff x="1114165" y="6269753"/>
            <a:chExt cx="350426" cy="986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8D2D40F-86C4-A805-5564-B535E1BDEA47}"/>
                </a:ext>
              </a:extLst>
            </p:cNvPr>
            <p:cNvSpPr txBox="1"/>
            <p:nvPr/>
          </p:nvSpPr>
          <p:spPr>
            <a:xfrm>
              <a:off x="1238567" y="6269753"/>
              <a:ext cx="22602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&gt; 150%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7001D75D-95FB-3C51-F392-A5E177860A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A5EBD51A-EAC9-1AE9-F142-54EBB16F3D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5EE8E18-8776-00A3-9C94-97989DFBACF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/>
              <a:t>PORTFOLIO_TEST_CODE_LOW</a:t>
            </a:r>
            <a:r>
              <a:rPr lang="en-GB" sz="1550" noProof="0" dirty="0"/>
              <a:t>% systems have a test code ratio of &lt; 50%.</a:t>
            </a:r>
          </a:p>
          <a:p>
            <a:pPr indent="-283845"/>
            <a:r>
              <a:rPr lang="en-GB" sz="1550" dirty="0"/>
              <a:t>PORTFOLIO_TEST_CODE_MEDIUM</a:t>
            </a:r>
            <a:r>
              <a:rPr lang="en-GB" sz="1550" dirty="0">
                <a:ea typeface="Calibri"/>
                <a:cs typeface="Calibri"/>
              </a:rPr>
              <a:t>% of systems have a test code ratio between 50% and 100%.</a:t>
            </a:r>
          </a:p>
          <a:p>
            <a:pPr indent="-283845"/>
            <a:r>
              <a:rPr lang="en-GB" sz="1550" dirty="0"/>
              <a:t>PORTFOLIO_TEST_CODE_HIGH</a:t>
            </a:r>
            <a:r>
              <a:rPr lang="en-GB" sz="1550" dirty="0">
                <a:ea typeface="Calibri"/>
                <a:cs typeface="Calibri"/>
              </a:rPr>
              <a:t>% of systems have a test code ratio ≥ 100%</a:t>
            </a:r>
          </a:p>
        </p:txBody>
      </p:sp>
    </p:spTree>
    <p:extLst>
      <p:ext uri="{BB962C8B-B14F-4D97-AF65-F5344CB8AC3E}">
        <p14:creationId xmlns:p14="http://schemas.microsoft.com/office/powerpoint/2010/main" val="2976464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5625-8644-5854-9F83-9F36AE8F2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0D1B57E1-1F1B-29BE-06AF-F1CBB4D6EF18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PORTFOLIO_PERIOD_TEST_CODE_GROUPED_BY_MAIN_TECHNOLOGY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E6CB4A-7E0E-E565-486A-5DB654A87C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4192668" cy="228145"/>
          </a:xfrm>
        </p:spPr>
        <p:txBody>
          <a:bodyPr/>
          <a:lstStyle/>
          <a:p>
            <a:r>
              <a:rPr lang="en-GB" dirty="0"/>
              <a:t>Portfolio trends – Test-to-production code ratio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8C8F1-CE1A-46D3-0BA6-F889B9D1B87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06968ED-9E83-A49E-5E87-63A71987D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Code Ratio Grouped by Main Technology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B08F95E-E453-1063-D8EF-9330F4D3B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2787F7-4923-A6F4-B8BC-AA0B6841CDE7}"/>
              </a:ext>
            </a:extLst>
          </p:cNvPr>
          <p:cNvSpPr txBox="1"/>
          <p:nvPr/>
        </p:nvSpPr>
        <p:spPr>
          <a:xfrm>
            <a:off x="3082464" y="5845729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2862765-40D5-7D45-7AF4-0F626CE7E743}"/>
              </a:ext>
            </a:extLst>
          </p:cNvPr>
          <p:cNvGrpSpPr/>
          <p:nvPr/>
        </p:nvGrpSpPr>
        <p:grpSpPr>
          <a:xfrm>
            <a:off x="694948" y="5908343"/>
            <a:ext cx="273482" cy="98617"/>
            <a:chOff x="586253" y="6116391"/>
            <a:chExt cx="273482" cy="9861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98EE12-DD3C-4AC5-B45F-1D9DA346C37A}"/>
                </a:ext>
              </a:extLst>
            </p:cNvPr>
            <p:cNvSpPr txBox="1"/>
            <p:nvPr/>
          </p:nvSpPr>
          <p:spPr>
            <a:xfrm>
              <a:off x="710655" y="6116391"/>
              <a:ext cx="14908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≤ 1%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18AD473E-3942-6E49-1FCD-CC05DD97AE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5877F80-D83B-8F9D-1D82-98CDA0657127}"/>
              </a:ext>
            </a:extLst>
          </p:cNvPr>
          <p:cNvGrpSpPr/>
          <p:nvPr/>
        </p:nvGrpSpPr>
        <p:grpSpPr>
          <a:xfrm>
            <a:off x="1060651" y="5908343"/>
            <a:ext cx="408134" cy="98617"/>
            <a:chOff x="961765" y="6117353"/>
            <a:chExt cx="408134" cy="9861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0E3BEF7-84EA-7653-3F08-34BC61CCC3C9}"/>
                </a:ext>
              </a:extLst>
            </p:cNvPr>
            <p:cNvSpPr txBox="1"/>
            <p:nvPr/>
          </p:nvSpPr>
          <p:spPr>
            <a:xfrm>
              <a:off x="1086167" y="6117353"/>
              <a:ext cx="283732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1% - 15%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331784C8-27D3-E190-1188-83F8143002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98766D-7061-26B2-4081-542C5D9CAA47}"/>
              </a:ext>
            </a:extLst>
          </p:cNvPr>
          <p:cNvGrpSpPr/>
          <p:nvPr/>
        </p:nvGrpSpPr>
        <p:grpSpPr>
          <a:xfrm>
            <a:off x="1561006" y="5908343"/>
            <a:ext cx="446606" cy="98617"/>
            <a:chOff x="1114165" y="6269753"/>
            <a:chExt cx="446606" cy="986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0EACCEE-F6C5-4239-D307-F1346978364D}"/>
                </a:ext>
              </a:extLst>
            </p:cNvPr>
            <p:cNvSpPr txBox="1"/>
            <p:nvPr/>
          </p:nvSpPr>
          <p:spPr>
            <a:xfrm>
              <a:off x="1238567" y="6269753"/>
              <a:ext cx="32220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15% - 50%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F7980C08-449C-8781-AFFE-1B5D0B713E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DEE7BE-C0DD-5C7B-8A4F-B219560AA303}"/>
              </a:ext>
            </a:extLst>
          </p:cNvPr>
          <p:cNvGrpSpPr/>
          <p:nvPr/>
        </p:nvGrpSpPr>
        <p:grpSpPr>
          <a:xfrm>
            <a:off x="2099833" y="5908343"/>
            <a:ext cx="485078" cy="98617"/>
            <a:chOff x="1114165" y="6269753"/>
            <a:chExt cx="485078" cy="9861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BE5AE9-EDB3-A5FB-A41D-39D01995E609}"/>
                </a:ext>
              </a:extLst>
            </p:cNvPr>
            <p:cNvSpPr txBox="1"/>
            <p:nvPr/>
          </p:nvSpPr>
          <p:spPr>
            <a:xfrm>
              <a:off x="1238567" y="6269753"/>
              <a:ext cx="360676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50% - 150%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8BE2B2C6-D275-9C9C-6E3C-6DEF49F9F5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9F00055-C843-86F0-C3D7-38ABE03F5C50}"/>
              </a:ext>
            </a:extLst>
          </p:cNvPr>
          <p:cNvGrpSpPr/>
          <p:nvPr/>
        </p:nvGrpSpPr>
        <p:grpSpPr>
          <a:xfrm>
            <a:off x="2677130" y="5908343"/>
            <a:ext cx="350426" cy="98617"/>
            <a:chOff x="1114165" y="6269753"/>
            <a:chExt cx="350426" cy="986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7C617B4-6B70-3461-DF10-192E09E859F7}"/>
                </a:ext>
              </a:extLst>
            </p:cNvPr>
            <p:cNvSpPr txBox="1"/>
            <p:nvPr/>
          </p:nvSpPr>
          <p:spPr>
            <a:xfrm>
              <a:off x="1238567" y="6269753"/>
              <a:ext cx="22602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&gt; 150%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E8CC5339-E836-0F40-B13E-8AB2238B2A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B529869A-4031-1A95-3ED8-A3F5C59BC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BF83632A-5C0F-EE29-CEC5-A1C83E82A100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endParaRPr lang="en-GB" sz="155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8290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FD6A-9E05-3D46-E60D-058AD3DFF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2F531B6D-B81A-7E98-1D56-EABC271BE385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PORTFOLIO_PERIOD_TEST_CODE_CHANGE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E93391-04C7-7757-5D2A-13EDA0DE25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4951530" cy="228145"/>
          </a:xfrm>
        </p:spPr>
        <p:txBody>
          <a:bodyPr/>
          <a:lstStyle/>
          <a:p>
            <a:r>
              <a:rPr lang="en-GB" dirty="0"/>
              <a:t>Portfolio trends – Test-to-production code ratio – Change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CB48E-331C-26C2-9486-41470DE99B0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1192D23-A084-1C07-108E-A039F527F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Change in test-to-production code ratios of the portfolio between PORTFOLIO_PERIOD_START_DATE and PORTFOLIO_PERIOD_END_DATE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5DF429E-1695-7507-23C8-7080223EC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9C737C-0323-E724-2600-C1FD0C48F918}"/>
              </a:ext>
            </a:extLst>
          </p:cNvPr>
          <p:cNvSpPr txBox="1"/>
          <p:nvPr/>
        </p:nvSpPr>
        <p:spPr>
          <a:xfrm>
            <a:off x="2083423" y="5828312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55CC23-7FB2-3819-DF45-F461573B4C64}"/>
              </a:ext>
            </a:extLst>
          </p:cNvPr>
          <p:cNvSpPr txBox="1"/>
          <p:nvPr/>
        </p:nvSpPr>
        <p:spPr>
          <a:xfrm>
            <a:off x="1765559" y="5828312"/>
            <a:ext cx="309850" cy="22377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AFA911-0B10-AF2D-A9C0-DD22BC1BBD4E}"/>
              </a:ext>
            </a:extLst>
          </p:cNvPr>
          <p:cNvSpPr txBox="1"/>
          <p:nvPr/>
        </p:nvSpPr>
        <p:spPr>
          <a:xfrm>
            <a:off x="599152" y="5828312"/>
            <a:ext cx="290614" cy="22377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-%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25916BB-0B42-8048-110F-7C3BB681E20B}"/>
              </a:ext>
            </a:extLst>
          </p:cNvPr>
          <p:cNvSpPr>
            <a:spLocks noChangeAspect="1"/>
          </p:cNvSpPr>
          <p:nvPr/>
        </p:nvSpPr>
        <p:spPr>
          <a:xfrm>
            <a:off x="966210" y="5892077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17EB203-3DE5-97DD-075C-0B587EC23CA8}"/>
              </a:ext>
            </a:extLst>
          </p:cNvPr>
          <p:cNvSpPr>
            <a:spLocks noChangeAspect="1"/>
          </p:cNvSpPr>
          <p:nvPr/>
        </p:nvSpPr>
        <p:spPr>
          <a:xfrm>
            <a:off x="1126080" y="5892077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DC54916-F833-9417-0E3F-376D5F92F098}"/>
              </a:ext>
            </a:extLst>
          </p:cNvPr>
          <p:cNvSpPr>
            <a:spLocks noChangeAspect="1"/>
          </p:cNvSpPr>
          <p:nvPr/>
        </p:nvSpPr>
        <p:spPr>
          <a:xfrm>
            <a:off x="1285950" y="5892077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B2403CD-7F96-B10B-C967-0067917FCE2C}"/>
              </a:ext>
            </a:extLst>
          </p:cNvPr>
          <p:cNvSpPr>
            <a:spLocks noChangeAspect="1"/>
          </p:cNvSpPr>
          <p:nvPr/>
        </p:nvSpPr>
        <p:spPr>
          <a:xfrm>
            <a:off x="1445820" y="5892077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C43A55-E9EE-0CF2-1BEE-A73AE19E5A7B}"/>
              </a:ext>
            </a:extLst>
          </p:cNvPr>
          <p:cNvSpPr>
            <a:spLocks noChangeAspect="1"/>
          </p:cNvSpPr>
          <p:nvPr/>
        </p:nvSpPr>
        <p:spPr>
          <a:xfrm>
            <a:off x="1605690" y="5892077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12D1771-D0CC-C082-F03C-E4AF23AD0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4E2A0B08-A1F1-2331-6663-DCAE2EB4D3E6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Overall, there has been PORTFOLIO_RELATIVE_TEST_CODE_DIFFERENCE in test code ratio for the </a:t>
            </a:r>
            <a:r>
              <a:rPr lang="en-GB" sz="1550" dirty="0"/>
              <a:t>portfolio (PORTFOLIO_TEST_CODE_DIFFERENCE%).</a:t>
            </a:r>
            <a:endParaRPr lang="en-GB" sz="1550" noProof="0" dirty="0"/>
          </a:p>
          <a:p>
            <a:pPr indent="-283845"/>
            <a:r>
              <a:rPr lang="en-GB" sz="1550" dirty="0"/>
              <a:t>PORTFOLIO_TEST_CODE_INCREASE% of systems have seen an increase in test code ratio while PORTFOLIO_TEST_CODE_DECREASE% of systems have seen a decrease. </a:t>
            </a:r>
          </a:p>
          <a:p>
            <a:pPr indent="-283845"/>
            <a:r>
              <a:rPr lang="en-GB" sz="1550" dirty="0"/>
              <a:t>PORTFOLIO_TEST_CODE_BIGGEST_CHANGES</a:t>
            </a:r>
            <a:endParaRPr lang="en-GB" sz="155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8519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F90BB58-CA09-58E2-BE3B-2E065F51CF77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PORTFOLIO_PERIOD_ARCHITECTURE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603A22-6C87-6123-7889-47059E7B51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759263" cy="228145"/>
          </a:xfrm>
        </p:spPr>
        <p:txBody>
          <a:bodyPr/>
          <a:lstStyle/>
          <a:p>
            <a:r>
              <a:rPr lang="en-GB" dirty="0"/>
              <a:t>Portfolio trends –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BB1EC-B729-EEEB-51CD-99A133FF21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CDDECE-07F9-831D-887E-96F18B222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Architecture ratings of the portfolio between PORTFOLIO_PERIOD_START_DATE and PORTFOLIO_PERIOD_END_DATE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9F0196F-C2C8-901D-3388-01AE9D1ABE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D60EA92-5FAE-DB20-C878-9397C39C8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22578C5-779F-2DE7-941C-EA21148CF77F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A2F3EE-ED58-8890-B4BF-4E9E9399E1CC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D72A90-1A63-5E0F-8B76-76CF390D2210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617A234-0C3B-1517-E133-7B2E2BCA1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2C97830-5D0A-7C61-5790-8AE0D6258402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1F050E-BC5D-A674-AE97-CDA4545FA315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84B1977E-A39B-88F7-3A2F-1EB3EBC876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4A3F2BC-D11A-47C0-2D59-EDE88F571DA8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3250C71-B11A-F676-5B3D-04096307F859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49EF1191-C257-976C-29AA-F1DA1D22A9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A318A0-FABA-EB5B-A4DE-ADB204F5D0F5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F9D8162-537B-F3FD-4C5A-B95C9B9B31F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96550F1B-DABE-4321-E085-10DEBDFB3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782E435-697F-C57C-1530-5C1E6B98227E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EE8F693-BD9E-2048-F83B-CAC471F85DB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F93E0B17-8795-E431-6602-6FD9737C92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718E80B-E45D-BD72-6536-AB0C481281BD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</a:t>
            </a:r>
            <a:r>
              <a:rPr lang="en-GB" dirty="0"/>
              <a:t>Architecture Quality</a:t>
            </a:r>
            <a:r>
              <a:rPr lang="en-US" dirty="0"/>
              <a:t> rating for the portfolio is PORTFOLIO_ARCH_AVG_RATING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</a:t>
            </a:r>
            <a:r>
              <a:rPr lang="en-GB" dirty="0"/>
              <a:t>% of systems score above market average for Architecture Quality (≥3.5</a:t>
            </a:r>
            <a:r>
              <a:rPr lang="en-US" dirty="0"/>
              <a:t>★</a:t>
            </a:r>
            <a:r>
              <a:rPr lang="en-GB" dirty="0"/>
              <a:t>).</a:t>
            </a:r>
          </a:p>
          <a:p>
            <a:pPr indent="-283845"/>
            <a:r>
              <a:rPr lang="en-US" dirty="0"/>
              <a:t>PORTFOLIO_ARCH_MARKET_AVERAGE</a:t>
            </a:r>
            <a:r>
              <a:rPr lang="en-GB" dirty="0">
                <a:ea typeface="Calibri"/>
                <a:cs typeface="Calibri"/>
              </a:rPr>
              <a:t>% of systems score market average</a:t>
            </a:r>
            <a:r>
              <a:rPr lang="en-GB" dirty="0"/>
              <a:t> for Architecture Quality</a:t>
            </a:r>
            <a:r>
              <a:rPr lang="en-GB" dirty="0">
                <a:ea typeface="Calibri"/>
                <a:cs typeface="Calibri"/>
              </a:rPr>
              <a:t> (3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</a:t>
            </a:r>
            <a:r>
              <a:rPr lang="en-GB" dirty="0">
                <a:ea typeface="Calibri"/>
                <a:cs typeface="Calibri"/>
              </a:rPr>
              <a:t>% of systems score below market average</a:t>
            </a:r>
            <a:r>
              <a:rPr lang="en-GB" dirty="0"/>
              <a:t> for Architecture Quality</a:t>
            </a:r>
            <a:r>
              <a:rPr lang="en-GB" dirty="0">
                <a:ea typeface="Calibri"/>
                <a:cs typeface="Calibri"/>
              </a:rPr>
              <a:t> (≤2.5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483869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150D-A65E-A40C-6B49-AF7DCB612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2E24BFC5-CB7A-9CFC-7130-4B0DC5D6EC34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PORTFOLIO_PERIOD_ARCHITECTURE_RATINGS_CHANGE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7203A-CD59-ACA2-0387-C994E78EE7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421992" cy="228145"/>
          </a:xfrm>
        </p:spPr>
        <p:txBody>
          <a:bodyPr/>
          <a:lstStyle/>
          <a:p>
            <a:r>
              <a:rPr lang="en-GB" dirty="0"/>
              <a:t>Portfolio trends –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A47C1-2743-4E7A-7D4A-562B99B1F7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8FBDDCA-D2CF-ED08-F7B9-0B588E371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PORTFOLIO_PERIOD_ARCH_CHANGE_SHORT_SUMMARY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AF939B1-43D2-7D15-6932-30FE4B4C7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33B504D-7A8E-EB12-5480-7248C811BB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D0FA74F-562E-7349-3D5D-B56CB42C5B2E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6C2FD6-492D-0E1B-9C15-958B643F8A11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92A8F39-4C39-E112-DC09-FD6F52ECB230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13264880-98AC-7E55-C880-7A8CCE8F38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8F3E857-EDC2-8EE7-81A9-A3311098CF11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ADA0A2C-AC23-3CD0-1444-BB92C14DA522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FD18D1A5-F134-68C3-A18E-2F87ECDA52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B321E3-3252-2B17-6200-C9A506567FED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AF25BB4-A62C-193F-2D50-7FDF3DC238F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EEC02D13-D964-CD6E-20EB-22E6E4B11E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A8ED2EC-6DC3-DAE7-2167-B926AD704CE7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85317C-57AA-4CC6-A677-703E2942F5AE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10652A05-2024-A59C-5C1F-DCE0E89941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3379D43-A7B7-7D8F-A477-C3774652D509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4F48BB-4FF1-E4B5-C688-5154F7D19AF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80A2CF2E-3196-627B-C3D8-DE40647EAD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CBB1A7A-1F34-F22F-B876-535EEF53610A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dirty="0">
                <a:ea typeface="Calibri"/>
                <a:cs typeface="Calibri"/>
              </a:rPr>
              <a:t>PORTFOLIO_ARCH_INCREASED% of systems has seen an increase in security ratings. PORTFOLIO_ARCH_STABLE% of systems has remained stable. PORTFOLIO_ARCH_DECREASED% of systems has seen a decrease in security ratings.</a:t>
            </a:r>
          </a:p>
          <a:p>
            <a:pPr indent="-283845"/>
            <a:r>
              <a:rPr lang="en-GB" dirty="0">
                <a:ea typeface="Calibri"/>
                <a:cs typeface="Calibri"/>
              </a:rPr>
              <a:t>PORTFOLIO_ARCH_BIGGEST_CHANGES</a:t>
            </a:r>
          </a:p>
        </p:txBody>
      </p:sp>
    </p:spTree>
    <p:extLst>
      <p:ext uri="{BB962C8B-B14F-4D97-AF65-F5344CB8AC3E}">
        <p14:creationId xmlns:p14="http://schemas.microsoft.com/office/powerpoint/2010/main" val="5329305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07B4F-D7B8-1CEF-56A5-C9C18FBFD1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265171" cy="228145"/>
          </a:xfrm>
        </p:spPr>
        <p:txBody>
          <a:bodyPr/>
          <a:lstStyle/>
          <a:p>
            <a:r>
              <a:rPr lang="en-GB" dirty="0"/>
              <a:t>Portfolio trends – Open-Source Health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46EA6-114E-BE00-9088-0FF2F34813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30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DFBC53-E0F3-50EC-6D67-B2815BC99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Open-source health ratings of the portfolio between PORTFOLIO_PERIOD_START_DATE and PORTFOLIO_PERIOD_END_DATE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A1D2F67-A90D-74AA-22CD-017BC0D93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E8C506-EBA7-D433-19CB-BD7B4186FE2F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PORTFOLIO_PERIOD_OSH_RATINGS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053C8FF-A309-9635-AB10-3E7965715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5E0572C-1734-61F0-856F-5E79E547DCB7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988E0B2-1D87-C999-BC6A-C9E400EA29C4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7A6F15-7EE4-41DA-71F3-F8B932ABCB9E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C5FB1D3-CA1E-3CEF-9DCB-A533BD6751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78352C9-05CD-024F-9FC8-A43B06C5296F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80ACC94-4A3B-E4A2-C515-92A1B0B85607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5BAC351A-6A3D-8EE7-3400-48AC200F04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03C1BE7-DC33-05D7-A88F-E4549430313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258E72-CF1A-4DFE-52F3-DB2B89080DF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73B613B1-191F-17CB-8B90-A1C172B0B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6C7A952-D4BD-C5BE-3ECD-80D0236B6DC5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E346C1E-F337-E3F0-51BC-42C15701A9F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0E88F2D9-0594-B652-C0EB-2B82B013E3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FD99AA7-4DE9-A06B-FABC-D5259DB272D8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3791E94-0AAD-9D1A-14E0-882C135761E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3CB886B0-18FD-211D-FAB5-01B5BE7532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E223A60-5DA4-23C2-35E1-41CA53903EBF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</a:t>
            </a:r>
            <a:r>
              <a:rPr lang="nl-NL" dirty="0"/>
              <a:t>Open Source Health </a:t>
            </a:r>
            <a:r>
              <a:rPr lang="en-US" dirty="0"/>
              <a:t>rating for the portfolio is PORTFOLIO_OSH_AVG_RATING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GB" dirty="0"/>
              <a:t>PORTFOLIO_OSH_ABOVE_MARKET% of systems score above market average for Open Source Health (≥3.5</a:t>
            </a:r>
            <a:r>
              <a:rPr lang="en-US" dirty="0"/>
              <a:t>★</a:t>
            </a:r>
            <a:r>
              <a:rPr lang="en-GB" dirty="0"/>
              <a:t>).</a:t>
            </a:r>
          </a:p>
          <a:p>
            <a:pPr indent="-283845"/>
            <a:r>
              <a:rPr lang="en-US" dirty="0"/>
              <a:t>PORTFOLIO_OSH_MARKET_AVERAGE</a:t>
            </a:r>
            <a:r>
              <a:rPr lang="en-GB" dirty="0">
                <a:ea typeface="Calibri"/>
                <a:cs typeface="Calibri"/>
              </a:rPr>
              <a:t>% of systems score market average</a:t>
            </a:r>
            <a:r>
              <a:rPr lang="en-GB" dirty="0"/>
              <a:t> for Open Source Health </a:t>
            </a:r>
            <a:r>
              <a:rPr lang="en-GB" dirty="0">
                <a:ea typeface="Calibri"/>
                <a:cs typeface="Calibri"/>
              </a:rPr>
              <a:t>(3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PORTFOLIO_OSH_BELOW_MARKET</a:t>
            </a:r>
            <a:r>
              <a:rPr lang="en-GB" dirty="0">
                <a:ea typeface="Calibri"/>
                <a:cs typeface="Calibri"/>
              </a:rPr>
              <a:t>% of systems score below market average</a:t>
            </a:r>
            <a:r>
              <a:rPr lang="en-GB" dirty="0"/>
              <a:t> for Open Source Health </a:t>
            </a:r>
            <a:r>
              <a:rPr lang="en-GB" dirty="0">
                <a:ea typeface="Calibri"/>
                <a:cs typeface="Calibri"/>
              </a:rPr>
              <a:t>(≤2.5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745401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inhoud 19">
            <a:extLst>
              <a:ext uri="{FF2B5EF4-FFF2-40B4-BE49-F238E27FC236}">
                <a16:creationId xmlns:a16="http://schemas.microsoft.com/office/drawing/2014/main" id="{66BB4E1B-985F-9EF3-5AC6-C768D2CB71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421846"/>
            <a:ext cx="5938800" cy="4896154"/>
          </a:xfrm>
        </p:spPr>
        <p:txBody>
          <a:bodyPr/>
          <a:lstStyle/>
          <a:p>
            <a:r>
              <a:rPr lang="en-US" dirty="0"/>
              <a:t>PORTFOLIO_OSH_VULN_SUMMARY</a:t>
            </a:r>
          </a:p>
          <a:p>
            <a:r>
              <a:rPr lang="en-US" dirty="0"/>
              <a:t>PORTFOLIO_OSH_LEGAL_SUMMARY</a:t>
            </a:r>
          </a:p>
          <a:p>
            <a:r>
              <a:rPr lang="en-US" dirty="0"/>
              <a:t>PORTFOLIO_OSH_FRESHNESS_SUMMARY</a:t>
            </a:r>
          </a:p>
          <a:p>
            <a:r>
              <a:rPr lang="en-US" dirty="0"/>
              <a:t>PORTFOLIO_OSH_MANAGEMENT_SUMMARY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5582F2-40D0-9238-3CA5-366CA9A6B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738" y="1894014"/>
            <a:ext cx="835106" cy="265112"/>
          </a:xfrm>
        </p:spPr>
        <p:txBody>
          <a:bodyPr>
            <a:noAutofit/>
          </a:bodyPr>
          <a:lstStyle/>
          <a:p>
            <a:r>
              <a:rPr lang="en-US" b="0" dirty="0"/>
              <a:t>PORTFOLIO_OSH_TOTAL_DEPS</a:t>
            </a:r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6B434B96-A0F4-D550-9948-4935A3A30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PORTFOLIO_OSH_HIGH_RISK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F2A786C1-12AB-2815-EA60-7CF5A856C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PORTFOLIO_OSH_MEDIUM_RISK</a:t>
            </a:r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1815B1ED-FC37-06DC-642E-E962FAF8C9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PORTFOLIO_OSH_LOW_RISK</a:t>
            </a:r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F9105C04-203F-52A9-B023-8BCB23ABA3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PORTFOLIO_OSH_NO_RISK</a:t>
            </a:r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CCA1B4DB-A80E-D27A-4D97-18B15B411B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PORTFOLIO_OSH_CRITICAL_RISK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F49E5F7-1212-C10F-AF03-7BCD250B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Open Source Health Library Risks Overview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8CFF3985-4FCE-83E0-0FFC-607EBC9734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nl-NL" smtClean="0"/>
              <a:pPr/>
              <a:t>31</a:t>
            </a:fld>
            <a:endParaRPr lang="nl-NL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A846D4E-DBA5-CFC4-BD38-6CC5C41F55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927899" cy="228145"/>
          </a:xfrm>
        </p:spPr>
        <p:txBody>
          <a:bodyPr/>
          <a:lstStyle/>
          <a:p>
            <a:r>
              <a:rPr lang="en-GB" dirty="0"/>
              <a:t>Key findings – Open Source and IP</a:t>
            </a:r>
          </a:p>
        </p:txBody>
      </p:sp>
      <p:graphicFrame>
        <p:nvGraphicFramePr>
          <p:cNvPr id="2" name="OSH_PORTFOLIO_OTHER_RISKS_GRAPH">
            <a:extLst>
              <a:ext uri="{FF2B5EF4-FFF2-40B4-BE49-F238E27FC236}">
                <a16:creationId xmlns:a16="http://schemas.microsoft.com/office/drawing/2014/main" id="{4C5859CA-0A2B-2CD5-4201-9074382317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8722614"/>
              </p:ext>
            </p:extLst>
          </p:nvPr>
        </p:nvGraphicFramePr>
        <p:xfrm>
          <a:off x="2855399" y="3688194"/>
          <a:ext cx="3240000" cy="25207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OSH_PORTFOLIO_VULN_LEGAL_GRAPH">
            <a:extLst>
              <a:ext uri="{FF2B5EF4-FFF2-40B4-BE49-F238E27FC236}">
                <a16:creationId xmlns:a16="http://schemas.microsoft.com/office/drawing/2014/main" id="{A2E74F15-1B72-6504-9282-2CD2017740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8423153"/>
              </p:ext>
            </p:extLst>
          </p:nvPr>
        </p:nvGraphicFramePr>
        <p:xfrm>
          <a:off x="2855399" y="2891471"/>
          <a:ext cx="3240000" cy="1298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70B2912-5022-184F-E496-1EDCEC82A1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2811049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1B5DD80-60E5-8513-9972-0F7EF4189F04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PORTFOLIO_PERIOD_SECURITY_RATINGS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87597F-0CE6-6979-6D59-2CC306D18F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421992" cy="228145"/>
          </a:xfrm>
        </p:spPr>
        <p:txBody>
          <a:bodyPr/>
          <a:lstStyle/>
          <a:p>
            <a:r>
              <a:rPr lang="en-GB" dirty="0"/>
              <a:t>Portfolio trends –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0E726-D390-617B-2837-17EF73C1835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1F92A6-63AF-66FE-4BB0-42211685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Security ratings of the portfolio between PORTFOLIO_PERIOD_START_DATE and PORTFOLIO_PERIOD_END_DATE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5AE87DF-A1BC-5958-DE2A-A8C3A6CD9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BD9D636-CC1F-D5EE-82E8-F5B67A683E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592C00B-839E-1F7C-C976-764E7FA89D08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8D13A58-DDFB-6E93-06B8-8F73093435CB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09D3E1-5818-A7F6-D907-77EE9F47DC83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5E576A0-5957-C060-F7D5-462BF27703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93ADAAD-3940-3E4F-EE06-CD1CDD98C4D0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0782A8A-DA3D-0449-1C4B-FDA35D728C06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476C0325-7FCB-4C5A-F1B9-2AA83897F9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5E9104F-A474-DEBF-B0B1-04438939F3F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9EE0DD2-01FA-7CE1-6138-8B452A78A60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50B3354E-3FA0-1D94-0ED5-6B55810CBC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08FDA72-1D6A-069B-BA6F-C9555EA6EE09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491AD94-EFFF-2C79-D5D8-7DF2D278614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97B8822E-BA13-A142-1266-C50778012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B93157F-D848-9E05-25CB-0110AC5E4F8E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AF3218E-BE5D-1E5F-2E2F-80BD224CB1D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BF1EC965-F313-A395-6AF8-C9756978DD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38D86B0-827F-9466-0A66-C9807390BBCB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</a:t>
            </a:r>
            <a:r>
              <a:rPr lang="nl-NL" dirty="0"/>
              <a:t>Security </a:t>
            </a:r>
            <a:r>
              <a:rPr lang="en-US" dirty="0"/>
              <a:t>rating for the portfolio is PORTFOLIO_SEC_AVG_RATING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GB" dirty="0"/>
              <a:t>PORTFOLIO_SEC_ABOVE_MARKET% of systems score above market average for Security (≥3.5</a:t>
            </a:r>
            <a:r>
              <a:rPr lang="en-US" dirty="0"/>
              <a:t>★</a:t>
            </a:r>
            <a:r>
              <a:rPr lang="en-GB" dirty="0"/>
              <a:t>).</a:t>
            </a:r>
          </a:p>
          <a:p>
            <a:pPr indent="-283845"/>
            <a:r>
              <a:rPr lang="en-US" dirty="0"/>
              <a:t>PORTFOLIO_SEC_MARKET_AVERAGE</a:t>
            </a:r>
            <a:r>
              <a:rPr lang="en-GB" dirty="0">
                <a:ea typeface="Calibri"/>
                <a:cs typeface="Calibri"/>
              </a:rPr>
              <a:t>% of systems score market average</a:t>
            </a:r>
            <a:r>
              <a:rPr lang="en-GB" dirty="0"/>
              <a:t> for Security </a:t>
            </a:r>
            <a:r>
              <a:rPr lang="en-GB" dirty="0">
                <a:ea typeface="Calibri"/>
                <a:cs typeface="Calibri"/>
              </a:rPr>
              <a:t>(3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PORTFOLIO_SEC_BELOW_MARKET</a:t>
            </a:r>
            <a:r>
              <a:rPr lang="en-GB" dirty="0">
                <a:ea typeface="Calibri"/>
                <a:cs typeface="Calibri"/>
              </a:rPr>
              <a:t>% of systems score below market average</a:t>
            </a:r>
            <a:r>
              <a:rPr lang="en-GB" dirty="0"/>
              <a:t> for Security</a:t>
            </a:r>
            <a:r>
              <a:rPr lang="en-GB" dirty="0">
                <a:ea typeface="Calibri"/>
                <a:cs typeface="Calibri"/>
              </a:rPr>
              <a:t>(≤2.5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925307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F75C0-C207-4E2C-BD14-5A81D230D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6C82DEF-36D5-FB7E-AFAC-21F430C3BB5A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PORTFOLIO_PERIOD_SECURITY_RATINGS_CHANGE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71CDFD-E671-9983-BCFA-61E6FDA0C8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421992" cy="228145"/>
          </a:xfrm>
        </p:spPr>
        <p:txBody>
          <a:bodyPr/>
          <a:lstStyle/>
          <a:p>
            <a:r>
              <a:rPr lang="en-GB" dirty="0"/>
              <a:t>Portfolio trends –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53550-5F0E-C6E4-29B9-7E84B37C218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33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6C1924E-BF8A-82D4-91C3-65F9207E4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PORTFOLIO_PERIOD_SEC_CHANGE_SHORT_SUMMARY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53814472-2F91-8C00-BB5E-647E58883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C6C283A-7F67-5B7A-1592-8EF4CE26A3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2C8211A-4BD1-17C2-157E-E7A75825DE5A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A8E10F2-10CD-AA74-5A2C-170808E6F640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F34314D-E3B4-A17A-A9F3-35718FEFCD72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7668F8B1-8163-0280-E7AD-6FC40A4B3F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A9E2695-4C11-2982-75D5-4E0C6BE811D7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6DC72B0-8D25-2365-9A54-C46D71FCEAA3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1D2D5440-4938-251B-AD71-3D41CEF842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7376B1B-254E-3717-798E-FD0631037E78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280C7ED-B514-CF66-35D7-4A66EC00BCA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D8B81D40-7E02-2FB1-644E-20F77CD0B0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3F90A97-85BE-3BEB-5DD6-BDE4DB13BE1F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038FF40-E3F2-25D4-9EA0-FC948E18EE7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A1CAA676-894E-9A77-8893-A491CE6C61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FE4119A-FB59-D48B-0115-817DF87E7E5C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ECD1D60-85B7-3420-38E5-9562602AA3F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445541FA-1456-41B3-1BCE-43D44804C6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00845E37-BF7A-036F-1036-4DCCAD4A0C5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dirty="0">
                <a:ea typeface="Calibri"/>
                <a:cs typeface="Calibri"/>
              </a:rPr>
              <a:t>PORTFOLIO_SEC_INCREASED% of systems has seen an increase in security ratings. PORTFOLIO_SEC_STABLE% of systems has remained stable. PORTFOLIO_SEC_DECREASED% of systems has seen a decrease in security ratings.</a:t>
            </a:r>
          </a:p>
          <a:p>
            <a:pPr indent="-283845"/>
            <a:r>
              <a:rPr lang="en-GB" dirty="0">
                <a:ea typeface="Calibri"/>
                <a:cs typeface="Calibri"/>
              </a:rPr>
              <a:t>PORTFOLIO_SEC_BIGGEST_CHANGES</a:t>
            </a:r>
          </a:p>
        </p:txBody>
      </p:sp>
    </p:spTree>
    <p:extLst>
      <p:ext uri="{BB962C8B-B14F-4D97-AF65-F5344CB8AC3E}">
        <p14:creationId xmlns:p14="http://schemas.microsoft.com/office/powerpoint/2010/main" val="3644339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A976C-A43A-62DF-8A14-555177D4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88C01D-33FF-CD9A-A477-2806EB6B1C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855396" cy="228145"/>
          </a:xfrm>
        </p:spPr>
        <p:txBody>
          <a:bodyPr/>
          <a:lstStyle/>
          <a:p>
            <a:r>
              <a:rPr lang="en-GB" dirty="0"/>
              <a:t>Portfolio trends – Security – Findings trend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CBBF-57FB-ABB3-9835-20A2F9691D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34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BE6FAE6-87BA-B605-5E5B-FC841A95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Critical findings trends of the last 12 months (ending at PORTFOLIO_PERIOD_END_DATE)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01C0D-0321-1290-3EFE-1E641277D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32F2E1-B218-4956-6E9E-F625515C8382}"/>
              </a:ext>
            </a:extLst>
          </p:cNvPr>
          <p:cNvSpPr/>
          <p:nvPr/>
        </p:nvSpPr>
        <p:spPr>
          <a:xfrm flipH="1">
            <a:off x="861633" y="3390745"/>
            <a:ext cx="10468734" cy="2720123"/>
          </a:xfrm>
          <a:prstGeom prst="roundRect">
            <a:avLst>
              <a:gd name="adj" fmla="val 398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910714"/>
                </a:solidFill>
              </a:rPr>
              <a:t>Critical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04CBEEE-0C86-D6F2-5A66-0F130C4B2075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20177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Since </a:t>
            </a:r>
            <a:r>
              <a:rPr lang="en-GB" sz="1550" dirty="0"/>
              <a:t>PORTFOLIO_SEC_PERIOD_START_DATE</a:t>
            </a:r>
            <a:r>
              <a:rPr lang="en-GB" sz="1550" noProof="0" dirty="0"/>
              <a:t>, </a:t>
            </a:r>
            <a:r>
              <a:rPr lang="en-GB" sz="1550" dirty="0"/>
              <a:t>PORTFOLIO_SEC_CRITICAL_RESOLVED</a:t>
            </a:r>
            <a:r>
              <a:rPr lang="en-GB" sz="1550" noProof="0" dirty="0"/>
              <a:t> critical security findings have been resolved </a:t>
            </a:r>
            <a:r>
              <a:rPr lang="en-GB" sz="1550" dirty="0"/>
              <a:t>while PORTFOLIO_SEC_CRITICAL_ADDED new critical findings were discovered. Overall, there has been PORTFOLIO_SEC_RELATIVE_CRITICAL in critical security findings of PORTFOLIO_SEC_CRITICAL_DIFFERENCE.</a:t>
            </a:r>
          </a:p>
          <a:p>
            <a:pPr indent="-283845"/>
            <a:r>
              <a:rPr lang="en-GB" sz="1550" dirty="0"/>
              <a:t>Of the resolved critical findings, most were resolved in PORTFOLIO_SEC_CRITICAL_RESOLUTION_MOST (PORTFOLIO_</a:t>
            </a:r>
            <a:r>
              <a:rPr lang="en-GB" sz="1550"/>
              <a:t>SEC_CRITICAL</a:t>
            </a:r>
            <a:r>
              <a:rPr lang="en-GB" sz="1550" dirty="0"/>
              <a:t>_RESOLUTION_FINDINGS_MOST findings). PORTFOLIO_SEC_CRITICAL_RESOLUTION_NO_RISK findings were resolved within the recommended 7 days while PORTFOLIO_SEC_CRITICAL_RESOLUTION_HIGH_RISK were resolved after 30 days or more. </a:t>
            </a:r>
          </a:p>
          <a:p>
            <a:pPr indent="-283845"/>
            <a:endParaRPr lang="en-GB" sz="1550" dirty="0">
              <a:ea typeface="Calibri"/>
              <a:cs typeface="Calibri"/>
            </a:endParaRPr>
          </a:p>
        </p:txBody>
      </p:sp>
      <p:graphicFrame>
        <p:nvGraphicFramePr>
          <p:cNvPr id="10" name="PORTFOLIO_SECURITY_FINDINGS_CRITICAL">
            <a:extLst>
              <a:ext uri="{FF2B5EF4-FFF2-40B4-BE49-F238E27FC236}">
                <a16:creationId xmlns:a16="http://schemas.microsoft.com/office/drawing/2014/main" id="{910F2E1C-D877-D2BA-B431-F9C4BA585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1190819"/>
              </p:ext>
            </p:extLst>
          </p:nvPr>
        </p:nvGraphicFramePr>
        <p:xfrm>
          <a:off x="1124437" y="3851133"/>
          <a:ext cx="5010978" cy="2177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PORTFOLIO_SECURITY_RESOLUTION_CRITICAL">
            <a:extLst>
              <a:ext uri="{FF2B5EF4-FFF2-40B4-BE49-F238E27FC236}">
                <a16:creationId xmlns:a16="http://schemas.microsoft.com/office/drawing/2014/main" id="{F4BA35FA-BE44-852A-B55F-63FF6EA3EB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4663586"/>
              </p:ext>
            </p:extLst>
          </p:nvPr>
        </p:nvGraphicFramePr>
        <p:xfrm>
          <a:off x="6235286" y="3713005"/>
          <a:ext cx="4832277" cy="2319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915783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4EF1-FCA0-2EC9-964E-45F3A94A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8824E7-4E29-8181-B01C-EA895DB82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4024032" cy="228145"/>
          </a:xfrm>
        </p:spPr>
        <p:txBody>
          <a:bodyPr/>
          <a:lstStyle/>
          <a:p>
            <a:r>
              <a:rPr lang="en-GB" dirty="0"/>
              <a:t>Portfolio trends – Security – Resolution times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8AAA8-B191-8D33-A251-5BBAA5775EE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35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9BDEC54-B88C-60B4-98B9-CFF0E70B4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Security resolution times of the portfolio of the last 12 months (ending at PORTFOLIO_PERIOD_END_DATE)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7DF3F-5BD8-9A33-2F26-1FFB63BA6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0BDBC96-6A0F-7FB2-73A9-7CD5A1E31F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373" y="5911956"/>
            <a:ext cx="371130" cy="206558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6DD134A-FB98-733E-70B7-BE217A938451}"/>
              </a:ext>
            </a:extLst>
          </p:cNvPr>
          <p:cNvSpPr/>
          <p:nvPr/>
        </p:nvSpPr>
        <p:spPr>
          <a:xfrm flipH="1">
            <a:off x="5291526" y="1291984"/>
            <a:ext cx="6743271" cy="248048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DB4A3D"/>
                </a:solidFill>
              </a:rPr>
              <a:t>High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B23C483-13CD-B3D6-B6B2-3C5716E15A2A}"/>
              </a:ext>
            </a:extLst>
          </p:cNvPr>
          <p:cNvSpPr txBox="1">
            <a:spLocks/>
          </p:cNvSpPr>
          <p:nvPr/>
        </p:nvSpPr>
        <p:spPr>
          <a:xfrm>
            <a:off x="223094" y="1411287"/>
            <a:ext cx="4881341" cy="476271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/>
              <a:t>Since PORTFOLIO_SEC_PERIOD_START_DATE, PORTFOLIO_SEC_HIGH_RESOLVED high security findings have been resolved while PORTFOLIO_SEC_HIGH_ADDED new high findings were discovered. Overall, there has been PORTFOLIO_SEC_RELATIVE_HIGH in high security findings of PORTFOLIO_SEC_HIGH_DIFFERENCE.</a:t>
            </a:r>
          </a:p>
          <a:p>
            <a:pPr indent="-283845"/>
            <a:r>
              <a:rPr lang="en-GB" sz="1550" dirty="0"/>
              <a:t>Of the resolved high findings, most were resolved in PORTFOLIO_SEC_HIGH_RESOLUTION_MOST (PORTFOLIO_SEC_HIGH_RESOLUTION_FINDINGS_MOST findings). PORTFOLIO_SEC_HIGH_RESOLUTION_NO_RISK findings were resolved within the recommended 14 days while PORTFOLIO_SEC_HIGH_RESOLUTION_HIGH_RISK were resolved after 180 days or more. </a:t>
            </a:r>
          </a:p>
          <a:p>
            <a:pPr indent="-283845"/>
            <a:r>
              <a:rPr lang="en-GB" sz="1550" dirty="0"/>
              <a:t>PORTFOLIO_SEC_MEDIUM_RESOLVED medium security findings have been resolved while PORTFOLIO_SEC_MEDIUM_ADDED new medium findings were discovered. Overall, there has been PORTFOLIO_SEC_RELATIVE_MEDIUM in medium security findings of PORTFOLIO_SEC_MEDIUM_DIFFERENCE.</a:t>
            </a:r>
          </a:p>
          <a:p>
            <a:pPr indent="-283845"/>
            <a:r>
              <a:rPr lang="en-GB" sz="1550" dirty="0"/>
              <a:t>Of the resolved medium findings, most were resolved in PORTFOLIO_SEC_MEDIUM_RESOLUTION_MOST (PORTFOLIO_SEC_MEDIUM_RESOLUTION_FINDINGS_MOST findings). PORTFOLIO_SEC_MEDIUM_RESOLUTION_NO_RISK findings were resolved within the recommended 30 days while PORTFOLIO_SEC_MEDIUM_RESOLUTION_HIGH_RISK were resolved after 270 days or more. </a:t>
            </a:r>
          </a:p>
          <a:p>
            <a:pPr indent="-283845"/>
            <a:endParaRPr lang="en-GB" sz="1550" dirty="0"/>
          </a:p>
          <a:p>
            <a:pPr indent="-283845"/>
            <a:endParaRPr lang="en-GB" sz="1550" dirty="0">
              <a:ea typeface="Calibri"/>
              <a:cs typeface="Calibri"/>
            </a:endParaRPr>
          </a:p>
        </p:txBody>
      </p:sp>
      <p:graphicFrame>
        <p:nvGraphicFramePr>
          <p:cNvPr id="18" name="PORTFOLIO_SECURITY_RESOLUTION_HIGH">
            <a:extLst>
              <a:ext uri="{FF2B5EF4-FFF2-40B4-BE49-F238E27FC236}">
                <a16:creationId xmlns:a16="http://schemas.microsoft.com/office/drawing/2014/main" id="{16E3CE9D-20C9-0E77-38B2-53E2D8CA62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8503948"/>
              </p:ext>
            </p:extLst>
          </p:nvPr>
        </p:nvGraphicFramePr>
        <p:xfrm>
          <a:off x="8730926" y="1514933"/>
          <a:ext cx="3178530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PORTFOLIO_SECURITY_FINDINGS_HIGH">
            <a:extLst>
              <a:ext uri="{FF2B5EF4-FFF2-40B4-BE49-F238E27FC236}">
                <a16:creationId xmlns:a16="http://schemas.microsoft.com/office/drawing/2014/main" id="{75CB1C00-2C16-0486-C27D-31887DD069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2665920"/>
              </p:ext>
            </p:extLst>
          </p:nvPr>
        </p:nvGraphicFramePr>
        <p:xfrm>
          <a:off x="5416871" y="1514933"/>
          <a:ext cx="3409356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A02A27D-5A11-E727-9003-68497845F5AF}"/>
              </a:ext>
            </a:extLst>
          </p:cNvPr>
          <p:cNvSpPr/>
          <p:nvPr/>
        </p:nvSpPr>
        <p:spPr>
          <a:xfrm flipH="1">
            <a:off x="5291526" y="3893212"/>
            <a:ext cx="6743271" cy="248048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E98C36"/>
                </a:solidFill>
              </a:rPr>
              <a:t>Medium</a:t>
            </a:r>
          </a:p>
        </p:txBody>
      </p:sp>
      <p:graphicFrame>
        <p:nvGraphicFramePr>
          <p:cNvPr id="22" name="PORTFOLIO_SECURITY_RESOLUTION_MEDIUM">
            <a:extLst>
              <a:ext uri="{FF2B5EF4-FFF2-40B4-BE49-F238E27FC236}">
                <a16:creationId xmlns:a16="http://schemas.microsoft.com/office/drawing/2014/main" id="{70983DB0-0BC7-2620-9F3E-685D6CFA68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010762"/>
              </p:ext>
            </p:extLst>
          </p:nvPr>
        </p:nvGraphicFramePr>
        <p:xfrm>
          <a:off x="8730926" y="4116161"/>
          <a:ext cx="3178530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PORTFOLIO_SECURITY_FINDINGS_MEDIUM">
            <a:extLst>
              <a:ext uri="{FF2B5EF4-FFF2-40B4-BE49-F238E27FC236}">
                <a16:creationId xmlns:a16="http://schemas.microsoft.com/office/drawing/2014/main" id="{72CCB03F-448F-67B3-48DD-4998FE51B7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7204567"/>
              </p:ext>
            </p:extLst>
          </p:nvPr>
        </p:nvGraphicFramePr>
        <p:xfrm>
          <a:off x="5416871" y="4116161"/>
          <a:ext cx="3409356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6247588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1FF513-F7F0-C719-C954-DBA335D2C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855396" cy="228145"/>
          </a:xfrm>
        </p:spPr>
        <p:txBody>
          <a:bodyPr/>
          <a:lstStyle/>
          <a:p>
            <a:r>
              <a:rPr lang="en-GB" dirty="0"/>
              <a:t>Portfolio trends – Security – Findings trend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43BB2-F642-BE45-7836-AFCD6CBFD8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36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47D14B-355C-A109-46FB-79FB23C87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Security findings of the portfolio of the last 12 months (ending at PORTFOLIO_PERIOD_END_DATE)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D4E15-C7EC-A545-5EBC-69B4EAE34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783ADB-6F9E-D057-991B-C0B52FAE9247}"/>
              </a:ext>
            </a:extLst>
          </p:cNvPr>
          <p:cNvSpPr/>
          <p:nvPr/>
        </p:nvSpPr>
        <p:spPr>
          <a:xfrm>
            <a:off x="525101" y="1411200"/>
            <a:ext cx="11141800" cy="4852800"/>
          </a:xfrm>
          <a:prstGeom prst="roundRect">
            <a:avLst>
              <a:gd name="adj" fmla="val 706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73152" rIns="0" bIns="73152" rtlCol="0" anchor="t"/>
          <a:lstStyle/>
          <a:p>
            <a:pPr algn="ctr"/>
            <a:r>
              <a:rPr lang="en-GB" sz="1200" b="1" noProof="0" dirty="0">
                <a:solidFill>
                  <a:schemeClr val="tx1"/>
                </a:solidFill>
              </a:rPr>
              <a:t>Security findings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215FE-C7C0-BC81-3B0D-CEF368F87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373" y="5911956"/>
            <a:ext cx="371130" cy="206558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136E7B9-811C-003C-7BFC-A5493486F197}"/>
              </a:ext>
            </a:extLst>
          </p:cNvPr>
          <p:cNvSpPr/>
          <p:nvPr/>
        </p:nvSpPr>
        <p:spPr>
          <a:xfrm flipH="1">
            <a:off x="955163" y="1562933"/>
            <a:ext cx="5073966" cy="2305534"/>
          </a:xfrm>
          <a:prstGeom prst="roundRect">
            <a:avLst>
              <a:gd name="adj" fmla="val 398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910714"/>
                </a:solidFill>
              </a:rPr>
              <a:t>Critical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0198D90-BE8E-901C-9DF1-3C45821DE1B7}"/>
              </a:ext>
            </a:extLst>
          </p:cNvPr>
          <p:cNvSpPr/>
          <p:nvPr/>
        </p:nvSpPr>
        <p:spPr>
          <a:xfrm flipH="1">
            <a:off x="6165410" y="1562933"/>
            <a:ext cx="5070948" cy="230553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DB4A3D"/>
                </a:solidFill>
              </a:rPr>
              <a:t>High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6393784-89ED-CB65-097F-CF64C9DE33A9}"/>
              </a:ext>
            </a:extLst>
          </p:cNvPr>
          <p:cNvSpPr/>
          <p:nvPr/>
        </p:nvSpPr>
        <p:spPr>
          <a:xfrm flipH="1">
            <a:off x="3560526" y="3939319"/>
            <a:ext cx="5070948" cy="2305534"/>
          </a:xfrm>
          <a:prstGeom prst="roundRect">
            <a:avLst>
              <a:gd name="adj" fmla="val 383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F09819"/>
                </a:solidFill>
              </a:rPr>
              <a:t>Medium</a:t>
            </a:r>
          </a:p>
        </p:txBody>
      </p:sp>
      <p:graphicFrame>
        <p:nvGraphicFramePr>
          <p:cNvPr id="17" name="PORTFOLIO_SECURITY_FINDINGS_CRITICAL">
            <a:extLst>
              <a:ext uri="{FF2B5EF4-FFF2-40B4-BE49-F238E27FC236}">
                <a16:creationId xmlns:a16="http://schemas.microsoft.com/office/drawing/2014/main" id="{3605FEE4-47C1-3A75-7A83-281F7BE41F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3918974"/>
              </p:ext>
            </p:extLst>
          </p:nvPr>
        </p:nvGraphicFramePr>
        <p:xfrm>
          <a:off x="955163" y="1714666"/>
          <a:ext cx="5070948" cy="2195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PORTFOLIO_SECURITY_FINDINGS_HIGH">
            <a:extLst>
              <a:ext uri="{FF2B5EF4-FFF2-40B4-BE49-F238E27FC236}">
                <a16:creationId xmlns:a16="http://schemas.microsoft.com/office/drawing/2014/main" id="{E6284084-0D17-0C79-BA25-E3E29D606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3042344"/>
              </p:ext>
            </p:extLst>
          </p:nvPr>
        </p:nvGraphicFramePr>
        <p:xfrm>
          <a:off x="6284745" y="1714666"/>
          <a:ext cx="4813628" cy="2218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PORTFOLIO_SECURITY_FINDINGS_MEDIUM">
            <a:extLst>
              <a:ext uri="{FF2B5EF4-FFF2-40B4-BE49-F238E27FC236}">
                <a16:creationId xmlns:a16="http://schemas.microsoft.com/office/drawing/2014/main" id="{1D0C3BE9-A664-5700-38B0-74CDE05BE0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4025760"/>
              </p:ext>
            </p:extLst>
          </p:nvPr>
        </p:nvGraphicFramePr>
        <p:xfrm>
          <a:off x="3679861" y="4116161"/>
          <a:ext cx="4813628" cy="2218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171689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AC38F-AE8D-FF4B-AE4F-040316CA1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4E57D2-7FE4-C0AA-BDE9-A362D613ED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855396" cy="228145"/>
          </a:xfrm>
        </p:spPr>
        <p:txBody>
          <a:bodyPr/>
          <a:lstStyle/>
          <a:p>
            <a:r>
              <a:rPr lang="en-GB" dirty="0"/>
              <a:t>Portfolio trends – Security – Findings trend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FF027-54A5-051F-5710-B5994A18213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37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1A16AE-C003-C50A-E6D6-3D6AA501D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Security findings of the portfolio of the last 12 months (ending at PORTFOLIO_PERIOD_END_DATE)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82B89-53C7-6B9A-712B-0DEEC0C14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2A71AF-4489-77E3-367D-617DFCB60DE0}"/>
              </a:ext>
            </a:extLst>
          </p:cNvPr>
          <p:cNvSpPr/>
          <p:nvPr/>
        </p:nvSpPr>
        <p:spPr>
          <a:xfrm>
            <a:off x="525101" y="1411200"/>
            <a:ext cx="11141800" cy="4852800"/>
          </a:xfrm>
          <a:prstGeom prst="roundRect">
            <a:avLst>
              <a:gd name="adj" fmla="val 706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73152" rIns="0" bIns="73152" rtlCol="0" anchor="t"/>
          <a:lstStyle/>
          <a:p>
            <a:pPr algn="ctr"/>
            <a:r>
              <a:rPr lang="en-GB" sz="1200" b="1" noProof="0" dirty="0">
                <a:solidFill>
                  <a:schemeClr val="tx1"/>
                </a:solidFill>
              </a:rPr>
              <a:t>Security findings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1AD5F6-18F9-8A40-2477-E9242D99AA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373" y="5911956"/>
            <a:ext cx="371130" cy="206558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490A03-971E-D057-E453-8848427D9F47}"/>
              </a:ext>
            </a:extLst>
          </p:cNvPr>
          <p:cNvSpPr/>
          <p:nvPr/>
        </p:nvSpPr>
        <p:spPr>
          <a:xfrm flipH="1">
            <a:off x="955163" y="1562933"/>
            <a:ext cx="5073966" cy="2305534"/>
          </a:xfrm>
          <a:prstGeom prst="roundRect">
            <a:avLst>
              <a:gd name="adj" fmla="val 398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910714"/>
                </a:solidFill>
              </a:rPr>
              <a:t>Critical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9911086-3056-B85A-B493-E969F1E03B2E}"/>
              </a:ext>
            </a:extLst>
          </p:cNvPr>
          <p:cNvSpPr/>
          <p:nvPr/>
        </p:nvSpPr>
        <p:spPr>
          <a:xfrm flipH="1">
            <a:off x="6165410" y="1562933"/>
            <a:ext cx="5070948" cy="230553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DB4A3D"/>
                </a:solidFill>
              </a:rPr>
              <a:t>High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C2F09A1-6725-C876-B697-24D0E14922AC}"/>
              </a:ext>
            </a:extLst>
          </p:cNvPr>
          <p:cNvSpPr/>
          <p:nvPr/>
        </p:nvSpPr>
        <p:spPr>
          <a:xfrm flipH="1">
            <a:off x="3560526" y="3939319"/>
            <a:ext cx="5070948" cy="2305534"/>
          </a:xfrm>
          <a:prstGeom prst="roundRect">
            <a:avLst>
              <a:gd name="adj" fmla="val 383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F09819"/>
                </a:solidFill>
              </a:rPr>
              <a:t>Medium</a:t>
            </a:r>
          </a:p>
        </p:txBody>
      </p:sp>
      <p:graphicFrame>
        <p:nvGraphicFramePr>
          <p:cNvPr id="10" name="PORTFOLIO_SECURITY_RESOLUTION_CRITICAL">
            <a:extLst>
              <a:ext uri="{FF2B5EF4-FFF2-40B4-BE49-F238E27FC236}">
                <a16:creationId xmlns:a16="http://schemas.microsoft.com/office/drawing/2014/main" id="{043ADC1B-1288-61F5-6E17-604566843D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1850097"/>
              </p:ext>
            </p:extLst>
          </p:nvPr>
        </p:nvGraphicFramePr>
        <p:xfrm>
          <a:off x="952145" y="1714665"/>
          <a:ext cx="4832277" cy="2153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PORTFOLIO_SECURITY_RESOLUTION_HIGH">
            <a:extLst>
              <a:ext uri="{FF2B5EF4-FFF2-40B4-BE49-F238E27FC236}">
                <a16:creationId xmlns:a16="http://schemas.microsoft.com/office/drawing/2014/main" id="{FD9AE359-1D59-B204-F3B2-ED88BE1F3B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9913887"/>
              </p:ext>
            </p:extLst>
          </p:nvPr>
        </p:nvGraphicFramePr>
        <p:xfrm>
          <a:off x="6340739" y="1714665"/>
          <a:ext cx="4832277" cy="2153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PORTFOLIO_SECURITY_RESOLUTION_MEDIUM">
            <a:extLst>
              <a:ext uri="{FF2B5EF4-FFF2-40B4-BE49-F238E27FC236}">
                <a16:creationId xmlns:a16="http://schemas.microsoft.com/office/drawing/2014/main" id="{6568A628-8BDB-F462-AB74-A5B810893E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3908121"/>
              </p:ext>
            </p:extLst>
          </p:nvPr>
        </p:nvGraphicFramePr>
        <p:xfrm>
          <a:off x="3678661" y="4091051"/>
          <a:ext cx="4832277" cy="2153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47643688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18383</TotalTime>
  <Words>2841</Words>
  <Application>Microsoft Macintosh PowerPoint</Application>
  <PresentationFormat>Widescreen</PresentationFormat>
  <Paragraphs>383</Paragraphs>
  <Slides>37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51" baseType="lpstr">
      <vt:lpstr>☞NOIR PRO MEDIUM</vt:lpstr>
      <vt:lpstr>Arial</vt:lpstr>
      <vt:lpstr>Azeret Mono</vt:lpstr>
      <vt:lpstr>Azeret Mono Medium</vt:lpstr>
      <vt:lpstr>Calibri</vt:lpstr>
      <vt:lpstr>Calibri Bold</vt:lpstr>
      <vt:lpstr>Helvetica Neue Bold</vt:lpstr>
      <vt:lpstr>Noir Pro</vt:lpstr>
      <vt:lpstr>Noir Pro Medium</vt:lpstr>
      <vt:lpstr>Noir Pro Semi Bold</vt:lpstr>
      <vt:lpstr>Sigsterren</vt:lpstr>
      <vt:lpstr>TheSansMono M5</vt:lpstr>
      <vt:lpstr>Light theme (default)</vt:lpstr>
      <vt:lpstr>Dark theme</vt:lpstr>
      <vt:lpstr>PowerPoint Presentation</vt:lpstr>
      <vt:lpstr>Outline of topics</vt:lpstr>
      <vt:lpstr>Portfolio progress towards objectives, between OBJECTIVES_PERIOD_START and OBJECTIVES_PERIOD_END</vt:lpstr>
      <vt:lpstr>Portfolio progress towards objectives over time</vt:lpstr>
      <vt:lpstr>Portfolio progress towards objectives per capability, between OBJECTIVES_PERIOD_START and OBJECTIVES_PERIOD_END</vt:lpstr>
      <vt:lpstr>Portfolio progress towards objectives over time: Maintainability</vt:lpstr>
      <vt:lpstr>Portfolio progress towards objectives over time: Architecture</vt:lpstr>
      <vt:lpstr>Portfolio progress towards objectives over time: Open Source Health</vt:lpstr>
      <vt:lpstr>Portfolio progress towards objectives over time: Security</vt:lpstr>
      <vt:lpstr>Systems that met their objectives, between OBJECTIVES_PERIOD_START and OBJECTIVES_PERIOD_END</vt:lpstr>
      <vt:lpstr>Systems that met their objectives per team, between OBJECTIVES_PERIOD_START and OBJECTIVES_PERIOD_END</vt:lpstr>
      <vt:lpstr>Systems that met their objectives per capability, between OBJECTIVES_PERIOD_START and OBJECTIVES_PERIOD_END</vt:lpstr>
      <vt:lpstr>Systems that met their objectives over time</vt:lpstr>
      <vt:lpstr>Systems that met their objectives over time: Security</vt:lpstr>
      <vt:lpstr>Systems that met their objectives over time: Open Source Health</vt:lpstr>
      <vt:lpstr>Systems that met their objectives over time: Maintainability</vt:lpstr>
      <vt:lpstr>Systems that met their objectives over time: Architecture</vt:lpstr>
      <vt:lpstr>Index</vt:lpstr>
      <vt:lpstr>PORTFOLIO_PERIOD_MAINT_SHORT_SUMMARY</vt:lpstr>
      <vt:lpstr>PORTFOLIO_PERIOD_MAINT_SHORT_SUMMARY</vt:lpstr>
      <vt:lpstr>PORTFOLIO_PERIOD_MAINT_CHANGE_SHORT_SUMMARY</vt:lpstr>
      <vt:lpstr>Maintainability ratings of newly written code between PORTFOLIO_PERIOD_START_DATE and PORTFOLIO_PERIOD_END_DATE</vt:lpstr>
      <vt:lpstr>Maintainability ratings of changed code between PORTFOLIO_PERIOD_START_DATE and PORTFOLIO_PERIOD_END_DATE</vt:lpstr>
      <vt:lpstr>Change in volume (effort) of the portfolio between PORTFOLIO_PERIOD_START_DATE and PORTFOLIO_PERIOD_END_DATE</vt:lpstr>
      <vt:lpstr>Test-to-production code ratios of the portfolio between PORTFOLIO_PERIOD_START_DATE and PORTFOLIO_PERIOD_END_DATE</vt:lpstr>
      <vt:lpstr>Test Code Ratio Grouped by Main Technology</vt:lpstr>
      <vt:lpstr>Change in test-to-production code ratios of the portfolio between PORTFOLIO_PERIOD_START_DATE and PORTFOLIO_PERIOD_END_DATE</vt:lpstr>
      <vt:lpstr>Architecture ratings of the portfolio between PORTFOLIO_PERIOD_START_DATE and PORTFOLIO_PERIOD_END_DATE</vt:lpstr>
      <vt:lpstr>PORTFOLIO_PERIOD_ARCH_CHANGE_SHORT_SUMMARY</vt:lpstr>
      <vt:lpstr>Open-source health ratings of the portfolio between PORTFOLIO_PERIOD_START_DATE and PORTFOLIO_PERIOD_END_DATE</vt:lpstr>
      <vt:lpstr>Overall Open Source Health Library Risks Overview</vt:lpstr>
      <vt:lpstr>Security ratings of the portfolio between PORTFOLIO_PERIOD_START_DATE and PORTFOLIO_PERIOD_END_DATE</vt:lpstr>
      <vt:lpstr>PORTFOLIO_PERIOD_SEC_CHANGE_SHORT_SUMMARY</vt:lpstr>
      <vt:lpstr>Critical findings trends of the last 12 months (ending at PORTFOLIO_PERIOD_END_DATE)</vt:lpstr>
      <vt:lpstr>Security resolution times of the portfolio of the last 12 months (ending at PORTFOLIO_PERIOD_END_DATE)</vt:lpstr>
      <vt:lpstr>Security findings of the portfolio of the last 12 months (ending at PORTFOLIO_PERIOD_END_DATE)</vt:lpstr>
      <vt:lpstr>Security findings of the portfolio of the last 12 months (ending at PORTFOLIO_PERIOD_END_DATE)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227</cp:revision>
  <cp:lastPrinted>2020-04-20T09:37:43Z</cp:lastPrinted>
  <dcterms:created xsi:type="dcterms:W3CDTF">2025-10-22T11:22:13Z</dcterms:created>
  <dcterms:modified xsi:type="dcterms:W3CDTF">2026-10-22T07:59:07Z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