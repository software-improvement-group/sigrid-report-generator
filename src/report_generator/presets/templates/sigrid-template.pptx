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561" r:id="rId5"/>
    <p:sldId id="10720" r:id="rId6"/>
    <p:sldId id="59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00"/>
    <p:restoredTop sz="96327"/>
  </p:normalViewPr>
  <p:slideViewPr>
    <p:cSldViewPr snapToGrid="0" snapToObjects="1" showGuides="1">
      <p:cViewPr varScale="1">
        <p:scale>
          <a:sx n="124" d="100"/>
          <a:sy n="124" d="100"/>
        </p:scale>
        <p:origin x="384" y="8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wiki.sig.eu/confluence/x/JoDbC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</a:t>
            </a:r>
            <a:r>
              <a:rPr lang="en-US" dirty="0" err="1"/>
              <a:t>SYSTEM_NAME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REPORT_DATE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58A0C-25D2-223C-D05D-EA4E033C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F870F09-2CCA-7492-F6F0-DA29489CA62A}"/>
              </a:ext>
            </a:extLst>
          </p:cNvPr>
          <p:cNvSpPr/>
          <p:nvPr/>
        </p:nvSpPr>
        <p:spPr>
          <a:xfrm flipH="1">
            <a:off x="0" y="1368000"/>
            <a:ext cx="12192000" cy="165884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7EB6E2-CB3F-E9C3-9716-0B221C084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9A95A3-71C2-DBB0-C2E5-5160FA26ED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Findings – </a:t>
            </a:r>
            <a:r>
              <a:rPr lang="en-US" dirty="0">
                <a:solidFill>
                  <a:schemeClr val="accent3"/>
                </a:solidFill>
              </a:rPr>
              <a:t>Maintainability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1FA26E-CF70-0996-0311-9291FE8E3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@@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9F037-37E2-712D-3A10-7272DD3C9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C8F01BC-5064-414B-E38F-60F3F55FBF2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11232000" cy="1658842"/>
          </a:xfrm>
        </p:spPr>
        <p:txBody>
          <a:bodyPr anchor="ctr"/>
          <a:lstStyle/>
          <a:p>
            <a:pPr marL="0" indent="0">
              <a:buNone/>
            </a:pPr>
            <a:r>
              <a:rPr lang="en-US" sz="1400" noProof="0" dirty="0"/>
              <a:t>@@</a:t>
            </a:r>
            <a:endParaRPr lang="en-US" sz="1200" noProof="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0A5D27-5947-7808-5864-56D55711EAE1}"/>
              </a:ext>
            </a:extLst>
          </p:cNvPr>
          <p:cNvSpPr/>
          <p:nvPr/>
        </p:nvSpPr>
        <p:spPr>
          <a:xfrm>
            <a:off x="-270313" y="3154680"/>
            <a:ext cx="9725209" cy="3163320"/>
          </a:xfrm>
          <a:prstGeom prst="roundRect">
            <a:avLst>
              <a:gd name="adj" fmla="val 3161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D1282F2-8927-7D7B-58EB-D9DCA7D2F5D9}"/>
              </a:ext>
            </a:extLst>
          </p:cNvPr>
          <p:cNvSpPr/>
          <p:nvPr/>
        </p:nvSpPr>
        <p:spPr>
          <a:xfrm flipH="1">
            <a:off x="9619488" y="3154680"/>
            <a:ext cx="2724912" cy="3163320"/>
          </a:xfrm>
          <a:prstGeom prst="roundRect">
            <a:avLst>
              <a:gd name="adj" fmla="val 4851"/>
            </a:avLst>
          </a:prstGeom>
          <a:gradFill>
            <a:gsLst>
              <a:gs pos="0">
                <a:schemeClr val="bg1"/>
              </a:gs>
              <a:gs pos="100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9919C-8E70-96D6-D7A8-D23D4D75409D}"/>
              </a:ext>
            </a:extLst>
          </p:cNvPr>
          <p:cNvSpPr txBox="1"/>
          <p:nvPr/>
        </p:nvSpPr>
        <p:spPr>
          <a:xfrm>
            <a:off x="-1221448" y="4419492"/>
            <a:ext cx="628847" cy="633443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>
                <a:solidFill>
                  <a:schemeClr val="tx2"/>
                </a:solidFill>
              </a:rPr>
              <a:t>3.12”</a:t>
            </a:r>
          </a:p>
          <a:p>
            <a:pPr algn="l">
              <a:lnSpc>
                <a:spcPct val="113000"/>
              </a:lnSpc>
            </a:pPr>
            <a:r>
              <a:rPr lang="en-US" sz="1600" dirty="0">
                <a:solidFill>
                  <a:schemeClr val="tx2"/>
                </a:solidFill>
              </a:rPr>
              <a:t>9.57"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313B4DD-71B5-8376-A657-BAADCED5CD23}"/>
              </a:ext>
            </a:extLst>
          </p:cNvPr>
          <p:cNvSpPr/>
          <p:nvPr/>
        </p:nvSpPr>
        <p:spPr>
          <a:xfrm>
            <a:off x="9777184" y="4883651"/>
            <a:ext cx="2573808" cy="326727"/>
          </a:xfrm>
          <a:prstGeom prst="roundRect">
            <a:avLst>
              <a:gd name="adj" fmla="val 31904"/>
            </a:avLst>
          </a:prstGeom>
          <a:gradFill>
            <a:gsLst>
              <a:gs pos="0">
                <a:srgbClr val="57C968"/>
              </a:gs>
              <a:gs pos="25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72000" rIns="108000" bIns="72000" rtlCol="0" anchor="ctr"/>
          <a:lstStyle/>
          <a:p>
            <a:r>
              <a:rPr lang="nl-NL" sz="1000" b="1" noProof="0" dirty="0">
                <a:solidFill>
                  <a:schemeClr val="accent1"/>
                </a:solidFill>
              </a:rPr>
              <a:t>@@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6394602E-2414-90BA-79BE-07246E7473BA}"/>
              </a:ext>
            </a:extLst>
          </p:cNvPr>
          <p:cNvSpPr/>
          <p:nvPr/>
        </p:nvSpPr>
        <p:spPr>
          <a:xfrm>
            <a:off x="9777184" y="4464888"/>
            <a:ext cx="2573808" cy="326727"/>
          </a:xfrm>
          <a:prstGeom prst="roundRect">
            <a:avLst>
              <a:gd name="adj" fmla="val 31904"/>
            </a:avLst>
          </a:prstGeom>
          <a:gradFill>
            <a:gsLst>
              <a:gs pos="0">
                <a:srgbClr val="57C968"/>
              </a:gs>
              <a:gs pos="25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72000" rIns="108000" bIns="72000" rtlCol="0" anchor="ctr"/>
          <a:lstStyle/>
          <a:p>
            <a:r>
              <a:rPr lang="nl-NL" sz="1000" b="1" noProof="0" dirty="0">
                <a:solidFill>
                  <a:schemeClr val="accent1"/>
                </a:solidFill>
              </a:rPr>
              <a:t>@@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0357929-893A-17FE-E509-0BAD30664C9F}"/>
              </a:ext>
            </a:extLst>
          </p:cNvPr>
          <p:cNvSpPr/>
          <p:nvPr/>
        </p:nvSpPr>
        <p:spPr>
          <a:xfrm>
            <a:off x="9777184" y="4046125"/>
            <a:ext cx="2573808" cy="326727"/>
          </a:xfrm>
          <a:prstGeom prst="roundRect">
            <a:avLst>
              <a:gd name="adj" fmla="val 31904"/>
            </a:avLst>
          </a:prstGeom>
          <a:gradFill>
            <a:gsLst>
              <a:gs pos="0">
                <a:srgbClr val="F9C640"/>
              </a:gs>
              <a:gs pos="25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72000" rIns="108000" bIns="72000" rtlCol="0" anchor="ctr"/>
          <a:lstStyle/>
          <a:p>
            <a:r>
              <a:rPr lang="nl-NL" sz="1000" b="1" noProof="0" dirty="0">
                <a:solidFill>
                  <a:schemeClr val="accent1"/>
                </a:solidFill>
              </a:rPr>
              <a:t>@@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6DFA7C99-C307-FE86-10F0-23749BF1364C}"/>
              </a:ext>
            </a:extLst>
          </p:cNvPr>
          <p:cNvSpPr/>
          <p:nvPr/>
        </p:nvSpPr>
        <p:spPr>
          <a:xfrm>
            <a:off x="9777184" y="3627362"/>
            <a:ext cx="2573808" cy="326727"/>
          </a:xfrm>
          <a:prstGeom prst="roundRect">
            <a:avLst>
              <a:gd name="adj" fmla="val 31904"/>
            </a:avLst>
          </a:prstGeom>
          <a:gradFill>
            <a:gsLst>
              <a:gs pos="0">
                <a:srgbClr val="F9C640"/>
              </a:gs>
              <a:gs pos="25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72000" rIns="108000" bIns="72000" rtlCol="0" anchor="ctr"/>
          <a:lstStyle/>
          <a:p>
            <a:r>
              <a:rPr lang="nl-NL" sz="1000" b="1" noProof="0" dirty="0">
                <a:solidFill>
                  <a:schemeClr val="accent1"/>
                </a:solidFill>
              </a:rPr>
              <a:t>@@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4AC0ACC-8FDD-AC88-A30C-3762A17E8211}"/>
              </a:ext>
            </a:extLst>
          </p:cNvPr>
          <p:cNvSpPr/>
          <p:nvPr/>
        </p:nvSpPr>
        <p:spPr>
          <a:xfrm>
            <a:off x="9777184" y="5721177"/>
            <a:ext cx="2573808" cy="326727"/>
          </a:xfrm>
          <a:prstGeom prst="roundRect">
            <a:avLst>
              <a:gd name="adj" fmla="val 31904"/>
            </a:avLst>
          </a:prstGeom>
          <a:gradFill>
            <a:gsLst>
              <a:gs pos="0">
                <a:srgbClr val="57C968"/>
              </a:gs>
              <a:gs pos="25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72000" rIns="108000" bIns="72000" rtlCol="0" anchor="ctr"/>
          <a:lstStyle/>
          <a:p>
            <a:r>
              <a:rPr lang="nl-NL" sz="1000" b="1" noProof="0" dirty="0">
                <a:solidFill>
                  <a:schemeClr val="accent1"/>
                </a:solidFill>
              </a:rPr>
              <a:t>@@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5E634B5-66DA-6362-60EE-358001264E3A}"/>
              </a:ext>
            </a:extLst>
          </p:cNvPr>
          <p:cNvSpPr/>
          <p:nvPr/>
        </p:nvSpPr>
        <p:spPr>
          <a:xfrm>
            <a:off x="9777184" y="5302414"/>
            <a:ext cx="2573808" cy="326727"/>
          </a:xfrm>
          <a:prstGeom prst="roundRect">
            <a:avLst>
              <a:gd name="adj" fmla="val 31904"/>
            </a:avLst>
          </a:prstGeom>
          <a:gradFill>
            <a:gsLst>
              <a:gs pos="0">
                <a:srgbClr val="57C968"/>
              </a:gs>
              <a:gs pos="25000">
                <a:schemeClr val="bg2"/>
              </a:gs>
            </a:gsLst>
            <a:lin ang="2700000" scaled="0"/>
          </a:gra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72000" rIns="108000" bIns="72000" rtlCol="0" anchor="ctr"/>
          <a:lstStyle/>
          <a:p>
            <a:r>
              <a:rPr lang="nl-NL" sz="1000" b="1" noProof="0" dirty="0">
                <a:solidFill>
                  <a:schemeClr val="accent1"/>
                </a:solidFill>
              </a:rPr>
              <a:t>@@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4563A1-D9D0-F7FF-D66C-A65E3190E8B0}"/>
              </a:ext>
            </a:extLst>
          </p:cNvPr>
          <p:cNvSpPr txBox="1"/>
          <p:nvPr/>
        </p:nvSpPr>
        <p:spPr>
          <a:xfrm>
            <a:off x="11186130" y="4921755"/>
            <a:ext cx="991126" cy="25051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000" b="1" dirty="0" err="1">
                <a:solidFill>
                  <a:schemeClr val="tx2"/>
                </a:solidFill>
                <a:latin typeface="Sigsterren" pitchFamily="2" charset="0"/>
              </a:rPr>
              <a:t>HHHHH</a:t>
            </a:r>
            <a:r>
              <a:rPr lang="en-US" sz="1000" b="1" dirty="0">
                <a:solidFill>
                  <a:schemeClr val="tx2"/>
                </a:solidFill>
                <a:latin typeface="Sigsterren" pitchFamily="2" charset="0"/>
              </a:rPr>
              <a:t> 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0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X.X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54EF2D-26C5-37C8-D226-6F50C0553A32}"/>
              </a:ext>
            </a:extLst>
          </p:cNvPr>
          <p:cNvSpPr txBox="1"/>
          <p:nvPr/>
        </p:nvSpPr>
        <p:spPr>
          <a:xfrm>
            <a:off x="11186130" y="4502992"/>
            <a:ext cx="991126" cy="25051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000" b="1" dirty="0" err="1">
                <a:solidFill>
                  <a:schemeClr val="tx2"/>
                </a:solidFill>
                <a:latin typeface="Sigsterren" pitchFamily="2" charset="0"/>
              </a:rPr>
              <a:t>HHHHH</a:t>
            </a:r>
            <a:r>
              <a:rPr lang="en-US" sz="1000" b="1" dirty="0">
                <a:solidFill>
                  <a:schemeClr val="tx2"/>
                </a:solidFill>
                <a:latin typeface="Sigsterren" pitchFamily="2" charset="0"/>
              </a:rPr>
              <a:t> 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0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X.X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A4263E-9B4F-C4CD-0F75-11148B61CFDD}"/>
              </a:ext>
            </a:extLst>
          </p:cNvPr>
          <p:cNvSpPr txBox="1"/>
          <p:nvPr/>
        </p:nvSpPr>
        <p:spPr>
          <a:xfrm>
            <a:off x="11186130" y="5759281"/>
            <a:ext cx="991126" cy="25051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000" b="1" dirty="0" err="1">
                <a:solidFill>
                  <a:schemeClr val="tx2"/>
                </a:solidFill>
                <a:latin typeface="Sigsterren" pitchFamily="2" charset="0"/>
              </a:rPr>
              <a:t>HHHHH</a:t>
            </a:r>
            <a:r>
              <a:rPr lang="en-US" sz="1000" b="1" dirty="0">
                <a:solidFill>
                  <a:schemeClr val="tx2"/>
                </a:solidFill>
                <a:latin typeface="Sigsterren" pitchFamily="2" charset="0"/>
              </a:rPr>
              <a:t> 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0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X.X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3A04BB-E399-A333-B5F4-21D36816F03E}"/>
              </a:ext>
            </a:extLst>
          </p:cNvPr>
          <p:cNvSpPr txBox="1"/>
          <p:nvPr/>
        </p:nvSpPr>
        <p:spPr>
          <a:xfrm>
            <a:off x="11186130" y="5340518"/>
            <a:ext cx="991126" cy="25051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000" b="1" dirty="0" err="1">
                <a:solidFill>
                  <a:schemeClr val="tx2"/>
                </a:solidFill>
                <a:latin typeface="Sigsterren" pitchFamily="2" charset="0"/>
              </a:rPr>
              <a:t>HHHHH</a:t>
            </a:r>
            <a:r>
              <a:rPr lang="en-US" sz="1000" b="1" dirty="0">
                <a:solidFill>
                  <a:schemeClr val="tx2"/>
                </a:solidFill>
                <a:latin typeface="Sigsterren" pitchFamily="2" charset="0"/>
              </a:rPr>
              <a:t> 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0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X.X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CCC5C3-76F2-620F-ABB7-0B3705F05908}"/>
              </a:ext>
            </a:extLst>
          </p:cNvPr>
          <p:cNvSpPr txBox="1"/>
          <p:nvPr/>
        </p:nvSpPr>
        <p:spPr>
          <a:xfrm>
            <a:off x="11186130" y="4084229"/>
            <a:ext cx="991126" cy="25051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000" b="1" dirty="0" err="1">
                <a:solidFill>
                  <a:schemeClr val="tx2"/>
                </a:solidFill>
                <a:latin typeface="Sigsterren" pitchFamily="2" charset="0"/>
              </a:rPr>
              <a:t>HHHHH</a:t>
            </a:r>
            <a:r>
              <a:rPr lang="en-US" sz="1000" b="1" dirty="0">
                <a:solidFill>
                  <a:schemeClr val="tx2"/>
                </a:solidFill>
                <a:latin typeface="Sigsterren" pitchFamily="2" charset="0"/>
              </a:rPr>
              <a:t> 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0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X.X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987BD6-218D-E1CE-E4B5-F479B329AF10}"/>
              </a:ext>
            </a:extLst>
          </p:cNvPr>
          <p:cNvSpPr txBox="1"/>
          <p:nvPr/>
        </p:nvSpPr>
        <p:spPr>
          <a:xfrm>
            <a:off x="11186130" y="3665466"/>
            <a:ext cx="991126" cy="25051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000" b="1" dirty="0" err="1">
                <a:solidFill>
                  <a:schemeClr val="tx2"/>
                </a:solidFill>
                <a:latin typeface="Sigsterren" pitchFamily="2" charset="0"/>
              </a:rPr>
              <a:t>HHHHH</a:t>
            </a:r>
            <a:r>
              <a:rPr lang="en-US" sz="1000" b="1" dirty="0">
                <a:solidFill>
                  <a:schemeClr val="tx2"/>
                </a:solidFill>
                <a:latin typeface="Sigsterren" pitchFamily="2" charset="0"/>
              </a:rPr>
              <a:t> 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000" b="1" dirty="0" err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X.X</a:t>
            </a:r>
            <a:r>
              <a:rPr lang="en-US" sz="10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60" name="Triangle 59">
            <a:extLst>
              <a:ext uri="{FF2B5EF4-FFF2-40B4-BE49-F238E27FC236}">
                <a16:creationId xmlns:a16="http://schemas.microsoft.com/office/drawing/2014/main" id="{787A0046-C020-910D-3C20-3E04F53D3FFD}"/>
              </a:ext>
            </a:extLst>
          </p:cNvPr>
          <p:cNvSpPr/>
          <p:nvPr/>
        </p:nvSpPr>
        <p:spPr>
          <a:xfrm rot="5400000">
            <a:off x="11223517" y="97630"/>
            <a:ext cx="113704" cy="91353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CE7FC54-93A7-3321-9FD8-6F232F49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839" y="52613"/>
            <a:ext cx="203103" cy="17263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C2E1C0C-2D4A-B2A0-3061-28C71A74B46A}"/>
              </a:ext>
            </a:extLst>
          </p:cNvPr>
          <p:cNvSpPr txBox="1"/>
          <p:nvPr/>
        </p:nvSpPr>
        <p:spPr>
          <a:xfrm>
            <a:off x="10385792" y="10898"/>
            <a:ext cx="869297" cy="264816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nl-NL" sz="1050" b="1" dirty="0" err="1">
                <a:solidFill>
                  <a:schemeClr val="bg1">
                    <a:lumMod val="75000"/>
                  </a:schemeClr>
                </a:solidFill>
              </a:rPr>
              <a:t>DDMMYYYY</a:t>
            </a:r>
            <a:endParaRPr lang="nl-NL" sz="1050" b="1" noProof="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09D1BE-8402-2319-4FEC-1FE2BCC5B479}"/>
              </a:ext>
            </a:extLst>
          </p:cNvPr>
          <p:cNvSpPr txBox="1"/>
          <p:nvPr/>
        </p:nvSpPr>
        <p:spPr>
          <a:xfrm>
            <a:off x="11305651" y="10898"/>
            <a:ext cx="869297" cy="264816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nl-NL" sz="1050" b="1" dirty="0" err="1">
                <a:solidFill>
                  <a:schemeClr val="tx2"/>
                </a:solidFill>
              </a:rPr>
              <a:t>DDMMYYYY</a:t>
            </a:r>
            <a:endParaRPr lang="nl-NL" sz="1050" b="1" noProof="0" dirty="0">
              <a:solidFill>
                <a:schemeClr val="tx2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ABEFF7-6C9C-0476-0A8B-F555E9D7374D}"/>
              </a:ext>
            </a:extLst>
          </p:cNvPr>
          <p:cNvGrpSpPr>
            <a:grpSpLocks noChangeAspect="1"/>
          </p:cNvGrpSpPr>
          <p:nvPr/>
        </p:nvGrpSpPr>
        <p:grpSpPr>
          <a:xfrm>
            <a:off x="-392105" y="2517185"/>
            <a:ext cx="98115" cy="92576"/>
            <a:chOff x="-331054" y="2564812"/>
            <a:chExt cx="141517" cy="133528"/>
          </a:xfrm>
          <a:solidFill>
            <a:srgbClr val="57C968"/>
          </a:solidFill>
        </p:grpSpPr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0D7BF2CC-A8E9-7A3D-12C0-11AD385BA1AF}"/>
                </a:ext>
              </a:extLst>
            </p:cNvPr>
            <p:cNvSpPr/>
            <p:nvPr/>
          </p:nvSpPr>
          <p:spPr>
            <a:xfrm>
              <a:off x="-331054" y="2564812"/>
              <a:ext cx="141517" cy="82436"/>
            </a:xfrm>
            <a:custGeom>
              <a:avLst/>
              <a:gdLst>
                <a:gd name="connsiteX0" fmla="*/ 70759 w 141517"/>
                <a:gd name="connsiteY0" fmla="*/ 0 h 82436"/>
                <a:gd name="connsiteX1" fmla="*/ 141517 w 141517"/>
                <a:gd name="connsiteY1" fmla="*/ 82436 h 82436"/>
                <a:gd name="connsiteX2" fmla="*/ 111805 w 141517"/>
                <a:gd name="connsiteY2" fmla="*/ 82436 h 82436"/>
                <a:gd name="connsiteX3" fmla="*/ 70759 w 141517"/>
                <a:gd name="connsiteY3" fmla="*/ 34616 h 82436"/>
                <a:gd name="connsiteX4" fmla="*/ 29713 w 141517"/>
                <a:gd name="connsiteY4" fmla="*/ 82436 h 82436"/>
                <a:gd name="connsiteX5" fmla="*/ 0 w 141517"/>
                <a:gd name="connsiteY5" fmla="*/ 82436 h 8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517" h="82436">
                  <a:moveTo>
                    <a:pt x="70759" y="0"/>
                  </a:moveTo>
                  <a:lnTo>
                    <a:pt x="141517" y="82436"/>
                  </a:lnTo>
                  <a:lnTo>
                    <a:pt x="111805" y="82436"/>
                  </a:lnTo>
                  <a:lnTo>
                    <a:pt x="70759" y="34616"/>
                  </a:lnTo>
                  <a:lnTo>
                    <a:pt x="29713" y="82436"/>
                  </a:lnTo>
                  <a:lnTo>
                    <a:pt x="0" y="8243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66" name="Triangle 65">
              <a:extLst>
                <a:ext uri="{FF2B5EF4-FFF2-40B4-BE49-F238E27FC236}">
                  <a16:creationId xmlns:a16="http://schemas.microsoft.com/office/drawing/2014/main" id="{2795F06B-20C6-F81E-21AB-CA5524E06514}"/>
                </a:ext>
              </a:extLst>
            </p:cNvPr>
            <p:cNvSpPr/>
            <p:nvPr/>
          </p:nvSpPr>
          <p:spPr>
            <a:xfrm>
              <a:off x="-331054" y="2615904"/>
              <a:ext cx="141517" cy="8243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6FEC88-A714-B04B-07BC-2EA523A00CC6}"/>
              </a:ext>
            </a:extLst>
          </p:cNvPr>
          <p:cNvGrpSpPr>
            <a:grpSpLocks noChangeAspect="1"/>
          </p:cNvGrpSpPr>
          <p:nvPr/>
        </p:nvGrpSpPr>
        <p:grpSpPr>
          <a:xfrm rot="10800000">
            <a:off x="-392106" y="2948284"/>
            <a:ext cx="98115" cy="92576"/>
            <a:chOff x="-331054" y="2564812"/>
            <a:chExt cx="141517" cy="133528"/>
          </a:xfrm>
          <a:solidFill>
            <a:srgbClr val="FFC000"/>
          </a:solidFill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5B11C16-E70D-14D0-3006-4180F924039C}"/>
                </a:ext>
              </a:extLst>
            </p:cNvPr>
            <p:cNvSpPr/>
            <p:nvPr/>
          </p:nvSpPr>
          <p:spPr>
            <a:xfrm>
              <a:off x="-331054" y="2564812"/>
              <a:ext cx="141517" cy="82436"/>
            </a:xfrm>
            <a:custGeom>
              <a:avLst/>
              <a:gdLst>
                <a:gd name="connsiteX0" fmla="*/ 70759 w 141517"/>
                <a:gd name="connsiteY0" fmla="*/ 0 h 82436"/>
                <a:gd name="connsiteX1" fmla="*/ 141517 w 141517"/>
                <a:gd name="connsiteY1" fmla="*/ 82436 h 82436"/>
                <a:gd name="connsiteX2" fmla="*/ 111805 w 141517"/>
                <a:gd name="connsiteY2" fmla="*/ 82436 h 82436"/>
                <a:gd name="connsiteX3" fmla="*/ 70759 w 141517"/>
                <a:gd name="connsiteY3" fmla="*/ 34616 h 82436"/>
                <a:gd name="connsiteX4" fmla="*/ 29713 w 141517"/>
                <a:gd name="connsiteY4" fmla="*/ 82436 h 82436"/>
                <a:gd name="connsiteX5" fmla="*/ 0 w 141517"/>
                <a:gd name="connsiteY5" fmla="*/ 82436 h 8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517" h="82436">
                  <a:moveTo>
                    <a:pt x="70759" y="0"/>
                  </a:moveTo>
                  <a:lnTo>
                    <a:pt x="141517" y="82436"/>
                  </a:lnTo>
                  <a:lnTo>
                    <a:pt x="111805" y="82436"/>
                  </a:lnTo>
                  <a:lnTo>
                    <a:pt x="70759" y="34616"/>
                  </a:lnTo>
                  <a:lnTo>
                    <a:pt x="29713" y="82436"/>
                  </a:lnTo>
                  <a:lnTo>
                    <a:pt x="0" y="82436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69" name="Triangle 68">
              <a:extLst>
                <a:ext uri="{FF2B5EF4-FFF2-40B4-BE49-F238E27FC236}">
                  <a16:creationId xmlns:a16="http://schemas.microsoft.com/office/drawing/2014/main" id="{DB5039FB-E2CE-B741-8B1A-D3B7DA2AD757}"/>
                </a:ext>
              </a:extLst>
            </p:cNvPr>
            <p:cNvSpPr/>
            <p:nvPr/>
          </p:nvSpPr>
          <p:spPr>
            <a:xfrm>
              <a:off x="-331054" y="2615904"/>
              <a:ext cx="141517" cy="8243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err="1">
                <a:solidFill>
                  <a:schemeClr val="bg1"/>
                </a:solidFill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A6F69388-A87C-DFDF-847B-566536CDE108}"/>
              </a:ext>
            </a:extLst>
          </p:cNvPr>
          <p:cNvSpPr txBox="1"/>
          <p:nvPr/>
        </p:nvSpPr>
        <p:spPr>
          <a:xfrm>
            <a:off x="9777184" y="3305030"/>
            <a:ext cx="579667" cy="32233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400" b="1" dirty="0">
                <a:solidFill>
                  <a:schemeClr val="tx2"/>
                </a:solidFill>
              </a:rPr>
              <a:t>Team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57C4FC-22DD-2F1B-2A6F-EF2CE0940F70}"/>
              </a:ext>
            </a:extLst>
          </p:cNvPr>
          <p:cNvSpPr txBox="1"/>
          <p:nvPr/>
        </p:nvSpPr>
        <p:spPr>
          <a:xfrm>
            <a:off x="5667804" y="-487693"/>
            <a:ext cx="3555738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>
                <a:solidFill>
                  <a:schemeClr val="tx2"/>
                </a:solidFill>
              </a:rPr>
              <a:t>INTERVAL_</a:t>
            </a:r>
            <a:r>
              <a:rPr lang="en-US" sz="1600">
                <a:solidFill>
                  <a:schemeClr val="tx2"/>
                </a:solidFill>
              </a:rPr>
              <a:t>PORTFOLIO_qw:</a:t>
            </a:r>
            <a:r>
              <a:rPr lang="en-US" sz="1600" dirty="0">
                <a:solidFill>
                  <a:schemeClr val="tx2"/>
                </a:solidFill>
              </a:rPr>
              <a:t>0.56:3.5:9.57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559A8A2-9B4C-7775-7663-4A2496B82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8256" y="6071736"/>
            <a:ext cx="371130" cy="2065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71DD32D-338F-CB44-FF60-0FB93353899F}"/>
              </a:ext>
            </a:extLst>
          </p:cNvPr>
          <p:cNvSpPr txBox="1"/>
          <p:nvPr/>
        </p:nvSpPr>
        <p:spPr>
          <a:xfrm>
            <a:off x="2443036" y="6054740"/>
            <a:ext cx="1276460" cy="22384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800" dirty="0">
                <a:solidFill>
                  <a:schemeClr val="accent3"/>
                </a:solidFill>
              </a:rPr>
              <a:t>Systems grouped by </a:t>
            </a:r>
            <a:r>
              <a:rPr lang="en-US" sz="800" b="1" dirty="0">
                <a:solidFill>
                  <a:schemeClr val="accent3"/>
                </a:solidFill>
              </a:rPr>
              <a:t>Team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F3D29E-12C7-15D4-7254-CC22150D74D3}"/>
              </a:ext>
            </a:extLst>
          </p:cNvPr>
          <p:cNvGrpSpPr/>
          <p:nvPr/>
        </p:nvGrpSpPr>
        <p:grpSpPr>
          <a:xfrm>
            <a:off x="586253" y="6117354"/>
            <a:ext cx="300732" cy="98617"/>
            <a:chOff x="586253" y="6116391"/>
            <a:chExt cx="300732" cy="9861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8D5D1C-3174-FE05-0945-D9300DCE93B8}"/>
                </a:ext>
              </a:extLst>
            </p:cNvPr>
            <p:cNvSpPr txBox="1"/>
            <p:nvPr/>
          </p:nvSpPr>
          <p:spPr>
            <a:xfrm>
              <a:off x="710655" y="6116391"/>
              <a:ext cx="176330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1 star</a:t>
              </a:r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C94E2A21-8125-EFC7-E8CE-8AC6C1406B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6253" y="6119980"/>
              <a:ext cx="89812" cy="91440"/>
            </a:xfrm>
            <a:prstGeom prst="roundRect">
              <a:avLst/>
            </a:prstGeom>
            <a:solidFill>
              <a:srgbClr val="C0403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ACC1F3-47E8-FE1E-E77D-0AAC561FB46A}"/>
              </a:ext>
            </a:extLst>
          </p:cNvPr>
          <p:cNvGrpSpPr/>
          <p:nvPr/>
        </p:nvGrpSpPr>
        <p:grpSpPr>
          <a:xfrm>
            <a:off x="933243" y="6117354"/>
            <a:ext cx="331190" cy="98617"/>
            <a:chOff x="961765" y="6117353"/>
            <a:chExt cx="331190" cy="98617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2B7B759-05B3-5B1B-24AE-7EE6A21BCAC4}"/>
                </a:ext>
              </a:extLst>
            </p:cNvPr>
            <p:cNvSpPr txBox="1"/>
            <p:nvPr/>
          </p:nvSpPr>
          <p:spPr>
            <a:xfrm>
              <a:off x="1086167" y="61173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2 stars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0A7476A8-D54F-CA9B-9F24-8F5D3AB0C6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61765" y="6120942"/>
              <a:ext cx="89812" cy="91440"/>
            </a:xfrm>
            <a:prstGeom prst="roundRect">
              <a:avLst/>
            </a:prstGeom>
            <a:solidFill>
              <a:srgbClr val="EF981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F47ECA6-E601-0438-68C2-FDAD8DD5A0F0}"/>
              </a:ext>
            </a:extLst>
          </p:cNvPr>
          <p:cNvGrpSpPr/>
          <p:nvPr/>
        </p:nvGrpSpPr>
        <p:grpSpPr>
          <a:xfrm>
            <a:off x="1310691" y="6117354"/>
            <a:ext cx="331190" cy="98617"/>
            <a:chOff x="1114165" y="6269753"/>
            <a:chExt cx="331190" cy="9861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8721E9-D51F-4AF6-300C-D80055A93CE1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3 stars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9E34FD59-9641-419E-48D2-93D8AC68BF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F9C6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0567080-4334-222C-564D-5E545E1F5ECB}"/>
              </a:ext>
            </a:extLst>
          </p:cNvPr>
          <p:cNvGrpSpPr/>
          <p:nvPr/>
        </p:nvGrpSpPr>
        <p:grpSpPr>
          <a:xfrm>
            <a:off x="1688139" y="6117354"/>
            <a:ext cx="331190" cy="98617"/>
            <a:chOff x="1114165" y="6269753"/>
            <a:chExt cx="331190" cy="9861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FE56E5B-B7F3-E971-1BF7-64EA493F228B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4 stars</a:t>
              </a:r>
            </a:p>
          </p:txBody>
        </p:sp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9E1044D0-6400-D8D5-4D06-04CF86087A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57C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78B1A1-21BE-7F4C-230B-CC52AB3E7750}"/>
              </a:ext>
            </a:extLst>
          </p:cNvPr>
          <p:cNvGrpSpPr/>
          <p:nvPr/>
        </p:nvGrpSpPr>
        <p:grpSpPr>
          <a:xfrm>
            <a:off x="2065587" y="6117354"/>
            <a:ext cx="331190" cy="98617"/>
            <a:chOff x="1114165" y="6269753"/>
            <a:chExt cx="331190" cy="9861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F865F97-7718-BA45-1B47-BD405F08C329}"/>
                </a:ext>
              </a:extLst>
            </p:cNvPr>
            <p:cNvSpPr txBox="1"/>
            <p:nvPr/>
          </p:nvSpPr>
          <p:spPr>
            <a:xfrm>
              <a:off x="1238567" y="6269753"/>
              <a:ext cx="206788" cy="98617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600" dirty="0">
                  <a:solidFill>
                    <a:schemeClr val="tx2"/>
                  </a:solidFill>
                </a:rPr>
                <a:t>5 stars</a:t>
              </a:r>
            </a:p>
          </p:txBody>
        </p:sp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DF314393-A2F8-FD67-08F3-9B23755FF0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165" y="6273342"/>
              <a:ext cx="89812" cy="91440"/>
            </a:xfrm>
            <a:prstGeom prst="roundRect">
              <a:avLst/>
            </a:prstGeom>
            <a:solidFill>
              <a:srgbClr val="2C96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357D3F9-CCD9-305A-FDE8-986EEDBC9D8D}"/>
              </a:ext>
            </a:extLst>
          </p:cNvPr>
          <p:cNvSpPr txBox="1"/>
          <p:nvPr/>
        </p:nvSpPr>
        <p:spPr>
          <a:xfrm>
            <a:off x="5789382" y="-826903"/>
            <a:ext cx="3632682" cy="355225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dirty="0" err="1">
                <a:solidFill>
                  <a:schemeClr val="tx2"/>
                </a:solidFill>
              </a:rPr>
              <a:t>INTERVAL_PORTFOLIO_MAINTAINABILITY</a:t>
            </a:r>
            <a:endParaRPr 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510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22737</TotalTime>
  <Words>95</Words>
  <Application>Microsoft Macintosh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Calibri Bold</vt:lpstr>
      <vt:lpstr>Calibri Light</vt:lpstr>
      <vt:lpstr>Calibri Regular</vt:lpstr>
      <vt:lpstr>Sigsterren</vt:lpstr>
      <vt:lpstr>TheSansMono M5</vt:lpstr>
      <vt:lpstr>Wingdings</vt:lpstr>
      <vt:lpstr>Office Theme</vt:lpstr>
      <vt:lpstr>PowerPoint Presentation</vt:lpstr>
      <vt:lpstr>@@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Thomas Kovac</cp:lastModifiedBy>
  <cp:revision>121</cp:revision>
  <cp:lastPrinted>2020-07-02T15:41:27Z</cp:lastPrinted>
  <dcterms:created xsi:type="dcterms:W3CDTF">2024-01-03T15:04:34Z</dcterms:created>
  <dcterms:modified xsi:type="dcterms:W3CDTF">2025-08-05T16:36:34Z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